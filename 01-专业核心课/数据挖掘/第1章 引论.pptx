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handoutMasterIdLst>
    <p:handoutMasterId r:id="rId42"/>
  </p:handoutMasterIdLst>
  <p:sldIdLst>
    <p:sldId id="403" r:id="rId2"/>
    <p:sldId id="654" r:id="rId3"/>
    <p:sldId id="724" r:id="rId4"/>
    <p:sldId id="732" r:id="rId5"/>
    <p:sldId id="768" r:id="rId6"/>
    <p:sldId id="725" r:id="rId7"/>
    <p:sldId id="736" r:id="rId8"/>
    <p:sldId id="773" r:id="rId9"/>
    <p:sldId id="737" r:id="rId10"/>
    <p:sldId id="726" r:id="rId11"/>
    <p:sldId id="739" r:id="rId12"/>
    <p:sldId id="740" r:id="rId13"/>
    <p:sldId id="741" r:id="rId14"/>
    <p:sldId id="743" r:id="rId15"/>
    <p:sldId id="744" r:id="rId16"/>
    <p:sldId id="745" r:id="rId17"/>
    <p:sldId id="727" r:id="rId18"/>
    <p:sldId id="746" r:id="rId19"/>
    <p:sldId id="747" r:id="rId20"/>
    <p:sldId id="748" r:id="rId21"/>
    <p:sldId id="749" r:id="rId22"/>
    <p:sldId id="750" r:id="rId23"/>
    <p:sldId id="753" r:id="rId24"/>
    <p:sldId id="754" r:id="rId25"/>
    <p:sldId id="755" r:id="rId26"/>
    <p:sldId id="728" r:id="rId27"/>
    <p:sldId id="756" r:id="rId28"/>
    <p:sldId id="729" r:id="rId29"/>
    <p:sldId id="761" r:id="rId30"/>
    <p:sldId id="762" r:id="rId31"/>
    <p:sldId id="757" r:id="rId32"/>
    <p:sldId id="730" r:id="rId33"/>
    <p:sldId id="758" r:id="rId34"/>
    <p:sldId id="763" r:id="rId35"/>
    <p:sldId id="764" r:id="rId36"/>
    <p:sldId id="765" r:id="rId37"/>
    <p:sldId id="766" r:id="rId38"/>
    <p:sldId id="731" r:id="rId39"/>
    <p:sldId id="767" r:id="rId40"/>
  </p:sldIdLst>
  <p:sldSz cx="10801350" cy="7200900"/>
  <p:notesSz cx="6858000" cy="9144000"/>
  <p:custDataLst>
    <p:tags r:id="rId43"/>
  </p:custDataLst>
  <p:defaultTextStyle>
    <a:defPPr>
      <a:defRPr lang="zh-TW"/>
    </a:defPPr>
    <a:lvl1pPr algn="l" rtl="0" eaLnBrk="0" fontAlgn="base" hangingPunct="0">
      <a:spcBef>
        <a:spcPct val="0"/>
      </a:spcBef>
      <a:spcAft>
        <a:spcPct val="0"/>
      </a:spcAft>
      <a:defRPr kumimoji="1" kern="1200">
        <a:solidFill>
          <a:schemeClr val="tx1"/>
        </a:solidFill>
        <a:latin typeface="Verdana" panose="020B0604030504040204" pitchFamily="34" charset="0"/>
        <a:ea typeface="PMingLiU" panose="02020500000000000000" pitchFamily="18" charset="-120"/>
        <a:cs typeface="+mn-cs"/>
      </a:defRPr>
    </a:lvl1pPr>
    <a:lvl2pPr marL="511175" indent="1905" algn="l" rtl="0" eaLnBrk="0" fontAlgn="base" hangingPunct="0">
      <a:spcBef>
        <a:spcPct val="0"/>
      </a:spcBef>
      <a:spcAft>
        <a:spcPct val="0"/>
      </a:spcAft>
      <a:defRPr kumimoji="1" kern="1200">
        <a:solidFill>
          <a:schemeClr val="tx1"/>
        </a:solidFill>
        <a:latin typeface="Verdana" panose="020B0604030504040204" pitchFamily="34" charset="0"/>
        <a:ea typeface="PMingLiU" panose="02020500000000000000" pitchFamily="18" charset="-120"/>
        <a:cs typeface="+mn-cs"/>
      </a:defRPr>
    </a:lvl2pPr>
    <a:lvl3pPr marL="1025525" indent="1905" algn="l" rtl="0" eaLnBrk="0" fontAlgn="base" hangingPunct="0">
      <a:spcBef>
        <a:spcPct val="0"/>
      </a:spcBef>
      <a:spcAft>
        <a:spcPct val="0"/>
      </a:spcAft>
      <a:defRPr kumimoji="1" kern="1200">
        <a:solidFill>
          <a:schemeClr val="tx1"/>
        </a:solidFill>
        <a:latin typeface="Verdana" panose="020B0604030504040204" pitchFamily="34" charset="0"/>
        <a:ea typeface="PMingLiU" panose="02020500000000000000" pitchFamily="18" charset="-120"/>
        <a:cs typeface="+mn-cs"/>
      </a:defRPr>
    </a:lvl3pPr>
    <a:lvl4pPr marL="1539875" indent="1905" algn="l" rtl="0" eaLnBrk="0" fontAlgn="base" hangingPunct="0">
      <a:spcBef>
        <a:spcPct val="0"/>
      </a:spcBef>
      <a:spcAft>
        <a:spcPct val="0"/>
      </a:spcAft>
      <a:defRPr kumimoji="1" kern="1200">
        <a:solidFill>
          <a:schemeClr val="tx1"/>
        </a:solidFill>
        <a:latin typeface="Verdana" panose="020B0604030504040204" pitchFamily="34" charset="0"/>
        <a:ea typeface="PMingLiU" panose="02020500000000000000" pitchFamily="18" charset="-120"/>
        <a:cs typeface="+mn-cs"/>
      </a:defRPr>
    </a:lvl4pPr>
    <a:lvl5pPr marL="2054225" indent="1905" algn="l" rtl="0" eaLnBrk="0" fontAlgn="base" hangingPunct="0">
      <a:spcBef>
        <a:spcPct val="0"/>
      </a:spcBef>
      <a:spcAft>
        <a:spcPct val="0"/>
      </a:spcAft>
      <a:defRPr kumimoji="1" kern="1200">
        <a:solidFill>
          <a:schemeClr val="tx1"/>
        </a:solidFill>
        <a:latin typeface="Verdana" panose="020B0604030504040204" pitchFamily="34" charset="0"/>
        <a:ea typeface="PMingLiU" panose="02020500000000000000" pitchFamily="18" charset="-120"/>
        <a:cs typeface="+mn-cs"/>
      </a:defRPr>
    </a:lvl5pPr>
    <a:lvl6pPr marL="2286000" algn="l" defTabSz="914400" rtl="0" eaLnBrk="1" latinLnBrk="0" hangingPunct="1">
      <a:defRPr kumimoji="1" kern="1200">
        <a:solidFill>
          <a:schemeClr val="tx1"/>
        </a:solidFill>
        <a:latin typeface="Verdana" panose="020B0604030504040204" pitchFamily="34" charset="0"/>
        <a:ea typeface="PMingLiU" panose="02020500000000000000" pitchFamily="18" charset="-120"/>
        <a:cs typeface="+mn-cs"/>
      </a:defRPr>
    </a:lvl6pPr>
    <a:lvl7pPr marL="2743200" algn="l" defTabSz="914400" rtl="0" eaLnBrk="1" latinLnBrk="0" hangingPunct="1">
      <a:defRPr kumimoji="1" kern="1200">
        <a:solidFill>
          <a:schemeClr val="tx1"/>
        </a:solidFill>
        <a:latin typeface="Verdana" panose="020B0604030504040204" pitchFamily="34" charset="0"/>
        <a:ea typeface="PMingLiU" panose="02020500000000000000" pitchFamily="18" charset="-120"/>
        <a:cs typeface="+mn-cs"/>
      </a:defRPr>
    </a:lvl7pPr>
    <a:lvl8pPr marL="3200400" algn="l" defTabSz="914400" rtl="0" eaLnBrk="1" latinLnBrk="0" hangingPunct="1">
      <a:defRPr kumimoji="1" kern="1200">
        <a:solidFill>
          <a:schemeClr val="tx1"/>
        </a:solidFill>
        <a:latin typeface="Verdana" panose="020B0604030504040204" pitchFamily="34" charset="0"/>
        <a:ea typeface="PMingLiU" panose="02020500000000000000" pitchFamily="18" charset="-120"/>
        <a:cs typeface="+mn-cs"/>
      </a:defRPr>
    </a:lvl8pPr>
    <a:lvl9pPr marL="3657600" algn="l" defTabSz="914400" rtl="0" eaLnBrk="1" latinLnBrk="0" hangingPunct="1">
      <a:defRPr kumimoji="1" kern="1200">
        <a:solidFill>
          <a:schemeClr val="tx1"/>
        </a:solidFill>
        <a:latin typeface="Verdana" panose="020B0604030504040204" pitchFamily="34" charset="0"/>
        <a:ea typeface="PMingLiU" panose="02020500000000000000" pitchFamily="18" charset="-120"/>
        <a:cs typeface="+mn-cs"/>
      </a:defRPr>
    </a:lvl9pPr>
  </p:defaultTextStyle>
  <p:extLst>
    <p:ext uri="{EFAFB233-063F-42B5-8137-9DF3F51BA10A}">
      <p15:sldGuideLst xmlns:p15="http://schemas.microsoft.com/office/powerpoint/2012/main">
        <p15:guide id="1" orient="horz" pos="2268" userDrawn="1">
          <p15:clr>
            <a:srgbClr val="A4A3A4"/>
          </p15:clr>
        </p15:guide>
        <p15:guide id="2" pos="34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800080"/>
    <a:srgbClr val="C0C0C0"/>
    <a:srgbClr val="00CC99"/>
    <a:srgbClr val="FFCC66"/>
    <a:srgbClr val="CCFF66"/>
    <a:srgbClr val="000099"/>
    <a:srgbClr val="00CCFF"/>
    <a:srgbClr val="001B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21" autoAdjust="0"/>
    <p:restoredTop sz="78433" autoAdjust="0"/>
  </p:normalViewPr>
  <p:slideViewPr>
    <p:cSldViewPr showGuides="1">
      <p:cViewPr varScale="1">
        <p:scale>
          <a:sx n="85" d="100"/>
          <a:sy n="85" d="100"/>
        </p:scale>
        <p:origin x="1592" y="176"/>
      </p:cViewPr>
      <p:guideLst>
        <p:guide orient="horz" pos="2268"/>
        <p:guide pos="3402"/>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vl1pPr>
          </a:lstStyle>
          <a:p>
            <a:pPr>
              <a:defRPr/>
            </a:pPr>
            <a:fld id="{59B5CCB4-3833-4A31-B7CD-049BB2E0446A}" type="datetimeFigureOut">
              <a:rPr lang="zh-CN" altLang="en-US"/>
              <a:t>2024/2/28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3E42D9F2-4F9D-45D4-B148-7A746FB4AEA1}"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TW"/>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TW"/>
          </a:p>
        </p:txBody>
      </p:sp>
      <p:sp>
        <p:nvSpPr>
          <p:cNvPr id="11268" name="Rectangle 4"/>
          <p:cNvSpPr>
            <a:spLocks noGrp="1" noRot="1" noChangeAspect="1" noChangeArrowheads="1" noTextEdit="1"/>
          </p:cNvSpPr>
          <p:nvPr>
            <p:ph type="sldImg" idx="2"/>
          </p:nvPr>
        </p:nvSpPr>
        <p:spPr bwMode="auto">
          <a:xfrm>
            <a:off x="857250" y="685800"/>
            <a:ext cx="51435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TW"/>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82CBDE98-59A3-476E-A3C7-96BA67C8DA91}" type="slidenum">
              <a:rPr lang="en-US" altLang="zh-TW"/>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400" kern="1200">
        <a:solidFill>
          <a:schemeClr val="tx1"/>
        </a:solidFill>
        <a:latin typeface="Arial" panose="020B0604020202020204" pitchFamily="34" charset="0"/>
        <a:ea typeface="PMingLiU" panose="02020500000000000000" pitchFamily="18" charset="-120"/>
        <a:cs typeface="+mn-cs"/>
      </a:defRPr>
    </a:lvl1pPr>
    <a:lvl2pPr marL="511175" algn="l" rtl="0" eaLnBrk="0" fontAlgn="base" hangingPunct="0">
      <a:spcBef>
        <a:spcPct val="30000"/>
      </a:spcBef>
      <a:spcAft>
        <a:spcPct val="0"/>
      </a:spcAft>
      <a:defRPr kumimoji="1" sz="1400" kern="1200">
        <a:solidFill>
          <a:schemeClr val="tx1"/>
        </a:solidFill>
        <a:latin typeface="Arial" panose="020B0604020202020204" pitchFamily="34" charset="0"/>
        <a:ea typeface="PMingLiU" panose="02020500000000000000" pitchFamily="18" charset="-120"/>
        <a:cs typeface="+mn-cs"/>
      </a:defRPr>
    </a:lvl2pPr>
    <a:lvl3pPr marL="1025525" algn="l" rtl="0" eaLnBrk="0" fontAlgn="base" hangingPunct="0">
      <a:spcBef>
        <a:spcPct val="30000"/>
      </a:spcBef>
      <a:spcAft>
        <a:spcPct val="0"/>
      </a:spcAft>
      <a:defRPr kumimoji="1" sz="1400" kern="1200">
        <a:solidFill>
          <a:schemeClr val="tx1"/>
        </a:solidFill>
        <a:latin typeface="Arial" panose="020B0604020202020204" pitchFamily="34" charset="0"/>
        <a:ea typeface="PMingLiU" panose="02020500000000000000" pitchFamily="18" charset="-120"/>
        <a:cs typeface="+mn-cs"/>
      </a:defRPr>
    </a:lvl3pPr>
    <a:lvl4pPr marL="1539875" algn="l" rtl="0" eaLnBrk="0" fontAlgn="base" hangingPunct="0">
      <a:spcBef>
        <a:spcPct val="30000"/>
      </a:spcBef>
      <a:spcAft>
        <a:spcPct val="0"/>
      </a:spcAft>
      <a:defRPr kumimoji="1" sz="1400" kern="1200">
        <a:solidFill>
          <a:schemeClr val="tx1"/>
        </a:solidFill>
        <a:latin typeface="Arial" panose="020B0604020202020204" pitchFamily="34" charset="0"/>
        <a:ea typeface="PMingLiU" panose="02020500000000000000" pitchFamily="18" charset="-120"/>
        <a:cs typeface="+mn-cs"/>
      </a:defRPr>
    </a:lvl4pPr>
    <a:lvl5pPr marL="2054225" algn="l" rtl="0" eaLnBrk="0" fontAlgn="base" hangingPunct="0">
      <a:spcBef>
        <a:spcPct val="30000"/>
      </a:spcBef>
      <a:spcAft>
        <a:spcPct val="0"/>
      </a:spcAft>
      <a:defRPr kumimoji="1" sz="1400" kern="1200">
        <a:solidFill>
          <a:schemeClr val="tx1"/>
        </a:solidFill>
        <a:latin typeface="Arial" panose="020B0604020202020204" pitchFamily="34" charset="0"/>
        <a:ea typeface="PMingLiU" panose="02020500000000000000" pitchFamily="18" charset="-120"/>
        <a:cs typeface="+mn-cs"/>
      </a:defRPr>
    </a:lvl5pPr>
    <a:lvl6pPr marL="2571115" algn="l" defTabSz="1028065" rtl="0" eaLnBrk="1" latinLnBrk="0" hangingPunct="1">
      <a:defRPr sz="1400" kern="1200">
        <a:solidFill>
          <a:schemeClr val="tx1"/>
        </a:solidFill>
        <a:latin typeface="+mn-lt"/>
        <a:ea typeface="+mn-ea"/>
        <a:cs typeface="+mn-cs"/>
      </a:defRPr>
    </a:lvl6pPr>
    <a:lvl7pPr marL="3084830" algn="l" defTabSz="1028065" rtl="0" eaLnBrk="1" latinLnBrk="0" hangingPunct="1">
      <a:defRPr sz="1400" kern="1200">
        <a:solidFill>
          <a:schemeClr val="tx1"/>
        </a:solidFill>
        <a:latin typeface="+mn-lt"/>
        <a:ea typeface="+mn-ea"/>
        <a:cs typeface="+mn-cs"/>
      </a:defRPr>
    </a:lvl7pPr>
    <a:lvl8pPr marL="3599180" algn="l" defTabSz="1028065" rtl="0" eaLnBrk="1" latinLnBrk="0" hangingPunct="1">
      <a:defRPr sz="1400" kern="1200">
        <a:solidFill>
          <a:schemeClr val="tx1"/>
        </a:solidFill>
        <a:latin typeface="+mn-lt"/>
        <a:ea typeface="+mn-ea"/>
        <a:cs typeface="+mn-cs"/>
      </a:defRPr>
    </a:lvl8pPr>
    <a:lvl9pPr marL="4113530" algn="l" defTabSz="1028065"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在美国有婴儿的家庭中，一般是母亲在家中照看婴儿，年轻的父亲前去超市购买尿布。父亲在购买尿布的同时，往往会顺便为自己购买啤酒，这样就会出现啤酒与尿布这两件看上去不相干的商品经常会出现在同一个购物篮的现象。如果这个年轻的父亲在卖场只能买到两件商品之一，则他很有可能会放弃购物而到另一家商店，直到可以一次同时买到啤酒与尿布为止。沃尔玛发现了这一独特的现象，开始在卖场尝试将啤酒与尿布摆放在相同的区域，让年轻的父亲可以同时找到这两件商品，并很快地完成购物；而沃尔玛超市也可以让这些客户一次购买两件商品、而不是一件，从而获得了很好的商品销售收入，这就是“啤酒与尿布”故事的由来。</a:t>
            </a:r>
            <a:endParaRPr lang="en-US" altLang="zh-CN" dirty="0">
              <a:latin typeface="Arial" panose="020B0604020202020204" pitchFamily="34" charset="0"/>
            </a:endParaRPr>
          </a:p>
          <a:p>
            <a:r>
              <a:rPr lang="zh-CN" altLang="en-US" b="0" i="0" dirty="0">
                <a:solidFill>
                  <a:srgbClr val="333333"/>
                </a:solidFill>
                <a:effectLst/>
                <a:latin typeface="Arial" panose="020B0604020202020204" pitchFamily="34" charset="0"/>
              </a:rPr>
              <a:t>数据是反映客观事物属性的记录</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是信息的具体表现形式。数据经过加工处理之后</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就成为信息</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而信息需要经过数字化转变成数据才能存储和传输。</a:t>
            </a:r>
            <a:endParaRPr lang="en-US" altLang="zh-CN" b="0" i="0" dirty="0">
              <a:solidFill>
                <a:srgbClr val="333333"/>
              </a:solidFill>
              <a:effectLst/>
              <a:latin typeface="Arial" panose="020B0604020202020204" pitchFamily="34" charset="0"/>
            </a:endParaRPr>
          </a:p>
          <a:p>
            <a:r>
              <a:rPr lang="en-US" altLang="zh-CN" dirty="0">
                <a:latin typeface="Arial" panose="020B0604020202020204" pitchFamily="34" charset="0"/>
              </a:rPr>
              <a:t>3.</a:t>
            </a:r>
            <a:r>
              <a:rPr lang="zh-CN" altLang="en-US" dirty="0">
                <a:latin typeface="Arial" panose="020B0604020202020204" pitchFamily="34" charset="0"/>
              </a:rPr>
              <a:t>知识</a:t>
            </a:r>
            <a:r>
              <a:rPr lang="en-US" altLang="zh-CN" dirty="0">
                <a:latin typeface="Arial" panose="020B0604020202020204" pitchFamily="34" charset="0"/>
              </a:rPr>
              <a:t>(knowledge)</a:t>
            </a:r>
            <a:r>
              <a:rPr lang="zh-CN" altLang="en-US" dirty="0">
                <a:latin typeface="Arial" panose="020B0604020202020204" pitchFamily="34" charset="0"/>
              </a:rPr>
              <a:t>具有系统性、规律性和可预测性。数据和信息处理以后就会得到知识。而知识是比数据和信息的更加高级和抽象的概念。数据、信息与知识的关系</a:t>
            </a:r>
            <a:r>
              <a:rPr lang="en-US" altLang="zh-CN" dirty="0">
                <a:latin typeface="Arial" panose="020B0604020202020204" pitchFamily="34" charset="0"/>
              </a:rPr>
              <a:t>:</a:t>
            </a:r>
            <a:r>
              <a:rPr lang="zh-CN" altLang="en-US" dirty="0">
                <a:latin typeface="Arial" panose="020B0604020202020204" pitchFamily="34" charset="0"/>
              </a:rPr>
              <a:t>知识具有系统性、规律性和可预测性。比如我们通过观察可以记录星球的位置和出现的时间等原始数据，再对得到的数据进行分析和挖掘，就能够计算出星球运动的规律，这就是信息，然后对信息进行总结和提炼，就可以得到开普勒三定律，这就是知识。而得到的知识，能够使我们更加清晰的了解世界和生活，还能够通过知识不断改变我们周围的世界。</a:t>
            </a:r>
          </a:p>
        </p:txBody>
      </p:sp>
      <p:sp>
        <p:nvSpPr>
          <p:cNvPr id="25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671D0222-101A-4FB1-9E5F-2C6E69168B13}" type="slidenum">
              <a:rPr lang="en-US" altLang="zh-TW" sz="1200" smtClean="0"/>
              <a:t>5</a:t>
            </a:fld>
            <a:endParaRPr lang="en-US" altLang="zh-TW"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17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57854A6B-6696-47C8-A945-95017FF3F49B}" type="slidenum">
              <a:rPr lang="en-US" altLang="zh-TW" sz="1200" smtClean="0"/>
              <a:t>11</a:t>
            </a:fld>
            <a:endParaRPr lang="en-US" altLang="zh-TW"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46E8DD1A-32FA-45F0-A55E-46C8032B513D}" type="slidenum">
              <a:rPr lang="en-US" altLang="zh-TW" sz="1200" smtClean="0"/>
              <a:t>12</a:t>
            </a:fld>
            <a:endParaRPr lang="en-US" altLang="zh-TW"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这两者的主要区别在于数据结构</a:t>
            </a:r>
            <a:endParaRPr lang="en-US" altLang="zh-CN">
              <a:latin typeface="Arial" panose="020B0604020202020204" pitchFamily="34" charset="0"/>
            </a:endParaRPr>
          </a:p>
          <a:p>
            <a:r>
              <a:rPr lang="zh-CN" altLang="en-US">
                <a:latin typeface="Arial" panose="020B0604020202020204" pitchFamily="34" charset="0"/>
              </a:rPr>
              <a:t>联机事务处理</a:t>
            </a:r>
            <a:r>
              <a:rPr lang="en-US" altLang="zh-CN">
                <a:latin typeface="Arial" panose="020B0604020202020204" pitchFamily="34" charset="0"/>
              </a:rPr>
              <a:t>OLTP</a:t>
            </a:r>
            <a:r>
              <a:rPr lang="zh-CN" altLang="en-US">
                <a:latin typeface="Arial" panose="020B0604020202020204" pitchFamily="34" charset="0"/>
              </a:rPr>
              <a:t>（</a:t>
            </a:r>
            <a:r>
              <a:rPr lang="en-US" altLang="zh-CN">
                <a:latin typeface="Arial" panose="020B0604020202020204" pitchFamily="34" charset="0"/>
              </a:rPr>
              <a:t>on-line transaction processing</a:t>
            </a:r>
            <a:r>
              <a:rPr lang="zh-CN" altLang="en-US">
                <a:latin typeface="Arial" panose="020B0604020202020204" pitchFamily="34" charset="0"/>
              </a:rPr>
              <a:t>） 主要是执行基本日常的事务处理，比如数据库记录的增删查改。</a:t>
            </a:r>
            <a:endParaRPr lang="en-US" altLang="zh-CN">
              <a:latin typeface="Arial" panose="020B0604020202020204" pitchFamily="34" charset="0"/>
            </a:endParaRPr>
          </a:p>
          <a:p>
            <a:r>
              <a:rPr lang="zh-CN" altLang="en-US">
                <a:latin typeface="Arial" panose="020B0604020202020204" pitchFamily="34" charset="0"/>
              </a:rPr>
              <a:t>联机分析处理</a:t>
            </a:r>
            <a:r>
              <a:rPr lang="en-US" altLang="zh-CN">
                <a:latin typeface="Arial" panose="020B0604020202020204" pitchFamily="34" charset="0"/>
              </a:rPr>
              <a:t>OLAP</a:t>
            </a:r>
            <a:r>
              <a:rPr lang="zh-CN" altLang="en-US">
                <a:latin typeface="Arial" panose="020B0604020202020204" pitchFamily="34" charset="0"/>
              </a:rPr>
              <a:t>（</a:t>
            </a:r>
            <a:r>
              <a:rPr lang="en-US" altLang="zh-CN">
                <a:latin typeface="Arial" panose="020B0604020202020204" pitchFamily="34" charset="0"/>
              </a:rPr>
              <a:t>On-Line Analytical</a:t>
            </a:r>
            <a:r>
              <a:rPr lang="zh-CN" altLang="en-US">
                <a:latin typeface="Arial" panose="020B0604020202020204" pitchFamily="34" charset="0"/>
              </a:rPr>
              <a:t> </a:t>
            </a:r>
            <a:r>
              <a:rPr lang="en-US" altLang="zh-CN">
                <a:latin typeface="Arial" panose="020B0604020202020204" pitchFamily="34" charset="0"/>
              </a:rPr>
              <a:t>Processing</a:t>
            </a:r>
            <a:r>
              <a:rPr lang="zh-CN" altLang="en-US">
                <a:latin typeface="Arial" panose="020B0604020202020204" pitchFamily="34" charset="0"/>
              </a:rPr>
              <a:t>） 是数据仓库系统的主要应用，支持复杂的分析操作，侧重决策支持，并且提供直观易懂的查询结果。典型的应用就是复杂的动态的报表系统。</a:t>
            </a:r>
          </a:p>
        </p:txBody>
      </p:sp>
      <p:sp>
        <p:nvSpPr>
          <p:cNvPr id="35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AC9AEE9D-2AE7-41A1-9840-90FAC11E7140}" type="slidenum">
              <a:rPr lang="en-US" altLang="zh-TW" sz="1200" smtClean="0"/>
              <a:t>13</a:t>
            </a:fld>
            <a:endParaRPr lang="en-US" altLang="zh-TW"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78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EC7713DB-740D-4C77-9F01-68762A67AAF8}" type="slidenum">
              <a:rPr lang="en-US" altLang="zh-TW" sz="1200" smtClean="0"/>
              <a:t>14</a:t>
            </a:fld>
            <a:endParaRPr lang="en-US" altLang="zh-TW"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99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C1883C21-C132-4F91-BAD9-30BB4604DFEE}" type="slidenum">
              <a:rPr lang="en-US" altLang="zh-TW" sz="1200" smtClean="0"/>
              <a:t>15</a:t>
            </a:fld>
            <a:endParaRPr lang="en-US" altLang="zh-TW"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19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18FB3DF7-D0F8-4342-B1BC-3C244A802203}" type="slidenum">
              <a:rPr lang="en-US" altLang="zh-TW" sz="1200" smtClean="0"/>
              <a:t>16</a:t>
            </a:fld>
            <a:endParaRPr lang="en-US" altLang="zh-TW"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50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9EF96BCA-2232-472A-AB42-0FBBB6A1F758}" type="slidenum">
              <a:rPr lang="en-US" altLang="zh-TW" sz="1200" smtClean="0"/>
              <a:t>18</a:t>
            </a:fld>
            <a:endParaRPr lang="en-US" altLang="zh-TW"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71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6826EF64-308F-48BE-A9FA-E6ECECC86970}" type="slidenum">
              <a:rPr lang="en-US" altLang="zh-TW" sz="1200" smtClean="0"/>
              <a:t>19</a:t>
            </a:fld>
            <a:endParaRPr lang="en-US" altLang="zh-TW"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C855CD4A-B3F5-4B22-8F1D-6D771D3A9A40}" type="slidenum">
              <a:rPr lang="en-US" altLang="zh-TW" sz="1200" smtClean="0"/>
              <a:t>20</a:t>
            </a:fld>
            <a:endParaRPr lang="en-US" altLang="zh-TW"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1D9E6893-EEC4-4676-90C6-06800EA906FD}" type="slidenum">
              <a:rPr lang="en-US" altLang="zh-TW" sz="1200" smtClean="0"/>
              <a:t>21</a:t>
            </a:fld>
            <a:endParaRPr lang="en-US" altLang="zh-TW"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493DDA37-6D92-4C06-93E1-053B73FB9D83}" type="slidenum">
              <a:rPr lang="en-US" altLang="zh-TW" sz="1200" smtClean="0"/>
              <a:t>22</a:t>
            </a:fld>
            <a:endParaRPr lang="en-US" altLang="zh-TW"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5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CCC9D0C9-057F-41EB-A117-87FA8ACADE09}" type="slidenum">
              <a:rPr lang="en-US" altLang="zh-TW" sz="1200" smtClean="0"/>
              <a:t>23</a:t>
            </a:fld>
            <a:endParaRPr lang="en-US" altLang="zh-TW"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573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C727D2C6-70D5-4E31-BD4D-A78FBB7A57AB}" type="slidenum">
              <a:rPr lang="en-US" altLang="zh-TW" sz="1200" smtClean="0"/>
              <a:t>24</a:t>
            </a:fld>
            <a:endParaRPr lang="en-US" altLang="zh-TW"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5A9F82A3-0BE8-416D-B725-CB0A6AF4F8BD}" type="slidenum">
              <a:rPr lang="en-US" altLang="zh-TW" sz="1200" smtClean="0"/>
              <a:t>25</a:t>
            </a:fld>
            <a:endParaRPr lang="en-US" altLang="zh-TW"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76F14702-4BFB-460E-938E-1D374647F7BD}" type="slidenum">
              <a:rPr lang="en-US" altLang="zh-TW" sz="1200" smtClean="0"/>
              <a:t>27</a:t>
            </a:fld>
            <a:endParaRPr lang="en-US" altLang="zh-TW"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5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08941DDF-36A5-4133-AD35-384460763533}" type="slidenum">
              <a:rPr lang="en-US" altLang="zh-TW" sz="1200" smtClean="0"/>
              <a:t>29</a:t>
            </a:fld>
            <a:endParaRPr lang="en-US" altLang="zh-TW"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75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17AA665B-27D3-4C24-A644-D82ABB74E6E4}" type="slidenum">
              <a:rPr lang="en-US" altLang="zh-TW" sz="1200" smtClean="0"/>
              <a:t>30</a:t>
            </a:fld>
            <a:endParaRPr lang="en-US" altLang="zh-TW"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96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3697C642-2E0D-4E14-80CB-F73AE8407776}" type="slidenum">
              <a:rPr lang="en-US" altLang="zh-TW" sz="1200" smtClean="0"/>
              <a:t>31</a:t>
            </a:fld>
            <a:endParaRPr lang="en-US" altLang="zh-TW"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27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2CDDFBF5-EBD0-4F06-A4B0-FF8D066A6955}" type="slidenum">
              <a:rPr lang="en-US" altLang="zh-TW" sz="1200" smtClean="0"/>
              <a:t>33</a:t>
            </a:fld>
            <a:endParaRPr lang="en-US" altLang="zh-TW"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C8FB132A-4E05-4576-AE32-0234E15A87D5}" type="slidenum">
              <a:rPr lang="en-US" altLang="zh-TW" sz="1200" smtClean="0"/>
              <a:t>34</a:t>
            </a:fld>
            <a:endParaRPr lang="en-US" altLang="zh-TW"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A7E85BD9-67E8-4A85-B63F-735E8AD30582}" type="slidenum">
              <a:rPr lang="en-US" altLang="zh-TW" sz="1200" smtClean="0"/>
              <a:t>35</a:t>
            </a:fld>
            <a:endParaRPr lang="en-US" altLang="zh-TW"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25C66485-E632-42D8-9A82-7A3BCFFBAB13}" type="slidenum">
              <a:rPr lang="en-US" altLang="zh-TW" sz="1200" smtClean="0"/>
              <a:t>36</a:t>
            </a:fld>
            <a:endParaRPr lang="en-US" altLang="zh-TW"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400">
                <a:solidFill>
                  <a:schemeClr val="tx1"/>
                </a:solidFill>
                <a:latin typeface="Arial" panose="020B0604020202020204" pitchFamily="34" charset="0"/>
                <a:ea typeface="PMingLiU" panose="02020500000000000000" pitchFamily="18" charset="-120"/>
              </a:defRPr>
            </a:lvl1pPr>
            <a:lvl2pPr marL="742950" indent="-285750">
              <a:spcBef>
                <a:spcPct val="30000"/>
              </a:spcBef>
              <a:defRPr kumimoji="1" sz="1400">
                <a:solidFill>
                  <a:schemeClr val="tx1"/>
                </a:solidFill>
                <a:latin typeface="Arial" panose="020B0604020202020204" pitchFamily="34" charset="0"/>
                <a:ea typeface="PMingLiU" panose="02020500000000000000" pitchFamily="18" charset="-120"/>
              </a:defRPr>
            </a:lvl2pPr>
            <a:lvl3pPr marL="1143000" indent="-228600">
              <a:spcBef>
                <a:spcPct val="30000"/>
              </a:spcBef>
              <a:defRPr kumimoji="1" sz="1400">
                <a:solidFill>
                  <a:schemeClr val="tx1"/>
                </a:solidFill>
                <a:latin typeface="Arial" panose="020B0604020202020204" pitchFamily="34" charset="0"/>
                <a:ea typeface="PMingLiU" panose="02020500000000000000" pitchFamily="18" charset="-120"/>
              </a:defRPr>
            </a:lvl3pPr>
            <a:lvl4pPr marL="1600200" indent="-228600">
              <a:spcBef>
                <a:spcPct val="30000"/>
              </a:spcBef>
              <a:defRPr kumimoji="1" sz="1400">
                <a:solidFill>
                  <a:schemeClr val="tx1"/>
                </a:solidFill>
                <a:latin typeface="Arial" panose="020B0604020202020204" pitchFamily="34" charset="0"/>
                <a:ea typeface="PMingLiU" panose="02020500000000000000" pitchFamily="18" charset="-120"/>
              </a:defRPr>
            </a:lvl4pPr>
            <a:lvl5pPr marL="2057400" indent="-228600">
              <a:spcBef>
                <a:spcPct val="30000"/>
              </a:spcBef>
              <a:defRPr kumimoji="1" sz="1400">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30000"/>
              </a:spcBef>
              <a:spcAft>
                <a:spcPct val="0"/>
              </a:spcAft>
              <a:defRPr kumimoji="1" sz="1400">
                <a:solidFill>
                  <a:schemeClr val="tx1"/>
                </a:solidFill>
                <a:latin typeface="Arial" panose="020B0604020202020204" pitchFamily="34" charset="0"/>
                <a:ea typeface="PMingLiU" panose="02020500000000000000" pitchFamily="18" charset="-120"/>
              </a:defRPr>
            </a:lvl9pPr>
          </a:lstStyle>
          <a:p>
            <a:pPr>
              <a:spcBef>
                <a:spcPct val="0"/>
              </a:spcBef>
            </a:pPr>
            <a:fld id="{B39E51E6-6D99-46A2-BAE3-E3D7B165077A}" type="slidenum">
              <a:rPr lang="en-US" altLang="zh-TW" sz="1200" smtClean="0"/>
              <a:t>37</a:t>
            </a:fld>
            <a:endParaRPr lang="en-US" altLang="zh-TW"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10101" y="2236950"/>
            <a:ext cx="9181148" cy="1543526"/>
          </a:xfrm>
        </p:spPr>
        <p:txBody>
          <a:bodyPr/>
          <a:lstStyle/>
          <a:p>
            <a:r>
              <a:rPr lang="zh-CN" altLang="en-US"/>
              <a:t>单击此处编辑母版标题样式</a:t>
            </a:r>
          </a:p>
        </p:txBody>
      </p:sp>
      <p:sp>
        <p:nvSpPr>
          <p:cNvPr id="3" name="副标题 2"/>
          <p:cNvSpPr>
            <a:spLocks noGrp="1"/>
          </p:cNvSpPr>
          <p:nvPr>
            <p:ph type="subTitle" idx="1"/>
          </p:nvPr>
        </p:nvSpPr>
        <p:spPr>
          <a:xfrm>
            <a:off x="1620206" y="4080510"/>
            <a:ext cx="7560945" cy="1840230"/>
          </a:xfrm>
        </p:spPr>
        <p:txBody>
          <a:bodyPr/>
          <a:lstStyle>
            <a:lvl1pPr marL="0" indent="0" algn="ctr">
              <a:buNone/>
              <a:defRPr>
                <a:solidFill>
                  <a:schemeClr val="tx1">
                    <a:tint val="75000"/>
                  </a:schemeClr>
                </a:solidFill>
              </a:defRPr>
            </a:lvl1pPr>
            <a:lvl2pPr marL="513715" indent="0" algn="ctr">
              <a:buNone/>
              <a:defRPr>
                <a:solidFill>
                  <a:schemeClr val="tx1">
                    <a:tint val="75000"/>
                  </a:schemeClr>
                </a:solidFill>
              </a:defRPr>
            </a:lvl2pPr>
            <a:lvl3pPr marL="1028065" indent="0" algn="ctr">
              <a:buNone/>
              <a:defRPr>
                <a:solidFill>
                  <a:schemeClr val="tx1">
                    <a:tint val="75000"/>
                  </a:schemeClr>
                </a:solidFill>
              </a:defRPr>
            </a:lvl3pPr>
            <a:lvl4pPr marL="1541780" indent="0" algn="ctr">
              <a:buNone/>
              <a:defRPr>
                <a:solidFill>
                  <a:schemeClr val="tx1">
                    <a:tint val="75000"/>
                  </a:schemeClr>
                </a:solidFill>
              </a:defRPr>
            </a:lvl4pPr>
            <a:lvl5pPr marL="2055495" indent="0" algn="ctr">
              <a:buNone/>
              <a:defRPr>
                <a:solidFill>
                  <a:schemeClr val="tx1">
                    <a:tint val="75000"/>
                  </a:schemeClr>
                </a:solidFill>
              </a:defRPr>
            </a:lvl5pPr>
            <a:lvl6pPr marL="2569845" indent="0" algn="ctr">
              <a:buNone/>
              <a:defRPr>
                <a:solidFill>
                  <a:schemeClr val="tx1">
                    <a:tint val="75000"/>
                  </a:schemeClr>
                </a:solidFill>
              </a:defRPr>
            </a:lvl6pPr>
            <a:lvl7pPr marL="3083560" indent="0" algn="ctr">
              <a:buNone/>
              <a:defRPr>
                <a:solidFill>
                  <a:schemeClr val="tx1">
                    <a:tint val="75000"/>
                  </a:schemeClr>
                </a:solidFill>
              </a:defRPr>
            </a:lvl7pPr>
            <a:lvl8pPr marL="3597275" indent="0" algn="ctr">
              <a:buNone/>
              <a:defRPr>
                <a:solidFill>
                  <a:schemeClr val="tx1">
                    <a:tint val="75000"/>
                  </a:schemeClr>
                </a:solidFill>
              </a:defRPr>
            </a:lvl8pPr>
            <a:lvl9pPr marL="4111625" indent="0" algn="ctr">
              <a:buNone/>
              <a:defRPr>
                <a:solidFill>
                  <a:schemeClr val="tx1">
                    <a:tint val="75000"/>
                  </a:schemeClr>
                </a:solidFill>
              </a:defRPr>
            </a:lvl9pPr>
          </a:lstStyle>
          <a:p>
            <a:r>
              <a:rPr lang="zh-CN" altLang="en-US"/>
              <a:t>单击此处编辑母版副标题样式</a:t>
            </a:r>
          </a:p>
        </p:txBody>
      </p:sp>
      <p:sp>
        <p:nvSpPr>
          <p:cNvPr id="4" name="灯片编号占位符 5"/>
          <p:cNvSpPr>
            <a:spLocks noGrp="1"/>
          </p:cNvSpPr>
          <p:nvPr>
            <p:ph type="sldNum" sz="quarter" idx="10"/>
          </p:nvPr>
        </p:nvSpPr>
        <p:spPr/>
        <p:txBody>
          <a:bodyPr/>
          <a:lstStyle>
            <a:lvl1pPr>
              <a:defRPr/>
            </a:lvl1pPr>
          </a:lstStyle>
          <a:p>
            <a:pPr>
              <a:defRPr/>
            </a:pPr>
            <a:fld id="{0D86032D-528C-4B90-ADEB-890C084ED30A}"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42930"/>
            <a:ext cx="10801349" cy="1051092"/>
          </a:xfrm>
          <a:solidFill>
            <a:schemeClr val="tx2">
              <a:lumMod val="60000"/>
              <a:lumOff val="40000"/>
            </a:schemeClr>
          </a:solidFill>
        </p:spPr>
        <p:txBody>
          <a:bodyPr>
            <a:normAutofit/>
          </a:bodyPr>
          <a:lstStyle>
            <a:lvl1pPr algn="l">
              <a:defRPr sz="4400">
                <a:solidFill>
                  <a:schemeClr val="bg1"/>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76139" y="1080171"/>
            <a:ext cx="9865096" cy="5352310"/>
          </a:xfrm>
        </p:spPr>
        <p:txBody>
          <a:bodyPr/>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5"/>
          <p:cNvSpPr>
            <a:spLocks noGrp="1"/>
          </p:cNvSpPr>
          <p:nvPr>
            <p:ph type="sldNum" sz="quarter" idx="10"/>
          </p:nvPr>
        </p:nvSpPr>
        <p:spPr/>
        <p:txBody>
          <a:bodyPr/>
          <a:lstStyle>
            <a:lvl1pPr>
              <a:defRPr/>
            </a:lvl1pPr>
          </a:lstStyle>
          <a:p>
            <a:pPr>
              <a:defRPr/>
            </a:pPr>
            <a:fld id="{0BDF3BCD-2C74-4B75-87DB-138C7004DD73}"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53232" y="4627254"/>
            <a:ext cx="9181148" cy="1430179"/>
          </a:xfrm>
        </p:spPr>
        <p:txBody>
          <a:bodyPr anchor="t"/>
          <a:lstStyle>
            <a:lvl1pPr algn="l">
              <a:defRPr sz="4500" b="1" cap="all"/>
            </a:lvl1pPr>
          </a:lstStyle>
          <a:p>
            <a:r>
              <a:rPr lang="zh-CN" altLang="en-US"/>
              <a:t>单击此处编辑母版标题样式</a:t>
            </a:r>
          </a:p>
        </p:txBody>
      </p:sp>
      <p:sp>
        <p:nvSpPr>
          <p:cNvPr id="3" name="文本占位符 2"/>
          <p:cNvSpPr>
            <a:spLocks noGrp="1"/>
          </p:cNvSpPr>
          <p:nvPr>
            <p:ph type="body" idx="1"/>
          </p:nvPr>
        </p:nvSpPr>
        <p:spPr>
          <a:xfrm>
            <a:off x="853232" y="3052049"/>
            <a:ext cx="9181148" cy="1575196"/>
          </a:xfrm>
        </p:spPr>
        <p:txBody>
          <a:bodyPr anchor="b"/>
          <a:lstStyle>
            <a:lvl1pPr marL="0" indent="0">
              <a:buNone/>
              <a:defRPr sz="2300">
                <a:solidFill>
                  <a:schemeClr val="tx1">
                    <a:tint val="75000"/>
                  </a:schemeClr>
                </a:solidFill>
              </a:defRPr>
            </a:lvl1pPr>
            <a:lvl2pPr marL="513715" indent="0">
              <a:buNone/>
              <a:defRPr sz="2000">
                <a:solidFill>
                  <a:schemeClr val="tx1">
                    <a:tint val="75000"/>
                  </a:schemeClr>
                </a:solidFill>
              </a:defRPr>
            </a:lvl2pPr>
            <a:lvl3pPr marL="1028065" indent="0">
              <a:buNone/>
              <a:defRPr sz="1800">
                <a:solidFill>
                  <a:schemeClr val="tx1">
                    <a:tint val="75000"/>
                  </a:schemeClr>
                </a:solidFill>
              </a:defRPr>
            </a:lvl3pPr>
            <a:lvl4pPr marL="1541780" indent="0">
              <a:buNone/>
              <a:defRPr sz="1600">
                <a:solidFill>
                  <a:schemeClr val="tx1">
                    <a:tint val="75000"/>
                  </a:schemeClr>
                </a:solidFill>
              </a:defRPr>
            </a:lvl4pPr>
            <a:lvl5pPr marL="2055495" indent="0">
              <a:buNone/>
              <a:defRPr sz="1600">
                <a:solidFill>
                  <a:schemeClr val="tx1">
                    <a:tint val="75000"/>
                  </a:schemeClr>
                </a:solidFill>
              </a:defRPr>
            </a:lvl5pPr>
            <a:lvl6pPr marL="2569845" indent="0">
              <a:buNone/>
              <a:defRPr sz="1600">
                <a:solidFill>
                  <a:schemeClr val="tx1">
                    <a:tint val="75000"/>
                  </a:schemeClr>
                </a:solidFill>
              </a:defRPr>
            </a:lvl6pPr>
            <a:lvl7pPr marL="3083560" indent="0">
              <a:buNone/>
              <a:defRPr sz="1600">
                <a:solidFill>
                  <a:schemeClr val="tx1">
                    <a:tint val="75000"/>
                  </a:schemeClr>
                </a:solidFill>
              </a:defRPr>
            </a:lvl7pPr>
            <a:lvl8pPr marL="3597275" indent="0">
              <a:buNone/>
              <a:defRPr sz="1600">
                <a:solidFill>
                  <a:schemeClr val="tx1">
                    <a:tint val="75000"/>
                  </a:schemeClr>
                </a:solidFill>
              </a:defRPr>
            </a:lvl8pPr>
            <a:lvl9pPr marL="4111625"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11684B7A-8A27-480D-804D-11BA9133C60D}" type="datetime1">
              <a:rPr lang="zh-CN" altLang="en-US"/>
              <a:t>2024/2/28</a:t>
            </a:fld>
            <a:endParaRPr lang="en-US" altLang="zh-CN"/>
          </a:p>
        </p:txBody>
      </p:sp>
      <p:sp>
        <p:nvSpPr>
          <p:cNvPr id="5" name="页脚占位符 4"/>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1B686E5-3B5F-4C45-9153-5E8B6C88277E}"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37580" y="1763554"/>
            <a:ext cx="5651956" cy="4990624"/>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469559" y="1763554"/>
            <a:ext cx="5651956" cy="4990624"/>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B09EB9C6-830C-4B97-AC89-3B1B82471E97}" type="datetime1">
              <a:rPr lang="zh-CN" altLang="en-US"/>
              <a:t>2024/2/28</a:t>
            </a:fld>
            <a:endParaRPr lang="en-US" altLang="zh-CN"/>
          </a:p>
        </p:txBody>
      </p:sp>
      <p:sp>
        <p:nvSpPr>
          <p:cNvPr id="6" name="页脚占位符 5"/>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41DF8E37-36E5-41CE-9D6A-CF944C793F5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40071" y="288370"/>
            <a:ext cx="9721215" cy="12001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40068" y="1611869"/>
            <a:ext cx="4772472" cy="671750"/>
          </a:xfrm>
        </p:spPr>
        <p:txBody>
          <a:bodyPr anchor="b"/>
          <a:lstStyle>
            <a:lvl1pPr marL="0" indent="0">
              <a:buNone/>
              <a:defRPr sz="2700" b="1"/>
            </a:lvl1pPr>
            <a:lvl2pPr marL="513715" indent="0">
              <a:buNone/>
              <a:defRPr sz="2300" b="1"/>
            </a:lvl2pPr>
            <a:lvl3pPr marL="1028065" indent="0">
              <a:buNone/>
              <a:defRPr sz="2000" b="1"/>
            </a:lvl3pPr>
            <a:lvl4pPr marL="1541780" indent="0">
              <a:buNone/>
              <a:defRPr sz="1800" b="1"/>
            </a:lvl4pPr>
            <a:lvl5pPr marL="2055495" indent="0">
              <a:buNone/>
              <a:defRPr sz="1800" b="1"/>
            </a:lvl5pPr>
            <a:lvl6pPr marL="2569845" indent="0">
              <a:buNone/>
              <a:defRPr sz="1800" b="1"/>
            </a:lvl6pPr>
            <a:lvl7pPr marL="3083560" indent="0">
              <a:buNone/>
              <a:defRPr sz="1800" b="1"/>
            </a:lvl7pPr>
            <a:lvl8pPr marL="3597275" indent="0">
              <a:buNone/>
              <a:defRPr sz="1800" b="1"/>
            </a:lvl8pPr>
            <a:lvl9pPr marL="4111625"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540068" y="2283619"/>
            <a:ext cx="4772472" cy="4148852"/>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486946" y="1611869"/>
            <a:ext cx="4774347" cy="671750"/>
          </a:xfrm>
        </p:spPr>
        <p:txBody>
          <a:bodyPr anchor="b"/>
          <a:lstStyle>
            <a:lvl1pPr marL="0" indent="0">
              <a:buNone/>
              <a:defRPr sz="2700" b="1"/>
            </a:lvl1pPr>
            <a:lvl2pPr marL="513715" indent="0">
              <a:buNone/>
              <a:defRPr sz="2300" b="1"/>
            </a:lvl2pPr>
            <a:lvl3pPr marL="1028065" indent="0">
              <a:buNone/>
              <a:defRPr sz="2000" b="1"/>
            </a:lvl3pPr>
            <a:lvl4pPr marL="1541780" indent="0">
              <a:buNone/>
              <a:defRPr sz="1800" b="1"/>
            </a:lvl4pPr>
            <a:lvl5pPr marL="2055495" indent="0">
              <a:buNone/>
              <a:defRPr sz="1800" b="1"/>
            </a:lvl5pPr>
            <a:lvl6pPr marL="2569845" indent="0">
              <a:buNone/>
              <a:defRPr sz="1800" b="1"/>
            </a:lvl6pPr>
            <a:lvl7pPr marL="3083560" indent="0">
              <a:buNone/>
              <a:defRPr sz="1800" b="1"/>
            </a:lvl7pPr>
            <a:lvl8pPr marL="3597275" indent="0">
              <a:buNone/>
              <a:defRPr sz="1800" b="1"/>
            </a:lvl8pPr>
            <a:lvl9pPr marL="4111625"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5486946" y="2283619"/>
            <a:ext cx="4774347" cy="4148852"/>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D567D302-EE45-4043-8CC7-CA5E6A0DCA41}" type="datetime1">
              <a:rPr lang="zh-CN" altLang="en-US"/>
              <a:t>2024/2/28</a:t>
            </a:fld>
            <a:endParaRPr lang="en-US" altLang="zh-CN"/>
          </a:p>
        </p:txBody>
      </p:sp>
      <p:sp>
        <p:nvSpPr>
          <p:cNvPr id="8" name="页脚占位符 7"/>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6AD9ECB6-4F79-473B-883B-83C2D70858BE}"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1EADE2FB-ACAE-493E-BFD2-9F1CDA5B7BE8}" type="datetime1">
              <a:rPr lang="zh-CN" altLang="en-US"/>
              <a:t>2024/2/28</a:t>
            </a:fld>
            <a:endParaRPr lang="en-US" altLang="zh-CN"/>
          </a:p>
        </p:txBody>
      </p:sp>
      <p:sp>
        <p:nvSpPr>
          <p:cNvPr id="4" name="页脚占位符 3"/>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40B22FD4-6F3E-49F2-A364-09A993B75CAD}"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C9882752-7508-428E-AD54-9A5434001810}" type="datetime1">
              <a:rPr lang="zh-CN" altLang="en-US"/>
              <a:t>2024/2/28</a:t>
            </a:fld>
            <a:endParaRPr lang="en-US" altLang="zh-CN"/>
          </a:p>
        </p:txBody>
      </p:sp>
      <p:sp>
        <p:nvSpPr>
          <p:cNvPr id="3" name="页脚占位符 2"/>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7AE3B802-A354-403B-A9EC-8DA2C00855AE}"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0069" y="286702"/>
            <a:ext cx="3553570" cy="1220153"/>
          </a:xfrm>
        </p:spPr>
        <p:txBody>
          <a:bodyPr anchor="b"/>
          <a:lstStyle>
            <a:lvl1pPr algn="l">
              <a:defRPr sz="2300" b="1"/>
            </a:lvl1pPr>
          </a:lstStyle>
          <a:p>
            <a:r>
              <a:rPr lang="zh-CN" altLang="en-US"/>
              <a:t>单击此处编辑母版标题样式</a:t>
            </a:r>
          </a:p>
        </p:txBody>
      </p:sp>
      <p:sp>
        <p:nvSpPr>
          <p:cNvPr id="3" name="内容占位符 2"/>
          <p:cNvSpPr>
            <a:spLocks noGrp="1"/>
          </p:cNvSpPr>
          <p:nvPr>
            <p:ph idx="1"/>
          </p:nvPr>
        </p:nvSpPr>
        <p:spPr>
          <a:xfrm>
            <a:off x="4223030" y="286711"/>
            <a:ext cx="6038255" cy="6145769"/>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40069" y="1506864"/>
            <a:ext cx="3553570" cy="4925616"/>
          </a:xfrm>
        </p:spPr>
        <p:txBody>
          <a:bodyPr/>
          <a:lstStyle>
            <a:lvl1pPr marL="0" indent="0">
              <a:buNone/>
              <a:defRPr sz="1600"/>
            </a:lvl1pPr>
            <a:lvl2pPr marL="513715" indent="0">
              <a:buNone/>
              <a:defRPr sz="1400"/>
            </a:lvl2pPr>
            <a:lvl3pPr marL="1028065" indent="0">
              <a:buNone/>
              <a:defRPr sz="1100"/>
            </a:lvl3pPr>
            <a:lvl4pPr marL="1541780" indent="0">
              <a:buNone/>
              <a:defRPr sz="1000"/>
            </a:lvl4pPr>
            <a:lvl5pPr marL="2055495" indent="0">
              <a:buNone/>
              <a:defRPr sz="1000"/>
            </a:lvl5pPr>
            <a:lvl6pPr marL="2569845" indent="0">
              <a:buNone/>
              <a:defRPr sz="1000"/>
            </a:lvl6pPr>
            <a:lvl7pPr marL="3083560" indent="0">
              <a:buNone/>
              <a:defRPr sz="1000"/>
            </a:lvl7pPr>
            <a:lvl8pPr marL="3597275" indent="0">
              <a:buNone/>
              <a:defRPr sz="1000"/>
            </a:lvl8pPr>
            <a:lvl9pPr marL="4111625"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8238E28B-C848-4E24-8253-3DF2CCF71887}" type="datetime1">
              <a:rPr lang="zh-CN" altLang="en-US"/>
              <a:t>2024/2/28</a:t>
            </a:fld>
            <a:endParaRPr lang="en-US" altLang="zh-CN"/>
          </a:p>
        </p:txBody>
      </p:sp>
      <p:sp>
        <p:nvSpPr>
          <p:cNvPr id="6" name="页脚占位符 5"/>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56404EAE-4932-4936-B103-FCB88C6125A2}"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17140" y="5040631"/>
            <a:ext cx="6480810" cy="595075"/>
          </a:xfrm>
        </p:spPr>
        <p:txBody>
          <a:bodyPr anchor="b"/>
          <a:lstStyle>
            <a:lvl1pPr algn="l">
              <a:defRPr sz="2300" b="1"/>
            </a:lvl1pPr>
          </a:lstStyle>
          <a:p>
            <a:r>
              <a:rPr lang="zh-CN" altLang="en-US"/>
              <a:t>单击此处编辑母版标题样式</a:t>
            </a:r>
          </a:p>
        </p:txBody>
      </p:sp>
      <p:sp>
        <p:nvSpPr>
          <p:cNvPr id="3" name="图片占位符 2"/>
          <p:cNvSpPr>
            <a:spLocks noGrp="1"/>
          </p:cNvSpPr>
          <p:nvPr>
            <p:ph type="pic" idx="1"/>
          </p:nvPr>
        </p:nvSpPr>
        <p:spPr>
          <a:xfrm>
            <a:off x="2117140" y="643414"/>
            <a:ext cx="6480810" cy="4320540"/>
          </a:xfrm>
        </p:spPr>
        <p:txBody>
          <a:bodyPr rtlCol="0">
            <a:normAutofit/>
          </a:bodyPr>
          <a:lstStyle>
            <a:lvl1pPr marL="0" indent="0">
              <a:buNone/>
              <a:defRPr sz="3600"/>
            </a:lvl1pPr>
            <a:lvl2pPr marL="513715" indent="0">
              <a:buNone/>
              <a:defRPr sz="3200"/>
            </a:lvl2pPr>
            <a:lvl3pPr marL="1028065" indent="0">
              <a:buNone/>
              <a:defRPr sz="2700"/>
            </a:lvl3pPr>
            <a:lvl4pPr marL="1541780" indent="0">
              <a:buNone/>
              <a:defRPr sz="2300"/>
            </a:lvl4pPr>
            <a:lvl5pPr marL="2055495" indent="0">
              <a:buNone/>
              <a:defRPr sz="2300"/>
            </a:lvl5pPr>
            <a:lvl6pPr marL="2569845" indent="0">
              <a:buNone/>
              <a:defRPr sz="2300"/>
            </a:lvl6pPr>
            <a:lvl7pPr marL="3083560" indent="0">
              <a:buNone/>
              <a:defRPr sz="2300"/>
            </a:lvl7pPr>
            <a:lvl8pPr marL="3597275" indent="0">
              <a:buNone/>
              <a:defRPr sz="2300"/>
            </a:lvl8pPr>
            <a:lvl9pPr marL="4111625" indent="0">
              <a:buNone/>
              <a:defRPr sz="2300"/>
            </a:lvl9pPr>
          </a:lstStyle>
          <a:p>
            <a:pPr lvl="0"/>
            <a:endParaRPr lang="zh-CN" altLang="en-US" noProof="0"/>
          </a:p>
        </p:txBody>
      </p:sp>
      <p:sp>
        <p:nvSpPr>
          <p:cNvPr id="4" name="文本占位符 3"/>
          <p:cNvSpPr>
            <a:spLocks noGrp="1"/>
          </p:cNvSpPr>
          <p:nvPr>
            <p:ph type="body" sz="half" idx="2"/>
          </p:nvPr>
        </p:nvSpPr>
        <p:spPr>
          <a:xfrm>
            <a:off x="2117140" y="5635706"/>
            <a:ext cx="6480810" cy="845105"/>
          </a:xfrm>
        </p:spPr>
        <p:txBody>
          <a:bodyPr/>
          <a:lstStyle>
            <a:lvl1pPr marL="0" indent="0">
              <a:buNone/>
              <a:defRPr sz="1600"/>
            </a:lvl1pPr>
            <a:lvl2pPr marL="513715" indent="0">
              <a:buNone/>
              <a:defRPr sz="1400"/>
            </a:lvl2pPr>
            <a:lvl3pPr marL="1028065" indent="0">
              <a:buNone/>
              <a:defRPr sz="1100"/>
            </a:lvl3pPr>
            <a:lvl4pPr marL="1541780" indent="0">
              <a:buNone/>
              <a:defRPr sz="1000"/>
            </a:lvl4pPr>
            <a:lvl5pPr marL="2055495" indent="0">
              <a:buNone/>
              <a:defRPr sz="1000"/>
            </a:lvl5pPr>
            <a:lvl6pPr marL="2569845" indent="0">
              <a:buNone/>
              <a:defRPr sz="1000"/>
            </a:lvl6pPr>
            <a:lvl7pPr marL="3083560" indent="0">
              <a:buNone/>
              <a:defRPr sz="1000"/>
            </a:lvl7pPr>
            <a:lvl8pPr marL="3597275" indent="0">
              <a:buNone/>
              <a:defRPr sz="1000"/>
            </a:lvl8pPr>
            <a:lvl9pPr marL="4111625"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50434381-51E7-425D-941F-BF647947892D}" type="datetime1">
              <a:rPr lang="zh-CN" altLang="en-US"/>
              <a:t>2024/2/28</a:t>
            </a:fld>
            <a:endParaRPr lang="en-US" altLang="zh-CN"/>
          </a:p>
        </p:txBody>
      </p:sp>
      <p:sp>
        <p:nvSpPr>
          <p:cNvPr id="6" name="页脚占位符 5"/>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C22B5B98-9769-4692-BE4F-708275D93D79}"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F6F8F790-7EF6-4F30-BDE4-F66EEF978547}" type="datetime1">
              <a:rPr lang="zh-CN" altLang="en-US"/>
              <a:t>2024/2/28</a:t>
            </a:fld>
            <a:endParaRPr lang="en-US" altLang="zh-CN"/>
          </a:p>
        </p:txBody>
      </p:sp>
      <p:sp>
        <p:nvSpPr>
          <p:cNvPr id="5" name="页脚占位符 4"/>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79420-6073-439D-A424-8EF36A5DD68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250533" y="303375"/>
            <a:ext cx="2870983" cy="645080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37579" y="303375"/>
            <a:ext cx="8432930" cy="645080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39750" y="6673850"/>
            <a:ext cx="2520950" cy="384175"/>
          </a:xfrm>
          <a:prstGeom prst="rect">
            <a:avLst/>
          </a:prstGeom>
        </p:spPr>
        <p:txBody>
          <a:bodyPr/>
          <a:lstStyle>
            <a:lvl1pPr eaLnBrk="1" hangingPunct="1">
              <a:defRPr/>
            </a:lvl1pPr>
          </a:lstStyle>
          <a:p>
            <a:pPr>
              <a:defRPr/>
            </a:pPr>
            <a:fld id="{50898533-D4DA-4899-847B-CB0483985DB8}" type="datetime1">
              <a:rPr lang="zh-CN" altLang="en-US"/>
              <a:t>2024/2/28</a:t>
            </a:fld>
            <a:endParaRPr lang="en-US" altLang="zh-CN"/>
          </a:p>
        </p:txBody>
      </p:sp>
      <p:sp>
        <p:nvSpPr>
          <p:cNvPr id="5" name="页脚占位符 4"/>
          <p:cNvSpPr>
            <a:spLocks noGrp="1"/>
          </p:cNvSpPr>
          <p:nvPr>
            <p:ph type="ftr" sz="quarter" idx="11"/>
          </p:nvPr>
        </p:nvSpPr>
        <p:spPr>
          <a:xfrm>
            <a:off x="3690938" y="6673850"/>
            <a:ext cx="3419475" cy="384175"/>
          </a:xfrm>
          <a:prstGeom prst="rect">
            <a:avLst/>
          </a:prstGeom>
        </p:spPr>
        <p:txBody>
          <a:bodyPr/>
          <a:lstStyle>
            <a:lvl1pPr eaLnBrk="1" hangingPunct="1">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2B36C59-4FEB-4EA8-BE6C-80661C8F8B1A}"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539750" y="288925"/>
            <a:ext cx="9721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539750" y="1679575"/>
            <a:ext cx="972185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4"/>
          </p:nvPr>
        </p:nvSpPr>
        <p:spPr>
          <a:xfrm>
            <a:off x="7740650" y="6673850"/>
            <a:ext cx="2520950" cy="384175"/>
          </a:xfrm>
          <a:prstGeom prst="rect">
            <a:avLst/>
          </a:prstGeom>
        </p:spPr>
        <p:txBody>
          <a:bodyPr vert="horz" wrap="square" lIns="102789" tIns="51393" rIns="102789" bIns="51393" numCol="1" anchor="ctr" anchorCtr="0" compatLnSpc="1"/>
          <a:lstStyle>
            <a:lvl1pPr algn="r" eaLnBrk="1" hangingPunct="1">
              <a:defRPr sz="1400">
                <a:solidFill>
                  <a:srgbClr val="898989"/>
                </a:solidFill>
              </a:defRPr>
            </a:lvl1pPr>
          </a:lstStyle>
          <a:p>
            <a:pPr>
              <a:defRPr/>
            </a:pPr>
            <a:fld id="{185C8340-8C5A-4A9D-AC5D-17233125A7B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027430" rtl="0" eaLnBrk="0" fontAlgn="base" hangingPunct="0">
        <a:spcBef>
          <a:spcPct val="0"/>
        </a:spcBef>
        <a:spcAft>
          <a:spcPct val="0"/>
        </a:spcAft>
        <a:defRPr sz="5000" kern="1200">
          <a:solidFill>
            <a:schemeClr val="tx1"/>
          </a:solidFill>
          <a:latin typeface="+mj-lt"/>
          <a:ea typeface="PMingLiU" panose="02020500000000000000" pitchFamily="18" charset="-120"/>
          <a:cs typeface="+mj-cs"/>
        </a:defRPr>
      </a:lvl1pPr>
      <a:lvl2pPr algn="ctr" defTabSz="1027430" rtl="0" eaLnBrk="0" fontAlgn="base" hangingPunct="0">
        <a:spcBef>
          <a:spcPct val="0"/>
        </a:spcBef>
        <a:spcAft>
          <a:spcPct val="0"/>
        </a:spcAft>
        <a:defRPr sz="5000">
          <a:solidFill>
            <a:schemeClr val="tx1"/>
          </a:solidFill>
          <a:latin typeface="Calibri" panose="020F0502020204030204" pitchFamily="34" charset="0"/>
          <a:ea typeface="PMingLiU" panose="02020500000000000000" pitchFamily="18" charset="-120"/>
        </a:defRPr>
      </a:lvl2pPr>
      <a:lvl3pPr algn="ctr" defTabSz="1027430" rtl="0" eaLnBrk="0" fontAlgn="base" hangingPunct="0">
        <a:spcBef>
          <a:spcPct val="0"/>
        </a:spcBef>
        <a:spcAft>
          <a:spcPct val="0"/>
        </a:spcAft>
        <a:defRPr sz="5000">
          <a:solidFill>
            <a:schemeClr val="tx1"/>
          </a:solidFill>
          <a:latin typeface="Calibri" panose="020F0502020204030204" pitchFamily="34" charset="0"/>
          <a:ea typeface="PMingLiU" panose="02020500000000000000" pitchFamily="18" charset="-120"/>
        </a:defRPr>
      </a:lvl3pPr>
      <a:lvl4pPr algn="ctr" defTabSz="1027430" rtl="0" eaLnBrk="0" fontAlgn="base" hangingPunct="0">
        <a:spcBef>
          <a:spcPct val="0"/>
        </a:spcBef>
        <a:spcAft>
          <a:spcPct val="0"/>
        </a:spcAft>
        <a:defRPr sz="5000">
          <a:solidFill>
            <a:schemeClr val="tx1"/>
          </a:solidFill>
          <a:latin typeface="Calibri" panose="020F0502020204030204" pitchFamily="34" charset="0"/>
          <a:ea typeface="PMingLiU" panose="02020500000000000000" pitchFamily="18" charset="-120"/>
        </a:defRPr>
      </a:lvl4pPr>
      <a:lvl5pPr algn="ctr" defTabSz="1027430" rtl="0" eaLnBrk="0" fontAlgn="base" hangingPunct="0">
        <a:spcBef>
          <a:spcPct val="0"/>
        </a:spcBef>
        <a:spcAft>
          <a:spcPct val="0"/>
        </a:spcAft>
        <a:defRPr sz="5000">
          <a:solidFill>
            <a:schemeClr val="tx1"/>
          </a:solidFill>
          <a:latin typeface="Calibri" panose="020F0502020204030204" pitchFamily="34" charset="0"/>
          <a:ea typeface="PMingLiU" panose="02020500000000000000" pitchFamily="18" charset="-120"/>
        </a:defRPr>
      </a:lvl5pPr>
      <a:lvl6pPr marL="457200" algn="ctr" defTabSz="1027430" rtl="0" fontAlgn="base">
        <a:spcBef>
          <a:spcPct val="0"/>
        </a:spcBef>
        <a:spcAft>
          <a:spcPct val="0"/>
        </a:spcAft>
        <a:defRPr sz="5000">
          <a:solidFill>
            <a:schemeClr val="tx1"/>
          </a:solidFill>
          <a:latin typeface="Calibri" panose="020F0502020204030204" pitchFamily="34" charset="0"/>
          <a:ea typeface="PMingLiU" panose="02020500000000000000" pitchFamily="18" charset="-120"/>
        </a:defRPr>
      </a:lvl6pPr>
      <a:lvl7pPr marL="914400" algn="ctr" defTabSz="1027430" rtl="0" fontAlgn="base">
        <a:spcBef>
          <a:spcPct val="0"/>
        </a:spcBef>
        <a:spcAft>
          <a:spcPct val="0"/>
        </a:spcAft>
        <a:defRPr sz="5000">
          <a:solidFill>
            <a:schemeClr val="tx1"/>
          </a:solidFill>
          <a:latin typeface="Calibri" panose="020F0502020204030204" pitchFamily="34" charset="0"/>
          <a:ea typeface="PMingLiU" panose="02020500000000000000" pitchFamily="18" charset="-120"/>
        </a:defRPr>
      </a:lvl7pPr>
      <a:lvl8pPr marL="1371600" algn="ctr" defTabSz="1027430" rtl="0" fontAlgn="base">
        <a:spcBef>
          <a:spcPct val="0"/>
        </a:spcBef>
        <a:spcAft>
          <a:spcPct val="0"/>
        </a:spcAft>
        <a:defRPr sz="5000">
          <a:solidFill>
            <a:schemeClr val="tx1"/>
          </a:solidFill>
          <a:latin typeface="Calibri" panose="020F0502020204030204" pitchFamily="34" charset="0"/>
          <a:ea typeface="PMingLiU" panose="02020500000000000000" pitchFamily="18" charset="-120"/>
        </a:defRPr>
      </a:lvl8pPr>
      <a:lvl9pPr marL="1828800" algn="ctr" defTabSz="1027430" rtl="0" fontAlgn="base">
        <a:spcBef>
          <a:spcPct val="0"/>
        </a:spcBef>
        <a:spcAft>
          <a:spcPct val="0"/>
        </a:spcAft>
        <a:defRPr sz="5000">
          <a:solidFill>
            <a:schemeClr val="tx1"/>
          </a:solidFill>
          <a:latin typeface="Calibri" panose="020F0502020204030204" pitchFamily="34" charset="0"/>
          <a:ea typeface="PMingLiU" panose="02020500000000000000" pitchFamily="18" charset="-120"/>
        </a:defRPr>
      </a:lvl9pPr>
    </p:titleStyle>
    <p:bodyStyle>
      <a:lvl1pPr marL="384175" indent="-384175" algn="l" defTabSz="1027430" rtl="0" eaLnBrk="0" fontAlgn="base" hangingPunct="0">
        <a:spcBef>
          <a:spcPct val="2000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spcBef>
          <a:spcPct val="2000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spcBef>
          <a:spcPct val="2000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spcBef>
          <a:spcPct val="2000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zh-CN"/>
      </a:defPPr>
      <a:lvl1pPr marL="0" algn="l" defTabSz="1028065" rtl="0" eaLnBrk="1" latinLnBrk="0" hangingPunct="1">
        <a:defRPr sz="2000" kern="1200">
          <a:solidFill>
            <a:schemeClr val="tx1"/>
          </a:solidFill>
          <a:latin typeface="+mn-lt"/>
          <a:ea typeface="+mn-ea"/>
          <a:cs typeface="+mn-cs"/>
        </a:defRPr>
      </a:lvl1pPr>
      <a:lvl2pPr marL="513715" algn="l" defTabSz="1028065" rtl="0" eaLnBrk="1" latinLnBrk="0" hangingPunct="1">
        <a:defRPr sz="2000" kern="1200">
          <a:solidFill>
            <a:schemeClr val="tx1"/>
          </a:solidFill>
          <a:latin typeface="+mn-lt"/>
          <a:ea typeface="+mn-ea"/>
          <a:cs typeface="+mn-cs"/>
        </a:defRPr>
      </a:lvl2pPr>
      <a:lvl3pPr marL="1028065" algn="l" defTabSz="1028065" rtl="0" eaLnBrk="1" latinLnBrk="0" hangingPunct="1">
        <a:defRPr sz="2000" kern="1200">
          <a:solidFill>
            <a:schemeClr val="tx1"/>
          </a:solidFill>
          <a:latin typeface="+mn-lt"/>
          <a:ea typeface="+mn-ea"/>
          <a:cs typeface="+mn-cs"/>
        </a:defRPr>
      </a:lvl3pPr>
      <a:lvl4pPr marL="1541780" algn="l" defTabSz="1028065" rtl="0" eaLnBrk="1" latinLnBrk="0" hangingPunct="1">
        <a:defRPr sz="2000" kern="1200">
          <a:solidFill>
            <a:schemeClr val="tx1"/>
          </a:solidFill>
          <a:latin typeface="+mn-lt"/>
          <a:ea typeface="+mn-ea"/>
          <a:cs typeface="+mn-cs"/>
        </a:defRPr>
      </a:lvl4pPr>
      <a:lvl5pPr marL="2055495" algn="l" defTabSz="1028065" rtl="0" eaLnBrk="1" latinLnBrk="0" hangingPunct="1">
        <a:defRPr sz="2000" kern="1200">
          <a:solidFill>
            <a:schemeClr val="tx1"/>
          </a:solidFill>
          <a:latin typeface="+mn-lt"/>
          <a:ea typeface="+mn-ea"/>
          <a:cs typeface="+mn-cs"/>
        </a:defRPr>
      </a:lvl5pPr>
      <a:lvl6pPr marL="2569845" algn="l" defTabSz="1028065" rtl="0" eaLnBrk="1" latinLnBrk="0" hangingPunct="1">
        <a:defRPr sz="2000" kern="1200">
          <a:solidFill>
            <a:schemeClr val="tx1"/>
          </a:solidFill>
          <a:latin typeface="+mn-lt"/>
          <a:ea typeface="+mn-ea"/>
          <a:cs typeface="+mn-cs"/>
        </a:defRPr>
      </a:lvl6pPr>
      <a:lvl7pPr marL="3083560" algn="l" defTabSz="1028065" rtl="0" eaLnBrk="1" latinLnBrk="0" hangingPunct="1">
        <a:defRPr sz="2000" kern="1200">
          <a:solidFill>
            <a:schemeClr val="tx1"/>
          </a:solidFill>
          <a:latin typeface="+mn-lt"/>
          <a:ea typeface="+mn-ea"/>
          <a:cs typeface="+mn-cs"/>
        </a:defRPr>
      </a:lvl7pPr>
      <a:lvl8pPr marL="3597275" algn="l" defTabSz="1028065" rtl="0" eaLnBrk="1" latinLnBrk="0" hangingPunct="1">
        <a:defRPr sz="2000" kern="1200">
          <a:solidFill>
            <a:schemeClr val="tx1"/>
          </a:solidFill>
          <a:latin typeface="+mn-lt"/>
          <a:ea typeface="+mn-ea"/>
          <a:cs typeface="+mn-cs"/>
        </a:defRPr>
      </a:lvl8pPr>
      <a:lvl9pPr marL="4111625" algn="l" defTabSz="102806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矩形 1"/>
          <p:cNvSpPr/>
          <p:nvPr/>
        </p:nvSpPr>
        <p:spPr>
          <a:xfrm>
            <a:off x="0" y="2231670"/>
            <a:ext cx="10801350" cy="2088232"/>
          </a:xfrm>
          <a:prstGeom prst="rect">
            <a:avLst/>
          </a:prstGeom>
          <a:solidFill>
            <a:schemeClr val="tx2">
              <a:lumMod val="60000"/>
              <a:lumOff val="4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15" name="灯片编号占位符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A201A183-E02A-49CC-9D2D-2F4A816871CA}" type="slidenum">
              <a:rPr lang="en-US" altLang="zh-TW" sz="1400" smtClean="0">
                <a:solidFill>
                  <a:srgbClr val="898989"/>
                </a:solidFill>
                <a:latin typeface="Verdana" panose="020B0604030504040204" pitchFamily="34" charset="0"/>
              </a:rPr>
              <a:t>1</a:t>
            </a:fld>
            <a:endParaRPr lang="en-US" altLang="zh-TW" sz="1400">
              <a:solidFill>
                <a:srgbClr val="898989"/>
              </a:solidFill>
              <a:latin typeface="Verdana" panose="020B0604030504040204" pitchFamily="34" charset="0"/>
            </a:endParaRPr>
          </a:p>
        </p:txBody>
      </p:sp>
      <p:sp>
        <p:nvSpPr>
          <p:cNvPr id="13" name="矩形 12"/>
          <p:cNvSpPr/>
          <p:nvPr/>
        </p:nvSpPr>
        <p:spPr>
          <a:xfrm>
            <a:off x="3816499" y="2808362"/>
            <a:ext cx="3509891" cy="934849"/>
          </a:xfrm>
          <a:prstGeom prst="rect">
            <a:avLst/>
          </a:prstGeom>
          <a:noFill/>
        </p:spPr>
        <p:txBody>
          <a:bodyPr wrap="none" lIns="102848" tIns="51424" rIns="102848" bIns="51424">
            <a:spAutoFit/>
          </a:bodyPr>
          <a:lstStyle/>
          <a:p>
            <a:pPr algn="ctr" eaLnBrk="1" hangingPunct="1">
              <a:defRPr/>
            </a:pPr>
            <a:r>
              <a:rPr lang="zh-CN" altLang="en-US" sz="5400" b="1" dirty="0">
                <a:ln w="1905"/>
                <a:solidFill>
                  <a:schemeClr val="bg1"/>
                </a:solidFill>
                <a:effectLst>
                  <a:innerShdw blurRad="69850" dist="43180" dir="5400000">
                    <a:srgbClr val="000000">
                      <a:alpha val="65000"/>
                    </a:srgbClr>
                  </a:innerShdw>
                </a:effectLst>
                <a:latin typeface="Times New Roman" panose="02020603050405020304" pitchFamily="18" charset="0"/>
                <a:ea typeface="PMingLiU" panose="02020500000000000000" pitchFamily="18" charset="-120"/>
                <a:cs typeface="Times New Roman" panose="02020603050405020304" pitchFamily="18" charset="0"/>
              </a:rPr>
              <a:t>第</a:t>
            </a:r>
            <a:r>
              <a:rPr lang="en-US" altLang="zh-CN" sz="5400" b="1" dirty="0">
                <a:ln w="1905"/>
                <a:solidFill>
                  <a:schemeClr val="bg1"/>
                </a:solidFill>
                <a:effectLst>
                  <a:innerShdw blurRad="69850" dist="43180" dir="5400000">
                    <a:srgbClr val="000000">
                      <a:alpha val="65000"/>
                    </a:srgbClr>
                  </a:innerShdw>
                </a:effectLst>
                <a:latin typeface="Times New Roman" panose="02020603050405020304" pitchFamily="18" charset="0"/>
                <a:ea typeface="PMingLiU" panose="02020500000000000000" pitchFamily="18" charset="-120"/>
                <a:cs typeface="Times New Roman" panose="02020603050405020304" pitchFamily="18" charset="0"/>
              </a:rPr>
              <a:t>1</a:t>
            </a:r>
            <a:r>
              <a:rPr lang="zh-CN" altLang="en-US" sz="5400" b="1" dirty="0">
                <a:ln w="1905"/>
                <a:solidFill>
                  <a:schemeClr val="bg1"/>
                </a:solidFill>
                <a:effectLst>
                  <a:innerShdw blurRad="69850" dist="43180" dir="5400000">
                    <a:srgbClr val="000000">
                      <a:alpha val="65000"/>
                    </a:srgbClr>
                  </a:innerShdw>
                </a:effectLst>
                <a:latin typeface="Times New Roman" panose="02020603050405020304" pitchFamily="18" charset="0"/>
                <a:ea typeface="PMingLiU" panose="02020500000000000000" pitchFamily="18" charset="-120"/>
                <a:cs typeface="Times New Roman" panose="02020603050405020304" pitchFamily="18" charset="0"/>
              </a:rPr>
              <a:t>章 引论</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1.1 </a:t>
            </a:r>
            <a:r>
              <a:rPr lang="zh-CN" altLang="en-US" sz="4100" dirty="0">
                <a:ea typeface="华文楷体" panose="02010600040101010101" pitchFamily="2" charset="-122"/>
              </a:rPr>
              <a:t>为什么进行数据挖掘</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1.2 </a:t>
            </a:r>
            <a:r>
              <a:rPr lang="zh-CN" altLang="en-US" sz="4100" dirty="0">
                <a:ea typeface="华文楷体" panose="02010600040101010101" pitchFamily="2" charset="-122"/>
              </a:rPr>
              <a:t>什么是数据挖掘</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1.3 </a:t>
            </a:r>
            <a:r>
              <a:rPr lang="zh-CN" altLang="en-US" sz="4100" dirty="0">
                <a:ea typeface="华文楷体" panose="02010600040101010101" pitchFamily="2" charset="-122"/>
              </a:rPr>
              <a:t>可以挖掘什么类型的数据</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1.4 </a:t>
            </a:r>
            <a:r>
              <a:rPr lang="zh-CN" altLang="en-US" sz="4100" dirty="0">
                <a:ea typeface="华文楷体" panose="02010600040101010101" pitchFamily="2" charset="-122"/>
              </a:rPr>
              <a:t>可以挖掘什么类型的模式</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1.5 </a:t>
            </a:r>
            <a:r>
              <a:rPr lang="zh-CN" altLang="en-US" sz="4100" dirty="0">
                <a:ea typeface="华文楷体" panose="02010600040101010101" pitchFamily="2" charset="-122"/>
              </a:rPr>
              <a:t>使用什么技术</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1.6 </a:t>
            </a:r>
            <a:r>
              <a:rPr lang="zh-CN" altLang="en-US" sz="4100" dirty="0">
                <a:ea typeface="华文楷体" panose="02010600040101010101" pitchFamily="2" charset="-122"/>
              </a:rPr>
              <a:t>面向什么类型的应用</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1.7 </a:t>
            </a:r>
            <a:r>
              <a:rPr lang="zh-CN" altLang="en-US" sz="4100" dirty="0">
                <a:ea typeface="华文楷体" panose="02010600040101010101" pitchFamily="2" charset="-122"/>
              </a:rPr>
              <a:t>数据挖掘的主要问题</a:t>
            </a:r>
            <a:endParaRPr lang="en-US" altLang="zh-CN" sz="4100"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ea typeface="华文楷体" panose="02010600040101010101" pitchFamily="2" charset="-122"/>
              </a:rPr>
              <a:t>1.8 </a:t>
            </a:r>
            <a:r>
              <a:rPr lang="zh-CN" altLang="en-US" sz="4100" dirty="0">
                <a:ea typeface="华文楷体" panose="02010600040101010101" pitchFamily="2" charset="-122"/>
              </a:rPr>
              <a:t>小结</a:t>
            </a:r>
            <a:endParaRPr lang="en-US" altLang="zh-CN" sz="4100" dirty="0">
              <a:ea typeface="华文楷体" panose="02010600040101010101" pitchFamily="2" charset="-122"/>
            </a:endParaRPr>
          </a:p>
        </p:txBody>
      </p:sp>
      <p:sp>
        <p:nvSpPr>
          <p:cNvPr id="21508"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0158E83C-9DB0-47BB-80E6-9E74B9D5CEC4}" type="slidenum">
              <a:rPr lang="en-US" altLang="zh-TW" sz="1400" smtClean="0">
                <a:solidFill>
                  <a:srgbClr val="898989"/>
                </a:solidFill>
                <a:latin typeface="Verdana" panose="020B0604030504040204" pitchFamily="34" charset="0"/>
              </a:rPr>
              <a:t>2</a:t>
            </a:fld>
            <a:endParaRPr lang="en-US" altLang="zh-TW" sz="1400">
              <a:solidFill>
                <a:srgbClr val="898989"/>
              </a:solidFill>
              <a:latin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1.1 </a:t>
            </a:r>
            <a:r>
              <a:rPr lang="zh-CN" altLang="en-US" sz="4100" b="1" dirty="0">
                <a:solidFill>
                  <a:srgbClr val="FF0000"/>
                </a:solidFill>
                <a:ea typeface="华文楷体" panose="02010600040101010101" pitchFamily="2" charset="-122"/>
              </a:rPr>
              <a:t>为什么进行数据挖掘</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2253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321E22B4-BBFB-46C6-94BB-9DB577206C7B}" type="slidenum">
              <a:rPr lang="en-US" altLang="zh-TW" sz="1400" smtClean="0">
                <a:solidFill>
                  <a:srgbClr val="898989"/>
                </a:solidFill>
                <a:latin typeface="Verdana" panose="020B0604030504040204" pitchFamily="34" charset="0"/>
              </a:rPr>
              <a:t>3</a:t>
            </a:fld>
            <a:endParaRPr lang="en-US" altLang="zh-TW" sz="1400">
              <a:solidFill>
                <a:srgbClr val="898989"/>
              </a:solidFill>
              <a:latin typeface="Verdan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t>  </a:t>
            </a:r>
            <a:r>
              <a:rPr lang="en-US" altLang="zh-CN" dirty="0"/>
              <a:t>1.1 </a:t>
            </a:r>
            <a:r>
              <a:rPr lang="zh-CN" altLang="en-US" dirty="0"/>
              <a:t>为什么进行数据挖掘</a:t>
            </a:r>
            <a:endParaRPr lang="en-US" altLang="zh-CN" dirty="0"/>
          </a:p>
        </p:txBody>
      </p:sp>
      <p:sp>
        <p:nvSpPr>
          <p:cNvPr id="23555" name="内容占位符 2"/>
          <p:cNvSpPr>
            <a:spLocks noGrp="1"/>
          </p:cNvSpPr>
          <p:nvPr>
            <p:ph idx="1"/>
          </p:nvPr>
        </p:nvSpPr>
        <p:spPr>
          <a:xfrm>
            <a:off x="576580" y="1079500"/>
            <a:ext cx="5408930" cy="5885815"/>
          </a:xfrm>
        </p:spPr>
        <p:txBody>
          <a:bodyPr rtlCol="0">
            <a:normAutofit fontScale="92500"/>
          </a:bodyPr>
          <a:lstStyle/>
          <a:p>
            <a:pPr marL="385445" indent="-385445" defTabSz="1028065" eaLnBrk="1" fontAlgn="auto" hangingPunct="1">
              <a:spcAft>
                <a:spcPts val="0"/>
              </a:spcAft>
              <a:buFont typeface="Wingdings" panose="05000000000000000000" pitchFamily="2" charset="2"/>
              <a:buChar char="Ø"/>
              <a:defRPr/>
            </a:pPr>
            <a:r>
              <a:rPr lang="zh-CN" altLang="en-US" sz="3200" b="1" dirty="0">
                <a:solidFill>
                  <a:srgbClr val="000099"/>
                </a:solidFill>
                <a:ea typeface="华文楷体" panose="02010600040101010101" pitchFamily="2" charset="-122"/>
              </a:rPr>
              <a:t>数据爆炸</a:t>
            </a:r>
            <a:endParaRPr lang="en-US" altLang="zh-CN" sz="3200" b="1" dirty="0">
              <a:solidFill>
                <a:srgbClr val="000099"/>
              </a:solidFill>
              <a:ea typeface="华文楷体" panose="02010600040101010101" pitchFamily="2" charset="-122"/>
            </a:endParaRPr>
          </a:p>
          <a:p>
            <a:pPr marL="513715" lvl="1" indent="0" defTabSz="1028065" eaLnBrk="1" fontAlgn="auto" hangingPunct="1">
              <a:spcAft>
                <a:spcPts val="0"/>
              </a:spcAft>
              <a:buFont typeface="Arial" panose="020B0604020202020204" pitchFamily="34" charset="0"/>
              <a:buNone/>
              <a:defRPr/>
            </a:pPr>
            <a:r>
              <a:rPr lang="zh-CN" altLang="en-US" sz="2800" dirty="0">
                <a:ea typeface="华文楷体" panose="02010600040101010101" pitchFamily="2" charset="-122"/>
              </a:rPr>
              <a:t>海量数据 爆炸式增长</a:t>
            </a:r>
            <a:endParaRPr lang="en-US" altLang="zh-CN" sz="2800" dirty="0">
              <a:ea typeface="华文楷体" panose="02010600040101010101" pitchFamily="2" charset="-122"/>
            </a:endParaRPr>
          </a:p>
          <a:p>
            <a:pPr marL="513715" lvl="1" indent="0" defTabSz="1028065" eaLnBrk="1" fontAlgn="auto" hangingPunct="1">
              <a:spcAft>
                <a:spcPts val="0"/>
              </a:spcAft>
              <a:buFont typeface="Arial" panose="020B0604020202020204" pitchFamily="34" charset="0"/>
              <a:buNone/>
              <a:defRPr/>
            </a:pPr>
            <a:r>
              <a:rPr lang="zh-CN" altLang="en-US" sz="2800" b="1" dirty="0">
                <a:ea typeface="华文楷体" panose="02010600040101010101" pitchFamily="2" charset="-122"/>
              </a:rPr>
              <a:t>来源：</a:t>
            </a:r>
            <a:r>
              <a:rPr lang="zh-CN" altLang="en-US" sz="2800" dirty="0">
                <a:ea typeface="华文楷体" panose="02010600040101010101" pitchFamily="2" charset="-122"/>
              </a:rPr>
              <a:t>商业，科学和工程实践，</a:t>
            </a:r>
            <a:endParaRPr lang="en-US" altLang="zh-CN" sz="2800" dirty="0">
              <a:ea typeface="华文楷体" panose="02010600040101010101" pitchFamily="2" charset="-122"/>
            </a:endParaRPr>
          </a:p>
          <a:p>
            <a:pPr marL="513715" lvl="1" indent="0" defTabSz="1028065" eaLnBrk="1" fontAlgn="auto" hangingPunct="1">
              <a:spcAft>
                <a:spcPts val="0"/>
              </a:spcAft>
              <a:buFont typeface="Arial" panose="020B0604020202020204" pitchFamily="34" charset="0"/>
              <a:buNone/>
              <a:defRPr/>
            </a:pPr>
            <a:r>
              <a:rPr lang="en-US" altLang="zh-CN" sz="2800" dirty="0">
                <a:ea typeface="华文楷体" panose="02010600040101010101" pitchFamily="2" charset="-122"/>
              </a:rPr>
              <a:t>              </a:t>
            </a:r>
            <a:r>
              <a:rPr lang="zh-CN" altLang="en-US" sz="2800" dirty="0">
                <a:ea typeface="华文楷体" panose="02010600040101010101" pitchFamily="2" charset="-122"/>
              </a:rPr>
              <a:t>医疗，网络，</a:t>
            </a:r>
            <a:r>
              <a:rPr lang="en-US" altLang="zh-CN" sz="2800" dirty="0">
                <a:ea typeface="华文楷体" panose="02010600040101010101" pitchFamily="2" charset="-122"/>
              </a:rPr>
              <a:t>……</a:t>
            </a:r>
          </a:p>
          <a:p>
            <a:pPr marL="513715" lvl="1" indent="0" defTabSz="1028065" eaLnBrk="1" fontAlgn="auto" hangingPunct="1">
              <a:spcAft>
                <a:spcPts val="0"/>
              </a:spcAft>
              <a:buFont typeface="Arial" panose="020B0604020202020204" pitchFamily="34" charset="0"/>
              <a:buNone/>
              <a:defRPr/>
            </a:pPr>
            <a:r>
              <a:rPr lang="zh-CN" altLang="en-US" sz="2800" b="1" dirty="0">
                <a:ea typeface="华文楷体" panose="02010600040101010101" pitchFamily="2" charset="-122"/>
              </a:rPr>
              <a:t>类型：</a:t>
            </a:r>
            <a:r>
              <a:rPr lang="zh-CN" altLang="en-US" sz="2800" dirty="0">
                <a:ea typeface="华文楷体" panose="02010600040101010101" pitchFamily="2" charset="-122"/>
              </a:rPr>
              <a:t>文本，图像，视频，</a:t>
            </a:r>
            <a:endParaRPr lang="en-US" altLang="zh-CN" sz="2800" dirty="0">
              <a:ea typeface="华文楷体" panose="02010600040101010101" pitchFamily="2" charset="-122"/>
            </a:endParaRPr>
          </a:p>
          <a:p>
            <a:pPr marL="513715" lvl="1" indent="0" defTabSz="1028065" eaLnBrk="1" fontAlgn="auto" hangingPunct="1">
              <a:spcAft>
                <a:spcPts val="0"/>
              </a:spcAft>
              <a:buFont typeface="Arial" panose="020B0604020202020204" pitchFamily="34" charset="0"/>
              <a:buNone/>
              <a:defRPr/>
            </a:pPr>
            <a:r>
              <a:rPr lang="en-US" altLang="zh-CN" sz="2800" dirty="0">
                <a:ea typeface="华文楷体" panose="02010600040101010101" pitchFamily="2" charset="-122"/>
              </a:rPr>
              <a:t>              </a:t>
            </a:r>
            <a:r>
              <a:rPr lang="zh-CN" altLang="en-US" sz="2800" dirty="0">
                <a:ea typeface="华文楷体" panose="02010600040101010101" pitchFamily="2" charset="-122"/>
              </a:rPr>
              <a:t>声音，</a:t>
            </a:r>
            <a:r>
              <a:rPr lang="en-US" altLang="zh-CN" sz="2800" dirty="0">
                <a:ea typeface="华文楷体" panose="02010600040101010101" pitchFamily="2" charset="-122"/>
              </a:rPr>
              <a:t>……</a:t>
            </a:r>
          </a:p>
          <a:p>
            <a:pPr marL="385445" indent="-385445" defTabSz="1028065" eaLnBrk="1" fontAlgn="auto" hangingPunct="1">
              <a:spcAft>
                <a:spcPts val="0"/>
              </a:spcAft>
              <a:buFont typeface="Wingdings" panose="05000000000000000000" pitchFamily="2" charset="2"/>
              <a:buChar char="Ø"/>
              <a:defRPr/>
            </a:pPr>
            <a:r>
              <a:rPr lang="zh-CN" altLang="en-US" sz="3200" b="1" dirty="0">
                <a:solidFill>
                  <a:srgbClr val="000099"/>
                </a:solidFill>
                <a:ea typeface="华文楷体" panose="02010600040101010101" pitchFamily="2" charset="-122"/>
              </a:rPr>
              <a:t>信息技术的进化</a:t>
            </a:r>
            <a:endParaRPr lang="en-US" altLang="zh-CN" sz="3200" b="1" dirty="0">
              <a:solidFill>
                <a:srgbClr val="000099"/>
              </a:solidFill>
              <a:ea typeface="华文楷体" panose="02010600040101010101" pitchFamily="2" charset="-122"/>
            </a:endParaRPr>
          </a:p>
          <a:p>
            <a:pPr marL="513715" lvl="1" indent="0" defTabSz="1028065" eaLnBrk="1" fontAlgn="auto" hangingPunct="1">
              <a:spcAft>
                <a:spcPts val="0"/>
              </a:spcAft>
              <a:buNone/>
              <a:defRPr/>
            </a:pPr>
            <a:r>
              <a:rPr lang="zh-CN" altLang="en-US" sz="2800" dirty="0">
                <a:ea typeface="华文楷体" panose="02010600040101010101" pitchFamily="2" charset="-122"/>
              </a:rPr>
              <a:t>文件系统</a:t>
            </a:r>
            <a:r>
              <a:rPr lang="en-US" altLang="zh-CN" sz="2800" dirty="0">
                <a:ea typeface="华文楷体" panose="02010600040101010101" pitchFamily="2" charset="-122"/>
                <a:sym typeface="Wingdings" panose="05000000000000000000" pitchFamily="2" charset="2"/>
              </a:rPr>
              <a:t></a:t>
            </a:r>
            <a:r>
              <a:rPr lang="zh-CN" altLang="en-US" sz="2800" dirty="0">
                <a:ea typeface="华文楷体" panose="02010600040101010101" pitchFamily="2" charset="-122"/>
                <a:sym typeface="Wingdings" panose="05000000000000000000" pitchFamily="2" charset="2"/>
              </a:rPr>
              <a:t>数据库管理系统</a:t>
            </a:r>
            <a:r>
              <a:rPr lang="en-US" altLang="zh-CN" sz="2800" dirty="0">
                <a:ea typeface="华文楷体" panose="02010600040101010101" pitchFamily="2" charset="-122"/>
                <a:sym typeface="Wingdings" panose="05000000000000000000" pitchFamily="2" charset="2"/>
              </a:rPr>
              <a:t></a:t>
            </a:r>
            <a:r>
              <a:rPr lang="zh-CN" altLang="en-US" sz="2800" dirty="0">
                <a:ea typeface="华文楷体" panose="02010600040101010101" pitchFamily="2" charset="-122"/>
                <a:sym typeface="Wingdings" panose="05000000000000000000" pitchFamily="2" charset="2"/>
              </a:rPr>
              <a:t>高级数据库系统，高级数据分析</a:t>
            </a:r>
            <a:endParaRPr lang="en-US" altLang="zh-CN" sz="2800" b="1" dirty="0">
              <a:solidFill>
                <a:srgbClr val="000099"/>
              </a:solidFill>
              <a:ea typeface="华文楷体" panose="02010600040101010101" pitchFamily="2" charset="-122"/>
            </a:endParaRPr>
          </a:p>
        </p:txBody>
      </p:sp>
      <p:sp>
        <p:nvSpPr>
          <p:cNvPr id="23556"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AEAC355D-0C40-42BE-BD4B-C1E42A8F2A33}" type="slidenum">
              <a:rPr lang="en-US" altLang="zh-TW" sz="1400" smtClean="0">
                <a:solidFill>
                  <a:srgbClr val="898989"/>
                </a:solidFill>
                <a:latin typeface="Verdana" panose="020B0604030504040204" pitchFamily="34" charset="0"/>
              </a:rPr>
              <a:t>4</a:t>
            </a:fld>
            <a:endParaRPr lang="en-US" altLang="zh-TW" sz="1400">
              <a:solidFill>
                <a:srgbClr val="898989"/>
              </a:solidFill>
              <a:latin typeface="Verdana" panose="020B0604030504040204" pitchFamily="34" charset="0"/>
            </a:endParaRPr>
          </a:p>
        </p:txBody>
      </p:sp>
      <p:pic>
        <p:nvPicPr>
          <p:cNvPr id="4" name="图片 3"/>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904865" y="1224280"/>
            <a:ext cx="4700905" cy="2930525"/>
          </a:xfrm>
          <a:prstGeom prst="rect">
            <a:avLst/>
          </a:prstGeom>
        </p:spPr>
      </p:pic>
      <p:pic>
        <p:nvPicPr>
          <p:cNvPr id="5" name="图片 4"/>
          <p:cNvPicPr>
            <a:picLocks noChangeAspect="1"/>
          </p:cNvPicPr>
          <p:nvPr>
            <p:custDataLst>
              <p:tags r:id="rId2"/>
            </p:custDataLst>
          </p:nvPr>
        </p:nvPicPr>
        <p:blipFill>
          <a:blip r:embed="rId7"/>
          <a:stretch>
            <a:fillRect/>
          </a:stretch>
        </p:blipFill>
        <p:spPr>
          <a:xfrm>
            <a:off x="5904865" y="4536440"/>
            <a:ext cx="4879340" cy="2377440"/>
          </a:xfrm>
          <a:prstGeom prst="rect">
            <a:avLst/>
          </a:prstGeom>
        </p:spPr>
      </p:pic>
      <p:sp>
        <p:nvSpPr>
          <p:cNvPr id="7" name="矩形 6"/>
          <p:cNvSpPr/>
          <p:nvPr>
            <p:custDataLst>
              <p:tags r:id="rId3"/>
            </p:custDataLst>
          </p:nvPr>
        </p:nvSpPr>
        <p:spPr>
          <a:xfrm>
            <a:off x="6552565" y="5688330"/>
            <a:ext cx="1784350" cy="252730"/>
          </a:xfrm>
          <a:prstGeom prst="rect">
            <a:avLst/>
          </a:prstGeom>
        </p:spPr>
        <p:txBody>
          <a:bodyPr wrap="none">
            <a:noAutofit/>
          </a:bodyPr>
          <a:lstStyle/>
          <a:p>
            <a:r>
              <a:rPr lang="zh-CN" altLang="en-US" sz="2000" b="1" dirty="0">
                <a:solidFill>
                  <a:srgbClr val="FF0000"/>
                </a:solidFill>
                <a:latin typeface="宋体" panose="02010600030101010101" pitchFamily="2" charset="-122"/>
                <a:ea typeface="宋体" panose="02010600030101010101" pitchFamily="2" charset="-122"/>
              </a:rPr>
              <a:t>关系型的数据库</a:t>
            </a:r>
          </a:p>
        </p:txBody>
      </p:sp>
      <p:sp>
        <p:nvSpPr>
          <p:cNvPr id="8" name="矩形 7"/>
          <p:cNvSpPr/>
          <p:nvPr>
            <p:custDataLst>
              <p:tags r:id="rId4"/>
            </p:custDataLst>
          </p:nvPr>
        </p:nvSpPr>
        <p:spPr>
          <a:xfrm>
            <a:off x="7894320" y="4411345"/>
            <a:ext cx="1999615" cy="454025"/>
          </a:xfrm>
          <a:prstGeom prst="rect">
            <a:avLst/>
          </a:prstGeom>
        </p:spPr>
        <p:txBody>
          <a:bodyPr wrap="none">
            <a:noAutofit/>
          </a:bodyPr>
          <a:lstStyle/>
          <a:p>
            <a:pPr algn="ctr"/>
            <a:r>
              <a:rPr lang="zh-CN" altLang="en-US" sz="2000" b="1" i="0"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非关系型的数据库</a:t>
            </a:r>
            <a:endParaRPr lang="en-US" altLang="zh-CN" sz="2000" b="1" i="0" dirty="0">
              <a:solidFill>
                <a:srgbClr val="FF0000"/>
              </a:solidFill>
              <a:effectLst/>
              <a:latin typeface="宋体" panose="02010600030101010101" pitchFamily="2" charset="-122"/>
              <a:ea typeface="宋体" panose="02010600030101010101" pitchFamily="2" charset="-122"/>
              <a:cs typeface="宋体" panose="02010600030101010101" pitchFamily="2" charset="-122"/>
            </a:endParaRPr>
          </a:p>
          <a:p>
            <a:pPr algn="ctr"/>
            <a:r>
              <a:rPr lang="en-US" altLang="zh-CN" sz="2000" b="1" dirty="0">
                <a:solidFill>
                  <a:srgbClr val="FF0000"/>
                </a:solidFill>
                <a:latin typeface="宋体" panose="02010600030101010101" pitchFamily="2" charset="-122"/>
                <a:ea typeface="宋体" panose="02010600030101010101" pitchFamily="2" charset="-122"/>
                <a:cs typeface="宋体" panose="02010600030101010101" pitchFamily="2" charset="-122"/>
              </a:rPr>
              <a:t>NoSQL</a:t>
            </a:r>
            <a:endPar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eaLnBrk="1" hangingPunct="1">
              <a:defRPr/>
            </a:pPr>
            <a:r>
              <a:rPr lang="zh-CN" altLang="en-US" dirty="0"/>
              <a:t>  </a:t>
            </a:r>
            <a:r>
              <a:rPr lang="en-US" altLang="zh-CN" dirty="0"/>
              <a:t>1.1 </a:t>
            </a:r>
            <a:r>
              <a:rPr lang="zh-CN" altLang="en-US" dirty="0"/>
              <a:t>为什么进行数据挖掘</a:t>
            </a:r>
          </a:p>
        </p:txBody>
      </p:sp>
      <p:sp>
        <p:nvSpPr>
          <p:cNvPr id="3" name="内容占位符 2"/>
          <p:cNvSpPr>
            <a:spLocks noGrp="1"/>
          </p:cNvSpPr>
          <p:nvPr>
            <p:ph idx="1"/>
          </p:nvPr>
        </p:nvSpPr>
        <p:spPr>
          <a:xfrm>
            <a:off x="576263" y="1079500"/>
            <a:ext cx="9864725" cy="1314450"/>
          </a:xfrm>
        </p:spPr>
        <p:txBody>
          <a:bodyPr/>
          <a:lstStyle/>
          <a:p>
            <a:pPr eaLnBrk="1" hangingPunct="1">
              <a:buFont typeface="Arial" panose="020B0604020202020204" pitchFamily="34" charset="0"/>
              <a:buChar char="•"/>
              <a:defRPr/>
            </a:pPr>
            <a:r>
              <a:rPr lang="zh-CN" altLang="en-US" dirty="0">
                <a:latin typeface="+mn-ea"/>
                <a:ea typeface="+mn-ea"/>
              </a:rPr>
              <a:t>例子：啤酒与尿布</a:t>
            </a:r>
          </a:p>
        </p:txBody>
      </p:sp>
      <p:sp>
        <p:nvSpPr>
          <p:cNvPr id="24580"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2F5F6388-FEE1-4BE8-A0FB-5B0D8AFF617F}" type="slidenum">
              <a:rPr lang="en-US" altLang="zh-CN" sz="1400" smtClean="0">
                <a:solidFill>
                  <a:srgbClr val="898989"/>
                </a:solidFill>
                <a:latin typeface="Verdana" panose="020B0604030504040204" pitchFamily="34" charset="0"/>
              </a:rPr>
              <a:t>5</a:t>
            </a:fld>
            <a:endParaRPr lang="en-US" altLang="zh-CN" sz="1400">
              <a:solidFill>
                <a:srgbClr val="898989"/>
              </a:solidFill>
              <a:latin typeface="Verdana" panose="020B0604030504040204" pitchFamily="34" charset="0"/>
            </a:endParaRPr>
          </a:p>
        </p:txBody>
      </p:sp>
      <p:pic>
        <p:nvPicPr>
          <p:cNvPr id="24581" name="Picture 5" descr="C:\Documents and Settings\Administrator\Local Settings\Temporary Internet Files\Content.IE5\AIPPQ0UH\MCj041276800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5020" y="2055813"/>
            <a:ext cx="208597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C:\Documents and Settings\Administrator\Local Settings\Temporary Internet Files\Content.IE5\EPULO7EJ\MCj03951760000[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8508" y="2466975"/>
            <a:ext cx="2166937" cy="1773238"/>
          </a:xfrm>
          <a:prstGeom prst="rect">
            <a:avLst/>
          </a:prstGeom>
          <a:solidFill>
            <a:srgbClr val="7030A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txBox="1"/>
          <p:nvPr/>
        </p:nvSpPr>
        <p:spPr bwMode="auto">
          <a:xfrm>
            <a:off x="4679950" y="1079500"/>
            <a:ext cx="5024438"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dirty="0">
                <a:latin typeface="+mn-ea"/>
                <a:ea typeface="+mn-ea"/>
              </a:rPr>
              <a:t>——</a:t>
            </a:r>
            <a:r>
              <a:rPr lang="zh-CN" altLang="en-US" dirty="0">
                <a:latin typeface="+mn-ea"/>
                <a:ea typeface="+mn-ea"/>
              </a:rPr>
              <a:t>购物篮分析的结果</a:t>
            </a:r>
          </a:p>
        </p:txBody>
      </p:sp>
      <p:sp>
        <p:nvSpPr>
          <p:cNvPr id="9" name="矩形 8"/>
          <p:cNvSpPr/>
          <p:nvPr/>
        </p:nvSpPr>
        <p:spPr>
          <a:xfrm>
            <a:off x="1049338" y="4641850"/>
            <a:ext cx="8640762" cy="2032000"/>
          </a:xfrm>
          <a:prstGeom prst="rect">
            <a:avLst/>
          </a:prstGeom>
          <a:solidFill>
            <a:schemeClr val="accent1">
              <a:lumMod val="40000"/>
              <a:lumOff val="60000"/>
            </a:schemeClr>
          </a:solidFill>
        </p:spPr>
        <p:txBody>
          <a:bodyPr>
            <a:spAutoFit/>
          </a:bodyPr>
          <a:lstStyle/>
          <a:p>
            <a:pPr marL="513080" lvl="1" indent="-425450" eaLnBrk="1" hangingPunct="1">
              <a:lnSpc>
                <a:spcPct val="150000"/>
              </a:lnSpc>
              <a:defRPr/>
            </a:pPr>
            <a:r>
              <a:rPr lang="zh-CN" altLang="en-US" sz="2800" b="1" dirty="0">
                <a:solidFill>
                  <a:srgbClr val="FF0000"/>
                </a:solidFill>
                <a:ea typeface="华文楷体" panose="02010600040101010101" pitchFamily="2" charset="-122"/>
              </a:rPr>
              <a:t>问题：</a:t>
            </a:r>
            <a:endParaRPr lang="en-US" altLang="zh-CN" sz="2800" b="1" dirty="0">
              <a:solidFill>
                <a:srgbClr val="FF0000"/>
              </a:solidFill>
              <a:ea typeface="华文楷体" panose="02010600040101010101" pitchFamily="2" charset="-122"/>
            </a:endParaRPr>
          </a:p>
          <a:p>
            <a:pPr marL="513715" lvl="1" indent="0" eaLnBrk="1" hangingPunct="1">
              <a:lnSpc>
                <a:spcPct val="150000"/>
              </a:lnSpc>
              <a:defRPr/>
            </a:pPr>
            <a:r>
              <a:rPr lang="zh-CN" altLang="en-US" sz="2800" dirty="0">
                <a:ea typeface="华文楷体" panose="02010600040101010101" pitchFamily="2" charset="-122"/>
              </a:rPr>
              <a:t>数据丰富，但信息缺乏；</a:t>
            </a:r>
            <a:endParaRPr lang="en-US" altLang="zh-CN" sz="2800" dirty="0">
              <a:ea typeface="华文楷体" panose="02010600040101010101" pitchFamily="2" charset="-122"/>
            </a:endParaRPr>
          </a:p>
          <a:p>
            <a:pPr marL="513715" lvl="1" indent="0" eaLnBrk="1" hangingPunct="1">
              <a:lnSpc>
                <a:spcPct val="150000"/>
              </a:lnSpc>
              <a:defRPr/>
            </a:pPr>
            <a:r>
              <a:rPr lang="zh-CN" altLang="en-US" sz="2800" dirty="0">
                <a:ea typeface="华文楷体" panose="02010600040101010101" pitchFamily="2" charset="-122"/>
              </a:rPr>
              <a:t>如何将</a:t>
            </a:r>
            <a:r>
              <a:rPr lang="zh-CN" altLang="en-US" sz="2800" dirty="0">
                <a:solidFill>
                  <a:srgbClr val="FF0000"/>
                </a:solidFill>
                <a:ea typeface="华文楷体" panose="02010600040101010101" pitchFamily="2" charset="-122"/>
              </a:rPr>
              <a:t>数据</a:t>
            </a:r>
            <a:r>
              <a:rPr lang="zh-CN" altLang="en-US" sz="2800" dirty="0">
                <a:ea typeface="华文楷体" panose="02010600040101010101" pitchFamily="2" charset="-122"/>
              </a:rPr>
              <a:t>转换成</a:t>
            </a:r>
            <a:r>
              <a:rPr lang="zh-CN" altLang="en-US" sz="2800" dirty="0">
                <a:solidFill>
                  <a:srgbClr val="FF0000"/>
                </a:solidFill>
                <a:ea typeface="华文楷体" panose="02010600040101010101" pitchFamily="2" charset="-122"/>
              </a:rPr>
              <a:t>知识</a:t>
            </a:r>
            <a:r>
              <a:rPr lang="zh-CN" altLang="en-US" sz="2800" dirty="0">
                <a:ea typeface="华文楷体" panose="02010600040101010101" pitchFamily="2" charset="-122"/>
              </a:rPr>
              <a:t>？</a:t>
            </a:r>
            <a:endParaRPr lang="en-US" altLang="zh-CN" sz="2800" dirty="0">
              <a:ea typeface="华文楷体" panose="02010600040101010101" pitchFamily="2" charset="-122"/>
            </a:endParaRPr>
          </a:p>
        </p:txBody>
      </p:sp>
      <p:sp>
        <p:nvSpPr>
          <p:cNvPr id="10" name="流程图: 资料带 9"/>
          <p:cNvSpPr/>
          <p:nvPr/>
        </p:nvSpPr>
        <p:spPr>
          <a:xfrm>
            <a:off x="6305550" y="5218113"/>
            <a:ext cx="3024188" cy="1223962"/>
          </a:xfrm>
          <a:prstGeom prst="flowChartPunchedTape">
            <a:avLst/>
          </a:prstGeom>
          <a:solidFill>
            <a:schemeClr val="tx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3200" dirty="0"/>
              <a:t>数据挖掘</a:t>
            </a:r>
          </a:p>
        </p:txBody>
      </p:sp>
      <p:cxnSp>
        <p:nvCxnSpPr>
          <p:cNvPr id="5" name="直接箭头连接符 4"/>
          <p:cNvCxnSpPr/>
          <p:nvPr/>
        </p:nvCxnSpPr>
        <p:spPr>
          <a:xfrm>
            <a:off x="4624617" y="3353594"/>
            <a:ext cx="1672828"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1.2 </a:t>
            </a:r>
            <a:r>
              <a:rPr lang="zh-CN" altLang="en-US" sz="4100" b="1" dirty="0">
                <a:solidFill>
                  <a:srgbClr val="FF0000"/>
                </a:solidFill>
                <a:ea typeface="华文楷体" panose="02010600040101010101" pitchFamily="2" charset="-122"/>
              </a:rPr>
              <a:t>什么是数据挖掘</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26628"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15DF242C-CE28-427F-B0CA-2FD9EA046256}" type="slidenum">
              <a:rPr lang="en-US" altLang="zh-TW" sz="1400" smtClean="0">
                <a:solidFill>
                  <a:srgbClr val="898989"/>
                </a:solidFill>
                <a:latin typeface="Verdana" panose="020B0604030504040204" pitchFamily="34" charset="0"/>
              </a:rPr>
              <a:t>6</a:t>
            </a:fld>
            <a:endParaRPr lang="en-US" altLang="zh-TW" sz="1400">
              <a:solidFill>
                <a:srgbClr val="898989"/>
              </a:solidFill>
              <a:latin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
          <p:cNvSpPr>
            <a:spLocks noGrp="1"/>
          </p:cNvSpPr>
          <p:nvPr>
            <p:ph idx="1"/>
          </p:nvPr>
        </p:nvSpPr>
        <p:spPr>
          <a:xfrm>
            <a:off x="504825" y="1079500"/>
            <a:ext cx="9864725" cy="5761310"/>
          </a:xfrm>
        </p:spPr>
        <p:txBody>
          <a:bodyPr rtlCol="0">
            <a:normAutofit/>
          </a:bodyPr>
          <a:lstStyle/>
          <a:p>
            <a:pPr marL="385445" indent="-385445" defTabSz="1028065" eaLnBrk="1" fontAlgn="auto" hangingPunct="1">
              <a:spcAft>
                <a:spcPts val="0"/>
              </a:spcAft>
              <a:buFont typeface="Wingdings" panose="05000000000000000000" pitchFamily="2" charset="2"/>
              <a:buChar char="Ø"/>
              <a:defRPr/>
            </a:pPr>
            <a:r>
              <a:rPr lang="zh-CN" altLang="en-US" sz="2800" b="1" dirty="0">
                <a:solidFill>
                  <a:srgbClr val="000099"/>
                </a:solidFill>
                <a:ea typeface="华文楷体" panose="02010600040101010101" pitchFamily="2" charset="-122"/>
              </a:rPr>
              <a:t>命名：</a:t>
            </a:r>
            <a:endParaRPr lang="en-US" altLang="zh-CN" sz="2800" b="1" dirty="0">
              <a:solidFill>
                <a:srgbClr val="000099"/>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zh-CN" altLang="en-US" sz="2800" b="1" dirty="0">
                <a:solidFill>
                  <a:srgbClr val="000099"/>
                </a:solidFill>
                <a:ea typeface="华文楷体" panose="02010600040101010101" pitchFamily="2" charset="-122"/>
              </a:rPr>
              <a:t>     </a:t>
            </a:r>
            <a:r>
              <a:rPr lang="zh-CN" altLang="en-US" sz="2800" b="1" dirty="0">
                <a:ea typeface="华文楷体" panose="02010600040101010101" pitchFamily="2" charset="-122"/>
              </a:rPr>
              <a:t>从大量数据中挖掘知识</a:t>
            </a:r>
            <a:endParaRPr lang="en-US" altLang="zh-CN" sz="2800" b="1" dirty="0">
              <a:ea typeface="华文楷体" panose="02010600040101010101" pitchFamily="2" charset="-122"/>
            </a:endParaRPr>
          </a:p>
          <a:p>
            <a:pPr marL="970915" lvl="1" indent="-457200" defTabSz="1028065" eaLnBrk="1" fontAlgn="auto" hangingPunct="1">
              <a:spcBef>
                <a:spcPts val="1200"/>
              </a:spcBef>
              <a:spcAft>
                <a:spcPts val="0"/>
              </a:spcAft>
              <a:buFont typeface="Arial" panose="020B0604020202020204" pitchFamily="34" charset="0"/>
              <a:buChar char="•"/>
              <a:defRPr/>
            </a:pPr>
            <a:r>
              <a:rPr lang="zh-CN" altLang="en-US" sz="2800" b="1" dirty="0">
                <a:latin typeface="华文楷体" panose="02010600040101010101" pitchFamily="2" charset="-122"/>
                <a:ea typeface="华文楷体" panose="02010600040101010101" pitchFamily="2" charset="-122"/>
              </a:rPr>
              <a:t>相近的术语：</a:t>
            </a:r>
            <a:endParaRPr lang="en-US" altLang="zh-CN" sz="2800" b="1" dirty="0">
              <a:latin typeface="华文楷体" panose="02010600040101010101" pitchFamily="2" charset="-122"/>
              <a:ea typeface="华文楷体" panose="02010600040101010101" pitchFamily="2" charset="-122"/>
            </a:endParaRPr>
          </a:p>
          <a:p>
            <a:pPr marL="835025" lvl="1" indent="-321310" defTabSz="1028065" eaLnBrk="1" fontAlgn="auto" hangingPunct="1">
              <a:spcAft>
                <a:spcPts val="0"/>
              </a:spcAft>
              <a:defRPr/>
            </a:pPr>
            <a:r>
              <a:rPr lang="zh-CN" altLang="en-US" sz="2800" dirty="0">
                <a:latin typeface="华文楷体" panose="02010600040101010101" pitchFamily="2" charset="-122"/>
                <a:ea typeface="华文楷体" panose="02010600040101010101" pitchFamily="2" charset="-122"/>
              </a:rPr>
              <a:t>数据中知识发现</a:t>
            </a:r>
            <a:r>
              <a:rPr lang="en-US" altLang="zh-CN" sz="2800" dirty="0">
                <a:latin typeface="华文楷体" panose="02010600040101010101" pitchFamily="2" charset="-122"/>
                <a:ea typeface="华文楷体" panose="02010600040101010101" pitchFamily="2" charset="-122"/>
              </a:rPr>
              <a:t>(KDD)</a:t>
            </a:r>
            <a:r>
              <a:rPr lang="zh-CN" altLang="en-US" sz="2800" dirty="0">
                <a:latin typeface="华文楷体" panose="02010600040101010101" pitchFamily="2" charset="-122"/>
                <a:ea typeface="华文楷体" panose="02010600040101010101" pitchFamily="2" charset="-122"/>
              </a:rPr>
              <a:t>、知识提取、数据</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模式识别、</a:t>
            </a: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数据考古、数据捕捞等。</a:t>
            </a:r>
            <a:endParaRPr lang="en-US" altLang="zh-CN" sz="2800" dirty="0">
              <a:latin typeface="华文楷体" panose="02010600040101010101" pitchFamily="2" charset="-122"/>
              <a:ea typeface="华文楷体" panose="02010600040101010101" pitchFamily="2" charset="-122"/>
            </a:endParaRPr>
          </a:p>
          <a:p>
            <a:pPr marL="970915" lvl="1" indent="-457200" defTabSz="1028065" eaLnBrk="1" fontAlgn="auto" hangingPunct="1">
              <a:spcBef>
                <a:spcPts val="1200"/>
              </a:spcBef>
              <a:spcAft>
                <a:spcPts val="0"/>
              </a:spcAft>
              <a:buFont typeface="Arial" panose="020B0604020202020204" pitchFamily="34" charset="0"/>
              <a:buChar char="•"/>
              <a:defRPr/>
            </a:pPr>
            <a:r>
              <a:rPr lang="zh-CN" altLang="en-US" sz="2800" b="1" dirty="0">
                <a:latin typeface="华文楷体" panose="02010600040101010101" pitchFamily="2" charset="-122"/>
                <a:ea typeface="华文楷体" panose="02010600040101010101" pitchFamily="2" charset="-122"/>
              </a:rPr>
              <a:t>一些人把数据挖掘视为知识发现过程的一个基本步骤：</a:t>
            </a:r>
            <a:endParaRPr lang="en-US" altLang="zh-CN" sz="2800" b="1" dirty="0">
              <a:latin typeface="华文楷体" panose="02010600040101010101" pitchFamily="2" charset="-122"/>
              <a:ea typeface="华文楷体" panose="02010600040101010101" pitchFamily="2" charset="-122"/>
            </a:endParaRPr>
          </a:p>
          <a:p>
            <a:pPr marL="513715" lvl="1" indent="0" defTabSz="1028065" eaLnBrk="1" fontAlgn="auto" hangingPunct="1">
              <a:spcAft>
                <a:spcPts val="0"/>
              </a:spcAft>
              <a:buFont typeface="Arial" panose="020B0604020202020204" pitchFamily="34" charset="0"/>
              <a:buNone/>
              <a:defRPr/>
            </a:pPr>
            <a:r>
              <a:rPr lang="zh-CN" altLang="en-US" sz="2800" dirty="0">
                <a:solidFill>
                  <a:srgbClr val="0070C0"/>
                </a:solidFill>
                <a:latin typeface="华文楷体" panose="02010600040101010101" pitchFamily="2" charset="-122"/>
                <a:ea typeface="华文楷体" panose="02010600040101010101" pitchFamily="2" charset="-122"/>
              </a:rPr>
              <a:t>数据清理、数据集成、数据选择、数据变换、</a:t>
            </a:r>
            <a:r>
              <a:rPr lang="zh-CN" altLang="en-US" sz="2800" dirty="0">
                <a:solidFill>
                  <a:srgbClr val="FF0000"/>
                </a:solidFill>
                <a:latin typeface="华文楷体" panose="02010600040101010101" pitchFamily="2" charset="-122"/>
                <a:ea typeface="华文楷体" panose="02010600040101010101" pitchFamily="2" charset="-122"/>
              </a:rPr>
              <a:t>数据挖掘、</a:t>
            </a:r>
            <a:r>
              <a:rPr lang="zh-CN" altLang="en-US" sz="2800" dirty="0">
                <a:solidFill>
                  <a:srgbClr val="0070C0"/>
                </a:solidFill>
                <a:latin typeface="华文楷体" panose="02010600040101010101" pitchFamily="2" charset="-122"/>
                <a:ea typeface="华文楷体" panose="02010600040101010101" pitchFamily="2" charset="-122"/>
              </a:rPr>
              <a:t>模式评估、知识表示。</a:t>
            </a:r>
            <a:endParaRPr lang="en-US" altLang="zh-CN" sz="2800" dirty="0">
              <a:solidFill>
                <a:srgbClr val="0070C0"/>
              </a:solidFill>
              <a:latin typeface="华文楷体" panose="02010600040101010101" pitchFamily="2" charset="-122"/>
              <a:ea typeface="华文楷体" panose="02010600040101010101" pitchFamily="2" charset="-122"/>
            </a:endParaRPr>
          </a:p>
          <a:p>
            <a:pPr marL="835025" lvl="1" indent="-321310" defTabSz="1028065" eaLnBrk="1" fontAlgn="auto" hangingPunct="1">
              <a:spcAft>
                <a:spcPts val="0"/>
              </a:spcAft>
              <a:buFont typeface="Wingdings" panose="05000000000000000000" pitchFamily="2" charset="2"/>
              <a:buChar char="Ø"/>
              <a:defRPr/>
            </a:pPr>
            <a:endParaRPr lang="en-US" altLang="zh-CN" sz="2400" b="1" dirty="0">
              <a:solidFill>
                <a:srgbClr val="000099"/>
              </a:solidFill>
              <a:ea typeface="华文楷体" panose="02010600040101010101" pitchFamily="2" charset="-122"/>
            </a:endParaRPr>
          </a:p>
        </p:txBody>
      </p:sp>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t>  </a:t>
            </a:r>
            <a:r>
              <a:rPr lang="en-US" altLang="zh-CN" dirty="0"/>
              <a:t>1.2 </a:t>
            </a:r>
            <a:r>
              <a:rPr lang="zh-CN" altLang="en-US" dirty="0"/>
              <a:t>什么是数据挖掘</a:t>
            </a:r>
            <a:endParaRPr lang="en-US" altLang="zh-CN" dirty="0"/>
          </a:p>
        </p:txBody>
      </p:sp>
      <p:sp>
        <p:nvSpPr>
          <p:cNvPr id="2765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33A94EB5-999B-4635-B9CE-FF83EA1932F1}" type="slidenum">
              <a:rPr lang="en-US" altLang="zh-TW" sz="1400" smtClean="0">
                <a:solidFill>
                  <a:srgbClr val="898989"/>
                </a:solidFill>
                <a:latin typeface="Verdana" panose="020B0604030504040204" pitchFamily="34" charset="0"/>
              </a:rPr>
              <a:t>7</a:t>
            </a:fld>
            <a:endParaRPr lang="en-US" altLang="zh-TW" sz="1400">
              <a:solidFill>
                <a:srgbClr val="898989"/>
              </a:solidFill>
              <a:latin typeface="Verdana" panose="020B0604030504040204" pitchFamily="34" charset="0"/>
            </a:endParaRPr>
          </a:p>
        </p:txBody>
      </p:sp>
      <p:sp>
        <p:nvSpPr>
          <p:cNvPr id="4" name="矩形 3"/>
          <p:cNvSpPr/>
          <p:nvPr/>
        </p:nvSpPr>
        <p:spPr>
          <a:xfrm>
            <a:off x="2073275" y="1916113"/>
            <a:ext cx="792163"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矩形 7"/>
          <p:cNvSpPr/>
          <p:nvPr/>
        </p:nvSpPr>
        <p:spPr>
          <a:xfrm>
            <a:off x="3125788" y="1916113"/>
            <a:ext cx="755650"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矩形 8"/>
          <p:cNvSpPr/>
          <p:nvPr/>
        </p:nvSpPr>
        <p:spPr>
          <a:xfrm>
            <a:off x="3883025" y="1916113"/>
            <a:ext cx="790575"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右箭头 4"/>
          <p:cNvSpPr/>
          <p:nvPr/>
        </p:nvSpPr>
        <p:spPr>
          <a:xfrm>
            <a:off x="4896619" y="1976438"/>
            <a:ext cx="863600" cy="314325"/>
          </a:xfrm>
          <a:prstGeom prst="rightArrow">
            <a:avLst/>
          </a:prstGeom>
          <a:solidFill>
            <a:schemeClr val="tx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矩形 10"/>
          <p:cNvSpPr/>
          <p:nvPr/>
        </p:nvSpPr>
        <p:spPr>
          <a:xfrm>
            <a:off x="5832723" y="1930400"/>
            <a:ext cx="4695825" cy="431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800" b="1" dirty="0">
                <a:solidFill>
                  <a:srgbClr val="FF0000"/>
                </a:solidFill>
              </a:rPr>
              <a:t>数据挖掘（</a:t>
            </a:r>
            <a:r>
              <a:rPr lang="en-US" altLang="zh-CN" sz="2800" b="1" dirty="0">
                <a:solidFill>
                  <a:srgbClr val="FF0000"/>
                </a:solidFill>
                <a:latin typeface="华文楷体" panose="02010600040101010101" pitchFamily="2" charset="-122"/>
                <a:ea typeface="隶书" panose="02010509060101010101" pitchFamily="49" charset="-122"/>
              </a:rPr>
              <a:t>Data Mining , DM</a:t>
            </a:r>
            <a:r>
              <a:rPr lang="zh-CN" altLang="en-US" sz="2800" b="1"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555">
                                            <p:txEl>
                                              <p:pRg st="2" end="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3555">
                                            <p:txEl>
                                              <p:pRg st="4" end="4"/>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5"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
          <p:cNvSpPr>
            <a:spLocks noGrp="1"/>
          </p:cNvSpPr>
          <p:nvPr>
            <p:ph idx="1"/>
          </p:nvPr>
        </p:nvSpPr>
        <p:spPr>
          <a:xfrm>
            <a:off x="504825" y="1079500"/>
            <a:ext cx="9864725" cy="5226050"/>
          </a:xfrm>
        </p:spPr>
        <p:txBody>
          <a:bodyPr rtlCol="0">
            <a:normAutofit/>
          </a:bodyPr>
          <a:lstStyle/>
          <a:p>
            <a:pPr marL="385445" indent="-385445" defTabSz="1028065" eaLnBrk="1" fontAlgn="auto" hangingPunct="1">
              <a:spcAft>
                <a:spcPts val="0"/>
              </a:spcAft>
              <a:buFont typeface="Wingdings" panose="05000000000000000000" pitchFamily="2" charset="2"/>
              <a:buChar char="Ø"/>
              <a:defRPr/>
            </a:pPr>
            <a:r>
              <a:rPr lang="zh-CN" altLang="en-US" sz="2800" b="1" dirty="0">
                <a:solidFill>
                  <a:srgbClr val="000099"/>
                </a:solidFill>
                <a:ea typeface="华文楷体" panose="02010600040101010101" pitchFamily="2" charset="-122"/>
              </a:rPr>
              <a:t>命名：</a:t>
            </a:r>
            <a:endParaRPr lang="en-US" altLang="zh-CN" sz="2800" b="1" dirty="0">
              <a:solidFill>
                <a:srgbClr val="000099"/>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zh-CN" altLang="en-US" sz="2800" b="1" dirty="0">
                <a:solidFill>
                  <a:srgbClr val="000099"/>
                </a:solidFill>
                <a:ea typeface="华文楷体" panose="02010600040101010101" pitchFamily="2" charset="-122"/>
              </a:rPr>
              <a:t>     </a:t>
            </a:r>
            <a:r>
              <a:rPr lang="zh-CN" altLang="en-US" sz="2800" b="1" dirty="0">
                <a:ea typeface="华文楷体" panose="02010600040101010101" pitchFamily="2" charset="-122"/>
              </a:rPr>
              <a:t>从大量数据中挖掘知识</a:t>
            </a:r>
            <a:endParaRPr lang="en-US" altLang="zh-CN" sz="2800" b="1" dirty="0">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endParaRPr lang="en-US" altLang="zh-CN" sz="2800" dirty="0">
              <a:solidFill>
                <a:srgbClr val="FF0000"/>
              </a:solidFill>
              <a:latin typeface="华文楷体" panose="02010600040101010101" pitchFamily="2" charset="-122"/>
              <a:ea typeface="华文楷体" panose="02010600040101010101" pitchFamily="2" charset="-122"/>
            </a:endParaRPr>
          </a:p>
          <a:p>
            <a:pPr marL="835025" lvl="1" indent="-321310" defTabSz="1028065" eaLnBrk="1" fontAlgn="auto" hangingPunct="1">
              <a:spcAft>
                <a:spcPts val="0"/>
              </a:spcAft>
              <a:buFont typeface="Wingdings" panose="05000000000000000000" pitchFamily="2" charset="2"/>
              <a:buChar char="Ø"/>
              <a:defRPr/>
            </a:pPr>
            <a:endParaRPr lang="en-US" altLang="zh-CN" sz="2400" b="1" dirty="0">
              <a:solidFill>
                <a:srgbClr val="000099"/>
              </a:solidFill>
              <a:ea typeface="华文楷体" panose="02010600040101010101" pitchFamily="2" charset="-122"/>
            </a:endParaRPr>
          </a:p>
        </p:txBody>
      </p:sp>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t>  </a:t>
            </a:r>
            <a:r>
              <a:rPr lang="en-US" altLang="zh-CN" dirty="0"/>
              <a:t>1.2 </a:t>
            </a:r>
            <a:r>
              <a:rPr lang="zh-CN" altLang="en-US" dirty="0"/>
              <a:t>什么是数据挖掘</a:t>
            </a:r>
            <a:endParaRPr lang="en-US" altLang="zh-CN" dirty="0"/>
          </a:p>
        </p:txBody>
      </p:sp>
      <p:sp>
        <p:nvSpPr>
          <p:cNvPr id="2765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33A94EB5-999B-4635-B9CE-FF83EA1932F1}" type="slidenum">
              <a:rPr lang="en-US" altLang="zh-TW" sz="1400" smtClean="0">
                <a:solidFill>
                  <a:srgbClr val="898989"/>
                </a:solidFill>
                <a:latin typeface="Verdana" panose="020B0604030504040204" pitchFamily="34" charset="0"/>
              </a:rPr>
              <a:t>8</a:t>
            </a:fld>
            <a:endParaRPr lang="en-US" altLang="zh-TW" sz="1400">
              <a:solidFill>
                <a:srgbClr val="898989"/>
              </a:solidFill>
              <a:latin typeface="Verdana" panose="020B0604030504040204" pitchFamily="34" charset="0"/>
            </a:endParaRPr>
          </a:p>
        </p:txBody>
      </p:sp>
      <p:sp>
        <p:nvSpPr>
          <p:cNvPr id="4" name="矩形 3"/>
          <p:cNvSpPr/>
          <p:nvPr/>
        </p:nvSpPr>
        <p:spPr>
          <a:xfrm>
            <a:off x="2073275" y="1916113"/>
            <a:ext cx="792163"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矩形 7"/>
          <p:cNvSpPr/>
          <p:nvPr/>
        </p:nvSpPr>
        <p:spPr>
          <a:xfrm>
            <a:off x="3125788" y="1916113"/>
            <a:ext cx="755650"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矩形 8"/>
          <p:cNvSpPr/>
          <p:nvPr/>
        </p:nvSpPr>
        <p:spPr>
          <a:xfrm>
            <a:off x="3883025" y="1916113"/>
            <a:ext cx="790575" cy="4333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276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037" y="2441575"/>
            <a:ext cx="9072563"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右箭头 11"/>
          <p:cNvSpPr/>
          <p:nvPr/>
        </p:nvSpPr>
        <p:spPr>
          <a:xfrm>
            <a:off x="4896619" y="1976438"/>
            <a:ext cx="863600" cy="314325"/>
          </a:xfrm>
          <a:prstGeom prst="rightArrow">
            <a:avLst/>
          </a:prstGeom>
          <a:solidFill>
            <a:schemeClr val="tx2">
              <a:lumMod val="20000"/>
              <a:lumOff val="8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矩形 12"/>
          <p:cNvSpPr/>
          <p:nvPr/>
        </p:nvSpPr>
        <p:spPr>
          <a:xfrm>
            <a:off x="5832723" y="1930400"/>
            <a:ext cx="4695825" cy="431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800" b="1" dirty="0">
                <a:solidFill>
                  <a:srgbClr val="FF0000"/>
                </a:solidFill>
              </a:rPr>
              <a:t>数据挖掘（</a:t>
            </a:r>
            <a:r>
              <a:rPr lang="en-US" altLang="zh-CN" sz="2800" b="1" dirty="0">
                <a:solidFill>
                  <a:srgbClr val="FF0000"/>
                </a:solidFill>
                <a:latin typeface="华文楷体" panose="02010600040101010101" pitchFamily="2" charset="-122"/>
                <a:ea typeface="隶书" panose="02010509060101010101" pitchFamily="49" charset="-122"/>
              </a:rPr>
              <a:t>Data Mining , DM</a:t>
            </a:r>
            <a:r>
              <a:rPr lang="zh-CN" altLang="en-US" sz="2800" b="1" dirty="0">
                <a:solidFill>
                  <a:srgbClr val="FF0000"/>
                </a:solidFill>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t>  </a:t>
            </a:r>
            <a:r>
              <a:rPr lang="en-US" altLang="zh-CN" dirty="0"/>
              <a:t>1.2 </a:t>
            </a:r>
            <a:r>
              <a:rPr lang="zh-CN" altLang="en-US" dirty="0"/>
              <a:t>什么是数据挖掘</a:t>
            </a:r>
            <a:endParaRPr lang="en-US" altLang="zh-CN" dirty="0"/>
          </a:p>
        </p:txBody>
      </p:sp>
      <p:sp>
        <p:nvSpPr>
          <p:cNvPr id="23555" name="内容占位符 2"/>
          <p:cNvSpPr>
            <a:spLocks noGrp="1"/>
          </p:cNvSpPr>
          <p:nvPr>
            <p:ph idx="1"/>
          </p:nvPr>
        </p:nvSpPr>
        <p:spPr>
          <a:xfrm>
            <a:off x="504825" y="1079500"/>
            <a:ext cx="9864725" cy="4105275"/>
          </a:xfrm>
        </p:spPr>
        <p:txBody>
          <a:bodyPr rtlCol="0">
            <a:normAutofit/>
          </a:bodyPr>
          <a:lstStyle/>
          <a:p>
            <a:pPr marL="385445" indent="-385445" defTabSz="1028065" eaLnBrk="1" fontAlgn="auto" hangingPunct="1">
              <a:spcAft>
                <a:spcPts val="0"/>
              </a:spcAft>
              <a:buFont typeface="Wingdings" panose="05000000000000000000" pitchFamily="2" charset="2"/>
              <a:buChar char="Ø"/>
              <a:defRPr/>
            </a:pPr>
            <a:r>
              <a:rPr lang="zh-CN" altLang="en-US" sz="2800" b="1" dirty="0">
                <a:solidFill>
                  <a:srgbClr val="000099"/>
                </a:solidFill>
                <a:ea typeface="华文楷体" panose="02010600040101010101" pitchFamily="2" charset="-122"/>
              </a:rPr>
              <a:t>定义：</a:t>
            </a:r>
            <a:endParaRPr lang="en-US" altLang="zh-CN" sz="2800" b="1" dirty="0">
              <a:solidFill>
                <a:srgbClr val="000099"/>
              </a:solidFill>
              <a:ea typeface="华文楷体" panose="02010600040101010101" pitchFamily="2" charset="-122"/>
            </a:endParaRPr>
          </a:p>
          <a:p>
            <a:pPr marL="262255" lvl="1" indent="0" defTabSz="1028065" eaLnBrk="1" fontAlgn="auto" hangingPunct="1">
              <a:spcAft>
                <a:spcPts val="0"/>
              </a:spcAft>
              <a:buFont typeface="Arial" panose="020B0604020202020204" pitchFamily="34" charset="0"/>
              <a:buNone/>
              <a:defRPr/>
            </a:pPr>
            <a:r>
              <a:rPr lang="zh-CN" altLang="en-US" sz="2800" b="1" dirty="0">
                <a:latin typeface="宋体" panose="02010600030101010101" pitchFamily="2" charset="-122"/>
                <a:ea typeface="华文楷体" panose="02010600040101010101" pitchFamily="2" charset="-122"/>
              </a:rPr>
              <a:t>数据挖掘</a:t>
            </a:r>
            <a:r>
              <a:rPr lang="zh-CN" altLang="en-US" sz="2800" dirty="0">
                <a:latin typeface="宋体" panose="02010600030101010101" pitchFamily="2" charset="-122"/>
                <a:ea typeface="华文楷体" panose="02010600040101010101" pitchFamily="2" charset="-122"/>
              </a:rPr>
              <a:t>是从大量数据中挖掘</a:t>
            </a:r>
            <a:r>
              <a:rPr lang="zh-CN" altLang="en-US" sz="2800" dirty="0">
                <a:solidFill>
                  <a:srgbClr val="FF0000"/>
                </a:solidFill>
                <a:latin typeface="宋体" panose="02010600030101010101" pitchFamily="2" charset="-122"/>
                <a:ea typeface="华文楷体" panose="02010600040101010101" pitchFamily="2" charset="-122"/>
              </a:rPr>
              <a:t>有趣的</a:t>
            </a:r>
            <a:r>
              <a:rPr lang="zh-CN" altLang="en-US" sz="2800" dirty="0">
                <a:latin typeface="宋体" panose="02010600030101010101" pitchFamily="2" charset="-122"/>
                <a:ea typeface="华文楷体" panose="02010600040101010101" pitchFamily="2" charset="-122"/>
              </a:rPr>
              <a:t>（非平凡的、隐含的，以前未知的和潜在有用的）</a:t>
            </a:r>
            <a:r>
              <a:rPr lang="zh-CN" altLang="en-US" sz="2800" dirty="0">
                <a:solidFill>
                  <a:srgbClr val="FF0000"/>
                </a:solidFill>
                <a:latin typeface="宋体" panose="02010600030101010101" pitchFamily="2" charset="-122"/>
                <a:ea typeface="华文楷体" panose="02010600040101010101" pitchFamily="2" charset="-122"/>
              </a:rPr>
              <a:t>模式或知识的过程</a:t>
            </a:r>
            <a:r>
              <a:rPr lang="zh-CN" altLang="en-US" sz="2800" dirty="0">
                <a:latin typeface="宋体" panose="02010600030101010101" pitchFamily="2" charset="-122"/>
                <a:ea typeface="华文楷体" panose="02010600040101010101" pitchFamily="2" charset="-122"/>
              </a:rPr>
              <a:t>。</a:t>
            </a:r>
            <a:endParaRPr lang="en-GB" altLang="zh-CN" sz="2800" dirty="0">
              <a:latin typeface="华文楷体" panose="02010600040101010101" pitchFamily="2" charset="-122"/>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endParaRPr lang="en-US" altLang="zh-CN" sz="2400" b="1" dirty="0">
              <a:solidFill>
                <a:srgbClr val="000099"/>
              </a:solidFill>
              <a:ea typeface="华文楷体" panose="02010600040101010101" pitchFamily="2" charset="-122"/>
            </a:endParaRPr>
          </a:p>
          <a:p>
            <a:pPr marL="385445" indent="-385445" defTabSz="1028065" eaLnBrk="1" fontAlgn="auto" hangingPunct="1">
              <a:spcAft>
                <a:spcPts val="0"/>
              </a:spcAft>
              <a:buFont typeface="Wingdings" panose="05000000000000000000" pitchFamily="2" charset="2"/>
              <a:buChar char="Ø"/>
              <a:defRPr/>
            </a:pPr>
            <a:endParaRPr lang="en-US" altLang="zh-CN" sz="2800" b="1" dirty="0">
              <a:solidFill>
                <a:srgbClr val="000099"/>
              </a:solidFill>
              <a:ea typeface="华文楷体" panose="02010600040101010101" pitchFamily="2" charset="-122"/>
            </a:endParaRPr>
          </a:p>
        </p:txBody>
      </p:sp>
      <p:sp>
        <p:nvSpPr>
          <p:cNvPr id="28676"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B48D4F36-8529-4169-9A15-26464EC6BFA5}" type="slidenum">
              <a:rPr lang="en-US" altLang="zh-TW" sz="1400" smtClean="0">
                <a:solidFill>
                  <a:srgbClr val="898989"/>
                </a:solidFill>
                <a:latin typeface="Verdana" panose="020B0604030504040204" pitchFamily="34" charset="0"/>
              </a:rPr>
              <a:t>9</a:t>
            </a:fld>
            <a:endParaRPr lang="en-US" altLang="zh-TW" sz="1400">
              <a:solidFill>
                <a:srgbClr val="898989"/>
              </a:solidFill>
              <a:latin typeface="Verdana" panose="020B0604030504040204" pitchFamily="34" charset="0"/>
            </a:endParaRPr>
          </a:p>
        </p:txBody>
      </p:sp>
      <p:sp>
        <p:nvSpPr>
          <p:cNvPr id="2" name="流程图: 磁盘 1"/>
          <p:cNvSpPr/>
          <p:nvPr/>
        </p:nvSpPr>
        <p:spPr>
          <a:xfrm>
            <a:off x="1439863" y="4537075"/>
            <a:ext cx="2016125" cy="1800225"/>
          </a:xfrm>
          <a:prstGeom prst="flowChartMagneticDisk">
            <a:avLst/>
          </a:prstGeom>
          <a:solidFill>
            <a:srgbClr val="00CC99"/>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aphicFrame>
        <p:nvGraphicFramePr>
          <p:cNvPr id="28678" name="对象 2"/>
          <p:cNvGraphicFramePr>
            <a:graphicFrameLocks noChangeAspect="1"/>
          </p:cNvGraphicFramePr>
          <p:nvPr/>
        </p:nvGraphicFramePr>
        <p:xfrm>
          <a:off x="4537075" y="3568700"/>
          <a:ext cx="1771650" cy="1876425"/>
        </p:xfrm>
        <a:graphic>
          <a:graphicData uri="http://schemas.openxmlformats.org/presentationml/2006/ole">
            <mc:AlternateContent xmlns:mc="http://schemas.openxmlformats.org/markup-compatibility/2006">
              <mc:Choice xmlns:v="urn:schemas-microsoft-com:vml" Requires="v">
                <p:oleObj name="Clip" r:id="rId2" imgW="1089025" imgH="1174750" progId="">
                  <p:embed/>
                </p:oleObj>
              </mc:Choice>
              <mc:Fallback>
                <p:oleObj name="Clip" r:id="rId2" imgW="1089025" imgH="1174750" progId="">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075" y="3568700"/>
                        <a:ext cx="17716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9" name="对象 5"/>
          <p:cNvGraphicFramePr>
            <a:graphicFrameLocks noChangeAspect="1"/>
          </p:cNvGraphicFramePr>
          <p:nvPr/>
        </p:nvGraphicFramePr>
        <p:xfrm>
          <a:off x="7056438" y="4699000"/>
          <a:ext cx="2251075" cy="1466850"/>
        </p:xfrm>
        <a:graphic>
          <a:graphicData uri="http://schemas.openxmlformats.org/presentationml/2006/ole">
            <mc:AlternateContent xmlns:mc="http://schemas.openxmlformats.org/markup-compatibility/2006">
              <mc:Choice xmlns:v="urn:schemas-microsoft-com:vml" Requires="v">
                <p:oleObj name="Clip" r:id="rId4" imgW="4582795" imgH="3359150" progId="">
                  <p:embed/>
                </p:oleObj>
              </mc:Choice>
              <mc:Fallback>
                <p:oleObj name="Clip" r:id="rId4" imgW="4582795" imgH="3359150" progId="">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6438" y="4699000"/>
                        <a:ext cx="22510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 name="直接箭头连接符 9"/>
          <p:cNvCxnSpPr>
            <a:stCxn id="2" idx="4"/>
          </p:cNvCxnSpPr>
          <p:nvPr/>
        </p:nvCxnSpPr>
        <p:spPr>
          <a:xfrm flipV="1">
            <a:off x="3455988" y="5432425"/>
            <a:ext cx="3600450" cy="4763"/>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1.3 </a:t>
            </a:r>
            <a:r>
              <a:rPr lang="zh-CN" altLang="en-US" sz="4100" b="1" dirty="0">
                <a:solidFill>
                  <a:srgbClr val="FF0000"/>
                </a:solidFill>
                <a:ea typeface="华文楷体" panose="02010600040101010101" pitchFamily="2" charset="-122"/>
              </a:rPr>
              <a:t>可以挖掘什么类型的数据</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29700"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456199F8-2CD6-403D-B8E4-420BCCABE8F7}" type="slidenum">
              <a:rPr lang="en-US" altLang="zh-TW" sz="1400" smtClean="0">
                <a:solidFill>
                  <a:srgbClr val="898989"/>
                </a:solidFill>
                <a:latin typeface="Verdana" panose="020B0604030504040204" pitchFamily="34" charset="0"/>
              </a:rPr>
              <a:t>10</a:t>
            </a:fld>
            <a:endParaRPr lang="en-US" altLang="zh-TW" sz="1400">
              <a:solidFill>
                <a:srgbClr val="898989"/>
              </a:solidFill>
              <a:latin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1441450"/>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1</a:t>
            </a:r>
            <a:r>
              <a:rPr lang="zh-CN" altLang="en-US" sz="2800" b="1" dirty="0">
                <a:solidFill>
                  <a:srgbClr val="0070C0"/>
                </a:solidFill>
                <a:latin typeface="+mn-ea"/>
                <a:ea typeface="+mn-ea"/>
              </a:rPr>
              <a:t>、数据库数据</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dirty="0">
                <a:latin typeface="+mn-ea"/>
                <a:ea typeface="+mn-ea"/>
              </a:rPr>
              <a:t>  </a:t>
            </a:r>
            <a:r>
              <a:rPr lang="zh-CN" altLang="en-US" sz="2800" dirty="0">
                <a:latin typeface="+mn-ea"/>
                <a:ea typeface="+mn-ea"/>
              </a:rPr>
              <a:t>关系数据库：表的汇集</a:t>
            </a:r>
            <a:endParaRPr lang="en-US" altLang="zh-CN" sz="2800" dirty="0">
              <a:latin typeface="+mn-ea"/>
              <a:ea typeface="+mn-ea"/>
            </a:endParaRPr>
          </a:p>
        </p:txBody>
      </p:sp>
      <p:sp>
        <p:nvSpPr>
          <p:cNvPr id="30724"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96BA4448-F672-4551-A9E0-2635C9083B57}" type="slidenum">
              <a:rPr lang="en-US" altLang="zh-CN" sz="1400" smtClean="0">
                <a:solidFill>
                  <a:srgbClr val="898989"/>
                </a:solidFill>
                <a:latin typeface="Verdana" panose="020B0604030504040204" pitchFamily="34" charset="0"/>
              </a:rPr>
              <a:t>11</a:t>
            </a:fld>
            <a:endParaRPr lang="en-US" altLang="zh-CN" sz="1400">
              <a:solidFill>
                <a:srgbClr val="898989"/>
              </a:solidFill>
              <a:latin typeface="Verdana" panose="020B0604030504040204" pitchFamily="34" charset="0"/>
            </a:endParaRPr>
          </a:p>
        </p:txBody>
      </p:sp>
      <p:pic>
        <p:nvPicPr>
          <p:cNvPr id="327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950" y="2406650"/>
            <a:ext cx="62611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1441450"/>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1</a:t>
            </a:r>
            <a:r>
              <a:rPr lang="zh-CN" altLang="en-US" sz="2800" b="1" dirty="0">
                <a:solidFill>
                  <a:srgbClr val="0070C0"/>
                </a:solidFill>
                <a:latin typeface="+mn-ea"/>
                <a:ea typeface="+mn-ea"/>
              </a:rPr>
              <a:t>、数据库数据</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dirty="0">
                <a:latin typeface="+mn-ea"/>
                <a:ea typeface="+mn-ea"/>
              </a:rPr>
              <a:t>  </a:t>
            </a:r>
            <a:r>
              <a:rPr lang="zh-CN" altLang="en-US" sz="2800" dirty="0">
                <a:latin typeface="+mn-ea"/>
                <a:ea typeface="+mn-ea"/>
              </a:rPr>
              <a:t>关系数据库：表的汇集</a:t>
            </a:r>
            <a:endParaRPr lang="en-US" altLang="zh-CN" sz="2800" dirty="0">
              <a:latin typeface="+mn-ea"/>
              <a:ea typeface="+mn-ea"/>
            </a:endParaRPr>
          </a:p>
        </p:txBody>
      </p:sp>
      <p:sp>
        <p:nvSpPr>
          <p:cNvPr id="3277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E1D6C1C5-96D5-404F-81FF-F1311E1704DA}" type="slidenum">
              <a:rPr lang="en-US" altLang="zh-CN" sz="1400" smtClean="0">
                <a:solidFill>
                  <a:srgbClr val="898989"/>
                </a:solidFill>
                <a:latin typeface="Verdana" panose="020B0604030504040204" pitchFamily="34" charset="0"/>
              </a:rPr>
              <a:t>12</a:t>
            </a:fld>
            <a:endParaRPr lang="en-US" altLang="zh-CN" sz="1400">
              <a:solidFill>
                <a:srgbClr val="898989"/>
              </a:solidFill>
              <a:latin typeface="Verdana" panose="020B0604030504040204" pitchFamily="34" charset="0"/>
            </a:endParaRPr>
          </a:p>
        </p:txBody>
      </p:sp>
      <p:sp>
        <p:nvSpPr>
          <p:cNvPr id="7" name="流程图: 磁盘 6"/>
          <p:cNvSpPr/>
          <p:nvPr/>
        </p:nvSpPr>
        <p:spPr>
          <a:xfrm>
            <a:off x="2841625" y="2663825"/>
            <a:ext cx="1655763" cy="900113"/>
          </a:xfrm>
          <a:prstGeom prst="flowChartMagneticDisk">
            <a:avLst/>
          </a:prstGeom>
          <a:solidFill>
            <a:srgbClr val="00CC99"/>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t>数据库</a:t>
            </a:r>
          </a:p>
        </p:txBody>
      </p:sp>
      <p:cxnSp>
        <p:nvCxnSpPr>
          <p:cNvPr id="6" name="直接连接符 5"/>
          <p:cNvCxnSpPr/>
          <p:nvPr/>
        </p:nvCxnSpPr>
        <p:spPr>
          <a:xfrm flipH="1">
            <a:off x="431800" y="3455988"/>
            <a:ext cx="2409825" cy="11112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497388" y="3455988"/>
            <a:ext cx="2295525" cy="11112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27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4567238"/>
            <a:ext cx="62484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431800" y="4567238"/>
            <a:ext cx="6361113" cy="2128837"/>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内容占位符 2"/>
          <p:cNvSpPr txBox="1"/>
          <p:nvPr/>
        </p:nvSpPr>
        <p:spPr bwMode="auto">
          <a:xfrm>
            <a:off x="8640763" y="2750343"/>
            <a:ext cx="1800225" cy="72707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800" dirty="0">
                <a:latin typeface="+mn-ea"/>
                <a:ea typeface="+mn-ea"/>
              </a:rPr>
              <a:t>数据挖掘</a:t>
            </a:r>
            <a:endParaRPr lang="en-US" altLang="zh-CN" sz="2800" dirty="0">
              <a:latin typeface="+mn-ea"/>
              <a:ea typeface="+mn-ea"/>
            </a:endParaRPr>
          </a:p>
        </p:txBody>
      </p:sp>
      <p:sp>
        <p:nvSpPr>
          <p:cNvPr id="24" name="内容占位符 2"/>
          <p:cNvSpPr txBox="1"/>
          <p:nvPr/>
        </p:nvSpPr>
        <p:spPr bwMode="auto">
          <a:xfrm>
            <a:off x="7561263" y="4567238"/>
            <a:ext cx="2879725" cy="2128837"/>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lnSpc>
                <a:spcPct val="100000"/>
              </a:lnSpc>
              <a:buFont typeface="Arial" panose="020B0604020202020204" pitchFamily="34" charset="0"/>
              <a:buNone/>
              <a:defRPr/>
            </a:pPr>
            <a:r>
              <a:rPr lang="zh-CN" altLang="en-US" sz="2400" dirty="0">
                <a:latin typeface="+mn-ea"/>
                <a:ea typeface="+mn-ea"/>
              </a:rPr>
              <a:t>访问：</a:t>
            </a:r>
            <a:r>
              <a:rPr lang="en-US" altLang="zh-CN" sz="2400" dirty="0">
                <a:solidFill>
                  <a:srgbClr val="FF0000"/>
                </a:solidFill>
                <a:latin typeface="+mn-ea"/>
                <a:ea typeface="+mn-ea"/>
              </a:rPr>
              <a:t>SQL</a:t>
            </a:r>
          </a:p>
          <a:p>
            <a:pPr marL="0" indent="0" eaLnBrk="1" hangingPunct="1">
              <a:lnSpc>
                <a:spcPct val="100000"/>
              </a:lnSpc>
              <a:spcBef>
                <a:spcPts val="1200"/>
              </a:spcBef>
              <a:buFont typeface="Arial" panose="020B0604020202020204" pitchFamily="34" charset="0"/>
              <a:buNone/>
              <a:defRPr/>
            </a:pPr>
            <a:r>
              <a:rPr lang="zh-CN" altLang="en-US" sz="2400" dirty="0">
                <a:latin typeface="+mn-ea"/>
                <a:ea typeface="+mn-ea"/>
              </a:rPr>
              <a:t>（如选择，投影，连接，聚集函数</a:t>
            </a:r>
            <a:r>
              <a:rPr lang="en-US" altLang="zh-CN" sz="2400" dirty="0">
                <a:latin typeface="+mn-ea"/>
                <a:ea typeface="+mn-ea"/>
              </a:rPr>
              <a:t>sum</a:t>
            </a:r>
            <a:r>
              <a:rPr lang="zh-CN" altLang="en-US" sz="2400" dirty="0">
                <a:latin typeface="+mn-ea"/>
                <a:ea typeface="+mn-ea"/>
              </a:rPr>
              <a:t>、</a:t>
            </a:r>
            <a:r>
              <a:rPr lang="en-US" altLang="zh-CN" sz="2400" dirty="0">
                <a:latin typeface="+mn-ea"/>
                <a:ea typeface="+mn-ea"/>
              </a:rPr>
              <a:t>avg</a:t>
            </a:r>
            <a:r>
              <a:rPr lang="zh-CN" altLang="en-US" sz="2400" dirty="0">
                <a:latin typeface="+mn-ea"/>
                <a:ea typeface="+mn-ea"/>
              </a:rPr>
              <a:t>、</a:t>
            </a:r>
            <a:r>
              <a:rPr lang="en-US" altLang="zh-CN" sz="2400" dirty="0">
                <a:latin typeface="+mn-ea"/>
                <a:ea typeface="+mn-ea"/>
              </a:rPr>
              <a:t>count</a:t>
            </a:r>
            <a:r>
              <a:rPr lang="zh-CN" altLang="en-US" sz="2400" dirty="0">
                <a:latin typeface="+mn-ea"/>
                <a:ea typeface="+mn-ea"/>
              </a:rPr>
              <a:t>、</a:t>
            </a:r>
            <a:r>
              <a:rPr lang="en-US" altLang="zh-CN" sz="2400" dirty="0">
                <a:latin typeface="+mn-ea"/>
                <a:ea typeface="+mn-ea"/>
              </a:rPr>
              <a:t>max</a:t>
            </a:r>
            <a:r>
              <a:rPr lang="zh-CN" altLang="en-US" sz="2400" dirty="0">
                <a:latin typeface="+mn-ea"/>
                <a:ea typeface="+mn-ea"/>
              </a:rPr>
              <a:t>、</a:t>
            </a:r>
            <a:r>
              <a:rPr lang="en-US" altLang="zh-CN" sz="2400" dirty="0">
                <a:latin typeface="+mn-ea"/>
                <a:ea typeface="+mn-ea"/>
              </a:rPr>
              <a:t>min</a:t>
            </a:r>
            <a:r>
              <a:rPr lang="zh-CN" altLang="en-US" sz="2400" dirty="0">
                <a:latin typeface="+mn-ea"/>
                <a:ea typeface="+mn-ea"/>
              </a:rPr>
              <a:t>等）</a:t>
            </a:r>
            <a:endParaRPr lang="en-US" altLang="zh-CN" sz="2400" dirty="0">
              <a:latin typeface="+mn-ea"/>
              <a:ea typeface="+mn-ea"/>
            </a:endParaRPr>
          </a:p>
        </p:txBody>
      </p:sp>
      <p:cxnSp>
        <p:nvCxnSpPr>
          <p:cNvPr id="21" name="直接箭头连接符 20"/>
          <p:cNvCxnSpPr>
            <a:stCxn id="12" idx="3"/>
            <a:endCxn id="24" idx="1"/>
          </p:cNvCxnSpPr>
          <p:nvPr/>
        </p:nvCxnSpPr>
        <p:spPr>
          <a:xfrm>
            <a:off x="6792913" y="5631657"/>
            <a:ext cx="768350"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3" idx="1"/>
            <a:endCxn id="7" idx="4"/>
          </p:cNvCxnSpPr>
          <p:nvPr/>
        </p:nvCxnSpPr>
        <p:spPr>
          <a:xfrm flipH="1">
            <a:off x="4497388" y="3113881"/>
            <a:ext cx="4143375"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内容占位符 2"/>
          <p:cNvSpPr txBox="1"/>
          <p:nvPr/>
        </p:nvSpPr>
        <p:spPr bwMode="auto">
          <a:xfrm>
            <a:off x="5437188" y="2195513"/>
            <a:ext cx="2136775" cy="136683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400" dirty="0">
                <a:solidFill>
                  <a:srgbClr val="FF0000"/>
                </a:solidFill>
                <a:latin typeface="+mn-ea"/>
                <a:ea typeface="+mn-ea"/>
              </a:rPr>
              <a:t>分析顾客数据</a:t>
            </a:r>
            <a:endParaRPr lang="en-US" altLang="zh-CN" sz="2400" dirty="0">
              <a:solidFill>
                <a:srgbClr val="FF0000"/>
              </a:solidFill>
              <a:latin typeface="+mn-ea"/>
              <a:ea typeface="+mn-ea"/>
            </a:endParaRPr>
          </a:p>
          <a:p>
            <a:pPr marL="0" indent="0" algn="ctr" eaLnBrk="1" hangingPunct="1">
              <a:buFont typeface="Arial" panose="020B0604020202020204" pitchFamily="34" charset="0"/>
              <a:buNone/>
              <a:defRPr/>
            </a:pPr>
            <a:endParaRPr lang="en-US" altLang="zh-CN" sz="1200" dirty="0">
              <a:solidFill>
                <a:srgbClr val="FF0000"/>
              </a:solidFill>
              <a:latin typeface="+mn-ea"/>
              <a:ea typeface="+mn-ea"/>
            </a:endParaRPr>
          </a:p>
          <a:p>
            <a:pPr marL="0" indent="0" algn="ctr" eaLnBrk="1" hangingPunct="1">
              <a:buFont typeface="Arial" panose="020B0604020202020204" pitchFamily="34" charset="0"/>
              <a:buNone/>
              <a:defRPr/>
            </a:pPr>
            <a:r>
              <a:rPr lang="zh-CN" altLang="en-US" sz="2400" dirty="0">
                <a:solidFill>
                  <a:srgbClr val="FF0000"/>
                </a:solidFill>
                <a:latin typeface="+mn-ea"/>
                <a:ea typeface="+mn-ea"/>
              </a:rPr>
              <a:t>检测偏差</a:t>
            </a:r>
            <a:endParaRPr lang="en-US" altLang="zh-CN" sz="2400" dirty="0">
              <a:solidFill>
                <a:srgbClr val="FF0000"/>
              </a:solidFill>
              <a:latin typeface="+mn-ea"/>
              <a:ea typeface="+mn-ea"/>
            </a:endParaRPr>
          </a:p>
        </p:txBody>
      </p:sp>
      <p:sp>
        <p:nvSpPr>
          <p:cNvPr id="4" name="矩形 3"/>
          <p:cNvSpPr/>
          <p:nvPr/>
        </p:nvSpPr>
        <p:spPr>
          <a:xfrm>
            <a:off x="5238750" y="2687638"/>
            <a:ext cx="2724150" cy="369887"/>
          </a:xfrm>
          <a:prstGeom prst="rect">
            <a:avLst/>
          </a:prstGeom>
        </p:spPr>
        <p:txBody>
          <a:bodyPr wrap="none">
            <a:spAutoFit/>
          </a:bodyPr>
          <a:lstStyle/>
          <a:p>
            <a:pPr>
              <a:defRPr/>
            </a:pPr>
            <a:r>
              <a:rPr lang="zh-CN" altLang="en-US" dirty="0">
                <a:latin typeface="+mn-ea"/>
                <a:ea typeface="+mn-ea"/>
              </a:rPr>
              <a:t>如预测新顾客的信用风险</a:t>
            </a:r>
          </a:p>
        </p:txBody>
      </p:sp>
      <p:sp>
        <p:nvSpPr>
          <p:cNvPr id="5" name="矩形 4"/>
          <p:cNvSpPr/>
          <p:nvPr/>
        </p:nvSpPr>
        <p:spPr>
          <a:xfrm>
            <a:off x="5616575" y="3486150"/>
            <a:ext cx="2346325" cy="585788"/>
          </a:xfrm>
          <a:prstGeom prst="rect">
            <a:avLst/>
          </a:prstGeom>
        </p:spPr>
        <p:txBody>
          <a:bodyPr>
            <a:spAutoFit/>
          </a:bodyPr>
          <a:lstStyle/>
          <a:p>
            <a:pPr>
              <a:defRPr/>
            </a:pPr>
            <a:r>
              <a:rPr lang="zh-CN" altLang="en-US" sz="1600" dirty="0">
                <a:latin typeface="+mn-ea"/>
                <a:ea typeface="+mn-ea"/>
              </a:rPr>
              <a:t>如与以前年份相比，哪些商品的销售出人预料</a:t>
            </a:r>
          </a:p>
        </p:txBody>
      </p:sp>
      <p:sp>
        <p:nvSpPr>
          <p:cNvPr id="8" name="椭圆 7"/>
          <p:cNvSpPr/>
          <p:nvPr/>
        </p:nvSpPr>
        <p:spPr>
          <a:xfrm>
            <a:off x="3152661" y="4583004"/>
            <a:ext cx="288032" cy="2573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09355" y="4565650"/>
            <a:ext cx="2583557" cy="2747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090604" y="1227286"/>
            <a:ext cx="5109091" cy="461665"/>
          </a:xfrm>
          <a:prstGeom prst="rect">
            <a:avLst/>
          </a:prstGeom>
          <a:solidFill>
            <a:schemeClr val="accent6">
              <a:lumMod val="40000"/>
              <a:lumOff val="60000"/>
            </a:schemeClr>
          </a:solidFill>
        </p:spPr>
        <p:txBody>
          <a:bodyPr wrap="none">
            <a:spAutoFit/>
          </a:bodyPr>
          <a:lstStyle/>
          <a:p>
            <a:pPr>
              <a:defRPr/>
            </a:pPr>
            <a:r>
              <a:rPr lang="zh-CN" altLang="en-US" sz="2400" dirty="0">
                <a:latin typeface="+mn-ea"/>
                <a:ea typeface="+mn-ea"/>
              </a:rPr>
              <a:t>是数据挖掘研究的一种主要数据形式</a:t>
            </a:r>
          </a:p>
        </p:txBody>
      </p:sp>
      <p:sp>
        <p:nvSpPr>
          <p:cNvPr id="9" name="椭圆 8">
            <a:extLst>
              <a:ext uri="{FF2B5EF4-FFF2-40B4-BE49-F238E27FC236}">
                <a16:creationId xmlns:a16="http://schemas.microsoft.com/office/drawing/2014/main" id="{470F26BD-C3FE-5E62-C67E-D6F4D9C62481}"/>
              </a:ext>
            </a:extLst>
          </p:cNvPr>
          <p:cNvSpPr/>
          <p:nvPr/>
        </p:nvSpPr>
        <p:spPr>
          <a:xfrm>
            <a:off x="3334851" y="5729613"/>
            <a:ext cx="2583557" cy="3758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9" grpId="0"/>
      <p:bldP spid="4" grpId="0"/>
      <p:bldP spid="5" grpId="0"/>
      <p:bldP spid="8" grpId="0" animBg="1"/>
      <p:bldP spid="18" grpId="0" animBg="1"/>
      <p:bldP spid="19"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1944688"/>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2</a:t>
            </a:r>
            <a:r>
              <a:rPr lang="zh-CN" altLang="en-US" sz="2800" b="1" dirty="0">
                <a:solidFill>
                  <a:srgbClr val="0070C0"/>
                </a:solidFill>
                <a:latin typeface="+mn-ea"/>
                <a:ea typeface="+mn-ea"/>
              </a:rPr>
              <a:t>、数据仓库</a:t>
            </a:r>
            <a:r>
              <a:rPr lang="zh-CN" altLang="en-US" sz="2800" b="1" dirty="0">
                <a:solidFill>
                  <a:srgbClr val="0070C0"/>
                </a:solidFill>
              </a:rPr>
              <a:t>（</a:t>
            </a:r>
            <a:r>
              <a:rPr lang="en-US" altLang="zh-CN" sz="2800" b="1" dirty="0">
                <a:solidFill>
                  <a:srgbClr val="0070C0"/>
                </a:solidFill>
              </a:rPr>
              <a:t>Data Warehouse, DW</a:t>
            </a:r>
            <a:r>
              <a:rPr lang="zh-CN" altLang="en-US" sz="2800" b="1" dirty="0">
                <a:solidFill>
                  <a:srgbClr val="0070C0"/>
                </a:solidFill>
              </a:rPr>
              <a:t>）</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dirty="0">
                <a:latin typeface="+mn-ea"/>
                <a:ea typeface="+mn-ea"/>
              </a:rPr>
              <a:t>    </a:t>
            </a:r>
            <a:r>
              <a:rPr lang="zh-CN" altLang="en-US" sz="2800" dirty="0">
                <a:latin typeface="+mn-ea"/>
                <a:ea typeface="+mn-ea"/>
              </a:rPr>
              <a:t>从</a:t>
            </a:r>
            <a:r>
              <a:rPr lang="zh-CN" altLang="en-US" sz="2800" dirty="0">
                <a:solidFill>
                  <a:srgbClr val="FF0000"/>
                </a:solidFill>
                <a:latin typeface="+mn-ea"/>
                <a:ea typeface="+mn-ea"/>
              </a:rPr>
              <a:t>多个数据源收集的信息存储库</a:t>
            </a:r>
            <a:r>
              <a:rPr lang="zh-CN" altLang="en-US" sz="2800" dirty="0">
                <a:latin typeface="+mn-ea"/>
                <a:ea typeface="+mn-ea"/>
              </a:rPr>
              <a:t>，存放在一致的模式下，并且通常驻留在单个站点上。</a:t>
            </a:r>
            <a:endParaRPr lang="en-US" altLang="zh-CN" sz="2800" dirty="0">
              <a:latin typeface="+mn-ea"/>
              <a:ea typeface="+mn-ea"/>
            </a:endParaRPr>
          </a:p>
        </p:txBody>
      </p:sp>
      <p:sp>
        <p:nvSpPr>
          <p:cNvPr id="34820"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8074CE74-F96B-42A6-89ED-926458CAD6B9}" type="slidenum">
              <a:rPr lang="en-US" altLang="zh-CN" sz="1400" smtClean="0">
                <a:solidFill>
                  <a:srgbClr val="898989"/>
                </a:solidFill>
                <a:latin typeface="Verdana" panose="020B0604030504040204" pitchFamily="34" charset="0"/>
              </a:rPr>
              <a:t>13</a:t>
            </a:fld>
            <a:endParaRPr lang="en-US" altLang="zh-CN" sz="1400">
              <a:solidFill>
                <a:srgbClr val="898989"/>
              </a:solidFill>
              <a:latin typeface="Verdana" panose="020B0604030504040204" pitchFamily="34" charset="0"/>
            </a:endParaRPr>
          </a:p>
        </p:txBody>
      </p:sp>
      <p:sp>
        <p:nvSpPr>
          <p:cNvPr id="15" name="流程图: 磁盘 14"/>
          <p:cNvSpPr/>
          <p:nvPr/>
        </p:nvSpPr>
        <p:spPr bwMode="auto">
          <a:xfrm>
            <a:off x="431800" y="3617913"/>
            <a:ext cx="1655763" cy="900112"/>
          </a:xfrm>
          <a:prstGeom prst="flowChartMagneticDisk">
            <a:avLst/>
          </a:prstGeom>
          <a:solidFill>
            <a:schemeClr val="accent4">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数据源</a:t>
            </a:r>
            <a:r>
              <a:rPr lang="en-US" altLang="zh-CN" b="1" dirty="0">
                <a:latin typeface="+mn-ea"/>
              </a:rPr>
              <a:t>1</a:t>
            </a:r>
            <a:endParaRPr lang="zh-CN" altLang="en-US" b="1" dirty="0">
              <a:latin typeface="+mn-ea"/>
            </a:endParaRPr>
          </a:p>
        </p:txBody>
      </p:sp>
      <p:sp>
        <p:nvSpPr>
          <p:cNvPr id="16" name="流程图: 磁盘 15"/>
          <p:cNvSpPr/>
          <p:nvPr/>
        </p:nvSpPr>
        <p:spPr bwMode="auto">
          <a:xfrm>
            <a:off x="431800" y="4770438"/>
            <a:ext cx="1655763" cy="900112"/>
          </a:xfrm>
          <a:prstGeom prst="flowChartMagneticDisk">
            <a:avLst/>
          </a:prstGeom>
          <a:solidFill>
            <a:schemeClr val="accent4">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数据源</a:t>
            </a:r>
            <a:r>
              <a:rPr lang="en-US" altLang="zh-CN" b="1" dirty="0">
                <a:latin typeface="+mn-ea"/>
              </a:rPr>
              <a:t>2</a:t>
            </a:r>
            <a:endParaRPr lang="zh-CN" altLang="en-US" b="1" dirty="0">
              <a:latin typeface="+mn-ea"/>
            </a:endParaRPr>
          </a:p>
        </p:txBody>
      </p:sp>
      <p:sp>
        <p:nvSpPr>
          <p:cNvPr id="17" name="流程图: 磁盘 16"/>
          <p:cNvSpPr/>
          <p:nvPr/>
        </p:nvSpPr>
        <p:spPr bwMode="auto">
          <a:xfrm>
            <a:off x="431800" y="5868988"/>
            <a:ext cx="1655763" cy="900112"/>
          </a:xfrm>
          <a:prstGeom prst="flowChartMagneticDisk">
            <a:avLst/>
          </a:prstGeom>
          <a:solidFill>
            <a:schemeClr val="accent4">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数据源</a:t>
            </a:r>
            <a:r>
              <a:rPr lang="en-US" altLang="zh-CN" b="1" dirty="0">
                <a:latin typeface="+mn-ea"/>
              </a:rPr>
              <a:t>3</a:t>
            </a:r>
            <a:endParaRPr lang="zh-CN" altLang="en-US" b="1" dirty="0">
              <a:latin typeface="+mn-ea"/>
            </a:endParaRPr>
          </a:p>
        </p:txBody>
      </p:sp>
      <p:sp>
        <p:nvSpPr>
          <p:cNvPr id="18" name="流程图: 磁盘 17"/>
          <p:cNvSpPr/>
          <p:nvPr/>
        </p:nvSpPr>
        <p:spPr bwMode="auto">
          <a:xfrm>
            <a:off x="5054600" y="4432300"/>
            <a:ext cx="1655763" cy="1792288"/>
          </a:xfrm>
          <a:prstGeom prst="flowChartMagneticDisk">
            <a:avLst/>
          </a:prstGeom>
          <a:solidFill>
            <a:srgbClr val="00CC99"/>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数据仓库</a:t>
            </a:r>
          </a:p>
        </p:txBody>
      </p:sp>
      <p:sp>
        <p:nvSpPr>
          <p:cNvPr id="5" name="右箭头 4"/>
          <p:cNvSpPr/>
          <p:nvPr/>
        </p:nvSpPr>
        <p:spPr bwMode="auto">
          <a:xfrm>
            <a:off x="2376488" y="3887788"/>
            <a:ext cx="2663825" cy="2881312"/>
          </a:xfrm>
          <a:prstGeom prst="rightArrow">
            <a:avLst/>
          </a:prstGeom>
          <a:noFill/>
          <a:ln>
            <a:solidFill>
              <a:srgbClr val="00CC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latin typeface="+mn-ea"/>
              </a:rPr>
              <a:t>清理</a:t>
            </a:r>
            <a:endParaRPr lang="en-US" altLang="zh-CN" dirty="0">
              <a:solidFill>
                <a:schemeClr val="tx1"/>
              </a:solidFill>
              <a:latin typeface="+mn-ea"/>
            </a:endParaRPr>
          </a:p>
          <a:p>
            <a:pPr algn="ctr" eaLnBrk="1" hangingPunct="1">
              <a:defRPr/>
            </a:pPr>
            <a:r>
              <a:rPr lang="zh-CN" altLang="en-US" dirty="0">
                <a:solidFill>
                  <a:schemeClr val="tx1"/>
                </a:solidFill>
                <a:latin typeface="+mn-ea"/>
              </a:rPr>
              <a:t>集成</a:t>
            </a:r>
            <a:endParaRPr lang="en-US" altLang="zh-CN" dirty="0">
              <a:solidFill>
                <a:schemeClr val="tx1"/>
              </a:solidFill>
              <a:latin typeface="+mn-ea"/>
            </a:endParaRPr>
          </a:p>
          <a:p>
            <a:pPr algn="ctr" eaLnBrk="1" hangingPunct="1">
              <a:defRPr/>
            </a:pPr>
            <a:r>
              <a:rPr lang="zh-CN" altLang="en-US" dirty="0">
                <a:solidFill>
                  <a:schemeClr val="tx1"/>
                </a:solidFill>
                <a:latin typeface="+mn-ea"/>
              </a:rPr>
              <a:t>变换</a:t>
            </a:r>
            <a:endParaRPr lang="en-US" altLang="zh-CN" dirty="0">
              <a:solidFill>
                <a:schemeClr val="tx1"/>
              </a:solidFill>
              <a:latin typeface="+mn-ea"/>
            </a:endParaRPr>
          </a:p>
          <a:p>
            <a:pPr algn="ctr" eaLnBrk="1" hangingPunct="1">
              <a:defRPr/>
            </a:pPr>
            <a:r>
              <a:rPr lang="zh-CN" altLang="en-US" dirty="0">
                <a:solidFill>
                  <a:schemeClr val="tx1"/>
                </a:solidFill>
                <a:latin typeface="+mn-ea"/>
              </a:rPr>
              <a:t>装入</a:t>
            </a:r>
            <a:endParaRPr lang="en-US" altLang="zh-CN" dirty="0">
              <a:solidFill>
                <a:schemeClr val="tx1"/>
              </a:solidFill>
              <a:latin typeface="+mn-ea"/>
            </a:endParaRPr>
          </a:p>
          <a:p>
            <a:pPr algn="ctr" eaLnBrk="1" hangingPunct="1">
              <a:defRPr/>
            </a:pPr>
            <a:r>
              <a:rPr lang="zh-CN" altLang="en-US" dirty="0">
                <a:solidFill>
                  <a:schemeClr val="tx1"/>
                </a:solidFill>
                <a:latin typeface="+mn-ea"/>
              </a:rPr>
              <a:t>刷新</a:t>
            </a:r>
          </a:p>
        </p:txBody>
      </p:sp>
      <p:sp>
        <p:nvSpPr>
          <p:cNvPr id="22" name="流程图: 磁盘 21"/>
          <p:cNvSpPr/>
          <p:nvPr/>
        </p:nvSpPr>
        <p:spPr>
          <a:xfrm>
            <a:off x="8713788" y="4432300"/>
            <a:ext cx="1655762" cy="1792288"/>
          </a:xfrm>
          <a:prstGeom prst="flowChartMagneticDisk">
            <a:avLst/>
          </a:prstGeom>
          <a:solidFill>
            <a:srgbClr val="FFCC66"/>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数据库</a:t>
            </a:r>
          </a:p>
        </p:txBody>
      </p:sp>
      <p:grpSp>
        <p:nvGrpSpPr>
          <p:cNvPr id="13" name="组合 12"/>
          <p:cNvGrpSpPr/>
          <p:nvPr/>
        </p:nvGrpSpPr>
        <p:grpSpPr bwMode="auto">
          <a:xfrm>
            <a:off x="6710363" y="4625975"/>
            <a:ext cx="2003425" cy="727075"/>
            <a:chOff x="6710091" y="4626062"/>
            <a:chExt cx="2002952" cy="726898"/>
          </a:xfrm>
        </p:grpSpPr>
        <p:cxnSp>
          <p:nvCxnSpPr>
            <p:cNvPr id="11" name="直接箭头连接符 10"/>
            <p:cNvCxnSpPr>
              <a:stCxn id="18" idx="4"/>
              <a:endCxn id="22" idx="2"/>
            </p:cNvCxnSpPr>
            <p:nvPr/>
          </p:nvCxnSpPr>
          <p:spPr>
            <a:xfrm flipV="1">
              <a:off x="6710091" y="5329154"/>
              <a:ext cx="2002952"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内容占位符 2"/>
            <p:cNvSpPr txBox="1"/>
            <p:nvPr/>
          </p:nvSpPr>
          <p:spPr bwMode="auto">
            <a:xfrm>
              <a:off x="7224320" y="4626062"/>
              <a:ext cx="1007824" cy="72689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dirty="0">
                  <a:solidFill>
                    <a:srgbClr val="FF0000"/>
                  </a:solidFill>
                  <a:latin typeface="+mn-ea"/>
                  <a:ea typeface="+mn-ea"/>
                </a:rPr>
                <a:t>区别</a:t>
              </a:r>
              <a:endParaRPr lang="en-US" altLang="zh-CN" sz="2800" dirty="0">
                <a:solidFill>
                  <a:srgbClr val="FF0000"/>
                </a:solidFill>
                <a:latin typeface="+mn-ea"/>
                <a:ea typeface="+mn-ea"/>
              </a:endParaRPr>
            </a:p>
          </p:txBody>
        </p:sp>
      </p:grpSp>
      <p:pic>
        <p:nvPicPr>
          <p:cNvPr id="348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9238" y="1042710"/>
            <a:ext cx="5386959" cy="340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4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5"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865188"/>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2</a:t>
            </a:r>
            <a:r>
              <a:rPr lang="zh-CN" altLang="en-US" sz="2800" b="1" dirty="0">
                <a:solidFill>
                  <a:srgbClr val="0070C0"/>
                </a:solidFill>
                <a:latin typeface="+mn-ea"/>
                <a:ea typeface="+mn-ea"/>
              </a:rPr>
              <a:t>、数据仓库</a:t>
            </a:r>
            <a:r>
              <a:rPr lang="zh-CN" altLang="en-US" sz="2800" b="1" dirty="0">
                <a:solidFill>
                  <a:srgbClr val="0070C0"/>
                </a:solidFill>
              </a:rPr>
              <a:t>（</a:t>
            </a:r>
            <a:r>
              <a:rPr lang="en-US" altLang="zh-CN" sz="2800" b="1" dirty="0">
                <a:solidFill>
                  <a:srgbClr val="0070C0"/>
                </a:solidFill>
              </a:rPr>
              <a:t>Data Warehouse, DW</a:t>
            </a:r>
            <a:r>
              <a:rPr lang="zh-CN" altLang="en-US" sz="2800" b="1" dirty="0">
                <a:solidFill>
                  <a:srgbClr val="0070C0"/>
                </a:solidFill>
              </a:rPr>
              <a:t>）</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dirty="0">
                <a:latin typeface="+mn-ea"/>
                <a:ea typeface="+mn-ea"/>
              </a:rPr>
              <a:t>    </a:t>
            </a:r>
          </a:p>
        </p:txBody>
      </p:sp>
      <p:sp>
        <p:nvSpPr>
          <p:cNvPr id="36868"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CDC7F51E-7364-448F-85AC-83349A12B39D}" type="slidenum">
              <a:rPr lang="en-US" altLang="zh-CN" sz="1400" smtClean="0">
                <a:solidFill>
                  <a:srgbClr val="898989"/>
                </a:solidFill>
                <a:latin typeface="Verdana" panose="020B0604030504040204" pitchFamily="34" charset="0"/>
              </a:rPr>
              <a:t>14</a:t>
            </a:fld>
            <a:endParaRPr lang="en-US" altLang="zh-CN" sz="1400" dirty="0">
              <a:solidFill>
                <a:srgbClr val="898989"/>
              </a:solidFill>
              <a:latin typeface="Verdana" panose="020B0604030504040204" pitchFamily="34" charset="0"/>
            </a:endParaRPr>
          </a:p>
        </p:txBody>
      </p:sp>
      <p:pic>
        <p:nvPicPr>
          <p:cNvPr id="368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950" y="1881188"/>
            <a:ext cx="4549775" cy="519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流程图: 磁盘 18"/>
          <p:cNvSpPr/>
          <p:nvPr/>
        </p:nvSpPr>
        <p:spPr>
          <a:xfrm>
            <a:off x="288925" y="3313113"/>
            <a:ext cx="1655763" cy="1790700"/>
          </a:xfrm>
          <a:prstGeom prst="flowChartMagneticDisk">
            <a:avLst/>
          </a:prstGeom>
          <a:solidFill>
            <a:srgbClr val="00CC99"/>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latin typeface="+mn-ea"/>
              </a:rPr>
              <a:t>数据仓库</a:t>
            </a:r>
          </a:p>
        </p:txBody>
      </p:sp>
      <p:cxnSp>
        <p:nvCxnSpPr>
          <p:cNvPr id="7" name="直接连接符 6"/>
          <p:cNvCxnSpPr/>
          <p:nvPr/>
        </p:nvCxnSpPr>
        <p:spPr>
          <a:xfrm flipV="1">
            <a:off x="1944688" y="2160588"/>
            <a:ext cx="1584325" cy="1439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871663" y="4895850"/>
            <a:ext cx="1008062" cy="2089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内容占位符 2"/>
          <p:cNvSpPr txBox="1"/>
          <p:nvPr/>
        </p:nvSpPr>
        <p:spPr bwMode="auto">
          <a:xfrm>
            <a:off x="9937750" y="3119438"/>
            <a:ext cx="684213" cy="272097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800" dirty="0">
                <a:latin typeface="+mn-ea"/>
                <a:ea typeface="+mn-ea"/>
              </a:rPr>
              <a:t>数据挖掘</a:t>
            </a:r>
            <a:endParaRPr lang="en-US" altLang="zh-CN" sz="2800" dirty="0">
              <a:latin typeface="+mn-ea"/>
              <a:ea typeface="+mn-ea"/>
            </a:endParaRPr>
          </a:p>
        </p:txBody>
      </p:sp>
      <p:cxnSp>
        <p:nvCxnSpPr>
          <p:cNvPr id="24" name="直接箭头连接符 23"/>
          <p:cNvCxnSpPr>
            <a:stCxn id="23" idx="1"/>
          </p:cNvCxnSpPr>
          <p:nvPr/>
        </p:nvCxnSpPr>
        <p:spPr>
          <a:xfrm flipH="1" flipV="1">
            <a:off x="6769100" y="4479925"/>
            <a:ext cx="316865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5" name="内容占位符 2"/>
          <p:cNvSpPr txBox="1"/>
          <p:nvPr/>
        </p:nvSpPr>
        <p:spPr bwMode="auto">
          <a:xfrm>
            <a:off x="6985000" y="3216275"/>
            <a:ext cx="2736850" cy="11811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lnSpc>
                <a:spcPct val="100000"/>
              </a:lnSpc>
              <a:buFont typeface="Arial" panose="020B0604020202020204" pitchFamily="34" charset="0"/>
              <a:buNone/>
              <a:defRPr/>
            </a:pPr>
            <a:r>
              <a:rPr lang="zh-CN" altLang="en-US" sz="2400" dirty="0">
                <a:solidFill>
                  <a:srgbClr val="FF0000"/>
                </a:solidFill>
                <a:latin typeface="+mn-ea"/>
                <a:ea typeface="+mn-ea"/>
              </a:rPr>
              <a:t>在各种粒度进行多维组合探查以发现有趣的知识模式</a:t>
            </a:r>
            <a:endParaRPr lang="en-US" altLang="zh-CN" sz="2400" dirty="0">
              <a:solidFill>
                <a:srgbClr val="FF0000"/>
              </a:solidFill>
              <a:latin typeface="+mn-ea"/>
              <a:ea typeface="+mn-ea"/>
            </a:endParaRPr>
          </a:p>
        </p:txBody>
      </p:sp>
      <p:sp>
        <p:nvSpPr>
          <p:cNvPr id="4" name="矩形 3"/>
          <p:cNvSpPr/>
          <p:nvPr/>
        </p:nvSpPr>
        <p:spPr>
          <a:xfrm>
            <a:off x="1993900" y="3695700"/>
            <a:ext cx="1103313" cy="1200150"/>
          </a:xfrm>
          <a:prstGeom prst="rect">
            <a:avLst/>
          </a:prstGeom>
        </p:spPr>
        <p:txBody>
          <a:bodyPr>
            <a:spAutoFit/>
          </a:bodyPr>
          <a:lstStyle/>
          <a:p>
            <a:pPr algn="ctr">
              <a:defRPr/>
            </a:pPr>
            <a:r>
              <a:rPr lang="zh-CN" altLang="en-US" dirty="0">
                <a:solidFill>
                  <a:srgbClr val="00CC99"/>
                </a:solidFill>
                <a:latin typeface="+mn-ea"/>
                <a:ea typeface="+mn-ea"/>
              </a:rPr>
              <a:t>用数据立方体的多维数据结构建模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1441450"/>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3</a:t>
            </a:r>
            <a:r>
              <a:rPr lang="zh-CN" altLang="en-US" sz="2800" b="1" dirty="0">
                <a:solidFill>
                  <a:srgbClr val="0070C0"/>
                </a:solidFill>
                <a:latin typeface="+mn-ea"/>
                <a:ea typeface="+mn-ea"/>
              </a:rPr>
              <a:t>、事物数据：</a:t>
            </a:r>
            <a:r>
              <a:rPr lang="zh-CN" altLang="en-US" sz="2800" dirty="0">
                <a:latin typeface="+mn-ea"/>
                <a:ea typeface="+mn-ea"/>
              </a:rPr>
              <a:t>每条记录代表一个事物，如顾客的一次购物。</a:t>
            </a:r>
            <a:endParaRPr lang="en-US" altLang="zh-CN" sz="2800" dirty="0">
              <a:latin typeface="+mn-ea"/>
              <a:ea typeface="+mn-ea"/>
            </a:endParaRPr>
          </a:p>
          <a:p>
            <a:pPr marL="0" indent="0" eaLnBrk="1" hangingPunct="1">
              <a:buFont typeface="Arial" panose="020B0604020202020204" pitchFamily="34" charset="0"/>
              <a:buNone/>
              <a:defRPr/>
            </a:pPr>
            <a:r>
              <a:rPr lang="en-US" altLang="zh-CN" sz="2800" dirty="0">
                <a:latin typeface="+mn-ea"/>
                <a:ea typeface="+mn-ea"/>
              </a:rPr>
              <a:t>        </a:t>
            </a:r>
            <a:r>
              <a:rPr lang="zh-CN" altLang="en-US" sz="2800" b="1" dirty="0">
                <a:latin typeface="+mn-ea"/>
                <a:ea typeface="+mn-ea"/>
              </a:rPr>
              <a:t>一个事物 </a:t>
            </a:r>
            <a:r>
              <a:rPr lang="en-US" altLang="zh-CN" sz="2800" dirty="0">
                <a:latin typeface="+mn-ea"/>
                <a:ea typeface="+mn-ea"/>
              </a:rPr>
              <a:t>= </a:t>
            </a:r>
            <a:r>
              <a:rPr lang="zh-CN" altLang="en-US" sz="2800" dirty="0">
                <a:latin typeface="+mn-ea"/>
                <a:ea typeface="+mn-ea"/>
              </a:rPr>
              <a:t>事物标识号 </a:t>
            </a:r>
            <a:r>
              <a:rPr lang="en-US" altLang="zh-CN" sz="2800" dirty="0">
                <a:latin typeface="+mn-ea"/>
                <a:ea typeface="+mn-ea"/>
              </a:rPr>
              <a:t>+ </a:t>
            </a:r>
            <a:r>
              <a:rPr lang="zh-CN" altLang="en-US" sz="2800" dirty="0">
                <a:latin typeface="+mn-ea"/>
                <a:ea typeface="+mn-ea"/>
              </a:rPr>
              <a:t>项的列表</a:t>
            </a:r>
            <a:endParaRPr lang="en-US" altLang="zh-CN" sz="2800" dirty="0">
              <a:latin typeface="+mn-ea"/>
              <a:ea typeface="+mn-ea"/>
            </a:endParaRPr>
          </a:p>
        </p:txBody>
      </p:sp>
      <p:sp>
        <p:nvSpPr>
          <p:cNvPr id="38916"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773498DA-2E41-41EF-9899-C1DECDEF2375}" type="slidenum">
              <a:rPr lang="en-US" altLang="zh-CN" sz="1400" smtClean="0">
                <a:solidFill>
                  <a:srgbClr val="898989"/>
                </a:solidFill>
                <a:latin typeface="Verdana" panose="020B0604030504040204" pitchFamily="34" charset="0"/>
              </a:rPr>
              <a:t>15</a:t>
            </a:fld>
            <a:endParaRPr lang="en-US" altLang="zh-CN" sz="1400">
              <a:solidFill>
                <a:srgbClr val="898989"/>
              </a:solidFill>
              <a:latin typeface="Verdana" panose="020B0604030504040204" pitchFamily="34" charset="0"/>
            </a:endParaRPr>
          </a:p>
        </p:txBody>
      </p:sp>
      <p:sp>
        <p:nvSpPr>
          <p:cNvPr id="24" name="内容占位符 2"/>
          <p:cNvSpPr txBox="1"/>
          <p:nvPr/>
        </p:nvSpPr>
        <p:spPr bwMode="auto">
          <a:xfrm>
            <a:off x="7743825" y="3959225"/>
            <a:ext cx="2481263" cy="649288"/>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400" dirty="0">
                <a:latin typeface="+mn-ea"/>
                <a:ea typeface="+mn-ea"/>
              </a:rPr>
              <a:t>购物篮数据分析</a:t>
            </a:r>
            <a:endParaRPr lang="en-US" altLang="zh-CN" sz="2400" dirty="0">
              <a:latin typeface="+mn-ea"/>
              <a:ea typeface="+mn-ea"/>
            </a:endParaRPr>
          </a:p>
        </p:txBody>
      </p:sp>
      <p:cxnSp>
        <p:nvCxnSpPr>
          <p:cNvPr id="25" name="直接箭头连接符 24"/>
          <p:cNvCxnSpPr>
            <a:stCxn id="24" idx="1"/>
            <a:endCxn id="5" idx="3"/>
          </p:cNvCxnSpPr>
          <p:nvPr/>
        </p:nvCxnSpPr>
        <p:spPr>
          <a:xfrm flipH="1">
            <a:off x="3887788" y="4284663"/>
            <a:ext cx="38560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内容占位符 2"/>
          <p:cNvSpPr txBox="1"/>
          <p:nvPr/>
        </p:nvSpPr>
        <p:spPr bwMode="auto">
          <a:xfrm>
            <a:off x="4208463" y="3689350"/>
            <a:ext cx="3352800" cy="61753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400" dirty="0">
                <a:solidFill>
                  <a:srgbClr val="0070C0"/>
                </a:solidFill>
                <a:latin typeface="+mn-ea"/>
                <a:ea typeface="+mn-ea"/>
              </a:rPr>
              <a:t>哪些商品一起销售得好？</a:t>
            </a:r>
            <a:endParaRPr lang="en-US" altLang="zh-CN" sz="2400" dirty="0">
              <a:solidFill>
                <a:srgbClr val="0070C0"/>
              </a:solidFill>
              <a:latin typeface="+mn-ea"/>
              <a:ea typeface="+mn-ea"/>
            </a:endParaRPr>
          </a:p>
        </p:txBody>
      </p:sp>
      <p:graphicFrame>
        <p:nvGraphicFramePr>
          <p:cNvPr id="15" name="表格 14"/>
          <p:cNvGraphicFramePr>
            <a:graphicFrameLocks noGrp="1"/>
          </p:cNvGraphicFramePr>
          <p:nvPr/>
        </p:nvGraphicFramePr>
        <p:xfrm>
          <a:off x="647700" y="3297238"/>
          <a:ext cx="3263900" cy="1585912"/>
        </p:xfrm>
        <a:graphic>
          <a:graphicData uri="http://schemas.openxmlformats.org/drawingml/2006/table">
            <a:tbl>
              <a:tblPr firstRow="1" bandRow="1">
                <a:tableStyleId>{2D5ABB26-0587-4C30-8999-92F81FD0307C}</a:tableStyleId>
              </a:tblPr>
              <a:tblGrid>
                <a:gridCol w="1463768">
                  <a:extLst>
                    <a:ext uri="{9D8B030D-6E8A-4147-A177-3AD203B41FA5}">
                      <a16:colId xmlns:a16="http://schemas.microsoft.com/office/drawing/2014/main" val="20000"/>
                    </a:ext>
                  </a:extLst>
                </a:gridCol>
                <a:gridCol w="1800132">
                  <a:extLst>
                    <a:ext uri="{9D8B030D-6E8A-4147-A177-3AD203B41FA5}">
                      <a16:colId xmlns:a16="http://schemas.microsoft.com/office/drawing/2014/main" val="20001"/>
                    </a:ext>
                  </a:extLst>
                </a:gridCol>
              </a:tblGrid>
              <a:tr h="396478">
                <a:tc>
                  <a:txBody>
                    <a:bodyPr/>
                    <a:lstStyle/>
                    <a:p>
                      <a:pPr algn="ctr"/>
                      <a:r>
                        <a:rPr lang="zh-CN" altLang="en-US" sz="2000" dirty="0"/>
                        <a:t>事物标识号</a:t>
                      </a:r>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zh-CN" altLang="en-US" sz="2000" dirty="0"/>
                        <a:t>商品</a:t>
                      </a:r>
                      <a:r>
                        <a:rPr lang="en-US" altLang="zh-CN" sz="2000" dirty="0"/>
                        <a:t>ID</a:t>
                      </a:r>
                      <a:r>
                        <a:rPr lang="zh-CN" altLang="en-US" sz="2000" dirty="0"/>
                        <a:t>的列表</a:t>
                      </a:r>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6478">
                <a:tc>
                  <a:txBody>
                    <a:bodyPr/>
                    <a:lstStyle/>
                    <a:p>
                      <a:pPr algn="ctr"/>
                      <a:r>
                        <a:rPr lang="en-US" altLang="zh-CN" sz="2000" dirty="0"/>
                        <a:t>T100</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US" altLang="zh-CN" sz="2000" dirty="0"/>
                        <a:t>I1,</a:t>
                      </a:r>
                      <a:r>
                        <a:rPr lang="en-US" altLang="zh-CN" sz="2000" baseline="0" dirty="0"/>
                        <a:t> I3, I8, I16</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478">
                <a:tc>
                  <a:txBody>
                    <a:bodyPr/>
                    <a:lstStyle/>
                    <a:p>
                      <a:pPr algn="ctr"/>
                      <a:r>
                        <a:rPr lang="en-US" altLang="zh-CN" sz="2000" dirty="0"/>
                        <a:t>T200</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US" altLang="zh-CN" sz="2000" dirty="0"/>
                        <a:t>I2, I8</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478">
                <a:tc>
                  <a:txBody>
                    <a:bodyPr/>
                    <a:lstStyle/>
                    <a:p>
                      <a:pPr algn="ctr"/>
                      <a:r>
                        <a:rPr lang="en-US" altLang="zh-CN" sz="2000" dirty="0"/>
                        <a:t>……</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US" altLang="zh-CN" sz="2000" dirty="0"/>
                        <a:t>……</a:t>
                      </a:r>
                      <a:endParaRPr lang="zh-CN" altLang="en-US" sz="2000" dirty="0"/>
                    </a:p>
                  </a:txBody>
                  <a:tcPr marL="91437" marR="91437" marT="45747" marB="45747">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矩形 4"/>
          <p:cNvSpPr/>
          <p:nvPr/>
        </p:nvSpPr>
        <p:spPr>
          <a:xfrm>
            <a:off x="2087563" y="3673475"/>
            <a:ext cx="1800225" cy="12223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2" name="内容占位符 2"/>
          <p:cNvSpPr txBox="1"/>
          <p:nvPr/>
        </p:nvSpPr>
        <p:spPr bwMode="auto">
          <a:xfrm>
            <a:off x="4840288" y="4248150"/>
            <a:ext cx="2073275" cy="56673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zh-CN" altLang="en-US" sz="2400" dirty="0">
                <a:solidFill>
                  <a:srgbClr val="FF0000"/>
                </a:solidFill>
                <a:latin typeface="+mn-ea"/>
                <a:ea typeface="+mn-ea"/>
              </a:rPr>
              <a:t>挖掘频繁项集</a:t>
            </a:r>
            <a:endParaRPr lang="en-US" altLang="zh-CN" sz="2400" dirty="0">
              <a:solidFill>
                <a:srgbClr val="FF0000"/>
              </a:solidFill>
              <a:latin typeface="+mn-ea"/>
              <a:ea typeface="+mn-ea"/>
            </a:endParaRPr>
          </a:p>
        </p:txBody>
      </p:sp>
      <p:sp>
        <p:nvSpPr>
          <p:cNvPr id="16" name="流程图: 数据 15"/>
          <p:cNvSpPr/>
          <p:nvPr/>
        </p:nvSpPr>
        <p:spPr>
          <a:xfrm>
            <a:off x="6931025" y="4608513"/>
            <a:ext cx="3527425" cy="504825"/>
          </a:xfrm>
          <a:prstGeom prst="flowChartInputOutpu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t>数据挖掘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9" grpId="0"/>
      <p:bldP spid="5" grpId="0" animBg="1"/>
      <p:bldP spid="22"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1.3 </a:t>
            </a:r>
            <a:r>
              <a:rPr lang="zh-CN" altLang="en-US" b="1" dirty="0"/>
              <a:t>可以挖掘什么类型的数据</a:t>
            </a:r>
            <a:endParaRPr lang="en-US" altLang="zh-CN" b="1" dirty="0"/>
          </a:p>
        </p:txBody>
      </p:sp>
      <p:sp>
        <p:nvSpPr>
          <p:cNvPr id="3" name="内容占位符 2"/>
          <p:cNvSpPr>
            <a:spLocks noGrp="1"/>
          </p:cNvSpPr>
          <p:nvPr>
            <p:ph idx="1"/>
          </p:nvPr>
        </p:nvSpPr>
        <p:spPr>
          <a:xfrm>
            <a:off x="576263" y="1079500"/>
            <a:ext cx="9864725" cy="5689600"/>
          </a:xfrm>
        </p:spPr>
        <p:txBody>
          <a:body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4</a:t>
            </a:r>
            <a:r>
              <a:rPr lang="zh-CN" altLang="en-US" sz="2800" b="1" dirty="0">
                <a:solidFill>
                  <a:srgbClr val="0070C0"/>
                </a:solidFill>
                <a:latin typeface="+mn-ea"/>
                <a:ea typeface="+mn-ea"/>
              </a:rPr>
              <a:t>、其他类型的数据</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时间相关或序列数据</a:t>
            </a:r>
            <a:endParaRPr lang="en-US" altLang="zh-CN" sz="24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空间数据</a:t>
            </a:r>
            <a:endParaRPr lang="en-US" altLang="zh-CN" sz="24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多媒体数据：</a:t>
            </a:r>
            <a:endParaRPr lang="en-US" altLang="zh-CN" sz="2400" b="1" dirty="0">
              <a:solidFill>
                <a:srgbClr val="0070C0"/>
              </a:solidFill>
              <a:latin typeface="+mn-ea"/>
              <a:ea typeface="+mn-ea"/>
            </a:endParaRPr>
          </a:p>
          <a:p>
            <a:pPr lvl="1" eaLnBrk="1" hangingPunct="1">
              <a:buFont typeface="Arial" panose="020B0604020202020204" pitchFamily="34" charset="0"/>
              <a:buChar char="•"/>
              <a:defRPr/>
            </a:pPr>
            <a:r>
              <a:rPr lang="zh-CN" altLang="en-US" sz="2000" b="1" dirty="0">
                <a:solidFill>
                  <a:srgbClr val="0070C0"/>
                </a:solidFill>
                <a:latin typeface="+mn-ea"/>
                <a:ea typeface="+mn-ea"/>
              </a:rPr>
              <a:t>文本数据</a:t>
            </a:r>
            <a:endParaRPr lang="en-US" altLang="zh-CN" sz="2000" b="1" dirty="0">
              <a:solidFill>
                <a:srgbClr val="0070C0"/>
              </a:solidFill>
              <a:latin typeface="+mn-ea"/>
              <a:ea typeface="+mn-ea"/>
            </a:endParaRPr>
          </a:p>
          <a:p>
            <a:pPr lvl="1" eaLnBrk="1" hangingPunct="1">
              <a:buFont typeface="Arial" panose="020B0604020202020204" pitchFamily="34" charset="0"/>
              <a:buChar char="•"/>
              <a:defRPr/>
            </a:pPr>
            <a:r>
              <a:rPr lang="zh-CN" altLang="en-US" sz="2000" b="1" dirty="0">
                <a:solidFill>
                  <a:srgbClr val="0070C0"/>
                </a:solidFill>
                <a:latin typeface="+mn-ea"/>
                <a:ea typeface="+mn-ea"/>
              </a:rPr>
              <a:t>图像数据</a:t>
            </a:r>
            <a:endParaRPr lang="en-US" altLang="zh-CN" sz="2000" b="1" dirty="0">
              <a:solidFill>
                <a:srgbClr val="0070C0"/>
              </a:solidFill>
              <a:latin typeface="+mn-ea"/>
              <a:ea typeface="+mn-ea"/>
            </a:endParaRPr>
          </a:p>
          <a:p>
            <a:pPr lvl="1" eaLnBrk="1" hangingPunct="1">
              <a:buFont typeface="Arial" panose="020B0604020202020204" pitchFamily="34" charset="0"/>
              <a:buChar char="•"/>
              <a:defRPr/>
            </a:pPr>
            <a:r>
              <a:rPr lang="zh-CN" altLang="en-US" sz="2000" b="1" dirty="0">
                <a:solidFill>
                  <a:srgbClr val="0070C0"/>
                </a:solidFill>
                <a:latin typeface="+mn-ea"/>
                <a:ea typeface="+mn-ea"/>
              </a:rPr>
              <a:t>视频数据</a:t>
            </a:r>
            <a:endParaRPr lang="en-US" altLang="zh-CN" sz="20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rPr>
              <a:t>万维网数据</a:t>
            </a:r>
            <a:endParaRPr lang="en-US" altLang="zh-CN" sz="2400" b="1" dirty="0">
              <a:solidFill>
                <a:srgbClr val="0070C0"/>
              </a:solidFill>
              <a:latin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网络数据</a:t>
            </a:r>
            <a:endParaRPr lang="en-US" altLang="zh-CN" sz="24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工程设计数据</a:t>
            </a:r>
            <a:endParaRPr lang="en-US" altLang="zh-CN" sz="24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b="1" dirty="0">
                <a:solidFill>
                  <a:srgbClr val="0070C0"/>
                </a:solidFill>
                <a:latin typeface="+mn-ea"/>
                <a:ea typeface="+mn-ea"/>
              </a:rPr>
              <a:t>图和网状数据</a:t>
            </a:r>
            <a:endParaRPr lang="en-US" altLang="zh-CN" sz="2800" dirty="0">
              <a:latin typeface="+mn-ea"/>
              <a:ea typeface="+mn-ea"/>
            </a:endParaRPr>
          </a:p>
        </p:txBody>
      </p:sp>
      <p:sp>
        <p:nvSpPr>
          <p:cNvPr id="40964"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5DA3D2F6-C501-4CC9-8EBE-3CB114EC8C54}" type="slidenum">
              <a:rPr lang="en-US" altLang="zh-CN" sz="1400" smtClean="0">
                <a:solidFill>
                  <a:srgbClr val="898989"/>
                </a:solidFill>
                <a:latin typeface="Verdana" panose="020B0604030504040204" pitchFamily="34" charset="0"/>
              </a:rPr>
              <a:t>16</a:t>
            </a:fld>
            <a:endParaRPr lang="en-US" altLang="zh-CN" sz="1400">
              <a:solidFill>
                <a:srgbClr val="898989"/>
              </a:solidFill>
              <a:latin typeface="Verdana" panose="020B0604030504040204" pitchFamily="34" charset="0"/>
            </a:endParaRPr>
          </a:p>
        </p:txBody>
      </p:sp>
      <p:sp>
        <p:nvSpPr>
          <p:cNvPr id="29" name="内容占位符 2"/>
          <p:cNvSpPr txBox="1"/>
          <p:nvPr/>
        </p:nvSpPr>
        <p:spPr bwMode="auto">
          <a:xfrm>
            <a:off x="3414713" y="1687513"/>
            <a:ext cx="6594475" cy="61753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400" dirty="0">
                <a:latin typeface="+mn-ea"/>
                <a:ea typeface="+mn-ea"/>
              </a:rPr>
              <a:t>：如挖掘银行或股票交易数据的</a:t>
            </a:r>
            <a:r>
              <a:rPr lang="zh-CN" altLang="en-US" sz="2400" dirty="0">
                <a:solidFill>
                  <a:srgbClr val="FF0000"/>
                </a:solidFill>
                <a:latin typeface="+mn-ea"/>
                <a:ea typeface="+mn-ea"/>
              </a:rPr>
              <a:t>变化趋势</a:t>
            </a:r>
            <a:endParaRPr lang="en-US" altLang="zh-CN" sz="2400" dirty="0">
              <a:solidFill>
                <a:srgbClr val="FF0000"/>
              </a:solidFill>
              <a:latin typeface="+mn-ea"/>
              <a:ea typeface="+mn-ea"/>
            </a:endParaRPr>
          </a:p>
        </p:txBody>
      </p:sp>
      <p:sp>
        <p:nvSpPr>
          <p:cNvPr id="12" name="内容占位符 2"/>
          <p:cNvSpPr txBox="1"/>
          <p:nvPr/>
        </p:nvSpPr>
        <p:spPr bwMode="auto">
          <a:xfrm>
            <a:off x="1820863" y="2262188"/>
            <a:ext cx="8945562" cy="61753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400" dirty="0">
                <a:latin typeface="+mn-ea"/>
                <a:ea typeface="+mn-ea"/>
              </a:rPr>
              <a:t>：如挖掘都市贫困率的变化趋势的模式或空间</a:t>
            </a:r>
            <a:r>
              <a:rPr lang="zh-CN" altLang="en-US" sz="2400" dirty="0">
                <a:solidFill>
                  <a:srgbClr val="FF0000"/>
                </a:solidFill>
                <a:latin typeface="+mn-ea"/>
                <a:ea typeface="+mn-ea"/>
              </a:rPr>
              <a:t>对象之间的关联</a:t>
            </a:r>
            <a:endParaRPr lang="en-US" altLang="zh-CN" sz="2400" dirty="0">
              <a:solidFill>
                <a:srgbClr val="FF0000"/>
              </a:solidFill>
              <a:latin typeface="+mn-ea"/>
              <a:ea typeface="+mn-ea"/>
            </a:endParaRPr>
          </a:p>
        </p:txBody>
      </p:sp>
      <p:sp>
        <p:nvSpPr>
          <p:cNvPr id="14" name="内容占位符 2"/>
          <p:cNvSpPr txBox="1"/>
          <p:nvPr/>
        </p:nvSpPr>
        <p:spPr bwMode="auto">
          <a:xfrm>
            <a:off x="2449513" y="3343275"/>
            <a:ext cx="8424862" cy="14097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000" dirty="0">
                <a:latin typeface="+mn-ea"/>
                <a:ea typeface="+mn-ea"/>
              </a:rPr>
              <a:t>：如挖掘历年文献了解</a:t>
            </a:r>
            <a:r>
              <a:rPr lang="zh-CN" altLang="en-US" sz="2000" dirty="0">
                <a:solidFill>
                  <a:srgbClr val="FF0000"/>
                </a:solidFill>
                <a:latin typeface="+mn-ea"/>
                <a:ea typeface="+mn-ea"/>
              </a:rPr>
              <a:t>领域热点课题的演变</a:t>
            </a:r>
            <a:r>
              <a:rPr lang="zh-CN" altLang="en-US" sz="2000" dirty="0">
                <a:latin typeface="+mn-ea"/>
                <a:ea typeface="+mn-ea"/>
              </a:rPr>
              <a:t>；挖掘顾客评论</a:t>
            </a:r>
            <a:r>
              <a:rPr lang="zh-CN" altLang="en-US" sz="2000" dirty="0">
                <a:solidFill>
                  <a:srgbClr val="FF0000"/>
                </a:solidFill>
                <a:latin typeface="+mn-ea"/>
                <a:ea typeface="+mn-ea"/>
              </a:rPr>
              <a:t>评估评论意见</a:t>
            </a:r>
            <a:endParaRPr lang="en-US" altLang="zh-CN" sz="2000" dirty="0">
              <a:solidFill>
                <a:srgbClr val="FF0000"/>
              </a:solidFill>
              <a:latin typeface="+mn-ea"/>
              <a:ea typeface="+mn-ea"/>
            </a:endParaRPr>
          </a:p>
          <a:p>
            <a:pPr marL="0" indent="0" eaLnBrk="1" hangingPunct="1">
              <a:buFont typeface="Arial" panose="020B0604020202020204" pitchFamily="34" charset="0"/>
              <a:buNone/>
              <a:defRPr/>
            </a:pPr>
            <a:r>
              <a:rPr lang="zh-CN" altLang="en-US" sz="2000" dirty="0">
                <a:latin typeface="+mn-ea"/>
                <a:ea typeface="+mn-ea"/>
              </a:rPr>
              <a:t>：如挖掘图像，对</a:t>
            </a:r>
            <a:r>
              <a:rPr lang="zh-CN" altLang="en-US" sz="2000" dirty="0">
                <a:solidFill>
                  <a:srgbClr val="FF0000"/>
                </a:solidFill>
                <a:latin typeface="+mn-ea"/>
                <a:ea typeface="+mn-ea"/>
              </a:rPr>
              <a:t>图像进行分类</a:t>
            </a:r>
            <a:endParaRPr lang="en-US" altLang="zh-CN" sz="2000" dirty="0">
              <a:solidFill>
                <a:srgbClr val="FF0000"/>
              </a:solidFill>
              <a:latin typeface="+mn-ea"/>
              <a:ea typeface="+mn-ea"/>
            </a:endParaRPr>
          </a:p>
          <a:p>
            <a:pPr marL="0" indent="0" eaLnBrk="1" hangingPunct="1">
              <a:buFont typeface="Arial" panose="020B0604020202020204" pitchFamily="34" charset="0"/>
              <a:buNone/>
              <a:defRPr/>
            </a:pPr>
            <a:r>
              <a:rPr lang="zh-CN" altLang="en-US" sz="2000" dirty="0">
                <a:latin typeface="+mn-ea"/>
                <a:ea typeface="+mn-ea"/>
              </a:rPr>
              <a:t>：如挖掘视频</a:t>
            </a:r>
            <a:r>
              <a:rPr lang="zh-CN" altLang="en-US" sz="2000" dirty="0">
                <a:solidFill>
                  <a:srgbClr val="FF0000"/>
                </a:solidFill>
                <a:latin typeface="+mn-ea"/>
                <a:ea typeface="+mn-ea"/>
              </a:rPr>
              <a:t>检测某些视频序列</a:t>
            </a:r>
            <a:endParaRPr lang="en-US" altLang="zh-CN" sz="2000" dirty="0">
              <a:solidFill>
                <a:srgbClr val="FF0000"/>
              </a:solidFill>
              <a:latin typeface="+mn-ea"/>
              <a:ea typeface="+mn-ea"/>
            </a:endParaRPr>
          </a:p>
        </p:txBody>
      </p:sp>
      <p:sp>
        <p:nvSpPr>
          <p:cNvPr id="17" name="内容占位符 2"/>
          <p:cNvSpPr txBox="1"/>
          <p:nvPr/>
        </p:nvSpPr>
        <p:spPr bwMode="auto">
          <a:xfrm>
            <a:off x="2201863" y="4752975"/>
            <a:ext cx="8945562" cy="617538"/>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400" dirty="0">
                <a:latin typeface="+mn-ea"/>
                <a:ea typeface="+mn-ea"/>
              </a:rPr>
              <a:t>：如挖掘万维网的网页信息，对</a:t>
            </a:r>
            <a:r>
              <a:rPr lang="zh-CN" altLang="en-US" sz="2400" dirty="0">
                <a:solidFill>
                  <a:srgbClr val="FF0000"/>
                </a:solidFill>
                <a:latin typeface="+mn-ea"/>
                <a:ea typeface="+mn-ea"/>
              </a:rPr>
              <a:t>网页进行分类</a:t>
            </a:r>
            <a:endParaRPr lang="en-US" altLang="zh-CN" sz="2400" dirty="0">
              <a:solidFill>
                <a:srgbClr val="FF0000"/>
              </a:solidFill>
              <a:latin typeface="+mn-ea"/>
              <a:ea typeface="+mn-ea"/>
            </a:endParaRPr>
          </a:p>
        </p:txBody>
      </p:sp>
      <p:sp>
        <p:nvSpPr>
          <p:cNvPr id="18" name="内容占位符 2"/>
          <p:cNvSpPr txBox="1"/>
          <p:nvPr/>
        </p:nvSpPr>
        <p:spPr bwMode="auto">
          <a:xfrm>
            <a:off x="1841500" y="5288166"/>
            <a:ext cx="8947150" cy="61753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400" dirty="0">
                <a:latin typeface="+mn-ea"/>
                <a:ea typeface="+mn-ea"/>
              </a:rPr>
              <a:t>：如挖掘消息流的异常进行</a:t>
            </a:r>
            <a:r>
              <a:rPr lang="zh-CN" altLang="en-US" sz="2400" dirty="0">
                <a:solidFill>
                  <a:srgbClr val="FF0000"/>
                </a:solidFill>
                <a:latin typeface="+mn-ea"/>
                <a:ea typeface="+mn-ea"/>
              </a:rPr>
              <a:t>入侵检测</a:t>
            </a:r>
            <a:endParaRPr lang="en-US" altLang="zh-CN" sz="2400" dirty="0">
              <a:solidFill>
                <a:srgbClr val="FF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2" grpId="0"/>
      <p:bldP spid="14"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1.4 </a:t>
            </a:r>
            <a:r>
              <a:rPr lang="zh-CN" altLang="en-US" sz="4100" b="1" dirty="0">
                <a:solidFill>
                  <a:srgbClr val="FF0000"/>
                </a:solidFill>
                <a:ea typeface="华文楷体" panose="02010600040101010101" pitchFamily="2" charset="-122"/>
              </a:rPr>
              <a:t>可以挖掘什么类型的模式</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4301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51604412-CBE6-424B-9DB3-90CA71FB21EF}" type="slidenum">
              <a:rPr lang="en-US" altLang="zh-TW" sz="1400" smtClean="0">
                <a:solidFill>
                  <a:srgbClr val="898989"/>
                </a:solidFill>
                <a:latin typeface="Verdana" panose="020B0604030504040204" pitchFamily="34" charset="0"/>
              </a:rPr>
              <a:t>17</a:t>
            </a:fld>
            <a:endParaRPr lang="en-US" altLang="zh-TW" sz="1400">
              <a:solidFill>
                <a:srgbClr val="898989"/>
              </a:solidFill>
              <a:latin typeface="Verdan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3" name="内容占位符 2"/>
          <p:cNvSpPr>
            <a:spLocks noGrp="1"/>
          </p:cNvSpPr>
          <p:nvPr>
            <p:ph idx="1"/>
          </p:nvPr>
        </p:nvSpPr>
        <p:spPr>
          <a:xfrm>
            <a:off x="576263" y="1079500"/>
            <a:ext cx="9864725" cy="1441450"/>
          </a:xfrm>
        </p:spPr>
        <p:txBody>
          <a:bodyPr/>
          <a:lstStyle/>
          <a:p>
            <a:pPr marL="0" indent="0" eaLnBrk="1" hangingPunct="1">
              <a:buFont typeface="Arial" panose="020B0604020202020204" pitchFamily="34" charset="0"/>
              <a:buNone/>
              <a:defRPr/>
            </a:pPr>
            <a:r>
              <a:rPr lang="zh-CN" altLang="en-US" sz="2800" dirty="0">
                <a:latin typeface="+mn-ea"/>
                <a:ea typeface="+mn-ea"/>
              </a:rPr>
              <a:t>挖掘最后希望能得到什么？</a:t>
            </a:r>
            <a:endParaRPr lang="en-US" altLang="zh-CN" sz="2800" dirty="0">
              <a:latin typeface="+mn-ea"/>
              <a:ea typeface="+mn-ea"/>
            </a:endParaRPr>
          </a:p>
          <a:p>
            <a:pPr marL="0" indent="0" eaLnBrk="1" hangingPunct="1">
              <a:buFont typeface="Arial" panose="020B0604020202020204" pitchFamily="34" charset="0"/>
              <a:buNone/>
              <a:defRPr/>
            </a:pPr>
            <a:r>
              <a:rPr lang="zh-CN" altLang="en-US" sz="2800" dirty="0">
                <a:latin typeface="+mn-ea"/>
                <a:ea typeface="+mn-ea"/>
              </a:rPr>
              <a:t>能进行哪些形式的操作？</a:t>
            </a:r>
            <a:endParaRPr lang="en-US" altLang="zh-CN" sz="2800" dirty="0">
              <a:latin typeface="+mn-ea"/>
              <a:ea typeface="+mn-ea"/>
            </a:endParaRPr>
          </a:p>
          <a:p>
            <a:pPr marL="0" indent="0" eaLnBrk="1" hangingPunct="1">
              <a:buFont typeface="Arial" panose="020B0604020202020204" pitchFamily="34" charset="0"/>
              <a:buNone/>
              <a:defRPr/>
            </a:pPr>
            <a:endParaRPr lang="en-US" altLang="zh-CN" sz="2800" dirty="0">
              <a:latin typeface="+mn-ea"/>
              <a:ea typeface="+mn-ea"/>
            </a:endParaRPr>
          </a:p>
          <a:p>
            <a:pPr marL="0" indent="0" eaLnBrk="1" hangingPunct="1">
              <a:buFont typeface="Arial" panose="020B0604020202020204" pitchFamily="34" charset="0"/>
              <a:buNone/>
              <a:defRPr/>
            </a:pPr>
            <a:endParaRPr lang="en-US" altLang="zh-CN" sz="2800" dirty="0">
              <a:latin typeface="+mn-ea"/>
              <a:ea typeface="+mn-ea"/>
            </a:endParaRPr>
          </a:p>
        </p:txBody>
      </p:sp>
      <p:sp>
        <p:nvSpPr>
          <p:cNvPr id="44036"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BD8064EF-D6AF-4022-86F1-3CB624BAEC2E}" type="slidenum">
              <a:rPr lang="en-US" altLang="zh-CN" sz="1400" smtClean="0">
                <a:solidFill>
                  <a:srgbClr val="898989"/>
                </a:solidFill>
                <a:latin typeface="Verdana" panose="020B0604030504040204" pitchFamily="34" charset="0"/>
              </a:rPr>
              <a:t>18</a:t>
            </a:fld>
            <a:endParaRPr lang="en-US" altLang="zh-CN" sz="1400">
              <a:solidFill>
                <a:srgbClr val="898989"/>
              </a:solidFill>
              <a:latin typeface="Verdana" panose="020B0604030504040204" pitchFamily="34" charset="0"/>
            </a:endParaRPr>
          </a:p>
        </p:txBody>
      </p:sp>
      <p:sp>
        <p:nvSpPr>
          <p:cNvPr id="10" name="内容占位符 2"/>
          <p:cNvSpPr txBox="1"/>
          <p:nvPr/>
        </p:nvSpPr>
        <p:spPr bwMode="auto">
          <a:xfrm>
            <a:off x="6840538" y="1512888"/>
            <a:ext cx="2376487" cy="61753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lIns="102789" tIns="51393" rIns="102789" bIns="51393"/>
          <a:lstStyle>
            <a:lvl1pPr marL="384175" indent="-384175" algn="l" defTabSz="1027430" rtl="0" fontAlgn="base">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fontAlgn="base">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fontAlgn="base">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fontAlgn="base">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400" dirty="0">
                <a:solidFill>
                  <a:srgbClr val="FF0000"/>
                </a:solidFill>
                <a:latin typeface="+mn-ea"/>
                <a:ea typeface="+mn-ea"/>
              </a:rPr>
              <a:t>数据挖掘的功能</a:t>
            </a:r>
            <a:endParaRPr lang="en-US" altLang="zh-CN" sz="2400" dirty="0">
              <a:solidFill>
                <a:srgbClr val="FF0000"/>
              </a:solidFill>
              <a:latin typeface="+mn-ea"/>
              <a:ea typeface="+mn-ea"/>
            </a:endParaRPr>
          </a:p>
        </p:txBody>
      </p:sp>
      <p:sp>
        <p:nvSpPr>
          <p:cNvPr id="11" name="内容占位符 2"/>
          <p:cNvSpPr txBox="1"/>
          <p:nvPr/>
        </p:nvSpPr>
        <p:spPr bwMode="auto">
          <a:xfrm>
            <a:off x="576263" y="2808288"/>
            <a:ext cx="6048375"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1</a:t>
            </a:r>
            <a:r>
              <a:rPr lang="zh-CN" altLang="en-US" sz="2800" b="1" dirty="0">
                <a:solidFill>
                  <a:srgbClr val="0070C0"/>
                </a:solidFill>
                <a:latin typeface="+mn-ea"/>
                <a:ea typeface="+mn-ea"/>
              </a:rPr>
              <a:t>、数据特征化与区分</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2</a:t>
            </a:r>
            <a:r>
              <a:rPr lang="zh-CN" altLang="en-US" sz="2800" b="1" dirty="0">
                <a:solidFill>
                  <a:srgbClr val="0070C0"/>
                </a:solidFill>
                <a:latin typeface="+mn-ea"/>
                <a:ea typeface="+mn-ea"/>
              </a:rPr>
              <a:t>、挖掘频繁模式、关联和相关性</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3</a:t>
            </a:r>
            <a:r>
              <a:rPr lang="zh-CN" altLang="en-US" sz="2800" b="1" dirty="0">
                <a:solidFill>
                  <a:srgbClr val="0070C0"/>
                </a:solidFill>
                <a:latin typeface="+mn-ea"/>
                <a:ea typeface="+mn-ea"/>
              </a:rPr>
              <a:t>、用于预测分析的分类和回归</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4</a:t>
            </a:r>
            <a:r>
              <a:rPr lang="zh-CN" altLang="en-US" sz="2800" b="1" dirty="0">
                <a:solidFill>
                  <a:srgbClr val="0070C0"/>
                </a:solidFill>
                <a:latin typeface="+mn-ea"/>
                <a:ea typeface="+mn-ea"/>
              </a:rPr>
              <a:t>、聚类分析</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5</a:t>
            </a:r>
            <a:r>
              <a:rPr lang="zh-CN" altLang="en-US" sz="2800" b="1" dirty="0">
                <a:solidFill>
                  <a:srgbClr val="0070C0"/>
                </a:solidFill>
                <a:latin typeface="+mn-ea"/>
                <a:ea typeface="+mn-ea"/>
              </a:rPr>
              <a:t>、离群点分析</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endParaRPr lang="en-US" altLang="zh-CN" sz="2800" dirty="0">
              <a:latin typeface="+mn-ea"/>
              <a:ea typeface="+mn-ea"/>
            </a:endParaRPr>
          </a:p>
        </p:txBody>
      </p:sp>
      <p:sp>
        <p:nvSpPr>
          <p:cNvPr id="5" name="右大括号 4"/>
          <p:cNvSpPr/>
          <p:nvPr/>
        </p:nvSpPr>
        <p:spPr>
          <a:xfrm>
            <a:off x="6432550" y="2808288"/>
            <a:ext cx="431800" cy="3384550"/>
          </a:xfrm>
          <a:prstGeom prst="righ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cxnSp>
        <p:nvCxnSpPr>
          <p:cNvPr id="7" name="肘形连接符 6"/>
          <p:cNvCxnSpPr>
            <a:stCxn id="10" idx="2"/>
            <a:endCxn id="5" idx="1"/>
          </p:cNvCxnSpPr>
          <p:nvPr/>
        </p:nvCxnSpPr>
        <p:spPr>
          <a:xfrm rot="5400000">
            <a:off x="6261894" y="2732881"/>
            <a:ext cx="2370138" cy="1165225"/>
          </a:xfrm>
          <a:prstGeom prst="bentConnector4">
            <a:avLst>
              <a:gd name="adj1" fmla="val 14312"/>
              <a:gd name="adj2" fmla="val 87"/>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46083"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2E57E7AB-4AB7-4ABE-87EA-649139C0E4BE}" type="slidenum">
              <a:rPr lang="en-US" altLang="zh-CN" sz="1400" smtClean="0">
                <a:solidFill>
                  <a:srgbClr val="898989"/>
                </a:solidFill>
                <a:latin typeface="Verdana" panose="020B0604030504040204" pitchFamily="34" charset="0"/>
              </a:rPr>
              <a:t>19</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1</a:t>
            </a:r>
            <a:r>
              <a:rPr lang="zh-CN" altLang="en-US" sz="2800" b="1" dirty="0">
                <a:solidFill>
                  <a:srgbClr val="0070C0"/>
                </a:solidFill>
                <a:latin typeface="+mn-ea"/>
                <a:ea typeface="+mn-ea"/>
              </a:rPr>
              <a:t>、数据特征化与区分</a:t>
            </a:r>
            <a:endParaRPr lang="en-US" altLang="zh-CN" sz="2800" b="1" dirty="0">
              <a:solidFill>
                <a:srgbClr val="0070C0"/>
              </a:solidFill>
              <a:latin typeface="+mn-ea"/>
              <a:ea typeface="+mn-ea"/>
            </a:endParaRPr>
          </a:p>
          <a:p>
            <a:pPr eaLnBrk="1" hangingPunct="1">
              <a:buFont typeface="Arial" panose="020B0604020202020204" pitchFamily="34" charset="0"/>
              <a:buChar char="•"/>
              <a:defRPr/>
            </a:pPr>
            <a:r>
              <a:rPr lang="zh-CN" altLang="en-US" sz="2800" b="1" dirty="0">
                <a:latin typeface="+mn-ea"/>
                <a:ea typeface="+mn-ea"/>
              </a:rPr>
              <a:t>数据特征化：</a:t>
            </a:r>
            <a:r>
              <a:rPr lang="zh-CN" altLang="en-US" sz="2800" dirty="0">
                <a:latin typeface="+mn-ea"/>
                <a:ea typeface="+mn-ea"/>
              </a:rPr>
              <a:t>是目标类数据的一般特性或特征的汇总。</a:t>
            </a:r>
            <a:endParaRPr lang="en-US" altLang="zh-CN" sz="2800" dirty="0">
              <a:latin typeface="+mn-ea"/>
              <a:ea typeface="+mn-ea"/>
            </a:endParaRPr>
          </a:p>
          <a:p>
            <a:pPr marL="0" lvl="1" indent="0" eaLnBrk="1" hangingPunct="1">
              <a:buFont typeface="Arial" panose="020B0604020202020204" pitchFamily="34" charset="0"/>
              <a:buNone/>
              <a:defRPr/>
            </a:pPr>
            <a:endParaRPr lang="en-GB" altLang="zh-CN" sz="2400" dirty="0">
              <a:latin typeface="+mn-ea"/>
              <a:ea typeface="+mn-ea"/>
            </a:endParaRPr>
          </a:p>
          <a:p>
            <a:pPr marL="0" lvl="1" indent="0" eaLnBrk="1" hangingPunct="1">
              <a:buFont typeface="Arial" panose="020B0604020202020204" pitchFamily="34" charset="0"/>
              <a:buNone/>
              <a:defRPr/>
            </a:pPr>
            <a:endParaRPr lang="en-GB" altLang="zh-CN" sz="2400" dirty="0">
              <a:latin typeface="+mn-ea"/>
              <a:ea typeface="+mn-ea"/>
            </a:endParaRPr>
          </a:p>
          <a:p>
            <a:pPr marL="0" lvl="1" indent="0" eaLnBrk="1" hangingPunct="1">
              <a:buFont typeface="Arial" panose="020B0604020202020204" pitchFamily="34" charset="0"/>
              <a:buNone/>
              <a:defRPr/>
            </a:pPr>
            <a:endParaRPr lang="en-GB" altLang="zh-CN" sz="2400" dirty="0">
              <a:latin typeface="+mn-ea"/>
              <a:ea typeface="+mn-ea"/>
            </a:endParaRPr>
          </a:p>
          <a:p>
            <a:pPr marL="0" indent="0" eaLnBrk="1" hangingPunct="1">
              <a:buFont typeface="Arial" panose="020B0604020202020204" pitchFamily="34" charset="0"/>
              <a:buNone/>
              <a:defRPr/>
            </a:pPr>
            <a:r>
              <a:rPr lang="zh-CN" altLang="en-US" sz="2400" b="1" dirty="0">
                <a:latin typeface="+mn-ea"/>
                <a:ea typeface="+mn-ea"/>
              </a:rPr>
              <a:t>   数据特征化的有效方法：</a:t>
            </a:r>
            <a:endParaRPr lang="en-US" altLang="zh-CN" sz="2400" b="1" dirty="0">
              <a:latin typeface="+mn-ea"/>
              <a:ea typeface="+mn-ea"/>
            </a:endParaRPr>
          </a:p>
          <a:p>
            <a:pPr lvl="2" eaLnBrk="1" hangingPunct="1">
              <a:buFont typeface="Wingdings" panose="05000000000000000000" pitchFamily="2" charset="2"/>
              <a:buChar char="Ø"/>
              <a:defRPr/>
            </a:pPr>
            <a:r>
              <a:rPr lang="zh-CN" altLang="en-US" sz="2400" dirty="0">
                <a:solidFill>
                  <a:srgbClr val="FF0000"/>
                </a:solidFill>
                <a:latin typeface="+mn-ea"/>
                <a:ea typeface="+mn-ea"/>
              </a:rPr>
              <a:t>统计度量和图</a:t>
            </a:r>
            <a:endParaRPr lang="en-US" altLang="zh-CN" sz="2400" dirty="0">
              <a:solidFill>
                <a:srgbClr val="FF0000"/>
              </a:solidFill>
              <a:latin typeface="+mn-ea"/>
              <a:ea typeface="+mn-ea"/>
            </a:endParaRPr>
          </a:p>
          <a:p>
            <a:pPr lvl="2" eaLnBrk="1" hangingPunct="1">
              <a:buFont typeface="Wingdings" panose="05000000000000000000" pitchFamily="2" charset="2"/>
              <a:buChar char="Ø"/>
              <a:defRPr/>
            </a:pPr>
            <a:r>
              <a:rPr lang="zh-CN" altLang="en-US" sz="2400" dirty="0">
                <a:solidFill>
                  <a:srgbClr val="FF0000"/>
                </a:solidFill>
                <a:latin typeface="+mn-ea"/>
                <a:ea typeface="+mn-ea"/>
              </a:rPr>
              <a:t>数据立方体的上卷操作</a:t>
            </a:r>
            <a:endParaRPr lang="en-US" altLang="zh-CN" sz="2400" dirty="0">
              <a:solidFill>
                <a:srgbClr val="FF0000"/>
              </a:solidFill>
              <a:latin typeface="+mn-ea"/>
              <a:ea typeface="+mn-ea"/>
            </a:endParaRPr>
          </a:p>
          <a:p>
            <a:pPr lvl="2" eaLnBrk="1" hangingPunct="1">
              <a:buFont typeface="Wingdings" panose="05000000000000000000" pitchFamily="2" charset="2"/>
              <a:buChar char="Ø"/>
              <a:defRPr/>
            </a:pPr>
            <a:r>
              <a:rPr lang="zh-CN" altLang="en-US" sz="2400" dirty="0">
                <a:solidFill>
                  <a:srgbClr val="FF0000"/>
                </a:solidFill>
                <a:latin typeface="+mn-ea"/>
                <a:ea typeface="+mn-ea"/>
              </a:rPr>
              <a:t>面向属性的归纳技术</a:t>
            </a:r>
            <a:endParaRPr lang="en-US" altLang="zh-CN" sz="2400" dirty="0">
              <a:solidFill>
                <a:srgbClr val="FF0000"/>
              </a:solidFill>
              <a:latin typeface="+mn-ea"/>
              <a:ea typeface="+mn-ea"/>
            </a:endParaRPr>
          </a:p>
          <a:p>
            <a:pPr eaLnBrk="1" hangingPunct="1">
              <a:buFont typeface="Arial" panose="020B0604020202020204" pitchFamily="34" charset="0"/>
              <a:buChar char="•"/>
              <a:defRPr/>
            </a:pPr>
            <a:endParaRPr lang="en-US" altLang="zh-CN" sz="2800" dirty="0">
              <a:latin typeface="+mn-ea"/>
              <a:ea typeface="+mn-ea"/>
            </a:endParaRPr>
          </a:p>
        </p:txBody>
      </p:sp>
      <p:sp>
        <p:nvSpPr>
          <p:cNvPr id="8" name="矩形 7"/>
          <p:cNvSpPr/>
          <p:nvPr/>
        </p:nvSpPr>
        <p:spPr>
          <a:xfrm>
            <a:off x="1127125" y="2616200"/>
            <a:ext cx="8305800" cy="1362075"/>
          </a:xfrm>
          <a:prstGeom prst="rect">
            <a:avLst/>
          </a:prstGeom>
          <a:solidFill>
            <a:schemeClr val="accent4">
              <a:lumMod val="40000"/>
              <a:lumOff val="60000"/>
            </a:schemeClr>
          </a:solidFill>
        </p:spPr>
        <p:txBody>
          <a:bodyPr>
            <a:spAutoFit/>
          </a:bodyPr>
          <a:lstStyle/>
          <a:p>
            <a:pPr marL="0" lvl="1" indent="0" eaLnBrk="1" hangingPunct="1">
              <a:lnSpc>
                <a:spcPts val="3300"/>
              </a:lnSpc>
              <a:defRPr/>
            </a:pPr>
            <a:r>
              <a:rPr lang="zh-CN" altLang="en-US" sz="2400" dirty="0">
                <a:latin typeface="+mn-ea"/>
                <a:ea typeface="+mn-ea"/>
              </a:rPr>
              <a:t>例：有</a:t>
            </a:r>
            <a:r>
              <a:rPr lang="en-US" altLang="zh-CN" sz="2400" dirty="0">
                <a:latin typeface="+mn-ea"/>
                <a:ea typeface="+mn-ea"/>
              </a:rPr>
              <a:t>1000</a:t>
            </a:r>
            <a:r>
              <a:rPr lang="zh-CN" altLang="en-US" sz="2400" dirty="0">
                <a:latin typeface="+mn-ea"/>
                <a:ea typeface="+mn-ea"/>
              </a:rPr>
              <a:t>条数据描述“数据挖掘”的定义，从这些数据里提取特征，汇总浓缩精炼成一条“数据挖掘”定义的数据：</a:t>
            </a:r>
            <a:r>
              <a:rPr lang="zh-CN" altLang="en-US" sz="2400" dirty="0">
                <a:latin typeface="楷体" panose="02010609060101010101" pitchFamily="49" charset="-122"/>
                <a:ea typeface="楷体" panose="02010609060101010101" pitchFamily="49" charset="-122"/>
              </a:rPr>
              <a:t>数据挖掘是从大量数据中挖掘有趣的模式或知识的过程。</a:t>
            </a:r>
            <a:endParaRPr lang="en-US" altLang="zh-CN"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48131"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E42BB2B3-D2CB-440B-B0EE-362368C06602}" type="slidenum">
              <a:rPr lang="en-US" altLang="zh-CN" sz="1400" smtClean="0">
                <a:solidFill>
                  <a:srgbClr val="898989"/>
                </a:solidFill>
                <a:latin typeface="Verdana" panose="020B0604030504040204" pitchFamily="34" charset="0"/>
              </a:rPr>
              <a:t>20</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1</a:t>
            </a:r>
            <a:r>
              <a:rPr lang="zh-CN" altLang="en-US" sz="2800" b="1" dirty="0">
                <a:solidFill>
                  <a:srgbClr val="0070C0"/>
                </a:solidFill>
                <a:latin typeface="+mn-ea"/>
                <a:ea typeface="+mn-ea"/>
              </a:rPr>
              <a:t>、数据特征化与区分</a:t>
            </a:r>
            <a:endParaRPr lang="en-US" altLang="zh-CN" sz="2800" b="1" dirty="0">
              <a:solidFill>
                <a:srgbClr val="0070C0"/>
              </a:solidFill>
              <a:latin typeface="+mn-ea"/>
              <a:ea typeface="+mn-ea"/>
            </a:endParaRPr>
          </a:p>
          <a:p>
            <a:pPr eaLnBrk="1" hangingPunct="1">
              <a:buFont typeface="Arial" panose="020B0604020202020204" pitchFamily="34" charset="0"/>
              <a:buChar char="•"/>
              <a:defRPr/>
            </a:pPr>
            <a:r>
              <a:rPr lang="zh-CN" altLang="en-US" sz="2800" b="1" dirty="0">
                <a:latin typeface="+mn-ea"/>
                <a:ea typeface="+mn-ea"/>
              </a:rPr>
              <a:t>数据区分：</a:t>
            </a:r>
            <a:r>
              <a:rPr lang="zh-CN" altLang="en-US" sz="2800" dirty="0">
                <a:latin typeface="+mn-ea"/>
                <a:ea typeface="+mn-ea"/>
              </a:rPr>
              <a:t>将目标类数据对象的一般特征与一个或多个对比类对象的一般特性进行</a:t>
            </a:r>
            <a:r>
              <a:rPr lang="zh-CN" altLang="en-US" sz="2800" dirty="0">
                <a:solidFill>
                  <a:srgbClr val="FF0000"/>
                </a:solidFill>
                <a:latin typeface="+mn-ea"/>
                <a:ea typeface="+mn-ea"/>
              </a:rPr>
              <a:t>比较</a:t>
            </a:r>
            <a:r>
              <a:rPr lang="zh-CN" altLang="en-US" sz="2800" dirty="0">
                <a:latin typeface="+mn-ea"/>
                <a:ea typeface="+mn-ea"/>
              </a:rPr>
              <a:t>。</a:t>
            </a:r>
            <a:endParaRPr lang="en-US" altLang="zh-CN" sz="2800" dirty="0">
              <a:latin typeface="+mn-ea"/>
              <a:ea typeface="+mn-ea"/>
            </a:endParaRPr>
          </a:p>
          <a:p>
            <a:pPr eaLnBrk="1" hangingPunct="1">
              <a:buFont typeface="Arial" panose="020B0604020202020204" pitchFamily="34" charset="0"/>
              <a:buChar char="•"/>
              <a:defRPr/>
            </a:pPr>
            <a:endParaRPr lang="en-GB" altLang="zh-CN" sz="2400" dirty="0">
              <a:latin typeface="+mn-ea"/>
              <a:ea typeface="+mn-ea"/>
            </a:endParaRPr>
          </a:p>
          <a:p>
            <a:pPr marL="0" lvl="1" indent="0" eaLnBrk="1" hangingPunct="1">
              <a:buFont typeface="Arial" panose="020B0604020202020204" pitchFamily="34" charset="0"/>
              <a:buNone/>
              <a:defRPr/>
            </a:pPr>
            <a:endParaRPr lang="en-GB" altLang="zh-CN" sz="2400" dirty="0">
              <a:latin typeface="+mn-ea"/>
              <a:ea typeface="+mn-ea"/>
            </a:endParaRPr>
          </a:p>
          <a:p>
            <a:pPr marL="0" lvl="1" indent="0" eaLnBrk="1" hangingPunct="1">
              <a:buFont typeface="Arial" panose="020B0604020202020204" pitchFamily="34" charset="0"/>
              <a:buNone/>
              <a:defRPr/>
            </a:pPr>
            <a:r>
              <a:rPr lang="en-US" altLang="zh-CN" sz="2400" dirty="0">
                <a:latin typeface="+mn-ea"/>
                <a:ea typeface="+mn-ea"/>
              </a:rPr>
              <a:t>   </a:t>
            </a:r>
          </a:p>
          <a:p>
            <a:pPr marL="0" lvl="1" indent="0" eaLnBrk="1" hangingPunct="1">
              <a:buFont typeface="Arial" panose="020B0604020202020204" pitchFamily="34" charset="0"/>
              <a:buNone/>
              <a:defRPr/>
            </a:pPr>
            <a:r>
              <a:rPr lang="en-US" altLang="zh-CN" sz="2400" dirty="0">
                <a:latin typeface="+mn-ea"/>
                <a:ea typeface="+mn-ea"/>
              </a:rPr>
              <a:t>   </a:t>
            </a:r>
            <a:r>
              <a:rPr lang="zh-CN" altLang="en-US" sz="2400" dirty="0">
                <a:latin typeface="+mn-ea"/>
                <a:ea typeface="+mn-ea"/>
              </a:rPr>
              <a:t>用于数据区分的方法与用于数据特征化的方法类似。</a:t>
            </a:r>
            <a:endParaRPr lang="en-US" altLang="zh-CN" sz="2400" dirty="0">
              <a:latin typeface="+mn-ea"/>
              <a:ea typeface="+mn-ea"/>
            </a:endParaRPr>
          </a:p>
          <a:p>
            <a:pPr eaLnBrk="1" hangingPunct="1">
              <a:buFont typeface="Arial" panose="020B0604020202020204" pitchFamily="34" charset="0"/>
              <a:buChar char="•"/>
              <a:defRPr/>
            </a:pPr>
            <a:endParaRPr lang="en-US" altLang="zh-CN" sz="2800" dirty="0">
              <a:latin typeface="+mn-ea"/>
              <a:ea typeface="+mn-ea"/>
            </a:endParaRPr>
          </a:p>
        </p:txBody>
      </p:sp>
      <p:sp>
        <p:nvSpPr>
          <p:cNvPr id="8" name="矩形 7"/>
          <p:cNvSpPr/>
          <p:nvPr/>
        </p:nvSpPr>
        <p:spPr>
          <a:xfrm>
            <a:off x="1108075" y="3240088"/>
            <a:ext cx="8829675" cy="902427"/>
          </a:xfrm>
          <a:prstGeom prst="rect">
            <a:avLst/>
          </a:prstGeom>
          <a:solidFill>
            <a:schemeClr val="accent4">
              <a:lumMod val="40000"/>
              <a:lumOff val="60000"/>
            </a:schemeClr>
          </a:solidFill>
        </p:spPr>
        <p:txBody>
          <a:bodyPr>
            <a:spAutoFit/>
          </a:bodyPr>
          <a:lstStyle/>
          <a:p>
            <a:pPr marL="342900" lvl="1" indent="-342900" eaLnBrk="1" hangingPunct="1">
              <a:lnSpc>
                <a:spcPts val="3300"/>
              </a:lnSpc>
              <a:buFont typeface="Arial" panose="020B0604020202020204" pitchFamily="34" charset="0"/>
              <a:buChar char="•"/>
              <a:defRPr/>
            </a:pPr>
            <a:r>
              <a:rPr lang="zh-CN" altLang="en-US" sz="2400" dirty="0">
                <a:latin typeface="+mn-ea"/>
                <a:ea typeface="+mn-ea"/>
              </a:rPr>
              <a:t>微信和</a:t>
            </a:r>
            <a:r>
              <a:rPr lang="en-US" altLang="zh-CN" sz="2400" dirty="0">
                <a:latin typeface="+mn-ea"/>
                <a:ea typeface="+mn-ea"/>
              </a:rPr>
              <a:t>QQ</a:t>
            </a:r>
            <a:r>
              <a:rPr lang="zh-CN" altLang="en-US" sz="2400" dirty="0">
                <a:latin typeface="+mn-ea"/>
                <a:ea typeface="+mn-ea"/>
              </a:rPr>
              <a:t>都是即时通讯工具，他们之间的差别是什么？</a:t>
            </a:r>
            <a:endParaRPr lang="en-US" altLang="zh-CN" sz="2400" dirty="0">
              <a:latin typeface="+mn-ea"/>
              <a:ea typeface="+mn-ea"/>
            </a:endParaRPr>
          </a:p>
          <a:p>
            <a:pPr marL="342900" lvl="1" indent="-342900" eaLnBrk="1" hangingPunct="1">
              <a:lnSpc>
                <a:spcPts val="3300"/>
              </a:lnSpc>
              <a:buFont typeface="Arial" panose="020B0604020202020204" pitchFamily="34" charset="0"/>
              <a:buChar char="•"/>
              <a:defRPr/>
            </a:pPr>
            <a:r>
              <a:rPr lang="zh-CN" altLang="en-US" sz="2400" dirty="0">
                <a:latin typeface="+mn-ea"/>
              </a:rPr>
              <a:t>新浪微博和</a:t>
            </a:r>
            <a:r>
              <a:rPr lang="en-US" altLang="zh-CN" sz="2400" dirty="0">
                <a:latin typeface="+mn-ea"/>
              </a:rPr>
              <a:t>Twitter</a:t>
            </a:r>
            <a:r>
              <a:rPr lang="zh-CN" altLang="en-US" sz="2400" dirty="0">
                <a:latin typeface="+mn-ea"/>
              </a:rPr>
              <a:t>都是社交网站，他们之间的区别是什么？</a:t>
            </a:r>
            <a:endParaRPr lang="en-US" altLang="zh-CN" sz="24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50179"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7858E59B-0E90-4894-865B-AFDA0A9F4248}" type="slidenum">
              <a:rPr lang="en-US" altLang="zh-CN" sz="1400" smtClean="0">
                <a:solidFill>
                  <a:srgbClr val="898989"/>
                </a:solidFill>
                <a:latin typeface="Verdana" panose="020B0604030504040204" pitchFamily="34" charset="0"/>
              </a:rPr>
              <a:t>21</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2</a:t>
            </a:r>
            <a:r>
              <a:rPr lang="zh-CN" altLang="en-US" sz="2800" b="1" dirty="0">
                <a:solidFill>
                  <a:srgbClr val="0070C0"/>
                </a:solidFill>
                <a:latin typeface="+mn-ea"/>
                <a:ea typeface="+mn-ea"/>
              </a:rPr>
              <a:t>、挖掘频繁模式、关联和相关性</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zh-CN" altLang="en-US" sz="2800" dirty="0">
                <a:latin typeface="+mn-ea"/>
                <a:ea typeface="+mn-ea"/>
              </a:rPr>
              <a:t>   </a:t>
            </a:r>
            <a:r>
              <a:rPr lang="zh-CN" altLang="en-US" sz="2800" b="1" dirty="0">
                <a:latin typeface="+mn-ea"/>
                <a:ea typeface="+mn-ea"/>
              </a:rPr>
              <a:t>频繁模式</a:t>
            </a:r>
            <a:r>
              <a:rPr lang="zh-CN" altLang="en-US" sz="2800" dirty="0">
                <a:latin typeface="+mn-ea"/>
                <a:ea typeface="+mn-ea"/>
              </a:rPr>
              <a:t>：在数据中</a:t>
            </a:r>
            <a:r>
              <a:rPr lang="zh-CN" altLang="en-US" sz="2800" dirty="0">
                <a:solidFill>
                  <a:srgbClr val="FF0000"/>
                </a:solidFill>
                <a:latin typeface="+mn-ea"/>
                <a:ea typeface="+mn-ea"/>
              </a:rPr>
              <a:t>频繁出现的模式</a:t>
            </a:r>
            <a:r>
              <a:rPr lang="zh-CN" altLang="en-US" sz="2800" dirty="0">
                <a:latin typeface="+mn-ea"/>
                <a:ea typeface="+mn-ea"/>
              </a:rPr>
              <a:t>。</a:t>
            </a:r>
            <a:r>
              <a:rPr lang="zh-CN" altLang="en-US" sz="2400" dirty="0">
                <a:latin typeface="+mn-ea"/>
                <a:ea typeface="+mn-ea"/>
              </a:rPr>
              <a:t>它存在多种类型的频繁模式，包括频繁项集，频繁子序列和频繁子结构。</a:t>
            </a:r>
            <a:endParaRPr lang="en-GB" altLang="zh-CN" sz="2400" dirty="0">
              <a:latin typeface="+mn-ea"/>
              <a:ea typeface="+mn-ea"/>
            </a:endParaRPr>
          </a:p>
          <a:p>
            <a:pPr marL="792480" lvl="2" indent="-342900" eaLnBrk="1" hangingPunct="1">
              <a:buFont typeface="Arial" panose="020B0604020202020204" pitchFamily="34" charset="0"/>
              <a:buChar char="•"/>
              <a:defRPr/>
            </a:pPr>
            <a:r>
              <a:rPr lang="zh-CN" altLang="en-US" sz="2000" b="1" dirty="0">
                <a:solidFill>
                  <a:srgbClr val="0070C0"/>
                </a:solidFill>
                <a:latin typeface="+mn-ea"/>
                <a:ea typeface="+mn-ea"/>
              </a:rPr>
              <a:t>频繁项集：</a:t>
            </a:r>
            <a:r>
              <a:rPr lang="zh-CN" altLang="en-US" sz="2000" dirty="0">
                <a:latin typeface="+mn-ea"/>
                <a:ea typeface="+mn-ea"/>
              </a:rPr>
              <a:t>频繁地在事物数据集中一起出现的商品的集合（如啤酒和尿布），</a:t>
            </a:r>
            <a:r>
              <a:rPr lang="zh-CN" altLang="en-US" sz="2000" dirty="0">
                <a:solidFill>
                  <a:srgbClr val="FF0000"/>
                </a:solidFill>
                <a:latin typeface="+mn-ea"/>
                <a:ea typeface="+mn-ea"/>
              </a:rPr>
              <a:t>频繁项集挖掘是频繁模式挖掘的基础</a:t>
            </a:r>
            <a:r>
              <a:rPr lang="zh-CN" altLang="en-US" sz="2000" dirty="0">
                <a:latin typeface="+mn-ea"/>
                <a:ea typeface="+mn-ea"/>
              </a:rPr>
              <a:t>。</a:t>
            </a:r>
            <a:endParaRPr lang="en-US" altLang="zh-CN" sz="2000" dirty="0">
              <a:latin typeface="+mn-ea"/>
              <a:ea typeface="+mn-ea"/>
            </a:endParaRPr>
          </a:p>
          <a:p>
            <a:pPr marL="792480" lvl="2" indent="-342900" eaLnBrk="1" hangingPunct="1">
              <a:buFont typeface="Arial" panose="020B0604020202020204" pitchFamily="34" charset="0"/>
              <a:buChar char="•"/>
              <a:defRPr/>
            </a:pPr>
            <a:r>
              <a:rPr lang="zh-CN" altLang="en-US" sz="2000" b="1" dirty="0">
                <a:solidFill>
                  <a:srgbClr val="0070C0"/>
                </a:solidFill>
                <a:latin typeface="+mn-ea"/>
                <a:ea typeface="+mn-ea"/>
              </a:rPr>
              <a:t>频繁子序列：</a:t>
            </a:r>
            <a:r>
              <a:rPr lang="zh-CN" altLang="en-US" sz="2000" dirty="0">
                <a:latin typeface="+mn-ea"/>
                <a:ea typeface="+mn-ea"/>
              </a:rPr>
              <a:t>频繁出现的子序列（</a:t>
            </a:r>
            <a:r>
              <a:rPr lang="en-US" altLang="zh-CN" sz="2000" dirty="0">
                <a:latin typeface="+mn-ea"/>
                <a:sym typeface="Wingdings" panose="05000000000000000000" pitchFamily="2" charset="2"/>
              </a:rPr>
              <a:t> </a:t>
            </a:r>
            <a:r>
              <a:rPr lang="en-US" altLang="zh-CN" sz="2000" dirty="0" err="1">
                <a:latin typeface="+mn-ea"/>
                <a:sym typeface="Wingdings" panose="05000000000000000000" pitchFamily="2" charset="2"/>
              </a:rPr>
              <a:t>iPhone</a:t>
            </a:r>
            <a:r>
              <a:rPr lang="en-US" altLang="zh-CN" sz="2000" dirty="0" err="1">
                <a:latin typeface="+mn-ea"/>
                <a:ea typeface="+mn-ea"/>
                <a:sym typeface="Wingdings" panose="05000000000000000000" pitchFamily="2" charset="2"/>
              </a:rPr>
              <a:t>iPad</a:t>
            </a:r>
            <a:r>
              <a:rPr lang="en-US" altLang="zh-CN" sz="2000" dirty="0">
                <a:latin typeface="+mn-ea"/>
                <a:ea typeface="+mn-ea"/>
                <a:sym typeface="Wingdings" panose="05000000000000000000" pitchFamily="2" charset="2"/>
              </a:rPr>
              <a:t></a:t>
            </a:r>
            <a:r>
              <a:rPr lang="zh-CN" altLang="en-US" sz="2000" dirty="0">
                <a:latin typeface="+mn-ea"/>
              </a:rPr>
              <a:t>苹果笔记本</a:t>
            </a:r>
            <a:r>
              <a:rPr lang="zh-CN" altLang="en-US" sz="2000" dirty="0">
                <a:latin typeface="+mn-ea"/>
                <a:ea typeface="+mn-ea"/>
              </a:rPr>
              <a:t>）。</a:t>
            </a:r>
            <a:endParaRPr lang="en-US" altLang="zh-CN" sz="2000" dirty="0">
              <a:latin typeface="+mn-ea"/>
              <a:ea typeface="+mn-ea"/>
            </a:endParaRPr>
          </a:p>
          <a:p>
            <a:pPr marL="792480" lvl="2" indent="-342900" eaLnBrk="1" hangingPunct="1">
              <a:buFont typeface="Arial" panose="020B0604020202020204" pitchFamily="34" charset="0"/>
              <a:buChar char="•"/>
              <a:defRPr/>
            </a:pPr>
            <a:r>
              <a:rPr lang="zh-CN" altLang="en-US" sz="2000" b="1" dirty="0">
                <a:solidFill>
                  <a:srgbClr val="0070C0"/>
                </a:solidFill>
                <a:latin typeface="+mn-ea"/>
                <a:ea typeface="+mn-ea"/>
              </a:rPr>
              <a:t>频繁子结构：</a:t>
            </a:r>
            <a:r>
              <a:rPr lang="zh-CN" altLang="en-US" sz="2000" dirty="0">
                <a:latin typeface="+mn-ea"/>
                <a:ea typeface="+mn-ea"/>
              </a:rPr>
              <a:t>频繁出现的</a:t>
            </a:r>
            <a:r>
              <a:rPr lang="zh-CN" altLang="en-US" sz="2000" dirty="0">
                <a:latin typeface="+mn-ea"/>
              </a:rPr>
              <a:t>子</a:t>
            </a:r>
            <a:r>
              <a:rPr lang="zh-CN" altLang="en-US" sz="2000" dirty="0">
                <a:latin typeface="+mn-ea"/>
                <a:ea typeface="+mn-ea"/>
              </a:rPr>
              <a:t>结构，如图、树或格。</a:t>
            </a:r>
            <a:endParaRPr lang="en-US" altLang="zh-CN" sz="2000" dirty="0">
              <a:latin typeface="+mn-ea"/>
              <a:ea typeface="+mn-ea"/>
            </a:endParaRPr>
          </a:p>
          <a:p>
            <a:pPr marL="449580" lvl="2" indent="0" eaLnBrk="1" hangingPunct="1">
              <a:buFont typeface="Arial" panose="020B0604020202020204" pitchFamily="34" charset="0"/>
              <a:buNone/>
              <a:defRPr/>
            </a:pPr>
            <a:r>
              <a:rPr lang="zh-CN" altLang="en-US" sz="2800" b="1" dirty="0">
                <a:latin typeface="+mn-ea"/>
                <a:ea typeface="+mn-ea"/>
              </a:rPr>
              <a:t>关联：</a:t>
            </a:r>
            <a:endParaRPr lang="en-US" altLang="zh-CN" sz="2800" b="1" dirty="0">
              <a:latin typeface="+mn-ea"/>
              <a:ea typeface="+mn-ea"/>
            </a:endParaRPr>
          </a:p>
          <a:p>
            <a:pPr marL="449580" lvl="2" indent="0" eaLnBrk="1" hangingPunct="1">
              <a:buFont typeface="Arial" panose="020B0604020202020204" pitchFamily="34" charset="0"/>
              <a:buNone/>
              <a:defRPr/>
            </a:pPr>
            <a:r>
              <a:rPr lang="zh-CN" altLang="en-US" sz="2000" b="1" dirty="0">
                <a:solidFill>
                  <a:srgbClr val="0070C0"/>
                </a:solidFill>
                <a:latin typeface="+mn-ea"/>
                <a:ea typeface="+mn-ea"/>
              </a:rPr>
              <a:t>单维关联规则：</a:t>
            </a:r>
            <a:endParaRPr lang="en-US" altLang="zh-CN" sz="2000" b="1" dirty="0">
              <a:solidFill>
                <a:srgbClr val="0070C0"/>
              </a:solidFill>
              <a:latin typeface="+mn-ea"/>
              <a:ea typeface="+mn-ea"/>
            </a:endParaRPr>
          </a:p>
          <a:p>
            <a:pPr marL="449580" lvl="2" indent="0" eaLnBrk="1" hangingPunct="1">
              <a:buNone/>
              <a:defRPr/>
            </a:pPr>
            <a:r>
              <a:rPr lang="zh-CN" altLang="en-US" sz="2000" b="1" dirty="0">
                <a:solidFill>
                  <a:srgbClr val="0070C0"/>
                </a:solidFill>
                <a:latin typeface="+mn-ea"/>
                <a:ea typeface="+mn-ea"/>
              </a:rPr>
              <a:t>多维关联规则：</a:t>
            </a:r>
            <a:endParaRPr lang="en-GB" altLang="zh-CN" sz="2000" b="1" dirty="0">
              <a:solidFill>
                <a:srgbClr val="0070C0"/>
              </a:solidFill>
              <a:latin typeface="+mn-ea"/>
              <a:ea typeface="+mn-ea"/>
            </a:endParaRPr>
          </a:p>
        </p:txBody>
      </p:sp>
      <p:sp>
        <p:nvSpPr>
          <p:cNvPr id="8" name="矩形 7"/>
          <p:cNvSpPr/>
          <p:nvPr/>
        </p:nvSpPr>
        <p:spPr>
          <a:xfrm>
            <a:off x="950913" y="6462713"/>
            <a:ext cx="8828087" cy="522287"/>
          </a:xfrm>
          <a:prstGeom prst="rect">
            <a:avLst/>
          </a:prstGeom>
          <a:solidFill>
            <a:schemeClr val="accent6">
              <a:lumMod val="60000"/>
              <a:lumOff val="40000"/>
            </a:schemeClr>
          </a:solidFill>
        </p:spPr>
        <p:txBody>
          <a:bodyPr>
            <a:spAutoFit/>
          </a:bodyPr>
          <a:lstStyle/>
          <a:p>
            <a:pPr algn="ctr" eaLnBrk="1" hangingPunct="1">
              <a:defRPr/>
            </a:pPr>
            <a:r>
              <a:rPr lang="zh-CN" altLang="en-US" sz="2800" dirty="0">
                <a:latin typeface="楷体" panose="02010609060101010101" pitchFamily="49" charset="-122"/>
                <a:ea typeface="楷体" panose="02010609060101010101" pitchFamily="49" charset="-122"/>
              </a:rPr>
              <a:t>挖掘频繁模式可以</a:t>
            </a:r>
            <a:r>
              <a:rPr lang="zh-CN" altLang="en-US" sz="2800" dirty="0">
                <a:solidFill>
                  <a:srgbClr val="FF0000"/>
                </a:solidFill>
                <a:latin typeface="楷体" panose="02010609060101010101" pitchFamily="49" charset="-122"/>
                <a:ea typeface="楷体" panose="02010609060101010101" pitchFamily="49" charset="-122"/>
              </a:rPr>
              <a:t>发现数据中有趣的关联和相关性</a:t>
            </a:r>
            <a:endParaRPr lang="en-US" altLang="zh-CN" sz="2800" dirty="0">
              <a:solidFill>
                <a:srgbClr val="FF0000"/>
              </a:solidFill>
              <a:latin typeface="楷体" panose="02010609060101010101" pitchFamily="49" charset="-122"/>
              <a:ea typeface="楷体" panose="02010609060101010101" pitchFamily="49" charset="-122"/>
            </a:endParaRPr>
          </a:p>
        </p:txBody>
      </p:sp>
      <p:pic>
        <p:nvPicPr>
          <p:cNvPr id="5018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8288" y="5588000"/>
            <a:ext cx="760888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6040438"/>
            <a:ext cx="7967662"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18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1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bwMode="auto">
          <a:xfrm>
            <a:off x="1806575" y="2771775"/>
            <a:ext cx="7459663" cy="2946400"/>
            <a:chOff x="641056" y="3501008"/>
            <a:chExt cx="7459336" cy="2945403"/>
          </a:xfrm>
        </p:grpSpPr>
        <p:grpSp>
          <p:nvGrpSpPr>
            <p:cNvPr id="52237" name="组合 2"/>
            <p:cNvGrpSpPr/>
            <p:nvPr/>
          </p:nvGrpSpPr>
          <p:grpSpPr bwMode="auto">
            <a:xfrm>
              <a:off x="899592" y="3501008"/>
              <a:ext cx="4235456" cy="504056"/>
              <a:chOff x="899592" y="3501008"/>
              <a:chExt cx="4235456" cy="504056"/>
            </a:xfrm>
          </p:grpSpPr>
          <p:sp>
            <p:nvSpPr>
              <p:cNvPr id="43" name="圆角矩形 42"/>
              <p:cNvSpPr/>
              <p:nvPr/>
            </p:nvSpPr>
            <p:spPr>
              <a:xfrm>
                <a:off x="899808" y="3501008"/>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44" name="圆角矩形 43"/>
              <p:cNvSpPr/>
              <p:nvPr/>
            </p:nvSpPr>
            <p:spPr>
              <a:xfrm>
                <a:off x="2934894" y="3501008"/>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45" name="圆角矩形 44"/>
              <p:cNvSpPr/>
              <p:nvPr/>
            </p:nvSpPr>
            <p:spPr>
              <a:xfrm>
                <a:off x="1915763" y="3501008"/>
                <a:ext cx="1008018"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6" name="圆角矩形 45"/>
              <p:cNvSpPr/>
              <p:nvPr/>
            </p:nvSpPr>
            <p:spPr>
              <a:xfrm>
                <a:off x="3852428" y="3501008"/>
                <a:ext cx="339710"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7" name="圆角矩形 46"/>
              <p:cNvSpPr/>
              <p:nvPr/>
            </p:nvSpPr>
            <p:spPr>
              <a:xfrm>
                <a:off x="4127053" y="3501008"/>
                <a:ext cx="1008019" cy="504654"/>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标签</a:t>
                </a:r>
              </a:p>
            </p:txBody>
          </p:sp>
        </p:grpSp>
        <p:grpSp>
          <p:nvGrpSpPr>
            <p:cNvPr id="52238" name="组合 9"/>
            <p:cNvGrpSpPr/>
            <p:nvPr/>
          </p:nvGrpSpPr>
          <p:grpSpPr bwMode="auto">
            <a:xfrm>
              <a:off x="899592" y="4091820"/>
              <a:ext cx="4235456" cy="504056"/>
              <a:chOff x="899592" y="3501008"/>
              <a:chExt cx="4235456" cy="504056"/>
            </a:xfrm>
          </p:grpSpPr>
          <p:sp>
            <p:nvSpPr>
              <p:cNvPr id="38" name="圆角矩形 37"/>
              <p:cNvSpPr/>
              <p:nvPr/>
            </p:nvSpPr>
            <p:spPr>
              <a:xfrm>
                <a:off x="899808" y="3500546"/>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39" name="圆角矩形 38"/>
              <p:cNvSpPr/>
              <p:nvPr/>
            </p:nvSpPr>
            <p:spPr>
              <a:xfrm>
                <a:off x="2934894" y="3500546"/>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40" name="圆角矩形 39"/>
              <p:cNvSpPr/>
              <p:nvPr/>
            </p:nvSpPr>
            <p:spPr>
              <a:xfrm>
                <a:off x="1915763" y="3500546"/>
                <a:ext cx="1008018"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1" name="圆角矩形 40"/>
              <p:cNvSpPr/>
              <p:nvPr/>
            </p:nvSpPr>
            <p:spPr>
              <a:xfrm>
                <a:off x="3852428" y="3500546"/>
                <a:ext cx="339710"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2" name="圆角矩形 41"/>
              <p:cNvSpPr/>
              <p:nvPr/>
            </p:nvSpPr>
            <p:spPr>
              <a:xfrm>
                <a:off x="4127053" y="3500546"/>
                <a:ext cx="1008019" cy="504654"/>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标签</a:t>
                </a:r>
              </a:p>
            </p:txBody>
          </p:sp>
        </p:grpSp>
        <p:grpSp>
          <p:nvGrpSpPr>
            <p:cNvPr id="52239" name="组合 15"/>
            <p:cNvGrpSpPr/>
            <p:nvPr/>
          </p:nvGrpSpPr>
          <p:grpSpPr bwMode="auto">
            <a:xfrm>
              <a:off x="912608" y="4653136"/>
              <a:ext cx="4235456" cy="504056"/>
              <a:chOff x="899592" y="3501008"/>
              <a:chExt cx="4235456" cy="504056"/>
            </a:xfrm>
          </p:grpSpPr>
          <p:sp>
            <p:nvSpPr>
              <p:cNvPr id="33" name="圆角矩形 32"/>
              <p:cNvSpPr/>
              <p:nvPr/>
            </p:nvSpPr>
            <p:spPr>
              <a:xfrm>
                <a:off x="899491" y="3501015"/>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34" name="圆角矩形 33"/>
              <p:cNvSpPr/>
              <p:nvPr/>
            </p:nvSpPr>
            <p:spPr>
              <a:xfrm>
                <a:off x="2934577" y="3501015"/>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35" name="圆角矩形 34"/>
              <p:cNvSpPr/>
              <p:nvPr/>
            </p:nvSpPr>
            <p:spPr>
              <a:xfrm>
                <a:off x="1915446" y="3501015"/>
                <a:ext cx="1008018"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6" name="圆角矩形 35"/>
              <p:cNvSpPr/>
              <p:nvPr/>
            </p:nvSpPr>
            <p:spPr>
              <a:xfrm>
                <a:off x="3852111" y="3501015"/>
                <a:ext cx="339710"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7" name="圆角矩形 36"/>
              <p:cNvSpPr/>
              <p:nvPr/>
            </p:nvSpPr>
            <p:spPr>
              <a:xfrm>
                <a:off x="4126736" y="3501015"/>
                <a:ext cx="1008019" cy="504654"/>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标签</a:t>
                </a:r>
              </a:p>
            </p:txBody>
          </p:sp>
        </p:grpSp>
        <p:cxnSp>
          <p:nvCxnSpPr>
            <p:cNvPr id="17" name="直接连接符 16"/>
            <p:cNvCxnSpPr/>
            <p:nvPr/>
          </p:nvCxnSpPr>
          <p:spPr>
            <a:xfrm>
              <a:off x="641056" y="5273646"/>
              <a:ext cx="4752767" cy="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grpSp>
          <p:nvGrpSpPr>
            <p:cNvPr id="52241" name="组合 24"/>
            <p:cNvGrpSpPr/>
            <p:nvPr/>
          </p:nvGrpSpPr>
          <p:grpSpPr bwMode="auto">
            <a:xfrm>
              <a:off x="899592" y="5386232"/>
              <a:ext cx="4235456" cy="504056"/>
              <a:chOff x="899592" y="3501008"/>
              <a:chExt cx="4235456" cy="504056"/>
            </a:xfrm>
          </p:grpSpPr>
          <p:sp>
            <p:nvSpPr>
              <p:cNvPr id="28" name="圆角矩形 27"/>
              <p:cNvSpPr/>
              <p:nvPr/>
            </p:nvSpPr>
            <p:spPr>
              <a:xfrm>
                <a:off x="899808" y="3501096"/>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29" name="圆角矩形 28"/>
              <p:cNvSpPr/>
              <p:nvPr/>
            </p:nvSpPr>
            <p:spPr>
              <a:xfrm>
                <a:off x="2934894" y="3501096"/>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30" name="圆角矩形 29"/>
              <p:cNvSpPr/>
              <p:nvPr/>
            </p:nvSpPr>
            <p:spPr>
              <a:xfrm>
                <a:off x="1915763" y="3501096"/>
                <a:ext cx="1008018"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1" name="圆角矩形 30"/>
              <p:cNvSpPr/>
              <p:nvPr/>
            </p:nvSpPr>
            <p:spPr>
              <a:xfrm>
                <a:off x="3852428" y="3501096"/>
                <a:ext cx="339710"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2" name="圆角矩形 31"/>
              <p:cNvSpPr/>
              <p:nvPr/>
            </p:nvSpPr>
            <p:spPr>
              <a:xfrm>
                <a:off x="4127053" y="3501096"/>
                <a:ext cx="1008019" cy="504654"/>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grpSp>
          <p:nvGrpSpPr>
            <p:cNvPr id="52242" name="组合 30"/>
            <p:cNvGrpSpPr/>
            <p:nvPr/>
          </p:nvGrpSpPr>
          <p:grpSpPr bwMode="auto">
            <a:xfrm>
              <a:off x="899592" y="5942355"/>
              <a:ext cx="4235456" cy="504056"/>
              <a:chOff x="899592" y="3501008"/>
              <a:chExt cx="4235456" cy="504056"/>
            </a:xfrm>
          </p:grpSpPr>
          <p:sp>
            <p:nvSpPr>
              <p:cNvPr id="23" name="圆角矩形 22"/>
              <p:cNvSpPr/>
              <p:nvPr/>
            </p:nvSpPr>
            <p:spPr>
              <a:xfrm>
                <a:off x="899808" y="3500410"/>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24" name="圆角矩形 23"/>
              <p:cNvSpPr/>
              <p:nvPr/>
            </p:nvSpPr>
            <p:spPr>
              <a:xfrm>
                <a:off x="2934894" y="3500410"/>
                <a:ext cx="1008018" cy="504654"/>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25" name="圆角矩形 24"/>
              <p:cNvSpPr/>
              <p:nvPr/>
            </p:nvSpPr>
            <p:spPr>
              <a:xfrm>
                <a:off x="1915763" y="3500410"/>
                <a:ext cx="1008018"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6" name="圆角矩形 25"/>
              <p:cNvSpPr/>
              <p:nvPr/>
            </p:nvSpPr>
            <p:spPr>
              <a:xfrm>
                <a:off x="3852428" y="3500410"/>
                <a:ext cx="339710" cy="50465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7" name="圆角矩形 26"/>
              <p:cNvSpPr/>
              <p:nvPr/>
            </p:nvSpPr>
            <p:spPr>
              <a:xfrm>
                <a:off x="4127053" y="3500410"/>
                <a:ext cx="1008019" cy="504654"/>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sp>
          <p:nvSpPr>
            <p:cNvPr id="20" name="圆角矩形 19"/>
            <p:cNvSpPr/>
            <p:nvPr/>
          </p:nvSpPr>
          <p:spPr>
            <a:xfrm>
              <a:off x="5579553" y="4976883"/>
              <a:ext cx="2520839" cy="504654"/>
            </a:xfrm>
            <a:prstGeom prst="roundRect">
              <a:avLst/>
            </a:prstGeom>
            <a:solidFill>
              <a:srgbClr val="CC0099"/>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bg1"/>
                  </a:solidFill>
                </a:rPr>
                <a:t>监督学习算法</a:t>
              </a:r>
            </a:p>
          </p:txBody>
        </p:sp>
        <p:sp>
          <p:nvSpPr>
            <p:cNvPr id="21" name="圆角矩形 20"/>
            <p:cNvSpPr/>
            <p:nvPr/>
          </p:nvSpPr>
          <p:spPr>
            <a:xfrm>
              <a:off x="6155789" y="4091358"/>
              <a:ext cx="1008019" cy="504654"/>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dirty="0">
                  <a:solidFill>
                    <a:schemeClr val="tx1"/>
                  </a:solidFill>
                  <a:latin typeface="楷体" panose="02010609060101010101" pitchFamily="49" charset="-122"/>
                  <a:ea typeface="楷体" panose="02010609060101010101" pitchFamily="49" charset="-122"/>
                </a:rPr>
                <a:t>训练</a:t>
              </a:r>
            </a:p>
          </p:txBody>
        </p:sp>
        <p:sp>
          <p:nvSpPr>
            <p:cNvPr id="22" name="圆角矩形 21"/>
            <p:cNvSpPr/>
            <p:nvPr/>
          </p:nvSpPr>
          <p:spPr>
            <a:xfrm>
              <a:off x="6155789" y="5691017"/>
              <a:ext cx="1008019" cy="503068"/>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dirty="0">
                  <a:solidFill>
                    <a:schemeClr val="tx1"/>
                  </a:solidFill>
                  <a:latin typeface="楷体" panose="02010609060101010101" pitchFamily="49" charset="-122"/>
                  <a:ea typeface="楷体" panose="02010609060101010101" pitchFamily="49" charset="-122"/>
                </a:rPr>
                <a:t>预测</a:t>
              </a:r>
            </a:p>
          </p:txBody>
        </p:sp>
      </p:grpSp>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52228"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7E26E138-A821-4DFA-B79D-D369FDD63C7C}" type="slidenum">
              <a:rPr lang="en-US" altLang="zh-CN" sz="1400" smtClean="0">
                <a:solidFill>
                  <a:srgbClr val="898989"/>
                </a:solidFill>
                <a:latin typeface="Verdana" panose="020B0604030504040204" pitchFamily="34" charset="0"/>
              </a:rPr>
              <a:t>22</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3</a:t>
            </a:r>
            <a:r>
              <a:rPr lang="zh-CN" altLang="en-US" sz="2800" b="1" dirty="0">
                <a:solidFill>
                  <a:srgbClr val="0070C0"/>
                </a:solidFill>
                <a:latin typeface="+mn-ea"/>
                <a:ea typeface="+mn-ea"/>
              </a:rPr>
              <a:t>、用于预测分析的分类和回归</a:t>
            </a:r>
            <a:endParaRPr lang="en-US" altLang="zh-CN" sz="2800" b="1" dirty="0">
              <a:solidFill>
                <a:srgbClr val="0070C0"/>
              </a:solidFill>
              <a:latin typeface="+mn-ea"/>
              <a:ea typeface="+mn-ea"/>
            </a:endParaRPr>
          </a:p>
        </p:txBody>
      </p:sp>
      <p:pic>
        <p:nvPicPr>
          <p:cNvPr id="542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3" y="2049463"/>
            <a:ext cx="5097462" cy="452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直接箭头连接符 4"/>
          <p:cNvCxnSpPr>
            <a:endCxn id="6" idx="1"/>
          </p:cNvCxnSpPr>
          <p:nvPr/>
        </p:nvCxnSpPr>
        <p:spPr>
          <a:xfrm>
            <a:off x="5545138" y="2879725"/>
            <a:ext cx="1303337" cy="0"/>
          </a:xfrm>
          <a:prstGeom prst="straightConnector1">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848475" y="2525713"/>
            <a:ext cx="2794000" cy="708025"/>
          </a:xfrm>
          <a:prstGeom prst="rect">
            <a:avLst/>
          </a:prstGeom>
          <a:ln>
            <a:solidFill>
              <a:srgbClr val="0070C0"/>
            </a:solidFill>
          </a:ln>
        </p:spPr>
        <p:txBody>
          <a:bodyPr>
            <a:spAutoFit/>
          </a:bodyPr>
          <a:lstStyle/>
          <a:p>
            <a:pPr eaLnBrk="1" hangingPunct="1">
              <a:defRPr/>
            </a:pPr>
            <a:r>
              <a:rPr lang="zh-CN" altLang="en-US" sz="2000" dirty="0">
                <a:latin typeface="+mn-ea"/>
                <a:ea typeface="+mn-ea"/>
              </a:rPr>
              <a:t>预测明天是</a:t>
            </a:r>
            <a:r>
              <a:rPr lang="zh-CN" altLang="en-US" sz="2000" dirty="0">
                <a:solidFill>
                  <a:srgbClr val="FF0000"/>
                </a:solidFill>
                <a:latin typeface="+mn-ea"/>
                <a:ea typeface="+mn-ea"/>
              </a:rPr>
              <a:t>阴、晴</a:t>
            </a:r>
            <a:r>
              <a:rPr lang="zh-CN" altLang="en-US" sz="2000" dirty="0">
                <a:latin typeface="+mn-ea"/>
                <a:ea typeface="+mn-ea"/>
              </a:rPr>
              <a:t>还是</a:t>
            </a:r>
            <a:r>
              <a:rPr lang="zh-CN" altLang="en-US" sz="2000" dirty="0">
                <a:solidFill>
                  <a:srgbClr val="FF0000"/>
                </a:solidFill>
                <a:latin typeface="+mn-ea"/>
                <a:ea typeface="+mn-ea"/>
              </a:rPr>
              <a:t>雨</a:t>
            </a:r>
            <a:r>
              <a:rPr lang="zh-CN" altLang="en-US" sz="2000" dirty="0">
                <a:latin typeface="+mn-ea"/>
                <a:ea typeface="+mn-ea"/>
              </a:rPr>
              <a:t>，是一个分类任务</a:t>
            </a:r>
          </a:p>
        </p:txBody>
      </p:sp>
      <p:cxnSp>
        <p:nvCxnSpPr>
          <p:cNvPr id="10" name="直接箭头连接符 9"/>
          <p:cNvCxnSpPr>
            <a:endCxn id="12" idx="1"/>
          </p:cNvCxnSpPr>
          <p:nvPr/>
        </p:nvCxnSpPr>
        <p:spPr>
          <a:xfrm>
            <a:off x="5545138" y="4272657"/>
            <a:ext cx="1303337" cy="6350"/>
          </a:xfrm>
          <a:prstGeom prst="straightConnector1">
            <a:avLst/>
          </a:prstGeom>
          <a:ln w="28575">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848475" y="3888482"/>
            <a:ext cx="2794000" cy="779462"/>
          </a:xfrm>
          <a:prstGeom prst="rect">
            <a:avLst/>
          </a:prstGeom>
          <a:ln>
            <a:solidFill>
              <a:schemeClr val="accent6">
                <a:lumMod val="75000"/>
              </a:schemeClr>
            </a:solidFill>
          </a:ln>
        </p:spPr>
        <p:txBody>
          <a:bodyPr>
            <a:spAutoFit/>
          </a:bodyPr>
          <a:lstStyle/>
          <a:p>
            <a:pPr eaLnBrk="1" hangingPunct="1">
              <a:defRPr/>
            </a:pPr>
            <a:r>
              <a:rPr lang="zh-CN" altLang="en-US" sz="2000" dirty="0">
                <a:latin typeface="+mn-ea"/>
                <a:ea typeface="+mn-ea"/>
              </a:rPr>
              <a:t>预测明天的</a:t>
            </a:r>
            <a:r>
              <a:rPr lang="zh-CN" altLang="en-US" sz="2000" dirty="0">
                <a:solidFill>
                  <a:srgbClr val="FF0000"/>
                </a:solidFill>
                <a:latin typeface="+mn-ea"/>
                <a:ea typeface="+mn-ea"/>
              </a:rPr>
              <a:t>气温</a:t>
            </a:r>
            <a:r>
              <a:rPr lang="zh-CN" altLang="en-US" sz="2000" dirty="0">
                <a:latin typeface="+mn-ea"/>
                <a:ea typeface="+mn-ea"/>
              </a:rPr>
              <a:t>是多少度，是一个回归任务</a:t>
            </a:r>
          </a:p>
        </p:txBody>
      </p:sp>
      <p:sp>
        <p:nvSpPr>
          <p:cNvPr id="48" name="圆角矩形 47"/>
          <p:cNvSpPr/>
          <p:nvPr/>
        </p:nvSpPr>
        <p:spPr>
          <a:xfrm>
            <a:off x="1008187" y="2716213"/>
            <a:ext cx="4536951" cy="334962"/>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0" name="圆角矩形 49"/>
          <p:cNvSpPr/>
          <p:nvPr/>
        </p:nvSpPr>
        <p:spPr>
          <a:xfrm>
            <a:off x="1008187" y="3541712"/>
            <a:ext cx="4536951" cy="1498897"/>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2" grpId="0" bldLvl="0" animBg="1"/>
      <p:bldP spid="48" grpId="0" animBg="1"/>
      <p:bldP spid="5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54275" name="灯片编号占位符 3"/>
          <p:cNvSpPr>
            <a:spLocks noGrp="1"/>
          </p:cNvSpPr>
          <p:nvPr>
            <p:ph type="sldNum" sz="quarter" idx="10"/>
          </p:nvPr>
        </p:nvSpPr>
        <p:spPr bwMode="auto">
          <a:xfrm>
            <a:off x="8351838" y="6960691"/>
            <a:ext cx="2520950" cy="384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2E2E8313-BDF6-4587-8B2D-D0828B643725}" type="slidenum">
              <a:rPr lang="en-US" altLang="zh-CN" sz="1400" smtClean="0">
                <a:solidFill>
                  <a:srgbClr val="898989"/>
                </a:solidFill>
                <a:latin typeface="Verdana" panose="020B0604030504040204" pitchFamily="34" charset="0"/>
              </a:rPr>
              <a:t>23</a:t>
            </a:fld>
            <a:endParaRPr lang="en-US" altLang="zh-CN" sz="1400" dirty="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3</a:t>
            </a:r>
            <a:r>
              <a:rPr lang="zh-CN" altLang="en-US" sz="2800" b="1" dirty="0">
                <a:solidFill>
                  <a:srgbClr val="0070C0"/>
                </a:solidFill>
                <a:latin typeface="+mn-ea"/>
                <a:ea typeface="+mn-ea"/>
              </a:rPr>
              <a:t>、用于预测分析的分类和回归</a:t>
            </a:r>
            <a:endParaRPr lang="en-US" altLang="zh-CN" sz="2800" b="1" dirty="0">
              <a:solidFill>
                <a:srgbClr val="0070C0"/>
              </a:solidFill>
              <a:latin typeface="+mn-ea"/>
              <a:ea typeface="+mn-ea"/>
            </a:endParaRPr>
          </a:p>
        </p:txBody>
      </p:sp>
      <p:sp>
        <p:nvSpPr>
          <p:cNvPr id="6" name="矩形 5"/>
          <p:cNvSpPr/>
          <p:nvPr/>
        </p:nvSpPr>
        <p:spPr>
          <a:xfrm>
            <a:off x="863600" y="1935163"/>
            <a:ext cx="4224338" cy="3538537"/>
          </a:xfrm>
          <a:prstGeom prst="rect">
            <a:avLst/>
          </a:prstGeom>
          <a:ln>
            <a:solidFill>
              <a:srgbClr val="00B0F0"/>
            </a:solidFill>
          </a:ln>
        </p:spPr>
        <p:txBody>
          <a:bodyPr>
            <a:spAutoFit/>
          </a:bodyPr>
          <a:lstStyle/>
          <a:p>
            <a:pPr eaLnBrk="1" hangingPunct="1">
              <a:defRPr/>
            </a:pPr>
            <a:r>
              <a:rPr lang="zh-CN" altLang="en-US" sz="2400" b="1" dirty="0">
                <a:latin typeface="+mn-ea"/>
                <a:ea typeface="+mn-ea"/>
              </a:rPr>
              <a:t>分类：</a:t>
            </a:r>
            <a:endParaRPr lang="en-US" altLang="zh-CN" sz="2400" b="1" dirty="0">
              <a:latin typeface="+mn-ea"/>
              <a:ea typeface="+mn-ea"/>
            </a:endParaRPr>
          </a:p>
          <a:p>
            <a:pPr marL="342900" indent="-342900" eaLnBrk="1" hangingPunct="1">
              <a:buFont typeface="Arial" panose="020B0604020202020204" pitchFamily="34" charset="0"/>
              <a:buChar char="•"/>
              <a:defRPr/>
            </a:pPr>
            <a:r>
              <a:rPr lang="zh-CN" altLang="en-US" sz="2000" dirty="0">
                <a:latin typeface="+mn-ea"/>
                <a:ea typeface="+mn-ea"/>
              </a:rPr>
              <a:t>输出是</a:t>
            </a:r>
            <a:r>
              <a:rPr lang="zh-CN" altLang="en-US" sz="2000" dirty="0">
                <a:solidFill>
                  <a:srgbClr val="FF0000"/>
                </a:solidFill>
                <a:latin typeface="+mn-ea"/>
                <a:ea typeface="+mn-ea"/>
              </a:rPr>
              <a:t>离散的或定性的</a:t>
            </a:r>
            <a:endParaRPr lang="en-US" altLang="zh-CN" sz="2000" dirty="0">
              <a:solidFill>
                <a:srgbClr val="FF0000"/>
              </a:solidFill>
              <a:latin typeface="+mn-ea"/>
              <a:ea typeface="+mn-ea"/>
            </a:endParaRPr>
          </a:p>
          <a:p>
            <a:pPr marL="342900" indent="-342900" eaLnBrk="1" hangingPunct="1">
              <a:buFont typeface="Arial" panose="020B0604020202020204" pitchFamily="34" charset="0"/>
              <a:buChar char="•"/>
              <a:defRPr/>
            </a:pPr>
            <a:r>
              <a:rPr lang="zh-CN" altLang="en-US" sz="2000" dirty="0">
                <a:latin typeface="+mn-ea"/>
                <a:ea typeface="+mn-ea"/>
              </a:rPr>
              <a:t>分类算法得到是一个决策面，用于对数据集中的数据进行分类。</a:t>
            </a: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eaLnBrk="1" hangingPunct="1">
              <a:defRPr/>
            </a:pPr>
            <a:endParaRPr lang="zh-CN" altLang="en-US" sz="2000" dirty="0">
              <a:latin typeface="+mn-ea"/>
              <a:ea typeface="+mn-ea"/>
            </a:endParaRPr>
          </a:p>
        </p:txBody>
      </p:sp>
      <p:sp>
        <p:nvSpPr>
          <p:cNvPr id="12" name="矩形 11"/>
          <p:cNvSpPr/>
          <p:nvPr/>
        </p:nvSpPr>
        <p:spPr>
          <a:xfrm>
            <a:off x="6048375" y="1944688"/>
            <a:ext cx="3960813" cy="3538537"/>
          </a:xfrm>
          <a:prstGeom prst="rect">
            <a:avLst/>
          </a:prstGeom>
          <a:ln>
            <a:solidFill>
              <a:schemeClr val="accent6">
                <a:lumMod val="75000"/>
              </a:schemeClr>
            </a:solidFill>
          </a:ln>
        </p:spPr>
        <p:txBody>
          <a:bodyPr>
            <a:spAutoFit/>
          </a:bodyPr>
          <a:lstStyle/>
          <a:p>
            <a:pPr eaLnBrk="1" hangingPunct="1">
              <a:defRPr/>
            </a:pPr>
            <a:r>
              <a:rPr lang="zh-CN" altLang="en-US" sz="2400" b="1" dirty="0">
                <a:latin typeface="+mn-ea"/>
                <a:ea typeface="+mn-ea"/>
              </a:rPr>
              <a:t>回归：</a:t>
            </a:r>
            <a:endParaRPr lang="en-US" altLang="zh-CN" sz="2400" b="1" dirty="0">
              <a:latin typeface="+mn-ea"/>
              <a:ea typeface="+mn-ea"/>
            </a:endParaRPr>
          </a:p>
          <a:p>
            <a:pPr marL="342900" indent="-342900" eaLnBrk="1" hangingPunct="1">
              <a:buFont typeface="Arial" panose="020B0604020202020204" pitchFamily="34" charset="0"/>
              <a:buChar char="•"/>
              <a:defRPr/>
            </a:pPr>
            <a:r>
              <a:rPr lang="zh-CN" altLang="en-US" sz="2000" dirty="0">
                <a:latin typeface="+mn-ea"/>
                <a:ea typeface="+mn-ea"/>
              </a:rPr>
              <a:t>输出是</a:t>
            </a:r>
            <a:r>
              <a:rPr lang="zh-CN" altLang="en-US" sz="2000" dirty="0">
                <a:solidFill>
                  <a:srgbClr val="FF0000"/>
                </a:solidFill>
                <a:latin typeface="+mn-ea"/>
                <a:ea typeface="+mn-ea"/>
              </a:rPr>
              <a:t>连续的或定量的</a:t>
            </a:r>
            <a:endParaRPr lang="en-US" altLang="zh-CN" sz="2000" dirty="0">
              <a:solidFill>
                <a:srgbClr val="FF0000"/>
              </a:solidFill>
              <a:latin typeface="+mn-ea"/>
              <a:ea typeface="+mn-ea"/>
            </a:endParaRPr>
          </a:p>
          <a:p>
            <a:pPr marL="342900" indent="-342900" eaLnBrk="1" hangingPunct="1">
              <a:buFont typeface="Arial" panose="020B0604020202020204" pitchFamily="34" charset="0"/>
              <a:buChar char="•"/>
              <a:defRPr/>
            </a:pPr>
            <a:r>
              <a:rPr lang="zh-CN" altLang="en-US" sz="2000" dirty="0">
                <a:latin typeface="+mn-ea"/>
                <a:ea typeface="+mn-ea"/>
              </a:rPr>
              <a:t>回归算法得到是一个最优拟合线，这个线条可以最好的接近数据集中的各个点。</a:t>
            </a: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a:p>
            <a:pPr marL="342900" indent="-342900" eaLnBrk="1" hangingPunct="1">
              <a:buFont typeface="Arial" panose="020B0604020202020204" pitchFamily="34" charset="0"/>
              <a:buChar char="•"/>
              <a:defRPr/>
            </a:pPr>
            <a:endParaRPr lang="en-US" altLang="zh-CN" sz="2000" dirty="0">
              <a:latin typeface="+mn-ea"/>
              <a:ea typeface="+mn-ea"/>
            </a:endParaRPr>
          </a:p>
        </p:txBody>
      </p:sp>
      <p:pic>
        <p:nvPicPr>
          <p:cNvPr id="552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550" y="3625850"/>
            <a:ext cx="2205038" cy="184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 name="图片 4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71663" y="3795713"/>
            <a:ext cx="2192337"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992438" y="5589588"/>
            <a:ext cx="5109091" cy="461665"/>
          </a:xfrm>
          <a:prstGeom prst="rect">
            <a:avLst/>
          </a:prstGeom>
        </p:spPr>
        <p:txBody>
          <a:bodyPr wrap="none">
            <a:spAutoFit/>
          </a:bodyPr>
          <a:lstStyle/>
          <a:p>
            <a:pPr eaLnBrk="1" hangingPunct="1">
              <a:defRPr/>
            </a:pPr>
            <a:r>
              <a:rPr lang="zh-CN" altLang="en-US" sz="2400" dirty="0">
                <a:solidFill>
                  <a:srgbClr val="FF0000"/>
                </a:solidFill>
                <a:latin typeface="+mn-ea"/>
                <a:ea typeface="+mn-ea"/>
              </a:rPr>
              <a:t>根据训练样本找到一个决策函数</a:t>
            </a:r>
            <a:r>
              <a:rPr lang="en-US" altLang="zh-CN" sz="2400" dirty="0">
                <a:solidFill>
                  <a:srgbClr val="FF0000"/>
                </a:solidFill>
                <a:latin typeface="+mn-ea"/>
                <a:ea typeface="+mn-ea"/>
              </a:rPr>
              <a:t>f(x)</a:t>
            </a:r>
            <a:endParaRPr lang="zh-CN" altLang="en-US" sz="2400" dirty="0">
              <a:solidFill>
                <a:srgbClr val="FF0000"/>
              </a:solidFill>
              <a:latin typeface="+mn-ea"/>
              <a:ea typeface="+mn-ea"/>
            </a:endParaRPr>
          </a:p>
        </p:txBody>
      </p:sp>
      <p:sp>
        <p:nvSpPr>
          <p:cNvPr id="8" name="矩形 7"/>
          <p:cNvSpPr/>
          <p:nvPr/>
        </p:nvSpPr>
        <p:spPr>
          <a:xfrm>
            <a:off x="6048375" y="6092825"/>
            <a:ext cx="4537075" cy="923925"/>
          </a:xfrm>
          <a:prstGeom prst="rect">
            <a:avLst/>
          </a:prstGeom>
          <a:ln>
            <a:solidFill>
              <a:schemeClr val="accent6">
                <a:lumMod val="75000"/>
              </a:schemeClr>
            </a:solidFill>
          </a:ln>
        </p:spPr>
        <p:txBody>
          <a:bodyPr>
            <a:spAutoFit/>
          </a:bodyPr>
          <a:lstStyle/>
          <a:p>
            <a:pPr eaLnBrk="1" hangingPunct="1">
              <a:defRPr/>
            </a:pPr>
            <a:r>
              <a:rPr lang="zh-CN" altLang="en-US" dirty="0">
                <a:latin typeface="+mn-ea"/>
                <a:ea typeface="+mn-ea"/>
              </a:rPr>
              <a:t>给定一个新的模式，根据训练集推断它所对应的输出</a:t>
            </a:r>
            <a:r>
              <a:rPr lang="en-US" altLang="zh-CN" dirty="0">
                <a:latin typeface="+mn-ea"/>
                <a:ea typeface="+mn-ea"/>
              </a:rPr>
              <a:t>y</a:t>
            </a:r>
            <a:r>
              <a:rPr lang="zh-CN" altLang="en-US" dirty="0">
                <a:latin typeface="+mn-ea"/>
                <a:ea typeface="+mn-ea"/>
              </a:rPr>
              <a:t>（实数）是多少。也就是使用</a:t>
            </a:r>
            <a:r>
              <a:rPr lang="en-US" altLang="zh-CN" b="1" dirty="0">
                <a:solidFill>
                  <a:srgbClr val="FF0000"/>
                </a:solidFill>
                <a:latin typeface="+mn-ea"/>
                <a:ea typeface="+mn-ea"/>
              </a:rPr>
              <a:t>y=f(x)</a:t>
            </a:r>
            <a:r>
              <a:rPr lang="zh-CN" altLang="en-US" dirty="0">
                <a:latin typeface="+mn-ea"/>
                <a:ea typeface="+mn-ea"/>
              </a:rPr>
              <a:t>来推断任一输入</a:t>
            </a:r>
            <a:r>
              <a:rPr lang="en-US" altLang="zh-CN" dirty="0">
                <a:latin typeface="+mn-ea"/>
                <a:ea typeface="+mn-ea"/>
              </a:rPr>
              <a:t>x</a:t>
            </a:r>
            <a:r>
              <a:rPr lang="zh-CN" altLang="en-US" dirty="0">
                <a:latin typeface="+mn-ea"/>
                <a:ea typeface="+mn-ea"/>
              </a:rPr>
              <a:t>所对应的输出值。</a:t>
            </a:r>
          </a:p>
        </p:txBody>
      </p:sp>
      <p:sp>
        <p:nvSpPr>
          <p:cNvPr id="9" name="矩形 8"/>
          <p:cNvSpPr/>
          <p:nvPr/>
        </p:nvSpPr>
        <p:spPr>
          <a:xfrm>
            <a:off x="287338" y="6092825"/>
            <a:ext cx="4800600" cy="923925"/>
          </a:xfrm>
          <a:prstGeom prst="rect">
            <a:avLst/>
          </a:prstGeom>
          <a:ln>
            <a:solidFill>
              <a:srgbClr val="00B0F0"/>
            </a:solidFill>
          </a:ln>
        </p:spPr>
        <p:txBody>
          <a:bodyPr>
            <a:spAutoFit/>
          </a:bodyPr>
          <a:lstStyle/>
          <a:p>
            <a:pPr eaLnBrk="1" hangingPunct="1">
              <a:defRPr/>
            </a:pPr>
            <a:r>
              <a:rPr lang="zh-CN" altLang="en-US" dirty="0">
                <a:latin typeface="+mn-ea"/>
                <a:ea typeface="+mn-ea"/>
              </a:rPr>
              <a:t>给定一个新的模式，根据训练集推断它所对应的类别（如：</a:t>
            </a:r>
            <a:r>
              <a:rPr lang="en-US" altLang="zh-CN" dirty="0">
                <a:latin typeface="+mn-ea"/>
                <a:ea typeface="+mn-ea"/>
              </a:rPr>
              <a:t>+1</a:t>
            </a:r>
            <a:r>
              <a:rPr lang="zh-CN" altLang="en-US" dirty="0">
                <a:latin typeface="+mn-ea"/>
                <a:ea typeface="+mn-ea"/>
              </a:rPr>
              <a:t>，</a:t>
            </a:r>
            <a:r>
              <a:rPr lang="en-US" altLang="zh-CN" dirty="0">
                <a:latin typeface="+mn-ea"/>
                <a:ea typeface="+mn-ea"/>
              </a:rPr>
              <a:t>-1</a:t>
            </a:r>
            <a:r>
              <a:rPr lang="zh-CN" altLang="en-US" dirty="0">
                <a:latin typeface="+mn-ea"/>
                <a:ea typeface="+mn-ea"/>
              </a:rPr>
              <a:t>）。也就是使用</a:t>
            </a:r>
            <a:r>
              <a:rPr lang="en-US" altLang="zh-CN" b="1" dirty="0">
                <a:solidFill>
                  <a:srgbClr val="FF0000"/>
                </a:solidFill>
                <a:latin typeface="+mn-ea"/>
                <a:ea typeface="+mn-ea"/>
              </a:rPr>
              <a:t>y=sign(f(x))</a:t>
            </a:r>
            <a:r>
              <a:rPr lang="zh-CN" altLang="en-US" dirty="0">
                <a:latin typeface="+mn-ea"/>
                <a:ea typeface="+mn-ea"/>
              </a:rPr>
              <a:t>来推断任一输入</a:t>
            </a:r>
            <a:r>
              <a:rPr lang="en-US" altLang="zh-CN" dirty="0">
                <a:latin typeface="+mn-ea"/>
                <a:ea typeface="+mn-ea"/>
              </a:rPr>
              <a:t>x</a:t>
            </a:r>
            <a:r>
              <a:rPr lang="zh-CN" altLang="en-US" dirty="0">
                <a:latin typeface="+mn-ea"/>
                <a:ea typeface="+mn-ea"/>
              </a:rPr>
              <a:t>所对应的类别。</a:t>
            </a:r>
          </a:p>
        </p:txBody>
      </p:sp>
      <p:sp>
        <p:nvSpPr>
          <p:cNvPr id="53" name="矩形 52"/>
          <p:cNvSpPr/>
          <p:nvPr/>
        </p:nvSpPr>
        <p:spPr>
          <a:xfrm>
            <a:off x="5688013" y="1309688"/>
            <a:ext cx="5027612" cy="431800"/>
          </a:xfrm>
          <a:prstGeom prst="rect">
            <a:avLst/>
          </a:prstGeom>
          <a:solidFill>
            <a:schemeClr val="accent6">
              <a:lumMod val="40000"/>
              <a:lumOff val="60000"/>
            </a:schemeClr>
          </a:solidFill>
          <a:ln>
            <a:noFill/>
          </a:ln>
        </p:spPr>
        <p:txBody>
          <a:bodyPr>
            <a:spAutoFit/>
          </a:bodyPr>
          <a:lstStyle/>
          <a:p>
            <a:pPr algn="ctr" eaLnBrk="1" hangingPunct="1">
              <a:defRPr/>
            </a:pPr>
            <a:r>
              <a:rPr lang="zh-CN" altLang="en-US" sz="2200" dirty="0">
                <a:latin typeface="+mn-ea"/>
                <a:ea typeface="+mn-ea"/>
              </a:rPr>
              <a:t>模型：决策树，朴素贝叶斯，</a:t>
            </a:r>
            <a:r>
              <a:rPr lang="en-US" altLang="zh-CN" sz="2200" dirty="0">
                <a:latin typeface="+mn-ea"/>
                <a:ea typeface="+mn-ea"/>
              </a:rPr>
              <a:t>SVM……</a:t>
            </a:r>
            <a:endParaRPr lang="zh-CN" altLang="en-US" sz="22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2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5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56323"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F29DE0CA-EE31-474F-9FDF-193D4BE0D685}" type="slidenum">
              <a:rPr lang="en-US" altLang="zh-CN" sz="1400" smtClean="0">
                <a:solidFill>
                  <a:srgbClr val="898989"/>
                </a:solidFill>
                <a:latin typeface="Verdana" panose="020B0604030504040204" pitchFamily="34" charset="0"/>
              </a:rPr>
              <a:t>24</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577387"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4</a:t>
            </a:r>
            <a:r>
              <a:rPr lang="zh-CN" altLang="en-US" sz="2800" b="1" dirty="0">
                <a:solidFill>
                  <a:srgbClr val="0070C0"/>
                </a:solidFill>
                <a:latin typeface="+mn-ea"/>
                <a:ea typeface="+mn-ea"/>
              </a:rPr>
              <a:t>、聚类分析</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zh-CN" altLang="en-US" sz="2400" dirty="0">
                <a:latin typeface="+mn-ea"/>
                <a:ea typeface="+mn-ea"/>
              </a:rPr>
              <a:t>一开始并不存在标记类的数据，采用聚类分析后可以产生数据群组的类标号。</a:t>
            </a:r>
            <a:endParaRPr lang="en-US" altLang="zh-CN" sz="2400" dirty="0">
              <a:latin typeface="+mn-ea"/>
              <a:ea typeface="+mn-ea"/>
            </a:endParaRPr>
          </a:p>
          <a:p>
            <a:pPr marL="0" indent="0" eaLnBrk="1" hangingPunct="1">
              <a:buFont typeface="Arial" panose="020B0604020202020204" pitchFamily="34" charset="0"/>
              <a:buNone/>
              <a:defRPr/>
            </a:pPr>
            <a:r>
              <a:rPr lang="zh-CN" altLang="en-US" sz="2400" dirty="0">
                <a:latin typeface="+mn-ea"/>
                <a:ea typeface="+mn-ea"/>
              </a:rPr>
              <a:t>聚类的</a:t>
            </a:r>
            <a:r>
              <a:rPr lang="zh-CN" altLang="en-US" sz="2400" b="1" dirty="0">
                <a:latin typeface="+mn-ea"/>
                <a:ea typeface="+mn-ea"/>
              </a:rPr>
              <a:t>原则</a:t>
            </a:r>
            <a:r>
              <a:rPr lang="zh-CN" altLang="en-US" sz="2400" dirty="0">
                <a:latin typeface="+mn-ea"/>
                <a:ea typeface="+mn-ea"/>
              </a:rPr>
              <a:t>：</a:t>
            </a:r>
            <a:r>
              <a:rPr lang="zh-CN" altLang="en-US" sz="2400" dirty="0">
                <a:solidFill>
                  <a:srgbClr val="FF0000"/>
                </a:solidFill>
                <a:latin typeface="+mn-ea"/>
                <a:ea typeface="+mn-ea"/>
              </a:rPr>
              <a:t>最大化类内相似性，最小化类间相似性。</a:t>
            </a:r>
            <a:endParaRPr lang="en-GB" altLang="zh-CN" sz="1800" dirty="0">
              <a:solidFill>
                <a:srgbClr val="FF0000"/>
              </a:solidFill>
              <a:latin typeface="+mn-ea"/>
              <a:ea typeface="+mn-ea"/>
            </a:endParaRPr>
          </a:p>
        </p:txBody>
      </p:sp>
      <p:grpSp>
        <p:nvGrpSpPr>
          <p:cNvPr id="6" name="组合 3"/>
          <p:cNvGrpSpPr/>
          <p:nvPr/>
        </p:nvGrpSpPr>
        <p:grpSpPr bwMode="auto">
          <a:xfrm>
            <a:off x="20638" y="3746500"/>
            <a:ext cx="6696075" cy="2905125"/>
            <a:chOff x="641056" y="3501008"/>
            <a:chExt cx="7459336" cy="2945403"/>
          </a:xfrm>
        </p:grpSpPr>
        <p:grpSp>
          <p:nvGrpSpPr>
            <p:cNvPr id="56328" name="组合 4"/>
            <p:cNvGrpSpPr/>
            <p:nvPr/>
          </p:nvGrpSpPr>
          <p:grpSpPr bwMode="auto">
            <a:xfrm>
              <a:off x="899592" y="3501008"/>
              <a:ext cx="4235456" cy="504056"/>
              <a:chOff x="899592" y="3501008"/>
              <a:chExt cx="4235456" cy="504056"/>
            </a:xfrm>
          </p:grpSpPr>
          <p:sp>
            <p:nvSpPr>
              <p:cNvPr id="38" name="圆角矩形 37"/>
              <p:cNvSpPr/>
              <p:nvPr/>
            </p:nvSpPr>
            <p:spPr>
              <a:xfrm>
                <a:off x="899250" y="3501008"/>
                <a:ext cx="1008018" cy="503777"/>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39" name="圆角矩形 38"/>
              <p:cNvSpPr/>
              <p:nvPr/>
            </p:nvSpPr>
            <p:spPr>
              <a:xfrm>
                <a:off x="2934739" y="3501008"/>
                <a:ext cx="1008018" cy="503777"/>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40" name="圆角矩形 39"/>
              <p:cNvSpPr/>
              <p:nvPr/>
            </p:nvSpPr>
            <p:spPr>
              <a:xfrm>
                <a:off x="1916110" y="3501008"/>
                <a:ext cx="1008018" cy="50377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1" name="圆角矩形 40"/>
              <p:cNvSpPr/>
              <p:nvPr/>
            </p:nvSpPr>
            <p:spPr>
              <a:xfrm>
                <a:off x="3852567" y="3501008"/>
                <a:ext cx="339543" cy="50377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42" name="圆角矩形 41"/>
              <p:cNvSpPr/>
              <p:nvPr/>
            </p:nvSpPr>
            <p:spPr>
              <a:xfrm>
                <a:off x="4126677" y="3501008"/>
                <a:ext cx="1008018" cy="503777"/>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grpSp>
          <p:nvGrpSpPr>
            <p:cNvPr id="56329" name="组合 5"/>
            <p:cNvGrpSpPr/>
            <p:nvPr/>
          </p:nvGrpSpPr>
          <p:grpSpPr bwMode="auto">
            <a:xfrm>
              <a:off x="899592" y="4091820"/>
              <a:ext cx="4235456" cy="504056"/>
              <a:chOff x="899592" y="3501008"/>
              <a:chExt cx="4235456" cy="504056"/>
            </a:xfrm>
          </p:grpSpPr>
          <p:sp>
            <p:nvSpPr>
              <p:cNvPr id="33" name="圆角矩形 32"/>
              <p:cNvSpPr/>
              <p:nvPr/>
            </p:nvSpPr>
            <p:spPr>
              <a:xfrm>
                <a:off x="899250" y="3500886"/>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34" name="圆角矩形 33"/>
              <p:cNvSpPr/>
              <p:nvPr/>
            </p:nvSpPr>
            <p:spPr>
              <a:xfrm>
                <a:off x="2934739" y="3500886"/>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35" name="圆角矩形 34"/>
              <p:cNvSpPr/>
              <p:nvPr/>
            </p:nvSpPr>
            <p:spPr>
              <a:xfrm>
                <a:off x="1916110" y="3500886"/>
                <a:ext cx="1008018"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6" name="圆角矩形 35"/>
              <p:cNvSpPr/>
              <p:nvPr/>
            </p:nvSpPr>
            <p:spPr>
              <a:xfrm>
                <a:off x="3852567" y="3500886"/>
                <a:ext cx="339543"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7" name="圆角矩形 36"/>
              <p:cNvSpPr/>
              <p:nvPr/>
            </p:nvSpPr>
            <p:spPr>
              <a:xfrm>
                <a:off x="4126677" y="3500886"/>
                <a:ext cx="1008018" cy="50377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grpSp>
          <p:nvGrpSpPr>
            <p:cNvPr id="56330" name="组合 6"/>
            <p:cNvGrpSpPr/>
            <p:nvPr/>
          </p:nvGrpSpPr>
          <p:grpSpPr bwMode="auto">
            <a:xfrm>
              <a:off x="912608" y="4653136"/>
              <a:ext cx="4235456" cy="504056"/>
              <a:chOff x="899592" y="3501008"/>
              <a:chExt cx="4235456" cy="504056"/>
            </a:xfrm>
          </p:grpSpPr>
          <p:sp>
            <p:nvSpPr>
              <p:cNvPr id="28" name="圆角矩形 27"/>
              <p:cNvSpPr/>
              <p:nvPr/>
            </p:nvSpPr>
            <p:spPr>
              <a:xfrm>
                <a:off x="900382" y="3501289"/>
                <a:ext cx="1008018" cy="503777"/>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29" name="圆角矩形 28"/>
              <p:cNvSpPr/>
              <p:nvPr/>
            </p:nvSpPr>
            <p:spPr>
              <a:xfrm>
                <a:off x="2935871" y="3501289"/>
                <a:ext cx="1008018" cy="503777"/>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30" name="圆角矩形 29"/>
              <p:cNvSpPr/>
              <p:nvPr/>
            </p:nvSpPr>
            <p:spPr>
              <a:xfrm>
                <a:off x="1915474" y="3501289"/>
                <a:ext cx="1008018" cy="50377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1" name="圆角矩形 30"/>
              <p:cNvSpPr/>
              <p:nvPr/>
            </p:nvSpPr>
            <p:spPr>
              <a:xfrm>
                <a:off x="3853699" y="3501289"/>
                <a:ext cx="339543" cy="50377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32" name="圆角矩形 31"/>
              <p:cNvSpPr/>
              <p:nvPr/>
            </p:nvSpPr>
            <p:spPr>
              <a:xfrm>
                <a:off x="4127808" y="3501289"/>
                <a:ext cx="1008018" cy="503777"/>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cxnSp>
          <p:nvCxnSpPr>
            <p:cNvPr id="12" name="直接连接符 11"/>
            <p:cNvCxnSpPr/>
            <p:nvPr/>
          </p:nvCxnSpPr>
          <p:spPr>
            <a:xfrm>
              <a:off x="641056" y="5273079"/>
              <a:ext cx="4753602" cy="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grpSp>
          <p:nvGrpSpPr>
            <p:cNvPr id="56332" name="组合 8"/>
            <p:cNvGrpSpPr/>
            <p:nvPr/>
          </p:nvGrpSpPr>
          <p:grpSpPr bwMode="auto">
            <a:xfrm>
              <a:off x="899592" y="5386232"/>
              <a:ext cx="4235456" cy="504056"/>
              <a:chOff x="899592" y="3501008"/>
              <a:chExt cx="4235456" cy="504056"/>
            </a:xfrm>
          </p:grpSpPr>
          <p:sp>
            <p:nvSpPr>
              <p:cNvPr id="23" name="圆角矩形 22"/>
              <p:cNvSpPr/>
              <p:nvPr/>
            </p:nvSpPr>
            <p:spPr>
              <a:xfrm>
                <a:off x="899250" y="3500520"/>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24" name="圆角矩形 23"/>
              <p:cNvSpPr/>
              <p:nvPr/>
            </p:nvSpPr>
            <p:spPr>
              <a:xfrm>
                <a:off x="2934739" y="3500520"/>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25" name="圆角矩形 24"/>
              <p:cNvSpPr/>
              <p:nvPr/>
            </p:nvSpPr>
            <p:spPr>
              <a:xfrm>
                <a:off x="1916110" y="3500520"/>
                <a:ext cx="1008018"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6" name="圆角矩形 25"/>
              <p:cNvSpPr/>
              <p:nvPr/>
            </p:nvSpPr>
            <p:spPr>
              <a:xfrm>
                <a:off x="3852567" y="3500520"/>
                <a:ext cx="339543"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7" name="圆角矩形 26"/>
              <p:cNvSpPr/>
              <p:nvPr/>
            </p:nvSpPr>
            <p:spPr>
              <a:xfrm>
                <a:off x="4126677" y="3500520"/>
                <a:ext cx="1008018" cy="50377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grpSp>
          <p:nvGrpSpPr>
            <p:cNvPr id="56333" name="组合 9"/>
            <p:cNvGrpSpPr/>
            <p:nvPr/>
          </p:nvGrpSpPr>
          <p:grpSpPr bwMode="auto">
            <a:xfrm>
              <a:off x="899592" y="5942355"/>
              <a:ext cx="4235456" cy="504056"/>
              <a:chOff x="899592" y="3501008"/>
              <a:chExt cx="4235456" cy="504056"/>
            </a:xfrm>
          </p:grpSpPr>
          <p:sp>
            <p:nvSpPr>
              <p:cNvPr id="18" name="圆角矩形 17"/>
              <p:cNvSpPr/>
              <p:nvPr/>
            </p:nvSpPr>
            <p:spPr>
              <a:xfrm>
                <a:off x="899250" y="3501288"/>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1</a:t>
                </a:r>
                <a:endParaRPr lang="zh-CN" altLang="en-US" dirty="0">
                  <a:solidFill>
                    <a:schemeClr val="tx1"/>
                  </a:solidFill>
                </a:endParaRPr>
              </a:p>
            </p:txBody>
          </p:sp>
          <p:sp>
            <p:nvSpPr>
              <p:cNvPr id="19" name="圆角矩形 18"/>
              <p:cNvSpPr/>
              <p:nvPr/>
            </p:nvSpPr>
            <p:spPr>
              <a:xfrm>
                <a:off x="2934739" y="3501288"/>
                <a:ext cx="1008018" cy="503776"/>
              </a:xfrm>
              <a:prstGeom prst="roundRect">
                <a:avLst/>
              </a:prstGeom>
              <a:solidFill>
                <a:schemeClr val="accent2">
                  <a:lumMod val="40000"/>
                  <a:lumOff val="60000"/>
                </a:schemeClr>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特征</a:t>
                </a:r>
                <a:r>
                  <a:rPr lang="en-US" altLang="zh-CN" dirty="0">
                    <a:solidFill>
                      <a:schemeClr val="tx1"/>
                    </a:solidFill>
                  </a:rPr>
                  <a:t>n</a:t>
                </a:r>
                <a:endParaRPr lang="zh-CN" altLang="en-US" dirty="0">
                  <a:solidFill>
                    <a:schemeClr val="tx1"/>
                  </a:solidFill>
                </a:endParaRPr>
              </a:p>
            </p:txBody>
          </p:sp>
          <p:sp>
            <p:nvSpPr>
              <p:cNvPr id="20" name="圆角矩形 19"/>
              <p:cNvSpPr/>
              <p:nvPr/>
            </p:nvSpPr>
            <p:spPr>
              <a:xfrm>
                <a:off x="1916110" y="3501288"/>
                <a:ext cx="1008018"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1" name="圆角矩形 20"/>
              <p:cNvSpPr/>
              <p:nvPr/>
            </p:nvSpPr>
            <p:spPr>
              <a:xfrm>
                <a:off x="3852567" y="3501288"/>
                <a:ext cx="339543" cy="50377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dirty="0">
                    <a:solidFill>
                      <a:schemeClr val="tx1"/>
                    </a:solidFill>
                  </a:rPr>
                  <a:t>—</a:t>
                </a:r>
                <a:endParaRPr lang="zh-CN" altLang="en-US" dirty="0">
                  <a:solidFill>
                    <a:schemeClr val="tx1"/>
                  </a:solidFill>
                </a:endParaRPr>
              </a:p>
            </p:txBody>
          </p:sp>
          <p:sp>
            <p:nvSpPr>
              <p:cNvPr id="22" name="圆角矩形 21"/>
              <p:cNvSpPr/>
              <p:nvPr/>
            </p:nvSpPr>
            <p:spPr>
              <a:xfrm>
                <a:off x="4126677" y="3501288"/>
                <a:ext cx="1008018" cy="503776"/>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未知</a:t>
                </a:r>
              </a:p>
            </p:txBody>
          </p:sp>
        </p:grpSp>
        <p:sp>
          <p:nvSpPr>
            <p:cNvPr id="15" name="圆角矩形 14"/>
            <p:cNvSpPr/>
            <p:nvPr/>
          </p:nvSpPr>
          <p:spPr>
            <a:xfrm>
              <a:off x="5580345" y="4976929"/>
              <a:ext cx="2520047" cy="505386"/>
            </a:xfrm>
            <a:prstGeom prst="roundRect">
              <a:avLst/>
            </a:prstGeom>
            <a:solidFill>
              <a:srgbClr val="CC0099"/>
            </a:solidFill>
            <a:ln>
              <a:solidFill>
                <a:srgbClr val="FF99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bg1"/>
                  </a:solidFill>
                </a:rPr>
                <a:t>无监督学习算法</a:t>
              </a:r>
            </a:p>
          </p:txBody>
        </p:sp>
        <p:sp>
          <p:nvSpPr>
            <p:cNvPr id="16" name="圆角矩形 15"/>
            <p:cNvSpPr/>
            <p:nvPr/>
          </p:nvSpPr>
          <p:spPr>
            <a:xfrm>
              <a:off x="6155093" y="4091699"/>
              <a:ext cx="1008018" cy="503776"/>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dirty="0">
                  <a:solidFill>
                    <a:schemeClr val="tx1"/>
                  </a:solidFill>
                  <a:latin typeface="楷体" panose="02010609060101010101" pitchFamily="49" charset="-122"/>
                  <a:ea typeface="楷体" panose="02010609060101010101" pitchFamily="49" charset="-122"/>
                </a:rPr>
                <a:t>训练</a:t>
              </a:r>
            </a:p>
          </p:txBody>
        </p:sp>
        <p:sp>
          <p:nvSpPr>
            <p:cNvPr id="17" name="圆角矩形 16"/>
            <p:cNvSpPr/>
            <p:nvPr/>
          </p:nvSpPr>
          <p:spPr>
            <a:xfrm>
              <a:off x="6155093" y="5691551"/>
              <a:ext cx="1008018" cy="502167"/>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dirty="0">
                  <a:solidFill>
                    <a:schemeClr val="tx1"/>
                  </a:solidFill>
                  <a:latin typeface="楷体" panose="02010609060101010101" pitchFamily="49" charset="-122"/>
                  <a:ea typeface="楷体" panose="02010609060101010101" pitchFamily="49" charset="-122"/>
                </a:rPr>
                <a:t>预测</a:t>
              </a:r>
            </a:p>
          </p:txBody>
        </p:sp>
      </p:gr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7825" y="3729038"/>
            <a:ext cx="3865563" cy="302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4713288" y="1296988"/>
            <a:ext cx="4030662" cy="460375"/>
          </a:xfrm>
          <a:prstGeom prst="rect">
            <a:avLst/>
          </a:prstGeom>
          <a:solidFill>
            <a:schemeClr val="accent6">
              <a:lumMod val="60000"/>
              <a:lumOff val="40000"/>
            </a:schemeClr>
          </a:solidFill>
        </p:spPr>
        <p:txBody>
          <a:bodyPr wrap="none">
            <a:spAutoFit/>
          </a:bodyPr>
          <a:lstStyle/>
          <a:p>
            <a:pPr eaLnBrk="1" hangingPunct="1">
              <a:defRPr/>
            </a:pPr>
            <a:r>
              <a:rPr lang="zh-CN" altLang="en-US" sz="2400" dirty="0">
                <a:latin typeface="+mn-ea"/>
                <a:ea typeface="+mn-ea"/>
              </a:rPr>
              <a:t>模型：</a:t>
            </a:r>
            <a:r>
              <a:rPr lang="en-US" altLang="zh-CN" sz="2400" dirty="0">
                <a:latin typeface="+mn-ea"/>
                <a:ea typeface="+mn-ea"/>
              </a:rPr>
              <a:t>k-means</a:t>
            </a:r>
            <a:r>
              <a:rPr lang="zh-CN" altLang="en-US" sz="2400" dirty="0">
                <a:latin typeface="+mn-ea"/>
                <a:ea typeface="+mn-ea"/>
              </a:rPr>
              <a:t>，</a:t>
            </a:r>
            <a:r>
              <a:rPr lang="en-US" altLang="zh-CN" sz="2400" dirty="0">
                <a:latin typeface="+mn-ea"/>
                <a:ea typeface="+mn-ea"/>
              </a:rPr>
              <a:t>DBSCAN……</a:t>
            </a:r>
            <a:endParaRPr lang="zh-CN" altLang="en-US" sz="24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1.4 </a:t>
            </a:r>
            <a:r>
              <a:rPr lang="zh-CN" altLang="en-US" b="1" dirty="0"/>
              <a:t>可以挖掘什么类型的模式</a:t>
            </a:r>
            <a:endParaRPr lang="en-US" altLang="zh-CN" b="1" dirty="0"/>
          </a:p>
        </p:txBody>
      </p:sp>
      <p:sp>
        <p:nvSpPr>
          <p:cNvPr id="58371"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20E0C618-86A2-4191-93E2-D60B40F86906}" type="slidenum">
              <a:rPr lang="en-US" altLang="zh-CN" sz="1400" smtClean="0">
                <a:solidFill>
                  <a:srgbClr val="898989"/>
                </a:solidFill>
                <a:latin typeface="Verdana" panose="020B0604030504040204" pitchFamily="34" charset="0"/>
              </a:rPr>
              <a:t>25</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467995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en-US" altLang="zh-CN" sz="2800" b="1" dirty="0">
                <a:solidFill>
                  <a:srgbClr val="0070C0"/>
                </a:solidFill>
                <a:latin typeface="+mn-ea"/>
                <a:ea typeface="+mn-ea"/>
              </a:rPr>
              <a:t>5</a:t>
            </a:r>
            <a:r>
              <a:rPr lang="zh-CN" altLang="en-US" sz="2800" b="1" dirty="0">
                <a:solidFill>
                  <a:srgbClr val="0070C0"/>
                </a:solidFill>
                <a:latin typeface="+mn-ea"/>
                <a:ea typeface="+mn-ea"/>
              </a:rPr>
              <a:t>、离群点分析</a:t>
            </a:r>
            <a:endParaRPr lang="en-US" altLang="zh-CN" sz="2800" b="1" dirty="0">
              <a:solidFill>
                <a:srgbClr val="0070C0"/>
              </a:solidFill>
              <a:latin typeface="+mn-ea"/>
              <a:ea typeface="+mn-ea"/>
            </a:endParaRPr>
          </a:p>
          <a:p>
            <a:pPr marL="0" indent="0" eaLnBrk="1" hangingPunct="1">
              <a:buFont typeface="Arial" panose="020B0604020202020204" pitchFamily="34" charset="0"/>
              <a:buNone/>
              <a:defRPr/>
            </a:pPr>
            <a:r>
              <a:rPr lang="zh-CN" altLang="en-US" sz="2000" b="1" dirty="0">
                <a:latin typeface="+mn-ea"/>
                <a:ea typeface="+mn-ea"/>
              </a:rPr>
              <a:t>离群点（</a:t>
            </a:r>
            <a:r>
              <a:rPr lang="en-US" altLang="zh-CN" sz="2000" b="1" dirty="0">
                <a:latin typeface="+mn-ea"/>
                <a:ea typeface="+mn-ea"/>
              </a:rPr>
              <a:t>outlier</a:t>
            </a:r>
            <a:r>
              <a:rPr lang="zh-CN" altLang="en-US" sz="2000" b="1" dirty="0">
                <a:latin typeface="+mn-ea"/>
                <a:ea typeface="+mn-ea"/>
              </a:rPr>
              <a:t>）：</a:t>
            </a:r>
            <a:r>
              <a:rPr lang="zh-CN" altLang="en-US" sz="2000" dirty="0">
                <a:latin typeface="+mn-ea"/>
                <a:ea typeface="+mn-ea"/>
              </a:rPr>
              <a:t>在数据集中可能包含一些数据对象，他们</a:t>
            </a:r>
            <a:r>
              <a:rPr lang="zh-CN" altLang="en-US" sz="2000" dirty="0">
                <a:solidFill>
                  <a:srgbClr val="FF0000"/>
                </a:solidFill>
                <a:latin typeface="+mn-ea"/>
                <a:ea typeface="+mn-ea"/>
              </a:rPr>
              <a:t>与数据的一般行为或模型不一致</a:t>
            </a:r>
            <a:r>
              <a:rPr lang="zh-CN" altLang="en-US" sz="2000" dirty="0">
                <a:latin typeface="+mn-ea"/>
                <a:ea typeface="+mn-ea"/>
              </a:rPr>
              <a:t>，这些数据对象就是离群点。</a:t>
            </a:r>
            <a:endParaRPr lang="en-US" altLang="zh-CN" sz="2000" dirty="0">
              <a:latin typeface="+mn-ea"/>
              <a:ea typeface="+mn-ea"/>
            </a:endParaRPr>
          </a:p>
          <a:p>
            <a:pPr eaLnBrk="1" hangingPunct="1">
              <a:buFont typeface="Wingdings" panose="05000000000000000000" pitchFamily="2" charset="2"/>
              <a:buChar char="Ø"/>
              <a:defRPr/>
            </a:pPr>
            <a:r>
              <a:rPr lang="zh-CN" altLang="en-US" sz="2000" dirty="0">
                <a:latin typeface="+mn-ea"/>
                <a:ea typeface="+mn-ea"/>
              </a:rPr>
              <a:t>在很多应用中，将离群点视为</a:t>
            </a:r>
            <a:r>
              <a:rPr lang="zh-CN" altLang="en-US" sz="2000" b="1" dirty="0">
                <a:solidFill>
                  <a:srgbClr val="FF0000"/>
                </a:solidFill>
                <a:latin typeface="+mn-ea"/>
                <a:ea typeface="+mn-ea"/>
              </a:rPr>
              <a:t>噪声和异常</a:t>
            </a:r>
            <a:r>
              <a:rPr lang="zh-CN" altLang="en-US" sz="2000" dirty="0">
                <a:latin typeface="+mn-ea"/>
                <a:ea typeface="+mn-ea"/>
              </a:rPr>
              <a:t>而丢弃。</a:t>
            </a:r>
            <a:endParaRPr lang="en-US" altLang="zh-CN" sz="2000" dirty="0">
              <a:latin typeface="+mn-ea"/>
              <a:ea typeface="+mn-ea"/>
            </a:endParaRPr>
          </a:p>
          <a:p>
            <a:pPr eaLnBrk="1" hangingPunct="1">
              <a:buFont typeface="Wingdings" panose="05000000000000000000" pitchFamily="2" charset="2"/>
              <a:buChar char="Ø"/>
              <a:defRPr/>
            </a:pPr>
            <a:r>
              <a:rPr lang="zh-CN" altLang="en-US" sz="2000" dirty="0">
                <a:latin typeface="+mn-ea"/>
                <a:ea typeface="+mn-ea"/>
              </a:rPr>
              <a:t>在一些应用中，离群点可能是</a:t>
            </a:r>
            <a:r>
              <a:rPr lang="zh-CN" altLang="en-US" sz="2000" b="1" dirty="0">
                <a:solidFill>
                  <a:srgbClr val="FF0000"/>
                </a:solidFill>
                <a:latin typeface="+mn-ea"/>
                <a:ea typeface="+mn-ea"/>
              </a:rPr>
              <a:t>令人感兴趣的点</a:t>
            </a:r>
            <a:r>
              <a:rPr lang="zh-CN" altLang="en-US" sz="2000" dirty="0">
                <a:latin typeface="+mn-ea"/>
                <a:ea typeface="+mn-ea"/>
              </a:rPr>
              <a:t>，如欺诈检测。</a:t>
            </a:r>
            <a:endParaRPr lang="en-US" altLang="zh-CN" sz="2000" dirty="0">
              <a:latin typeface="+mn-ea"/>
              <a:ea typeface="+mn-ea"/>
            </a:endParaRPr>
          </a:p>
          <a:p>
            <a:pPr marL="0" indent="0" eaLnBrk="1" hangingPunct="1">
              <a:buFont typeface="Arial" panose="020B0604020202020204" pitchFamily="34" charset="0"/>
              <a:buNone/>
              <a:defRPr/>
            </a:pPr>
            <a:r>
              <a:rPr lang="zh-CN" altLang="en-US" sz="2000" b="1" dirty="0">
                <a:latin typeface="+mn-ea"/>
                <a:ea typeface="+mn-ea"/>
              </a:rPr>
              <a:t>离群点的发现方法：</a:t>
            </a:r>
            <a:r>
              <a:rPr lang="zh-CN" altLang="en-US" sz="2000" dirty="0">
                <a:solidFill>
                  <a:srgbClr val="FF0000"/>
                </a:solidFill>
                <a:latin typeface="+mn-ea"/>
                <a:ea typeface="+mn-ea"/>
              </a:rPr>
              <a:t>统计检验，距离度量，基于密度的方法等。</a:t>
            </a:r>
            <a:endParaRPr lang="en-US" altLang="zh-CN" sz="2000" dirty="0">
              <a:solidFill>
                <a:srgbClr val="FF0000"/>
              </a:solidFill>
              <a:latin typeface="+mn-ea"/>
              <a:ea typeface="+mn-ea"/>
            </a:endParaRPr>
          </a:p>
          <a:p>
            <a:pPr marL="0" indent="0" eaLnBrk="1" hangingPunct="1">
              <a:buFont typeface="Arial" panose="020B0604020202020204" pitchFamily="34" charset="0"/>
              <a:buNone/>
              <a:defRPr/>
            </a:pPr>
            <a:endParaRPr lang="en-US" altLang="zh-CN" sz="2000" dirty="0">
              <a:latin typeface="+mn-ea"/>
              <a:ea typeface="+mn-ea"/>
            </a:endParaRPr>
          </a:p>
          <a:p>
            <a:pPr marL="0" indent="0" eaLnBrk="1" hangingPunct="1">
              <a:buFont typeface="Arial" panose="020B0604020202020204" pitchFamily="34" charset="0"/>
              <a:buNone/>
              <a:defRPr/>
            </a:pPr>
            <a:endParaRPr lang="en-GB" altLang="zh-CN" sz="2000" dirty="0">
              <a:latin typeface="+mn-ea"/>
              <a:ea typeface="+mn-ea"/>
            </a:endParaRPr>
          </a:p>
        </p:txBody>
      </p:sp>
      <p:pic>
        <p:nvPicPr>
          <p:cNvPr id="5837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850" y="2417763"/>
            <a:ext cx="5113338" cy="315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6252359" y="1545323"/>
            <a:ext cx="3416320" cy="646331"/>
          </a:xfrm>
          <a:prstGeom prst="rect">
            <a:avLst/>
          </a:prstGeom>
          <a:solidFill>
            <a:srgbClr val="FFFF00"/>
          </a:solidFill>
        </p:spPr>
        <p:txBody>
          <a:bodyPr wrap="none">
            <a:spAutoFit/>
          </a:bodyPr>
          <a:lstStyle/>
          <a:p>
            <a:pPr algn="ctr"/>
            <a:r>
              <a:rPr lang="zh-CN" altLang="en-US" sz="3600" dirty="0">
                <a:latin typeface="+mn-ea"/>
                <a:ea typeface="+mn-ea"/>
              </a:rPr>
              <a:t>离群点有用吗？</a:t>
            </a:r>
          </a:p>
        </p:txBody>
      </p:sp>
      <p:sp>
        <p:nvSpPr>
          <p:cNvPr id="7" name="矩形 6"/>
          <p:cNvSpPr/>
          <p:nvPr/>
        </p:nvSpPr>
        <p:spPr>
          <a:xfrm>
            <a:off x="6021526" y="5801409"/>
            <a:ext cx="3877985" cy="646331"/>
          </a:xfrm>
          <a:prstGeom prst="rect">
            <a:avLst/>
          </a:prstGeom>
          <a:solidFill>
            <a:srgbClr val="FFFF00"/>
          </a:solidFill>
        </p:spPr>
        <p:txBody>
          <a:bodyPr wrap="none">
            <a:spAutoFit/>
          </a:bodyPr>
          <a:lstStyle/>
          <a:p>
            <a:pPr algn="ctr"/>
            <a:r>
              <a:rPr lang="zh-CN" altLang="en-US" sz="3600" dirty="0">
                <a:latin typeface="+mn-ea"/>
                <a:ea typeface="+mn-ea"/>
              </a:rPr>
              <a:t>如何发现离群点？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1.5 </a:t>
            </a:r>
            <a:r>
              <a:rPr lang="zh-CN" altLang="en-US" sz="4100" b="1" dirty="0">
                <a:solidFill>
                  <a:srgbClr val="FF0000"/>
                </a:solidFill>
                <a:ea typeface="华文楷体" panose="02010600040101010101" pitchFamily="2" charset="-122"/>
              </a:rPr>
              <a:t>使用什么技术</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60420"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6AA73DBC-1BC1-45B9-B714-3BC706E865A1}" type="slidenum">
              <a:rPr lang="en-US" altLang="zh-TW" sz="1400" smtClean="0">
                <a:solidFill>
                  <a:srgbClr val="898989"/>
                </a:solidFill>
                <a:latin typeface="Verdana" panose="020B0604030504040204" pitchFamily="34" charset="0"/>
              </a:rPr>
              <a:t>26</a:t>
            </a:fld>
            <a:endParaRPr lang="en-US" altLang="zh-TW" sz="1400">
              <a:solidFill>
                <a:srgbClr val="898989"/>
              </a:solidFill>
              <a:latin typeface="Verdana" panose="020B060403050404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1.5 </a:t>
            </a:r>
            <a:r>
              <a:rPr lang="zh-CN" altLang="en-US" b="1" dirty="0"/>
              <a:t>使用什么技术</a:t>
            </a:r>
            <a:endParaRPr lang="en-US" altLang="zh-CN" b="1" dirty="0"/>
          </a:p>
        </p:txBody>
      </p:sp>
      <p:sp>
        <p:nvSpPr>
          <p:cNvPr id="61443"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93808FEA-9D08-4D87-8D2E-C0C64BA134A7}" type="slidenum">
              <a:rPr lang="en-US" altLang="zh-CN" sz="1400" smtClean="0">
                <a:solidFill>
                  <a:srgbClr val="898989"/>
                </a:solidFill>
                <a:latin typeface="Verdana" panose="020B0604030504040204" pitchFamily="34" charset="0"/>
              </a:rPr>
              <a:t>27</a:t>
            </a:fld>
            <a:endParaRPr lang="en-US" altLang="zh-CN" sz="1400">
              <a:solidFill>
                <a:srgbClr val="898989"/>
              </a:solidFill>
              <a:latin typeface="Verdana" panose="020B0604030504040204" pitchFamily="34" charset="0"/>
            </a:endParaRPr>
          </a:p>
        </p:txBody>
      </p:sp>
      <p:pic>
        <p:nvPicPr>
          <p:cNvPr id="6144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788" y="2016125"/>
            <a:ext cx="7700962" cy="366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1957388" y="1152525"/>
            <a:ext cx="1800225" cy="1016000"/>
          </a:xfrm>
          <a:prstGeom prst="rect">
            <a:avLst/>
          </a:prstGeom>
          <a:solidFill>
            <a:schemeClr val="accent6">
              <a:lumMod val="40000"/>
              <a:lumOff val="60000"/>
            </a:schemeClr>
          </a:solidFill>
        </p:spPr>
        <p:txBody>
          <a:bodyPr>
            <a:spAutoFit/>
          </a:bodyPr>
          <a:lstStyle/>
          <a:p>
            <a:pPr eaLnBrk="1" hangingPunct="1">
              <a:defRPr/>
            </a:pPr>
            <a:r>
              <a:rPr lang="zh-CN" altLang="en-US" sz="2000" dirty="0">
                <a:latin typeface="+mn-ea"/>
                <a:ea typeface="+mn-ea"/>
              </a:rPr>
              <a:t>研究数据的收集、分析、解释和表示</a:t>
            </a:r>
          </a:p>
        </p:txBody>
      </p:sp>
      <p:sp>
        <p:nvSpPr>
          <p:cNvPr id="8" name="矩形 7"/>
          <p:cNvSpPr/>
          <p:nvPr/>
        </p:nvSpPr>
        <p:spPr>
          <a:xfrm>
            <a:off x="4868863" y="1152525"/>
            <a:ext cx="1584325" cy="1016000"/>
          </a:xfrm>
          <a:prstGeom prst="rect">
            <a:avLst/>
          </a:prstGeom>
          <a:solidFill>
            <a:schemeClr val="accent6">
              <a:lumMod val="40000"/>
              <a:lumOff val="60000"/>
            </a:schemeClr>
          </a:solidFill>
        </p:spPr>
        <p:txBody>
          <a:bodyPr>
            <a:spAutoFit/>
          </a:bodyPr>
          <a:lstStyle/>
          <a:p>
            <a:pPr eaLnBrk="1" hangingPunct="1">
              <a:defRPr/>
            </a:pPr>
            <a:r>
              <a:rPr lang="zh-CN" altLang="en-US" sz="2000" dirty="0">
                <a:latin typeface="+mn-ea"/>
                <a:ea typeface="+mn-ea"/>
              </a:rPr>
              <a:t>监督学习</a:t>
            </a:r>
            <a:endParaRPr lang="en-US" altLang="zh-CN" sz="2000" dirty="0">
              <a:latin typeface="+mn-ea"/>
              <a:ea typeface="+mn-ea"/>
            </a:endParaRPr>
          </a:p>
          <a:p>
            <a:pPr eaLnBrk="1" hangingPunct="1">
              <a:defRPr/>
            </a:pPr>
            <a:r>
              <a:rPr lang="zh-CN" altLang="en-US" sz="2000" dirty="0">
                <a:latin typeface="+mn-ea"/>
                <a:ea typeface="+mn-ea"/>
              </a:rPr>
              <a:t>无监督学习</a:t>
            </a:r>
            <a:endParaRPr lang="en-US" altLang="zh-CN" sz="2000" dirty="0">
              <a:latin typeface="+mn-ea"/>
              <a:ea typeface="+mn-ea"/>
            </a:endParaRPr>
          </a:p>
          <a:p>
            <a:pPr eaLnBrk="1" hangingPunct="1">
              <a:defRPr/>
            </a:pPr>
            <a:r>
              <a:rPr lang="zh-CN" altLang="en-US" sz="2000" dirty="0">
                <a:latin typeface="+mn-ea"/>
                <a:ea typeface="+mn-ea"/>
              </a:rPr>
              <a:t>半监督学习</a:t>
            </a:r>
          </a:p>
        </p:txBody>
      </p:sp>
      <p:sp>
        <p:nvSpPr>
          <p:cNvPr id="9" name="矩形 8"/>
          <p:cNvSpPr/>
          <p:nvPr/>
        </p:nvSpPr>
        <p:spPr>
          <a:xfrm>
            <a:off x="1957388" y="5559425"/>
            <a:ext cx="1800225" cy="706438"/>
          </a:xfrm>
          <a:prstGeom prst="rect">
            <a:avLst/>
          </a:prstGeom>
          <a:solidFill>
            <a:schemeClr val="accent6">
              <a:lumMod val="40000"/>
              <a:lumOff val="60000"/>
            </a:schemeClr>
          </a:solidFill>
        </p:spPr>
        <p:txBody>
          <a:bodyPr>
            <a:spAutoFit/>
          </a:bodyPr>
          <a:lstStyle/>
          <a:p>
            <a:pPr eaLnBrk="1" hangingPunct="1">
              <a:defRPr/>
            </a:pPr>
            <a:r>
              <a:rPr lang="zh-CN" altLang="en-US" sz="2000" dirty="0">
                <a:latin typeface="+mn-ea"/>
                <a:ea typeface="+mn-ea"/>
              </a:rPr>
              <a:t>找出文档集中的主要主题</a:t>
            </a:r>
          </a:p>
        </p:txBody>
      </p:sp>
      <p:sp>
        <p:nvSpPr>
          <p:cNvPr id="3" name="矩形 2"/>
          <p:cNvSpPr/>
          <p:nvPr/>
        </p:nvSpPr>
        <p:spPr>
          <a:xfrm>
            <a:off x="7272883" y="1152525"/>
            <a:ext cx="2113279" cy="923330"/>
          </a:xfrm>
          <a:prstGeom prst="rect">
            <a:avLst/>
          </a:prstGeom>
          <a:solidFill>
            <a:schemeClr val="accent6">
              <a:lumMod val="40000"/>
              <a:lumOff val="60000"/>
            </a:schemeClr>
          </a:solidFill>
        </p:spPr>
        <p:txBody>
          <a:bodyPr wrap="square">
            <a:spAutoFit/>
          </a:bodyPr>
          <a:lstStyle/>
          <a:p>
            <a:pPr eaLnBrk="1" hangingPunct="1"/>
            <a:r>
              <a:rPr lang="zh-CN" altLang="en-US" dirty="0">
                <a:latin typeface="+mn-ea"/>
                <a:ea typeface="+mn-ea"/>
              </a:rPr>
              <a:t>对事物或现象进行描述、辨认、分类和解释的过程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1.6 </a:t>
            </a:r>
            <a:r>
              <a:rPr lang="zh-CN" altLang="en-US" sz="4100" b="1" dirty="0">
                <a:solidFill>
                  <a:srgbClr val="FF0000"/>
                </a:solidFill>
                <a:ea typeface="华文楷体" panose="02010600040101010101" pitchFamily="2" charset="-122"/>
              </a:rPr>
              <a:t>面向什么类型的应用</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63492"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49570555-F2DE-4EFB-8AB5-928EC3527199}" type="slidenum">
              <a:rPr lang="en-US" altLang="zh-TW" sz="1400" smtClean="0">
                <a:solidFill>
                  <a:srgbClr val="898989"/>
                </a:solidFill>
                <a:latin typeface="Verdana" panose="020B0604030504040204" pitchFamily="34" charset="0"/>
              </a:rPr>
              <a:t>28</a:t>
            </a:fld>
            <a:endParaRPr lang="en-US" altLang="zh-TW" sz="1400">
              <a:solidFill>
                <a:srgbClr val="898989"/>
              </a:solidFill>
              <a:latin typeface="Verdan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1.6 </a:t>
            </a:r>
            <a:r>
              <a:rPr lang="zh-CN" altLang="en-US" b="1" dirty="0"/>
              <a:t>面向什么类型的应用</a:t>
            </a:r>
            <a:endParaRPr lang="en-US" altLang="zh-CN" b="1" dirty="0"/>
          </a:p>
        </p:txBody>
      </p:sp>
      <p:sp>
        <p:nvSpPr>
          <p:cNvPr id="64515"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1C9223DB-B454-4641-BACD-83B7D459AA53}" type="slidenum">
              <a:rPr lang="en-US" altLang="zh-CN" sz="1400" smtClean="0">
                <a:solidFill>
                  <a:srgbClr val="898989"/>
                </a:solidFill>
                <a:latin typeface="Verdana" panose="020B0604030504040204" pitchFamily="34" charset="0"/>
              </a:rPr>
              <a:t>29</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793287"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eaLnBrk="1" hangingPunct="1">
              <a:buFont typeface="Wingdings" panose="05000000000000000000" pitchFamily="2" charset="2"/>
              <a:buChar char="l"/>
              <a:defRPr/>
            </a:pPr>
            <a:r>
              <a:rPr lang="zh-CN" altLang="en-US" sz="2400" b="1" dirty="0">
                <a:latin typeface="+mn-ea"/>
                <a:ea typeface="+mn-ea"/>
              </a:rPr>
              <a:t>商务智能（</a:t>
            </a:r>
            <a:r>
              <a:rPr lang="en-US" altLang="zh-CN" sz="2400" b="1" dirty="0">
                <a:latin typeface="+mn-ea"/>
                <a:ea typeface="+mn-ea"/>
              </a:rPr>
              <a:t>BI</a:t>
            </a:r>
            <a:r>
              <a:rPr lang="zh-CN" altLang="en-US" sz="2400" b="1" dirty="0">
                <a:latin typeface="+mn-ea"/>
                <a:ea typeface="+mn-ea"/>
              </a:rPr>
              <a:t>）</a:t>
            </a:r>
            <a:endParaRPr lang="en-US" altLang="zh-CN" sz="2400" b="1" dirty="0">
              <a:latin typeface="+mn-ea"/>
              <a:ea typeface="+mn-ea"/>
            </a:endParaRPr>
          </a:p>
          <a:p>
            <a:pPr>
              <a:spcBef>
                <a:spcPts val="1200"/>
              </a:spcBef>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商务智能通常被理解为将企业中现有的数据转化为知识，</a:t>
            </a:r>
            <a:r>
              <a:rPr lang="zh-CN" altLang="en-US" sz="2400" dirty="0">
                <a:solidFill>
                  <a:srgbClr val="FF0000"/>
                </a:solidFill>
                <a:latin typeface="宋体" panose="02010600030101010101" pitchFamily="2" charset="-122"/>
                <a:ea typeface="宋体" panose="02010600030101010101" pitchFamily="2" charset="-122"/>
              </a:rPr>
              <a:t>帮助企业做出明智的业务经营决策的工具</a:t>
            </a:r>
            <a:r>
              <a:rPr lang="zh-CN" altLang="en-US" sz="2400" dirty="0">
                <a:latin typeface="宋体" panose="02010600030101010101" pitchFamily="2" charset="-122"/>
                <a:ea typeface="宋体" panose="02010600030101010101" pitchFamily="2" charset="-122"/>
              </a:rPr>
              <a:t>。一般由数据仓库、联机分析处理、数据挖掘、数据备份和恢复等部分组成。</a:t>
            </a:r>
            <a:endParaRPr lang="en-US" altLang="zh-CN" sz="2400" dirty="0">
              <a:latin typeface="宋体" panose="02010600030101010101" pitchFamily="2" charset="-122"/>
              <a:ea typeface="宋体" panose="02010600030101010101" pitchFamily="2" charset="-122"/>
            </a:endParaRPr>
          </a:p>
          <a:p>
            <a:pPr>
              <a:spcBef>
                <a:spcPts val="1200"/>
              </a:spcBef>
              <a:buFont typeface="Wingdings" panose="05000000000000000000" pitchFamily="2" charset="2"/>
              <a:buChar char="Ø"/>
              <a:defRPr/>
            </a:pPr>
            <a:r>
              <a:rPr lang="zh-CN" altLang="en-US" sz="2400" dirty="0">
                <a:latin typeface="+mn-ea"/>
                <a:ea typeface="+mn-ea"/>
              </a:rPr>
              <a:t>商务智能技术</a:t>
            </a:r>
            <a:r>
              <a:rPr lang="zh-CN" altLang="en-US" sz="2400" dirty="0">
                <a:solidFill>
                  <a:srgbClr val="FF0000"/>
                </a:solidFill>
                <a:latin typeface="+mn-ea"/>
                <a:ea typeface="+mn-ea"/>
              </a:rPr>
              <a:t>提供商务运作的历史、现状和预测视图</a:t>
            </a:r>
            <a:r>
              <a:rPr lang="zh-CN" altLang="en-US" sz="2400" dirty="0">
                <a:latin typeface="+mn-ea"/>
                <a:ea typeface="+mn-ea"/>
              </a:rPr>
              <a:t>，如包括报告、联机分析处理、商务业绩管理、竞争情报、标杆管理和预测分析。</a:t>
            </a:r>
            <a:endParaRPr lang="en-US" altLang="zh-CN" sz="2400" dirty="0">
              <a:latin typeface="+mn-ea"/>
              <a:ea typeface="+mn-ea"/>
            </a:endParaRPr>
          </a:p>
          <a:p>
            <a:pPr eaLnBrk="1" hangingPunct="1">
              <a:spcBef>
                <a:spcPts val="1200"/>
              </a:spcBef>
              <a:buFont typeface="Wingdings" panose="05000000000000000000" pitchFamily="2" charset="2"/>
              <a:buChar char="Ø"/>
              <a:defRPr/>
            </a:pPr>
            <a:r>
              <a:rPr lang="zh-CN" altLang="en-US" sz="2400" dirty="0">
                <a:solidFill>
                  <a:srgbClr val="FF0000"/>
                </a:solidFill>
                <a:latin typeface="+mn-ea"/>
                <a:ea typeface="+mn-ea"/>
              </a:rPr>
              <a:t>数据挖掘是商务智能的核心，</a:t>
            </a:r>
            <a:r>
              <a:rPr lang="zh-CN" altLang="en-US" sz="2400" dirty="0">
                <a:latin typeface="+mn-ea"/>
                <a:ea typeface="+mn-ea"/>
              </a:rPr>
              <a:t>如商务智能预测分析的核心是</a:t>
            </a:r>
            <a:r>
              <a:rPr lang="zh-CN" altLang="en-US" sz="2400" dirty="0">
                <a:solidFill>
                  <a:srgbClr val="FF0000"/>
                </a:solidFill>
                <a:latin typeface="+mn-ea"/>
                <a:ea typeface="+mn-ea"/>
              </a:rPr>
              <a:t>分类和预测技术</a:t>
            </a:r>
            <a:r>
              <a:rPr lang="zh-CN" altLang="en-US" sz="2400" dirty="0">
                <a:latin typeface="+mn-ea"/>
                <a:ea typeface="+mn-ea"/>
              </a:rPr>
              <a:t>，</a:t>
            </a:r>
            <a:r>
              <a:rPr lang="zh-CN" altLang="en-US" sz="2400" dirty="0">
                <a:solidFill>
                  <a:srgbClr val="FF0000"/>
                </a:solidFill>
                <a:latin typeface="+mn-ea"/>
                <a:ea typeface="+mn-ea"/>
              </a:rPr>
              <a:t>聚类</a:t>
            </a:r>
            <a:r>
              <a:rPr lang="zh-CN" altLang="en-US" sz="2400" dirty="0">
                <a:latin typeface="+mn-ea"/>
                <a:ea typeface="+mn-ea"/>
              </a:rPr>
              <a:t>在客户关系管理方面起主要作用。</a:t>
            </a:r>
            <a:endParaRPr lang="en-US" altLang="zh-CN" sz="2400" dirty="0">
              <a:latin typeface="+mn-ea"/>
              <a:ea typeface="+mn-ea"/>
            </a:endParaRPr>
          </a:p>
          <a:p>
            <a:pPr marL="0" indent="0" eaLnBrk="1" hangingPunct="1">
              <a:buFont typeface="Arial" panose="020B0604020202020204" pitchFamily="34" charset="0"/>
              <a:buNone/>
              <a:defRPr/>
            </a:pPr>
            <a:endParaRPr lang="en-GB" altLang="zh-CN"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1.6 </a:t>
            </a:r>
            <a:r>
              <a:rPr lang="zh-CN" altLang="en-US" b="1" dirty="0"/>
              <a:t>面向什么类型的应用</a:t>
            </a:r>
            <a:endParaRPr lang="en-US" altLang="zh-CN" b="1" dirty="0"/>
          </a:p>
        </p:txBody>
      </p:sp>
      <p:sp>
        <p:nvSpPr>
          <p:cNvPr id="66563" name="灯片编号占位符 3"/>
          <p:cNvSpPr>
            <a:spLocks noGrp="1"/>
          </p:cNvSpPr>
          <p:nvPr>
            <p:ph type="sldNum" sz="quarter" idx="10"/>
          </p:nvPr>
        </p:nvSpPr>
        <p:spPr bwMode="auto">
          <a:xfrm>
            <a:off x="8280400" y="6861175"/>
            <a:ext cx="2520950" cy="384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7BB84212-B622-49EB-BA21-38195238EBD7}" type="slidenum">
              <a:rPr lang="en-US" altLang="zh-CN" sz="1400" smtClean="0">
                <a:solidFill>
                  <a:srgbClr val="898989"/>
                </a:solidFill>
                <a:latin typeface="Verdana" panose="020B0604030504040204" pitchFamily="34" charset="0"/>
              </a:rPr>
              <a:t>30</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793287"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eaLnBrk="1" hangingPunct="1">
              <a:buFont typeface="Wingdings" panose="05000000000000000000" pitchFamily="2" charset="2"/>
              <a:buChar char="l"/>
              <a:defRPr/>
            </a:pPr>
            <a:r>
              <a:rPr lang="zh-CN" altLang="en-US" sz="2400" b="1" dirty="0">
                <a:latin typeface="+mn-ea"/>
                <a:ea typeface="+mn-ea"/>
              </a:rPr>
              <a:t>商务智能（</a:t>
            </a:r>
            <a:r>
              <a:rPr lang="en-US" altLang="zh-CN" sz="2400" b="1" dirty="0">
                <a:latin typeface="+mn-ea"/>
                <a:ea typeface="+mn-ea"/>
              </a:rPr>
              <a:t>BI</a:t>
            </a:r>
            <a:r>
              <a:rPr lang="zh-CN" altLang="en-US" sz="2400" b="1" dirty="0">
                <a:latin typeface="+mn-ea"/>
                <a:ea typeface="+mn-ea"/>
              </a:rPr>
              <a:t>）</a:t>
            </a:r>
            <a:endParaRPr lang="en-US" altLang="zh-CN" sz="2400" b="1" dirty="0">
              <a:latin typeface="+mn-ea"/>
              <a:ea typeface="+mn-ea"/>
            </a:endParaRPr>
          </a:p>
          <a:p>
            <a:pPr marL="0" indent="0" eaLnBrk="1" hangingPunct="1">
              <a:buFont typeface="Arial" panose="020B0604020202020204" pitchFamily="34" charset="0"/>
              <a:buNone/>
              <a:defRPr/>
            </a:pPr>
            <a:endParaRPr lang="en-GB" altLang="zh-CN" sz="2000" dirty="0">
              <a:latin typeface="+mn-ea"/>
              <a:ea typeface="+mn-ea"/>
            </a:endParaRPr>
          </a:p>
        </p:txBody>
      </p:sp>
      <p:grpSp>
        <p:nvGrpSpPr>
          <p:cNvPr id="66565" name="组合 4"/>
          <p:cNvGrpSpPr/>
          <p:nvPr/>
        </p:nvGrpSpPr>
        <p:grpSpPr bwMode="auto">
          <a:xfrm>
            <a:off x="395288" y="1692275"/>
            <a:ext cx="9901237" cy="5292725"/>
            <a:chOff x="354013" y="1270000"/>
            <a:chExt cx="9901237" cy="5292725"/>
          </a:xfrm>
        </p:grpSpPr>
        <p:sp>
          <p:nvSpPr>
            <p:cNvPr id="66566" name="AutoShape 1027"/>
            <p:cNvSpPr>
              <a:spLocks noChangeArrowheads="1"/>
            </p:cNvSpPr>
            <p:nvPr/>
          </p:nvSpPr>
          <p:spPr bwMode="auto">
            <a:xfrm>
              <a:off x="714375" y="1270000"/>
              <a:ext cx="8821738" cy="5281613"/>
            </a:xfrm>
            <a:prstGeom prst="flowChartExtra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lIns="102848" tIns="51424" rIns="102848" bIns="51424" anchor="ct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endParaRPr lang="zh-CN" altLang="zh-CN" sz="2700" b="1">
                <a:solidFill>
                  <a:srgbClr val="FF0000"/>
                </a:solidFill>
                <a:latin typeface="Times New Roman" panose="02020603050405020304" pitchFamily="18" charset="0"/>
                <a:cs typeface="Times New Roman" panose="02020603050405020304" pitchFamily="18" charset="0"/>
              </a:endParaRPr>
            </a:p>
          </p:txBody>
        </p:sp>
        <p:sp>
          <p:nvSpPr>
            <p:cNvPr id="66567" name="Line 1028"/>
            <p:cNvSpPr>
              <a:spLocks noChangeShapeType="1"/>
            </p:cNvSpPr>
            <p:nvPr/>
          </p:nvSpPr>
          <p:spPr bwMode="auto">
            <a:xfrm flipV="1">
              <a:off x="1332433" y="5848937"/>
              <a:ext cx="7596634" cy="505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68" name="Line 1029"/>
            <p:cNvSpPr>
              <a:spLocks noChangeShapeType="1"/>
            </p:cNvSpPr>
            <p:nvPr/>
          </p:nvSpPr>
          <p:spPr bwMode="auto">
            <a:xfrm>
              <a:off x="1920487" y="5129820"/>
              <a:ext cx="643251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69" name="Line 1030"/>
            <p:cNvSpPr>
              <a:spLocks noChangeShapeType="1"/>
            </p:cNvSpPr>
            <p:nvPr/>
          </p:nvSpPr>
          <p:spPr bwMode="auto">
            <a:xfrm>
              <a:off x="2550726" y="4364402"/>
              <a:ext cx="515420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70" name="Line 1031"/>
            <p:cNvSpPr>
              <a:spLocks noChangeShapeType="1"/>
            </p:cNvSpPr>
            <p:nvPr/>
          </p:nvSpPr>
          <p:spPr bwMode="auto">
            <a:xfrm>
              <a:off x="3225995" y="3554910"/>
              <a:ext cx="381679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71" name="Line 1032"/>
            <p:cNvSpPr>
              <a:spLocks noChangeShapeType="1"/>
            </p:cNvSpPr>
            <p:nvPr/>
          </p:nvSpPr>
          <p:spPr bwMode="auto">
            <a:xfrm>
              <a:off x="3949971" y="2734553"/>
              <a:ext cx="237486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72" name="Line 1033"/>
            <p:cNvSpPr>
              <a:spLocks noChangeShapeType="1"/>
            </p:cNvSpPr>
            <p:nvPr/>
          </p:nvSpPr>
          <p:spPr bwMode="auto">
            <a:xfrm flipV="1">
              <a:off x="444500" y="1270000"/>
              <a:ext cx="0" cy="528161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73" name="Line 1034"/>
            <p:cNvSpPr>
              <a:spLocks noChangeShapeType="1"/>
            </p:cNvSpPr>
            <p:nvPr/>
          </p:nvSpPr>
          <p:spPr bwMode="auto">
            <a:xfrm flipV="1">
              <a:off x="10255250" y="1270000"/>
              <a:ext cx="0" cy="528161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74" name="Text Box 1035"/>
            <p:cNvSpPr txBox="1">
              <a:spLocks noChangeArrowheads="1"/>
            </p:cNvSpPr>
            <p:nvPr/>
          </p:nvSpPr>
          <p:spPr bwMode="auto">
            <a:xfrm>
              <a:off x="952698" y="1993900"/>
              <a:ext cx="2764495" cy="38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zh-CN" altLang="en-US" sz="18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提高支持商务决策的潜能</a:t>
              </a:r>
              <a:endParaRPr lang="en-US" altLang="zh-CN" sz="18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75" name="Text Box 1036"/>
            <p:cNvSpPr txBox="1">
              <a:spLocks noChangeArrowheads="1"/>
            </p:cNvSpPr>
            <p:nvPr/>
          </p:nvSpPr>
          <p:spPr bwMode="auto">
            <a:xfrm>
              <a:off x="9013029" y="1803400"/>
              <a:ext cx="1137446" cy="38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r">
                <a:spcBef>
                  <a:spcPct val="0"/>
                </a:spcBef>
                <a:buFontTx/>
                <a:buNone/>
              </a:pPr>
              <a:r>
                <a:rPr lang="zh-CN" altLang="en-US" sz="1800" b="1">
                  <a:latin typeface="Times New Roman" panose="02020603050405020304" pitchFamily="18" charset="0"/>
                  <a:ea typeface="宋体" panose="02010600030101010101" pitchFamily="2" charset="-122"/>
                  <a:cs typeface="Times New Roman" panose="02020603050405020304" pitchFamily="18" charset="0"/>
                </a:rPr>
                <a:t>最终用户</a:t>
              </a:r>
              <a:endParaRPr lang="en-US" altLang="zh-CN" sz="1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76" name="Text Box 1037"/>
            <p:cNvSpPr txBox="1">
              <a:spLocks noChangeArrowheads="1"/>
            </p:cNvSpPr>
            <p:nvPr/>
          </p:nvSpPr>
          <p:spPr bwMode="auto">
            <a:xfrm>
              <a:off x="8548158" y="2843213"/>
              <a:ext cx="1602317" cy="38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r">
                <a:spcBef>
                  <a:spcPct val="0"/>
                </a:spcBef>
                <a:buFontTx/>
                <a:buNone/>
              </a:pPr>
              <a:r>
                <a:rPr lang="zh-CN" altLang="en-US" sz="1800" b="1">
                  <a:latin typeface="Times New Roman" panose="02020603050405020304" pitchFamily="18" charset="0"/>
                  <a:ea typeface="宋体" panose="02010600030101010101" pitchFamily="2" charset="-122"/>
                  <a:cs typeface="Times New Roman" panose="02020603050405020304" pitchFamily="18" charset="0"/>
                </a:rPr>
                <a:t>商务分析人员</a:t>
              </a:r>
              <a:endParaRPr lang="en-US" altLang="zh-CN" sz="1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77" name="Text Box 1038"/>
            <p:cNvSpPr txBox="1">
              <a:spLocks noChangeArrowheads="1"/>
            </p:cNvSpPr>
            <p:nvPr/>
          </p:nvSpPr>
          <p:spPr bwMode="auto">
            <a:xfrm>
              <a:off x="8259617" y="3724275"/>
              <a:ext cx="1890858" cy="38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r">
                <a:spcBef>
                  <a:spcPct val="0"/>
                </a:spcBef>
                <a:buFontTx/>
                <a:buNone/>
              </a:pPr>
              <a:r>
                <a:rPr lang="en-US" altLang="zh-CN" sz="18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a:latin typeface="Times New Roman" panose="02020603050405020304" pitchFamily="18" charset="0"/>
                  <a:ea typeface="宋体" panose="02010600030101010101" pitchFamily="2" charset="-122"/>
                  <a:cs typeface="Times New Roman" panose="02020603050405020304" pitchFamily="18" charset="0"/>
                </a:rPr>
                <a:t>数据分析人员</a:t>
              </a:r>
              <a:endParaRPr lang="en-US" altLang="zh-CN" sz="18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78" name="Text Box 1039"/>
            <p:cNvSpPr txBox="1">
              <a:spLocks noChangeArrowheads="1"/>
            </p:cNvSpPr>
            <p:nvPr/>
          </p:nvSpPr>
          <p:spPr bwMode="auto">
            <a:xfrm>
              <a:off x="9455150" y="5616674"/>
              <a:ext cx="695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r">
                <a:spcBef>
                  <a:spcPct val="0"/>
                </a:spcBef>
                <a:buFontTx/>
                <a:buNone/>
              </a:pPr>
              <a:r>
                <a:rPr lang="en-US" altLang="zh-CN" sz="1800" b="1">
                  <a:latin typeface="Times New Roman" panose="02020603050405020304" pitchFamily="18" charset="0"/>
                  <a:ea typeface="宋体" panose="02010600030101010101" pitchFamily="2" charset="-122"/>
                  <a:cs typeface="Times New Roman" panose="02020603050405020304" pitchFamily="18" charset="0"/>
                </a:rPr>
                <a:t>DBA</a:t>
              </a:r>
            </a:p>
          </p:txBody>
        </p:sp>
        <p:sp>
          <p:nvSpPr>
            <p:cNvPr id="66579" name="Text Box 1040"/>
            <p:cNvSpPr txBox="1">
              <a:spLocks noChangeArrowheads="1"/>
            </p:cNvSpPr>
            <p:nvPr/>
          </p:nvSpPr>
          <p:spPr bwMode="auto">
            <a:xfrm>
              <a:off x="4460081" y="2016274"/>
              <a:ext cx="1439862"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制定决策</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0" name="Text Box 1041"/>
            <p:cNvSpPr txBox="1">
              <a:spLocks noChangeArrowheads="1"/>
            </p:cNvSpPr>
            <p:nvPr/>
          </p:nvSpPr>
          <p:spPr bwMode="auto">
            <a:xfrm>
              <a:off x="4559993" y="2751745"/>
              <a:ext cx="1240039"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数据表示</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1" name="Text Box 1042"/>
            <p:cNvSpPr txBox="1">
              <a:spLocks noChangeArrowheads="1"/>
            </p:cNvSpPr>
            <p:nvPr/>
          </p:nvSpPr>
          <p:spPr bwMode="auto">
            <a:xfrm>
              <a:off x="4430950" y="3138604"/>
              <a:ext cx="1498123"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可视化技术</a:t>
              </a:r>
              <a:endParaRPr lang="en-US" altLang="zh-CN" sz="2000" b="1"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2" name="Text Box 1043"/>
            <p:cNvSpPr txBox="1">
              <a:spLocks noChangeArrowheads="1"/>
            </p:cNvSpPr>
            <p:nvPr/>
          </p:nvSpPr>
          <p:spPr bwMode="auto">
            <a:xfrm>
              <a:off x="4127500" y="3562958"/>
              <a:ext cx="21050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数据挖掘</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3" name="Text Box 1044"/>
            <p:cNvSpPr txBox="1">
              <a:spLocks noChangeArrowheads="1"/>
            </p:cNvSpPr>
            <p:nvPr/>
          </p:nvSpPr>
          <p:spPr bwMode="auto">
            <a:xfrm>
              <a:off x="4480264" y="3919954"/>
              <a:ext cx="1240039"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信息发现</a:t>
              </a:r>
              <a:endParaRPr lang="en-US" altLang="zh-CN" sz="2000" b="1"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4" name="Text Box 1045"/>
            <p:cNvSpPr txBox="1">
              <a:spLocks noChangeArrowheads="1"/>
            </p:cNvSpPr>
            <p:nvPr/>
          </p:nvSpPr>
          <p:spPr bwMode="auto">
            <a:xfrm>
              <a:off x="3794125" y="4340343"/>
              <a:ext cx="27717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数据探查</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5" name="Text Box 1047"/>
            <p:cNvSpPr txBox="1">
              <a:spLocks noChangeArrowheads="1"/>
            </p:cNvSpPr>
            <p:nvPr/>
          </p:nvSpPr>
          <p:spPr bwMode="auto">
            <a:xfrm>
              <a:off x="2088307" y="4687566"/>
              <a:ext cx="61926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统计分析，查询和报告</a:t>
              </a:r>
              <a:endParaRPr lang="en-US" altLang="zh-CN" sz="2000" b="1"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6" name="Text Box 1048"/>
            <p:cNvSpPr txBox="1">
              <a:spLocks noChangeArrowheads="1"/>
            </p:cNvSpPr>
            <p:nvPr/>
          </p:nvSpPr>
          <p:spPr bwMode="auto">
            <a:xfrm>
              <a:off x="4008560" y="5114286"/>
              <a:ext cx="2342905"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数据仓库</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数据集市</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7" name="Text Box 1049"/>
            <p:cNvSpPr txBox="1">
              <a:spLocks noChangeArrowheads="1"/>
            </p:cNvSpPr>
            <p:nvPr/>
          </p:nvSpPr>
          <p:spPr bwMode="auto">
            <a:xfrm>
              <a:off x="4689034" y="5792665"/>
              <a:ext cx="981956" cy="411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数据源</a:t>
              </a:r>
              <a:endPar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8" name="Text Box 1050"/>
            <p:cNvSpPr txBox="1">
              <a:spLocks noChangeArrowheads="1"/>
            </p:cNvSpPr>
            <p:nvPr/>
          </p:nvSpPr>
          <p:spPr bwMode="auto">
            <a:xfrm>
              <a:off x="1018466" y="6151563"/>
              <a:ext cx="840898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文字记录，文件，信息提供者，数据库系统，</a:t>
              </a:r>
              <a:r>
                <a:rPr lang="en-US" altLang="zh-CN" sz="2000" b="1" i="1">
                  <a:latin typeface="Times New Roman" panose="02020603050405020304" pitchFamily="18" charset="0"/>
                  <a:ea typeface="宋体" panose="02010600030101010101" pitchFamily="2" charset="-122"/>
                  <a:cs typeface="Times New Roman" panose="02020603050405020304" pitchFamily="18" charset="0"/>
                </a:rPr>
                <a:t>OLTP</a:t>
              </a: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系统</a:t>
              </a:r>
              <a:endParaRPr lang="en-US" altLang="zh-CN" sz="2000" b="1"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589" name="Line 1051"/>
            <p:cNvSpPr>
              <a:spLocks noChangeShapeType="1"/>
            </p:cNvSpPr>
            <p:nvPr/>
          </p:nvSpPr>
          <p:spPr bwMode="auto">
            <a:xfrm>
              <a:off x="354013" y="6551613"/>
              <a:ext cx="99012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lIns="102848" tIns="51424" rIns="102848" bIns="51424" anchor="ctr"/>
            <a:lstStyle/>
            <a:p>
              <a:endParaRPr lang="zh-CN" altLang="en-US"/>
            </a:p>
          </p:txBody>
        </p:sp>
        <p:sp>
          <p:nvSpPr>
            <p:cNvPr id="66590" name="Text Box 1050"/>
            <p:cNvSpPr txBox="1">
              <a:spLocks noChangeArrowheads="1"/>
            </p:cNvSpPr>
            <p:nvPr/>
          </p:nvSpPr>
          <p:spPr bwMode="auto">
            <a:xfrm>
              <a:off x="1156799" y="5453008"/>
              <a:ext cx="7858834"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848" tIns="51424" rIns="102848" bIns="5142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lgn="ctr">
                <a:spcBef>
                  <a:spcPct val="0"/>
                </a:spcBef>
                <a:buFontTx/>
                <a:buNone/>
              </a:pPr>
              <a:r>
                <a:rPr lang="en-US" altLang="zh-CN" sz="2000" b="1" i="1">
                  <a:latin typeface="Times New Roman" panose="02020603050405020304" pitchFamily="18" charset="0"/>
                  <a:ea typeface="宋体" panose="02010600030101010101" pitchFamily="2" charset="-122"/>
                  <a:cs typeface="Times New Roman" panose="02020603050405020304" pitchFamily="18" charset="0"/>
                </a:rPr>
                <a:t>OLAP</a:t>
              </a:r>
              <a:r>
                <a:rPr lang="zh-CN" altLang="en-US" sz="2000" b="1" i="1">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i="1">
                  <a:latin typeface="Times New Roman" panose="02020603050405020304" pitchFamily="18" charset="0"/>
                  <a:ea typeface="宋体" panose="02010600030101010101" pitchFamily="2" charset="-122"/>
                  <a:cs typeface="Times New Roman" panose="02020603050405020304" pitchFamily="18" charset="0"/>
                </a:rPr>
                <a:t>MDA</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1.6 </a:t>
            </a:r>
            <a:r>
              <a:rPr lang="zh-CN" altLang="en-US" b="1" dirty="0"/>
              <a:t>面向什么类型的应用</a:t>
            </a:r>
            <a:endParaRPr lang="en-US" altLang="zh-CN" b="1" dirty="0"/>
          </a:p>
        </p:txBody>
      </p:sp>
      <p:sp>
        <p:nvSpPr>
          <p:cNvPr id="68611"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BC9E8BEA-E466-43E4-A143-1776FE8843DC}" type="slidenum">
              <a:rPr lang="en-US" altLang="zh-CN" sz="1400" smtClean="0">
                <a:solidFill>
                  <a:srgbClr val="898989"/>
                </a:solidFill>
                <a:latin typeface="Verdana" panose="020B0604030504040204" pitchFamily="34" charset="0"/>
              </a:rPr>
              <a:t>31</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76263" y="1152525"/>
            <a:ext cx="9793287"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eaLnBrk="1" hangingPunct="1">
              <a:buFont typeface="Wingdings" panose="05000000000000000000" pitchFamily="2" charset="2"/>
              <a:buChar char="l"/>
              <a:defRPr/>
            </a:pPr>
            <a:r>
              <a:rPr lang="en-US" altLang="zh-CN" sz="2400" b="1" dirty="0">
                <a:latin typeface="+mn-ea"/>
                <a:ea typeface="+mn-ea"/>
              </a:rPr>
              <a:t>Web</a:t>
            </a:r>
            <a:r>
              <a:rPr lang="zh-CN" altLang="en-US" sz="2400" b="1" dirty="0">
                <a:latin typeface="+mn-ea"/>
                <a:ea typeface="+mn-ea"/>
              </a:rPr>
              <a:t>搜索引擎</a:t>
            </a:r>
            <a:endParaRPr lang="en-US" altLang="zh-CN" sz="2400" b="1" dirty="0">
              <a:latin typeface="+mn-ea"/>
              <a:ea typeface="+mn-ea"/>
            </a:endParaRPr>
          </a:p>
          <a:p>
            <a:pPr marL="0" indent="0" eaLnBrk="1" hangingPunct="1">
              <a:buFont typeface="Arial" panose="020B0604020202020204" pitchFamily="34" charset="0"/>
              <a:buNone/>
              <a:defRPr/>
            </a:pPr>
            <a:r>
              <a:rPr lang="en-US" altLang="zh-CN" sz="2000" dirty="0">
                <a:latin typeface="+mn-ea"/>
                <a:ea typeface="+mn-ea"/>
              </a:rPr>
              <a:t>   </a:t>
            </a:r>
            <a:r>
              <a:rPr lang="zh-CN" altLang="en-US" sz="2000" dirty="0">
                <a:latin typeface="+mn-ea"/>
                <a:ea typeface="+mn-ea"/>
              </a:rPr>
              <a:t>搜索引擎全方位地使用各种数据挖掘技术，包括</a:t>
            </a:r>
            <a:r>
              <a:rPr lang="zh-CN" altLang="en-US" sz="2000" dirty="0">
                <a:solidFill>
                  <a:srgbClr val="FF0000"/>
                </a:solidFill>
                <a:latin typeface="+mn-ea"/>
                <a:ea typeface="+mn-ea"/>
              </a:rPr>
              <a:t>爬行、索引、搜索</a:t>
            </a:r>
            <a:r>
              <a:rPr lang="zh-CN" altLang="en-US" sz="2000" dirty="0">
                <a:latin typeface="+mn-ea"/>
                <a:ea typeface="+mn-ea"/>
              </a:rPr>
              <a:t>等。</a:t>
            </a:r>
            <a:endParaRPr lang="en-US" altLang="zh-CN" sz="2000" dirty="0">
              <a:latin typeface="+mn-ea"/>
              <a:ea typeface="+mn-ea"/>
            </a:endParaRPr>
          </a:p>
          <a:p>
            <a:pPr eaLnBrk="1" hangingPunct="1">
              <a:buFont typeface="Wingdings" panose="05000000000000000000" pitchFamily="2" charset="2"/>
              <a:buChar char="l"/>
              <a:defRPr/>
            </a:pPr>
            <a:r>
              <a:rPr lang="zh-CN" altLang="en-US" sz="2400" b="1" dirty="0">
                <a:latin typeface="+mn-ea"/>
                <a:ea typeface="+mn-ea"/>
              </a:rPr>
              <a:t>生物信息学</a:t>
            </a:r>
            <a:endParaRPr lang="en-US" altLang="zh-CN" sz="2400" b="1" dirty="0">
              <a:latin typeface="+mn-ea"/>
              <a:ea typeface="+mn-ea"/>
            </a:endParaRPr>
          </a:p>
          <a:p>
            <a:pPr eaLnBrk="1" hangingPunct="1">
              <a:buFont typeface="Wingdings" panose="05000000000000000000" pitchFamily="2" charset="2"/>
              <a:buChar char="l"/>
              <a:defRPr/>
            </a:pPr>
            <a:r>
              <a:rPr lang="zh-CN" altLang="en-US" sz="2400" b="1" dirty="0">
                <a:latin typeface="+mn-ea"/>
                <a:ea typeface="+mn-ea"/>
              </a:rPr>
              <a:t>金融</a:t>
            </a:r>
            <a:endParaRPr lang="en-US" altLang="zh-CN" sz="2400" b="1" dirty="0">
              <a:latin typeface="+mn-ea"/>
              <a:ea typeface="+mn-ea"/>
            </a:endParaRPr>
          </a:p>
          <a:p>
            <a:pPr eaLnBrk="1" hangingPunct="1">
              <a:buFont typeface="Wingdings" panose="05000000000000000000" pitchFamily="2" charset="2"/>
              <a:buChar char="l"/>
              <a:defRPr/>
            </a:pPr>
            <a:r>
              <a:rPr lang="zh-CN" altLang="en-US" sz="2400" b="1" dirty="0">
                <a:latin typeface="+mn-ea"/>
                <a:ea typeface="+mn-ea"/>
              </a:rPr>
              <a:t>数字图书馆</a:t>
            </a:r>
            <a:endParaRPr lang="en-US" altLang="zh-CN" sz="2400" b="1" dirty="0">
              <a:latin typeface="+mn-ea"/>
              <a:ea typeface="+mn-ea"/>
            </a:endParaRPr>
          </a:p>
          <a:p>
            <a:pPr eaLnBrk="1" hangingPunct="1">
              <a:buFont typeface="Wingdings" panose="05000000000000000000" pitchFamily="2" charset="2"/>
              <a:buChar char="l"/>
              <a:defRPr/>
            </a:pPr>
            <a:r>
              <a:rPr lang="zh-CN" altLang="en-US" sz="2400" b="1" dirty="0">
                <a:latin typeface="+mn-ea"/>
                <a:ea typeface="+mn-ea"/>
              </a:rPr>
              <a:t>数字政府</a:t>
            </a:r>
            <a:endParaRPr lang="en-US" altLang="zh-CN" sz="2400" b="1" dirty="0">
              <a:latin typeface="+mn-ea"/>
              <a:ea typeface="+mn-ea"/>
            </a:endParaRPr>
          </a:p>
          <a:p>
            <a:pPr marL="0" indent="0" eaLnBrk="1" hangingPunct="1">
              <a:buFont typeface="Arial" panose="020B0604020202020204" pitchFamily="34" charset="0"/>
              <a:buNone/>
              <a:defRPr/>
            </a:pPr>
            <a:endParaRPr lang="en-GB" altLang="zh-CN"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1.7 </a:t>
            </a:r>
            <a:r>
              <a:rPr lang="zh-CN" altLang="en-US" sz="4100" b="1" dirty="0">
                <a:solidFill>
                  <a:srgbClr val="FF0000"/>
                </a:solidFill>
                <a:ea typeface="华文楷体" panose="02010600040101010101" pitchFamily="2" charset="-122"/>
              </a:rPr>
              <a:t>数据挖掘的主要问题</a:t>
            </a:r>
            <a:endParaRPr lang="en-US" altLang="zh-CN" sz="4100" b="1" dirty="0">
              <a:solidFill>
                <a:srgbClr val="FF0000"/>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1.8 </a:t>
            </a:r>
            <a:r>
              <a:rPr lang="zh-CN" altLang="en-US" sz="4100" dirty="0">
                <a:solidFill>
                  <a:schemeClr val="bg1">
                    <a:lumMod val="50000"/>
                  </a:schemeClr>
                </a:solidFill>
                <a:ea typeface="华文楷体" panose="02010600040101010101" pitchFamily="2" charset="-122"/>
              </a:rPr>
              <a:t>小结</a:t>
            </a:r>
            <a:endParaRPr lang="en-US" altLang="zh-CN" sz="4100" dirty="0">
              <a:solidFill>
                <a:schemeClr val="bg1">
                  <a:lumMod val="50000"/>
                </a:schemeClr>
              </a:solidFill>
              <a:ea typeface="华文楷体" panose="02010600040101010101" pitchFamily="2" charset="-122"/>
            </a:endParaRPr>
          </a:p>
        </p:txBody>
      </p:sp>
      <p:sp>
        <p:nvSpPr>
          <p:cNvPr id="70660"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34AF42B4-8690-4446-BAF5-A7C8F39E6016}" type="slidenum">
              <a:rPr lang="en-US" altLang="zh-TW" sz="1400" smtClean="0">
                <a:solidFill>
                  <a:srgbClr val="898989"/>
                </a:solidFill>
                <a:latin typeface="Verdana" panose="020B0604030504040204" pitchFamily="34" charset="0"/>
              </a:rPr>
              <a:t>32</a:t>
            </a:fld>
            <a:endParaRPr lang="en-US" altLang="zh-TW" sz="1400">
              <a:solidFill>
                <a:srgbClr val="898989"/>
              </a:solidFill>
              <a:latin typeface="Verdana" panose="020B060403050404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1.7 </a:t>
            </a:r>
            <a:r>
              <a:rPr lang="zh-CN" altLang="en-US" b="1" dirty="0"/>
              <a:t>数据挖掘的主要问题</a:t>
            </a:r>
            <a:endParaRPr lang="en-US" altLang="zh-CN" b="1" dirty="0"/>
          </a:p>
        </p:txBody>
      </p:sp>
      <p:sp>
        <p:nvSpPr>
          <p:cNvPr id="71683"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AE27A21A-382C-4301-A618-1AA52A05AD3B}" type="slidenum">
              <a:rPr lang="en-US" altLang="zh-CN" sz="1400" smtClean="0">
                <a:solidFill>
                  <a:srgbClr val="898989"/>
                </a:solidFill>
                <a:latin typeface="Verdana" panose="020B0604030504040204" pitchFamily="34" charset="0"/>
              </a:rPr>
              <a:t>33</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52450" y="1162050"/>
            <a:ext cx="9793288"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b="1" dirty="0">
                <a:latin typeface="+mn-ea"/>
                <a:ea typeface="+mn-ea"/>
              </a:rPr>
              <a:t>数据挖掘研究的主要问题有：</a:t>
            </a:r>
            <a:endParaRPr lang="en-GB" altLang="zh-CN" sz="2800" b="1" dirty="0">
              <a:latin typeface="+mn-ea"/>
              <a:ea typeface="+mn-ea"/>
            </a:endParaRPr>
          </a:p>
          <a:p>
            <a:pPr marL="0" indent="0" eaLnBrk="1" hangingPunct="1">
              <a:buFont typeface="Arial" panose="020B0604020202020204" pitchFamily="34" charset="0"/>
              <a:buNone/>
              <a:defRPr/>
            </a:pPr>
            <a:r>
              <a:rPr lang="en-GB" altLang="zh-CN" sz="2800" dirty="0">
                <a:latin typeface="+mn-ea"/>
                <a:ea typeface="+mn-ea"/>
              </a:rPr>
              <a:t>1</a:t>
            </a:r>
            <a:r>
              <a:rPr lang="zh-CN" altLang="en-US" sz="2800" dirty="0">
                <a:latin typeface="+mn-ea"/>
                <a:ea typeface="+mn-ea"/>
              </a:rPr>
              <a:t>、挖掘方法</a:t>
            </a:r>
            <a:endParaRPr lang="en-US" altLang="zh-CN" sz="2800" dirty="0">
              <a:latin typeface="+mn-ea"/>
              <a:ea typeface="+mn-ea"/>
            </a:endParaRPr>
          </a:p>
          <a:p>
            <a:pPr marL="0" indent="0" eaLnBrk="1" hangingPunct="1">
              <a:buFont typeface="Arial" panose="020B0604020202020204" pitchFamily="34" charset="0"/>
              <a:buNone/>
              <a:defRPr/>
            </a:pPr>
            <a:r>
              <a:rPr lang="en-US" altLang="zh-CN" sz="2800" dirty="0">
                <a:latin typeface="+mn-ea"/>
                <a:ea typeface="+mn-ea"/>
              </a:rPr>
              <a:t>2</a:t>
            </a:r>
            <a:r>
              <a:rPr lang="zh-CN" altLang="en-US" sz="2800" dirty="0">
                <a:latin typeface="+mn-ea"/>
                <a:ea typeface="+mn-ea"/>
              </a:rPr>
              <a:t>、用户交互</a:t>
            </a:r>
            <a:endParaRPr lang="en-US" altLang="zh-CN" sz="2800" dirty="0">
              <a:latin typeface="+mn-ea"/>
              <a:ea typeface="+mn-ea"/>
            </a:endParaRPr>
          </a:p>
          <a:p>
            <a:pPr marL="0" indent="0" eaLnBrk="1" hangingPunct="1">
              <a:buFont typeface="Arial" panose="020B0604020202020204" pitchFamily="34" charset="0"/>
              <a:buNone/>
              <a:defRPr/>
            </a:pPr>
            <a:r>
              <a:rPr lang="en-US" altLang="zh-CN" sz="2800" dirty="0">
                <a:latin typeface="+mn-ea"/>
                <a:ea typeface="+mn-ea"/>
              </a:rPr>
              <a:t>3</a:t>
            </a:r>
            <a:r>
              <a:rPr lang="zh-CN" altLang="en-US" sz="2800" dirty="0">
                <a:latin typeface="+mn-ea"/>
                <a:ea typeface="+mn-ea"/>
              </a:rPr>
              <a:t>、有效性和可伸缩性</a:t>
            </a:r>
            <a:endParaRPr lang="en-US" altLang="zh-CN" sz="2800" dirty="0">
              <a:latin typeface="+mn-ea"/>
              <a:ea typeface="+mn-ea"/>
            </a:endParaRPr>
          </a:p>
          <a:p>
            <a:pPr marL="0" indent="0" eaLnBrk="1" hangingPunct="1">
              <a:buFont typeface="Arial" panose="020B0604020202020204" pitchFamily="34" charset="0"/>
              <a:buNone/>
              <a:defRPr/>
            </a:pPr>
            <a:r>
              <a:rPr lang="en-US" altLang="zh-CN" sz="2800" dirty="0">
                <a:latin typeface="+mn-ea"/>
                <a:ea typeface="+mn-ea"/>
              </a:rPr>
              <a:t>4</a:t>
            </a:r>
            <a:r>
              <a:rPr lang="zh-CN" altLang="en-US" sz="2800" dirty="0">
                <a:latin typeface="+mn-ea"/>
                <a:ea typeface="+mn-ea"/>
              </a:rPr>
              <a:t>、数据类型的多样性</a:t>
            </a:r>
            <a:endParaRPr lang="en-US" altLang="zh-CN" sz="2800" dirty="0">
              <a:latin typeface="+mn-ea"/>
              <a:ea typeface="+mn-ea"/>
            </a:endParaRPr>
          </a:p>
          <a:p>
            <a:pPr marL="0" indent="0" eaLnBrk="1" hangingPunct="1">
              <a:buFont typeface="Arial" panose="020B0604020202020204" pitchFamily="34" charset="0"/>
              <a:buNone/>
              <a:defRPr/>
            </a:pPr>
            <a:r>
              <a:rPr lang="en-US" altLang="zh-CN" sz="2800" dirty="0">
                <a:latin typeface="+mn-ea"/>
                <a:ea typeface="+mn-ea"/>
              </a:rPr>
              <a:t>5</a:t>
            </a:r>
            <a:r>
              <a:rPr lang="zh-CN" altLang="en-US" sz="2800" dirty="0">
                <a:latin typeface="+mn-ea"/>
                <a:ea typeface="+mn-ea"/>
              </a:rPr>
              <a:t>、数据挖掘与社会</a:t>
            </a:r>
            <a:endParaRPr lang="en-GB" altLang="zh-CN" sz="2800" dirty="0">
              <a:latin typeface="+mn-ea"/>
              <a:ea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1.7 </a:t>
            </a:r>
            <a:r>
              <a:rPr lang="zh-CN" altLang="en-US" b="1" dirty="0"/>
              <a:t>数据挖掘的主要问题</a:t>
            </a:r>
            <a:endParaRPr lang="en-US" altLang="zh-CN" b="1" dirty="0"/>
          </a:p>
        </p:txBody>
      </p:sp>
      <p:sp>
        <p:nvSpPr>
          <p:cNvPr id="73731"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962B9BD4-569E-417C-81EB-815FECE2CD1D}" type="slidenum">
              <a:rPr lang="en-US" altLang="zh-CN" sz="1400" smtClean="0">
                <a:solidFill>
                  <a:srgbClr val="898989"/>
                </a:solidFill>
                <a:latin typeface="Verdana" panose="020B0604030504040204" pitchFamily="34" charset="0"/>
              </a:rPr>
              <a:t>34</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52450" y="1162050"/>
            <a:ext cx="9793288"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b="1" dirty="0">
                <a:latin typeface="+mn-ea"/>
                <a:ea typeface="+mn-ea"/>
              </a:rPr>
              <a:t>数据挖掘研究的主要问题有：</a:t>
            </a:r>
            <a:endParaRPr lang="en-GB" altLang="zh-CN" sz="2800" b="1" dirty="0">
              <a:latin typeface="+mn-ea"/>
              <a:ea typeface="+mn-ea"/>
            </a:endParaRPr>
          </a:p>
          <a:p>
            <a:pPr marL="0" indent="0" eaLnBrk="1" hangingPunct="1">
              <a:buFont typeface="Arial" panose="020B0604020202020204" pitchFamily="34" charset="0"/>
              <a:buNone/>
              <a:defRPr/>
            </a:pPr>
            <a:r>
              <a:rPr lang="en-GB" altLang="zh-CN" sz="2800" b="1" dirty="0">
                <a:solidFill>
                  <a:srgbClr val="0070C0"/>
                </a:solidFill>
                <a:latin typeface="+mn-ea"/>
                <a:ea typeface="+mn-ea"/>
              </a:rPr>
              <a:t>1</a:t>
            </a:r>
            <a:r>
              <a:rPr lang="zh-CN" altLang="en-US" sz="2800" b="1" dirty="0">
                <a:solidFill>
                  <a:srgbClr val="0070C0"/>
                </a:solidFill>
                <a:latin typeface="+mn-ea"/>
                <a:ea typeface="+mn-ea"/>
              </a:rPr>
              <a:t>、挖掘方法</a:t>
            </a:r>
            <a:endParaRPr lang="en-US" altLang="zh-CN" sz="2800" b="1" dirty="0">
              <a:solidFill>
                <a:srgbClr val="0070C0"/>
              </a:solidFill>
              <a:latin typeface="+mn-ea"/>
              <a:ea typeface="+mn-ea"/>
            </a:endParaRPr>
          </a:p>
          <a:p>
            <a:pPr lvl="1" eaLnBrk="1" hangingPunct="1">
              <a:buFont typeface="Arial" panose="020B0604020202020204" pitchFamily="34" charset="0"/>
              <a:buChar char="•"/>
              <a:defRPr/>
            </a:pPr>
            <a:r>
              <a:rPr lang="zh-CN" altLang="en-US" sz="2400" dirty="0">
                <a:latin typeface="+mn-ea"/>
                <a:ea typeface="+mn-ea"/>
              </a:rPr>
              <a:t>挖掘各种新的知识类型</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挖掘多维空间中的知识</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跨学科的努力</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提升网络环境下的发现能力</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处理不确定性、噪声或不完全数据</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模式评估和模式或约束指导的挖掘</a:t>
            </a:r>
            <a:endParaRPr lang="en-US" altLang="zh-CN" sz="2400" dirty="0">
              <a:latin typeface="+mn-ea"/>
              <a:ea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1.7 </a:t>
            </a:r>
            <a:r>
              <a:rPr lang="zh-CN" altLang="en-US" b="1" dirty="0"/>
              <a:t>数据挖掘的主要问题</a:t>
            </a:r>
            <a:endParaRPr lang="en-US" altLang="zh-CN" b="1" dirty="0"/>
          </a:p>
        </p:txBody>
      </p:sp>
      <p:sp>
        <p:nvSpPr>
          <p:cNvPr id="75779"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79A550F1-A5BC-4246-9F02-324560D61F71}" type="slidenum">
              <a:rPr lang="en-US" altLang="zh-CN" sz="1400" smtClean="0">
                <a:solidFill>
                  <a:srgbClr val="898989"/>
                </a:solidFill>
                <a:latin typeface="Verdana" panose="020B0604030504040204" pitchFamily="34" charset="0"/>
              </a:rPr>
              <a:t>35</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52450" y="1162050"/>
            <a:ext cx="9793288"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b="1" dirty="0">
                <a:latin typeface="+mn-ea"/>
                <a:ea typeface="+mn-ea"/>
              </a:rPr>
              <a:t>数据挖掘研究的主要问题有：</a:t>
            </a:r>
            <a:endParaRPr lang="en-GB" altLang="zh-CN" sz="2800" b="1" dirty="0">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2</a:t>
            </a:r>
            <a:r>
              <a:rPr lang="zh-CN" altLang="en-US" sz="2800" b="1" dirty="0">
                <a:solidFill>
                  <a:srgbClr val="0070C0"/>
                </a:solidFill>
                <a:latin typeface="+mn-ea"/>
                <a:ea typeface="+mn-ea"/>
              </a:rPr>
              <a:t>、用户交互</a:t>
            </a:r>
            <a:endParaRPr lang="en-US" altLang="zh-CN" sz="2800" b="1" dirty="0">
              <a:solidFill>
                <a:srgbClr val="0070C0"/>
              </a:solidFill>
              <a:latin typeface="+mn-ea"/>
              <a:ea typeface="+mn-ea"/>
            </a:endParaRPr>
          </a:p>
          <a:p>
            <a:pPr lvl="1" eaLnBrk="1" hangingPunct="1">
              <a:buFont typeface="Arial" panose="020B0604020202020204" pitchFamily="34" charset="0"/>
              <a:buChar char="•"/>
              <a:defRPr/>
            </a:pPr>
            <a:r>
              <a:rPr lang="zh-CN" altLang="en-US" sz="2400" dirty="0">
                <a:latin typeface="+mn-ea"/>
                <a:ea typeface="+mn-ea"/>
              </a:rPr>
              <a:t>交互挖掘</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结合背景知识</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特定的数据挖掘和数据挖掘查询语言</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数据挖掘结果的表示和可视化</a:t>
            </a:r>
            <a:endParaRPr lang="en-US" altLang="zh-CN" sz="2400" dirty="0">
              <a:latin typeface="+mn-ea"/>
              <a:ea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1.7 </a:t>
            </a:r>
            <a:r>
              <a:rPr lang="zh-CN" altLang="en-US" b="1" dirty="0"/>
              <a:t>数据挖掘的主要问题</a:t>
            </a:r>
            <a:endParaRPr lang="en-US" altLang="zh-CN" b="1" dirty="0"/>
          </a:p>
        </p:txBody>
      </p:sp>
      <p:sp>
        <p:nvSpPr>
          <p:cNvPr id="77827"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C45CFE3B-6248-4E00-AF80-F2F2B28E048D}" type="slidenum">
              <a:rPr lang="en-US" altLang="zh-CN" sz="1400" smtClean="0">
                <a:solidFill>
                  <a:srgbClr val="898989"/>
                </a:solidFill>
                <a:latin typeface="Verdana" panose="020B0604030504040204" pitchFamily="34" charset="0"/>
              </a:rPr>
              <a:t>36</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52450" y="1162050"/>
            <a:ext cx="9793288"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b="1" dirty="0">
                <a:latin typeface="+mn-ea"/>
                <a:ea typeface="+mn-ea"/>
              </a:rPr>
              <a:t>数据挖掘研究的主要问题有：</a:t>
            </a:r>
            <a:endParaRPr lang="en-GB" altLang="zh-CN" sz="2800" b="1" dirty="0">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3</a:t>
            </a:r>
            <a:r>
              <a:rPr lang="zh-CN" altLang="en-US" sz="2800" b="1" dirty="0">
                <a:solidFill>
                  <a:srgbClr val="0070C0"/>
                </a:solidFill>
                <a:latin typeface="+mn-ea"/>
                <a:ea typeface="+mn-ea"/>
              </a:rPr>
              <a:t>、有效性和可伸缩性</a:t>
            </a:r>
            <a:endParaRPr lang="en-US" altLang="zh-CN" sz="2800" b="1" dirty="0">
              <a:solidFill>
                <a:srgbClr val="0070C0"/>
              </a:solidFill>
              <a:latin typeface="+mn-ea"/>
              <a:ea typeface="+mn-ea"/>
            </a:endParaRPr>
          </a:p>
          <a:p>
            <a:pPr marL="793750" lvl="1" indent="-342900" eaLnBrk="1" hangingPunct="1">
              <a:buFont typeface="Arial" panose="020B0604020202020204" pitchFamily="34" charset="0"/>
              <a:buChar char="•"/>
              <a:defRPr/>
            </a:pPr>
            <a:r>
              <a:rPr lang="zh-CN" altLang="en-US" sz="2400" dirty="0">
                <a:latin typeface="+mn-ea"/>
                <a:ea typeface="+mn-ea"/>
              </a:rPr>
              <a:t>数据挖掘算法的有效性和可伸缩性</a:t>
            </a:r>
            <a:endParaRPr lang="en-US" altLang="zh-CN" sz="2400" dirty="0">
              <a:latin typeface="+mn-ea"/>
              <a:ea typeface="+mn-ea"/>
            </a:endParaRPr>
          </a:p>
          <a:p>
            <a:pPr marL="793750" lvl="1" indent="-342900" eaLnBrk="1" hangingPunct="1">
              <a:buFont typeface="Arial" panose="020B0604020202020204" pitchFamily="34" charset="0"/>
              <a:buChar char="•"/>
              <a:defRPr/>
            </a:pPr>
            <a:r>
              <a:rPr lang="zh-CN" altLang="en-US" sz="2400" dirty="0">
                <a:latin typeface="+mn-ea"/>
                <a:ea typeface="+mn-ea"/>
              </a:rPr>
              <a:t>并行、分布式和增量挖掘算法</a:t>
            </a:r>
            <a:endParaRPr lang="en-US" altLang="zh-CN" sz="2400" dirty="0">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4</a:t>
            </a:r>
            <a:r>
              <a:rPr lang="zh-CN" altLang="en-US" sz="2800" b="1" dirty="0">
                <a:solidFill>
                  <a:srgbClr val="0070C0"/>
                </a:solidFill>
                <a:latin typeface="+mn-ea"/>
                <a:ea typeface="+mn-ea"/>
              </a:rPr>
              <a:t>、数据类型的多样性</a:t>
            </a:r>
            <a:endParaRPr lang="en-US" altLang="zh-CN" sz="2800" b="1" dirty="0">
              <a:solidFill>
                <a:srgbClr val="0070C0"/>
              </a:solidFill>
              <a:latin typeface="+mn-ea"/>
              <a:ea typeface="+mn-ea"/>
            </a:endParaRPr>
          </a:p>
          <a:p>
            <a:pPr marL="793750" lvl="1" indent="-342900" eaLnBrk="1" hangingPunct="1">
              <a:buFont typeface="Arial" panose="020B0604020202020204" pitchFamily="34" charset="0"/>
              <a:buChar char="•"/>
              <a:defRPr/>
            </a:pPr>
            <a:r>
              <a:rPr lang="zh-CN" altLang="en-US" sz="2400" dirty="0">
                <a:latin typeface="+mn-ea"/>
                <a:ea typeface="+mn-ea"/>
              </a:rPr>
              <a:t>处理复杂的数据类型</a:t>
            </a:r>
            <a:endParaRPr lang="en-US" altLang="zh-CN" sz="2400" dirty="0">
              <a:latin typeface="+mn-ea"/>
              <a:ea typeface="+mn-ea"/>
            </a:endParaRPr>
          </a:p>
          <a:p>
            <a:pPr marL="793750" lvl="1" indent="-342900" eaLnBrk="1" hangingPunct="1">
              <a:buFont typeface="Arial" panose="020B0604020202020204" pitchFamily="34" charset="0"/>
              <a:buChar char="•"/>
              <a:defRPr/>
            </a:pPr>
            <a:r>
              <a:rPr lang="zh-CN" altLang="en-US" sz="2400" dirty="0">
                <a:latin typeface="+mn-ea"/>
                <a:ea typeface="+mn-ea"/>
              </a:rPr>
              <a:t>挖掘动态的、网络的、全球的数据库</a:t>
            </a:r>
            <a:endParaRPr lang="en-US" altLang="zh-CN" sz="2400" dirty="0">
              <a:latin typeface="+mn-ea"/>
              <a:ea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2863"/>
            <a:ext cx="10801350" cy="1050926"/>
          </a:xfrm>
        </p:spPr>
        <p:txBody>
          <a:bodyPr/>
          <a:lstStyle/>
          <a:p>
            <a:pPr defTabSz="1028065" eaLnBrk="1" fontAlgn="auto" hangingPunct="1">
              <a:spcAft>
                <a:spcPts val="0"/>
              </a:spcAft>
              <a:defRPr/>
            </a:pPr>
            <a:r>
              <a:rPr lang="zh-CN" altLang="en-US" dirty="0"/>
              <a:t> </a:t>
            </a:r>
            <a:r>
              <a:rPr lang="en-US" altLang="zh-CN" b="1" dirty="0"/>
              <a:t>1.7 </a:t>
            </a:r>
            <a:r>
              <a:rPr lang="zh-CN" altLang="en-US" b="1" dirty="0"/>
              <a:t>数据挖掘的主要问题</a:t>
            </a:r>
            <a:endParaRPr lang="en-US" altLang="zh-CN" b="1" dirty="0"/>
          </a:p>
        </p:txBody>
      </p:sp>
      <p:sp>
        <p:nvSpPr>
          <p:cNvPr id="79875"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3FD620EF-5781-4A0D-AF5D-5CD9C31BBDD5}" type="slidenum">
              <a:rPr lang="en-US" altLang="zh-CN" sz="1400" smtClean="0">
                <a:solidFill>
                  <a:srgbClr val="898989"/>
                </a:solidFill>
                <a:latin typeface="Verdana" panose="020B0604030504040204" pitchFamily="34" charset="0"/>
              </a:rPr>
              <a:t>37</a:t>
            </a:fld>
            <a:endParaRPr lang="en-US" altLang="zh-CN" sz="1400">
              <a:solidFill>
                <a:srgbClr val="898989"/>
              </a:solidFill>
              <a:latin typeface="Verdana" panose="020B0604030504040204" pitchFamily="34" charset="0"/>
            </a:endParaRPr>
          </a:p>
        </p:txBody>
      </p:sp>
      <p:sp>
        <p:nvSpPr>
          <p:cNvPr id="11" name="内容占位符 2"/>
          <p:cNvSpPr txBox="1"/>
          <p:nvPr/>
        </p:nvSpPr>
        <p:spPr bwMode="auto">
          <a:xfrm>
            <a:off x="552450" y="1162050"/>
            <a:ext cx="9793288"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84175" indent="-384175" algn="l" defTabSz="1027430" rtl="0" eaLnBrk="0" fontAlgn="base" hangingPunct="0">
              <a:lnSpc>
                <a:spcPct val="150000"/>
              </a:lnSpc>
              <a:spcBef>
                <a:spcPts val="0"/>
              </a:spcBef>
              <a:spcAft>
                <a:spcPct val="0"/>
              </a:spcAft>
              <a:buFont typeface="Arial" panose="020B0604020202020204" pitchFamily="34" charset="0"/>
              <a:buChar char="•"/>
              <a:defRPr sz="3600" kern="1200">
                <a:solidFill>
                  <a:schemeClr val="tx1"/>
                </a:solidFill>
                <a:latin typeface="+mn-lt"/>
                <a:ea typeface="PMingLiU" panose="02020500000000000000" pitchFamily="18" charset="-120"/>
                <a:cs typeface="+mn-cs"/>
              </a:defRPr>
            </a:lvl1pPr>
            <a:lvl2pPr marL="835025" indent="-320675" algn="l" defTabSz="1027430" rtl="0" eaLnBrk="0" fontAlgn="base" hangingPunct="0">
              <a:lnSpc>
                <a:spcPct val="150000"/>
              </a:lnSpc>
              <a:spcBef>
                <a:spcPts val="0"/>
              </a:spcBef>
              <a:spcAft>
                <a:spcPct val="0"/>
              </a:spcAft>
              <a:buFont typeface="Arial" panose="020B0604020202020204" pitchFamily="34" charset="0"/>
              <a:buChar char="–"/>
              <a:defRPr sz="3200" kern="1200">
                <a:solidFill>
                  <a:schemeClr val="tx1"/>
                </a:solidFill>
                <a:latin typeface="+mn-lt"/>
                <a:ea typeface="PMingLiU" panose="02020500000000000000" pitchFamily="18" charset="-120"/>
                <a:cs typeface="+mn-cs"/>
              </a:defRPr>
            </a:lvl2pPr>
            <a:lvl3pPr marL="1284605" indent="-255905" algn="l" defTabSz="102743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3pPr>
            <a:lvl4pPr marL="1798955"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4pPr>
            <a:lvl5pPr marL="2311400" indent="-255905" algn="l" defTabSz="1027430" rtl="0" eaLnBrk="0" fontAlgn="base" hangingPunct="0">
              <a:lnSpc>
                <a:spcPct val="150000"/>
              </a:lnSpc>
              <a:spcBef>
                <a:spcPts val="0"/>
              </a:spcBef>
              <a:spcAft>
                <a:spcPct val="0"/>
              </a:spcAft>
              <a:buFont typeface="Arial" panose="020B0604020202020204" pitchFamily="34" charset="0"/>
              <a:buChar char="»"/>
              <a:defRPr sz="2300" kern="1200">
                <a:solidFill>
                  <a:schemeClr val="tx1"/>
                </a:solidFill>
                <a:latin typeface="+mn-lt"/>
                <a:ea typeface="PMingLiU" panose="02020500000000000000" pitchFamily="18" charset="-120"/>
                <a:cs typeface="+mn-cs"/>
              </a:defRPr>
            </a:lvl5pPr>
            <a:lvl6pPr marL="282638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4073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54450"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368165" indent="-257175" algn="l" defTabSz="1028065"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eaLnBrk="1" hangingPunct="1">
              <a:buFont typeface="Arial" panose="020B0604020202020204" pitchFamily="34" charset="0"/>
              <a:buNone/>
              <a:defRPr/>
            </a:pPr>
            <a:r>
              <a:rPr lang="zh-CN" altLang="en-US" sz="2800" b="1" dirty="0">
                <a:latin typeface="+mn-ea"/>
                <a:ea typeface="+mn-ea"/>
              </a:rPr>
              <a:t>数据挖掘研究的主要问题有：</a:t>
            </a:r>
            <a:endParaRPr lang="en-GB" altLang="zh-CN" sz="2800" b="1" dirty="0">
              <a:latin typeface="+mn-ea"/>
              <a:ea typeface="+mn-ea"/>
            </a:endParaRPr>
          </a:p>
          <a:p>
            <a:pPr marL="0" indent="0" eaLnBrk="1" hangingPunct="1">
              <a:buFont typeface="Arial" panose="020B0604020202020204" pitchFamily="34" charset="0"/>
              <a:buNone/>
              <a:defRPr/>
            </a:pPr>
            <a:r>
              <a:rPr lang="en-US" altLang="zh-CN" sz="2800" b="1" dirty="0">
                <a:solidFill>
                  <a:srgbClr val="0070C0"/>
                </a:solidFill>
                <a:latin typeface="+mn-ea"/>
                <a:ea typeface="+mn-ea"/>
              </a:rPr>
              <a:t>5</a:t>
            </a:r>
            <a:r>
              <a:rPr lang="zh-CN" altLang="en-US" sz="2800" b="1" dirty="0">
                <a:solidFill>
                  <a:srgbClr val="0070C0"/>
                </a:solidFill>
                <a:latin typeface="+mn-ea"/>
                <a:ea typeface="+mn-ea"/>
              </a:rPr>
              <a:t>、数据挖掘与社会</a:t>
            </a:r>
            <a:endParaRPr lang="en-US" altLang="zh-CN" sz="2800" b="1" dirty="0">
              <a:solidFill>
                <a:srgbClr val="0070C0"/>
              </a:solidFill>
              <a:latin typeface="+mn-ea"/>
              <a:ea typeface="+mn-ea"/>
            </a:endParaRPr>
          </a:p>
          <a:p>
            <a:pPr lvl="1" eaLnBrk="1" hangingPunct="1">
              <a:buFont typeface="Arial" panose="020B0604020202020204" pitchFamily="34" charset="0"/>
              <a:buChar char="•"/>
              <a:defRPr/>
            </a:pPr>
            <a:r>
              <a:rPr lang="zh-CN" altLang="en-US" sz="2400" dirty="0">
                <a:latin typeface="+mn-ea"/>
                <a:ea typeface="+mn-ea"/>
              </a:rPr>
              <a:t>数据挖掘的社会影响</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保护隐私的数据挖掘</a:t>
            </a:r>
            <a:endParaRPr lang="en-US" altLang="zh-CN" sz="2400" dirty="0">
              <a:latin typeface="+mn-ea"/>
              <a:ea typeface="+mn-ea"/>
            </a:endParaRPr>
          </a:p>
          <a:p>
            <a:pPr lvl="1" eaLnBrk="1" hangingPunct="1">
              <a:buFont typeface="Arial" panose="020B0604020202020204" pitchFamily="34" charset="0"/>
              <a:buChar char="•"/>
              <a:defRPr/>
            </a:pPr>
            <a:r>
              <a:rPr lang="zh-CN" altLang="en-US" sz="2400" dirty="0">
                <a:latin typeface="+mn-ea"/>
                <a:ea typeface="+mn-ea"/>
              </a:rPr>
              <a:t>无形的数据挖掘</a:t>
            </a:r>
            <a:endParaRPr lang="en-GB" altLang="zh-CN" sz="2400" dirty="0">
              <a:latin typeface="+mn-ea"/>
              <a:ea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0" y="-42863"/>
            <a:ext cx="10801350" cy="1050926"/>
          </a:xfrm>
        </p:spPr>
        <p:txBody>
          <a:bodyPr rtlCol="0"/>
          <a:lstStyle/>
          <a:p>
            <a:pPr defTabSz="1028065" eaLnBrk="1" fontAlgn="auto" hangingPunct="1">
              <a:spcAft>
                <a:spcPts val="0"/>
              </a:spcAft>
              <a:defRPr/>
            </a:pPr>
            <a:r>
              <a:rPr lang="zh-CN" altLang="en-US" dirty="0">
                <a:ea typeface="隶书" panose="02010509060101010101" pitchFamily="49" charset="-122"/>
              </a:rPr>
              <a:t>  第</a:t>
            </a:r>
            <a:r>
              <a:rPr lang="en-US" altLang="zh-CN" dirty="0">
                <a:ea typeface="隶书" panose="02010509060101010101" pitchFamily="49" charset="-122"/>
              </a:rPr>
              <a:t>1</a:t>
            </a:r>
            <a:r>
              <a:rPr lang="zh-CN" altLang="en-US" dirty="0">
                <a:ea typeface="隶书" panose="02010509060101010101" pitchFamily="49" charset="-122"/>
              </a:rPr>
              <a:t>章 引论</a:t>
            </a:r>
          </a:p>
        </p:txBody>
      </p:sp>
      <p:sp>
        <p:nvSpPr>
          <p:cNvPr id="23555" name="内容占位符 2"/>
          <p:cNvSpPr>
            <a:spLocks noGrp="1"/>
          </p:cNvSpPr>
          <p:nvPr>
            <p:ph idx="1"/>
          </p:nvPr>
        </p:nvSpPr>
        <p:spPr>
          <a:xfrm>
            <a:off x="576263" y="1079500"/>
            <a:ext cx="9864725" cy="5689600"/>
          </a:xfrm>
        </p:spPr>
        <p:txBody>
          <a:bodyPr rtlCol="0">
            <a:normAutofit fontScale="85000" lnSpcReduction="20000"/>
          </a:bodyPr>
          <a:lstStyle/>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1.1 </a:t>
            </a:r>
            <a:r>
              <a:rPr lang="zh-CN" altLang="en-US" sz="4100" dirty="0">
                <a:solidFill>
                  <a:schemeClr val="bg1">
                    <a:lumMod val="50000"/>
                  </a:schemeClr>
                </a:solidFill>
                <a:ea typeface="华文楷体" panose="02010600040101010101" pitchFamily="2" charset="-122"/>
              </a:rPr>
              <a:t>为什么进行数据挖掘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1.2 </a:t>
            </a:r>
            <a:r>
              <a:rPr lang="zh-CN" altLang="en-US" sz="4100" dirty="0">
                <a:solidFill>
                  <a:schemeClr val="bg1">
                    <a:lumMod val="50000"/>
                  </a:schemeClr>
                </a:solidFill>
                <a:ea typeface="华文楷体" panose="02010600040101010101" pitchFamily="2" charset="-122"/>
              </a:rPr>
              <a:t>什么是数据挖掘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1.3 </a:t>
            </a:r>
            <a:r>
              <a:rPr lang="zh-CN" altLang="en-US" sz="4100" dirty="0">
                <a:solidFill>
                  <a:schemeClr val="bg1">
                    <a:lumMod val="50000"/>
                  </a:schemeClr>
                </a:solidFill>
                <a:ea typeface="华文楷体" panose="02010600040101010101" pitchFamily="2" charset="-122"/>
              </a:rPr>
              <a:t>可以挖掘什么类型的数据</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1.4 </a:t>
            </a:r>
            <a:r>
              <a:rPr lang="zh-CN" altLang="en-US" sz="4100" dirty="0">
                <a:solidFill>
                  <a:schemeClr val="bg1">
                    <a:lumMod val="50000"/>
                  </a:schemeClr>
                </a:solidFill>
                <a:ea typeface="华文楷体" panose="02010600040101010101" pitchFamily="2" charset="-122"/>
              </a:rPr>
              <a:t>可以挖掘什么类型的模式</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1.5 </a:t>
            </a:r>
            <a:r>
              <a:rPr lang="zh-CN" altLang="en-US" sz="4100" dirty="0">
                <a:solidFill>
                  <a:schemeClr val="bg1">
                    <a:lumMod val="50000"/>
                  </a:schemeClr>
                </a:solidFill>
                <a:ea typeface="华文楷体" panose="02010600040101010101" pitchFamily="2" charset="-122"/>
              </a:rPr>
              <a:t>使用什么技术</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1.6 </a:t>
            </a:r>
            <a:r>
              <a:rPr lang="zh-CN" altLang="en-US" sz="4100" dirty="0">
                <a:solidFill>
                  <a:schemeClr val="bg1">
                    <a:lumMod val="50000"/>
                  </a:schemeClr>
                </a:solidFill>
                <a:ea typeface="华文楷体" panose="02010600040101010101" pitchFamily="2" charset="-122"/>
              </a:rPr>
              <a:t>面向什么类型的应用</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dirty="0">
                <a:solidFill>
                  <a:schemeClr val="bg1">
                    <a:lumMod val="50000"/>
                  </a:schemeClr>
                </a:solidFill>
                <a:ea typeface="华文楷体" panose="02010600040101010101" pitchFamily="2" charset="-122"/>
              </a:rPr>
              <a:t>1.7 </a:t>
            </a:r>
            <a:r>
              <a:rPr lang="zh-CN" altLang="en-US" sz="4100" dirty="0">
                <a:solidFill>
                  <a:schemeClr val="bg1">
                    <a:lumMod val="50000"/>
                  </a:schemeClr>
                </a:solidFill>
                <a:ea typeface="华文楷体" panose="02010600040101010101" pitchFamily="2" charset="-122"/>
              </a:rPr>
              <a:t>数据挖掘的主要问题</a:t>
            </a:r>
            <a:endParaRPr lang="en-US" altLang="zh-CN" sz="4100" dirty="0">
              <a:solidFill>
                <a:schemeClr val="bg1">
                  <a:lumMod val="50000"/>
                </a:schemeClr>
              </a:solidFill>
              <a:ea typeface="华文楷体" panose="02010600040101010101" pitchFamily="2" charset="-122"/>
            </a:endParaRPr>
          </a:p>
          <a:p>
            <a:pPr marL="0" indent="0" defTabSz="1028065" eaLnBrk="1" fontAlgn="auto" hangingPunct="1">
              <a:spcAft>
                <a:spcPts val="0"/>
              </a:spcAft>
              <a:buFont typeface="Arial" panose="020B0604020202020204" pitchFamily="34" charset="0"/>
              <a:buNone/>
              <a:defRPr/>
            </a:pPr>
            <a:r>
              <a:rPr lang="en-US" altLang="zh-CN" sz="4100" b="1" dirty="0">
                <a:solidFill>
                  <a:srgbClr val="FF0000"/>
                </a:solidFill>
                <a:ea typeface="华文楷体" panose="02010600040101010101" pitchFamily="2" charset="-122"/>
              </a:rPr>
              <a:t>1.8 </a:t>
            </a:r>
            <a:r>
              <a:rPr lang="zh-CN" altLang="en-US" sz="4100" b="1" dirty="0">
                <a:solidFill>
                  <a:srgbClr val="FF0000"/>
                </a:solidFill>
                <a:ea typeface="华文楷体" panose="02010600040101010101" pitchFamily="2" charset="-122"/>
              </a:rPr>
              <a:t>小结</a:t>
            </a:r>
            <a:endParaRPr lang="en-US" altLang="zh-CN" sz="4100" b="1" dirty="0">
              <a:solidFill>
                <a:srgbClr val="FF0000"/>
              </a:solidFill>
              <a:ea typeface="华文楷体" panose="02010600040101010101" pitchFamily="2" charset="-122"/>
            </a:endParaRPr>
          </a:p>
        </p:txBody>
      </p:sp>
      <p:sp>
        <p:nvSpPr>
          <p:cNvPr id="81924" name="灯片编号占位符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600">
                <a:solidFill>
                  <a:schemeClr val="tx1"/>
                </a:solidFill>
                <a:latin typeface="Calibri" panose="020F0502020204030204" pitchFamily="34" charset="0"/>
                <a:ea typeface="PMingLiU" panose="02020500000000000000" pitchFamily="18" charset="-12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ea typeface="PMingLiU" panose="02020500000000000000" pitchFamily="18" charset="-12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ea typeface="PMingLiU" panose="02020500000000000000" pitchFamily="18" charset="-120"/>
              </a:defRPr>
            </a:lvl9pPr>
          </a:lstStyle>
          <a:p>
            <a:pPr>
              <a:spcBef>
                <a:spcPct val="0"/>
              </a:spcBef>
              <a:buFontTx/>
              <a:buNone/>
            </a:pPr>
            <a:fld id="{A66FB278-2753-4DE3-BA47-7C147C6D2EF5}" type="slidenum">
              <a:rPr lang="en-US" altLang="zh-TW" sz="1400" smtClean="0">
                <a:solidFill>
                  <a:srgbClr val="898989"/>
                </a:solidFill>
                <a:latin typeface="Verdana" panose="020B0604030504040204" pitchFamily="34" charset="0"/>
              </a:rPr>
              <a:t>38</a:t>
            </a:fld>
            <a:endParaRPr lang="en-US" altLang="zh-TW" sz="1400">
              <a:solidFill>
                <a:srgbClr val="898989"/>
              </a:solidFill>
              <a:latin typeface="Verdan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3F07EED-E9F4-41C4-918A-5ECC25DEB42D}" type="slidenum">
              <a:rPr lang="en-US" altLang="zh-CN" smtClean="0"/>
              <a:t>39</a:t>
            </a:fld>
            <a:endParaRPr lang="en-US" altLang="zh-CN"/>
          </a:p>
        </p:txBody>
      </p:sp>
      <p:pic>
        <p:nvPicPr>
          <p:cNvPr id="8294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150" y="0"/>
            <a:ext cx="10985500" cy="720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50e055b-e175-44af-a606-ebbe0c87cb6e"/>
  <p:tag name="COMMONDATA" val="eyJoZGlkIjoiN2YzNjBkOTgyNWQ1YTMxYzM3MzMwNWFiODNmOWIzYWM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985,&quot;width&quot;:7403}"/>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3003</Words>
  <Application>Microsoft Macintosh PowerPoint</Application>
  <PresentationFormat>自定义</PresentationFormat>
  <Paragraphs>463</Paragraphs>
  <Slides>39</Slides>
  <Notes>24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1" baseType="lpstr">
      <vt:lpstr>华文楷体</vt:lpstr>
      <vt:lpstr>楷体</vt:lpstr>
      <vt:lpstr>隶书</vt:lpstr>
      <vt:lpstr>宋体</vt:lpstr>
      <vt:lpstr>微软雅黑</vt:lpstr>
      <vt:lpstr>Arial</vt:lpstr>
      <vt:lpstr>Calibri</vt:lpstr>
      <vt:lpstr>Times New Roman</vt:lpstr>
      <vt:lpstr>Verdana</vt:lpstr>
      <vt:lpstr>Wingdings</vt:lpstr>
      <vt:lpstr>Office 主题​​</vt:lpstr>
      <vt:lpstr>Clip</vt:lpstr>
      <vt:lpstr>PowerPoint 演示文稿</vt:lpstr>
      <vt:lpstr>  第1章 引论</vt:lpstr>
      <vt:lpstr>  第1章 引论</vt:lpstr>
      <vt:lpstr>  1.1 为什么进行数据挖掘</vt:lpstr>
      <vt:lpstr>  1.1 为什么进行数据挖掘</vt:lpstr>
      <vt:lpstr>  第1章 引论</vt:lpstr>
      <vt:lpstr>  1.2 什么是数据挖掘</vt:lpstr>
      <vt:lpstr>  1.2 什么是数据挖掘</vt:lpstr>
      <vt:lpstr>  1.2 什么是数据挖掘</vt:lpstr>
      <vt:lpstr>  第1章 引论</vt:lpstr>
      <vt:lpstr> 1.3 可以挖掘什么类型的数据</vt:lpstr>
      <vt:lpstr> 1.3 可以挖掘什么类型的数据</vt:lpstr>
      <vt:lpstr> 1.3 可以挖掘什么类型的数据</vt:lpstr>
      <vt:lpstr> 1.3 可以挖掘什么类型的数据</vt:lpstr>
      <vt:lpstr> 1.3 可以挖掘什么类型的数据</vt:lpstr>
      <vt:lpstr> 1.3 可以挖掘什么类型的数据</vt:lpstr>
      <vt:lpstr>  第1章 引论</vt:lpstr>
      <vt:lpstr> 1.4 可以挖掘什么类型的模式</vt:lpstr>
      <vt:lpstr> 1.4 可以挖掘什么类型的模式</vt:lpstr>
      <vt:lpstr> 1.4 可以挖掘什么类型的模式</vt:lpstr>
      <vt:lpstr> 1.4 可以挖掘什么类型的模式</vt:lpstr>
      <vt:lpstr> 1.4 可以挖掘什么类型的模式</vt:lpstr>
      <vt:lpstr> 1.4 可以挖掘什么类型的模式</vt:lpstr>
      <vt:lpstr> 1.4 可以挖掘什么类型的模式</vt:lpstr>
      <vt:lpstr> 1.4 可以挖掘什么类型的模式</vt:lpstr>
      <vt:lpstr>  第1章 引论</vt:lpstr>
      <vt:lpstr> 1.5 使用什么技术</vt:lpstr>
      <vt:lpstr>  第1章 引论</vt:lpstr>
      <vt:lpstr> 1.6 面向什么类型的应用</vt:lpstr>
      <vt:lpstr> 1.6 面向什么类型的应用</vt:lpstr>
      <vt:lpstr> 1.6 面向什么类型的应用</vt:lpstr>
      <vt:lpstr>  第1章 引论</vt:lpstr>
      <vt:lpstr> 1.7 数据挖掘的主要问题</vt:lpstr>
      <vt:lpstr> 1.7 数据挖掘的主要问题</vt:lpstr>
      <vt:lpstr> 1.7 数据挖掘的主要问题</vt:lpstr>
      <vt:lpstr> 1.7 数据挖掘的主要问题</vt:lpstr>
      <vt:lpstr> 1.7 数据挖掘的主要问题</vt:lpstr>
      <vt:lpstr>  第1章 引论</vt:lpstr>
      <vt:lpstr>PowerPoint 演示文稿</vt:lpstr>
    </vt:vector>
  </TitlesOfParts>
  <Company>fujen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第一章绪论</dc:title>
  <dc:creator>刘云霞</dc:creator>
  <cp:lastModifiedBy>瑶 卢</cp:lastModifiedBy>
  <cp:revision>720</cp:revision>
  <dcterms:created xsi:type="dcterms:W3CDTF">2006-01-09T14:52:00Z</dcterms:created>
  <dcterms:modified xsi:type="dcterms:W3CDTF">2024-02-28T14:03:48Z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51C9CD0985AF46A7944CB0439176CD33</vt:lpwstr>
  </property>
  <property fmtid="{D5CDD505-2E9C-101B-9397-08002B2CF9AE}" pid="3" name="KSOProductBuildVer">
    <vt:lpwstr>2052-11.1.0.12980</vt:lpwstr>
  </property>
</Properties>
</file>