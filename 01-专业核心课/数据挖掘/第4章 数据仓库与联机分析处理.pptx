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sldIdLst>
    <p:sldId id="257" r:id="rId3"/>
    <p:sldId id="358" r:id="rId4"/>
    <p:sldId id="364" r:id="rId5"/>
    <p:sldId id="365" r:id="rId6"/>
    <p:sldId id="366" r:id="rId7"/>
    <p:sldId id="415" r:id="rId8"/>
    <p:sldId id="367" r:id="rId9"/>
    <p:sldId id="368" r:id="rId11"/>
    <p:sldId id="371" r:id="rId12"/>
    <p:sldId id="369" r:id="rId13"/>
    <p:sldId id="370" r:id="rId14"/>
    <p:sldId id="359" r:id="rId15"/>
    <p:sldId id="372" r:id="rId16"/>
    <p:sldId id="407" r:id="rId17"/>
    <p:sldId id="417" r:id="rId18"/>
    <p:sldId id="373" r:id="rId19"/>
    <p:sldId id="374" r:id="rId20"/>
    <p:sldId id="403" r:id="rId21"/>
    <p:sldId id="404" r:id="rId22"/>
    <p:sldId id="405" r:id="rId23"/>
    <p:sldId id="375" r:id="rId24"/>
    <p:sldId id="376" r:id="rId25"/>
    <p:sldId id="377" r:id="rId26"/>
    <p:sldId id="418" r:id="rId27"/>
    <p:sldId id="413" r:id="rId28"/>
    <p:sldId id="360" r:id="rId29"/>
    <p:sldId id="378" r:id="rId30"/>
    <p:sldId id="379" r:id="rId31"/>
    <p:sldId id="380" r:id="rId32"/>
    <p:sldId id="381" r:id="rId33"/>
    <p:sldId id="382" r:id="rId34"/>
    <p:sldId id="383" r:id="rId35"/>
    <p:sldId id="361" r:id="rId36"/>
    <p:sldId id="384" r:id="rId37"/>
    <p:sldId id="390" r:id="rId38"/>
    <p:sldId id="391" r:id="rId39"/>
    <p:sldId id="392" r:id="rId40"/>
    <p:sldId id="393" r:id="rId41"/>
    <p:sldId id="394" r:id="rId42"/>
    <p:sldId id="362" r:id="rId43"/>
    <p:sldId id="395" r:id="rId44"/>
    <p:sldId id="396" r:id="rId45"/>
    <p:sldId id="397" r:id="rId46"/>
    <p:sldId id="398" r:id="rId47"/>
    <p:sldId id="399" r:id="rId48"/>
    <p:sldId id="400" r:id="rId49"/>
    <p:sldId id="402" r:id="rId50"/>
    <p:sldId id="363" r:id="rId51"/>
    <p:sldId id="414" r:id="rId52"/>
    <p:sldId id="416" r:id="rId53"/>
  </p:sldIdLst>
  <p:sldSz cx="10799445" cy="7198995"/>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513080" indent="-5588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1027430" indent="-11303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541780" indent="-17018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2056130" indent="-22733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299" userDrawn="1">
          <p15:clr>
            <a:srgbClr val="A4A3A4"/>
          </p15:clr>
        </p15:guide>
        <p15:guide id="2" pos="34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9900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howGuides="1">
      <p:cViewPr varScale="1">
        <p:scale>
          <a:sx n="84" d="100"/>
          <a:sy n="84" d="100"/>
        </p:scale>
        <p:origin x="106" y="58"/>
      </p:cViewPr>
      <p:guideLst>
        <p:guide orient="horz" pos="2299"/>
        <p:guide pos="3402"/>
      </p:guideLst>
    </p:cSldViewPr>
  </p:slideViewPr>
  <p:notesTextViewPr>
    <p:cViewPr>
      <p:scale>
        <a:sx n="100" d="100"/>
        <a:sy n="100" d="100"/>
      </p:scale>
      <p:origin x="0" y="0"/>
    </p:cViewPr>
  </p:notesTextViewPr>
  <p:sorterViewPr>
    <p:cViewPr>
      <p:scale>
        <a:sx n="100" d="100"/>
        <a:sy n="100" d="100"/>
      </p:scale>
      <p:origin x="0" y="-5502"/>
    </p:cViewPr>
  </p:sorter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90204" pitchFamily="34" charset="0"/>
              </a:defRPr>
            </a:lvl1pPr>
          </a:lstStyle>
          <a:p>
            <a:pPr>
              <a:defRPr/>
            </a:pPr>
            <a:endParaRPr lang="en-US" altLang="zh-CN"/>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90204" pitchFamily="34" charset="0"/>
              </a:defRPr>
            </a:lvl1pPr>
          </a:lstStyle>
          <a:p>
            <a:pPr>
              <a:defRPr/>
            </a:pPr>
            <a:endParaRPr lang="en-US" altLang="zh-CN"/>
          </a:p>
        </p:txBody>
      </p:sp>
      <p:sp>
        <p:nvSpPr>
          <p:cNvPr id="2052" name="Rectangle 4"/>
          <p:cNvSpPr>
            <a:spLocks noGrp="1" noRot="1" noChangeAspect="1" noChangeArrowheads="1" noTextEdit="1"/>
          </p:cNvSpPr>
          <p:nvPr>
            <p:ph type="sldImg" idx="4294967295"/>
          </p:nvPr>
        </p:nvSpPr>
        <p:spPr bwMode="auto">
          <a:xfrm>
            <a:off x="857250" y="685800"/>
            <a:ext cx="51435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90204" pitchFamily="34" charset="0"/>
              </a:defRPr>
            </a:lvl1pPr>
          </a:lstStyle>
          <a:p>
            <a:pPr>
              <a:defRPr/>
            </a:pPr>
            <a:endParaRPr lang="en-US" altLang="zh-CN"/>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9DC6E4B3-AFD9-47D3-8551-053D224AF8C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panose="020B0604020202090204" pitchFamily="34" charset="0"/>
        <a:ea typeface="宋体" pitchFamily="2" charset="-122"/>
        <a:cs typeface="+mn-cs"/>
      </a:defRPr>
    </a:lvl1pPr>
    <a:lvl2pPr marL="513080" algn="l" rtl="0" eaLnBrk="0" fontAlgn="base" hangingPunct="0">
      <a:spcBef>
        <a:spcPct val="30000"/>
      </a:spcBef>
      <a:spcAft>
        <a:spcPct val="0"/>
      </a:spcAft>
      <a:defRPr sz="1300" kern="1200">
        <a:solidFill>
          <a:schemeClr val="tx1"/>
        </a:solidFill>
        <a:latin typeface="Arial" panose="020B0604020202090204" pitchFamily="34" charset="0"/>
        <a:ea typeface="宋体" pitchFamily="2" charset="-122"/>
        <a:cs typeface="+mn-cs"/>
      </a:defRPr>
    </a:lvl2pPr>
    <a:lvl3pPr marL="1027430" algn="l" rtl="0" eaLnBrk="0" fontAlgn="base" hangingPunct="0">
      <a:spcBef>
        <a:spcPct val="30000"/>
      </a:spcBef>
      <a:spcAft>
        <a:spcPct val="0"/>
      </a:spcAft>
      <a:defRPr sz="1300" kern="1200">
        <a:solidFill>
          <a:schemeClr val="tx1"/>
        </a:solidFill>
        <a:latin typeface="Arial" panose="020B0604020202090204" pitchFamily="34" charset="0"/>
        <a:ea typeface="宋体" pitchFamily="2" charset="-122"/>
        <a:cs typeface="+mn-cs"/>
      </a:defRPr>
    </a:lvl3pPr>
    <a:lvl4pPr marL="1541780" algn="l" rtl="0" eaLnBrk="0" fontAlgn="base" hangingPunct="0">
      <a:spcBef>
        <a:spcPct val="30000"/>
      </a:spcBef>
      <a:spcAft>
        <a:spcPct val="0"/>
      </a:spcAft>
      <a:defRPr sz="1300" kern="1200">
        <a:solidFill>
          <a:schemeClr val="tx1"/>
        </a:solidFill>
        <a:latin typeface="Arial" panose="020B0604020202090204" pitchFamily="34" charset="0"/>
        <a:ea typeface="宋体" pitchFamily="2" charset="-122"/>
        <a:cs typeface="+mn-cs"/>
      </a:defRPr>
    </a:lvl4pPr>
    <a:lvl5pPr marL="2056130" algn="l" rtl="0" eaLnBrk="0" fontAlgn="base" hangingPunct="0">
      <a:spcBef>
        <a:spcPct val="30000"/>
      </a:spcBef>
      <a:spcAft>
        <a:spcPct val="0"/>
      </a:spcAft>
      <a:defRPr sz="1300" kern="1200">
        <a:solidFill>
          <a:schemeClr val="tx1"/>
        </a:solidFill>
        <a:latin typeface="Arial" panose="020B0604020202090204" pitchFamily="34" charset="0"/>
        <a:ea typeface="宋体" pitchFamily="2" charset="-122"/>
        <a:cs typeface="+mn-cs"/>
      </a:defRPr>
    </a:lvl5pPr>
    <a:lvl6pPr marL="2571115" algn="l" defTabSz="1028700" rtl="0" eaLnBrk="1" latinLnBrk="0" hangingPunct="1">
      <a:defRPr sz="1350" kern="1200">
        <a:solidFill>
          <a:schemeClr val="tx1"/>
        </a:solidFill>
        <a:latin typeface="+mn-lt"/>
        <a:ea typeface="+mn-ea"/>
        <a:cs typeface="+mn-cs"/>
      </a:defRPr>
    </a:lvl6pPr>
    <a:lvl7pPr marL="3085465" algn="l" defTabSz="1028700" rtl="0" eaLnBrk="1" latinLnBrk="0" hangingPunct="1">
      <a:defRPr sz="1350" kern="1200">
        <a:solidFill>
          <a:schemeClr val="tx1"/>
        </a:solidFill>
        <a:latin typeface="+mn-lt"/>
        <a:ea typeface="+mn-ea"/>
        <a:cs typeface="+mn-cs"/>
      </a:defRPr>
    </a:lvl7pPr>
    <a:lvl8pPr marL="3599815" algn="l" defTabSz="1028700" rtl="0" eaLnBrk="1" latinLnBrk="0" hangingPunct="1">
      <a:defRPr sz="1350" kern="1200">
        <a:solidFill>
          <a:schemeClr val="tx1"/>
        </a:solidFill>
        <a:latin typeface="+mn-lt"/>
        <a:ea typeface="+mn-ea"/>
        <a:cs typeface="+mn-cs"/>
      </a:defRPr>
    </a:lvl8pPr>
    <a:lvl9pPr marL="4114165" algn="l" defTabSz="1028700" rtl="0" eaLnBrk="1" latinLnBrk="0" hangingPunct="1">
      <a:defRPr sz="13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p:sp>
      <p:sp>
        <p:nvSpPr>
          <p:cNvPr id="102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81A253A-72FF-4084-8540-033CE5540EB1}"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idx="4294967295"/>
          </p:nvPr>
        </p:nvSpPr>
        <p:spPr/>
      </p:sp>
      <p:sp>
        <p:nvSpPr>
          <p:cNvPr id="12291" name="备注占位符 2"/>
          <p:cNvSpPr>
            <a:spLocks noGrp="1" noChangeArrowheads="1"/>
          </p:cNvSpPr>
          <p:nvPr>
            <p:ph type="body" idx="4294967295"/>
          </p:nvPr>
        </p:nvSpPr>
        <p:spPr/>
        <p:txBody>
          <a:bodyPr/>
          <a:lstStyle/>
          <a:p>
            <a:endParaRPr lang="zh-CN" altLang="en-US"/>
          </a:p>
        </p:txBody>
      </p:sp>
      <p:sp>
        <p:nvSpPr>
          <p:cNvPr id="1229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A3295A8-9DE2-49A2-9CE2-E5A865C04DB4}"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idx="4294967295"/>
          </p:nvPr>
        </p:nvSpPr>
        <p:spPr/>
      </p:sp>
      <p:sp>
        <p:nvSpPr>
          <p:cNvPr id="15363" name="备注占位符 2"/>
          <p:cNvSpPr>
            <a:spLocks noGrp="1" noChangeArrowheads="1"/>
          </p:cNvSpPr>
          <p:nvPr>
            <p:ph type="body" idx="4294967295"/>
          </p:nvPr>
        </p:nvSpPr>
        <p:spPr/>
        <p:txBody>
          <a:bodyPr/>
          <a:lstStyle/>
          <a:p>
            <a:endParaRPr lang="zh-CN" altLang="en-US"/>
          </a:p>
        </p:txBody>
      </p:sp>
      <p:sp>
        <p:nvSpPr>
          <p:cNvPr id="1536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0DF4005-B2C3-402C-A61E-038426DDC456}"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4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BF28DDF-6F81-4431-906A-9B395701FD16}"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idx="4294967295"/>
          </p:nvPr>
        </p:nvSpPr>
        <p:spPr/>
      </p:sp>
      <p:sp>
        <p:nvSpPr>
          <p:cNvPr id="21507" name="备注占位符 2"/>
          <p:cNvSpPr>
            <a:spLocks noGrp="1" noChangeArrowheads="1"/>
          </p:cNvSpPr>
          <p:nvPr>
            <p:ph type="body" idx="4294967295"/>
          </p:nvPr>
        </p:nvSpPr>
        <p:spPr/>
        <p:txBody>
          <a:bodyPr/>
          <a:lstStyle/>
          <a:p>
            <a:endParaRPr lang="zh-CN" altLang="en-US"/>
          </a:p>
        </p:txBody>
      </p:sp>
      <p:sp>
        <p:nvSpPr>
          <p:cNvPr id="215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169AE2D-B5E7-4A64-8E2F-31011FD546C3}"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idx="4294967295"/>
          </p:nvPr>
        </p:nvSpPr>
        <p:spPr/>
      </p:sp>
      <p:sp>
        <p:nvSpPr>
          <p:cNvPr id="23555"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14BA81-64DC-4E84-830D-EBFBA1B6058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idx="4294967295"/>
          </p:nvPr>
        </p:nvSpPr>
        <p:spPr/>
      </p:sp>
      <p:sp>
        <p:nvSpPr>
          <p:cNvPr id="25603" name="备注占位符 2"/>
          <p:cNvSpPr>
            <a:spLocks noGrp="1" noChangeArrowheads="1"/>
          </p:cNvSpPr>
          <p:nvPr>
            <p:ph type="body" idx="4294967295"/>
          </p:nvPr>
        </p:nvSpPr>
        <p:spPr/>
        <p:txBody>
          <a:bodyPr/>
          <a:lstStyle/>
          <a:p>
            <a:endParaRPr lang="zh-CN" altLang="en-US"/>
          </a:p>
        </p:txBody>
      </p:sp>
      <p:sp>
        <p:nvSpPr>
          <p:cNvPr id="256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4715F0A-4918-4532-9420-1D095DD8C9F8}"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idx="4294967295"/>
          </p:nvPr>
        </p:nvSpPr>
        <p:spPr/>
      </p:sp>
      <p:sp>
        <p:nvSpPr>
          <p:cNvPr id="27651" name="备注占位符 2"/>
          <p:cNvSpPr>
            <a:spLocks noGrp="1" noChangeArrowheads="1"/>
          </p:cNvSpPr>
          <p:nvPr>
            <p:ph type="body" idx="4294967295"/>
          </p:nvPr>
        </p:nvSpPr>
        <p:spPr/>
        <p:txBody>
          <a:bodyPr/>
          <a:lstStyle/>
          <a:p>
            <a:endParaRPr lang="zh-CN" altLang="en-US"/>
          </a:p>
        </p:txBody>
      </p:sp>
      <p:sp>
        <p:nvSpPr>
          <p:cNvPr id="276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634789E-D811-4162-AA96-4B291378C4B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ChangeArrowheads="1" noTextEdit="1"/>
          </p:cNvSpPr>
          <p:nvPr>
            <p:ph type="sldImg" idx="4294967295"/>
          </p:nvPr>
        </p:nvSpPr>
        <p:spPr/>
      </p:sp>
      <p:sp>
        <p:nvSpPr>
          <p:cNvPr id="32771" name="备注占位符 2"/>
          <p:cNvSpPr>
            <a:spLocks noGrp="1" noChangeArrowheads="1"/>
          </p:cNvSpPr>
          <p:nvPr>
            <p:ph type="body" idx="4294967295"/>
          </p:nvPr>
        </p:nvSpPr>
        <p:spPr/>
        <p:txBody>
          <a:bodyPr/>
          <a:lstStyle/>
          <a:p>
            <a:endParaRPr lang="zh-CN" altLang="en-US"/>
          </a:p>
        </p:txBody>
      </p:sp>
      <p:sp>
        <p:nvSpPr>
          <p:cNvPr id="3277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780BB84-51D6-4755-8EB5-60C859CB0A5E}"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ChangeArrowheads="1" noTextEdit="1"/>
          </p:cNvSpPr>
          <p:nvPr>
            <p:ph type="sldImg" idx="4294967295"/>
          </p:nvPr>
        </p:nvSpPr>
        <p:spPr/>
      </p:sp>
      <p:sp>
        <p:nvSpPr>
          <p:cNvPr id="34819" name="备注占位符 2"/>
          <p:cNvSpPr>
            <a:spLocks noGrp="1" noChangeArrowheads="1"/>
          </p:cNvSpPr>
          <p:nvPr>
            <p:ph type="body" idx="4294967295"/>
          </p:nvPr>
        </p:nvSpPr>
        <p:spPr/>
        <p:txBody>
          <a:bodyPr/>
          <a:lstStyle/>
          <a:p>
            <a:endParaRPr lang="zh-CN" altLang="en-US"/>
          </a:p>
        </p:txBody>
      </p:sp>
      <p:sp>
        <p:nvSpPr>
          <p:cNvPr id="348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253EAD5-73E5-4F67-B0A4-C3C6CAEACD7E}"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idx="4294967295"/>
          </p:nvPr>
        </p:nvSpPr>
        <p:spPr/>
      </p:sp>
      <p:sp>
        <p:nvSpPr>
          <p:cNvPr id="36867" name="备注占位符 2"/>
          <p:cNvSpPr>
            <a:spLocks noGrp="1" noChangeArrowheads="1"/>
          </p:cNvSpPr>
          <p:nvPr>
            <p:ph type="body" idx="4294967295"/>
          </p:nvPr>
        </p:nvSpPr>
        <p:spPr/>
        <p:txBody>
          <a:bodyPr/>
          <a:lstStyle/>
          <a:p>
            <a:endParaRPr lang="zh-CN" altLang="en-US"/>
          </a:p>
        </p:txBody>
      </p:sp>
      <p:sp>
        <p:nvSpPr>
          <p:cNvPr id="3686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5D9330E-9C31-4D54-A049-ED170448D1AE}"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ChangeArrowheads="1" noTextEdit="1"/>
          </p:cNvSpPr>
          <p:nvPr>
            <p:ph type="sldImg" idx="4294967295"/>
          </p:nvPr>
        </p:nvSpPr>
        <p:spPr/>
      </p:sp>
      <p:sp>
        <p:nvSpPr>
          <p:cNvPr id="39939" name="备注占位符 2"/>
          <p:cNvSpPr>
            <a:spLocks noGrp="1" noChangeArrowheads="1"/>
          </p:cNvSpPr>
          <p:nvPr>
            <p:ph type="body" idx="4294967295"/>
          </p:nvPr>
        </p:nvSpPr>
        <p:spPr/>
        <p:txBody>
          <a:bodyPr/>
          <a:lstStyle/>
          <a:p>
            <a:endParaRPr lang="zh-CN" altLang="en-US"/>
          </a:p>
        </p:txBody>
      </p:sp>
      <p:sp>
        <p:nvSpPr>
          <p:cNvPr id="399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E43471A-01F1-4796-B325-31DA48ED994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idx="4294967295"/>
          </p:nvPr>
        </p:nvSpPr>
        <p:spPr/>
      </p:sp>
      <p:sp>
        <p:nvSpPr>
          <p:cNvPr id="43011" name="备注占位符 2"/>
          <p:cNvSpPr>
            <a:spLocks noGrp="1" noChangeArrowheads="1"/>
          </p:cNvSpPr>
          <p:nvPr>
            <p:ph type="body" idx="4294967295"/>
          </p:nvPr>
        </p:nvSpPr>
        <p:spPr/>
        <p:txBody>
          <a:bodyPr/>
          <a:lstStyle/>
          <a:p>
            <a:endParaRPr lang="zh-CN" altLang="en-US"/>
          </a:p>
        </p:txBody>
      </p:sp>
      <p:sp>
        <p:nvSpPr>
          <p:cNvPr id="430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AF213D6-0925-482C-A2D4-A92035B48BE8}"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ChangeArrowheads="1" noTextEdit="1"/>
          </p:cNvSpPr>
          <p:nvPr>
            <p:ph type="sldImg" idx="4294967295"/>
          </p:nvPr>
        </p:nvSpPr>
        <p:spPr/>
      </p:sp>
      <p:sp>
        <p:nvSpPr>
          <p:cNvPr id="45059" name="备注占位符 2"/>
          <p:cNvSpPr>
            <a:spLocks noGrp="1" noChangeArrowheads="1"/>
          </p:cNvSpPr>
          <p:nvPr>
            <p:ph type="body" idx="4294967295"/>
          </p:nvPr>
        </p:nvSpPr>
        <p:spPr/>
        <p:txBody>
          <a:bodyPr/>
          <a:lstStyle/>
          <a:p>
            <a:endParaRPr lang="zh-CN" altLang="en-US"/>
          </a:p>
        </p:txBody>
      </p:sp>
      <p:sp>
        <p:nvSpPr>
          <p:cNvPr id="450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7292342-DD66-40DF-8706-9B9E60511FD1}"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ChangeArrowheads="1" noTextEdit="1"/>
          </p:cNvSpPr>
          <p:nvPr>
            <p:ph type="sldImg" idx="4294967295"/>
          </p:nvPr>
        </p:nvSpPr>
        <p:spPr/>
      </p:sp>
      <p:sp>
        <p:nvSpPr>
          <p:cNvPr id="47107" name="备注占位符 2"/>
          <p:cNvSpPr>
            <a:spLocks noGrp="1" noChangeArrowheads="1"/>
          </p:cNvSpPr>
          <p:nvPr>
            <p:ph type="body" idx="4294967295"/>
          </p:nvPr>
        </p:nvSpPr>
        <p:spPr/>
        <p:txBody>
          <a:bodyPr/>
          <a:lstStyle/>
          <a:p>
            <a:endParaRPr lang="zh-CN" altLang="en-US" dirty="0"/>
          </a:p>
        </p:txBody>
      </p:sp>
      <p:sp>
        <p:nvSpPr>
          <p:cNvPr id="471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91A84CC-EA04-4AB4-B069-7EA03207A1C2}"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idx="4294967295"/>
          </p:nvPr>
        </p:nvSpPr>
        <p:spPr/>
      </p:sp>
      <p:sp>
        <p:nvSpPr>
          <p:cNvPr id="49155" name="备注占位符 2"/>
          <p:cNvSpPr>
            <a:spLocks noGrp="1" noChangeArrowheads="1"/>
          </p:cNvSpPr>
          <p:nvPr>
            <p:ph type="body" idx="4294967295"/>
          </p:nvPr>
        </p:nvSpPr>
        <p:spPr/>
        <p:txBody>
          <a:bodyPr/>
          <a:lstStyle/>
          <a:p>
            <a:endParaRPr lang="zh-CN" altLang="en-US"/>
          </a:p>
        </p:txBody>
      </p:sp>
      <p:sp>
        <p:nvSpPr>
          <p:cNvPr id="491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4F0B2E4-BD4F-484F-AE6E-A0747AD267F1}"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idx="4294967295"/>
          </p:nvPr>
        </p:nvSpPr>
        <p:spPr/>
      </p:sp>
      <p:sp>
        <p:nvSpPr>
          <p:cNvPr id="51203" name="备注占位符 2"/>
          <p:cNvSpPr>
            <a:spLocks noGrp="1" noChangeArrowheads="1"/>
          </p:cNvSpPr>
          <p:nvPr>
            <p:ph type="body" idx="4294967295"/>
          </p:nvPr>
        </p:nvSpPr>
        <p:spPr/>
        <p:txBody>
          <a:bodyPr/>
          <a:lstStyle/>
          <a:p>
            <a:endParaRPr lang="zh-CN" altLang="en-US"/>
          </a:p>
        </p:txBody>
      </p:sp>
      <p:sp>
        <p:nvSpPr>
          <p:cNvPr id="512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269E702-5096-44DA-A12F-C9D18349A70C}"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idx="4294967295"/>
          </p:nvPr>
        </p:nvSpPr>
        <p:spPr/>
      </p:sp>
      <p:sp>
        <p:nvSpPr>
          <p:cNvPr id="53251" name="备注占位符 2"/>
          <p:cNvSpPr>
            <a:spLocks noGrp="1" noChangeArrowheads="1"/>
          </p:cNvSpPr>
          <p:nvPr>
            <p:ph type="body" idx="4294967295"/>
          </p:nvPr>
        </p:nvSpPr>
        <p:spPr/>
        <p:txBody>
          <a:bodyPr/>
          <a:lstStyle/>
          <a:p>
            <a:endParaRPr lang="zh-CN" altLang="en-US"/>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88E641A-2A40-4078-8B6B-1CBED4703DF2}"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idx="4294967295"/>
          </p:nvPr>
        </p:nvSpPr>
        <p:spPr/>
      </p:sp>
      <p:sp>
        <p:nvSpPr>
          <p:cNvPr id="64515" name="备注占位符 2"/>
          <p:cNvSpPr>
            <a:spLocks noGrp="1" noChangeArrowheads="1"/>
          </p:cNvSpPr>
          <p:nvPr>
            <p:ph type="body" idx="4294967295"/>
          </p:nvPr>
        </p:nvSpPr>
        <p:spPr/>
        <p:txBody>
          <a:bodyPr/>
          <a:lstStyle/>
          <a:p>
            <a:endParaRPr lang="zh-CN" altLang="en-US"/>
          </a:p>
        </p:txBody>
      </p:sp>
      <p:sp>
        <p:nvSpPr>
          <p:cNvPr id="6451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13E45B1-934A-4DA1-8D65-7F4B43BDF0CD}"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ChangeArrowheads="1" noTextEdit="1"/>
          </p:cNvSpPr>
          <p:nvPr>
            <p:ph type="sldImg" idx="4294967295"/>
          </p:nvPr>
        </p:nvSpPr>
        <p:spPr/>
      </p:sp>
      <p:sp>
        <p:nvSpPr>
          <p:cNvPr id="66563" name="备注占位符 2"/>
          <p:cNvSpPr>
            <a:spLocks noGrp="1" noChangeArrowheads="1"/>
          </p:cNvSpPr>
          <p:nvPr>
            <p:ph type="body" idx="4294967295"/>
          </p:nvPr>
        </p:nvSpPr>
        <p:spPr/>
        <p:txBody>
          <a:bodyPr/>
          <a:lstStyle/>
          <a:p>
            <a:endParaRPr lang="zh-CN" altLang="en-US"/>
          </a:p>
        </p:txBody>
      </p:sp>
      <p:sp>
        <p:nvSpPr>
          <p:cNvPr id="6656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1D29221-F257-4BFF-879C-AE316F666773}"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ChangeArrowheads="1" noTextEdit="1"/>
          </p:cNvSpPr>
          <p:nvPr>
            <p:ph type="sldImg" idx="4294967295"/>
          </p:nvPr>
        </p:nvSpPr>
        <p:spPr/>
      </p:sp>
      <p:sp>
        <p:nvSpPr>
          <p:cNvPr id="68611" name="备注占位符 2"/>
          <p:cNvSpPr>
            <a:spLocks noGrp="1" noChangeArrowheads="1"/>
          </p:cNvSpPr>
          <p:nvPr>
            <p:ph type="body" idx="4294967295"/>
          </p:nvPr>
        </p:nvSpPr>
        <p:spPr/>
        <p:txBody>
          <a:bodyPr/>
          <a:lstStyle/>
          <a:p>
            <a:endParaRPr lang="zh-CN" altLang="en-US"/>
          </a:p>
        </p:txBody>
      </p:sp>
      <p:sp>
        <p:nvSpPr>
          <p:cNvPr id="686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7B16436-4D28-4C79-BE47-0FF766082458}"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ChangeArrowheads="1" noTextEdit="1"/>
          </p:cNvSpPr>
          <p:nvPr>
            <p:ph type="sldImg" idx="4294967295"/>
          </p:nvPr>
        </p:nvSpPr>
        <p:spPr/>
      </p:sp>
      <p:sp>
        <p:nvSpPr>
          <p:cNvPr id="70659" name="备注占位符 2"/>
          <p:cNvSpPr>
            <a:spLocks noGrp="1" noChangeArrowheads="1"/>
          </p:cNvSpPr>
          <p:nvPr>
            <p:ph type="body" idx="4294967295"/>
          </p:nvPr>
        </p:nvSpPr>
        <p:spPr/>
        <p:txBody>
          <a:bodyPr/>
          <a:lstStyle/>
          <a:p>
            <a:endParaRPr lang="zh-CN" altLang="en-US"/>
          </a:p>
        </p:txBody>
      </p:sp>
      <p:sp>
        <p:nvSpPr>
          <p:cNvPr id="706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F286CA9-2B0F-44A5-A533-0EFAF7647E05}"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ChangeArrowheads="1" noTextEdit="1"/>
          </p:cNvSpPr>
          <p:nvPr>
            <p:ph type="sldImg" idx="4294967295"/>
          </p:nvPr>
        </p:nvSpPr>
        <p:spPr/>
      </p:sp>
      <p:sp>
        <p:nvSpPr>
          <p:cNvPr id="72707" name="备注占位符 2"/>
          <p:cNvSpPr>
            <a:spLocks noGrp="1" noChangeArrowheads="1"/>
          </p:cNvSpPr>
          <p:nvPr>
            <p:ph type="body" idx="4294967295"/>
          </p:nvPr>
        </p:nvSpPr>
        <p:spPr/>
        <p:txBody>
          <a:bodyPr/>
          <a:lstStyle/>
          <a:p>
            <a:endParaRPr lang="zh-CN" altLang="en-US"/>
          </a:p>
        </p:txBody>
      </p:sp>
      <p:sp>
        <p:nvSpPr>
          <p:cNvPr id="727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48B0AFE-C89C-441B-A413-8857B6BDBA1B}"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p:sp>
      <p:sp>
        <p:nvSpPr>
          <p:cNvPr id="74755" name="备注占位符 2"/>
          <p:cNvSpPr>
            <a:spLocks noGrp="1" noChangeArrowheads="1"/>
          </p:cNvSpPr>
          <p:nvPr>
            <p:ph type="body" idx="4294967295"/>
          </p:nvPr>
        </p:nvSpPr>
        <p:spPr/>
        <p:txBody>
          <a:bodyPr/>
          <a:lstStyle/>
          <a:p>
            <a:endParaRPr lang="zh-CN" altLang="en-US"/>
          </a:p>
        </p:txBody>
      </p:sp>
      <p:sp>
        <p:nvSpPr>
          <p:cNvPr id="747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5ECE634-EC6B-4B42-A260-A53DEF3A9452}"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09982" y="2236457"/>
            <a:ext cx="9179799" cy="1543186"/>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619968" y="4079611"/>
            <a:ext cx="7559834" cy="1839824"/>
          </a:xfrm>
        </p:spPr>
        <p:txBody>
          <a:bodyPr/>
          <a:lstStyle>
            <a:lvl1pPr marL="0" indent="0" algn="ctr">
              <a:buNone/>
              <a:defRPr>
                <a:solidFill>
                  <a:schemeClr val="tx1">
                    <a:tint val="75000"/>
                  </a:schemeClr>
                </a:solidFill>
              </a:defRPr>
            </a:lvl1pPr>
            <a:lvl2pPr marL="434975" indent="0" algn="ctr">
              <a:buNone/>
              <a:defRPr>
                <a:solidFill>
                  <a:schemeClr val="tx1">
                    <a:tint val="75000"/>
                  </a:schemeClr>
                </a:solidFill>
              </a:defRPr>
            </a:lvl2pPr>
            <a:lvl3pPr marL="869950" indent="0" algn="ctr">
              <a:buNone/>
              <a:defRPr>
                <a:solidFill>
                  <a:schemeClr val="tx1">
                    <a:tint val="75000"/>
                  </a:schemeClr>
                </a:solidFill>
              </a:defRPr>
            </a:lvl3pPr>
            <a:lvl4pPr marL="1305560" indent="0" algn="ctr">
              <a:buNone/>
              <a:defRPr>
                <a:solidFill>
                  <a:schemeClr val="tx1">
                    <a:tint val="75000"/>
                  </a:schemeClr>
                </a:solidFill>
              </a:defRPr>
            </a:lvl4pPr>
            <a:lvl5pPr marL="1740535" indent="0" algn="ctr">
              <a:buNone/>
              <a:defRPr>
                <a:solidFill>
                  <a:schemeClr val="tx1">
                    <a:tint val="75000"/>
                  </a:schemeClr>
                </a:solidFill>
              </a:defRPr>
            </a:lvl5pPr>
            <a:lvl6pPr marL="2175510" indent="0" algn="ctr">
              <a:buNone/>
              <a:defRPr>
                <a:solidFill>
                  <a:schemeClr val="tx1">
                    <a:tint val="75000"/>
                  </a:schemeClr>
                </a:solidFill>
              </a:defRPr>
            </a:lvl6pPr>
            <a:lvl7pPr marL="2610485" indent="0" algn="ctr">
              <a:buNone/>
              <a:defRPr>
                <a:solidFill>
                  <a:schemeClr val="tx1">
                    <a:tint val="75000"/>
                  </a:schemeClr>
                </a:solidFill>
              </a:defRPr>
            </a:lvl7pPr>
            <a:lvl8pPr marL="3045460" indent="0" algn="ctr">
              <a:buNone/>
              <a:defRPr>
                <a:solidFill>
                  <a:schemeClr val="tx1">
                    <a:tint val="75000"/>
                  </a:schemeClr>
                </a:solidFill>
              </a:defRPr>
            </a:lvl8pPr>
            <a:lvl9pPr marL="348107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6D4CB744-286C-485E-8A2A-E154EDF7ABBD}"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 y="-42921"/>
            <a:ext cx="10799762" cy="1050860"/>
          </a:xfrm>
          <a:solidFill>
            <a:schemeClr val="tx2">
              <a:lumMod val="60000"/>
              <a:lumOff val="40000"/>
            </a:schemeClr>
          </a:solidFill>
        </p:spPr>
        <p:txBody>
          <a:bodyPr>
            <a:normAutofit/>
          </a:bodyPr>
          <a:lstStyle>
            <a:lvl1pPr algn="l">
              <a:defRPr sz="3725">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576054" y="1079933"/>
            <a:ext cx="9863647" cy="5351130"/>
          </a:xfrm>
        </p:spPr>
        <p:txBody>
          <a:bodyPr/>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C8A8770B-37FD-4468-A55A-82ADB0C298E3}"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53107" y="4626235"/>
            <a:ext cx="9179799" cy="1429864"/>
          </a:xfrm>
        </p:spPr>
        <p:txBody>
          <a:bodyPr anchor="t"/>
          <a:lstStyle>
            <a:lvl1pPr algn="l">
              <a:defRPr sz="381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53107" y="3051377"/>
            <a:ext cx="9179799" cy="1574849"/>
          </a:xfrm>
        </p:spPr>
        <p:txBody>
          <a:bodyPr anchor="b"/>
          <a:lstStyle>
            <a:lvl1pPr marL="0" indent="0">
              <a:buNone/>
              <a:defRPr sz="1945">
                <a:solidFill>
                  <a:schemeClr val="tx1">
                    <a:tint val="75000"/>
                  </a:schemeClr>
                </a:solidFill>
              </a:defRPr>
            </a:lvl1pPr>
            <a:lvl2pPr marL="434975" indent="0">
              <a:buNone/>
              <a:defRPr sz="1695">
                <a:solidFill>
                  <a:schemeClr val="tx1">
                    <a:tint val="75000"/>
                  </a:schemeClr>
                </a:solidFill>
              </a:defRPr>
            </a:lvl2pPr>
            <a:lvl3pPr marL="869950" indent="0">
              <a:buNone/>
              <a:defRPr sz="1525">
                <a:solidFill>
                  <a:schemeClr val="tx1">
                    <a:tint val="75000"/>
                  </a:schemeClr>
                </a:solidFill>
              </a:defRPr>
            </a:lvl3pPr>
            <a:lvl4pPr marL="1305560" indent="0">
              <a:buNone/>
              <a:defRPr sz="1355">
                <a:solidFill>
                  <a:schemeClr val="tx1">
                    <a:tint val="75000"/>
                  </a:schemeClr>
                </a:solidFill>
              </a:defRPr>
            </a:lvl4pPr>
            <a:lvl5pPr marL="1740535" indent="0">
              <a:buNone/>
              <a:defRPr sz="1355">
                <a:solidFill>
                  <a:schemeClr val="tx1">
                    <a:tint val="75000"/>
                  </a:schemeClr>
                </a:solidFill>
              </a:defRPr>
            </a:lvl5pPr>
            <a:lvl6pPr marL="2175510" indent="0">
              <a:buNone/>
              <a:defRPr sz="1355">
                <a:solidFill>
                  <a:schemeClr val="tx1">
                    <a:tint val="75000"/>
                  </a:schemeClr>
                </a:solidFill>
              </a:defRPr>
            </a:lvl6pPr>
            <a:lvl7pPr marL="2610485" indent="0">
              <a:buNone/>
              <a:defRPr sz="1355">
                <a:solidFill>
                  <a:schemeClr val="tx1">
                    <a:tint val="75000"/>
                  </a:schemeClr>
                </a:solidFill>
              </a:defRPr>
            </a:lvl7pPr>
            <a:lvl8pPr marL="3045460" indent="0">
              <a:buNone/>
              <a:defRPr sz="1355">
                <a:solidFill>
                  <a:schemeClr val="tx1">
                    <a:tint val="75000"/>
                  </a:schemeClr>
                </a:solidFill>
              </a:defRPr>
            </a:lvl8pPr>
            <a:lvl9pPr marL="3481070" indent="0">
              <a:buNone/>
              <a:defRPr sz="1355">
                <a:solidFill>
                  <a:schemeClr val="tx1">
                    <a:tint val="75000"/>
                  </a:schemeClr>
                </a:solidFill>
              </a:defRPr>
            </a:lvl9pPr>
          </a:lstStyle>
          <a:p>
            <a:pPr lvl="0"/>
            <a:r>
              <a:rPr lang="zh-CN" altLang="en-US" noProof="1"/>
              <a:t>单击此处编辑母版文本样式</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5843266E-10C3-4044-9902-58EE7D8EEBF1}"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37487" y="1763166"/>
            <a:ext cx="5651126" cy="4989524"/>
          </a:xfrm>
        </p:spPr>
        <p:txBody>
          <a:bodyPr/>
          <a:lstStyle>
            <a:lvl1pPr>
              <a:defRPr sz="2710"/>
            </a:lvl1pPr>
            <a:lvl2pPr>
              <a:defRPr sz="2285"/>
            </a:lvl2pPr>
            <a:lvl3pPr>
              <a:defRPr sz="1945"/>
            </a:lvl3pPr>
            <a:lvl4pPr>
              <a:defRPr sz="1695"/>
            </a:lvl4pPr>
            <a:lvl5pPr>
              <a:defRPr sz="1695"/>
            </a:lvl5pPr>
            <a:lvl6pPr>
              <a:defRPr sz="1695"/>
            </a:lvl6pPr>
            <a:lvl7pPr>
              <a:defRPr sz="1695"/>
            </a:lvl7pPr>
            <a:lvl8pPr>
              <a:defRPr sz="1695"/>
            </a:lvl8pPr>
            <a:lvl9pPr>
              <a:defRPr sz="169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468609" y="1763166"/>
            <a:ext cx="5651126" cy="4989524"/>
          </a:xfrm>
        </p:spPr>
        <p:txBody>
          <a:bodyPr/>
          <a:lstStyle>
            <a:lvl1pPr>
              <a:defRPr sz="2710"/>
            </a:lvl1pPr>
            <a:lvl2pPr>
              <a:defRPr sz="2285"/>
            </a:lvl2pPr>
            <a:lvl3pPr>
              <a:defRPr sz="1945"/>
            </a:lvl3pPr>
            <a:lvl4pPr>
              <a:defRPr sz="1695"/>
            </a:lvl4pPr>
            <a:lvl5pPr>
              <a:defRPr sz="1695"/>
            </a:lvl5pPr>
            <a:lvl6pPr>
              <a:defRPr sz="1695"/>
            </a:lvl6pPr>
            <a:lvl7pPr>
              <a:defRPr sz="1695"/>
            </a:lvl7pPr>
            <a:lvl8pPr>
              <a:defRPr sz="1695"/>
            </a:lvl8pPr>
            <a:lvl9pPr>
              <a:defRPr sz="169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5"/>
          <p:cNvSpPr>
            <a:spLocks noGrp="1"/>
          </p:cNvSpPr>
          <p:nvPr>
            <p:ph type="sldNum" sz="quarter" idx="10"/>
          </p:nvPr>
        </p:nvSpPr>
        <p:spPr/>
        <p:txBody>
          <a:bodyPr/>
          <a:lstStyle>
            <a:lvl1pPr>
              <a:defRPr/>
            </a:lvl1pPr>
          </a:lstStyle>
          <a:p>
            <a:pPr>
              <a:defRPr/>
            </a:pPr>
            <a:fld id="{8DA24A3C-1792-4E5B-8E5A-9F03BB40401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9992" y="288306"/>
            <a:ext cx="9719787" cy="1199886"/>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539988" y="1611513"/>
            <a:ext cx="4771771" cy="671602"/>
          </a:xfrm>
        </p:spPr>
        <p:txBody>
          <a:bodyPr anchor="b"/>
          <a:lstStyle>
            <a:lvl1pPr marL="0" indent="0">
              <a:buNone/>
              <a:defRPr sz="2285" b="1"/>
            </a:lvl1pPr>
            <a:lvl2pPr marL="434975" indent="0">
              <a:buNone/>
              <a:defRPr sz="1945" b="1"/>
            </a:lvl2pPr>
            <a:lvl3pPr marL="869950" indent="0">
              <a:buNone/>
              <a:defRPr sz="1695" b="1"/>
            </a:lvl3pPr>
            <a:lvl4pPr marL="1305560" indent="0">
              <a:buNone/>
              <a:defRPr sz="1525" b="1"/>
            </a:lvl4pPr>
            <a:lvl5pPr marL="1740535" indent="0">
              <a:buNone/>
              <a:defRPr sz="1525" b="1"/>
            </a:lvl5pPr>
            <a:lvl6pPr marL="2175510" indent="0">
              <a:buNone/>
              <a:defRPr sz="1525" b="1"/>
            </a:lvl6pPr>
            <a:lvl7pPr marL="2610485" indent="0">
              <a:buNone/>
              <a:defRPr sz="1525" b="1"/>
            </a:lvl7pPr>
            <a:lvl8pPr marL="3045460" indent="0">
              <a:buNone/>
              <a:defRPr sz="1525" b="1"/>
            </a:lvl8pPr>
            <a:lvl9pPr marL="3481070" indent="0">
              <a:buNone/>
              <a:defRPr sz="1525"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539988" y="2283115"/>
            <a:ext cx="4771771" cy="4147938"/>
          </a:xfrm>
        </p:spPr>
        <p:txBody>
          <a:bodyPr/>
          <a:lstStyle>
            <a:lvl1pPr>
              <a:defRPr sz="2285"/>
            </a:lvl1pPr>
            <a:lvl2pPr>
              <a:defRPr sz="1945"/>
            </a:lvl2pPr>
            <a:lvl3pPr>
              <a:defRPr sz="1695"/>
            </a:lvl3pPr>
            <a:lvl4pPr>
              <a:defRPr sz="1525"/>
            </a:lvl4pPr>
            <a:lvl5pPr>
              <a:defRPr sz="1525"/>
            </a:lvl5pPr>
            <a:lvl6pPr>
              <a:defRPr sz="1525"/>
            </a:lvl6pPr>
            <a:lvl7pPr>
              <a:defRPr sz="1525"/>
            </a:lvl7pPr>
            <a:lvl8pPr>
              <a:defRPr sz="1525"/>
            </a:lvl8pPr>
            <a:lvl9pPr>
              <a:defRPr sz="152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5486141" y="1611513"/>
            <a:ext cx="4773645" cy="671602"/>
          </a:xfrm>
        </p:spPr>
        <p:txBody>
          <a:bodyPr anchor="b"/>
          <a:lstStyle>
            <a:lvl1pPr marL="0" indent="0">
              <a:buNone/>
              <a:defRPr sz="2285" b="1"/>
            </a:lvl1pPr>
            <a:lvl2pPr marL="434975" indent="0">
              <a:buNone/>
              <a:defRPr sz="1945" b="1"/>
            </a:lvl2pPr>
            <a:lvl3pPr marL="869950" indent="0">
              <a:buNone/>
              <a:defRPr sz="1695" b="1"/>
            </a:lvl3pPr>
            <a:lvl4pPr marL="1305560" indent="0">
              <a:buNone/>
              <a:defRPr sz="1525" b="1"/>
            </a:lvl4pPr>
            <a:lvl5pPr marL="1740535" indent="0">
              <a:buNone/>
              <a:defRPr sz="1525" b="1"/>
            </a:lvl5pPr>
            <a:lvl6pPr marL="2175510" indent="0">
              <a:buNone/>
              <a:defRPr sz="1525" b="1"/>
            </a:lvl6pPr>
            <a:lvl7pPr marL="2610485" indent="0">
              <a:buNone/>
              <a:defRPr sz="1525" b="1"/>
            </a:lvl7pPr>
            <a:lvl8pPr marL="3045460" indent="0">
              <a:buNone/>
              <a:defRPr sz="1525" b="1"/>
            </a:lvl8pPr>
            <a:lvl9pPr marL="3481070" indent="0">
              <a:buNone/>
              <a:defRPr sz="1525"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5486141" y="2283115"/>
            <a:ext cx="4773645" cy="4147938"/>
          </a:xfrm>
        </p:spPr>
        <p:txBody>
          <a:bodyPr/>
          <a:lstStyle>
            <a:lvl1pPr>
              <a:defRPr sz="2285"/>
            </a:lvl1pPr>
            <a:lvl2pPr>
              <a:defRPr sz="1945"/>
            </a:lvl2pPr>
            <a:lvl3pPr>
              <a:defRPr sz="1695"/>
            </a:lvl3pPr>
            <a:lvl4pPr>
              <a:defRPr sz="1525"/>
            </a:lvl4pPr>
            <a:lvl5pPr>
              <a:defRPr sz="1525"/>
            </a:lvl5pPr>
            <a:lvl6pPr>
              <a:defRPr sz="1525"/>
            </a:lvl6pPr>
            <a:lvl7pPr>
              <a:defRPr sz="1525"/>
            </a:lvl7pPr>
            <a:lvl8pPr>
              <a:defRPr sz="1525"/>
            </a:lvl8pPr>
            <a:lvl9pPr>
              <a:defRPr sz="152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5"/>
          <p:cNvSpPr>
            <a:spLocks noGrp="1"/>
          </p:cNvSpPr>
          <p:nvPr>
            <p:ph type="sldNum" sz="quarter" idx="10"/>
          </p:nvPr>
        </p:nvSpPr>
        <p:spPr/>
        <p:txBody>
          <a:bodyPr/>
          <a:lstStyle>
            <a:lvl1pPr>
              <a:defRPr/>
            </a:lvl1pPr>
          </a:lstStyle>
          <a:p>
            <a:pPr>
              <a:defRPr/>
            </a:pPr>
            <a:fld id="{EDAF405E-3E95-4B4F-B4FC-78F5513E4AA8}"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5"/>
          <p:cNvSpPr>
            <a:spLocks noGrp="1"/>
          </p:cNvSpPr>
          <p:nvPr>
            <p:ph type="sldNum" sz="quarter" idx="10"/>
          </p:nvPr>
        </p:nvSpPr>
        <p:spPr/>
        <p:txBody>
          <a:bodyPr/>
          <a:lstStyle>
            <a:lvl1pPr>
              <a:defRPr/>
            </a:lvl1pPr>
          </a:lstStyle>
          <a:p>
            <a:pPr>
              <a:defRPr/>
            </a:pPr>
            <a:fld id="{140F7297-8829-4435-B45F-95822DFBC7B7}"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a:defRPr/>
            </a:lvl1pPr>
          </a:lstStyle>
          <a:p>
            <a:pPr>
              <a:defRPr/>
            </a:pPr>
            <a:fld id="{79342517-F5F6-42ED-8797-CF33069528A3}"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9990" y="286639"/>
            <a:ext cx="3553048" cy="1219884"/>
          </a:xfrm>
        </p:spPr>
        <p:txBody>
          <a:bodyPr anchor="b"/>
          <a:lstStyle>
            <a:lvl1pPr algn="l">
              <a:defRPr sz="1945"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222409" y="286649"/>
            <a:ext cx="6037368" cy="6144414"/>
          </a:xfrm>
        </p:spPr>
        <p:txBody>
          <a:bodyPr/>
          <a:lstStyle>
            <a:lvl1pPr>
              <a:defRPr sz="3050"/>
            </a:lvl1pPr>
            <a:lvl2pPr>
              <a:defRPr sz="2710"/>
            </a:lvl2pPr>
            <a:lvl3pPr>
              <a:defRPr sz="2285"/>
            </a:lvl3pPr>
            <a:lvl4pPr>
              <a:defRPr sz="1945"/>
            </a:lvl4pPr>
            <a:lvl5pPr>
              <a:defRPr sz="1945"/>
            </a:lvl5pPr>
            <a:lvl6pPr>
              <a:defRPr sz="1945"/>
            </a:lvl6pPr>
            <a:lvl7pPr>
              <a:defRPr sz="1945"/>
            </a:lvl7pPr>
            <a:lvl8pPr>
              <a:defRPr sz="1945"/>
            </a:lvl8pPr>
            <a:lvl9pPr>
              <a:defRPr sz="194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539990" y="1506533"/>
            <a:ext cx="3553048" cy="4924531"/>
          </a:xfrm>
        </p:spPr>
        <p:txBody>
          <a:bodyPr/>
          <a:lstStyle>
            <a:lvl1pPr marL="0" indent="0">
              <a:buNone/>
              <a:defRPr sz="1355"/>
            </a:lvl1pPr>
            <a:lvl2pPr marL="434975" indent="0">
              <a:buNone/>
              <a:defRPr sz="1185"/>
            </a:lvl2pPr>
            <a:lvl3pPr marL="869950" indent="0">
              <a:buNone/>
              <a:defRPr sz="930"/>
            </a:lvl3pPr>
            <a:lvl4pPr marL="1305560" indent="0">
              <a:buNone/>
              <a:defRPr sz="845"/>
            </a:lvl4pPr>
            <a:lvl5pPr marL="1740535" indent="0">
              <a:buNone/>
              <a:defRPr sz="845"/>
            </a:lvl5pPr>
            <a:lvl6pPr marL="2175510" indent="0">
              <a:buNone/>
              <a:defRPr sz="845"/>
            </a:lvl6pPr>
            <a:lvl7pPr marL="2610485" indent="0">
              <a:buNone/>
              <a:defRPr sz="845"/>
            </a:lvl7pPr>
            <a:lvl8pPr marL="3045460" indent="0">
              <a:buNone/>
              <a:defRPr sz="845"/>
            </a:lvl8pPr>
            <a:lvl9pPr marL="3481070" indent="0">
              <a:buNone/>
              <a:defRPr sz="845"/>
            </a:lvl9pPr>
          </a:lstStyle>
          <a:p>
            <a:pPr lvl="0"/>
            <a:r>
              <a:rPr lang="zh-CN" altLang="en-US" noProof="1"/>
              <a:t>单击此处编辑母版文本样式</a:t>
            </a:r>
            <a:endParaRPr lang="zh-CN" altLang="en-US" noProof="1"/>
          </a:p>
        </p:txBody>
      </p:sp>
      <p:sp>
        <p:nvSpPr>
          <p:cNvPr id="5" name="灯片编号占位符 5"/>
          <p:cNvSpPr>
            <a:spLocks noGrp="1"/>
          </p:cNvSpPr>
          <p:nvPr>
            <p:ph type="sldNum" sz="quarter" idx="10"/>
          </p:nvPr>
        </p:nvSpPr>
        <p:spPr/>
        <p:txBody>
          <a:bodyPr/>
          <a:lstStyle>
            <a:lvl1pPr>
              <a:defRPr/>
            </a:lvl1pPr>
          </a:lstStyle>
          <a:p>
            <a:pPr>
              <a:defRPr/>
            </a:pPr>
            <a:fld id="{9B8B8757-C40A-4ED3-920E-849833EE0314}"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16829" y="5039520"/>
            <a:ext cx="6479858" cy="594944"/>
          </a:xfrm>
        </p:spPr>
        <p:txBody>
          <a:bodyPr anchor="b"/>
          <a:lstStyle>
            <a:lvl1pPr algn="l">
              <a:defRPr sz="1945"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116829" y="643272"/>
            <a:ext cx="6479858" cy="4319588"/>
          </a:xfrm>
        </p:spPr>
        <p:txBody>
          <a:bodyPr rtlCol="0">
            <a:normAutofit/>
          </a:bodyPr>
          <a:lstStyle>
            <a:lvl1pPr marL="0" indent="0">
              <a:buNone/>
              <a:defRPr sz="3050"/>
            </a:lvl1pPr>
            <a:lvl2pPr marL="434975" indent="0">
              <a:buNone/>
              <a:defRPr sz="2710"/>
            </a:lvl2pPr>
            <a:lvl3pPr marL="869950" indent="0">
              <a:buNone/>
              <a:defRPr sz="2285"/>
            </a:lvl3pPr>
            <a:lvl4pPr marL="1305560" indent="0">
              <a:buNone/>
              <a:defRPr sz="1945"/>
            </a:lvl4pPr>
            <a:lvl5pPr marL="1740535" indent="0">
              <a:buNone/>
              <a:defRPr sz="1945"/>
            </a:lvl5pPr>
            <a:lvl6pPr marL="2175510" indent="0">
              <a:buNone/>
              <a:defRPr sz="1945"/>
            </a:lvl6pPr>
            <a:lvl7pPr marL="2610485" indent="0">
              <a:buNone/>
              <a:defRPr sz="1945"/>
            </a:lvl7pPr>
            <a:lvl8pPr marL="3045460" indent="0">
              <a:buNone/>
              <a:defRPr sz="1945"/>
            </a:lvl8pPr>
            <a:lvl9pPr marL="3481070" indent="0">
              <a:buNone/>
              <a:defRPr sz="1945"/>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2116829" y="5634464"/>
            <a:ext cx="6479858" cy="844919"/>
          </a:xfrm>
        </p:spPr>
        <p:txBody>
          <a:bodyPr/>
          <a:lstStyle>
            <a:lvl1pPr marL="0" indent="0">
              <a:buNone/>
              <a:defRPr sz="1355"/>
            </a:lvl1pPr>
            <a:lvl2pPr marL="434975" indent="0">
              <a:buNone/>
              <a:defRPr sz="1185"/>
            </a:lvl2pPr>
            <a:lvl3pPr marL="869950" indent="0">
              <a:buNone/>
              <a:defRPr sz="930"/>
            </a:lvl3pPr>
            <a:lvl4pPr marL="1305560" indent="0">
              <a:buNone/>
              <a:defRPr sz="845"/>
            </a:lvl4pPr>
            <a:lvl5pPr marL="1740535" indent="0">
              <a:buNone/>
              <a:defRPr sz="845"/>
            </a:lvl5pPr>
            <a:lvl6pPr marL="2175510" indent="0">
              <a:buNone/>
              <a:defRPr sz="845"/>
            </a:lvl6pPr>
            <a:lvl7pPr marL="2610485" indent="0">
              <a:buNone/>
              <a:defRPr sz="845"/>
            </a:lvl7pPr>
            <a:lvl8pPr marL="3045460" indent="0">
              <a:buNone/>
              <a:defRPr sz="845"/>
            </a:lvl8pPr>
            <a:lvl9pPr marL="3481070" indent="0">
              <a:buNone/>
              <a:defRPr sz="845"/>
            </a:lvl9pPr>
          </a:lstStyle>
          <a:p>
            <a:pPr lvl="0"/>
            <a:r>
              <a:rPr lang="zh-CN" altLang="en-US" noProof="1"/>
              <a:t>单击此处编辑母版文本样式</a:t>
            </a:r>
            <a:endParaRPr lang="zh-CN" altLang="en-US" noProof="1"/>
          </a:p>
        </p:txBody>
      </p:sp>
      <p:sp>
        <p:nvSpPr>
          <p:cNvPr id="5" name="灯片编号占位符 5"/>
          <p:cNvSpPr>
            <a:spLocks noGrp="1"/>
          </p:cNvSpPr>
          <p:nvPr>
            <p:ph type="sldNum" sz="quarter" idx="10"/>
          </p:nvPr>
        </p:nvSpPr>
        <p:spPr/>
        <p:txBody>
          <a:bodyPr/>
          <a:lstStyle>
            <a:lvl1pPr>
              <a:defRPr/>
            </a:lvl1pPr>
          </a:lstStyle>
          <a:p>
            <a:pPr>
              <a:defRPr/>
            </a:pPr>
            <a:fld id="{2B7DF986-43D6-4B4D-8792-11A4FCA2B460}"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C24ED288-6F81-4BF7-B30A-C693464F08E2}"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249174" y="303308"/>
            <a:ext cx="2870561" cy="644938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37486" y="303308"/>
            <a:ext cx="8431691" cy="644938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1A8FD4E7-04BC-4926-A099-968C111AF3C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39750" y="288925"/>
            <a:ext cx="972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nvPr>
        </p:nvSpPr>
        <p:spPr bwMode="auto">
          <a:xfrm>
            <a:off x="539750" y="1679575"/>
            <a:ext cx="9720263"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4"/>
          </p:nvPr>
        </p:nvSpPr>
        <p:spPr>
          <a:xfrm>
            <a:off x="7739063" y="6672263"/>
            <a:ext cx="2520950" cy="384175"/>
          </a:xfrm>
          <a:prstGeom prst="rect">
            <a:avLst/>
          </a:prstGeom>
        </p:spPr>
        <p:txBody>
          <a:bodyPr vert="horz" wrap="square" lIns="102789" tIns="51393" rIns="102789" bIns="51393" numCol="1" anchor="ctr" anchorCtr="0" compatLnSpc="1"/>
          <a:lstStyle>
            <a:lvl1pPr algn="r" eaLnBrk="1" hangingPunct="1">
              <a:defRPr sz="1185">
                <a:solidFill>
                  <a:srgbClr val="898989"/>
                </a:solidFill>
              </a:defRPr>
            </a:lvl1pPr>
          </a:lstStyle>
          <a:p>
            <a:pPr>
              <a:defRPr/>
            </a:pPr>
            <a:fld id="{D8D3FD42-B6F5-45B8-95B6-ED52DD01B1BC}"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868680" rtl="0" eaLnBrk="0" fontAlgn="base" hangingPunct="0">
        <a:spcBef>
          <a:spcPct val="0"/>
        </a:spcBef>
        <a:spcAft>
          <a:spcPct val="0"/>
        </a:spcAft>
        <a:defRPr sz="4200" kern="1200">
          <a:solidFill>
            <a:schemeClr val="tx1"/>
          </a:solidFill>
          <a:latin typeface="+mj-lt"/>
          <a:ea typeface="PMingLiU" panose="02020500000000000000" pitchFamily="18" charset="-120"/>
          <a:cs typeface="+mj-cs"/>
        </a:defRPr>
      </a:lvl1pPr>
      <a:lvl2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2pPr>
      <a:lvl3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3pPr>
      <a:lvl4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4pPr>
      <a:lvl5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5pPr>
      <a:lvl6pPr marL="387350"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6pPr>
      <a:lvl7pPr marL="774065"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7pPr>
      <a:lvl8pPr marL="1161415"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8pPr>
      <a:lvl9pPr marL="1548130"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9pPr>
    </p:titleStyle>
    <p:bodyStyle>
      <a:lvl1pPr marL="323850" indent="-323850" algn="l" defTabSz="868680" rtl="0" eaLnBrk="0" fontAlgn="base" hangingPunct="0">
        <a:spcBef>
          <a:spcPct val="20000"/>
        </a:spcBef>
        <a:spcAft>
          <a:spcPct val="0"/>
        </a:spcAft>
        <a:buFont typeface="Arial" panose="020B0604020202090204" pitchFamily="34" charset="0"/>
        <a:buChar char="•"/>
        <a:defRPr sz="3000" kern="1200">
          <a:solidFill>
            <a:schemeClr val="tx1"/>
          </a:solidFill>
          <a:latin typeface="+mn-lt"/>
          <a:ea typeface="PMingLiU" panose="02020500000000000000" pitchFamily="18" charset="-120"/>
          <a:cs typeface="+mn-cs"/>
        </a:defRPr>
      </a:lvl1pPr>
      <a:lvl2pPr marL="706755" indent="-271780" algn="l" defTabSz="868680" rtl="0" eaLnBrk="0" fontAlgn="base" hangingPunct="0">
        <a:spcBef>
          <a:spcPct val="20000"/>
        </a:spcBef>
        <a:spcAft>
          <a:spcPct val="0"/>
        </a:spcAft>
        <a:buFont typeface="Arial" panose="020B0604020202090204" pitchFamily="34" charset="0"/>
        <a:buChar char="–"/>
        <a:defRPr sz="2700" kern="1200">
          <a:solidFill>
            <a:schemeClr val="tx1"/>
          </a:solidFill>
          <a:latin typeface="+mn-lt"/>
          <a:ea typeface="PMingLiU" panose="02020500000000000000" pitchFamily="18" charset="-120"/>
          <a:cs typeface="+mn-cs"/>
        </a:defRPr>
      </a:lvl2pPr>
      <a:lvl3pPr marL="1085850" indent="-215900" algn="l" defTabSz="868680" rtl="0" eaLnBrk="0" fontAlgn="base" hangingPunct="0">
        <a:spcBef>
          <a:spcPct val="20000"/>
        </a:spcBef>
        <a:spcAft>
          <a:spcPct val="0"/>
        </a:spcAft>
        <a:buFont typeface="Arial" panose="020B0604020202090204" pitchFamily="34" charset="0"/>
        <a:buChar char="•"/>
        <a:defRPr sz="2200" kern="1200">
          <a:solidFill>
            <a:schemeClr val="tx1"/>
          </a:solidFill>
          <a:latin typeface="+mn-lt"/>
          <a:ea typeface="PMingLiU" panose="02020500000000000000" pitchFamily="18" charset="-120"/>
          <a:cs typeface="+mn-cs"/>
        </a:defRPr>
      </a:lvl3pPr>
      <a:lvl4pPr marL="1522730" indent="-215900" algn="l" defTabSz="868680" rtl="0" eaLnBrk="0" fontAlgn="base" hangingPunct="0">
        <a:spcBef>
          <a:spcPct val="20000"/>
        </a:spcBef>
        <a:spcAft>
          <a:spcPct val="0"/>
        </a:spcAft>
        <a:buFont typeface="Arial" panose="020B0604020202090204" pitchFamily="34" charset="0"/>
        <a:buChar char="–"/>
        <a:defRPr sz="1900" kern="1200">
          <a:solidFill>
            <a:schemeClr val="tx1"/>
          </a:solidFill>
          <a:latin typeface="+mn-lt"/>
          <a:ea typeface="PMingLiU" panose="02020500000000000000" pitchFamily="18" charset="-120"/>
          <a:cs typeface="+mn-cs"/>
        </a:defRPr>
      </a:lvl4pPr>
      <a:lvl5pPr marL="1955800" indent="-215900" algn="l" defTabSz="868680" rtl="0" eaLnBrk="0" fontAlgn="base" hangingPunct="0">
        <a:spcBef>
          <a:spcPct val="20000"/>
        </a:spcBef>
        <a:spcAft>
          <a:spcPct val="0"/>
        </a:spcAft>
        <a:buFont typeface="Arial" panose="020B0604020202090204" pitchFamily="34" charset="0"/>
        <a:buChar char="»"/>
        <a:defRPr sz="1900" kern="1200">
          <a:solidFill>
            <a:schemeClr val="tx1"/>
          </a:solidFill>
          <a:latin typeface="+mn-lt"/>
          <a:ea typeface="PMingLiU" panose="02020500000000000000" pitchFamily="18" charset="-120"/>
          <a:cs typeface="+mn-cs"/>
        </a:defRPr>
      </a:lvl5pPr>
      <a:lvl6pPr marL="2393315" indent="-217805" algn="l" defTabSz="869950" rtl="0" eaLnBrk="1" latinLnBrk="0" hangingPunct="1">
        <a:spcBef>
          <a:spcPct val="20000"/>
        </a:spcBef>
        <a:buFont typeface="Arial" panose="020B0604020202090204" pitchFamily="34" charset="0"/>
        <a:buChar char="•"/>
        <a:defRPr sz="1945" kern="1200">
          <a:solidFill>
            <a:schemeClr val="tx1"/>
          </a:solidFill>
          <a:latin typeface="+mn-lt"/>
          <a:ea typeface="+mn-ea"/>
          <a:cs typeface="+mn-cs"/>
        </a:defRPr>
      </a:lvl6pPr>
      <a:lvl7pPr marL="2828290" indent="-217805" algn="l" defTabSz="869950" rtl="0" eaLnBrk="1" latinLnBrk="0" hangingPunct="1">
        <a:spcBef>
          <a:spcPct val="20000"/>
        </a:spcBef>
        <a:buFont typeface="Arial" panose="020B0604020202090204" pitchFamily="34" charset="0"/>
        <a:buChar char="•"/>
        <a:defRPr sz="1945" kern="1200">
          <a:solidFill>
            <a:schemeClr val="tx1"/>
          </a:solidFill>
          <a:latin typeface="+mn-lt"/>
          <a:ea typeface="+mn-ea"/>
          <a:cs typeface="+mn-cs"/>
        </a:defRPr>
      </a:lvl7pPr>
      <a:lvl8pPr marL="3263265" indent="-217805" algn="l" defTabSz="869950" rtl="0" eaLnBrk="1" latinLnBrk="0" hangingPunct="1">
        <a:spcBef>
          <a:spcPct val="20000"/>
        </a:spcBef>
        <a:buFont typeface="Arial" panose="020B0604020202090204" pitchFamily="34" charset="0"/>
        <a:buChar char="•"/>
        <a:defRPr sz="1945" kern="1200">
          <a:solidFill>
            <a:schemeClr val="tx1"/>
          </a:solidFill>
          <a:latin typeface="+mn-lt"/>
          <a:ea typeface="+mn-ea"/>
          <a:cs typeface="+mn-cs"/>
        </a:defRPr>
      </a:lvl8pPr>
      <a:lvl9pPr marL="3698240" indent="-217805" algn="l" defTabSz="869950" rtl="0" eaLnBrk="1" latinLnBrk="0" hangingPunct="1">
        <a:spcBef>
          <a:spcPct val="20000"/>
        </a:spcBef>
        <a:buFont typeface="Arial" panose="020B0604020202090204" pitchFamily="34" charset="0"/>
        <a:buChar char="•"/>
        <a:defRPr sz="1945" kern="1200">
          <a:solidFill>
            <a:schemeClr val="tx1"/>
          </a:solidFill>
          <a:latin typeface="+mn-lt"/>
          <a:ea typeface="+mn-ea"/>
          <a:cs typeface="+mn-cs"/>
        </a:defRPr>
      </a:lvl9pPr>
    </p:bodyStyle>
    <p:otherStyle>
      <a:defPPr>
        <a:defRPr lang="zh-CN"/>
      </a:defPPr>
      <a:lvl1pPr marL="0" algn="l" defTabSz="869950" rtl="0" eaLnBrk="1" latinLnBrk="0" hangingPunct="1">
        <a:defRPr sz="1695" kern="1200">
          <a:solidFill>
            <a:schemeClr val="tx1"/>
          </a:solidFill>
          <a:latin typeface="+mn-lt"/>
          <a:ea typeface="+mn-ea"/>
          <a:cs typeface="+mn-cs"/>
        </a:defRPr>
      </a:lvl1pPr>
      <a:lvl2pPr marL="434975" algn="l" defTabSz="869950" rtl="0" eaLnBrk="1" latinLnBrk="0" hangingPunct="1">
        <a:defRPr sz="1695" kern="1200">
          <a:solidFill>
            <a:schemeClr val="tx1"/>
          </a:solidFill>
          <a:latin typeface="+mn-lt"/>
          <a:ea typeface="+mn-ea"/>
          <a:cs typeface="+mn-cs"/>
        </a:defRPr>
      </a:lvl2pPr>
      <a:lvl3pPr marL="869950" algn="l" defTabSz="869950" rtl="0" eaLnBrk="1" latinLnBrk="0" hangingPunct="1">
        <a:defRPr sz="1695" kern="1200">
          <a:solidFill>
            <a:schemeClr val="tx1"/>
          </a:solidFill>
          <a:latin typeface="+mn-lt"/>
          <a:ea typeface="+mn-ea"/>
          <a:cs typeface="+mn-cs"/>
        </a:defRPr>
      </a:lvl3pPr>
      <a:lvl4pPr marL="1305560" algn="l" defTabSz="869950" rtl="0" eaLnBrk="1" latinLnBrk="0" hangingPunct="1">
        <a:defRPr sz="1695" kern="1200">
          <a:solidFill>
            <a:schemeClr val="tx1"/>
          </a:solidFill>
          <a:latin typeface="+mn-lt"/>
          <a:ea typeface="+mn-ea"/>
          <a:cs typeface="+mn-cs"/>
        </a:defRPr>
      </a:lvl4pPr>
      <a:lvl5pPr marL="1740535" algn="l" defTabSz="869950" rtl="0" eaLnBrk="1" latinLnBrk="0" hangingPunct="1">
        <a:defRPr sz="1695" kern="1200">
          <a:solidFill>
            <a:schemeClr val="tx1"/>
          </a:solidFill>
          <a:latin typeface="+mn-lt"/>
          <a:ea typeface="+mn-ea"/>
          <a:cs typeface="+mn-cs"/>
        </a:defRPr>
      </a:lvl5pPr>
      <a:lvl6pPr marL="2175510" algn="l" defTabSz="869950" rtl="0" eaLnBrk="1" latinLnBrk="0" hangingPunct="1">
        <a:defRPr sz="1695" kern="1200">
          <a:solidFill>
            <a:schemeClr val="tx1"/>
          </a:solidFill>
          <a:latin typeface="+mn-lt"/>
          <a:ea typeface="+mn-ea"/>
          <a:cs typeface="+mn-cs"/>
        </a:defRPr>
      </a:lvl6pPr>
      <a:lvl7pPr marL="2610485" algn="l" defTabSz="869950" rtl="0" eaLnBrk="1" latinLnBrk="0" hangingPunct="1">
        <a:defRPr sz="1695" kern="1200">
          <a:solidFill>
            <a:schemeClr val="tx1"/>
          </a:solidFill>
          <a:latin typeface="+mn-lt"/>
          <a:ea typeface="+mn-ea"/>
          <a:cs typeface="+mn-cs"/>
        </a:defRPr>
      </a:lvl7pPr>
      <a:lvl8pPr marL="3045460" algn="l" defTabSz="869950" rtl="0" eaLnBrk="1" latinLnBrk="0" hangingPunct="1">
        <a:defRPr sz="1695" kern="1200">
          <a:solidFill>
            <a:schemeClr val="tx1"/>
          </a:solidFill>
          <a:latin typeface="+mn-lt"/>
          <a:ea typeface="+mn-ea"/>
          <a:cs typeface="+mn-cs"/>
        </a:defRPr>
      </a:lvl8pPr>
      <a:lvl9pPr marL="3481070" algn="l" defTabSz="869950" rtl="0" eaLnBrk="1" latinLnBrk="0" hangingPunct="1">
        <a:defRPr sz="16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hyperlink" Target="https://docs.microsoft.com/zh-cn/previous-versions/sql/sql-server-2005/ms170208(v=sql.9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wmf"/></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3075" name="Rectangle 3"/>
          <p:cNvSpPr>
            <a:spLocks noGrp="1" noChangeArrowheads="1"/>
          </p:cNvSpPr>
          <p:nvPr>
            <p:ph idx="1"/>
          </p:nvPr>
        </p:nvSpPr>
        <p:spPr>
          <a:xfrm>
            <a:off x="576263" y="1079500"/>
            <a:ext cx="9863137" cy="5351463"/>
          </a:xfrm>
        </p:spPr>
        <p:txBody>
          <a:bodyPr/>
          <a:lstStyle/>
          <a:p>
            <a:pPr marL="0" indent="0" eaLnBrk="1" hangingPunct="1">
              <a:spcBef>
                <a:spcPct val="0"/>
              </a:spcBef>
              <a:buFont typeface="Arial" panose="020B0604020202090204" pitchFamily="34" charset="0"/>
              <a:buNone/>
            </a:pPr>
            <a:r>
              <a:rPr lang="en-US" altLang="zh-CN" sz="3600" b="1">
                <a:solidFill>
                  <a:srgbClr val="002060"/>
                </a:solidFill>
                <a:latin typeface="Times New Roman" panose="02020503050405090304" pitchFamily="18" charset="0"/>
                <a:ea typeface="楷体" panose="02010609060101010101" pitchFamily="49" charset="-122"/>
              </a:rPr>
              <a:t>4.1 </a:t>
            </a:r>
            <a:r>
              <a:rPr lang="zh-CN" altLang="en-US" sz="3600" b="1">
                <a:solidFill>
                  <a:srgbClr val="002060"/>
                </a:solidFill>
                <a:latin typeface="Times New Roman" panose="02020503050405090304" pitchFamily="18" charset="0"/>
                <a:ea typeface="楷体" panose="02010609060101010101" pitchFamily="49" charset="-122"/>
              </a:rPr>
              <a:t>数据仓库：基本概念</a:t>
            </a:r>
            <a:endParaRPr lang="zh-CN" altLang="en-US" sz="3600" b="1">
              <a:solidFill>
                <a:srgbClr val="002060"/>
              </a:solidFill>
              <a:latin typeface="Times New Roman" panose="02020503050405090304" pitchFamily="18" charset="0"/>
              <a:ea typeface="楷体" panose="02010609060101010101" pitchFamily="49" charset="-122"/>
            </a:endParaRPr>
          </a:p>
          <a:p>
            <a:pPr marL="0" indent="0" eaLnBrk="1" hangingPunct="1">
              <a:spcBef>
                <a:spcPct val="0"/>
              </a:spcBef>
              <a:buFont typeface="Arial" panose="020B0604020202090204" pitchFamily="34" charset="0"/>
              <a:buNone/>
            </a:pPr>
            <a:r>
              <a:rPr lang="en-US" altLang="zh-CN" sz="3600" b="1">
                <a:solidFill>
                  <a:srgbClr val="002060"/>
                </a:solidFill>
                <a:latin typeface="Times New Roman" panose="02020503050405090304" pitchFamily="18" charset="0"/>
                <a:ea typeface="楷体" panose="02010609060101010101" pitchFamily="49" charset="-122"/>
              </a:rPr>
              <a:t>4.2 </a:t>
            </a:r>
            <a:r>
              <a:rPr lang="zh-CN" altLang="en-US" sz="3600" b="1">
                <a:solidFill>
                  <a:srgbClr val="002060"/>
                </a:solidFill>
                <a:latin typeface="Times New Roman" panose="02020503050405090304" pitchFamily="18" charset="0"/>
                <a:ea typeface="楷体" panose="02010609060101010101" pitchFamily="49" charset="-122"/>
              </a:rPr>
              <a:t>数据仓库建模：数据立方体与</a:t>
            </a:r>
            <a:r>
              <a:rPr lang="en-US" altLang="zh-CN" sz="3600" b="1">
                <a:solidFill>
                  <a:srgbClr val="002060"/>
                </a:solidFill>
                <a:latin typeface="Times New Roman" panose="02020503050405090304" pitchFamily="18" charset="0"/>
                <a:ea typeface="楷体" panose="02010609060101010101" pitchFamily="49" charset="-122"/>
              </a:rPr>
              <a:t>OLAP</a:t>
            </a:r>
            <a:endParaRPr lang="zh-CN" altLang="en-US" sz="3600" b="1">
              <a:solidFill>
                <a:srgbClr val="002060"/>
              </a:solidFill>
              <a:latin typeface="Times New Roman" panose="02020503050405090304" pitchFamily="18" charset="0"/>
              <a:ea typeface="楷体" panose="02010609060101010101" pitchFamily="49" charset="-122"/>
            </a:endParaRPr>
          </a:p>
          <a:p>
            <a:pPr marL="0" indent="0" eaLnBrk="1" hangingPunct="1">
              <a:spcBef>
                <a:spcPct val="0"/>
              </a:spcBef>
              <a:buFont typeface="Arial" panose="020B0604020202090204" pitchFamily="34" charset="0"/>
              <a:buNone/>
            </a:pPr>
            <a:r>
              <a:rPr lang="en-US" altLang="zh-CN" sz="3600" b="1">
                <a:solidFill>
                  <a:srgbClr val="002060"/>
                </a:solidFill>
                <a:latin typeface="Times New Roman" panose="02020503050405090304" pitchFamily="18" charset="0"/>
                <a:ea typeface="楷体" panose="02010609060101010101" pitchFamily="49" charset="-122"/>
              </a:rPr>
              <a:t>4.3 </a:t>
            </a:r>
            <a:r>
              <a:rPr lang="zh-CN" altLang="en-US" sz="3600" b="1">
                <a:solidFill>
                  <a:srgbClr val="002060"/>
                </a:solidFill>
                <a:latin typeface="Times New Roman" panose="02020503050405090304" pitchFamily="18" charset="0"/>
                <a:ea typeface="楷体" panose="02010609060101010101" pitchFamily="49" charset="-122"/>
              </a:rPr>
              <a:t>数据仓库的设计与使用</a:t>
            </a:r>
            <a:endParaRPr lang="en-US" altLang="zh-CN" sz="3600" b="1">
              <a:solidFill>
                <a:srgbClr val="002060"/>
              </a:solidFill>
              <a:latin typeface="Times New Roman" panose="02020503050405090304" pitchFamily="18" charset="0"/>
              <a:ea typeface="楷体" panose="02010609060101010101" pitchFamily="49" charset="-122"/>
            </a:endParaRPr>
          </a:p>
          <a:p>
            <a:pPr marL="0" indent="0" eaLnBrk="1" hangingPunct="1">
              <a:spcBef>
                <a:spcPct val="0"/>
              </a:spcBef>
              <a:buFont typeface="Arial" panose="020B0604020202090204" pitchFamily="34" charset="0"/>
              <a:buNone/>
            </a:pPr>
            <a:r>
              <a:rPr lang="en-US" altLang="zh-CN" sz="3600" b="1">
                <a:solidFill>
                  <a:srgbClr val="002060"/>
                </a:solidFill>
                <a:latin typeface="Times New Roman" panose="02020503050405090304" pitchFamily="18" charset="0"/>
                <a:ea typeface="楷体" panose="02010609060101010101" pitchFamily="49" charset="-122"/>
              </a:rPr>
              <a:t>4.4 </a:t>
            </a:r>
            <a:r>
              <a:rPr lang="zh-CN" altLang="en-US" sz="3600" b="1">
                <a:solidFill>
                  <a:srgbClr val="002060"/>
                </a:solidFill>
                <a:latin typeface="Times New Roman" panose="02020503050405090304" pitchFamily="18" charset="0"/>
                <a:ea typeface="楷体" panose="02010609060101010101" pitchFamily="49" charset="-122"/>
              </a:rPr>
              <a:t>数据仓库的实现</a:t>
            </a:r>
            <a:endParaRPr lang="zh-CN" altLang="en-US" sz="3600" b="1">
              <a:solidFill>
                <a:srgbClr val="002060"/>
              </a:solidFill>
              <a:latin typeface="Times New Roman" panose="02020503050405090304" pitchFamily="18" charset="0"/>
              <a:ea typeface="楷体" panose="02010609060101010101" pitchFamily="49" charset="-122"/>
            </a:endParaRPr>
          </a:p>
          <a:p>
            <a:pPr marL="0" indent="0" eaLnBrk="1" hangingPunct="1">
              <a:spcBef>
                <a:spcPct val="0"/>
              </a:spcBef>
              <a:buFont typeface="Arial" panose="020B0604020202090204" pitchFamily="34" charset="0"/>
              <a:buNone/>
            </a:pPr>
            <a:r>
              <a:rPr lang="en-US" altLang="zh-CN" sz="3600" b="1">
                <a:solidFill>
                  <a:srgbClr val="002060"/>
                </a:solidFill>
                <a:latin typeface="Times New Roman" panose="02020503050405090304" pitchFamily="18" charset="0"/>
                <a:ea typeface="楷体" panose="02010609060101010101" pitchFamily="49" charset="-122"/>
              </a:rPr>
              <a:t>4.5 </a:t>
            </a:r>
            <a:r>
              <a:rPr lang="zh-CN" altLang="en-US" sz="3600" b="1">
                <a:solidFill>
                  <a:srgbClr val="002060"/>
                </a:solidFill>
                <a:latin typeface="Times New Roman" panose="02020503050405090304" pitchFamily="18" charset="0"/>
                <a:ea typeface="楷体" panose="02010609060101010101" pitchFamily="49" charset="-122"/>
              </a:rPr>
              <a:t>数据泛化：面向属性的归纳</a:t>
            </a:r>
            <a:endParaRPr lang="zh-CN" altLang="en-US" sz="3600" b="1">
              <a:solidFill>
                <a:srgbClr val="002060"/>
              </a:solidFill>
              <a:latin typeface="Times New Roman" panose="02020503050405090304" pitchFamily="18" charset="0"/>
              <a:ea typeface="楷体" panose="02010609060101010101" pitchFamily="49" charset="-122"/>
            </a:endParaRPr>
          </a:p>
          <a:p>
            <a:pPr marL="0" indent="0" eaLnBrk="1" hangingPunct="1">
              <a:spcBef>
                <a:spcPct val="0"/>
              </a:spcBef>
              <a:buFont typeface="Arial" panose="020B0604020202090204" pitchFamily="34" charset="0"/>
              <a:buNone/>
            </a:pPr>
            <a:r>
              <a:rPr lang="en-US" altLang="zh-CN" sz="3600" b="1">
                <a:solidFill>
                  <a:srgbClr val="002060"/>
                </a:solidFill>
                <a:latin typeface="Times New Roman" panose="02020503050405090304" pitchFamily="18" charset="0"/>
                <a:ea typeface="楷体" panose="02010609060101010101" pitchFamily="49" charset="-122"/>
              </a:rPr>
              <a:t>4.6 </a:t>
            </a:r>
            <a:r>
              <a:rPr lang="zh-CN" altLang="en-US" sz="3600" b="1">
                <a:solidFill>
                  <a:srgbClr val="002060"/>
                </a:solidFill>
                <a:latin typeface="Times New Roman" panose="02020503050405090304" pitchFamily="18" charset="0"/>
                <a:ea typeface="楷体" panose="02010609060101010101" pitchFamily="49" charset="-122"/>
              </a:rPr>
              <a:t>小结</a:t>
            </a:r>
            <a:endParaRPr lang="zh-CN" altLang="en-US" sz="3600" b="1">
              <a:solidFill>
                <a:srgbClr val="002060"/>
              </a:solidFill>
              <a:latin typeface="Times New Roman" panose="02020503050405090304" pitchFamily="18" charset="0"/>
              <a:ea typeface="楷体" panose="02010609060101010101" pitchFamily="49" charset="-122"/>
            </a:endParaRPr>
          </a:p>
          <a:p>
            <a:pPr marL="0" indent="0" eaLnBrk="1" hangingPunct="1">
              <a:spcBef>
                <a:spcPct val="0"/>
              </a:spcBef>
            </a:pPr>
            <a:endParaRPr lang="en-US" altLang="zh-CN" b="1">
              <a:latin typeface="Times New Roman" panose="02020503050405090304" pitchFamily="18" charset="0"/>
              <a:ea typeface="楷体" panose="02010609060101010101" pitchFamily="49" charset="-122"/>
            </a:endParaRPr>
          </a:p>
        </p:txBody>
      </p:sp>
      <p:sp>
        <p:nvSpPr>
          <p:cNvPr id="3076"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594311C2-43BA-4A1D-9B36-0641661C3DF3}"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16389" name="Rectangle 3"/>
          <p:cNvSpPr>
            <a:spLocks noGrp="1" noChangeArrowheads="1"/>
          </p:cNvSpPr>
          <p:nvPr>
            <p:ph idx="1"/>
          </p:nvPr>
        </p:nvSpPr>
        <p:spPr>
          <a:xfrm>
            <a:off x="576263" y="1079500"/>
            <a:ext cx="9863137" cy="5351463"/>
          </a:xfrm>
        </p:spPr>
        <p:txBody>
          <a:bodyPr/>
          <a:lstStyle/>
          <a:p>
            <a:pPr marL="0" indent="0" defTabSz="869315" eaLnBrk="1" hangingPunct="1">
              <a:buFont typeface="Arial" panose="020B0604020202090204" pitchFamily="34" charset="0"/>
              <a:buNone/>
              <a:defRPr/>
            </a:pPr>
            <a:r>
              <a:rPr lang="en-US" altLang="zh-CN" sz="3600" b="1" dirty="0">
                <a:solidFill>
                  <a:srgbClr val="FF0000"/>
                </a:solidFill>
                <a:latin typeface="楷体" panose="02010609060101010101" pitchFamily="49" charset="-122"/>
                <a:ea typeface="楷体" panose="02010609060101010101" pitchFamily="49" charset="-122"/>
              </a:rPr>
              <a:t>4.1 </a:t>
            </a:r>
            <a:r>
              <a:rPr lang="zh-CN" altLang="en-US" sz="3600" b="1" dirty="0">
                <a:solidFill>
                  <a:srgbClr val="FF0000"/>
                </a:solidFill>
                <a:latin typeface="楷体" panose="02010609060101010101" pitchFamily="49" charset="-122"/>
                <a:ea typeface="楷体" panose="02010609060101010101" pitchFamily="49" charset="-122"/>
              </a:rPr>
              <a:t>数据仓库：基本概念</a:t>
            </a:r>
            <a:endParaRPr lang="zh-CN" altLang="en-US" sz="3600" b="1" dirty="0">
              <a:solidFill>
                <a:srgbClr val="FF0000"/>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4.2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数据仓库建模：数据立方体与</a:t>
            </a:r>
            <a:r>
              <a:rPr lang="en-US" altLang="zh-CN"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4.3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数据仓库的设计与使用</a:t>
            </a:r>
            <a:endParaRPr lang="en-US" altLang="zh-CN"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4.4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数据仓库的实现</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4.5 </a:t>
            </a:r>
            <a:r>
              <a:rPr lang="zh-CN" altLang="en-US" sz="3600" b="1" dirty="0">
                <a:solidFill>
                  <a:schemeClr val="bg1">
                    <a:lumMod val="75000"/>
                  </a:schemeClr>
                </a:solidFill>
                <a:latin typeface="楷体" panose="02010609060101010101" pitchFamily="49" charset="-122"/>
                <a:ea typeface="楷体" panose="02010609060101010101" pitchFamily="49" charset="-122"/>
              </a:rPr>
              <a:t>数据泛化：面向属性的归纳</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4.6 </a:t>
            </a:r>
            <a:r>
              <a:rPr lang="zh-CN" altLang="en-US" sz="3600" b="1"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325120" indent="-325120" defTabSz="869315" eaLnBrk="1" hangingPunct="1">
              <a:defRPr/>
            </a:pPr>
            <a:endParaRPr lang="en-US" altLang="zh-CN" sz="3050" b="1" dirty="0"/>
          </a:p>
        </p:txBody>
      </p:sp>
      <p:sp>
        <p:nvSpPr>
          <p:cNvPr id="410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8C66940-D2F0-4891-BF35-1F765E824F77}"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715000"/>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600" b="1" dirty="0">
                <a:solidFill>
                  <a:srgbClr val="0000FF"/>
                </a:solidFill>
                <a:latin typeface="+mn-ea"/>
                <a:ea typeface="+mn-ea"/>
              </a:rPr>
              <a:t>1</a:t>
            </a:r>
            <a:r>
              <a:rPr lang="zh-CN" altLang="en-US" sz="2600" b="1" dirty="0">
                <a:solidFill>
                  <a:srgbClr val="0000FF"/>
                </a:solidFill>
                <a:latin typeface="+mn-ea"/>
                <a:ea typeface="+mn-ea"/>
              </a:rPr>
              <a:t>、什么是数据仓库</a:t>
            </a:r>
            <a:endParaRPr lang="en-US" altLang="zh-CN" sz="2600" b="1" dirty="0">
              <a:solidFill>
                <a:srgbClr val="0000FF"/>
              </a:solidFill>
              <a:latin typeface="+mn-ea"/>
              <a:ea typeface="+mn-ea"/>
            </a:endParaRPr>
          </a:p>
          <a:p>
            <a:pPr marL="0" indent="0" algn="just" defTabSz="869315" eaLnBrk="1" fontAlgn="auto" hangingPunct="1">
              <a:spcAft>
                <a:spcPts val="0"/>
              </a:spcAft>
              <a:buFont typeface="Arial" panose="020B0604020202090204" pitchFamily="34" charset="0"/>
              <a:buNone/>
              <a:defRPr/>
            </a:pPr>
            <a:r>
              <a:rPr lang="zh-CN" altLang="en-US" sz="2600" b="1" dirty="0">
                <a:latin typeface="+mn-ea"/>
                <a:ea typeface="+mn-ea"/>
              </a:rPr>
              <a:t>数据仓库：</a:t>
            </a:r>
            <a:r>
              <a:rPr lang="zh-CN" altLang="en-US" sz="2600" dirty="0">
                <a:latin typeface="+mn-ea"/>
                <a:ea typeface="+mn-ea"/>
              </a:rPr>
              <a:t>是一个面向</a:t>
            </a:r>
            <a:r>
              <a:rPr lang="zh-CN" altLang="en-US" sz="2600" dirty="0">
                <a:solidFill>
                  <a:srgbClr val="FF0000"/>
                </a:solidFill>
                <a:latin typeface="+mn-ea"/>
                <a:ea typeface="+mn-ea"/>
              </a:rPr>
              <a:t>主题的、集成的、时变的、非易失的</a:t>
            </a:r>
            <a:r>
              <a:rPr lang="zh-CN" altLang="en-US" sz="2600" b="1" dirty="0">
                <a:latin typeface="+mn-ea"/>
                <a:ea typeface="+mn-ea"/>
              </a:rPr>
              <a:t>数据集合</a:t>
            </a:r>
            <a:r>
              <a:rPr lang="zh-CN" altLang="en-US" sz="2600" dirty="0">
                <a:latin typeface="+mn-ea"/>
                <a:ea typeface="+mn-ea"/>
              </a:rPr>
              <a:t>，支持管理者的</a:t>
            </a:r>
            <a:r>
              <a:rPr lang="zh-CN" altLang="en-US" sz="2600" b="1" u="sng" dirty="0">
                <a:latin typeface="+mn-ea"/>
                <a:ea typeface="+mn-ea"/>
              </a:rPr>
              <a:t>决策过程</a:t>
            </a:r>
            <a:r>
              <a:rPr lang="zh-CN" altLang="en-US" sz="2600" dirty="0">
                <a:latin typeface="+mn-ea"/>
                <a:ea typeface="+mn-ea"/>
              </a:rPr>
              <a:t>。</a:t>
            </a:r>
            <a:endParaRPr lang="zh-CN" altLang="en-US" sz="2600" dirty="0">
              <a:latin typeface="+mn-ea"/>
              <a:ea typeface="+mn-ea"/>
            </a:endParaRPr>
          </a:p>
          <a:p>
            <a:pPr marL="0" indent="0" algn="just" defTabSz="869315" eaLnBrk="1" fontAlgn="auto" hangingPunct="1">
              <a:spcAft>
                <a:spcPts val="0"/>
              </a:spcAft>
              <a:buFont typeface="Arial" panose="020B0604020202090204" pitchFamily="34" charset="0"/>
              <a:buNone/>
              <a:defRPr/>
            </a:pPr>
            <a:r>
              <a:rPr lang="zh-CN" altLang="en-US" sz="2600" dirty="0">
                <a:latin typeface="+mn-ea"/>
                <a:ea typeface="+mn-ea"/>
              </a:rPr>
              <a:t>数据仓库的</a:t>
            </a:r>
            <a:r>
              <a:rPr lang="zh-CN" altLang="en-US" sz="2600" b="1" dirty="0">
                <a:latin typeface="+mn-ea"/>
                <a:ea typeface="+mn-ea"/>
              </a:rPr>
              <a:t>四个关键特征：</a:t>
            </a:r>
            <a:endParaRPr lang="en-US" altLang="zh-CN" sz="2600" b="1" dirty="0">
              <a:latin typeface="+mn-ea"/>
              <a:ea typeface="+mn-ea"/>
            </a:endParaRPr>
          </a:p>
          <a:p>
            <a:pPr marL="0" indent="0" defTabSz="868680" eaLnBrk="1" hangingPunct="1">
              <a:spcAft>
                <a:spcPts val="0"/>
              </a:spcAft>
              <a:buFont typeface="Arial" panose="020B0604020202090204" pitchFamily="34" charset="0"/>
              <a:buNone/>
              <a:defRPr/>
            </a:pPr>
            <a:r>
              <a:rPr lang="en-US" altLang="zh-CN" sz="2000" b="1" dirty="0">
                <a:solidFill>
                  <a:srgbClr val="0000FF"/>
                </a:solidFill>
                <a:latin typeface="+mn-ea"/>
                <a:ea typeface="+mn-ea"/>
              </a:rPr>
              <a:t>1</a:t>
            </a:r>
            <a:r>
              <a:rPr lang="zh-CN" altLang="en-US" sz="2000" b="1" dirty="0">
                <a:solidFill>
                  <a:srgbClr val="0000FF"/>
                </a:solidFill>
                <a:latin typeface="+mn-ea"/>
                <a:ea typeface="+mn-ea"/>
              </a:rPr>
              <a:t>）面向主题的</a:t>
            </a:r>
            <a:r>
              <a:rPr lang="zh-CN" altLang="en-US" sz="2000" dirty="0">
                <a:solidFill>
                  <a:srgbClr val="0000FF"/>
                </a:solidFill>
                <a:latin typeface="+mn-ea"/>
                <a:ea typeface="+mn-ea"/>
              </a:rPr>
              <a:t>：</a:t>
            </a:r>
            <a:endParaRPr lang="en-US" altLang="zh-CN" sz="2000" dirty="0">
              <a:solidFill>
                <a:srgbClr val="0000FF"/>
              </a:solidFill>
              <a:latin typeface="+mn-ea"/>
              <a:ea typeface="+mn-ea"/>
            </a:endParaRPr>
          </a:p>
          <a:p>
            <a:pPr marL="0" indent="0" defTabSz="868680" eaLnBrk="1" hangingPunct="1">
              <a:spcAft>
                <a:spcPts val="0"/>
              </a:spcAft>
              <a:buFont typeface="Arial" panose="020B0604020202090204" pitchFamily="34" charset="0"/>
              <a:buNone/>
              <a:defRPr/>
            </a:pPr>
            <a:endParaRPr lang="en-US" altLang="zh-CN" sz="2000" b="1" dirty="0">
              <a:latin typeface="+mn-ea"/>
              <a:ea typeface="+mn-ea"/>
            </a:endParaRPr>
          </a:p>
          <a:p>
            <a:pPr marL="0" indent="0" defTabSz="868680" eaLnBrk="1" hangingPunct="1">
              <a:spcAft>
                <a:spcPts val="0"/>
              </a:spcAft>
              <a:buFont typeface="Arial" panose="020B0604020202090204" pitchFamily="34" charset="0"/>
              <a:buNone/>
              <a:defRPr/>
            </a:pPr>
            <a:r>
              <a:rPr lang="en-US" altLang="zh-CN" sz="2000" b="1" dirty="0">
                <a:solidFill>
                  <a:srgbClr val="0000FF"/>
                </a:solidFill>
                <a:latin typeface="+mn-ea"/>
                <a:ea typeface="+mn-ea"/>
              </a:rPr>
              <a:t>2</a:t>
            </a:r>
            <a:r>
              <a:rPr lang="zh-CN" altLang="en-US" sz="2000" b="1" dirty="0">
                <a:solidFill>
                  <a:srgbClr val="0000FF"/>
                </a:solidFill>
                <a:latin typeface="+mn-ea"/>
                <a:ea typeface="+mn-ea"/>
              </a:rPr>
              <a:t>）集成的</a:t>
            </a:r>
            <a:r>
              <a:rPr lang="zh-CN" altLang="en-US" sz="2000" dirty="0">
                <a:solidFill>
                  <a:srgbClr val="0000FF"/>
                </a:solidFill>
                <a:latin typeface="+mn-ea"/>
                <a:ea typeface="+mn-ea"/>
              </a:rPr>
              <a:t>：</a:t>
            </a:r>
            <a:endParaRPr lang="en-US" altLang="zh-CN" sz="2000" dirty="0">
              <a:solidFill>
                <a:srgbClr val="0000FF"/>
              </a:solidFill>
              <a:latin typeface="+mn-ea"/>
              <a:ea typeface="+mn-ea"/>
            </a:endParaRPr>
          </a:p>
          <a:p>
            <a:pPr marL="0" indent="0" defTabSz="868680" eaLnBrk="1" hangingPunct="1">
              <a:spcAft>
                <a:spcPts val="0"/>
              </a:spcAft>
              <a:buFont typeface="Arial" panose="020B0604020202090204" pitchFamily="34" charset="0"/>
              <a:buNone/>
              <a:defRPr/>
            </a:pPr>
            <a:endParaRPr lang="en-US" altLang="zh-CN" sz="2000" b="1" dirty="0">
              <a:latin typeface="+mn-ea"/>
              <a:ea typeface="+mn-ea"/>
            </a:endParaRPr>
          </a:p>
          <a:p>
            <a:pPr marL="0" indent="0" defTabSz="868680" eaLnBrk="1" hangingPunct="1">
              <a:spcAft>
                <a:spcPts val="0"/>
              </a:spcAft>
              <a:buFont typeface="Arial" panose="020B0604020202090204" pitchFamily="34" charset="0"/>
              <a:buNone/>
              <a:defRPr/>
            </a:pPr>
            <a:r>
              <a:rPr lang="en-US" altLang="zh-CN" sz="2000" b="1" dirty="0">
                <a:solidFill>
                  <a:srgbClr val="0000FF"/>
                </a:solidFill>
                <a:latin typeface="+mn-ea"/>
                <a:ea typeface="+mn-ea"/>
              </a:rPr>
              <a:t>3</a:t>
            </a:r>
            <a:r>
              <a:rPr lang="zh-CN" altLang="en-US" sz="2000" b="1" dirty="0">
                <a:solidFill>
                  <a:srgbClr val="0000FF"/>
                </a:solidFill>
                <a:latin typeface="+mn-ea"/>
                <a:ea typeface="+mn-ea"/>
              </a:rPr>
              <a:t>）时变的</a:t>
            </a:r>
            <a:r>
              <a:rPr lang="zh-CN" altLang="en-US" sz="2000" dirty="0">
                <a:solidFill>
                  <a:srgbClr val="0000FF"/>
                </a:solidFill>
                <a:latin typeface="+mn-ea"/>
                <a:ea typeface="+mn-ea"/>
              </a:rPr>
              <a:t>：</a:t>
            </a:r>
            <a:endParaRPr lang="en-US" altLang="zh-CN" sz="2000" dirty="0">
              <a:solidFill>
                <a:srgbClr val="0000FF"/>
              </a:solidFill>
              <a:latin typeface="+mn-ea"/>
              <a:ea typeface="+mn-ea"/>
            </a:endParaRPr>
          </a:p>
          <a:p>
            <a:pPr marL="0" indent="0" defTabSz="868680" eaLnBrk="1" hangingPunct="1">
              <a:spcAft>
                <a:spcPts val="0"/>
              </a:spcAft>
              <a:buFont typeface="Arial" panose="020B0604020202090204" pitchFamily="34" charset="0"/>
              <a:buNone/>
              <a:defRPr/>
            </a:pPr>
            <a:r>
              <a:rPr lang="en-US" altLang="zh-CN" sz="2000" b="1" dirty="0">
                <a:solidFill>
                  <a:srgbClr val="0000FF"/>
                </a:solidFill>
                <a:latin typeface="+mn-ea"/>
                <a:ea typeface="+mn-ea"/>
              </a:rPr>
              <a:t>4</a:t>
            </a:r>
            <a:r>
              <a:rPr lang="zh-CN" altLang="en-US" sz="2000" b="1" dirty="0">
                <a:solidFill>
                  <a:srgbClr val="0000FF"/>
                </a:solidFill>
                <a:latin typeface="+mn-ea"/>
                <a:ea typeface="+mn-ea"/>
              </a:rPr>
              <a:t>）非易失的</a:t>
            </a:r>
            <a:r>
              <a:rPr lang="zh-CN" altLang="en-US" sz="2000" dirty="0">
                <a:solidFill>
                  <a:srgbClr val="0000FF"/>
                </a:solidFill>
                <a:latin typeface="+mn-ea"/>
                <a:ea typeface="+mn-ea"/>
              </a:rPr>
              <a:t>：</a:t>
            </a:r>
            <a:endParaRPr lang="zh-CN" altLang="en-US" sz="2000" dirty="0">
              <a:solidFill>
                <a:srgbClr val="0000FF"/>
              </a:solidFill>
              <a:latin typeface="+mn-ea"/>
              <a:ea typeface="+mn-ea"/>
            </a:endParaRPr>
          </a:p>
        </p:txBody>
      </p:sp>
      <p:sp>
        <p:nvSpPr>
          <p:cNvPr id="5124"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9CEDD343-CE3F-4C99-8C13-D39FC8659F60}" type="slidenum">
              <a:rPr lang="en-US" altLang="zh-CN" sz="1200" smtClean="0">
                <a:solidFill>
                  <a:srgbClr val="FFFFFF"/>
                </a:solidFill>
              </a:rPr>
            </a:fld>
            <a:endParaRPr lang="en-US" altLang="zh-CN" sz="1200">
              <a:solidFill>
                <a:srgbClr val="FFFFFF"/>
              </a:solidFill>
            </a:endParaRPr>
          </a:p>
        </p:txBody>
      </p:sp>
      <p:sp>
        <p:nvSpPr>
          <p:cNvPr id="2" name="矩形 1"/>
          <p:cNvSpPr/>
          <p:nvPr/>
        </p:nvSpPr>
        <p:spPr>
          <a:xfrm>
            <a:off x="2505075" y="3573463"/>
            <a:ext cx="7754938" cy="1014412"/>
          </a:xfrm>
          <a:prstGeom prst="rect">
            <a:avLst/>
          </a:prstGeom>
        </p:spPr>
        <p:txBody>
          <a:bodyPr>
            <a:spAutoFit/>
          </a:bodyPr>
          <a:lstStyle/>
          <a:p>
            <a:pPr defTabSz="868680" eaLnBrk="1" hangingPunct="1">
              <a:lnSpc>
                <a:spcPct val="150000"/>
              </a:lnSpc>
              <a:spcAft>
                <a:spcPts val="0"/>
              </a:spcAft>
              <a:buFont typeface="Arial" panose="020B0604020202090204" pitchFamily="34" charset="0"/>
              <a:buNone/>
              <a:defRPr/>
            </a:pPr>
            <a:r>
              <a:rPr lang="zh-CN" altLang="en-US" sz="2000" dirty="0">
                <a:latin typeface="+mn-ea"/>
              </a:rPr>
              <a:t>数据仓库</a:t>
            </a:r>
            <a:r>
              <a:rPr lang="zh-CN" altLang="en-US" sz="2000" dirty="0">
                <a:solidFill>
                  <a:srgbClr val="FF0000"/>
                </a:solidFill>
                <a:latin typeface="+mn-ea"/>
              </a:rPr>
              <a:t>围绕一些重要的主题</a:t>
            </a:r>
            <a:r>
              <a:rPr lang="zh-CN" altLang="en-US" sz="2000" dirty="0">
                <a:latin typeface="+mn-ea"/>
              </a:rPr>
              <a:t>，如顾客、供应商、产品和销售组织。</a:t>
            </a:r>
            <a:r>
              <a:rPr lang="zh-CN" altLang="en-US" sz="2000" dirty="0">
                <a:solidFill>
                  <a:srgbClr val="FF0000"/>
                </a:solidFill>
                <a:latin typeface="+mn-ea"/>
              </a:rPr>
              <a:t>关注点是决策者的数据建模与分析</a:t>
            </a:r>
            <a:r>
              <a:rPr lang="zh-CN" altLang="en-US" sz="2000" dirty="0">
                <a:latin typeface="+mn-ea"/>
              </a:rPr>
              <a:t>，不是在日常操作和事务处理上。</a:t>
            </a:r>
            <a:endParaRPr lang="zh-CN" altLang="en-US" sz="2000" dirty="0">
              <a:latin typeface="+mn-ea"/>
            </a:endParaRPr>
          </a:p>
        </p:txBody>
      </p:sp>
      <p:sp>
        <p:nvSpPr>
          <p:cNvPr id="3" name="矩形 2"/>
          <p:cNvSpPr/>
          <p:nvPr/>
        </p:nvSpPr>
        <p:spPr>
          <a:xfrm>
            <a:off x="1998663" y="4476750"/>
            <a:ext cx="8164512" cy="1016000"/>
          </a:xfrm>
          <a:prstGeom prst="rect">
            <a:avLst/>
          </a:prstGeom>
        </p:spPr>
        <p:txBody>
          <a:bodyPr>
            <a:spAutoFit/>
          </a:bodyPr>
          <a:lstStyle/>
          <a:p>
            <a:pPr defTabSz="868680" eaLnBrk="1" hangingPunct="1">
              <a:lnSpc>
                <a:spcPct val="150000"/>
              </a:lnSpc>
              <a:spcAft>
                <a:spcPts val="0"/>
              </a:spcAft>
              <a:buFont typeface="Arial" panose="020B0604020202090204" pitchFamily="34" charset="0"/>
              <a:buNone/>
              <a:defRPr/>
            </a:pPr>
            <a:r>
              <a:rPr lang="zh-CN" altLang="en-US" sz="2000" dirty="0">
                <a:latin typeface="+mn-ea"/>
              </a:rPr>
              <a:t>构造数据仓库是将</a:t>
            </a:r>
            <a:r>
              <a:rPr lang="zh-CN" altLang="en-US" sz="2000" dirty="0">
                <a:solidFill>
                  <a:srgbClr val="FF0000"/>
                </a:solidFill>
                <a:latin typeface="+mn-ea"/>
              </a:rPr>
              <a:t>多个异构数据源</a:t>
            </a:r>
            <a:r>
              <a:rPr lang="zh-CN" altLang="en-US" sz="2000" dirty="0">
                <a:latin typeface="+mn-ea"/>
              </a:rPr>
              <a:t>，如关系数据库、一般文件、联机事务处理记录集成在一起。 使用数据清理和数据集成技术，保证一致性。</a:t>
            </a:r>
            <a:endParaRPr lang="zh-CN" altLang="en-US" sz="2000" dirty="0">
              <a:latin typeface="+mn-ea"/>
            </a:endParaRPr>
          </a:p>
        </p:txBody>
      </p:sp>
      <p:sp>
        <p:nvSpPr>
          <p:cNvPr id="4" name="矩形 3"/>
          <p:cNvSpPr/>
          <p:nvPr/>
        </p:nvSpPr>
        <p:spPr>
          <a:xfrm>
            <a:off x="2071688" y="5476875"/>
            <a:ext cx="8408987" cy="400050"/>
          </a:xfrm>
          <a:prstGeom prst="rect">
            <a:avLst/>
          </a:prstGeom>
        </p:spPr>
        <p:txBody>
          <a:bodyPr>
            <a:spAutoFit/>
          </a:bodyPr>
          <a:lstStyle/>
          <a:p>
            <a:pPr defTabSz="868680" eaLnBrk="1" hangingPunct="1">
              <a:spcAft>
                <a:spcPts val="0"/>
              </a:spcAft>
              <a:buFont typeface="Arial" panose="020B0604020202090204" pitchFamily="34" charset="0"/>
              <a:buNone/>
              <a:defRPr/>
            </a:pPr>
            <a:r>
              <a:rPr lang="zh-CN" altLang="en-US" sz="2000" dirty="0">
                <a:latin typeface="+mn-ea"/>
              </a:rPr>
              <a:t>从历史的角度提供信息，关键结构都</a:t>
            </a:r>
            <a:r>
              <a:rPr lang="zh-CN" altLang="en-US" sz="2000" dirty="0">
                <a:solidFill>
                  <a:srgbClr val="FF0000"/>
                </a:solidFill>
                <a:latin typeface="+mn-ea"/>
              </a:rPr>
              <a:t>包含着时间元素</a:t>
            </a:r>
            <a:r>
              <a:rPr lang="zh-CN" altLang="en-US" sz="2000" dirty="0">
                <a:latin typeface="+mn-ea"/>
              </a:rPr>
              <a:t>（显式地和隐式地）。</a:t>
            </a:r>
            <a:endParaRPr lang="zh-CN" altLang="en-US" sz="2000" dirty="0">
              <a:latin typeface="+mn-ea"/>
            </a:endParaRPr>
          </a:p>
        </p:txBody>
      </p:sp>
      <p:sp>
        <p:nvSpPr>
          <p:cNvPr id="5" name="矩形 4"/>
          <p:cNvSpPr/>
          <p:nvPr/>
        </p:nvSpPr>
        <p:spPr>
          <a:xfrm>
            <a:off x="2305050" y="5842000"/>
            <a:ext cx="7918450" cy="1016000"/>
          </a:xfrm>
          <a:prstGeom prst="rect">
            <a:avLst/>
          </a:prstGeom>
        </p:spPr>
        <p:txBody>
          <a:bodyPr>
            <a:spAutoFit/>
          </a:bodyPr>
          <a:lstStyle/>
          <a:p>
            <a:pPr>
              <a:lnSpc>
                <a:spcPct val="150000"/>
              </a:lnSpc>
              <a:defRPr/>
            </a:pPr>
            <a:r>
              <a:rPr lang="zh-CN" altLang="en-US" sz="2000" dirty="0">
                <a:latin typeface="+mn-ea"/>
              </a:rPr>
              <a:t>数据仓库总是</a:t>
            </a:r>
            <a:r>
              <a:rPr lang="zh-CN" altLang="en-US" sz="2000" dirty="0">
                <a:solidFill>
                  <a:srgbClr val="FF0000"/>
                </a:solidFill>
                <a:latin typeface="+mn-ea"/>
              </a:rPr>
              <a:t>物理地分离存储数据</a:t>
            </a:r>
            <a:r>
              <a:rPr lang="zh-CN" altLang="en-US" sz="2000" dirty="0">
                <a:latin typeface="+mn-ea"/>
              </a:rPr>
              <a:t>，不需要事务处理、回复和并发控制机制。</a:t>
            </a:r>
            <a:endParaRPr lang="zh-CN" altLang="en-US" sz="2000" dirty="0"/>
          </a:p>
        </p:txBody>
      </p:sp>
      <p:sp>
        <p:nvSpPr>
          <p:cNvPr id="6" name="矩形 5"/>
          <p:cNvSpPr/>
          <p:nvPr/>
        </p:nvSpPr>
        <p:spPr>
          <a:xfrm>
            <a:off x="5002213" y="1116013"/>
            <a:ext cx="5486400" cy="646112"/>
          </a:xfrm>
          <a:prstGeom prst="rect">
            <a:avLst/>
          </a:prstGeom>
          <a:solidFill>
            <a:schemeClr val="accent5">
              <a:lumMod val="40000"/>
              <a:lumOff val="60000"/>
            </a:schemeClr>
          </a:solidFill>
        </p:spPr>
        <p:txBody>
          <a:bodyPr>
            <a:spAutoFit/>
          </a:bodyPr>
          <a:lstStyle/>
          <a:p>
            <a:pPr>
              <a:defRPr/>
            </a:pPr>
            <a:r>
              <a:rPr lang="zh-CN" altLang="en-US" b="1" dirty="0">
                <a:solidFill>
                  <a:srgbClr val="333333"/>
                </a:solidFill>
              </a:rPr>
              <a:t>数据库：</a:t>
            </a:r>
            <a:r>
              <a:rPr lang="zh-CN" altLang="en-US" dirty="0">
                <a:solidFill>
                  <a:srgbClr val="333333"/>
                </a:solidFill>
              </a:rPr>
              <a:t>是一个</a:t>
            </a:r>
            <a:r>
              <a:rPr lang="zh-CN" altLang="en-US" dirty="0">
                <a:solidFill>
                  <a:srgbClr val="FF0000"/>
                </a:solidFill>
              </a:rPr>
              <a:t>长期存储在计算机内的</a:t>
            </a:r>
            <a:r>
              <a:rPr lang="zh-CN" altLang="en-US" dirty="0">
                <a:solidFill>
                  <a:srgbClr val="333333"/>
                </a:solidFill>
              </a:rPr>
              <a:t>、</a:t>
            </a:r>
            <a:r>
              <a:rPr lang="zh-CN" altLang="en-US" dirty="0">
                <a:solidFill>
                  <a:srgbClr val="FF0000"/>
                </a:solidFill>
              </a:rPr>
              <a:t>有组织的</a:t>
            </a:r>
            <a:r>
              <a:rPr lang="zh-CN" altLang="en-US" dirty="0">
                <a:solidFill>
                  <a:srgbClr val="333333"/>
                </a:solidFill>
              </a:rPr>
              <a:t>、</a:t>
            </a:r>
            <a:r>
              <a:rPr lang="zh-CN" altLang="en-US" dirty="0">
                <a:solidFill>
                  <a:srgbClr val="FF0000"/>
                </a:solidFill>
              </a:rPr>
              <a:t>可共享的</a:t>
            </a:r>
            <a:r>
              <a:rPr lang="zh-CN" altLang="en-US" dirty="0">
                <a:solidFill>
                  <a:srgbClr val="333333"/>
                </a:solidFill>
              </a:rPr>
              <a:t>、</a:t>
            </a:r>
            <a:r>
              <a:rPr lang="zh-CN" altLang="en-US" dirty="0">
                <a:solidFill>
                  <a:srgbClr val="FF0000"/>
                </a:solidFill>
              </a:rPr>
              <a:t>统一管理</a:t>
            </a:r>
            <a:r>
              <a:rPr lang="zh-CN" altLang="en-US" dirty="0">
                <a:solidFill>
                  <a:srgbClr val="333333"/>
                </a:solidFill>
              </a:rPr>
              <a:t>的</a:t>
            </a:r>
            <a:r>
              <a:rPr lang="zh-CN" altLang="en-US" b="1" dirty="0">
                <a:solidFill>
                  <a:srgbClr val="333333"/>
                </a:solidFill>
              </a:rPr>
              <a:t>大量数据的集合</a:t>
            </a:r>
            <a:r>
              <a:rPr lang="zh-CN" altLang="en-US" dirty="0">
                <a:solidFill>
                  <a:srgbClr val="333333"/>
                </a:solidFill>
              </a:rPr>
              <a:t>。</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851">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851">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511800"/>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2</a:t>
            </a:r>
            <a:r>
              <a:rPr lang="zh-CN" altLang="en-US" sz="2400" b="1" dirty="0">
                <a:solidFill>
                  <a:srgbClr val="0000FF"/>
                </a:solidFill>
                <a:latin typeface="+mn-ea"/>
                <a:ea typeface="+mn-ea"/>
              </a:rPr>
              <a:t>、操作数据库与数据仓库的区别</a:t>
            </a:r>
            <a:endParaRPr lang="en-US" altLang="zh-CN" sz="2400" b="1" dirty="0">
              <a:solidFill>
                <a:srgbClr val="0000FF"/>
              </a:solidFill>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2400" b="1" dirty="0">
                <a:latin typeface="+mn-ea"/>
                <a:ea typeface="+mn-ea"/>
              </a:rPr>
              <a:t>联机操作</a:t>
            </a:r>
            <a:r>
              <a:rPr lang="zh-CN" altLang="en-US" sz="2400" b="1" dirty="0">
                <a:solidFill>
                  <a:srgbClr val="FF00FF"/>
                </a:solidFill>
                <a:latin typeface="+mn-ea"/>
                <a:ea typeface="+mn-ea"/>
              </a:rPr>
              <a:t>数据库系统</a:t>
            </a:r>
            <a:r>
              <a:rPr lang="zh-CN" altLang="en-US" sz="2400" dirty="0">
                <a:latin typeface="+mn-ea"/>
                <a:ea typeface="+mn-ea"/>
              </a:rPr>
              <a:t>的</a:t>
            </a:r>
            <a:r>
              <a:rPr lang="zh-CN" altLang="en-US" sz="2400" dirty="0">
                <a:solidFill>
                  <a:srgbClr val="FF0000"/>
                </a:solidFill>
                <a:latin typeface="+mn-ea"/>
                <a:ea typeface="+mn-ea"/>
              </a:rPr>
              <a:t>主要任务执行</a:t>
            </a:r>
            <a:r>
              <a:rPr lang="zh-CN" altLang="en-US" sz="2400" u="sng" dirty="0">
                <a:solidFill>
                  <a:srgbClr val="FF0000"/>
                </a:solidFill>
                <a:highlight>
                  <a:srgbClr val="FFFF00"/>
                </a:highlight>
                <a:latin typeface="+mn-ea"/>
                <a:ea typeface="+mn-ea"/>
              </a:rPr>
              <a:t>联机事务和查询处理</a:t>
            </a:r>
            <a:r>
              <a:rPr lang="zh-CN" altLang="en-US" sz="2400" dirty="0">
                <a:latin typeface="+mn-ea"/>
                <a:ea typeface="+mn-ea"/>
              </a:rPr>
              <a:t>，这种系统称做</a:t>
            </a:r>
            <a:r>
              <a:rPr lang="zh-CN" altLang="en-US" sz="2400" u="sng" dirty="0">
                <a:solidFill>
                  <a:srgbClr val="FF0000"/>
                </a:solidFill>
                <a:latin typeface="+mn-ea"/>
                <a:ea typeface="+mn-ea"/>
              </a:rPr>
              <a:t>联机事务处理（</a:t>
            </a:r>
            <a:r>
              <a:rPr lang="en-US" altLang="zh-CN" sz="2400" u="sng" dirty="0">
                <a:solidFill>
                  <a:srgbClr val="FF0000"/>
                </a:solidFill>
                <a:latin typeface="+mn-ea"/>
                <a:ea typeface="+mn-ea"/>
              </a:rPr>
              <a:t>OLTP</a:t>
            </a:r>
            <a:r>
              <a:rPr lang="zh-CN" altLang="en-US" sz="2400" u="sng" dirty="0">
                <a:solidFill>
                  <a:srgbClr val="FF0000"/>
                </a:solidFill>
                <a:latin typeface="+mn-ea"/>
                <a:ea typeface="+mn-ea"/>
              </a:rPr>
              <a:t>）</a:t>
            </a:r>
            <a:r>
              <a:rPr lang="zh-CN" altLang="en-US" sz="2400" dirty="0">
                <a:solidFill>
                  <a:srgbClr val="FF0000"/>
                </a:solidFill>
                <a:latin typeface="+mn-ea"/>
                <a:ea typeface="+mn-ea"/>
              </a:rPr>
              <a:t>，</a:t>
            </a:r>
            <a:r>
              <a:rPr lang="zh-CN" altLang="en-US" sz="2400" dirty="0">
                <a:latin typeface="+mn-ea"/>
                <a:ea typeface="+mn-ea"/>
              </a:rPr>
              <a:t>覆盖了单位的大部分日常操作。</a:t>
            </a:r>
            <a:endParaRPr lang="en-US" altLang="zh-CN" sz="2400" dirty="0">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2400" b="1" dirty="0">
                <a:solidFill>
                  <a:srgbClr val="FF00FF"/>
                </a:solidFill>
                <a:latin typeface="+mn-ea"/>
                <a:ea typeface="+mn-ea"/>
              </a:rPr>
              <a:t>数据仓库系统</a:t>
            </a:r>
            <a:r>
              <a:rPr lang="zh-CN" altLang="en-US" sz="2400" dirty="0">
                <a:solidFill>
                  <a:srgbClr val="FF0000"/>
                </a:solidFill>
                <a:latin typeface="+mn-ea"/>
                <a:ea typeface="+mn-ea"/>
              </a:rPr>
              <a:t>在数据分析和决策方面为用户或知识工人提供服务</a:t>
            </a:r>
            <a:r>
              <a:rPr lang="zh-CN" altLang="en-US" sz="2400" dirty="0">
                <a:latin typeface="+mn-ea"/>
                <a:ea typeface="+mn-ea"/>
              </a:rPr>
              <a:t>，这种系统可以用不同的格式组织和提供数据，以便满足不同</a:t>
            </a:r>
            <a:r>
              <a:rPr lang="zh-CN" altLang="en-US" sz="2400" b="1" u="sng" dirty="0">
                <a:highlight>
                  <a:srgbClr val="FFFF00"/>
                </a:highlight>
                <a:latin typeface="+mn-ea"/>
                <a:ea typeface="+mn-ea"/>
              </a:rPr>
              <a:t>用户</a:t>
            </a:r>
            <a:r>
              <a:rPr lang="zh-CN" altLang="en-US" sz="2400" dirty="0">
                <a:latin typeface="+mn-ea"/>
                <a:ea typeface="+mn-ea"/>
              </a:rPr>
              <a:t>的形形色色的需求。这种系统称做</a:t>
            </a:r>
            <a:r>
              <a:rPr lang="zh-CN" altLang="en-US" sz="2400" u="sng" dirty="0">
                <a:solidFill>
                  <a:srgbClr val="FF0000"/>
                </a:solidFill>
                <a:latin typeface="+mn-ea"/>
                <a:ea typeface="+mn-ea"/>
              </a:rPr>
              <a:t>联机分析处理（</a:t>
            </a:r>
            <a:r>
              <a:rPr lang="en-US" altLang="zh-CN" sz="2400" u="sng" dirty="0">
                <a:solidFill>
                  <a:srgbClr val="FF0000"/>
                </a:solidFill>
                <a:latin typeface="+mn-ea"/>
                <a:ea typeface="+mn-ea"/>
              </a:rPr>
              <a:t>OLAP</a:t>
            </a:r>
            <a:r>
              <a:rPr lang="zh-CN" altLang="en-US" sz="2400" u="sng" dirty="0">
                <a:solidFill>
                  <a:srgbClr val="FF0000"/>
                </a:solidFill>
                <a:latin typeface="+mn-ea"/>
                <a:ea typeface="+mn-ea"/>
              </a:rPr>
              <a:t>）</a:t>
            </a:r>
            <a:r>
              <a:rPr lang="zh-CN" altLang="en-US" sz="2400" dirty="0">
                <a:latin typeface="+mn-ea"/>
                <a:ea typeface="+mn-ea"/>
              </a:rPr>
              <a:t>。</a:t>
            </a:r>
            <a:endParaRPr lang="zh-CN" altLang="en-US" sz="2400" dirty="0">
              <a:latin typeface="+mn-ea"/>
              <a:ea typeface="+mn-ea"/>
            </a:endParaRPr>
          </a:p>
        </p:txBody>
      </p:sp>
      <p:sp>
        <p:nvSpPr>
          <p:cNvPr id="6148"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CB47E44-3D4D-46D1-8C44-09F964F2C8C6}"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895975"/>
          </a:xfrm>
        </p:spPr>
        <p:txBody>
          <a:bodyPr>
            <a:normAutofit fontScale="62500" lnSpcReduction="20000"/>
          </a:bodyPr>
          <a:lstStyle/>
          <a:p>
            <a:pPr marL="0" indent="0" algn="just" defTabSz="869315" eaLnBrk="1" fontAlgn="auto" hangingPunct="1">
              <a:spcAft>
                <a:spcPts val="0"/>
              </a:spcAft>
              <a:buFont typeface="Arial" panose="020B0604020202090204" pitchFamily="34" charset="0"/>
              <a:buNone/>
              <a:defRPr/>
            </a:pPr>
            <a:r>
              <a:rPr lang="en-US" altLang="zh-CN" sz="3800" b="1" dirty="0">
                <a:solidFill>
                  <a:srgbClr val="0000FF"/>
                </a:solidFill>
                <a:latin typeface="+mn-ea"/>
                <a:ea typeface="+mn-ea"/>
              </a:rPr>
              <a:t>2</a:t>
            </a:r>
            <a:r>
              <a:rPr lang="zh-CN" altLang="en-US" sz="3800" b="1" dirty="0">
                <a:solidFill>
                  <a:srgbClr val="0000FF"/>
                </a:solidFill>
                <a:latin typeface="+mn-ea"/>
                <a:ea typeface="+mn-ea"/>
              </a:rPr>
              <a:t>、操作数据库与数据仓库的区别</a:t>
            </a:r>
            <a:endParaRPr lang="en-US" altLang="zh-CN" sz="3800" b="1" dirty="0">
              <a:solidFill>
                <a:srgbClr val="0000FF"/>
              </a:solidFill>
              <a:latin typeface="+mn-ea"/>
              <a:ea typeface="+mn-ea"/>
            </a:endParaRPr>
          </a:p>
          <a:p>
            <a:pPr marL="0" indent="0" algn="just" defTabSz="869315" eaLnBrk="1" fontAlgn="auto" hangingPunct="1">
              <a:spcAft>
                <a:spcPts val="0"/>
              </a:spcAft>
              <a:buFont typeface="Arial" panose="020B0604020202090204" pitchFamily="34" charset="0"/>
              <a:buNone/>
              <a:defRPr/>
            </a:pPr>
            <a:r>
              <a:rPr lang="en-US" altLang="zh-CN" sz="3800" b="1" dirty="0">
                <a:latin typeface="+mn-ea"/>
                <a:ea typeface="+mn-ea"/>
              </a:rPr>
              <a:t>OLTP</a:t>
            </a:r>
            <a:r>
              <a:rPr lang="zh-CN" altLang="en-US" sz="3800" b="1" dirty="0">
                <a:latin typeface="+mn-ea"/>
                <a:ea typeface="+mn-ea"/>
              </a:rPr>
              <a:t>和</a:t>
            </a:r>
            <a:r>
              <a:rPr lang="en-US" altLang="zh-CN" sz="3800" b="1" dirty="0">
                <a:latin typeface="+mn-ea"/>
                <a:ea typeface="+mn-ea"/>
              </a:rPr>
              <a:t>OLAP</a:t>
            </a:r>
            <a:r>
              <a:rPr lang="zh-CN" altLang="en-US" sz="3800" b="1" dirty="0">
                <a:latin typeface="+mn-ea"/>
                <a:ea typeface="+mn-ea"/>
              </a:rPr>
              <a:t>的主要区别：</a:t>
            </a:r>
            <a:endParaRPr lang="zh-CN" altLang="en-US" sz="3800" b="1" dirty="0">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3200" b="1" dirty="0">
                <a:solidFill>
                  <a:srgbClr val="FF00FF"/>
                </a:solidFill>
                <a:latin typeface="+mn-ea"/>
                <a:ea typeface="+mn-ea"/>
              </a:rPr>
              <a:t>用户和系统的面向性</a:t>
            </a:r>
            <a:r>
              <a:rPr lang="zh-CN" altLang="en-US" sz="3200" b="1" dirty="0">
                <a:latin typeface="+mn-ea"/>
                <a:ea typeface="+mn-ea"/>
              </a:rPr>
              <a:t>：</a:t>
            </a:r>
            <a:r>
              <a:rPr lang="en-US" altLang="zh-CN" sz="3200" dirty="0">
                <a:solidFill>
                  <a:srgbClr val="FF0000"/>
                </a:solidFill>
                <a:latin typeface="+mn-ea"/>
                <a:ea typeface="+mn-ea"/>
              </a:rPr>
              <a:t>OLTP</a:t>
            </a:r>
            <a:r>
              <a:rPr lang="zh-CN" altLang="en-US" sz="3200" dirty="0">
                <a:solidFill>
                  <a:srgbClr val="FF0000"/>
                </a:solidFill>
                <a:latin typeface="+mn-ea"/>
                <a:ea typeface="+mn-ea"/>
              </a:rPr>
              <a:t>是面向顾客的</a:t>
            </a:r>
            <a:r>
              <a:rPr lang="zh-CN" altLang="en-US" sz="3200" dirty="0">
                <a:latin typeface="+mn-ea"/>
                <a:ea typeface="+mn-ea"/>
              </a:rPr>
              <a:t>，用于办事员、客户和信息技术专业人员的事务和查询处理；</a:t>
            </a:r>
            <a:r>
              <a:rPr lang="en-US" altLang="zh-CN" sz="3200" dirty="0">
                <a:solidFill>
                  <a:srgbClr val="FF0000"/>
                </a:solidFill>
                <a:latin typeface="+mn-ea"/>
                <a:ea typeface="+mn-ea"/>
              </a:rPr>
              <a:t>OLAP</a:t>
            </a:r>
            <a:r>
              <a:rPr lang="zh-CN" altLang="en-US" sz="3200" dirty="0">
                <a:solidFill>
                  <a:srgbClr val="FF0000"/>
                </a:solidFill>
                <a:latin typeface="+mn-ea"/>
                <a:ea typeface="+mn-ea"/>
              </a:rPr>
              <a:t>是面向市场的</a:t>
            </a:r>
            <a:r>
              <a:rPr lang="zh-CN" altLang="en-US" sz="3200" dirty="0">
                <a:latin typeface="+mn-ea"/>
                <a:ea typeface="+mn-ea"/>
              </a:rPr>
              <a:t>，用于知识工人的数据分析。</a:t>
            </a:r>
            <a:endParaRPr lang="zh-CN" altLang="en-US" sz="3200" dirty="0">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3200" b="1" dirty="0">
                <a:solidFill>
                  <a:srgbClr val="FF00FF"/>
                </a:solidFill>
                <a:latin typeface="+mn-ea"/>
                <a:ea typeface="+mn-ea"/>
              </a:rPr>
              <a:t>数据内容</a:t>
            </a:r>
            <a:r>
              <a:rPr lang="zh-CN" altLang="en-US" sz="3200" b="1" dirty="0">
                <a:latin typeface="+mn-ea"/>
                <a:ea typeface="+mn-ea"/>
              </a:rPr>
              <a:t>：</a:t>
            </a:r>
            <a:r>
              <a:rPr lang="en-US" altLang="zh-CN" sz="3200" dirty="0">
                <a:solidFill>
                  <a:srgbClr val="FF0000"/>
                </a:solidFill>
                <a:latin typeface="+mn-ea"/>
                <a:ea typeface="+mn-ea"/>
              </a:rPr>
              <a:t>OLTP</a:t>
            </a:r>
            <a:r>
              <a:rPr lang="zh-CN" altLang="en-US" sz="3200" dirty="0">
                <a:solidFill>
                  <a:srgbClr val="FF0000"/>
                </a:solidFill>
                <a:latin typeface="+mn-ea"/>
                <a:ea typeface="+mn-ea"/>
              </a:rPr>
              <a:t>系统管理当前数据；</a:t>
            </a:r>
            <a:r>
              <a:rPr lang="en-US" altLang="zh-CN" sz="3200" dirty="0">
                <a:solidFill>
                  <a:srgbClr val="FF0000"/>
                </a:solidFill>
                <a:latin typeface="+mn-ea"/>
                <a:ea typeface="+mn-ea"/>
              </a:rPr>
              <a:t>OLAP</a:t>
            </a:r>
            <a:r>
              <a:rPr lang="zh-CN" altLang="en-US" sz="3200" dirty="0">
                <a:solidFill>
                  <a:srgbClr val="FF0000"/>
                </a:solidFill>
                <a:latin typeface="+mn-ea"/>
                <a:ea typeface="+mn-ea"/>
              </a:rPr>
              <a:t>系统管理大量历史数据</a:t>
            </a:r>
            <a:r>
              <a:rPr lang="zh-CN" altLang="en-US" sz="3200" dirty="0">
                <a:latin typeface="+mn-ea"/>
                <a:ea typeface="+mn-ea"/>
              </a:rPr>
              <a:t>，提供汇总和聚集机制，使数据更容易用于有根据的决策。</a:t>
            </a:r>
            <a:endParaRPr lang="zh-CN" altLang="en-US" sz="3200" dirty="0">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3200" b="1" dirty="0">
                <a:solidFill>
                  <a:srgbClr val="FF00FF"/>
                </a:solidFill>
                <a:latin typeface="+mn-ea"/>
                <a:ea typeface="+mn-ea"/>
              </a:rPr>
              <a:t>数据库设计</a:t>
            </a:r>
            <a:r>
              <a:rPr lang="zh-CN" altLang="en-US" sz="3200" b="1" dirty="0">
                <a:latin typeface="+mn-ea"/>
                <a:ea typeface="+mn-ea"/>
              </a:rPr>
              <a:t>：</a:t>
            </a:r>
            <a:r>
              <a:rPr lang="en-US" altLang="zh-CN" sz="3200" dirty="0">
                <a:solidFill>
                  <a:srgbClr val="FF0000"/>
                </a:solidFill>
                <a:latin typeface="+mn-ea"/>
                <a:ea typeface="+mn-ea"/>
              </a:rPr>
              <a:t>OLTP</a:t>
            </a:r>
            <a:r>
              <a:rPr lang="zh-CN" altLang="en-US" sz="3200" dirty="0">
                <a:solidFill>
                  <a:srgbClr val="FF0000"/>
                </a:solidFill>
                <a:latin typeface="+mn-ea"/>
                <a:ea typeface="+mn-ea"/>
              </a:rPr>
              <a:t>采用实体</a:t>
            </a:r>
            <a:r>
              <a:rPr lang="en-US" altLang="zh-CN" sz="3200" dirty="0">
                <a:solidFill>
                  <a:srgbClr val="FF0000"/>
                </a:solidFill>
                <a:latin typeface="+mn-ea"/>
                <a:ea typeface="+mn-ea"/>
              </a:rPr>
              <a:t>-</a:t>
            </a:r>
            <a:r>
              <a:rPr lang="zh-CN" altLang="en-US" sz="3200" dirty="0">
                <a:solidFill>
                  <a:srgbClr val="FF0000"/>
                </a:solidFill>
                <a:latin typeface="+mn-ea"/>
                <a:ea typeface="+mn-ea"/>
              </a:rPr>
              <a:t>联系（</a:t>
            </a:r>
            <a:r>
              <a:rPr lang="en-US" altLang="zh-CN" sz="3200" dirty="0">
                <a:solidFill>
                  <a:srgbClr val="FF0000"/>
                </a:solidFill>
                <a:latin typeface="+mn-ea"/>
                <a:ea typeface="+mn-ea"/>
              </a:rPr>
              <a:t>ER</a:t>
            </a:r>
            <a:r>
              <a:rPr lang="zh-CN" altLang="en-US" sz="3200" dirty="0">
                <a:solidFill>
                  <a:srgbClr val="FF0000"/>
                </a:solidFill>
                <a:latin typeface="+mn-ea"/>
                <a:ea typeface="+mn-ea"/>
              </a:rPr>
              <a:t>）</a:t>
            </a:r>
            <a:r>
              <a:rPr lang="zh-CN" altLang="en-US" sz="3200" dirty="0">
                <a:latin typeface="+mn-ea"/>
                <a:ea typeface="+mn-ea"/>
              </a:rPr>
              <a:t>数据模型和</a:t>
            </a:r>
            <a:r>
              <a:rPr lang="zh-CN" altLang="en-US" sz="3200" dirty="0">
                <a:solidFill>
                  <a:srgbClr val="FF0000"/>
                </a:solidFill>
                <a:latin typeface="+mn-ea"/>
                <a:ea typeface="+mn-ea"/>
              </a:rPr>
              <a:t>面向应用</a:t>
            </a:r>
            <a:r>
              <a:rPr lang="zh-CN" altLang="en-US" sz="3200" dirty="0">
                <a:latin typeface="+mn-ea"/>
                <a:ea typeface="+mn-ea"/>
              </a:rPr>
              <a:t>的数据库设计；</a:t>
            </a:r>
            <a:r>
              <a:rPr lang="en-US" altLang="zh-CN" sz="3200" dirty="0">
                <a:solidFill>
                  <a:srgbClr val="FF0000"/>
                </a:solidFill>
                <a:latin typeface="+mn-ea"/>
                <a:ea typeface="+mn-ea"/>
              </a:rPr>
              <a:t>OLAP</a:t>
            </a:r>
            <a:r>
              <a:rPr lang="zh-CN" altLang="en-US" sz="3200" dirty="0">
                <a:solidFill>
                  <a:srgbClr val="FF0000"/>
                </a:solidFill>
                <a:latin typeface="+mn-ea"/>
                <a:ea typeface="+mn-ea"/>
              </a:rPr>
              <a:t>采用星形或雪花模型</a:t>
            </a:r>
            <a:r>
              <a:rPr lang="zh-CN" altLang="en-US" sz="3200" dirty="0">
                <a:latin typeface="+mn-ea"/>
                <a:ea typeface="+mn-ea"/>
              </a:rPr>
              <a:t>和</a:t>
            </a:r>
            <a:r>
              <a:rPr lang="zh-CN" altLang="en-US" sz="3200" dirty="0">
                <a:solidFill>
                  <a:srgbClr val="FF0000"/>
                </a:solidFill>
                <a:latin typeface="+mn-ea"/>
                <a:ea typeface="+mn-ea"/>
              </a:rPr>
              <a:t>面向主题</a:t>
            </a:r>
            <a:r>
              <a:rPr lang="zh-CN" altLang="en-US" sz="3200" dirty="0">
                <a:latin typeface="+mn-ea"/>
                <a:ea typeface="+mn-ea"/>
              </a:rPr>
              <a:t>的数据库设计。</a:t>
            </a:r>
            <a:endParaRPr lang="zh-CN" altLang="en-US" sz="3200" dirty="0">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3200" b="1" dirty="0">
                <a:solidFill>
                  <a:srgbClr val="FF00FF"/>
                </a:solidFill>
                <a:latin typeface="+mn-ea"/>
                <a:ea typeface="+mn-ea"/>
              </a:rPr>
              <a:t>视图</a:t>
            </a:r>
            <a:r>
              <a:rPr lang="zh-CN" altLang="en-US" sz="3200" b="1" dirty="0">
                <a:latin typeface="+mn-ea"/>
                <a:ea typeface="+mn-ea"/>
              </a:rPr>
              <a:t>：</a:t>
            </a:r>
            <a:r>
              <a:rPr lang="en-US" altLang="zh-CN" sz="3200" dirty="0">
                <a:latin typeface="+mn-ea"/>
                <a:ea typeface="+mn-ea"/>
              </a:rPr>
              <a:t>OLTP</a:t>
            </a:r>
            <a:r>
              <a:rPr lang="zh-CN" altLang="en-US" sz="3200" dirty="0">
                <a:latin typeface="+mn-ea"/>
                <a:ea typeface="+mn-ea"/>
              </a:rPr>
              <a:t>主要关注一个企业或部门内部的</a:t>
            </a:r>
            <a:r>
              <a:rPr lang="zh-CN" altLang="en-US" sz="3200" dirty="0">
                <a:solidFill>
                  <a:srgbClr val="FF0000"/>
                </a:solidFill>
                <a:latin typeface="+mn-ea"/>
                <a:ea typeface="+mn-ea"/>
              </a:rPr>
              <a:t>当前数据</a:t>
            </a:r>
            <a:r>
              <a:rPr lang="zh-CN" altLang="en-US" sz="3200" dirty="0">
                <a:latin typeface="+mn-ea"/>
                <a:ea typeface="+mn-ea"/>
              </a:rPr>
              <a:t>；</a:t>
            </a:r>
            <a:r>
              <a:rPr lang="en-US" altLang="zh-CN" sz="3200" dirty="0">
                <a:latin typeface="+mn-ea"/>
                <a:ea typeface="+mn-ea"/>
              </a:rPr>
              <a:t>OLAP</a:t>
            </a:r>
            <a:r>
              <a:rPr lang="zh-CN" altLang="en-US" sz="3200" dirty="0">
                <a:latin typeface="+mn-ea"/>
                <a:ea typeface="+mn-ea"/>
              </a:rPr>
              <a:t>常常跨越数据库模式的多个版本，来自不同单位信息以及多个数据库</a:t>
            </a:r>
            <a:r>
              <a:rPr lang="zh-CN" altLang="en-US" sz="3200" dirty="0">
                <a:solidFill>
                  <a:srgbClr val="FF0000"/>
                </a:solidFill>
                <a:latin typeface="+mn-ea"/>
                <a:ea typeface="+mn-ea"/>
              </a:rPr>
              <a:t>集成的信息。</a:t>
            </a:r>
            <a:endParaRPr lang="en-US" altLang="zh-CN" sz="3200" dirty="0">
              <a:solidFill>
                <a:srgbClr val="FF0000"/>
              </a:solidFill>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3200" b="1" dirty="0">
                <a:solidFill>
                  <a:srgbClr val="FF00FF"/>
                </a:solidFill>
                <a:latin typeface="+mn-ea"/>
                <a:ea typeface="+mn-ea"/>
              </a:rPr>
              <a:t>访问模式</a:t>
            </a:r>
            <a:r>
              <a:rPr lang="zh-CN" altLang="en-US" sz="3200" b="1" dirty="0">
                <a:latin typeface="+mn-ea"/>
                <a:ea typeface="+mn-ea"/>
              </a:rPr>
              <a:t>：</a:t>
            </a:r>
            <a:r>
              <a:rPr lang="en-US" altLang="zh-CN" sz="3200" dirty="0">
                <a:latin typeface="+mn-ea"/>
                <a:ea typeface="+mn-ea"/>
              </a:rPr>
              <a:t>OLTP</a:t>
            </a:r>
            <a:r>
              <a:rPr lang="zh-CN" altLang="en-US" sz="3200" dirty="0">
                <a:latin typeface="+mn-ea"/>
                <a:ea typeface="+mn-ea"/>
              </a:rPr>
              <a:t>访问主要由</a:t>
            </a:r>
            <a:r>
              <a:rPr lang="zh-CN" altLang="en-US" sz="3200" dirty="0">
                <a:solidFill>
                  <a:srgbClr val="FF0000"/>
                </a:solidFill>
                <a:latin typeface="+mn-ea"/>
                <a:ea typeface="+mn-ea"/>
              </a:rPr>
              <a:t>短的原子事务</a:t>
            </a:r>
            <a:r>
              <a:rPr lang="zh-CN" altLang="en-US" sz="3200" dirty="0">
                <a:latin typeface="+mn-ea"/>
                <a:ea typeface="+mn-ea"/>
              </a:rPr>
              <a:t>组成，需要并发控制和恢复机制；</a:t>
            </a:r>
            <a:r>
              <a:rPr lang="en-US" altLang="zh-CN" sz="3200" dirty="0">
                <a:latin typeface="+mn-ea"/>
                <a:ea typeface="+mn-ea"/>
              </a:rPr>
              <a:t>OLAP</a:t>
            </a:r>
            <a:r>
              <a:rPr lang="zh-CN" altLang="en-US" sz="3200" dirty="0">
                <a:latin typeface="+mn-ea"/>
                <a:ea typeface="+mn-ea"/>
              </a:rPr>
              <a:t>访问</a:t>
            </a:r>
            <a:r>
              <a:rPr lang="zh-CN" altLang="en-US" sz="3200" dirty="0">
                <a:solidFill>
                  <a:srgbClr val="FF0000"/>
                </a:solidFill>
                <a:latin typeface="+mn-ea"/>
                <a:ea typeface="+mn-ea"/>
              </a:rPr>
              <a:t>大部分是只读操作</a:t>
            </a:r>
            <a:r>
              <a:rPr lang="zh-CN" altLang="en-US" sz="3200" dirty="0">
                <a:latin typeface="+mn-ea"/>
                <a:ea typeface="+mn-ea"/>
              </a:rPr>
              <a:t>。</a:t>
            </a:r>
            <a:endParaRPr lang="zh-CN" altLang="en-US" sz="3200" dirty="0">
              <a:latin typeface="+mn-ea"/>
              <a:ea typeface="+mn-ea"/>
            </a:endParaRPr>
          </a:p>
          <a:p>
            <a:pPr algn="just" defTabSz="869315" eaLnBrk="1" fontAlgn="auto" hangingPunct="1">
              <a:spcAft>
                <a:spcPts val="0"/>
              </a:spcAft>
              <a:buFont typeface="Wingdings" panose="05000000000000000000" pitchFamily="2" charset="2"/>
              <a:buChar char="Ø"/>
              <a:defRPr/>
            </a:pPr>
            <a:r>
              <a:rPr lang="zh-CN" altLang="en-US" sz="3200" dirty="0">
                <a:latin typeface="+mn-ea"/>
                <a:ea typeface="+mn-ea"/>
              </a:rPr>
              <a:t>其他区别包括数据库大小、操作的频繁程度、性能度量等。</a:t>
            </a:r>
            <a:endParaRPr lang="zh-CN" altLang="en-US" sz="3200" dirty="0">
              <a:latin typeface="+mn-ea"/>
              <a:ea typeface="+mn-ea"/>
            </a:endParaRPr>
          </a:p>
        </p:txBody>
      </p:sp>
      <p:sp>
        <p:nvSpPr>
          <p:cNvPr id="7172"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FFF447A-F0B7-4F39-84C2-E21F38EC50AF}"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85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8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895975"/>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2</a:t>
            </a:r>
            <a:r>
              <a:rPr lang="zh-CN" altLang="en-US" sz="2400" b="1" dirty="0">
                <a:solidFill>
                  <a:srgbClr val="0000FF"/>
                </a:solidFill>
                <a:latin typeface="+mn-ea"/>
                <a:ea typeface="+mn-ea"/>
              </a:rPr>
              <a:t>、操作数据库与数据仓库的区别</a:t>
            </a:r>
            <a:endParaRPr lang="en-US" altLang="zh-CN" sz="2400" b="1" dirty="0">
              <a:solidFill>
                <a:srgbClr val="0000FF"/>
              </a:solidFill>
              <a:latin typeface="+mn-ea"/>
              <a:ea typeface="+mn-ea"/>
            </a:endParaRPr>
          </a:p>
          <a:p>
            <a:pPr marL="0" indent="0" algn="just" defTabSz="869315" eaLnBrk="1" fontAlgn="auto" hangingPunct="1">
              <a:spcAft>
                <a:spcPts val="0"/>
              </a:spcAft>
              <a:buFont typeface="Arial" panose="020B0604020202090204" pitchFamily="34" charset="0"/>
              <a:buNone/>
              <a:defRPr/>
            </a:pPr>
            <a:r>
              <a:rPr lang="en-US" altLang="zh-CN" sz="2400" b="1" dirty="0">
                <a:latin typeface="+mn-ea"/>
                <a:ea typeface="+mn-ea"/>
              </a:rPr>
              <a:t>OLTP</a:t>
            </a:r>
            <a:r>
              <a:rPr lang="zh-CN" altLang="en-US" sz="2400" b="1" dirty="0">
                <a:latin typeface="+mn-ea"/>
                <a:ea typeface="+mn-ea"/>
              </a:rPr>
              <a:t>和</a:t>
            </a:r>
            <a:r>
              <a:rPr lang="en-US" altLang="zh-CN" sz="2400" b="1" dirty="0">
                <a:latin typeface="+mn-ea"/>
                <a:ea typeface="+mn-ea"/>
              </a:rPr>
              <a:t>OLAP</a:t>
            </a:r>
            <a:r>
              <a:rPr lang="zh-CN" altLang="en-US" sz="2400" b="1" dirty="0">
                <a:latin typeface="+mn-ea"/>
                <a:ea typeface="+mn-ea"/>
              </a:rPr>
              <a:t>的主要区别：</a:t>
            </a:r>
            <a:endParaRPr lang="zh-CN" altLang="en-US" sz="2400" b="1" dirty="0">
              <a:latin typeface="+mn-ea"/>
              <a:ea typeface="+mn-ea"/>
            </a:endParaRPr>
          </a:p>
        </p:txBody>
      </p:sp>
      <p:sp>
        <p:nvSpPr>
          <p:cNvPr id="8196"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D8A39DF9-424B-48F6-AF31-A0E332934A85}" type="slidenum">
              <a:rPr lang="en-US" altLang="zh-CN" sz="1200" smtClean="0">
                <a:solidFill>
                  <a:srgbClr val="FFFFFF"/>
                </a:solidFill>
              </a:rPr>
            </a:fld>
            <a:endParaRPr lang="en-US" altLang="zh-CN" sz="1200">
              <a:solidFill>
                <a:srgbClr val="FFFFFF"/>
              </a:solidFill>
            </a:endParaRPr>
          </a:p>
        </p:txBody>
      </p:sp>
      <p:pic>
        <p:nvPicPr>
          <p:cNvPr id="8197"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93888" y="2420938"/>
            <a:ext cx="7086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895975"/>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、为什么需要分离的数据仓库</a:t>
            </a:r>
            <a:endParaRPr lang="zh-CN" altLang="en-US" sz="2400" b="1" dirty="0">
              <a:solidFill>
                <a:srgbClr val="0000FF"/>
              </a:solidFill>
              <a:latin typeface="+mn-ea"/>
              <a:ea typeface="+mn-ea"/>
            </a:endParaRPr>
          </a:p>
          <a:p>
            <a:pPr marL="457200" indent="-457200" algn="just" defTabSz="869315" eaLnBrk="1" fontAlgn="auto" hangingPunct="1">
              <a:spcAft>
                <a:spcPts val="0"/>
              </a:spcAft>
              <a:buFont typeface="+mj-ea"/>
              <a:buAutoNum type="circleNumDbPlain"/>
              <a:defRPr/>
            </a:pPr>
            <a:r>
              <a:rPr lang="zh-CN" altLang="en-US" sz="2400" b="1" dirty="0">
                <a:solidFill>
                  <a:srgbClr val="FF0000"/>
                </a:solidFill>
                <a:latin typeface="+mn-ea"/>
                <a:ea typeface="+mn-ea"/>
              </a:rPr>
              <a:t>有助于提高两个系统的性能</a:t>
            </a:r>
            <a:endParaRPr lang="en-US" altLang="zh-CN" sz="2400" b="1" dirty="0">
              <a:solidFill>
                <a:srgbClr val="FF0000"/>
              </a:solidFill>
              <a:latin typeface="+mn-ea"/>
              <a:ea typeface="+mn-ea"/>
            </a:endParaRPr>
          </a:p>
          <a:p>
            <a:pPr lvl="1" algn="just" defTabSz="869315" eaLnBrk="1" fontAlgn="auto" hangingPunct="1">
              <a:spcAft>
                <a:spcPts val="0"/>
              </a:spcAft>
              <a:buFont typeface="Wingdings" panose="05000000000000000000" pitchFamily="2" charset="2"/>
              <a:buChar char="Ø"/>
              <a:defRPr/>
            </a:pPr>
            <a:r>
              <a:rPr lang="zh-CN" altLang="en-US" sz="2100" dirty="0">
                <a:latin typeface="+mn-ea"/>
                <a:ea typeface="+mn-ea"/>
              </a:rPr>
              <a:t>在操作数据库上处理</a:t>
            </a:r>
            <a:r>
              <a:rPr lang="en-US" altLang="zh-CN" sz="2100" dirty="0">
                <a:latin typeface="+mn-ea"/>
                <a:ea typeface="+mn-ea"/>
              </a:rPr>
              <a:t>OLAP</a:t>
            </a:r>
            <a:r>
              <a:rPr lang="zh-CN" altLang="en-US" sz="2100" dirty="0">
                <a:solidFill>
                  <a:srgbClr val="FF0000"/>
                </a:solidFill>
                <a:latin typeface="+mn-ea"/>
                <a:ea typeface="+mn-ea"/>
              </a:rPr>
              <a:t>查询</a:t>
            </a:r>
            <a:r>
              <a:rPr lang="zh-CN" altLang="en-US" sz="2100" dirty="0">
                <a:latin typeface="+mn-ea"/>
                <a:ea typeface="+mn-ea"/>
              </a:rPr>
              <a:t>，可能会大大</a:t>
            </a:r>
            <a:r>
              <a:rPr lang="zh-CN" altLang="en-US" sz="2100" b="1" dirty="0">
                <a:latin typeface="+mn-ea"/>
                <a:ea typeface="+mn-ea"/>
              </a:rPr>
              <a:t>降低</a:t>
            </a:r>
            <a:r>
              <a:rPr lang="zh-CN" altLang="en-US" sz="2100" dirty="0">
                <a:latin typeface="+mn-ea"/>
                <a:ea typeface="+mn-ea"/>
              </a:rPr>
              <a:t>操作任务的</a:t>
            </a:r>
            <a:r>
              <a:rPr lang="zh-CN" altLang="en-US" sz="2100" dirty="0">
                <a:solidFill>
                  <a:srgbClr val="FF0000"/>
                </a:solidFill>
                <a:latin typeface="+mn-ea"/>
                <a:ea typeface="+mn-ea"/>
              </a:rPr>
              <a:t>性能</a:t>
            </a:r>
            <a:r>
              <a:rPr lang="zh-CN" altLang="en-US" sz="2100" dirty="0">
                <a:latin typeface="+mn-ea"/>
                <a:ea typeface="+mn-ea"/>
              </a:rPr>
              <a:t>。</a:t>
            </a:r>
            <a:endParaRPr lang="en-US" altLang="zh-CN" sz="2100" dirty="0">
              <a:latin typeface="+mn-ea"/>
              <a:ea typeface="+mn-ea"/>
            </a:endParaRPr>
          </a:p>
          <a:p>
            <a:pPr lvl="1" algn="just" defTabSz="869315" eaLnBrk="1" fontAlgn="auto" hangingPunct="1">
              <a:spcAft>
                <a:spcPts val="0"/>
              </a:spcAft>
              <a:buFont typeface="Wingdings" panose="05000000000000000000" pitchFamily="2" charset="2"/>
              <a:buChar char="Ø"/>
              <a:defRPr/>
            </a:pPr>
            <a:r>
              <a:rPr lang="zh-CN" altLang="en-US" sz="2100" dirty="0">
                <a:latin typeface="+mn-ea"/>
                <a:ea typeface="+mn-ea"/>
              </a:rPr>
              <a:t>操作数据库支持多事物的</a:t>
            </a:r>
            <a:r>
              <a:rPr lang="zh-CN" altLang="en-US" sz="2100" dirty="0">
                <a:solidFill>
                  <a:srgbClr val="FF0000"/>
                </a:solidFill>
                <a:latin typeface="+mn-ea"/>
                <a:ea typeface="+mn-ea"/>
              </a:rPr>
              <a:t>并发处理</a:t>
            </a:r>
            <a:r>
              <a:rPr lang="zh-CN" altLang="en-US" sz="2100" dirty="0">
                <a:latin typeface="+mn-ea"/>
                <a:ea typeface="+mn-ea"/>
              </a:rPr>
              <a:t>，需要并发控制和恢复机制，如果将并发控制和恢复机制用于</a:t>
            </a:r>
            <a:r>
              <a:rPr lang="en-US" altLang="zh-CN" sz="2100" dirty="0">
                <a:latin typeface="+mn-ea"/>
                <a:ea typeface="+mn-ea"/>
              </a:rPr>
              <a:t>OLAP</a:t>
            </a:r>
            <a:r>
              <a:rPr lang="zh-CN" altLang="en-US" sz="2100" dirty="0">
                <a:latin typeface="+mn-ea"/>
                <a:ea typeface="+mn-ea"/>
              </a:rPr>
              <a:t>操作，会危害并行事务的运行，从而大大</a:t>
            </a:r>
            <a:r>
              <a:rPr lang="zh-CN" altLang="en-US" sz="2100" b="1" dirty="0">
                <a:latin typeface="+mn-ea"/>
                <a:ea typeface="+mn-ea"/>
              </a:rPr>
              <a:t>降低</a:t>
            </a:r>
            <a:r>
              <a:rPr lang="en-US" altLang="zh-CN" sz="2100" dirty="0">
                <a:latin typeface="+mn-ea"/>
                <a:ea typeface="+mn-ea"/>
              </a:rPr>
              <a:t>OLAP</a:t>
            </a:r>
            <a:r>
              <a:rPr lang="zh-CN" altLang="en-US" sz="2100" dirty="0">
                <a:latin typeface="+mn-ea"/>
                <a:ea typeface="+mn-ea"/>
              </a:rPr>
              <a:t>系统的</a:t>
            </a:r>
            <a:r>
              <a:rPr lang="zh-CN" altLang="en-US" sz="2100" dirty="0">
                <a:solidFill>
                  <a:srgbClr val="FF0000"/>
                </a:solidFill>
                <a:latin typeface="+mn-ea"/>
                <a:ea typeface="+mn-ea"/>
              </a:rPr>
              <a:t>吞吐量</a:t>
            </a:r>
            <a:r>
              <a:rPr lang="zh-CN" altLang="en-US" sz="2100" dirty="0">
                <a:latin typeface="+mn-ea"/>
                <a:ea typeface="+mn-ea"/>
              </a:rPr>
              <a:t>。</a:t>
            </a:r>
            <a:endParaRPr lang="en-US" altLang="zh-CN" sz="2100" dirty="0">
              <a:latin typeface="+mn-ea"/>
              <a:ea typeface="+mn-ea"/>
            </a:endParaRPr>
          </a:p>
          <a:p>
            <a:pPr marL="457200" indent="-457200" algn="just" defTabSz="869315" eaLnBrk="1" fontAlgn="auto" hangingPunct="1">
              <a:spcAft>
                <a:spcPts val="0"/>
              </a:spcAft>
              <a:buFont typeface="+mj-ea"/>
              <a:buAutoNum type="circleNumDbPlain"/>
              <a:defRPr/>
            </a:pPr>
            <a:r>
              <a:rPr lang="zh-CN" altLang="en-US" sz="2400" b="1" dirty="0">
                <a:solidFill>
                  <a:srgbClr val="FF0000"/>
                </a:solidFill>
                <a:latin typeface="+mn-ea"/>
                <a:ea typeface="+mn-ea"/>
              </a:rPr>
              <a:t>两种系统中数据的结构、内容和用法都不相同</a:t>
            </a:r>
            <a:endParaRPr lang="en-US" altLang="zh-CN" sz="2400" b="1" dirty="0">
              <a:solidFill>
                <a:srgbClr val="FF0000"/>
              </a:solidFill>
              <a:latin typeface="+mn-ea"/>
              <a:ea typeface="+mn-ea"/>
            </a:endParaRPr>
          </a:p>
          <a:p>
            <a:pPr lvl="1" algn="just" defTabSz="869315" eaLnBrk="1" fontAlgn="auto" hangingPunct="1">
              <a:spcAft>
                <a:spcPts val="0"/>
              </a:spcAft>
              <a:buFont typeface="Wingdings" panose="05000000000000000000" pitchFamily="2" charset="2"/>
              <a:buChar char="Ø"/>
              <a:defRPr/>
            </a:pPr>
            <a:r>
              <a:rPr lang="zh-CN" altLang="en-US" sz="2100" dirty="0">
                <a:latin typeface="+mn-ea"/>
                <a:ea typeface="+mn-ea"/>
              </a:rPr>
              <a:t>决策支持需要</a:t>
            </a:r>
            <a:r>
              <a:rPr lang="zh-CN" altLang="en-US" sz="2100" dirty="0">
                <a:solidFill>
                  <a:srgbClr val="FF0000"/>
                </a:solidFill>
                <a:latin typeface="+mn-ea"/>
                <a:ea typeface="+mn-ea"/>
              </a:rPr>
              <a:t>历史数据</a:t>
            </a:r>
            <a:r>
              <a:rPr lang="zh-CN" altLang="en-US" sz="2100" dirty="0">
                <a:latin typeface="+mn-ea"/>
                <a:ea typeface="+mn-ea"/>
              </a:rPr>
              <a:t>，需整合来自异构源的数据，产生</a:t>
            </a:r>
            <a:r>
              <a:rPr lang="zh-CN" altLang="en-US" sz="2100" dirty="0">
                <a:solidFill>
                  <a:srgbClr val="FF0000"/>
                </a:solidFill>
                <a:latin typeface="+mn-ea"/>
                <a:ea typeface="+mn-ea"/>
              </a:rPr>
              <a:t>高质量的、纯净的、集成的数据</a:t>
            </a:r>
            <a:r>
              <a:rPr lang="zh-CN" altLang="en-US" sz="2100" dirty="0">
                <a:latin typeface="+mn-ea"/>
                <a:ea typeface="+mn-ea"/>
              </a:rPr>
              <a:t>。</a:t>
            </a:r>
            <a:endParaRPr lang="en-US" altLang="zh-CN" sz="2100" dirty="0">
              <a:latin typeface="+mn-ea"/>
              <a:ea typeface="+mn-ea"/>
            </a:endParaRPr>
          </a:p>
          <a:p>
            <a:pPr lvl="1" algn="just" defTabSz="869315" eaLnBrk="1" fontAlgn="auto" hangingPunct="1">
              <a:spcAft>
                <a:spcPts val="0"/>
              </a:spcAft>
              <a:buFont typeface="Wingdings" panose="05000000000000000000" pitchFamily="2" charset="2"/>
              <a:buChar char="Ø"/>
              <a:defRPr/>
            </a:pPr>
            <a:r>
              <a:rPr lang="zh-CN" altLang="en-US" sz="2100" dirty="0">
                <a:latin typeface="+mn-ea"/>
                <a:ea typeface="+mn-ea"/>
              </a:rPr>
              <a:t>操作数据库一般不维护历史数据，只维护</a:t>
            </a:r>
            <a:r>
              <a:rPr lang="zh-CN" altLang="en-US" sz="2100" dirty="0">
                <a:solidFill>
                  <a:srgbClr val="FF0000"/>
                </a:solidFill>
                <a:latin typeface="+mn-ea"/>
                <a:ea typeface="+mn-ea"/>
              </a:rPr>
              <a:t>详细的原始数据</a:t>
            </a:r>
            <a:r>
              <a:rPr lang="zh-CN" altLang="en-US" sz="2100" dirty="0">
                <a:latin typeface="+mn-ea"/>
                <a:ea typeface="+mn-ea"/>
              </a:rPr>
              <a:t>，对于决策，这些数据远非完整的，在进行分析之前需要整理。</a:t>
            </a:r>
            <a:endParaRPr lang="en-US" altLang="zh-CN" sz="2100" dirty="0">
              <a:latin typeface="+mn-ea"/>
              <a:ea typeface="+mn-ea"/>
            </a:endParaRPr>
          </a:p>
        </p:txBody>
      </p:sp>
      <p:sp>
        <p:nvSpPr>
          <p:cNvPr id="922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EC5B26A1-DF9F-4AE9-BD08-2EF4DB9A36C7}" type="slidenum">
              <a:rPr lang="en-US" altLang="zh-CN" sz="1200" smtClean="0">
                <a:solidFill>
                  <a:srgbClr val="FFFFFF"/>
                </a:solidFill>
              </a:rPr>
            </a:fld>
            <a:endParaRPr lang="en-US" altLang="zh-CN" sz="1200">
              <a:solidFill>
                <a:srgbClr val="FFFFFF"/>
              </a:solidFill>
            </a:endParaRPr>
          </a:p>
        </p:txBody>
      </p:sp>
      <p:sp>
        <p:nvSpPr>
          <p:cNvPr id="2" name="圆柱形 1"/>
          <p:cNvSpPr/>
          <p:nvPr/>
        </p:nvSpPr>
        <p:spPr>
          <a:xfrm>
            <a:off x="6542088" y="1035050"/>
            <a:ext cx="3173412" cy="1346200"/>
          </a:xfrm>
          <a:prstGeom prst="can">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222" name="矩形 2"/>
          <p:cNvSpPr>
            <a:spLocks noChangeArrowheads="1"/>
          </p:cNvSpPr>
          <p:nvPr/>
        </p:nvSpPr>
        <p:spPr bwMode="auto">
          <a:xfrm>
            <a:off x="6919913" y="1524000"/>
            <a:ext cx="519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chemeClr val="bg1"/>
                </a:solidFill>
              </a:rPr>
              <a:t>DB</a:t>
            </a:r>
            <a:endParaRPr lang="zh-CN" altLang="en-US" b="1">
              <a:solidFill>
                <a:schemeClr val="bg1"/>
              </a:solidFill>
            </a:endParaRPr>
          </a:p>
        </p:txBody>
      </p:sp>
      <p:sp>
        <p:nvSpPr>
          <p:cNvPr id="3" name="矩形 2"/>
          <p:cNvSpPr>
            <a:spLocks noChangeArrowheads="1"/>
          </p:cNvSpPr>
          <p:nvPr/>
        </p:nvSpPr>
        <p:spPr bwMode="auto">
          <a:xfrm>
            <a:off x="9058275" y="1879600"/>
            <a:ext cx="569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chemeClr val="bg1"/>
                </a:solidFill>
              </a:rPr>
              <a:t>DW</a:t>
            </a:r>
            <a:endParaRPr lang="zh-CN" altLang="en-US" b="1">
              <a:solidFill>
                <a:schemeClr val="bg1"/>
              </a:solidFill>
            </a:endParaRPr>
          </a:p>
        </p:txBody>
      </p:sp>
      <p:sp>
        <p:nvSpPr>
          <p:cNvPr id="4" name="矩形 3"/>
          <p:cNvSpPr>
            <a:spLocks noChangeArrowheads="1"/>
          </p:cNvSpPr>
          <p:nvPr/>
        </p:nvSpPr>
        <p:spPr bwMode="auto">
          <a:xfrm>
            <a:off x="8775700" y="150971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chemeClr val="bg1"/>
                </a:solidFill>
              </a:rPr>
              <a:t>（查询）</a:t>
            </a:r>
            <a:endParaRPr lang="zh-CN" altLang="en-US" b="1">
              <a:solidFill>
                <a:schemeClr val="bg1"/>
              </a:solidFill>
            </a:endParaRPr>
          </a:p>
        </p:txBody>
      </p:sp>
      <p:sp>
        <p:nvSpPr>
          <p:cNvPr id="5" name="矩形 4"/>
          <p:cNvSpPr>
            <a:spLocks noChangeArrowheads="1"/>
          </p:cNvSpPr>
          <p:nvPr/>
        </p:nvSpPr>
        <p:spPr bwMode="auto">
          <a:xfrm>
            <a:off x="7720013" y="1384300"/>
            <a:ext cx="11064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FF00"/>
                </a:solidFill>
              </a:rPr>
              <a:t>降低性能</a:t>
            </a:r>
            <a:endParaRPr lang="zh-CN" altLang="en-US" b="1">
              <a:solidFill>
                <a:srgbClr val="FFFF00"/>
              </a:solidFill>
            </a:endParaRPr>
          </a:p>
        </p:txBody>
      </p:sp>
      <p:sp>
        <p:nvSpPr>
          <p:cNvPr id="6" name="矩形 5"/>
          <p:cNvSpPr>
            <a:spLocks noChangeArrowheads="1"/>
          </p:cNvSpPr>
          <p:nvPr/>
        </p:nvSpPr>
        <p:spPr bwMode="auto">
          <a:xfrm>
            <a:off x="7721600" y="1781175"/>
            <a:ext cx="13382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FF00"/>
                </a:solidFill>
              </a:rPr>
              <a:t>降低吞吐量</a:t>
            </a:r>
            <a:endParaRPr lang="zh-CN" altLang="en-US" b="1">
              <a:solidFill>
                <a:srgbClr val="FFFF00"/>
              </a:solidFill>
            </a:endParaRPr>
          </a:p>
        </p:txBody>
      </p:sp>
      <p:sp>
        <p:nvSpPr>
          <p:cNvPr id="7" name="矩形 6"/>
          <p:cNvSpPr>
            <a:spLocks noChangeArrowheads="1"/>
          </p:cNvSpPr>
          <p:nvPr/>
        </p:nvSpPr>
        <p:spPr bwMode="auto">
          <a:xfrm>
            <a:off x="6408738" y="1879600"/>
            <a:ext cx="157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chemeClr val="bg1"/>
                </a:solidFill>
              </a:rPr>
              <a:t>（并发处理）</a:t>
            </a:r>
            <a:endParaRPr lang="zh-CN" altLang="en-US" b="1">
              <a:solidFill>
                <a:schemeClr val="bg1"/>
              </a:solidFill>
            </a:endParaRPr>
          </a:p>
        </p:txBody>
      </p:sp>
      <p:cxnSp>
        <p:nvCxnSpPr>
          <p:cNvPr id="9" name="直接箭头连接符 8"/>
          <p:cNvCxnSpPr/>
          <p:nvPr/>
        </p:nvCxnSpPr>
        <p:spPr>
          <a:xfrm flipH="1">
            <a:off x="7742238" y="1743075"/>
            <a:ext cx="1208087" cy="0"/>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7788275" y="2132013"/>
            <a:ext cx="1208088" cy="0"/>
          </a:xfrm>
          <a:prstGeom prst="straightConnector1">
            <a:avLst/>
          </a:prstGeom>
          <a:ln w="28575">
            <a:solidFill>
              <a:srgbClr val="FFFF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851">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8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222" grpId="0"/>
      <p:bldP spid="3" grpId="0"/>
      <p:bldP spid="4" grpId="0"/>
      <p:bldP spid="5"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895975"/>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4</a:t>
            </a:r>
            <a:r>
              <a:rPr lang="zh-CN" altLang="en-US" sz="2400" b="1" dirty="0">
                <a:solidFill>
                  <a:srgbClr val="0000FF"/>
                </a:solidFill>
                <a:latin typeface="+mn-ea"/>
                <a:ea typeface="+mn-ea"/>
              </a:rPr>
              <a:t>、数据仓库：一种多层体系结构</a:t>
            </a:r>
            <a:endParaRPr lang="zh-CN" altLang="en-US" sz="2400" b="1" dirty="0">
              <a:solidFill>
                <a:srgbClr val="0000FF"/>
              </a:solidFill>
              <a:latin typeface="+mn-ea"/>
              <a:ea typeface="+mn-ea"/>
            </a:endParaRPr>
          </a:p>
        </p:txBody>
      </p:sp>
      <p:sp>
        <p:nvSpPr>
          <p:cNvPr id="11268"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8B4BB7C1-C84A-4907-B445-7C33DD550E1D}" type="slidenum">
              <a:rPr lang="en-US" altLang="zh-CN" sz="1200" smtClean="0">
                <a:solidFill>
                  <a:srgbClr val="FFFFFF"/>
                </a:solidFill>
              </a:rPr>
            </a:fld>
            <a:endParaRPr lang="en-US" altLang="zh-CN" sz="1200">
              <a:solidFill>
                <a:srgbClr val="FFFFFF"/>
              </a:solidFill>
            </a:endParaRPr>
          </a:p>
        </p:txBody>
      </p:sp>
      <p:pic>
        <p:nvPicPr>
          <p:cNvPr id="11269"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288" y="1843088"/>
            <a:ext cx="5022850" cy="537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6313488" y="4818063"/>
            <a:ext cx="2493962" cy="401637"/>
          </a:xfrm>
          <a:prstGeom prst="rect">
            <a:avLst/>
          </a:prstGeom>
        </p:spPr>
        <p:txBody>
          <a:bodyPr wrap="none">
            <a:spAutoFit/>
          </a:bodyPr>
          <a:lstStyle/>
          <a:p>
            <a:pPr>
              <a:defRPr/>
            </a:pPr>
            <a:r>
              <a:rPr lang="zh-CN" altLang="en-US" sz="2000" b="1" dirty="0">
                <a:solidFill>
                  <a:srgbClr val="0000FF"/>
                </a:solidFill>
                <a:latin typeface="+mn-ea"/>
                <a:ea typeface="+mn-ea"/>
              </a:rPr>
              <a:t>一个关系数据库系统</a:t>
            </a:r>
            <a:endParaRPr lang="zh-CN" altLang="en-US" sz="2000" b="1" dirty="0">
              <a:solidFill>
                <a:srgbClr val="0000FF"/>
              </a:solidFill>
              <a:latin typeface="+mn-ea"/>
              <a:ea typeface="+mn-ea"/>
            </a:endParaRPr>
          </a:p>
        </p:txBody>
      </p:sp>
      <p:sp>
        <p:nvSpPr>
          <p:cNvPr id="4" name="矩形 3"/>
          <p:cNvSpPr/>
          <p:nvPr/>
        </p:nvSpPr>
        <p:spPr>
          <a:xfrm>
            <a:off x="6313488" y="3433763"/>
            <a:ext cx="3810000" cy="1016000"/>
          </a:xfrm>
          <a:prstGeom prst="rect">
            <a:avLst/>
          </a:prstGeom>
        </p:spPr>
        <p:txBody>
          <a:bodyPr>
            <a:spAutoFit/>
          </a:bodyPr>
          <a:lstStyle/>
          <a:p>
            <a:pPr>
              <a:defRPr/>
            </a:pPr>
            <a:r>
              <a:rPr lang="zh-CN" altLang="en-US" sz="2000" b="1" dirty="0">
                <a:solidFill>
                  <a:srgbClr val="0000FF"/>
                </a:solidFill>
                <a:latin typeface="Times New Roman" panose="02020503050405090304" pitchFamily="18" charset="0"/>
                <a:cs typeface="Times New Roman" panose="02020503050405090304" pitchFamily="18" charset="0"/>
              </a:rPr>
              <a:t>典型的实现:</a:t>
            </a:r>
            <a:endParaRPr lang="zh-CN" altLang="en-US" sz="2000" b="1" dirty="0">
              <a:solidFill>
                <a:srgbClr val="0000FF"/>
              </a:solidFill>
              <a:latin typeface="Times New Roman" panose="02020503050405090304" pitchFamily="18" charset="0"/>
              <a:cs typeface="Times New Roman" panose="02020503050405090304" pitchFamily="18" charset="0"/>
            </a:endParaRPr>
          </a:p>
          <a:p>
            <a:pPr marL="342900" indent="-342900">
              <a:buFont typeface="Wingdings" panose="05000000000000000000" pitchFamily="2" charset="2"/>
              <a:buChar char="Ø"/>
              <a:defRPr/>
            </a:pPr>
            <a:r>
              <a:rPr lang="zh-CN" altLang="en-US" sz="2000" b="1" dirty="0">
                <a:solidFill>
                  <a:srgbClr val="0000FF"/>
                </a:solidFill>
                <a:latin typeface="Times New Roman" panose="02020503050405090304" pitchFamily="18" charset="0"/>
                <a:cs typeface="Times New Roman" panose="02020503050405090304" pitchFamily="18" charset="0"/>
              </a:rPr>
              <a:t>关系OLAP（ROLAP）模型</a:t>
            </a:r>
            <a:endParaRPr lang="zh-CN" altLang="en-US" sz="2000" b="1" dirty="0">
              <a:solidFill>
                <a:srgbClr val="0000FF"/>
              </a:solidFill>
              <a:latin typeface="Times New Roman" panose="02020503050405090304" pitchFamily="18" charset="0"/>
              <a:cs typeface="Times New Roman" panose="02020503050405090304" pitchFamily="18" charset="0"/>
            </a:endParaRPr>
          </a:p>
          <a:p>
            <a:pPr marL="342900" indent="-342900">
              <a:buFont typeface="Wingdings" panose="05000000000000000000" pitchFamily="2" charset="2"/>
              <a:buChar char="Ø"/>
              <a:defRPr/>
            </a:pPr>
            <a:r>
              <a:rPr lang="zh-CN" altLang="en-US" sz="2000" b="1" dirty="0">
                <a:solidFill>
                  <a:srgbClr val="0000FF"/>
                </a:solidFill>
                <a:latin typeface="Times New Roman" panose="02020503050405090304" pitchFamily="18" charset="0"/>
                <a:cs typeface="Times New Roman" panose="02020503050405090304" pitchFamily="18" charset="0"/>
              </a:rPr>
              <a:t>多维OLAP（MOLAP）模型</a:t>
            </a:r>
            <a:endParaRPr lang="zh-CN" altLang="en-US" sz="2000" b="1" dirty="0">
              <a:solidFill>
                <a:srgbClr val="0000FF"/>
              </a:solidFill>
              <a:latin typeface="Times New Roman" panose="02020503050405090304" pitchFamily="18" charset="0"/>
              <a:cs typeface="Times New Roman" panose="02020503050405090304" pitchFamily="18" charset="0"/>
            </a:endParaRPr>
          </a:p>
        </p:txBody>
      </p:sp>
      <p:sp>
        <p:nvSpPr>
          <p:cNvPr id="5" name="矩形 4"/>
          <p:cNvSpPr>
            <a:spLocks noChangeArrowheads="1"/>
          </p:cNvSpPr>
          <p:nvPr/>
        </p:nvSpPr>
        <p:spPr bwMode="auto">
          <a:xfrm>
            <a:off x="5246688" y="5486400"/>
            <a:ext cx="5484812" cy="1570038"/>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zh-CN" altLang="en-US" sz="1600" b="1">
                <a:latin typeface="楷体" panose="02010609060101010101" pitchFamily="49" charset="-122"/>
                <a:ea typeface="楷体" panose="02010609060101010101" pitchFamily="49" charset="-122"/>
              </a:rPr>
              <a:t>数据提取：</a:t>
            </a:r>
            <a:r>
              <a:rPr lang="zh-CN" altLang="en-US" sz="1600">
                <a:latin typeface="楷体" panose="02010609060101010101" pitchFamily="49" charset="-122"/>
                <a:ea typeface="楷体" panose="02010609060101010101" pitchFamily="49" charset="-122"/>
              </a:rPr>
              <a:t>由多个异构的外部数据源收集数据。</a:t>
            </a:r>
            <a:endParaRPr lang="zh-CN" altLang="en-US" sz="1600">
              <a:latin typeface="楷体" panose="02010609060101010101" pitchFamily="49" charset="-122"/>
              <a:ea typeface="楷体" panose="02010609060101010101" pitchFamily="49" charset="-122"/>
            </a:endParaRPr>
          </a:p>
          <a:p>
            <a:r>
              <a:rPr lang="zh-CN" altLang="en-US" sz="1600" b="1">
                <a:latin typeface="楷体" panose="02010609060101010101" pitchFamily="49" charset="-122"/>
                <a:ea typeface="楷体" panose="02010609060101010101" pitchFamily="49" charset="-122"/>
              </a:rPr>
              <a:t>数据清理：</a:t>
            </a:r>
            <a:r>
              <a:rPr lang="zh-CN" altLang="en-US" sz="1600">
                <a:latin typeface="楷体" panose="02010609060101010101" pitchFamily="49" charset="-122"/>
                <a:ea typeface="楷体" panose="02010609060101010101" pitchFamily="49" charset="-122"/>
              </a:rPr>
              <a:t>检测数据中的错误，尽可能订正它们。</a:t>
            </a:r>
            <a:endParaRPr lang="zh-CN" altLang="en-US" sz="1600">
              <a:latin typeface="楷体" panose="02010609060101010101" pitchFamily="49" charset="-122"/>
              <a:ea typeface="楷体" panose="02010609060101010101" pitchFamily="49" charset="-122"/>
            </a:endParaRPr>
          </a:p>
          <a:p>
            <a:r>
              <a:rPr lang="zh-CN" altLang="en-US" sz="1600" b="1">
                <a:latin typeface="楷体" panose="02010609060101010101" pitchFamily="49" charset="-122"/>
                <a:ea typeface="楷体" panose="02010609060101010101" pitchFamily="49" charset="-122"/>
              </a:rPr>
              <a:t>数据变换：</a:t>
            </a:r>
            <a:r>
              <a:rPr lang="zh-CN" altLang="en-US" sz="1600">
                <a:latin typeface="楷体" panose="02010609060101010101" pitchFamily="49" charset="-122"/>
                <a:ea typeface="楷体" panose="02010609060101010101" pitchFamily="49" charset="-122"/>
              </a:rPr>
              <a:t>将数据由遗产或宿主格式转换成数据仓库格式。</a:t>
            </a:r>
            <a:endParaRPr lang="zh-CN" altLang="en-US" sz="1600">
              <a:latin typeface="楷体" panose="02010609060101010101" pitchFamily="49" charset="-122"/>
              <a:ea typeface="楷体" panose="02010609060101010101" pitchFamily="49" charset="-122"/>
            </a:endParaRPr>
          </a:p>
          <a:p>
            <a:r>
              <a:rPr lang="zh-CN" altLang="en-US" sz="1600" b="1">
                <a:latin typeface="楷体" panose="02010609060101010101" pitchFamily="49" charset="-122"/>
                <a:ea typeface="楷体" panose="02010609060101010101" pitchFamily="49" charset="-122"/>
              </a:rPr>
              <a:t>装入</a:t>
            </a:r>
            <a:r>
              <a:rPr lang="zh-CN" altLang="en-US" sz="1600">
                <a:latin typeface="楷体" panose="02010609060101010101" pitchFamily="49" charset="-122"/>
                <a:ea typeface="楷体" panose="02010609060101010101" pitchFamily="49" charset="-122"/>
              </a:rPr>
              <a:t>：排序、汇总、合并、计算视图、检查完整性、并建立索引和划分。</a:t>
            </a:r>
            <a:endParaRPr lang="zh-CN" altLang="en-US" sz="1600">
              <a:latin typeface="楷体" panose="02010609060101010101" pitchFamily="49" charset="-122"/>
              <a:ea typeface="楷体" panose="02010609060101010101" pitchFamily="49" charset="-122"/>
            </a:endParaRPr>
          </a:p>
          <a:p>
            <a:r>
              <a:rPr lang="zh-CN" altLang="en-US" sz="1600" b="1">
                <a:latin typeface="楷体" panose="02010609060101010101" pitchFamily="49" charset="-122"/>
                <a:ea typeface="楷体" panose="02010609060101010101" pitchFamily="49" charset="-122"/>
              </a:rPr>
              <a:t>刷新：</a:t>
            </a:r>
            <a:r>
              <a:rPr lang="zh-CN" altLang="en-US" sz="1600">
                <a:latin typeface="楷体" panose="02010609060101010101" pitchFamily="49" charset="-122"/>
                <a:ea typeface="楷体" panose="02010609060101010101" pitchFamily="49" charset="-122"/>
              </a:rPr>
              <a:t>传播由数据源到数据仓库的更新。</a:t>
            </a:r>
            <a:endParaRPr lang="zh-CN" altLang="en-US" sz="1600">
              <a:latin typeface="楷体" panose="02010609060101010101" pitchFamily="49" charset="-122"/>
              <a:ea typeface="楷体" panose="02010609060101010101" pitchFamily="49" charset="-122"/>
            </a:endParaRPr>
          </a:p>
        </p:txBody>
      </p:sp>
      <p:sp>
        <p:nvSpPr>
          <p:cNvPr id="9" name="矩形 8"/>
          <p:cNvSpPr/>
          <p:nvPr/>
        </p:nvSpPr>
        <p:spPr>
          <a:xfrm>
            <a:off x="6288088" y="1693863"/>
            <a:ext cx="3810000" cy="1323975"/>
          </a:xfrm>
          <a:prstGeom prst="rect">
            <a:avLst/>
          </a:prstGeom>
        </p:spPr>
        <p:txBody>
          <a:bodyPr>
            <a:spAutoFit/>
          </a:bodyPr>
          <a:lstStyle/>
          <a:p>
            <a:pPr>
              <a:defRPr/>
            </a:pPr>
            <a:r>
              <a:rPr lang="zh-CN" altLang="en-US" sz="2000" b="1" dirty="0">
                <a:solidFill>
                  <a:srgbClr val="0000FF"/>
                </a:solidFill>
                <a:latin typeface="Times New Roman" panose="02020503050405090304" pitchFamily="18" charset="0"/>
                <a:cs typeface="Times New Roman" panose="02020503050405090304" pitchFamily="18" charset="0"/>
              </a:rPr>
              <a:t>前端客户层:</a:t>
            </a:r>
            <a:endParaRPr lang="zh-CN" altLang="en-US" sz="2000" b="1" dirty="0">
              <a:solidFill>
                <a:srgbClr val="0000FF"/>
              </a:solidFill>
              <a:latin typeface="Times New Roman" panose="02020503050405090304" pitchFamily="18" charset="0"/>
              <a:cs typeface="Times New Roman" panose="02020503050405090304" pitchFamily="18" charset="0"/>
            </a:endParaRPr>
          </a:p>
          <a:p>
            <a:pPr marL="342900" indent="-342900">
              <a:buFont typeface="Wingdings" panose="05000000000000000000" pitchFamily="2" charset="2"/>
              <a:buChar char="Ø"/>
              <a:defRPr/>
            </a:pPr>
            <a:r>
              <a:rPr lang="zh-CN" altLang="en-US" sz="2000" b="1" dirty="0">
                <a:solidFill>
                  <a:srgbClr val="0000FF"/>
                </a:solidFill>
                <a:latin typeface="Times New Roman" panose="02020503050405090304" pitchFamily="18" charset="0"/>
                <a:cs typeface="Times New Roman" panose="02020503050405090304" pitchFamily="18" charset="0"/>
              </a:rPr>
              <a:t>查询和报告工具</a:t>
            </a:r>
            <a:endParaRPr lang="en-US" altLang="zh-CN" sz="2000" b="1" dirty="0">
              <a:solidFill>
                <a:srgbClr val="0000FF"/>
              </a:solidFill>
              <a:latin typeface="Times New Roman" panose="02020503050405090304" pitchFamily="18" charset="0"/>
              <a:cs typeface="Times New Roman" panose="02020503050405090304" pitchFamily="18" charset="0"/>
            </a:endParaRPr>
          </a:p>
          <a:p>
            <a:pPr marL="342900" indent="-342900">
              <a:buFont typeface="Wingdings" panose="05000000000000000000" pitchFamily="2" charset="2"/>
              <a:buChar char="Ø"/>
              <a:defRPr/>
            </a:pPr>
            <a:r>
              <a:rPr lang="zh-CN" altLang="en-US" sz="2000" b="1" dirty="0">
                <a:solidFill>
                  <a:srgbClr val="0000FF"/>
                </a:solidFill>
                <a:latin typeface="Times New Roman" panose="02020503050405090304" pitchFamily="18" charset="0"/>
                <a:cs typeface="Times New Roman" panose="02020503050405090304" pitchFamily="18" charset="0"/>
              </a:rPr>
              <a:t>分析工具</a:t>
            </a:r>
            <a:endParaRPr lang="en-US" altLang="zh-CN" sz="2000" b="1" dirty="0">
              <a:solidFill>
                <a:srgbClr val="0000FF"/>
              </a:solidFill>
              <a:latin typeface="Times New Roman" panose="02020503050405090304" pitchFamily="18" charset="0"/>
              <a:cs typeface="Times New Roman" panose="02020503050405090304" pitchFamily="18" charset="0"/>
            </a:endParaRPr>
          </a:p>
          <a:p>
            <a:pPr marL="342900" indent="-342900">
              <a:buFont typeface="Wingdings" panose="05000000000000000000" pitchFamily="2" charset="2"/>
              <a:buChar char="Ø"/>
              <a:defRPr/>
            </a:pPr>
            <a:r>
              <a:rPr lang="zh-CN" altLang="en-US" sz="2000" b="1" dirty="0">
                <a:solidFill>
                  <a:srgbClr val="0000FF"/>
                </a:solidFill>
                <a:latin typeface="Times New Roman" panose="02020503050405090304" pitchFamily="18" charset="0"/>
                <a:cs typeface="Times New Roman" panose="02020503050405090304" pitchFamily="18" charset="0"/>
              </a:rPr>
              <a:t>数据挖掘工具</a:t>
            </a:r>
            <a:endParaRPr lang="zh-CN" altLang="en-US" sz="2000" b="1" dirty="0">
              <a:solidFill>
                <a:srgbClr val="0000FF"/>
              </a:solidFill>
              <a:latin typeface="Times New Roman" panose="02020503050405090304" pitchFamily="18" charset="0"/>
              <a:cs typeface="Times New Roman" panose="02020503050405090304" pitchFamily="18" charset="0"/>
            </a:endParaRPr>
          </a:p>
        </p:txBody>
      </p:sp>
      <p:sp>
        <p:nvSpPr>
          <p:cNvPr id="11274" name="矩形 1"/>
          <p:cNvSpPr>
            <a:spLocks noChangeArrowheads="1"/>
          </p:cNvSpPr>
          <p:nvPr/>
        </p:nvSpPr>
        <p:spPr bwMode="auto">
          <a:xfrm>
            <a:off x="49213" y="1465263"/>
            <a:ext cx="538162"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solidFill>
                  <a:srgbClr val="FF0000"/>
                </a:solidFill>
              </a:rPr>
              <a:t>数据仓库的三层体系结构</a:t>
            </a:r>
            <a:endParaRPr lang="zh-CN" altLang="en-US" sz="2400">
              <a:solidFill>
                <a:srgbClr val="FF0000"/>
              </a:solidFill>
            </a:endParaRPr>
          </a:p>
        </p:txBody>
      </p:sp>
      <p:sp>
        <p:nvSpPr>
          <p:cNvPr id="6" name="矩形 5"/>
          <p:cNvSpPr/>
          <p:nvPr/>
        </p:nvSpPr>
        <p:spPr>
          <a:xfrm>
            <a:off x="4598988" y="4864100"/>
            <a:ext cx="906462" cy="401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p:cNvSpPr/>
          <p:nvPr/>
        </p:nvSpPr>
        <p:spPr>
          <a:xfrm>
            <a:off x="4598988" y="3649663"/>
            <a:ext cx="906462" cy="4016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矩形 12"/>
          <p:cNvSpPr/>
          <p:nvPr/>
        </p:nvSpPr>
        <p:spPr>
          <a:xfrm>
            <a:off x="4598988" y="2298700"/>
            <a:ext cx="906462" cy="401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p:cNvSpPr/>
          <p:nvPr/>
        </p:nvSpPr>
        <p:spPr>
          <a:xfrm>
            <a:off x="4763" y="6303963"/>
            <a:ext cx="2727325" cy="338137"/>
          </a:xfrm>
          <a:prstGeom prst="rect">
            <a:avLst/>
          </a:prstGeom>
        </p:spPr>
        <p:txBody>
          <a:bodyPr>
            <a:spAutoFit/>
          </a:bodyPr>
          <a:lstStyle/>
          <a:p>
            <a:pPr>
              <a:defRPr/>
            </a:pPr>
            <a:r>
              <a:rPr lang="zh-CN" altLang="en-US" sz="1600" b="1" dirty="0">
                <a:solidFill>
                  <a:srgbClr val="0000FF"/>
                </a:solidFill>
                <a:latin typeface="+mn-ea"/>
                <a:ea typeface="+mn-ea"/>
              </a:rPr>
              <a:t>信关：</a:t>
            </a:r>
            <a:r>
              <a:rPr lang="en-US" altLang="zh-CN" sz="1600" b="1" dirty="0">
                <a:solidFill>
                  <a:srgbClr val="0000FF"/>
                </a:solidFill>
                <a:latin typeface="+mn-ea"/>
                <a:ea typeface="+mn-ea"/>
              </a:rPr>
              <a:t>ODBC</a:t>
            </a:r>
            <a:r>
              <a:rPr lang="zh-CN" altLang="en-US" sz="1600" b="1" dirty="0">
                <a:solidFill>
                  <a:srgbClr val="0000FF"/>
                </a:solidFill>
                <a:latin typeface="+mn-ea"/>
                <a:ea typeface="+mn-ea"/>
              </a:rPr>
              <a:t>、</a:t>
            </a:r>
            <a:r>
              <a:rPr lang="en-US" altLang="zh-CN" sz="1600" b="1" dirty="0">
                <a:solidFill>
                  <a:srgbClr val="0000FF"/>
                </a:solidFill>
                <a:latin typeface="+mn-ea"/>
                <a:ea typeface="+mn-ea"/>
              </a:rPr>
              <a:t>OLE-DB</a:t>
            </a:r>
            <a:r>
              <a:rPr lang="zh-CN" altLang="en-US" sz="1600" b="1" dirty="0">
                <a:solidFill>
                  <a:srgbClr val="0000FF"/>
                </a:solidFill>
                <a:latin typeface="+mn-ea"/>
                <a:ea typeface="+mn-ea"/>
              </a:rPr>
              <a:t>、</a:t>
            </a:r>
            <a:r>
              <a:rPr lang="en-US" altLang="zh-CN" sz="1600" b="1" dirty="0">
                <a:solidFill>
                  <a:srgbClr val="0000FF"/>
                </a:solidFill>
                <a:latin typeface="+mn-ea"/>
                <a:ea typeface="+mn-ea"/>
              </a:rPr>
              <a:t>JDBC</a:t>
            </a:r>
            <a:endParaRPr lang="zh-CN" altLang="en-US" sz="1600" b="1" dirty="0">
              <a:solidFill>
                <a:srgbClr val="0000FF"/>
              </a:solidFill>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9"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5895975"/>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4</a:t>
            </a:r>
            <a:r>
              <a:rPr lang="zh-CN" altLang="en-US" sz="2400" b="1" dirty="0">
                <a:solidFill>
                  <a:srgbClr val="0000FF"/>
                </a:solidFill>
                <a:latin typeface="+mn-ea"/>
                <a:ea typeface="+mn-ea"/>
              </a:rPr>
              <a:t>、数据仓库：一种多层体系结构</a:t>
            </a:r>
            <a:endParaRPr lang="zh-CN" altLang="en-US" sz="2400" b="1" dirty="0">
              <a:solidFill>
                <a:srgbClr val="0000FF"/>
              </a:solidFill>
              <a:latin typeface="+mn-ea"/>
              <a:ea typeface="+mn-ea"/>
            </a:endParaRPr>
          </a:p>
        </p:txBody>
      </p:sp>
      <p:sp>
        <p:nvSpPr>
          <p:cNvPr id="13316"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27E2BEB3-DD19-40D6-9F3F-BBA71EB68EF0}" type="slidenum">
              <a:rPr lang="en-US" altLang="zh-CN" sz="1200" smtClean="0">
                <a:solidFill>
                  <a:srgbClr val="FFFFFF"/>
                </a:solidFill>
              </a:rPr>
            </a:fld>
            <a:endParaRPr lang="en-US" altLang="zh-CN" sz="1200">
              <a:solidFill>
                <a:srgbClr val="FFFFFF"/>
              </a:solidFill>
            </a:endParaRPr>
          </a:p>
        </p:txBody>
      </p:sp>
      <p:pic>
        <p:nvPicPr>
          <p:cNvPr id="13317"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288" y="1843088"/>
            <a:ext cx="5022850" cy="537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5672138" y="1335088"/>
            <a:ext cx="5030787" cy="5800725"/>
          </a:xfrm>
          <a:prstGeom prst="rect">
            <a:avLst/>
          </a:prstGeom>
          <a:ln>
            <a:solidFill>
              <a:srgbClr val="0070C0"/>
            </a:solidFill>
          </a:ln>
        </p:spPr>
        <p:txBody>
          <a:bodyPr>
            <a:spAutoFit/>
          </a:bodyPr>
          <a:lstStyle/>
          <a:p>
            <a:pPr>
              <a:spcAft>
                <a:spcPts val="600"/>
              </a:spcAft>
              <a:defRPr/>
            </a:pPr>
            <a:r>
              <a:rPr lang="zh-CN" altLang="en-US" sz="1600" b="1" dirty="0">
                <a:latin typeface="+mn-ea"/>
                <a:ea typeface="+mn-ea"/>
              </a:rPr>
              <a:t>元数据：</a:t>
            </a:r>
            <a:r>
              <a:rPr lang="zh-CN" altLang="en-US" sz="1600" dirty="0">
                <a:latin typeface="+mn-ea"/>
                <a:ea typeface="+mn-ea"/>
              </a:rPr>
              <a:t>是</a:t>
            </a:r>
            <a:r>
              <a:rPr lang="zh-CN" altLang="en-US" sz="1600" dirty="0">
                <a:solidFill>
                  <a:srgbClr val="FF0000"/>
                </a:solidFill>
                <a:latin typeface="+mn-ea"/>
                <a:ea typeface="+mn-ea"/>
              </a:rPr>
              <a:t>关于数据的数据</a:t>
            </a:r>
            <a:r>
              <a:rPr lang="zh-CN" altLang="en-US" sz="1600" dirty="0">
                <a:latin typeface="+mn-ea"/>
                <a:ea typeface="+mn-ea"/>
              </a:rPr>
              <a:t>，元数据</a:t>
            </a:r>
            <a:r>
              <a:rPr lang="zh-CN" altLang="en-US" sz="1600" dirty="0">
                <a:solidFill>
                  <a:srgbClr val="FF0000"/>
                </a:solidFill>
                <a:latin typeface="+mn-ea"/>
                <a:ea typeface="+mn-ea"/>
              </a:rPr>
              <a:t>用来定义仓库对象的数据</a:t>
            </a:r>
            <a:r>
              <a:rPr lang="zh-CN" altLang="en-US" sz="1600" dirty="0">
                <a:latin typeface="+mn-ea"/>
                <a:ea typeface="+mn-ea"/>
              </a:rPr>
              <a:t>，如：数据仓库的数据名和定义、提取的数据源等。</a:t>
            </a:r>
            <a:endParaRPr lang="zh-CN" altLang="en-US" sz="1600" dirty="0">
              <a:latin typeface="+mn-ea"/>
              <a:ea typeface="+mn-ea"/>
            </a:endParaRPr>
          </a:p>
          <a:p>
            <a:pPr>
              <a:spcAft>
                <a:spcPts val="600"/>
              </a:spcAft>
              <a:defRPr/>
            </a:pPr>
            <a:r>
              <a:rPr lang="zh-CN" altLang="en-US" sz="1600" b="1" dirty="0">
                <a:latin typeface="+mn-ea"/>
                <a:ea typeface="+mn-ea"/>
              </a:rPr>
              <a:t>元数据库包括以下内容：</a:t>
            </a:r>
            <a:endParaRPr lang="zh-CN" altLang="en-US" sz="1600" b="1" dirty="0">
              <a:latin typeface="+mn-ea"/>
              <a:ea typeface="+mn-ea"/>
            </a:endParaRPr>
          </a:p>
          <a:p>
            <a:pPr marL="285750" indent="-285750">
              <a:spcAft>
                <a:spcPts val="600"/>
              </a:spcAft>
              <a:buFont typeface="Wingdings" panose="05000000000000000000" pitchFamily="2" charset="2"/>
              <a:buChar char="Ø"/>
              <a:defRPr/>
            </a:pPr>
            <a:r>
              <a:rPr lang="zh-CN" altLang="en-US" sz="1600" b="1" dirty="0">
                <a:solidFill>
                  <a:srgbClr val="0000FF"/>
                </a:solidFill>
                <a:latin typeface="+mn-ea"/>
                <a:ea typeface="+mn-ea"/>
              </a:rPr>
              <a:t>数据仓库结构的描述</a:t>
            </a:r>
            <a:r>
              <a:rPr lang="zh-CN" altLang="en-US" sz="1600" dirty="0">
                <a:latin typeface="+mn-ea"/>
                <a:ea typeface="+mn-ea"/>
              </a:rPr>
              <a:t>，包括仓库模式、视图、维、分层结构、导出数据的定义，以及数据集市的位置和内容。</a:t>
            </a:r>
            <a:endParaRPr lang="zh-CN" altLang="en-US" sz="1600" dirty="0">
              <a:latin typeface="+mn-ea"/>
              <a:ea typeface="+mn-ea"/>
            </a:endParaRPr>
          </a:p>
          <a:p>
            <a:pPr marL="285750" indent="-285750">
              <a:spcAft>
                <a:spcPts val="600"/>
              </a:spcAft>
              <a:buFont typeface="Wingdings" panose="05000000000000000000" pitchFamily="2" charset="2"/>
              <a:buChar char="Ø"/>
              <a:defRPr/>
            </a:pPr>
            <a:r>
              <a:rPr lang="zh-CN" altLang="en-US" sz="1600" b="1" dirty="0">
                <a:solidFill>
                  <a:srgbClr val="0000FF"/>
                </a:solidFill>
                <a:latin typeface="+mn-ea"/>
                <a:ea typeface="+mn-ea"/>
              </a:rPr>
              <a:t>操作元数据</a:t>
            </a:r>
            <a:r>
              <a:rPr lang="zh-CN" altLang="en-US" sz="1600" dirty="0">
                <a:latin typeface="+mn-ea"/>
                <a:ea typeface="+mn-ea"/>
              </a:rPr>
              <a:t>，包括数据历史（迁移数据的历史、使用的变换序列）、数据流通和管理信息。</a:t>
            </a:r>
            <a:endParaRPr lang="zh-CN" altLang="en-US" sz="1600" dirty="0">
              <a:latin typeface="+mn-ea"/>
              <a:ea typeface="+mn-ea"/>
            </a:endParaRPr>
          </a:p>
          <a:p>
            <a:pPr marL="285750" indent="-285750">
              <a:spcAft>
                <a:spcPts val="600"/>
              </a:spcAft>
              <a:buFont typeface="Wingdings" panose="05000000000000000000" pitchFamily="2" charset="2"/>
              <a:buChar char="Ø"/>
              <a:defRPr/>
            </a:pPr>
            <a:r>
              <a:rPr lang="zh-CN" altLang="en-US" sz="1600" b="1" dirty="0">
                <a:solidFill>
                  <a:srgbClr val="0000FF"/>
                </a:solidFill>
                <a:latin typeface="+mn-ea"/>
                <a:ea typeface="+mn-ea"/>
              </a:rPr>
              <a:t>用于汇总的算法</a:t>
            </a:r>
            <a:r>
              <a:rPr lang="zh-CN" altLang="en-US" sz="1600" dirty="0">
                <a:latin typeface="+mn-ea"/>
                <a:ea typeface="+mn-ea"/>
              </a:rPr>
              <a:t>，包括度量和维定义算法，数据所处的粒度、划分、主题领域、聚集、汇总、预定义的查询和报告。</a:t>
            </a:r>
            <a:endParaRPr lang="zh-CN" altLang="en-US" sz="1600" dirty="0">
              <a:latin typeface="+mn-ea"/>
              <a:ea typeface="+mn-ea"/>
            </a:endParaRPr>
          </a:p>
          <a:p>
            <a:pPr marL="285750" indent="-285750">
              <a:spcAft>
                <a:spcPts val="600"/>
              </a:spcAft>
              <a:buFont typeface="Wingdings" panose="05000000000000000000" pitchFamily="2" charset="2"/>
              <a:buChar char="Ø"/>
              <a:defRPr/>
            </a:pPr>
            <a:r>
              <a:rPr lang="zh-CN" altLang="en-US" sz="1600" b="1" dirty="0">
                <a:solidFill>
                  <a:srgbClr val="0000FF"/>
                </a:solidFill>
                <a:latin typeface="+mn-ea"/>
                <a:ea typeface="+mn-ea"/>
              </a:rPr>
              <a:t>由操作环境到数据仓库的映射</a:t>
            </a:r>
            <a:r>
              <a:rPr lang="zh-CN" altLang="en-US" sz="1600" dirty="0">
                <a:latin typeface="+mn-ea"/>
                <a:ea typeface="+mn-ea"/>
              </a:rPr>
              <a:t>，包括源数据库和它们的内容、信关描述、数据划分、数据提取、清洗、转换规则和默认值，数据刷新和净化规则，以及安全性。</a:t>
            </a:r>
            <a:endParaRPr lang="zh-CN" altLang="en-US" sz="1600" dirty="0">
              <a:latin typeface="+mn-ea"/>
              <a:ea typeface="+mn-ea"/>
            </a:endParaRPr>
          </a:p>
          <a:p>
            <a:pPr marL="285750" indent="-285750">
              <a:spcAft>
                <a:spcPts val="600"/>
              </a:spcAft>
              <a:buFont typeface="Wingdings" panose="05000000000000000000" pitchFamily="2" charset="2"/>
              <a:buChar char="Ø"/>
              <a:defRPr/>
            </a:pPr>
            <a:r>
              <a:rPr lang="zh-CN" altLang="en-US" sz="1600" b="1" dirty="0">
                <a:solidFill>
                  <a:srgbClr val="0000FF"/>
                </a:solidFill>
                <a:latin typeface="+mn-ea"/>
                <a:ea typeface="+mn-ea"/>
              </a:rPr>
              <a:t>关于系统性能的数据</a:t>
            </a:r>
            <a:r>
              <a:rPr lang="zh-CN" altLang="en-US" sz="1600" dirty="0">
                <a:latin typeface="+mn-ea"/>
                <a:ea typeface="+mn-ea"/>
              </a:rPr>
              <a:t>，除刷新、更新和复制周期的定时和调度规则外，还包括改善数据存取和检索性能的索引和概要。</a:t>
            </a:r>
            <a:endParaRPr lang="zh-CN" altLang="en-US" sz="1600" dirty="0">
              <a:latin typeface="+mn-ea"/>
              <a:ea typeface="+mn-ea"/>
            </a:endParaRPr>
          </a:p>
          <a:p>
            <a:pPr marL="285750" indent="-285750">
              <a:spcAft>
                <a:spcPts val="600"/>
              </a:spcAft>
              <a:buFont typeface="Wingdings" panose="05000000000000000000" pitchFamily="2" charset="2"/>
              <a:buChar char="Ø"/>
              <a:defRPr/>
            </a:pPr>
            <a:r>
              <a:rPr lang="zh-CN" altLang="en-US" sz="1600" b="1" dirty="0">
                <a:solidFill>
                  <a:srgbClr val="0000FF"/>
                </a:solidFill>
                <a:latin typeface="+mn-ea"/>
                <a:ea typeface="+mn-ea"/>
              </a:rPr>
              <a:t>商务元数据</a:t>
            </a:r>
            <a:r>
              <a:rPr lang="zh-CN" altLang="en-US" sz="1600" dirty="0">
                <a:latin typeface="+mn-ea"/>
                <a:ea typeface="+mn-ea"/>
              </a:rPr>
              <a:t>，包括商务术语和定义，数据拥有者信息和收费策略。</a:t>
            </a:r>
            <a:endParaRPr lang="zh-CN" altLang="en-US" sz="1600" dirty="0">
              <a:latin typeface="+mn-ea"/>
              <a:ea typeface="+mn-ea"/>
            </a:endParaRPr>
          </a:p>
        </p:txBody>
      </p:sp>
      <p:sp>
        <p:nvSpPr>
          <p:cNvPr id="6" name="椭圆 5"/>
          <p:cNvSpPr/>
          <p:nvPr/>
        </p:nvSpPr>
        <p:spPr>
          <a:xfrm>
            <a:off x="1087438" y="5108575"/>
            <a:ext cx="685800" cy="685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矩形 6"/>
          <p:cNvSpPr/>
          <p:nvPr/>
        </p:nvSpPr>
        <p:spPr>
          <a:xfrm>
            <a:off x="5940425" y="865188"/>
            <a:ext cx="4495800" cy="461962"/>
          </a:xfrm>
          <a:prstGeom prst="rect">
            <a:avLst/>
          </a:prstGeom>
          <a:solidFill>
            <a:schemeClr val="accent6">
              <a:lumMod val="60000"/>
              <a:lumOff val="40000"/>
            </a:schemeClr>
          </a:solidFill>
        </p:spPr>
        <p:txBody>
          <a:bodyPr>
            <a:spAutoFit/>
          </a:bodyPr>
          <a:lstStyle/>
          <a:p>
            <a:pPr algn="ctr">
              <a:defRPr/>
            </a:pPr>
            <a:r>
              <a:rPr lang="zh-CN" altLang="en-US" sz="2400" b="1" dirty="0">
                <a:solidFill>
                  <a:srgbClr val="FF0000"/>
                </a:solidFill>
                <a:latin typeface="楷体" panose="02010609060101010101" pitchFamily="49" charset="-122"/>
                <a:ea typeface="楷体" panose="02010609060101010101" pitchFamily="49" charset="-122"/>
              </a:rPr>
              <a:t>元数据是数据仓库操作的指南</a:t>
            </a:r>
            <a:endParaRPr lang="zh-CN" altLang="en-US" sz="2400" b="1" dirty="0">
              <a:solidFill>
                <a:srgbClr val="FF0000"/>
              </a:solidFill>
              <a:latin typeface="楷体" panose="02010609060101010101" pitchFamily="49" charset="-122"/>
              <a:ea typeface="楷体" panose="02010609060101010101" pitchFamily="49" charset="-122"/>
            </a:endParaRPr>
          </a:p>
        </p:txBody>
      </p:sp>
      <p:sp>
        <p:nvSpPr>
          <p:cNvPr id="13321" name="矩形 8"/>
          <p:cNvSpPr>
            <a:spLocks noChangeArrowheads="1"/>
          </p:cNvSpPr>
          <p:nvPr/>
        </p:nvSpPr>
        <p:spPr bwMode="auto">
          <a:xfrm>
            <a:off x="49213" y="1465263"/>
            <a:ext cx="538162"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solidFill>
                  <a:srgbClr val="FF0000"/>
                </a:solidFill>
              </a:rPr>
              <a:t>数据仓库的三层体系结构</a:t>
            </a:r>
            <a:endParaRPr lang="zh-CN" altLang="en-US" sz="2400">
              <a:solidFill>
                <a:srgbClr val="FF0000"/>
              </a:solidFill>
            </a:endParaRPr>
          </a:p>
        </p:txBody>
      </p:sp>
      <p:sp>
        <p:nvSpPr>
          <p:cNvPr id="10" name="矩形 9"/>
          <p:cNvSpPr/>
          <p:nvPr/>
        </p:nvSpPr>
        <p:spPr>
          <a:xfrm>
            <a:off x="4598988" y="4864100"/>
            <a:ext cx="906462" cy="401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矩形 10"/>
          <p:cNvSpPr/>
          <p:nvPr/>
        </p:nvSpPr>
        <p:spPr>
          <a:xfrm>
            <a:off x="4598988" y="3649663"/>
            <a:ext cx="906462" cy="4016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p:cNvSpPr/>
          <p:nvPr/>
        </p:nvSpPr>
        <p:spPr>
          <a:xfrm>
            <a:off x="4598988" y="2298700"/>
            <a:ext cx="906462" cy="401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838200"/>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5</a:t>
            </a:r>
            <a:r>
              <a:rPr lang="zh-CN" altLang="en-US" sz="2400" b="1" dirty="0">
                <a:solidFill>
                  <a:srgbClr val="0000FF"/>
                </a:solidFill>
                <a:latin typeface="+mn-ea"/>
                <a:ea typeface="+mn-ea"/>
              </a:rPr>
              <a:t>、数据仓库模型：企业仓库、数据集市、虚拟仓库</a:t>
            </a:r>
            <a:endParaRPr lang="en-US" altLang="zh-CN" sz="2400" b="1" dirty="0">
              <a:solidFill>
                <a:srgbClr val="0000FF"/>
              </a:solidFill>
              <a:latin typeface="+mn-ea"/>
              <a:ea typeface="+mn-ea"/>
            </a:endParaRPr>
          </a:p>
        </p:txBody>
      </p:sp>
      <p:sp>
        <p:nvSpPr>
          <p:cNvPr id="5" name="矩形 4"/>
          <p:cNvSpPr/>
          <p:nvPr/>
        </p:nvSpPr>
        <p:spPr>
          <a:xfrm>
            <a:off x="969963" y="2459038"/>
            <a:ext cx="2751137" cy="4400550"/>
          </a:xfrm>
          <a:prstGeom prst="rect">
            <a:avLst/>
          </a:prstGeom>
          <a:ln w="28575">
            <a:solidFill>
              <a:srgbClr val="7030A0"/>
            </a:solidFill>
          </a:ln>
        </p:spPr>
        <p:txBody>
          <a:bodyPr>
            <a:spAutoFit/>
          </a:bodyPr>
          <a:lstStyle/>
          <a:p>
            <a:pPr algn="just" defTabSz="869315" fontAlgn="auto">
              <a:lnSpc>
                <a:spcPts val="3000"/>
              </a:lnSpc>
              <a:spcAft>
                <a:spcPts val="0"/>
              </a:spcAft>
              <a:defRPr/>
            </a:pPr>
            <a:r>
              <a:rPr lang="zh-CN" altLang="en-US" sz="2000" dirty="0">
                <a:latin typeface="+mn-ea"/>
              </a:rPr>
              <a:t>企业仓库搜集了</a:t>
            </a:r>
            <a:r>
              <a:rPr lang="zh-CN" altLang="en-US" sz="2000" dirty="0">
                <a:solidFill>
                  <a:srgbClr val="FF0000"/>
                </a:solidFill>
                <a:latin typeface="+mn-ea"/>
              </a:rPr>
              <a:t>关于主题的所有信息，跨越整个企业。</a:t>
            </a:r>
            <a:endParaRPr lang="en-US" altLang="zh-CN" sz="2000" dirty="0">
              <a:solidFill>
                <a:srgbClr val="FF0000"/>
              </a:solidFill>
              <a:latin typeface="+mn-ea"/>
            </a:endParaRPr>
          </a:p>
          <a:p>
            <a:pPr algn="just" defTabSz="869315" fontAlgn="auto">
              <a:lnSpc>
                <a:spcPts val="3000"/>
              </a:lnSpc>
              <a:spcAft>
                <a:spcPts val="0"/>
              </a:spcAft>
              <a:defRPr/>
            </a:pPr>
            <a:r>
              <a:rPr lang="zh-CN" altLang="en-US" sz="2000" dirty="0">
                <a:latin typeface="+mn-ea"/>
              </a:rPr>
              <a:t>它提供企业范围内的数据集成，</a:t>
            </a:r>
            <a:r>
              <a:rPr lang="zh-CN" altLang="en-US" sz="2000" dirty="0">
                <a:solidFill>
                  <a:srgbClr val="FF0000"/>
                </a:solidFill>
                <a:latin typeface="+mn-ea"/>
              </a:rPr>
              <a:t>包含细节数据和汇总数据</a:t>
            </a:r>
            <a:r>
              <a:rPr lang="zh-CN" altLang="en-US" sz="2000" dirty="0">
                <a:latin typeface="+mn-ea"/>
              </a:rPr>
              <a:t>。</a:t>
            </a:r>
            <a:endParaRPr lang="en-US" altLang="zh-CN" sz="2000" dirty="0">
              <a:latin typeface="+mn-ea"/>
            </a:endParaRPr>
          </a:p>
          <a:p>
            <a:pPr algn="just" defTabSz="869315" fontAlgn="auto">
              <a:lnSpc>
                <a:spcPts val="3000"/>
              </a:lnSpc>
              <a:spcBef>
                <a:spcPts val="600"/>
              </a:spcBef>
              <a:spcAft>
                <a:spcPts val="0"/>
              </a:spcAft>
              <a:defRPr/>
            </a:pPr>
            <a:r>
              <a:rPr lang="zh-CN" altLang="en-US" sz="2000" dirty="0">
                <a:latin typeface="+mn-ea"/>
              </a:rPr>
              <a:t>企业数据仓库可以</a:t>
            </a:r>
            <a:r>
              <a:rPr lang="zh-CN" altLang="en-US" sz="2000" dirty="0">
                <a:solidFill>
                  <a:srgbClr val="FF0000"/>
                </a:solidFill>
                <a:latin typeface="+mn-ea"/>
              </a:rPr>
              <a:t>在传统的大型机、超级计算机服务器或并行结构平台上实现</a:t>
            </a:r>
            <a:r>
              <a:rPr lang="zh-CN" altLang="en-US" sz="2000" dirty="0">
                <a:latin typeface="+mn-ea"/>
              </a:rPr>
              <a:t>，需要</a:t>
            </a:r>
            <a:r>
              <a:rPr lang="zh-CN" altLang="en-US" sz="2000" b="1" dirty="0">
                <a:solidFill>
                  <a:srgbClr val="FF0000"/>
                </a:solidFill>
                <a:latin typeface="+mn-ea"/>
              </a:rPr>
              <a:t>多年</a:t>
            </a:r>
            <a:r>
              <a:rPr lang="zh-CN" altLang="en-US" sz="2000" dirty="0">
                <a:latin typeface="+mn-ea"/>
              </a:rPr>
              <a:t>设计和建设。</a:t>
            </a:r>
            <a:endParaRPr lang="zh-CN" altLang="en-US" sz="2000" dirty="0">
              <a:latin typeface="+mn-ea"/>
            </a:endParaRPr>
          </a:p>
        </p:txBody>
      </p:sp>
      <p:sp>
        <p:nvSpPr>
          <p:cNvPr id="6" name="矩形 5"/>
          <p:cNvSpPr/>
          <p:nvPr/>
        </p:nvSpPr>
        <p:spPr>
          <a:xfrm>
            <a:off x="4173538" y="2455863"/>
            <a:ext cx="2749550" cy="4400550"/>
          </a:xfrm>
          <a:prstGeom prst="rect">
            <a:avLst/>
          </a:prstGeom>
          <a:ln w="28575">
            <a:solidFill>
              <a:srgbClr val="7030A0"/>
            </a:solidFill>
          </a:ln>
        </p:spPr>
        <p:txBody>
          <a:bodyPr>
            <a:spAutoFit/>
          </a:bodyPr>
          <a:lstStyle/>
          <a:p>
            <a:pPr algn="just" defTabSz="869315" fontAlgn="auto">
              <a:lnSpc>
                <a:spcPts val="3000"/>
              </a:lnSpc>
              <a:spcAft>
                <a:spcPts val="0"/>
              </a:spcAft>
              <a:defRPr/>
            </a:pPr>
            <a:r>
              <a:rPr lang="zh-CN" altLang="en-US" sz="2000" dirty="0">
                <a:latin typeface="+mn-ea"/>
                <a:ea typeface="+mn-ea"/>
              </a:rPr>
              <a:t>数据集市包含</a:t>
            </a:r>
            <a:r>
              <a:rPr lang="zh-CN" altLang="en-US" sz="2000" dirty="0">
                <a:solidFill>
                  <a:srgbClr val="FF0000"/>
                </a:solidFill>
                <a:latin typeface="+mn-ea"/>
                <a:ea typeface="+mn-ea"/>
              </a:rPr>
              <a:t>企业范围数据的一个子集</a:t>
            </a:r>
            <a:r>
              <a:rPr lang="zh-CN" altLang="en-US" sz="2000" dirty="0">
                <a:latin typeface="+mn-ea"/>
                <a:ea typeface="+mn-ea"/>
              </a:rPr>
              <a:t>，对于特定用户群是有用的。</a:t>
            </a:r>
            <a:endParaRPr lang="en-US" altLang="zh-CN" sz="2000" dirty="0">
              <a:latin typeface="+mn-ea"/>
              <a:ea typeface="+mn-ea"/>
            </a:endParaRPr>
          </a:p>
          <a:p>
            <a:pPr algn="just" defTabSz="869315" fontAlgn="auto">
              <a:lnSpc>
                <a:spcPts val="3000"/>
              </a:lnSpc>
              <a:spcAft>
                <a:spcPts val="0"/>
              </a:spcAft>
              <a:defRPr/>
            </a:pPr>
            <a:r>
              <a:rPr lang="zh-CN" altLang="en-US" sz="2000" dirty="0">
                <a:latin typeface="+mn-ea"/>
                <a:ea typeface="+mn-ea"/>
              </a:rPr>
              <a:t>其范围限于</a:t>
            </a:r>
            <a:r>
              <a:rPr lang="zh-CN" altLang="en-US" sz="2000" dirty="0">
                <a:solidFill>
                  <a:srgbClr val="FF0000"/>
                </a:solidFill>
                <a:latin typeface="+mn-ea"/>
                <a:ea typeface="+mn-ea"/>
              </a:rPr>
              <a:t>选定的主题</a:t>
            </a:r>
            <a:r>
              <a:rPr lang="zh-CN" altLang="en-US" sz="2000" dirty="0">
                <a:latin typeface="+mn-ea"/>
                <a:ea typeface="+mn-ea"/>
              </a:rPr>
              <a:t>（顾客、商品）。数据通常是</a:t>
            </a:r>
            <a:r>
              <a:rPr lang="zh-CN" altLang="en-US" sz="2000" dirty="0">
                <a:solidFill>
                  <a:srgbClr val="FF0000"/>
                </a:solidFill>
                <a:latin typeface="+mn-ea"/>
                <a:ea typeface="+mn-ea"/>
              </a:rPr>
              <a:t>汇总的</a:t>
            </a:r>
            <a:r>
              <a:rPr lang="zh-CN" altLang="en-US" sz="2000" dirty="0">
                <a:latin typeface="+mn-ea"/>
                <a:ea typeface="+mn-ea"/>
              </a:rPr>
              <a:t>。</a:t>
            </a:r>
            <a:endParaRPr lang="en-US" altLang="zh-CN" sz="2000" dirty="0">
              <a:latin typeface="+mn-ea"/>
              <a:ea typeface="+mn-ea"/>
            </a:endParaRPr>
          </a:p>
          <a:p>
            <a:pPr algn="just" defTabSz="869315" fontAlgn="auto">
              <a:lnSpc>
                <a:spcPts val="3000"/>
              </a:lnSpc>
              <a:spcBef>
                <a:spcPts val="600"/>
              </a:spcBef>
              <a:spcAft>
                <a:spcPts val="0"/>
              </a:spcAft>
              <a:defRPr/>
            </a:pPr>
            <a:r>
              <a:rPr lang="zh-CN" altLang="en-US" sz="2000" dirty="0">
                <a:latin typeface="+mn-ea"/>
                <a:ea typeface="+mn-ea"/>
              </a:rPr>
              <a:t>数据集市可以</a:t>
            </a:r>
            <a:r>
              <a:rPr lang="zh-CN" altLang="en-US" sz="2000" dirty="0">
                <a:solidFill>
                  <a:srgbClr val="FF0000"/>
                </a:solidFill>
                <a:latin typeface="+mn-ea"/>
                <a:ea typeface="+mn-ea"/>
              </a:rPr>
              <a:t>在低价格的部门服务器上实现</a:t>
            </a:r>
            <a:r>
              <a:rPr lang="zh-CN" altLang="en-US" sz="2000" dirty="0">
                <a:latin typeface="+mn-ea"/>
                <a:ea typeface="+mn-ea"/>
              </a:rPr>
              <a:t>，实现周期一般是数以</a:t>
            </a:r>
            <a:r>
              <a:rPr lang="zh-CN" altLang="en-US" sz="2000" b="1" dirty="0">
                <a:solidFill>
                  <a:srgbClr val="FF0000"/>
                </a:solidFill>
                <a:latin typeface="+mn-ea"/>
                <a:ea typeface="+mn-ea"/>
              </a:rPr>
              <a:t>周</a:t>
            </a:r>
            <a:r>
              <a:rPr lang="zh-CN" altLang="en-US" sz="2000" dirty="0">
                <a:latin typeface="+mn-ea"/>
                <a:ea typeface="+mn-ea"/>
              </a:rPr>
              <a:t>计。</a:t>
            </a:r>
            <a:endParaRPr lang="en-US" altLang="zh-CN" sz="2000" dirty="0">
              <a:latin typeface="+mn-ea"/>
              <a:ea typeface="+mn-ea"/>
            </a:endParaRPr>
          </a:p>
          <a:p>
            <a:pPr algn="just" defTabSz="869315" fontAlgn="auto">
              <a:lnSpc>
                <a:spcPts val="3000"/>
              </a:lnSpc>
              <a:spcAft>
                <a:spcPts val="0"/>
              </a:spcAft>
              <a:defRPr/>
            </a:pPr>
            <a:endParaRPr lang="zh-CN" altLang="en-US" sz="2000" dirty="0">
              <a:latin typeface="+mn-ea"/>
              <a:ea typeface="+mn-ea"/>
            </a:endParaRPr>
          </a:p>
        </p:txBody>
      </p:sp>
      <p:sp>
        <p:nvSpPr>
          <p:cNvPr id="7" name="矩形 6"/>
          <p:cNvSpPr/>
          <p:nvPr/>
        </p:nvSpPr>
        <p:spPr>
          <a:xfrm>
            <a:off x="7386638" y="2455863"/>
            <a:ext cx="2660650" cy="4248150"/>
          </a:xfrm>
          <a:prstGeom prst="rect">
            <a:avLst/>
          </a:prstGeom>
          <a:ln w="28575">
            <a:solidFill>
              <a:srgbClr val="7030A0"/>
            </a:solidFill>
          </a:ln>
        </p:spPr>
        <p:txBody>
          <a:bodyPr>
            <a:spAutoFit/>
          </a:bodyPr>
          <a:lstStyle/>
          <a:p>
            <a:pPr algn="just" defTabSz="869315" fontAlgn="auto">
              <a:lnSpc>
                <a:spcPct val="150000"/>
              </a:lnSpc>
              <a:spcAft>
                <a:spcPts val="0"/>
              </a:spcAft>
              <a:defRPr/>
            </a:pPr>
            <a:r>
              <a:rPr lang="zh-CN" altLang="en-US" sz="2000" dirty="0">
                <a:solidFill>
                  <a:srgbClr val="FF0000"/>
                </a:solidFill>
                <a:latin typeface="+mn-ea"/>
              </a:rPr>
              <a:t>是操作数据库上视图的集合。</a:t>
            </a:r>
            <a:r>
              <a:rPr lang="zh-CN" altLang="en-US" sz="2000" dirty="0">
                <a:latin typeface="+mn-ea"/>
              </a:rPr>
              <a:t>为了有效地处理查询，只有一些可能的汇总视图被物化，虚拟仓库易于建立，但需要操作数据库服务器还有余力。</a:t>
            </a:r>
            <a:endParaRPr lang="en-US" altLang="zh-CN" sz="2000" dirty="0">
              <a:latin typeface="+mn-ea"/>
            </a:endParaRPr>
          </a:p>
          <a:p>
            <a:pPr algn="just" defTabSz="869315" fontAlgn="auto">
              <a:lnSpc>
                <a:spcPct val="150000"/>
              </a:lnSpc>
              <a:spcAft>
                <a:spcPts val="0"/>
              </a:spcAft>
              <a:defRPr/>
            </a:pPr>
            <a:endParaRPr lang="en-US" altLang="zh-CN" sz="2000" dirty="0">
              <a:latin typeface="+mn-ea"/>
            </a:endParaRPr>
          </a:p>
          <a:p>
            <a:pPr algn="just" defTabSz="869315" fontAlgn="auto">
              <a:lnSpc>
                <a:spcPct val="150000"/>
              </a:lnSpc>
              <a:spcAft>
                <a:spcPts val="0"/>
              </a:spcAft>
              <a:defRPr/>
            </a:pPr>
            <a:endParaRPr lang="zh-CN" altLang="en-US" sz="2000" dirty="0">
              <a:latin typeface="+mn-ea"/>
            </a:endParaRPr>
          </a:p>
        </p:txBody>
      </p:sp>
      <p:sp>
        <p:nvSpPr>
          <p:cNvPr id="9" name="圆角矩形 8"/>
          <p:cNvSpPr/>
          <p:nvPr/>
        </p:nvSpPr>
        <p:spPr>
          <a:xfrm>
            <a:off x="923925" y="1922463"/>
            <a:ext cx="2830513" cy="533400"/>
          </a:xfrm>
          <a:prstGeom prst="roundRect">
            <a:avLst/>
          </a:prstGeom>
          <a:solidFill>
            <a:schemeClr val="tx2">
              <a:lumMod val="60000"/>
              <a:lumOff val="4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bg1"/>
                </a:solidFill>
                <a:latin typeface="宋体" pitchFamily="2" charset="-122"/>
              </a:rPr>
              <a:t>企业仓库</a:t>
            </a:r>
            <a:endParaRPr lang="zh-CN" altLang="en-US" sz="2400" b="1" dirty="0">
              <a:solidFill>
                <a:schemeClr val="bg1"/>
              </a:solidFill>
            </a:endParaRPr>
          </a:p>
        </p:txBody>
      </p:sp>
      <p:sp>
        <p:nvSpPr>
          <p:cNvPr id="13" name="圆角矩形 12"/>
          <p:cNvSpPr/>
          <p:nvPr/>
        </p:nvSpPr>
        <p:spPr>
          <a:xfrm>
            <a:off x="4141788" y="1922463"/>
            <a:ext cx="2827337" cy="533400"/>
          </a:xfrm>
          <a:prstGeom prst="roundRect">
            <a:avLst/>
          </a:prstGeom>
          <a:solidFill>
            <a:schemeClr val="bg2">
              <a:lumMod val="5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latin typeface="+mn-ea"/>
              </a:rPr>
              <a:t>数据集市</a:t>
            </a:r>
            <a:endParaRPr lang="zh-CN" altLang="en-US" sz="2400" b="1" dirty="0">
              <a:solidFill>
                <a:schemeClr val="bg1"/>
              </a:solidFill>
            </a:endParaRPr>
          </a:p>
        </p:txBody>
      </p:sp>
      <p:sp>
        <p:nvSpPr>
          <p:cNvPr id="15" name="圆角矩形 14"/>
          <p:cNvSpPr/>
          <p:nvPr/>
        </p:nvSpPr>
        <p:spPr>
          <a:xfrm>
            <a:off x="7373938" y="1922463"/>
            <a:ext cx="2705100" cy="533400"/>
          </a:xfrm>
          <a:prstGeom prst="roundRect">
            <a:avLst/>
          </a:prstGeom>
          <a:solidFill>
            <a:schemeClr val="accent4">
              <a:lumMod val="75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latin typeface="+mn-ea"/>
              </a:rPr>
              <a:t>虚拟仓库</a:t>
            </a:r>
            <a:endParaRPr lang="zh-CN" altLang="en-US" sz="2400" b="1" dirty="0">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3"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4.1 </a:t>
            </a:r>
            <a:r>
              <a:rPr lang="zh-CN" altLang="en-US" sz="4400" b="1" dirty="0">
                <a:latin typeface="楷体" panose="02010609060101010101" pitchFamily="49" charset="-122"/>
                <a:ea typeface="楷体" panose="02010609060101010101" pitchFamily="49" charset="-122"/>
              </a:rPr>
              <a:t>数据仓库：基本概念</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448800" cy="1066800"/>
          </a:xfrm>
        </p:spPr>
        <p:txBody>
          <a:bodyPr>
            <a:normAutofit/>
          </a:bodyPr>
          <a:lstStyle/>
          <a:p>
            <a:pPr marL="0" indent="0" algn="just" defTabSz="869315" eaLnBrk="1" fontAlgn="auto" hangingPunct="1">
              <a:spcAft>
                <a:spcPts val="0"/>
              </a:spcAft>
              <a:buFont typeface="Arial" panose="020B0604020202090204" pitchFamily="34" charset="0"/>
              <a:buNone/>
              <a:defRPr/>
            </a:pPr>
            <a:r>
              <a:rPr lang="en-US" altLang="zh-CN" sz="2400" b="1" dirty="0">
                <a:solidFill>
                  <a:srgbClr val="0000FF"/>
                </a:solidFill>
                <a:latin typeface="+mn-ea"/>
                <a:ea typeface="+mn-ea"/>
              </a:rPr>
              <a:t>5</a:t>
            </a:r>
            <a:r>
              <a:rPr lang="zh-CN" altLang="en-US" sz="2400" b="1" dirty="0">
                <a:solidFill>
                  <a:srgbClr val="0000FF"/>
                </a:solidFill>
                <a:latin typeface="+mn-ea"/>
                <a:ea typeface="+mn-ea"/>
              </a:rPr>
              <a:t>、</a:t>
            </a:r>
            <a:r>
              <a:rPr lang="zh-CN" altLang="en-US" sz="2400" b="1" dirty="0">
                <a:solidFill>
                  <a:srgbClr val="0000FF"/>
                </a:solidFill>
                <a:latin typeface="+mn-ea"/>
              </a:rPr>
              <a:t>数据仓库模型：企业仓库、数据集市、虚拟仓库</a:t>
            </a:r>
            <a:endParaRPr lang="en-US" altLang="zh-CN" sz="2400" b="1" dirty="0">
              <a:solidFill>
                <a:srgbClr val="0000FF"/>
              </a:solidFill>
              <a:latin typeface="+mn-ea"/>
            </a:endParaRPr>
          </a:p>
        </p:txBody>
      </p:sp>
      <p:sp>
        <p:nvSpPr>
          <p:cNvPr id="16388"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F83C4F9A-0ECA-42B8-AE1D-FF3990381BD7}" type="slidenum">
              <a:rPr lang="en-US" altLang="zh-CN" sz="1200" smtClean="0">
                <a:solidFill>
                  <a:srgbClr val="FFFFFF"/>
                </a:solidFill>
              </a:rPr>
            </a:fld>
            <a:endParaRPr lang="en-US" altLang="zh-CN" sz="1200">
              <a:solidFill>
                <a:srgbClr val="FFFFFF"/>
              </a:solidFill>
            </a:endParaRPr>
          </a:p>
        </p:txBody>
      </p:sp>
      <p:sp>
        <p:nvSpPr>
          <p:cNvPr id="5" name="矩形 4"/>
          <p:cNvSpPr/>
          <p:nvPr/>
        </p:nvSpPr>
        <p:spPr>
          <a:xfrm>
            <a:off x="903288" y="1998663"/>
            <a:ext cx="2971800" cy="2016125"/>
          </a:xfrm>
          <a:prstGeom prst="rect">
            <a:avLst/>
          </a:prstGeom>
          <a:ln w="28575">
            <a:solidFill>
              <a:srgbClr val="00B0F0"/>
            </a:solidFill>
          </a:ln>
        </p:spPr>
        <p:txBody>
          <a:bodyPr>
            <a:spAutoFit/>
          </a:bodyPr>
          <a:lstStyle/>
          <a:p>
            <a:pPr algn="just" defTabSz="869315" fontAlgn="auto">
              <a:lnSpc>
                <a:spcPts val="3000"/>
              </a:lnSpc>
              <a:spcAft>
                <a:spcPts val="0"/>
              </a:spcAft>
              <a:defRPr/>
            </a:pPr>
            <a:r>
              <a:rPr lang="zh-CN" altLang="en-US" sz="2000" b="1" dirty="0">
                <a:solidFill>
                  <a:srgbClr val="0000FF"/>
                </a:solidFill>
                <a:latin typeface="+mn-ea"/>
              </a:rPr>
              <a:t>自顶向下</a:t>
            </a:r>
            <a:r>
              <a:rPr lang="zh-CN" altLang="en-US" sz="2000" dirty="0">
                <a:latin typeface="+mn-ea"/>
              </a:rPr>
              <a:t>开发</a:t>
            </a:r>
            <a:r>
              <a:rPr lang="zh-CN" altLang="en-US" sz="2000" b="1" dirty="0">
                <a:solidFill>
                  <a:srgbClr val="FF00FF"/>
                </a:solidFill>
                <a:latin typeface="+mn-ea"/>
              </a:rPr>
              <a:t>企业仓库</a:t>
            </a:r>
            <a:r>
              <a:rPr lang="zh-CN" altLang="en-US" sz="2000" dirty="0">
                <a:solidFill>
                  <a:srgbClr val="FF0000"/>
                </a:solidFill>
                <a:latin typeface="+mn-ea"/>
              </a:rPr>
              <a:t>能最大限度地减少集成问题</a:t>
            </a:r>
            <a:r>
              <a:rPr lang="zh-CN" altLang="en-US" sz="2000" dirty="0">
                <a:latin typeface="+mn-ea"/>
              </a:rPr>
              <a:t>。</a:t>
            </a:r>
            <a:r>
              <a:rPr lang="zh-CN" altLang="en-US" sz="2000" b="1" dirty="0">
                <a:latin typeface="+mn-ea"/>
              </a:rPr>
              <a:t>然而，</a:t>
            </a:r>
            <a:r>
              <a:rPr lang="zh-CN" altLang="en-US" sz="2000" dirty="0">
                <a:latin typeface="+mn-ea"/>
              </a:rPr>
              <a:t>它</a:t>
            </a:r>
            <a:r>
              <a:rPr lang="zh-CN" altLang="en-US" sz="2000" dirty="0">
                <a:solidFill>
                  <a:srgbClr val="FF0000"/>
                </a:solidFill>
                <a:latin typeface="+mn-ea"/>
              </a:rPr>
              <a:t>费用高，开发周期长，并且缺乏灵活性</a:t>
            </a:r>
            <a:r>
              <a:rPr lang="zh-CN" altLang="en-US" sz="2000" dirty="0">
                <a:latin typeface="+mn-ea"/>
              </a:rPr>
              <a:t>。</a:t>
            </a:r>
            <a:endParaRPr lang="en-US" altLang="zh-CN" sz="2000" dirty="0">
              <a:latin typeface="+mn-ea"/>
            </a:endParaRPr>
          </a:p>
        </p:txBody>
      </p:sp>
      <p:sp>
        <p:nvSpPr>
          <p:cNvPr id="6" name="矩形 5"/>
          <p:cNvSpPr/>
          <p:nvPr/>
        </p:nvSpPr>
        <p:spPr>
          <a:xfrm>
            <a:off x="903288" y="4270375"/>
            <a:ext cx="2971800" cy="2786063"/>
          </a:xfrm>
          <a:prstGeom prst="rect">
            <a:avLst/>
          </a:prstGeom>
          <a:ln w="28575">
            <a:solidFill>
              <a:srgbClr val="00B0F0"/>
            </a:solidFill>
          </a:ln>
        </p:spPr>
        <p:txBody>
          <a:bodyPr>
            <a:spAutoFit/>
          </a:bodyPr>
          <a:lstStyle/>
          <a:p>
            <a:pPr algn="just" defTabSz="869315" fontAlgn="auto">
              <a:lnSpc>
                <a:spcPts val="3000"/>
              </a:lnSpc>
              <a:spcAft>
                <a:spcPts val="0"/>
              </a:spcAft>
              <a:defRPr/>
            </a:pPr>
            <a:r>
              <a:rPr lang="zh-CN" altLang="en-US" sz="2000" b="1" dirty="0">
                <a:solidFill>
                  <a:srgbClr val="0000FF"/>
                </a:solidFill>
                <a:latin typeface="+mn-ea"/>
              </a:rPr>
              <a:t>自底向上</a:t>
            </a:r>
            <a:r>
              <a:rPr lang="zh-CN" altLang="en-US" sz="2000" dirty="0">
                <a:latin typeface="+mn-ea"/>
              </a:rPr>
              <a:t>开发</a:t>
            </a:r>
            <a:r>
              <a:rPr lang="zh-CN" altLang="en-US" sz="2000" b="1" dirty="0">
                <a:solidFill>
                  <a:srgbClr val="FF00FF"/>
                </a:solidFill>
                <a:latin typeface="+mn-ea"/>
              </a:rPr>
              <a:t>数据集市</a:t>
            </a:r>
            <a:r>
              <a:rPr lang="zh-CN" altLang="en-US" sz="2000" dirty="0">
                <a:solidFill>
                  <a:srgbClr val="FF0000"/>
                </a:solidFill>
                <a:latin typeface="+mn-ea"/>
              </a:rPr>
              <a:t>提供了灵活性、低花费，并能快速回报投资</a:t>
            </a:r>
            <a:r>
              <a:rPr lang="zh-CN" altLang="en-US" sz="2000" dirty="0">
                <a:latin typeface="+mn-ea"/>
              </a:rPr>
              <a:t>。</a:t>
            </a:r>
            <a:r>
              <a:rPr lang="zh-CN" altLang="en-US" sz="2000" b="1" dirty="0">
                <a:latin typeface="+mn-ea"/>
              </a:rPr>
              <a:t>然而，</a:t>
            </a:r>
            <a:r>
              <a:rPr lang="zh-CN" altLang="en-US" sz="2000" dirty="0">
                <a:solidFill>
                  <a:srgbClr val="FF0000"/>
                </a:solidFill>
                <a:latin typeface="+mn-ea"/>
              </a:rPr>
              <a:t>将分散的数据集市集成，</a:t>
            </a:r>
            <a:r>
              <a:rPr lang="zh-CN" altLang="en-US" sz="2000" dirty="0">
                <a:latin typeface="+mn-ea"/>
              </a:rPr>
              <a:t>形成一个一致的企业数据仓库时，</a:t>
            </a:r>
            <a:r>
              <a:rPr lang="zh-CN" altLang="en-US" sz="2000" dirty="0">
                <a:solidFill>
                  <a:srgbClr val="FF0000"/>
                </a:solidFill>
                <a:latin typeface="+mn-ea"/>
              </a:rPr>
              <a:t>可能导致问题</a:t>
            </a:r>
            <a:r>
              <a:rPr lang="zh-CN" altLang="en-US" sz="2000" dirty="0">
                <a:latin typeface="+mn-ea"/>
              </a:rPr>
              <a:t>。</a:t>
            </a:r>
            <a:endParaRPr lang="zh-CN" altLang="en-US" sz="2000" dirty="0">
              <a:latin typeface="+mn-ea"/>
            </a:endParaRPr>
          </a:p>
        </p:txBody>
      </p:sp>
      <p:sp>
        <p:nvSpPr>
          <p:cNvPr id="8" name="矩形 7"/>
          <p:cNvSpPr/>
          <p:nvPr/>
        </p:nvSpPr>
        <p:spPr>
          <a:xfrm>
            <a:off x="4659313" y="2100263"/>
            <a:ext cx="4854575" cy="400050"/>
          </a:xfrm>
          <a:prstGeom prst="rect">
            <a:avLst/>
          </a:prstGeom>
          <a:solidFill>
            <a:schemeClr val="accent4">
              <a:lumMod val="20000"/>
              <a:lumOff val="80000"/>
            </a:schemeClr>
          </a:solidFill>
        </p:spPr>
        <p:txBody>
          <a:bodyPr>
            <a:spAutoFit/>
          </a:bodyPr>
          <a:lstStyle/>
          <a:p>
            <a:pPr>
              <a:defRPr/>
            </a:pPr>
            <a:r>
              <a:rPr lang="zh-CN" altLang="en-US" sz="2000" b="1" dirty="0"/>
              <a:t>推荐：</a:t>
            </a:r>
            <a:r>
              <a:rPr lang="zh-CN" altLang="en-US" sz="2000" b="1" dirty="0">
                <a:solidFill>
                  <a:srgbClr val="FF0000"/>
                </a:solidFill>
              </a:rPr>
              <a:t>以递增、进化的方式实现数据仓库</a:t>
            </a:r>
            <a:endParaRPr lang="zh-CN" altLang="en-US" sz="2000" b="1" dirty="0">
              <a:solidFill>
                <a:srgbClr val="FF0000"/>
              </a:solidFill>
            </a:endParaRPr>
          </a:p>
        </p:txBody>
      </p:sp>
      <p:cxnSp>
        <p:nvCxnSpPr>
          <p:cNvPr id="10" name="直接连接符 9"/>
          <p:cNvCxnSpPr>
            <a:stCxn id="5" idx="3"/>
          </p:cNvCxnSpPr>
          <p:nvPr/>
        </p:nvCxnSpPr>
        <p:spPr>
          <a:xfrm flipV="1">
            <a:off x="3875088" y="1846263"/>
            <a:ext cx="914400" cy="1160462"/>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3"/>
          </p:cNvCxnSpPr>
          <p:nvPr/>
        </p:nvCxnSpPr>
        <p:spPr>
          <a:xfrm>
            <a:off x="3875088" y="5664200"/>
            <a:ext cx="1219200" cy="120015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8618538" y="5524500"/>
            <a:ext cx="213518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r>
              <a:rPr lang="zh-CN" altLang="en-US" sz="2000" dirty="0"/>
              <a:t>在不同的主题和可能的应用之间，</a:t>
            </a:r>
            <a:r>
              <a:rPr lang="zh-CN" altLang="en-US" sz="2000" dirty="0">
                <a:solidFill>
                  <a:srgbClr val="FF0000"/>
                </a:solidFill>
              </a:rPr>
              <a:t>提供企业范围的、一致的、集成的数据视图</a:t>
            </a:r>
            <a:r>
              <a:rPr lang="zh-CN" altLang="en-US" sz="2000" dirty="0"/>
              <a:t>。</a:t>
            </a:r>
            <a:endParaRPr lang="zh-CN" altLang="en-US" sz="2000" dirty="0"/>
          </a:p>
        </p:txBody>
      </p:sp>
      <p:sp>
        <p:nvSpPr>
          <p:cNvPr id="19" name="矩形 18"/>
          <p:cNvSpPr>
            <a:spLocks noChangeArrowheads="1"/>
          </p:cNvSpPr>
          <p:nvPr/>
        </p:nvSpPr>
        <p:spPr bwMode="auto">
          <a:xfrm>
            <a:off x="8648700" y="4392613"/>
            <a:ext cx="2135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r>
              <a:rPr lang="zh-CN" altLang="en-US" sz="2000" dirty="0"/>
              <a:t>可以并行地实现</a:t>
            </a:r>
            <a:endParaRPr lang="zh-CN" altLang="en-US" sz="2000" dirty="0"/>
          </a:p>
        </p:txBody>
      </p:sp>
      <p:sp>
        <p:nvSpPr>
          <p:cNvPr id="20" name="矩形 19"/>
          <p:cNvSpPr>
            <a:spLocks noChangeArrowheads="1"/>
          </p:cNvSpPr>
          <p:nvPr/>
        </p:nvSpPr>
        <p:spPr bwMode="auto">
          <a:xfrm>
            <a:off x="8618538" y="3573463"/>
            <a:ext cx="2276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r>
              <a:rPr lang="zh-CN" altLang="en-US" dirty="0"/>
              <a:t>集成不同的数据集市</a:t>
            </a:r>
            <a:endParaRPr lang="zh-CN" altLang="en-US" dirty="0"/>
          </a:p>
        </p:txBody>
      </p:sp>
      <p:sp>
        <p:nvSpPr>
          <p:cNvPr id="16397" name="矩形 20"/>
          <p:cNvSpPr>
            <a:spLocks noChangeArrowheads="1"/>
          </p:cNvSpPr>
          <p:nvPr/>
        </p:nvSpPr>
        <p:spPr bwMode="auto">
          <a:xfrm>
            <a:off x="239713" y="2622550"/>
            <a:ext cx="544512"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r>
              <a:rPr lang="zh-CN" altLang="en-US" sz="2800"/>
              <a:t>数据仓库开发</a:t>
            </a:r>
            <a:endParaRPr lang="zh-CN" altLang="en-US" sz="2800"/>
          </a:p>
        </p:txBody>
      </p:sp>
      <p:pic>
        <p:nvPicPr>
          <p:cNvPr id="1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48138" y="2760663"/>
            <a:ext cx="4500562" cy="315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4117975" y="5524500"/>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00"/>
                </a:solidFill>
                <a:latin typeface="宋体" pitchFamily="2" charset="-122"/>
              </a:rPr>
              <a:t>①</a:t>
            </a:r>
            <a:endParaRPr lang="zh-CN" altLang="en-US" b="1">
              <a:solidFill>
                <a:srgbClr val="FF0000"/>
              </a:solidFill>
            </a:endParaRPr>
          </a:p>
        </p:txBody>
      </p:sp>
      <p:sp>
        <p:nvSpPr>
          <p:cNvPr id="3" name="矩形 2"/>
          <p:cNvSpPr>
            <a:spLocks noChangeArrowheads="1"/>
          </p:cNvSpPr>
          <p:nvPr/>
        </p:nvSpPr>
        <p:spPr bwMode="auto">
          <a:xfrm>
            <a:off x="4117975" y="4335463"/>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00"/>
                </a:solidFill>
                <a:latin typeface="仿宋" panose="02010609060101010101" pitchFamily="49" charset="-122"/>
                <a:ea typeface="仿宋" panose="02010609060101010101" pitchFamily="49" charset="-122"/>
              </a:rPr>
              <a:t>②</a:t>
            </a:r>
            <a:endParaRPr lang="zh-CN" altLang="en-US" b="1">
              <a:solidFill>
                <a:srgbClr val="FF0000"/>
              </a:solidFill>
            </a:endParaRPr>
          </a:p>
        </p:txBody>
      </p:sp>
      <p:sp>
        <p:nvSpPr>
          <p:cNvPr id="4" name="矩形 3"/>
          <p:cNvSpPr>
            <a:spLocks noChangeArrowheads="1"/>
          </p:cNvSpPr>
          <p:nvPr/>
        </p:nvSpPr>
        <p:spPr bwMode="auto">
          <a:xfrm>
            <a:off x="4117975" y="3389313"/>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FF0000"/>
                </a:solidFill>
                <a:latin typeface="仿宋" panose="02010609060101010101" pitchFamily="49" charset="-122"/>
                <a:ea typeface="仿宋" panose="02010609060101010101" pitchFamily="49" charset="-122"/>
              </a:rPr>
              <a:t>③</a:t>
            </a:r>
            <a:endParaRPr lang="zh-CN" altLang="en-US" b="1">
              <a:solidFill>
                <a:srgbClr val="FF0000"/>
              </a:solidFill>
            </a:endParaRPr>
          </a:p>
        </p:txBody>
      </p:sp>
      <p:sp>
        <p:nvSpPr>
          <p:cNvPr id="7" name="矩形 6"/>
          <p:cNvSpPr>
            <a:spLocks noChangeArrowheads="1"/>
          </p:cNvSpPr>
          <p:nvPr/>
        </p:nvSpPr>
        <p:spPr bwMode="auto">
          <a:xfrm>
            <a:off x="4117975" y="2857500"/>
            <a:ext cx="4286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rgbClr val="FF0000"/>
                </a:solidFill>
                <a:latin typeface="宋体" pitchFamily="2" charset="-122"/>
              </a:rPr>
              <a:t>④</a:t>
            </a:r>
            <a:endParaRPr lang="zh-CN" altLang="en-US" b="1">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5" grpId="0"/>
      <p:bldP spid="19" grpId="0"/>
      <p:bldP spid="20" grpId="0"/>
      <p:bldP spid="2" grpId="0"/>
      <p:bldP spid="3" grpId="0"/>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16389" name="Rectangle 3"/>
          <p:cNvSpPr>
            <a:spLocks noGrp="1" noChangeArrowheads="1"/>
          </p:cNvSpPr>
          <p:nvPr>
            <p:ph idx="1"/>
          </p:nvPr>
        </p:nvSpPr>
        <p:spPr>
          <a:xfrm>
            <a:off x="576263" y="1079500"/>
            <a:ext cx="9863137" cy="5351463"/>
          </a:xfrm>
        </p:spPr>
        <p:txBody>
          <a:bodyPr/>
          <a:lstStyle/>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4.1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数据仓库：基本概念</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rgbClr val="FF0000"/>
                </a:solidFill>
                <a:latin typeface="楷体" panose="02010609060101010101" pitchFamily="49" charset="-122"/>
                <a:ea typeface="楷体" panose="02010609060101010101" pitchFamily="49" charset="-122"/>
              </a:rPr>
              <a:t>4.2 </a:t>
            </a:r>
            <a:r>
              <a:rPr lang="zh-CN" altLang="en-US" sz="3600" b="1" dirty="0">
                <a:solidFill>
                  <a:srgbClr val="FF0000"/>
                </a:solidFill>
                <a:latin typeface="楷体" panose="02010609060101010101" pitchFamily="49" charset="-122"/>
                <a:ea typeface="楷体" panose="02010609060101010101" pitchFamily="49" charset="-122"/>
              </a:rPr>
              <a:t>数据仓库建模：数据立方体</a:t>
            </a:r>
            <a:r>
              <a:rPr lang="zh-CN" altLang="en-US" sz="3600" b="1" dirty="0">
                <a:solidFill>
                  <a:srgbClr val="FF0000"/>
                </a:solidFill>
                <a:latin typeface="Times New Roman" panose="02020503050405090304" pitchFamily="18" charset="0"/>
                <a:ea typeface="楷体" panose="02010609060101010101" pitchFamily="49" charset="-122"/>
                <a:cs typeface="Times New Roman" panose="02020503050405090304" pitchFamily="18" charset="0"/>
              </a:rPr>
              <a:t>与</a:t>
            </a:r>
            <a:r>
              <a:rPr lang="en-US" altLang="zh-CN" sz="3600" b="1" dirty="0">
                <a:solidFill>
                  <a:srgbClr val="FF0000"/>
                </a:solidFill>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3600" b="1" dirty="0">
              <a:solidFill>
                <a:srgbClr val="FF0000"/>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4.3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数据仓库的设计与使用</a:t>
            </a:r>
            <a:endParaRPr lang="en-US" altLang="zh-CN"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4.4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数据仓库的实现</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4.5 </a:t>
            </a:r>
            <a:r>
              <a:rPr lang="zh-CN" altLang="en-US" sz="3600" b="1" dirty="0">
                <a:solidFill>
                  <a:schemeClr val="bg1">
                    <a:lumMod val="75000"/>
                  </a:schemeClr>
                </a:solidFill>
                <a:latin typeface="楷体" panose="02010609060101010101" pitchFamily="49" charset="-122"/>
                <a:ea typeface="楷体" panose="02010609060101010101" pitchFamily="49" charset="-122"/>
              </a:rPr>
              <a:t>数据泛化：面向属性的归纳</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4.6 </a:t>
            </a:r>
            <a:r>
              <a:rPr lang="zh-CN" altLang="en-US" sz="3600" b="1"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325120" indent="-325120" defTabSz="869315" eaLnBrk="1" hangingPunct="1">
              <a:defRPr/>
            </a:pPr>
            <a:endParaRPr lang="en-US" altLang="zh-CN" sz="3050" b="1" dirty="0"/>
          </a:p>
        </p:txBody>
      </p:sp>
      <p:sp>
        <p:nvSpPr>
          <p:cNvPr id="18436"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613DE536-70CD-4AEB-9C71-8E0DCB354181}"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6400800" cy="5895975"/>
          </a:xfrm>
        </p:spPr>
        <p:txBody>
          <a:bodyPr>
            <a:normAutofit fontScale="92500" lnSpcReduction="20000"/>
          </a:bodyPr>
          <a:lstStyle/>
          <a:p>
            <a:pPr marL="0" indent="0" defTabSz="868680" eaLnBrk="1" hangingPunct="1">
              <a:buFont typeface="Arial" panose="020B0604020202090204" pitchFamily="34" charset="0"/>
              <a:buNone/>
              <a:defRPr/>
            </a:pPr>
            <a:r>
              <a:rPr lang="en-US" altLang="zh-CN" sz="2600" b="1" dirty="0">
                <a:solidFill>
                  <a:srgbClr val="0000FF"/>
                </a:solidFill>
                <a:latin typeface="+mn-ea"/>
                <a:ea typeface="+mn-ea"/>
              </a:rPr>
              <a:t>1</a:t>
            </a:r>
            <a:r>
              <a:rPr lang="zh-CN" altLang="en-US" sz="2600" b="1" dirty="0">
                <a:solidFill>
                  <a:srgbClr val="0000FF"/>
                </a:solidFill>
                <a:latin typeface="+mn-ea"/>
                <a:ea typeface="+mn-ea"/>
              </a:rPr>
              <a:t>、数据立方体：一种多维数据模型</a:t>
            </a:r>
            <a:endParaRPr lang="zh-CN" altLang="en-US" sz="2600" b="1" dirty="0">
              <a:solidFill>
                <a:srgbClr val="0000FF"/>
              </a:solidFill>
              <a:latin typeface="+mn-ea"/>
              <a:ea typeface="+mn-ea"/>
            </a:endParaRPr>
          </a:p>
          <a:p>
            <a:pPr marL="0" indent="0" defTabSz="868680" eaLnBrk="1" hangingPunct="1">
              <a:buFont typeface="Arial" panose="020B0604020202090204" pitchFamily="34" charset="0"/>
              <a:buNone/>
              <a:defRPr/>
            </a:pPr>
            <a:r>
              <a:rPr lang="zh-CN" altLang="en-US" sz="2400" b="1" dirty="0">
                <a:latin typeface="+mn-ea"/>
                <a:ea typeface="+mn-ea"/>
              </a:rPr>
              <a:t>数据立方体：</a:t>
            </a:r>
            <a:r>
              <a:rPr lang="zh-CN" altLang="en-US" sz="2400" dirty="0">
                <a:latin typeface="+mn-ea"/>
                <a:ea typeface="+mn-ea"/>
              </a:rPr>
              <a:t>允许以多维对数据建模和观察，它由</a:t>
            </a:r>
            <a:r>
              <a:rPr lang="zh-CN" altLang="en-US" sz="2400" b="1" dirty="0">
                <a:solidFill>
                  <a:srgbClr val="FF0000"/>
                </a:solidFill>
                <a:latin typeface="+mn-ea"/>
                <a:ea typeface="+mn-ea"/>
              </a:rPr>
              <a:t>维和事实</a:t>
            </a:r>
            <a:r>
              <a:rPr lang="zh-CN" altLang="en-US" sz="2400" dirty="0">
                <a:latin typeface="+mn-ea"/>
                <a:ea typeface="+mn-ea"/>
              </a:rPr>
              <a:t>定义。</a:t>
            </a:r>
            <a:endParaRPr lang="en-US" altLang="zh-CN" sz="2400" dirty="0">
              <a:latin typeface="+mn-ea"/>
              <a:ea typeface="+mn-ea"/>
            </a:endParaRPr>
          </a:p>
          <a:p>
            <a:pPr defTabSz="868680" eaLnBrk="1" hangingPunct="1">
              <a:lnSpc>
                <a:spcPct val="200000"/>
              </a:lnSpc>
              <a:buFont typeface="Wingdings" panose="05000000000000000000" pitchFamily="2" charset="2"/>
              <a:buChar char="Ø"/>
              <a:defRPr/>
            </a:pPr>
            <a:r>
              <a:rPr lang="zh-CN" altLang="en-US" sz="2400" b="1" dirty="0">
                <a:solidFill>
                  <a:srgbClr val="0000FF"/>
                </a:solidFill>
                <a:latin typeface="+mn-ea"/>
                <a:ea typeface="+mn-ea"/>
              </a:rPr>
              <a:t>维：</a:t>
            </a:r>
            <a:r>
              <a:rPr lang="zh-CN" altLang="en-US" sz="2400" dirty="0">
                <a:latin typeface="+mn-ea"/>
                <a:ea typeface="+mn-ea"/>
              </a:rPr>
              <a:t>是一个单位想要记录的</a:t>
            </a:r>
            <a:r>
              <a:rPr lang="zh-CN" altLang="en-US" sz="2400" dirty="0">
                <a:solidFill>
                  <a:srgbClr val="FF0000"/>
                </a:solidFill>
                <a:latin typeface="+mn-ea"/>
                <a:ea typeface="+mn-ea"/>
              </a:rPr>
              <a:t>透视或实体</a:t>
            </a:r>
            <a:r>
              <a:rPr lang="zh-CN" altLang="en-US" sz="2400" dirty="0">
                <a:latin typeface="+mn-ea"/>
                <a:ea typeface="+mn-ea"/>
              </a:rPr>
              <a:t>。</a:t>
            </a:r>
            <a:endParaRPr lang="en-US" altLang="zh-CN" sz="2400" dirty="0">
              <a:latin typeface="+mn-ea"/>
              <a:ea typeface="+mn-ea"/>
            </a:endParaRPr>
          </a:p>
          <a:p>
            <a:pPr defTabSz="868680" eaLnBrk="1" hangingPunct="1">
              <a:lnSpc>
                <a:spcPct val="200000"/>
              </a:lnSpc>
              <a:buFont typeface="Wingdings" panose="05000000000000000000" pitchFamily="2" charset="2"/>
              <a:buChar char="Ø"/>
              <a:defRPr/>
            </a:pPr>
            <a:r>
              <a:rPr lang="zh-CN" altLang="en-US" sz="2400" b="1" dirty="0">
                <a:solidFill>
                  <a:srgbClr val="0000FF"/>
                </a:solidFill>
                <a:latin typeface="+mn-ea"/>
                <a:ea typeface="+mn-ea"/>
              </a:rPr>
              <a:t>维表：</a:t>
            </a:r>
            <a:r>
              <a:rPr lang="zh-CN" altLang="en-US" sz="2400" dirty="0">
                <a:solidFill>
                  <a:srgbClr val="FF0000"/>
                </a:solidFill>
                <a:latin typeface="+mn-ea"/>
                <a:ea typeface="+mn-ea"/>
              </a:rPr>
              <a:t>每个维有一个与之相关的表</a:t>
            </a:r>
            <a:r>
              <a:rPr lang="zh-CN" altLang="en-US" sz="2400" dirty="0">
                <a:latin typeface="+mn-ea"/>
                <a:ea typeface="+mn-ea"/>
              </a:rPr>
              <a:t>，它将进一步描述维。</a:t>
            </a:r>
            <a:endParaRPr lang="en-US" altLang="zh-CN" sz="2400" dirty="0">
              <a:latin typeface="+mn-ea"/>
              <a:ea typeface="+mn-ea"/>
            </a:endParaRPr>
          </a:p>
          <a:p>
            <a:pPr defTabSz="868680" eaLnBrk="1" hangingPunct="1">
              <a:lnSpc>
                <a:spcPct val="200000"/>
              </a:lnSpc>
              <a:buFont typeface="Wingdings" panose="05000000000000000000" pitchFamily="2" charset="2"/>
              <a:buChar char="Ø"/>
              <a:defRPr/>
            </a:pPr>
            <a:r>
              <a:rPr lang="zh-CN" altLang="en-US" sz="2400" b="1" dirty="0">
                <a:solidFill>
                  <a:srgbClr val="0000FF"/>
                </a:solidFill>
                <a:latin typeface="+mn-ea"/>
                <a:ea typeface="+mn-ea"/>
              </a:rPr>
              <a:t>事实：</a:t>
            </a:r>
            <a:r>
              <a:rPr lang="zh-CN" altLang="en-US" sz="2400" dirty="0">
                <a:latin typeface="+mn-ea"/>
                <a:ea typeface="+mn-ea"/>
              </a:rPr>
              <a:t>是数值度量的。</a:t>
            </a:r>
            <a:endParaRPr lang="en-US" altLang="zh-CN" sz="2400" dirty="0">
              <a:latin typeface="+mn-ea"/>
              <a:ea typeface="+mn-ea"/>
            </a:endParaRPr>
          </a:p>
          <a:p>
            <a:pPr defTabSz="868680" eaLnBrk="1" hangingPunct="1">
              <a:lnSpc>
                <a:spcPct val="200000"/>
              </a:lnSpc>
              <a:buFont typeface="Wingdings" panose="05000000000000000000" pitchFamily="2" charset="2"/>
              <a:buChar char="Ø"/>
              <a:defRPr/>
            </a:pPr>
            <a:r>
              <a:rPr lang="zh-CN" altLang="en-US" sz="2400" b="1" dirty="0">
                <a:solidFill>
                  <a:srgbClr val="0000FF"/>
                </a:solidFill>
                <a:latin typeface="+mn-ea"/>
                <a:ea typeface="+mn-ea"/>
              </a:rPr>
              <a:t>事实表：</a:t>
            </a:r>
            <a:r>
              <a:rPr lang="zh-CN" altLang="en-US" sz="2400" dirty="0">
                <a:latin typeface="+mn-ea"/>
                <a:ea typeface="+mn-ea"/>
              </a:rPr>
              <a:t>包括事实的名称或度量，以及每个相关维表的码。</a:t>
            </a:r>
            <a:endParaRPr lang="en-US" altLang="zh-CN" sz="2400" dirty="0">
              <a:latin typeface="+mn-ea"/>
              <a:ea typeface="+mn-ea"/>
            </a:endParaRPr>
          </a:p>
          <a:p>
            <a:pPr marL="0" indent="0" defTabSz="868680" eaLnBrk="1" hangingPunct="1">
              <a:lnSpc>
                <a:spcPct val="200000"/>
              </a:lnSpc>
              <a:buFont typeface="Arial" panose="020B0604020202090204" pitchFamily="34" charset="0"/>
              <a:buNone/>
              <a:defRPr/>
            </a:pPr>
            <a:r>
              <a:rPr lang="zh-CN" altLang="en-US" sz="2400" b="1" dirty="0">
                <a:solidFill>
                  <a:srgbClr val="FF0000"/>
                </a:solidFill>
                <a:latin typeface="+mn-ea"/>
              </a:rPr>
              <a:t>  主题用事实表表示。</a:t>
            </a:r>
            <a:endParaRPr lang="en-US" altLang="zh-CN" sz="2400" b="1" dirty="0">
              <a:solidFill>
                <a:srgbClr val="FF0000"/>
              </a:solidFill>
              <a:latin typeface="+mn-ea"/>
            </a:endParaRPr>
          </a:p>
        </p:txBody>
      </p:sp>
      <p:sp>
        <p:nvSpPr>
          <p:cNvPr id="1946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D04AF45-E0A9-48D8-A35A-D332503CADAB}" type="slidenum">
              <a:rPr lang="en-US" altLang="zh-CN" sz="1200" smtClean="0">
                <a:solidFill>
                  <a:srgbClr val="FFFFFF"/>
                </a:solidFill>
              </a:rPr>
            </a:fld>
            <a:endParaRPr lang="en-US" altLang="zh-CN" sz="1200">
              <a:solidFill>
                <a:srgbClr val="FFFFFF"/>
              </a:solidFill>
            </a:endParaRPr>
          </a:p>
        </p:txBody>
      </p:sp>
      <p:sp>
        <p:nvSpPr>
          <p:cNvPr id="2" name="矩形 1"/>
          <p:cNvSpPr>
            <a:spLocks noChangeArrowheads="1"/>
          </p:cNvSpPr>
          <p:nvPr/>
        </p:nvSpPr>
        <p:spPr bwMode="auto">
          <a:xfrm>
            <a:off x="7304088" y="2476500"/>
            <a:ext cx="3159125" cy="646113"/>
          </a:xfrm>
          <a:prstGeom prst="rect">
            <a:avLst/>
          </a:prstGeom>
          <a:noFill/>
          <a:ln w="9525">
            <a:solidFill>
              <a:srgbClr val="00B05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zh-CN" altLang="en-US"/>
              <a:t>如商品的销售，涉及维</a:t>
            </a:r>
            <a:r>
              <a:rPr lang="en-US" altLang="zh-CN"/>
              <a:t>time</a:t>
            </a:r>
            <a:r>
              <a:rPr lang="zh-CN" altLang="en-US"/>
              <a:t>、</a:t>
            </a:r>
            <a:r>
              <a:rPr lang="en-US" altLang="zh-CN"/>
              <a:t>item</a:t>
            </a:r>
            <a:r>
              <a:rPr lang="zh-CN" altLang="en-US"/>
              <a:t>、</a:t>
            </a:r>
            <a:r>
              <a:rPr lang="en-US" altLang="zh-CN"/>
              <a:t>branch</a:t>
            </a:r>
            <a:r>
              <a:rPr lang="zh-CN" altLang="en-US"/>
              <a:t>、</a:t>
            </a:r>
            <a:r>
              <a:rPr lang="en-US" altLang="zh-CN"/>
              <a:t>location</a:t>
            </a:r>
            <a:r>
              <a:rPr lang="zh-CN" altLang="en-US"/>
              <a:t>。</a:t>
            </a:r>
            <a:endParaRPr lang="zh-CN" altLang="en-US"/>
          </a:p>
        </p:txBody>
      </p:sp>
      <p:sp>
        <p:nvSpPr>
          <p:cNvPr id="3" name="矩形 2"/>
          <p:cNvSpPr>
            <a:spLocks noChangeArrowheads="1"/>
          </p:cNvSpPr>
          <p:nvPr/>
        </p:nvSpPr>
        <p:spPr bwMode="auto">
          <a:xfrm>
            <a:off x="7305675" y="3394075"/>
            <a:ext cx="3152775" cy="647700"/>
          </a:xfrm>
          <a:prstGeom prst="rect">
            <a:avLst/>
          </a:prstGeom>
          <a:noFill/>
          <a:ln w="9525">
            <a:solidFill>
              <a:srgbClr val="00B050"/>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1" hangingPunct="1"/>
            <a:r>
              <a:rPr lang="zh-CN" altLang="en-US"/>
              <a:t>如，</a:t>
            </a:r>
            <a:r>
              <a:rPr lang="en-US" altLang="zh-CN"/>
              <a:t>item</a:t>
            </a:r>
            <a:r>
              <a:rPr lang="zh-CN" altLang="en-US"/>
              <a:t>的维表可以包含属性</a:t>
            </a:r>
            <a:r>
              <a:rPr lang="en-US" altLang="zh-CN"/>
              <a:t>item_name</a:t>
            </a:r>
            <a:r>
              <a:rPr lang="zh-CN" altLang="en-US"/>
              <a:t>、</a:t>
            </a:r>
            <a:r>
              <a:rPr lang="en-US" altLang="zh-CN"/>
              <a:t>brand</a:t>
            </a:r>
            <a:r>
              <a:rPr lang="zh-CN" altLang="en-US"/>
              <a:t>、</a:t>
            </a:r>
            <a:r>
              <a:rPr lang="en-US" altLang="zh-CN"/>
              <a:t>type</a:t>
            </a:r>
            <a:r>
              <a:rPr lang="zh-CN" altLang="en-US"/>
              <a:t>等。</a:t>
            </a:r>
            <a:endParaRPr lang="zh-CN" altLang="en-US"/>
          </a:p>
        </p:txBody>
      </p:sp>
      <p:sp>
        <p:nvSpPr>
          <p:cNvPr id="7" name="矩形 6"/>
          <p:cNvSpPr>
            <a:spLocks noChangeArrowheads="1"/>
          </p:cNvSpPr>
          <p:nvPr/>
        </p:nvSpPr>
        <p:spPr bwMode="auto">
          <a:xfrm>
            <a:off x="7304088" y="4437063"/>
            <a:ext cx="3159125" cy="1201737"/>
          </a:xfrm>
          <a:prstGeom prst="rect">
            <a:avLst/>
          </a:prstGeom>
          <a:noFill/>
          <a:ln w="9525">
            <a:solidFill>
              <a:srgbClr val="00B050"/>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1" hangingPunct="1"/>
            <a:r>
              <a:rPr lang="zh-CN" altLang="en-US"/>
              <a:t>例如，数据仓库</a:t>
            </a:r>
            <a:r>
              <a:rPr lang="en-US" altLang="zh-CN"/>
              <a:t>sales</a:t>
            </a:r>
            <a:r>
              <a:rPr lang="zh-CN" altLang="en-US"/>
              <a:t>的事实包括</a:t>
            </a:r>
            <a:r>
              <a:rPr lang="en-US" altLang="zh-CN"/>
              <a:t>dollars_sold(</a:t>
            </a:r>
            <a:r>
              <a:rPr lang="zh-CN" altLang="en-US"/>
              <a:t>销售额</a:t>
            </a:r>
            <a:r>
              <a:rPr lang="en-US" altLang="zh-CN"/>
              <a:t>)</a:t>
            </a:r>
            <a:r>
              <a:rPr lang="zh-CN" altLang="en-US"/>
              <a:t>、</a:t>
            </a:r>
            <a:r>
              <a:rPr lang="en-US" altLang="zh-CN"/>
              <a:t>units_sold(</a:t>
            </a:r>
            <a:r>
              <a:rPr lang="zh-CN" altLang="en-US"/>
              <a:t>销售量</a:t>
            </a:r>
            <a:r>
              <a:rPr lang="en-US" altLang="zh-CN"/>
              <a:t>)</a:t>
            </a:r>
            <a:r>
              <a:rPr lang="zh-CN" altLang="en-US"/>
              <a:t>、</a:t>
            </a:r>
            <a:r>
              <a:rPr lang="en-US" altLang="zh-CN"/>
              <a:t>amount_budgeted(</a:t>
            </a:r>
            <a:r>
              <a:rPr lang="zh-CN" altLang="en-US"/>
              <a:t>预算额</a:t>
            </a:r>
            <a:r>
              <a:rPr lang="en-US" altLang="zh-CN"/>
              <a:t>)</a:t>
            </a:r>
            <a:r>
              <a:rPr lang="zh-CN" altLang="en-US"/>
              <a:t>。</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7064375" cy="5895975"/>
          </a:xfrm>
        </p:spPr>
        <p:txBody>
          <a:bodyPr>
            <a:normAutofit/>
          </a:bodyPr>
          <a:lstStyle/>
          <a:p>
            <a:pPr marL="0" indent="0" defTabSz="868680" eaLnBrk="1" hangingPunct="1">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、数据立方体：一种多维数据模型</a:t>
            </a:r>
            <a:endParaRPr lang="en-US" altLang="zh-CN" sz="2400" b="1" dirty="0">
              <a:solidFill>
                <a:srgbClr val="0000FF"/>
              </a:solidFill>
              <a:latin typeface="+mn-ea"/>
              <a:ea typeface="+mn-ea"/>
            </a:endParaRPr>
          </a:p>
          <a:p>
            <a:pPr marL="0" indent="0" defTabSz="868680" eaLnBrk="1" hangingPunct="1">
              <a:buFont typeface="Arial" panose="020B0604020202090204" pitchFamily="34" charset="0"/>
              <a:buNone/>
              <a:defRPr/>
            </a:pPr>
            <a:r>
              <a:rPr lang="zh-CN" altLang="en-US" sz="2400" b="1" dirty="0">
                <a:latin typeface="+mn-ea"/>
                <a:ea typeface="+mn-ea"/>
              </a:rPr>
              <a:t>例子：</a:t>
            </a:r>
            <a:endParaRPr lang="zh-CN" altLang="en-US" sz="2400" b="1" dirty="0">
              <a:latin typeface="+mn-ea"/>
              <a:ea typeface="+mn-ea"/>
            </a:endParaRPr>
          </a:p>
        </p:txBody>
      </p:sp>
      <p:sp>
        <p:nvSpPr>
          <p:cNvPr id="20484" name="灯片编号占位符 5"/>
          <p:cNvSpPr>
            <a:spLocks noGrp="1" noChangeArrowheads="1"/>
          </p:cNvSpPr>
          <p:nvPr>
            <p:ph type="sldNum" sz="quarter" idx="10"/>
          </p:nvPr>
        </p:nvSpPr>
        <p:spPr bwMode="auto">
          <a:xfrm>
            <a:off x="7883525" y="6672263"/>
            <a:ext cx="2520950" cy="384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494C8791-C570-40E0-BF58-98FFAFF9C1FA}" type="slidenum">
              <a:rPr lang="en-US" altLang="zh-CN" sz="1200" smtClean="0">
                <a:solidFill>
                  <a:srgbClr val="FFFFFF"/>
                </a:solidFill>
              </a:rPr>
            </a:fld>
            <a:endParaRPr lang="en-US" altLang="zh-CN" sz="1200">
              <a:solidFill>
                <a:srgbClr val="FFFFFF"/>
              </a:solidFill>
            </a:endParaRPr>
          </a:p>
        </p:txBody>
      </p:sp>
      <p:pic>
        <p:nvPicPr>
          <p:cNvPr id="2048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19275" y="1771650"/>
            <a:ext cx="7008813"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6038" y="4297363"/>
            <a:ext cx="8456612"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963738" y="4594225"/>
            <a:ext cx="1828800" cy="22733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p:cNvSpPr/>
          <p:nvPr/>
        </p:nvSpPr>
        <p:spPr>
          <a:xfrm>
            <a:off x="3898900" y="4594225"/>
            <a:ext cx="1828800" cy="22733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矩形 12"/>
          <p:cNvSpPr/>
          <p:nvPr/>
        </p:nvSpPr>
        <p:spPr>
          <a:xfrm>
            <a:off x="5830888" y="4594225"/>
            <a:ext cx="1828800" cy="22733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p:cNvSpPr/>
          <p:nvPr/>
        </p:nvSpPr>
        <p:spPr>
          <a:xfrm>
            <a:off x="7823200" y="4594225"/>
            <a:ext cx="1828800" cy="22733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右箭头 14"/>
          <p:cNvSpPr/>
          <p:nvPr/>
        </p:nvSpPr>
        <p:spPr>
          <a:xfrm rot="5400000">
            <a:off x="2239169" y="4169569"/>
            <a:ext cx="265112" cy="190500"/>
          </a:xfrm>
          <a:prstGeom prst="rightArrow">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810000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6934200" cy="2058987"/>
          </a:xfrm>
        </p:spPr>
        <p:txBody>
          <a:bodyPr>
            <a:normAutofit/>
          </a:bodyPr>
          <a:lstStyle/>
          <a:p>
            <a:pPr marL="0" indent="0" defTabSz="868680" eaLnBrk="1" hangingPunct="1">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、数据立方体：一种多维数据模型</a:t>
            </a:r>
            <a:endParaRPr lang="en-US" altLang="zh-CN" sz="2400" b="1" dirty="0">
              <a:solidFill>
                <a:srgbClr val="0000FF"/>
              </a:solidFill>
              <a:latin typeface="+mn-ea"/>
              <a:ea typeface="+mn-ea"/>
            </a:endParaRPr>
          </a:p>
          <a:p>
            <a:pPr marL="0" indent="0" defTabSz="868680" eaLnBrk="1" hangingPunct="1">
              <a:buFont typeface="Arial" panose="020B0604020202090204" pitchFamily="34" charset="0"/>
              <a:buNone/>
              <a:defRPr/>
            </a:pPr>
            <a:r>
              <a:rPr lang="zh-CN" altLang="en-US" sz="2400" b="1" dirty="0">
                <a:latin typeface="+mn-ea"/>
                <a:ea typeface="+mn-ea"/>
              </a:rPr>
              <a:t>例子：</a:t>
            </a:r>
            <a:endParaRPr lang="zh-CN" altLang="en-US" sz="2400" b="1" dirty="0">
              <a:latin typeface="+mn-ea"/>
              <a:ea typeface="+mn-ea"/>
            </a:endParaRPr>
          </a:p>
        </p:txBody>
      </p:sp>
      <p:sp>
        <p:nvSpPr>
          <p:cNvPr id="22532"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15DD3C44-BD25-498D-9F4F-D10BE208A589}" type="slidenum">
              <a:rPr lang="en-US" altLang="zh-CN" sz="1200" smtClean="0">
                <a:solidFill>
                  <a:srgbClr val="FFFFFF"/>
                </a:solidFill>
              </a:rPr>
            </a:fld>
            <a:endParaRPr lang="en-US" altLang="zh-CN" sz="1200">
              <a:solidFill>
                <a:srgbClr val="FFFFFF"/>
              </a:solidFill>
            </a:endParaRPr>
          </a:p>
        </p:txBody>
      </p:sp>
      <p:pic>
        <p:nvPicPr>
          <p:cNvPr id="2253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19275" y="1771650"/>
            <a:ext cx="7008813"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2100" y="4246563"/>
            <a:ext cx="30543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9500" y="4265613"/>
            <a:ext cx="7146925"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右箭头 9"/>
          <p:cNvSpPr/>
          <p:nvPr/>
        </p:nvSpPr>
        <p:spPr>
          <a:xfrm>
            <a:off x="3346450" y="5275263"/>
            <a:ext cx="492125" cy="228600"/>
          </a:xfrm>
          <a:prstGeom prst="rightArrow">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810000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右箭头 16"/>
          <p:cNvSpPr/>
          <p:nvPr/>
        </p:nvSpPr>
        <p:spPr>
          <a:xfrm rot="5400000">
            <a:off x="2239169" y="4169569"/>
            <a:ext cx="265112" cy="190500"/>
          </a:xfrm>
          <a:prstGeom prst="rightArrow">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810000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矩形 10"/>
          <p:cNvSpPr>
            <a:spLocks noChangeArrowheads="1"/>
          </p:cNvSpPr>
          <p:nvPr/>
        </p:nvSpPr>
        <p:spPr bwMode="auto">
          <a:xfrm>
            <a:off x="7189788" y="1092200"/>
            <a:ext cx="3276600" cy="646113"/>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t>把任意</a:t>
            </a:r>
            <a:r>
              <a:rPr lang="en-US" altLang="zh-CN"/>
              <a:t>n</a:t>
            </a:r>
            <a:r>
              <a:rPr lang="zh-CN" altLang="en-US"/>
              <a:t>维数据立方体显示成（</a:t>
            </a:r>
            <a:r>
              <a:rPr lang="en-US" altLang="zh-CN"/>
              <a:t>n-1</a:t>
            </a:r>
            <a:r>
              <a:rPr lang="zh-CN" altLang="en-US"/>
              <a:t>）维“立方体”的序列。</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7064375" cy="5895975"/>
          </a:xfrm>
        </p:spPr>
        <p:txBody>
          <a:bodyPr>
            <a:normAutofit/>
          </a:bodyPr>
          <a:lstStyle/>
          <a:p>
            <a:pPr marL="0" indent="0" defTabSz="868680" eaLnBrk="1" hangingPunct="1">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、数据立方体：一种多维数据模型</a:t>
            </a:r>
            <a:endParaRPr lang="zh-CN" altLang="en-US" sz="2400" b="1" dirty="0">
              <a:solidFill>
                <a:srgbClr val="0000FF"/>
              </a:solidFill>
              <a:latin typeface="+mn-ea"/>
              <a:ea typeface="+mn-ea"/>
            </a:endParaRPr>
          </a:p>
        </p:txBody>
      </p:sp>
      <p:sp>
        <p:nvSpPr>
          <p:cNvPr id="2458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BF5016D6-64E4-4A31-AD2E-CDEF3ECA3DE5}" type="slidenum">
              <a:rPr lang="en-US" altLang="zh-CN" sz="1200" smtClean="0">
                <a:solidFill>
                  <a:srgbClr val="FFFFFF"/>
                </a:solidFill>
              </a:rPr>
            </a:fld>
            <a:endParaRPr lang="en-US" altLang="zh-CN" sz="1200">
              <a:solidFill>
                <a:srgbClr val="FFFFFF"/>
              </a:solidFill>
            </a:endParaRPr>
          </a:p>
        </p:txBody>
      </p:sp>
      <p:sp>
        <p:nvSpPr>
          <p:cNvPr id="21509" name="矩形 6"/>
          <p:cNvSpPr>
            <a:spLocks noChangeArrowheads="1"/>
          </p:cNvSpPr>
          <p:nvPr/>
        </p:nvSpPr>
        <p:spPr bwMode="auto">
          <a:xfrm>
            <a:off x="7650163" y="6138863"/>
            <a:ext cx="2733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t>存放最底层汇总的方体</a:t>
            </a:r>
            <a:endParaRPr lang="zh-CN" altLang="en-US"/>
          </a:p>
        </p:txBody>
      </p:sp>
      <p:pic>
        <p:nvPicPr>
          <p:cNvPr id="24582"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9888" y="2151063"/>
            <a:ext cx="6386512" cy="435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矩形 8"/>
          <p:cNvSpPr>
            <a:spLocks noChangeArrowheads="1"/>
          </p:cNvSpPr>
          <p:nvPr/>
        </p:nvSpPr>
        <p:spPr bwMode="auto">
          <a:xfrm>
            <a:off x="7627938" y="1379538"/>
            <a:ext cx="2667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rgbClr val="FF0000"/>
                </a:solidFill>
              </a:rPr>
              <a:t>数据立方体也称作方体</a:t>
            </a:r>
            <a:endParaRPr lang="zh-CN" altLang="en-US" b="1">
              <a:solidFill>
                <a:srgbClr val="FF0000"/>
              </a:solidFill>
            </a:endParaRPr>
          </a:p>
        </p:txBody>
      </p:sp>
      <p:sp>
        <p:nvSpPr>
          <p:cNvPr id="21512" name="矩形 9"/>
          <p:cNvSpPr>
            <a:spLocks noChangeArrowheads="1"/>
          </p:cNvSpPr>
          <p:nvPr/>
        </p:nvSpPr>
        <p:spPr bwMode="auto">
          <a:xfrm>
            <a:off x="7605713" y="2070100"/>
            <a:ext cx="23764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a:t>存放最高层的汇总</a:t>
            </a:r>
            <a:endParaRPr lang="en-US" altLang="zh-CN"/>
          </a:p>
          <a:p>
            <a:pPr eaLnBrk="1" hangingPunct="1"/>
            <a:r>
              <a:rPr lang="zh-CN" altLang="en-US"/>
              <a:t>如总销售</a:t>
            </a:r>
            <a:r>
              <a:rPr lang="en-US" altLang="zh-CN"/>
              <a:t>dollars_sold</a:t>
            </a:r>
            <a:endParaRPr lang="zh-CN" altLang="en-US"/>
          </a:p>
        </p:txBody>
      </p:sp>
      <p:sp>
        <p:nvSpPr>
          <p:cNvPr id="2" name="矩形 1"/>
          <p:cNvSpPr/>
          <p:nvPr/>
        </p:nvSpPr>
        <p:spPr>
          <a:xfrm>
            <a:off x="3089557" y="2175447"/>
            <a:ext cx="304792" cy="3056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p:bldP spid="21512" grpId="0"/>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585325" cy="5895975"/>
          </a:xfrm>
        </p:spPr>
        <p:txBody>
          <a:bodyPr>
            <a:normAutofit fontScale="92500" lnSpcReduction="10000"/>
          </a:bodyPr>
          <a:lstStyle/>
          <a:p>
            <a:pPr marL="0" indent="0" defTabSz="868680" eaLnBrk="1" hangingPunct="1">
              <a:buFont typeface="Arial" panose="020B0604020202090204" pitchFamily="34" charset="0"/>
              <a:buNone/>
              <a:defRPr/>
            </a:pPr>
            <a:r>
              <a:rPr lang="en-US" altLang="zh-CN" sz="2600" b="1" dirty="0">
                <a:solidFill>
                  <a:srgbClr val="0000FF"/>
                </a:solidFill>
                <a:latin typeface="+mn-ea"/>
                <a:ea typeface="+mn-ea"/>
              </a:rPr>
              <a:t>2</a:t>
            </a:r>
            <a:r>
              <a:rPr lang="zh-CN" altLang="en-US" sz="2600" b="1" dirty="0">
                <a:solidFill>
                  <a:srgbClr val="0000FF"/>
                </a:solidFill>
                <a:latin typeface="+mn-ea"/>
                <a:ea typeface="+mn-ea"/>
              </a:rPr>
              <a:t>、星形、雪花形和事实星座：多维数据模型的模式</a:t>
            </a:r>
            <a:endParaRPr lang="en-US" altLang="zh-CN" sz="2600" b="1" dirty="0">
              <a:solidFill>
                <a:srgbClr val="0000FF"/>
              </a:solidFill>
              <a:latin typeface="+mn-ea"/>
              <a:ea typeface="+mn-ea"/>
            </a:endParaRPr>
          </a:p>
          <a:p>
            <a:pPr marL="0" indent="0" defTabSz="868680" eaLnBrk="1" hangingPunct="1">
              <a:buFont typeface="Arial" panose="020B0604020202090204" pitchFamily="34" charset="0"/>
              <a:buNone/>
              <a:defRPr/>
            </a:pPr>
            <a:r>
              <a:rPr lang="zh-CN" altLang="en-US" sz="2400" dirty="0">
                <a:latin typeface="+mn-ea"/>
                <a:ea typeface="+mn-ea"/>
              </a:rPr>
              <a:t>最流行的数据仓库的数据模型是</a:t>
            </a:r>
            <a:r>
              <a:rPr lang="zh-CN" altLang="en-US" sz="2400" b="1" dirty="0">
                <a:solidFill>
                  <a:srgbClr val="FF0000"/>
                </a:solidFill>
                <a:latin typeface="+mn-ea"/>
                <a:ea typeface="+mn-ea"/>
              </a:rPr>
              <a:t>多维数据模型</a:t>
            </a:r>
            <a:r>
              <a:rPr lang="zh-CN" altLang="en-US" sz="2400" dirty="0">
                <a:latin typeface="+mn-ea"/>
                <a:ea typeface="+mn-ea"/>
              </a:rPr>
              <a:t>，这种数据模型可以是</a:t>
            </a:r>
            <a:r>
              <a:rPr lang="zh-CN" altLang="en-US" sz="2400" dirty="0">
                <a:solidFill>
                  <a:srgbClr val="FF0000"/>
                </a:solidFill>
                <a:latin typeface="+mn-ea"/>
                <a:ea typeface="+mn-ea"/>
              </a:rPr>
              <a:t>星形模式、雪花模式或事实星座模式</a:t>
            </a:r>
            <a:r>
              <a:rPr lang="zh-CN" altLang="en-US" sz="2400" dirty="0">
                <a:latin typeface="+mn-ea"/>
                <a:ea typeface="+mn-ea"/>
              </a:rPr>
              <a:t>。</a:t>
            </a:r>
            <a:endParaRPr lang="en-US" altLang="zh-CN" sz="2400" dirty="0">
              <a:latin typeface="+mn-ea"/>
              <a:ea typeface="+mn-ea"/>
            </a:endParaRPr>
          </a:p>
          <a:p>
            <a:pPr defTabSz="868680" eaLnBrk="1" hangingPunct="1">
              <a:buFont typeface="Wingdings" panose="05000000000000000000" pitchFamily="2" charset="2"/>
              <a:buChar char="Ø"/>
              <a:defRPr/>
            </a:pPr>
            <a:r>
              <a:rPr lang="zh-CN" altLang="en-US" sz="2400" b="1" dirty="0">
                <a:solidFill>
                  <a:srgbClr val="0000FF"/>
                </a:solidFill>
                <a:latin typeface="+mn-ea"/>
                <a:ea typeface="+mn-ea"/>
              </a:rPr>
              <a:t>星形模式</a:t>
            </a:r>
            <a:r>
              <a:rPr lang="zh-CN" altLang="en-US" sz="2400" dirty="0">
                <a:solidFill>
                  <a:srgbClr val="0000FF"/>
                </a:solidFill>
                <a:latin typeface="+mn-ea"/>
                <a:ea typeface="+mn-ea"/>
              </a:rPr>
              <a:t>：</a:t>
            </a:r>
            <a:r>
              <a:rPr lang="zh-CN" altLang="en-US" sz="2400" dirty="0">
                <a:latin typeface="+mn-ea"/>
                <a:ea typeface="+mn-ea"/>
              </a:rPr>
              <a:t>最常见的模型范型，</a:t>
            </a:r>
            <a:r>
              <a:rPr lang="zh-CN" altLang="en-US" sz="2400" dirty="0">
                <a:solidFill>
                  <a:srgbClr val="FF0000"/>
                </a:solidFill>
                <a:latin typeface="+mn-ea"/>
                <a:ea typeface="+mn-ea"/>
              </a:rPr>
              <a:t>包含一个事实表和多个维表</a:t>
            </a:r>
            <a:r>
              <a:rPr lang="zh-CN" altLang="en-US" sz="2400" dirty="0">
                <a:latin typeface="+mn-ea"/>
                <a:ea typeface="+mn-ea"/>
              </a:rPr>
              <a:t>。</a:t>
            </a:r>
            <a:r>
              <a:rPr lang="zh-CN" altLang="en-US" sz="2400" dirty="0">
                <a:solidFill>
                  <a:srgbClr val="0000FF"/>
                </a:solidFill>
                <a:latin typeface="+mn-ea"/>
                <a:ea typeface="+mn-ea"/>
              </a:rPr>
              <a:t>（数据集市）</a:t>
            </a:r>
            <a:endParaRPr lang="en-US" altLang="zh-CN" sz="2400" dirty="0">
              <a:solidFill>
                <a:srgbClr val="0000FF"/>
              </a:solidFill>
              <a:latin typeface="+mn-ea"/>
              <a:ea typeface="+mn-ea"/>
            </a:endParaRPr>
          </a:p>
          <a:p>
            <a:pPr defTabSz="868680">
              <a:buFont typeface="Wingdings" panose="05000000000000000000" pitchFamily="2" charset="2"/>
              <a:buChar char="Ø"/>
              <a:defRPr/>
            </a:pPr>
            <a:r>
              <a:rPr lang="zh-CN" altLang="en-US" sz="2400" b="1" dirty="0">
                <a:solidFill>
                  <a:srgbClr val="0000FF"/>
                </a:solidFill>
                <a:latin typeface="+mn-ea"/>
                <a:ea typeface="+mn-ea"/>
              </a:rPr>
              <a:t>雪花模式</a:t>
            </a:r>
            <a:r>
              <a:rPr lang="zh-CN" altLang="en-US" sz="2400" dirty="0">
                <a:solidFill>
                  <a:srgbClr val="0000FF"/>
                </a:solidFill>
                <a:latin typeface="+mn-ea"/>
                <a:ea typeface="+mn-ea"/>
              </a:rPr>
              <a:t>：</a:t>
            </a:r>
            <a:r>
              <a:rPr lang="zh-CN" altLang="en-US" sz="2400" dirty="0">
                <a:latin typeface="+mn-ea"/>
                <a:ea typeface="+mn-ea"/>
              </a:rPr>
              <a:t>是星形模式的变种，其中</a:t>
            </a:r>
            <a:r>
              <a:rPr lang="zh-CN" altLang="en-US" sz="2400" dirty="0">
                <a:solidFill>
                  <a:srgbClr val="FF0000"/>
                </a:solidFill>
                <a:latin typeface="+mn-ea"/>
                <a:ea typeface="+mn-ea"/>
              </a:rPr>
              <a:t>某些维表被规范化</a:t>
            </a:r>
            <a:r>
              <a:rPr lang="zh-CN" altLang="en-US" sz="2400" dirty="0">
                <a:latin typeface="+mn-ea"/>
                <a:ea typeface="+mn-ea"/>
              </a:rPr>
              <a:t>，因而把数据进一步分解到附加的表中。</a:t>
            </a:r>
            <a:r>
              <a:rPr lang="zh-CN" altLang="en-US" sz="2400" dirty="0">
                <a:solidFill>
                  <a:srgbClr val="0000FF"/>
                </a:solidFill>
                <a:latin typeface="+mn-ea"/>
                <a:ea typeface="+mn-ea"/>
              </a:rPr>
              <a:t>（数据集市）</a:t>
            </a:r>
            <a:endParaRPr lang="en-US" altLang="zh-CN" sz="2400" dirty="0">
              <a:solidFill>
                <a:srgbClr val="0000FF"/>
              </a:solidFill>
              <a:latin typeface="+mn-ea"/>
              <a:ea typeface="+mn-ea"/>
            </a:endParaRPr>
          </a:p>
          <a:p>
            <a:pPr defTabSz="868680">
              <a:buFont typeface="Wingdings" panose="05000000000000000000" pitchFamily="2" charset="2"/>
              <a:buChar char="Ø"/>
              <a:defRPr/>
            </a:pPr>
            <a:endParaRPr lang="en-US" altLang="zh-CN" sz="2400" dirty="0">
              <a:solidFill>
                <a:srgbClr val="0000FF"/>
              </a:solidFill>
              <a:latin typeface="+mn-ea"/>
              <a:ea typeface="+mn-ea"/>
            </a:endParaRPr>
          </a:p>
          <a:p>
            <a:pPr defTabSz="868680">
              <a:buFont typeface="Wingdings" panose="05000000000000000000" pitchFamily="2" charset="2"/>
              <a:buChar char="Ø"/>
              <a:defRPr/>
            </a:pPr>
            <a:endParaRPr lang="en-US" altLang="zh-CN" sz="2400" dirty="0">
              <a:solidFill>
                <a:srgbClr val="0000FF"/>
              </a:solidFill>
              <a:latin typeface="+mn-ea"/>
              <a:ea typeface="+mn-ea"/>
            </a:endParaRPr>
          </a:p>
          <a:p>
            <a:pPr defTabSz="868680">
              <a:buFont typeface="Wingdings" panose="05000000000000000000" pitchFamily="2" charset="2"/>
              <a:buChar char="Ø"/>
              <a:defRPr/>
            </a:pPr>
            <a:endParaRPr lang="en-US" altLang="zh-CN" sz="2400" dirty="0">
              <a:solidFill>
                <a:srgbClr val="0000FF"/>
              </a:solidFill>
              <a:latin typeface="+mn-ea"/>
              <a:ea typeface="+mn-ea"/>
            </a:endParaRPr>
          </a:p>
          <a:p>
            <a:pPr defTabSz="868680">
              <a:buFont typeface="Wingdings" panose="05000000000000000000" pitchFamily="2" charset="2"/>
              <a:buChar char="Ø"/>
              <a:defRPr/>
            </a:pPr>
            <a:endParaRPr lang="zh-CN" altLang="en-US" sz="2400" dirty="0">
              <a:solidFill>
                <a:srgbClr val="0000FF"/>
              </a:solidFill>
              <a:latin typeface="+mn-ea"/>
              <a:ea typeface="+mn-ea"/>
            </a:endParaRPr>
          </a:p>
          <a:p>
            <a:pPr defTabSz="868680">
              <a:buFont typeface="Wingdings" panose="05000000000000000000" pitchFamily="2" charset="2"/>
              <a:buChar char="Ø"/>
              <a:defRPr/>
            </a:pPr>
            <a:r>
              <a:rPr lang="zh-CN" altLang="en-US" sz="2400" b="1" dirty="0">
                <a:solidFill>
                  <a:srgbClr val="0000FF"/>
                </a:solidFill>
                <a:latin typeface="+mn-ea"/>
                <a:ea typeface="+mn-ea"/>
              </a:rPr>
              <a:t>事实星座：</a:t>
            </a:r>
            <a:r>
              <a:rPr lang="zh-CN" altLang="en-US" sz="2400" dirty="0">
                <a:latin typeface="+mn-ea"/>
                <a:ea typeface="+mn-ea"/>
              </a:rPr>
              <a:t>复杂的应用可能需要</a:t>
            </a:r>
            <a:r>
              <a:rPr lang="zh-CN" altLang="en-US" sz="2400" dirty="0">
                <a:solidFill>
                  <a:srgbClr val="FF0000"/>
                </a:solidFill>
                <a:latin typeface="+mn-ea"/>
                <a:ea typeface="+mn-ea"/>
              </a:rPr>
              <a:t>多个事实表共享维表</a:t>
            </a:r>
            <a:r>
              <a:rPr lang="zh-CN" altLang="en-US" sz="2400" dirty="0">
                <a:latin typeface="+mn-ea"/>
                <a:ea typeface="+mn-ea"/>
              </a:rPr>
              <a:t>。这种模式可以看做星形模式的汇集，因此称为星系模式或者事实星座。</a:t>
            </a:r>
            <a:r>
              <a:rPr lang="zh-CN" altLang="en-US" sz="2400" dirty="0">
                <a:solidFill>
                  <a:srgbClr val="0000FF"/>
                </a:solidFill>
                <a:latin typeface="+mn-ea"/>
                <a:ea typeface="+mn-ea"/>
              </a:rPr>
              <a:t>（数据仓库）</a:t>
            </a:r>
            <a:endParaRPr lang="zh-CN" altLang="en-US" sz="2400" dirty="0">
              <a:solidFill>
                <a:srgbClr val="0000FF"/>
              </a:solidFill>
              <a:latin typeface="+mn-ea"/>
              <a:ea typeface="+mn-ea"/>
            </a:endParaRPr>
          </a:p>
          <a:p>
            <a:pPr marL="0" indent="0" defTabSz="868680" eaLnBrk="1" hangingPunct="1">
              <a:buFont typeface="Arial" panose="020B0604020202090204" pitchFamily="34" charset="0"/>
              <a:buNone/>
              <a:defRPr/>
            </a:pPr>
            <a:endParaRPr lang="zh-CN" altLang="en-US" sz="2400" b="1" dirty="0">
              <a:solidFill>
                <a:srgbClr val="0000FF"/>
              </a:solidFill>
              <a:latin typeface="+mn-ea"/>
              <a:ea typeface="+mn-ea"/>
            </a:endParaRPr>
          </a:p>
        </p:txBody>
      </p:sp>
      <p:sp>
        <p:nvSpPr>
          <p:cNvPr id="26628"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23889A79-A279-4515-A025-251E2DAD7339}" type="slidenum">
              <a:rPr lang="en-US" altLang="zh-CN" sz="1200" smtClean="0">
                <a:solidFill>
                  <a:srgbClr val="FFFFFF"/>
                </a:solidFill>
              </a:rPr>
            </a:fld>
            <a:endParaRPr lang="en-US" altLang="zh-CN" sz="1200">
              <a:solidFill>
                <a:srgbClr val="FFFFFF"/>
              </a:solidFill>
            </a:endParaRPr>
          </a:p>
        </p:txBody>
      </p:sp>
      <p:sp>
        <p:nvSpPr>
          <p:cNvPr id="2" name="矩形 1"/>
          <p:cNvSpPr/>
          <p:nvPr/>
        </p:nvSpPr>
        <p:spPr>
          <a:xfrm>
            <a:off x="981075" y="4167188"/>
            <a:ext cx="9278938" cy="1631950"/>
          </a:xfrm>
          <a:prstGeom prst="rect">
            <a:avLst/>
          </a:prstGeom>
          <a:solidFill>
            <a:schemeClr val="bg2">
              <a:lumMod val="90000"/>
            </a:schemeClr>
          </a:solidFill>
        </p:spPr>
        <p:txBody>
          <a:bodyPr>
            <a:spAutoFit/>
          </a:bodyPr>
          <a:lstStyle/>
          <a:p>
            <a:pPr>
              <a:lnSpc>
                <a:spcPts val="3000"/>
              </a:lnSpc>
              <a:defRPr/>
            </a:pPr>
            <a:r>
              <a:rPr lang="zh-CN" altLang="en-US" sz="1900" b="1" dirty="0">
                <a:latin typeface="+mn-ea"/>
              </a:rPr>
              <a:t>雪花模式与星形模式的主要不同在于：</a:t>
            </a:r>
            <a:endParaRPr lang="en-US" altLang="zh-CN" sz="1900" b="1" dirty="0">
              <a:latin typeface="+mn-ea"/>
            </a:endParaRPr>
          </a:p>
          <a:p>
            <a:pPr marL="342900" indent="-342900">
              <a:lnSpc>
                <a:spcPts val="3000"/>
              </a:lnSpc>
              <a:buFont typeface="Arial" panose="020B0604020202090204" pitchFamily="34" charset="0"/>
              <a:buChar char="•"/>
              <a:defRPr/>
            </a:pPr>
            <a:r>
              <a:rPr lang="zh-CN" altLang="en-US" dirty="0">
                <a:latin typeface="+mn-ea"/>
              </a:rPr>
              <a:t>雪花模式的维表是规范化形式，以便减少冗余，这种表</a:t>
            </a:r>
            <a:r>
              <a:rPr lang="zh-CN" altLang="en-US" dirty="0">
                <a:solidFill>
                  <a:srgbClr val="FF0000"/>
                </a:solidFill>
                <a:latin typeface="+mn-ea"/>
              </a:rPr>
              <a:t>易于维护并且节省存储空间</a:t>
            </a:r>
            <a:r>
              <a:rPr lang="zh-CN" altLang="en-US" dirty="0">
                <a:latin typeface="+mn-ea"/>
              </a:rPr>
              <a:t>。</a:t>
            </a:r>
            <a:endParaRPr lang="en-US" altLang="zh-CN" dirty="0">
              <a:latin typeface="+mn-ea"/>
            </a:endParaRPr>
          </a:p>
          <a:p>
            <a:pPr marL="342900" indent="-342900">
              <a:lnSpc>
                <a:spcPts val="3000"/>
              </a:lnSpc>
              <a:buFont typeface="Arial" panose="020B0604020202090204" pitchFamily="34" charset="0"/>
              <a:buChar char="•"/>
              <a:defRPr/>
            </a:pPr>
            <a:r>
              <a:rPr lang="zh-CN" altLang="en-US" dirty="0">
                <a:latin typeface="+mn-ea"/>
              </a:rPr>
              <a:t>雪花结构由于执行查询需要更多的连接操作，</a:t>
            </a:r>
            <a:r>
              <a:rPr lang="zh-CN" altLang="en-US" dirty="0">
                <a:solidFill>
                  <a:srgbClr val="FF0000"/>
                </a:solidFill>
                <a:latin typeface="+mn-ea"/>
              </a:rPr>
              <a:t>可能降低浏览的效率</a:t>
            </a:r>
            <a:r>
              <a:rPr lang="zh-CN" altLang="en-US" dirty="0">
                <a:latin typeface="+mn-ea"/>
              </a:rPr>
              <a:t>。</a:t>
            </a:r>
            <a:endParaRPr lang="en-US" altLang="zh-CN" dirty="0">
              <a:latin typeface="+mn-ea"/>
            </a:endParaRPr>
          </a:p>
          <a:p>
            <a:pPr>
              <a:lnSpc>
                <a:spcPts val="3000"/>
              </a:lnSpc>
              <a:defRPr/>
            </a:pPr>
            <a:r>
              <a:rPr lang="zh-CN" altLang="en-US" sz="1900" b="1" dirty="0">
                <a:solidFill>
                  <a:srgbClr val="FF0000"/>
                </a:solidFill>
                <a:latin typeface="+mn-ea"/>
              </a:rPr>
              <a:t>雪花模式不如星形模式流行。</a:t>
            </a:r>
            <a:endParaRPr lang="zh-CN" altLang="en-US" sz="1900" b="1"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0" y="-42863"/>
            <a:ext cx="10799763" cy="1050926"/>
          </a:xfrm>
        </p:spPr>
        <p:txBody>
          <a:bodyPr/>
          <a:lstStyle/>
          <a:p>
            <a:pPr defTabSz="869315" eaLnBrk="1" hangingPunct="1">
              <a:defRPr/>
            </a:pPr>
            <a:r>
              <a:rPr lang="zh-CN" altLang="en-US" b="1" dirty="0"/>
              <a:t>    </a:t>
            </a:r>
            <a:r>
              <a:rPr lang="zh-CN" altLang="en-US" sz="4400" b="1" dirty="0">
                <a:latin typeface="楷体" panose="02010609060101010101" pitchFamily="49" charset="-122"/>
                <a:ea typeface="楷体" panose="02010609060101010101" pitchFamily="49" charset="-122"/>
              </a:rPr>
              <a:t>星形模式的例子</a:t>
            </a:r>
            <a:endParaRPr lang="zh-CN" altLang="en-US" sz="4400" b="1" dirty="0">
              <a:latin typeface="楷体" panose="02010609060101010101" pitchFamily="49" charset="-122"/>
              <a:ea typeface="楷体" panose="02010609060101010101" pitchFamily="49" charset="-122"/>
            </a:endParaRPr>
          </a:p>
        </p:txBody>
      </p:sp>
      <p:pic>
        <p:nvPicPr>
          <p:cNvPr id="28675" name="Picture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262063" y="1389063"/>
            <a:ext cx="8274050" cy="5099050"/>
          </a:xfrm>
        </p:spPr>
      </p:pic>
      <p:sp>
        <p:nvSpPr>
          <p:cNvPr id="28676"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55C56DE-016F-4389-8B03-7127410466A5}" type="slidenum">
              <a:rPr lang="en-US" altLang="zh-CN" sz="1200" smtClean="0">
                <a:solidFill>
                  <a:srgbClr val="FFFFFF"/>
                </a:solidFill>
              </a:rPr>
            </a:fld>
            <a:endParaRPr lang="en-US" altLang="zh-CN" sz="1200">
              <a:solidFill>
                <a:srgbClr val="FFFFFF"/>
              </a:solidFill>
            </a:endParaRPr>
          </a:p>
        </p:txBody>
      </p:sp>
      <p:sp>
        <p:nvSpPr>
          <p:cNvPr id="2" name="矩形 1"/>
          <p:cNvSpPr/>
          <p:nvPr/>
        </p:nvSpPr>
        <p:spPr>
          <a:xfrm>
            <a:off x="2459038" y="1238250"/>
            <a:ext cx="58674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42863"/>
            <a:ext cx="10799763" cy="1050926"/>
          </a:xfrm>
        </p:spPr>
        <p:txBody>
          <a:bodyPr/>
          <a:lstStyle/>
          <a:p>
            <a:pPr defTabSz="869315" eaLnBrk="1" hangingPunct="1">
              <a:defRPr/>
            </a:pPr>
            <a:r>
              <a:rPr lang="zh-CN" altLang="en-US" b="1" dirty="0"/>
              <a:t>    </a:t>
            </a:r>
            <a:r>
              <a:rPr lang="zh-CN" altLang="en-US" sz="4400" b="1" dirty="0">
                <a:latin typeface="楷体" panose="02010609060101010101" pitchFamily="49" charset="-122"/>
                <a:ea typeface="楷体" panose="02010609060101010101" pitchFamily="49" charset="-122"/>
              </a:rPr>
              <a:t>雪花模式的例子</a:t>
            </a:r>
            <a:endParaRPr lang="zh-CN" altLang="en-US" sz="4400" b="1" dirty="0">
              <a:latin typeface="楷体" panose="02010609060101010101" pitchFamily="49" charset="-122"/>
              <a:ea typeface="楷体" panose="02010609060101010101" pitchFamily="49" charset="-122"/>
            </a:endParaRPr>
          </a:p>
        </p:txBody>
      </p:sp>
      <p:pic>
        <p:nvPicPr>
          <p:cNvPr id="29699" name="Picture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295400" y="1693863"/>
            <a:ext cx="8207375" cy="4724400"/>
          </a:xfrm>
        </p:spPr>
      </p:pic>
      <p:sp>
        <p:nvSpPr>
          <p:cNvPr id="2970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9F8CEC5-4DAD-4CE7-B74A-C54AA0C7A725}" type="slidenum">
              <a:rPr lang="en-US" altLang="zh-CN" sz="1200" smtClean="0">
                <a:solidFill>
                  <a:srgbClr val="FFFFFF"/>
                </a:solidFill>
              </a:rPr>
            </a:fld>
            <a:endParaRPr lang="en-US" altLang="zh-CN" sz="1200">
              <a:solidFill>
                <a:srgbClr val="FFFFFF"/>
              </a:solidFill>
            </a:endParaRPr>
          </a:p>
        </p:txBody>
      </p:sp>
      <p:sp>
        <p:nvSpPr>
          <p:cNvPr id="5" name="矩形 4"/>
          <p:cNvSpPr/>
          <p:nvPr/>
        </p:nvSpPr>
        <p:spPr>
          <a:xfrm>
            <a:off x="2419350" y="1503363"/>
            <a:ext cx="58674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0" y="-42863"/>
            <a:ext cx="10799763" cy="1050926"/>
          </a:xfrm>
        </p:spPr>
        <p:txBody>
          <a:bodyPr/>
          <a:lstStyle/>
          <a:p>
            <a:pPr defTabSz="869315" eaLnBrk="1" hangingPunct="1">
              <a:defRPr/>
            </a:pPr>
            <a:r>
              <a:rPr lang="zh-CN" altLang="en-US" b="1" dirty="0"/>
              <a:t>    </a:t>
            </a:r>
            <a:r>
              <a:rPr lang="zh-CN" altLang="en-US" sz="4400" b="1" dirty="0">
                <a:latin typeface="楷体" panose="02010609060101010101" pitchFamily="49" charset="-122"/>
                <a:ea typeface="楷体" panose="02010609060101010101" pitchFamily="49" charset="-122"/>
              </a:rPr>
              <a:t>事实星座模式的例子</a:t>
            </a:r>
            <a:endParaRPr lang="zh-CN" altLang="en-US" sz="4400" b="1" dirty="0">
              <a:latin typeface="楷体" panose="02010609060101010101" pitchFamily="49" charset="-122"/>
              <a:ea typeface="楷体" panose="02010609060101010101" pitchFamily="49" charset="-122"/>
            </a:endParaRPr>
          </a:p>
        </p:txBody>
      </p:sp>
      <p:pic>
        <p:nvPicPr>
          <p:cNvPr id="30723" name="Picture 6"/>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308100" y="1617663"/>
            <a:ext cx="8183563" cy="4941887"/>
          </a:xfrm>
        </p:spPr>
      </p:pic>
      <p:sp>
        <p:nvSpPr>
          <p:cNvPr id="30724"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0D5BAE3C-CB2A-47CF-B54E-A79B2D792094}" type="slidenum">
              <a:rPr lang="en-US" altLang="zh-CN" sz="1200" smtClean="0">
                <a:solidFill>
                  <a:srgbClr val="FFFFFF"/>
                </a:solidFill>
              </a:rPr>
            </a:fld>
            <a:endParaRPr lang="en-US" altLang="zh-CN" sz="1200">
              <a:solidFill>
                <a:srgbClr val="FFFFFF"/>
              </a:solidFill>
            </a:endParaRPr>
          </a:p>
        </p:txBody>
      </p:sp>
      <p:sp>
        <p:nvSpPr>
          <p:cNvPr id="5" name="矩形 4"/>
          <p:cNvSpPr/>
          <p:nvPr/>
        </p:nvSpPr>
        <p:spPr>
          <a:xfrm>
            <a:off x="2436813" y="1465263"/>
            <a:ext cx="5865812"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6629400" cy="3429000"/>
          </a:xfrm>
        </p:spPr>
        <p:txBody>
          <a:bodyPr>
            <a:normAutofit/>
          </a:bodyPr>
          <a:lstStyle/>
          <a:p>
            <a:pPr marL="0" indent="0" defTabSz="868680" eaLnBrk="1" hangingPunct="1">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、维：概念分层的作用</a:t>
            </a:r>
            <a:endParaRPr lang="en-US" altLang="zh-CN" sz="2400" b="1" dirty="0">
              <a:solidFill>
                <a:srgbClr val="0000FF"/>
              </a:solidFill>
              <a:latin typeface="+mn-ea"/>
              <a:ea typeface="+mn-ea"/>
            </a:endParaRPr>
          </a:p>
          <a:p>
            <a:pPr marL="0" indent="0" defTabSz="868680" eaLnBrk="1" hangingPunct="1">
              <a:buFont typeface="Arial" panose="020B0604020202090204" pitchFamily="34" charset="0"/>
              <a:buNone/>
              <a:defRPr/>
            </a:pPr>
            <a:r>
              <a:rPr lang="zh-CN" altLang="en-US" sz="2000" b="1" dirty="0">
                <a:latin typeface="+mn-ea"/>
                <a:ea typeface="+mn-ea"/>
              </a:rPr>
              <a:t>概念分层：</a:t>
            </a:r>
            <a:r>
              <a:rPr lang="zh-CN" altLang="en-US" sz="2000" dirty="0">
                <a:latin typeface="+mn-ea"/>
                <a:ea typeface="+mn-ea"/>
              </a:rPr>
              <a:t>定义一个映射序列，将低层概率集映射到较高层、更一般的概念。</a:t>
            </a:r>
            <a:endParaRPr lang="en-US" altLang="zh-CN" sz="2000" dirty="0">
              <a:latin typeface="+mn-ea"/>
              <a:ea typeface="+mn-ea"/>
            </a:endParaRPr>
          </a:p>
          <a:p>
            <a:pPr marL="354330" lvl="1" indent="-354330" defTabSz="868680" eaLnBrk="1" hangingPunct="1">
              <a:buFont typeface="Wingdings" panose="05000000000000000000" pitchFamily="2" charset="2"/>
              <a:buChar char="Ø"/>
              <a:defRPr/>
            </a:pPr>
            <a:r>
              <a:rPr lang="zh-CN" altLang="en-US" sz="2000" b="1" dirty="0">
                <a:latin typeface="+mn-ea"/>
                <a:ea typeface="+mn-ea"/>
              </a:rPr>
              <a:t>模式分层：</a:t>
            </a:r>
            <a:r>
              <a:rPr lang="zh-CN" altLang="en-US" sz="2000" dirty="0">
                <a:latin typeface="+mn-ea"/>
                <a:ea typeface="+mn-ea"/>
              </a:rPr>
              <a:t>形成数据库模式中属性的</a:t>
            </a:r>
            <a:r>
              <a:rPr lang="zh-CN" altLang="en-US" sz="2000" dirty="0">
                <a:solidFill>
                  <a:srgbClr val="FF0000"/>
                </a:solidFill>
                <a:latin typeface="+mn-ea"/>
                <a:ea typeface="+mn-ea"/>
              </a:rPr>
              <a:t>全序或偏序的概念分层</a:t>
            </a:r>
            <a:r>
              <a:rPr lang="zh-CN" altLang="en-US" sz="2000" dirty="0">
                <a:latin typeface="+mn-ea"/>
                <a:ea typeface="+mn-ea"/>
              </a:rPr>
              <a:t>。</a:t>
            </a:r>
            <a:endParaRPr lang="en-US" altLang="zh-CN" sz="2000" dirty="0">
              <a:latin typeface="+mn-ea"/>
              <a:ea typeface="+mn-ea"/>
            </a:endParaRPr>
          </a:p>
          <a:p>
            <a:pPr marL="354330" lvl="1" indent="-354330" defTabSz="868680" eaLnBrk="1" hangingPunct="1">
              <a:buFont typeface="Wingdings" panose="05000000000000000000" pitchFamily="2" charset="2"/>
              <a:buChar char="Ø"/>
              <a:defRPr/>
            </a:pPr>
            <a:r>
              <a:rPr lang="zh-CN" altLang="en-US" sz="2000" b="1" dirty="0">
                <a:latin typeface="+mn-ea"/>
                <a:ea typeface="+mn-ea"/>
              </a:rPr>
              <a:t>集合分组分层：</a:t>
            </a:r>
            <a:r>
              <a:rPr lang="zh-CN" altLang="en-US" sz="2000" dirty="0">
                <a:latin typeface="+mn-ea"/>
                <a:ea typeface="+mn-ea"/>
              </a:rPr>
              <a:t>将给定维或属性的</a:t>
            </a:r>
            <a:r>
              <a:rPr lang="zh-CN" altLang="en-US" sz="2000" dirty="0">
                <a:solidFill>
                  <a:srgbClr val="FF0000"/>
                </a:solidFill>
                <a:latin typeface="+mn-ea"/>
                <a:ea typeface="+mn-ea"/>
              </a:rPr>
              <a:t>值离散化或分组</a:t>
            </a:r>
            <a:r>
              <a:rPr lang="zh-CN" altLang="en-US" sz="2000" dirty="0">
                <a:latin typeface="+mn-ea"/>
                <a:ea typeface="+mn-ea"/>
              </a:rPr>
              <a:t>来定义概念分层。</a:t>
            </a:r>
            <a:endParaRPr lang="zh-CN" altLang="en-US" sz="2000" dirty="0">
              <a:latin typeface="+mn-ea"/>
              <a:ea typeface="+mn-ea"/>
            </a:endParaRPr>
          </a:p>
        </p:txBody>
      </p:sp>
      <p:sp>
        <p:nvSpPr>
          <p:cNvPr id="31748"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4E591176-4F28-4D8F-B40C-E8980075F998}" type="slidenum">
              <a:rPr lang="en-US" altLang="zh-CN" sz="1200" smtClean="0">
                <a:solidFill>
                  <a:srgbClr val="FFFFFF"/>
                </a:solidFill>
              </a:rPr>
            </a:fld>
            <a:endParaRPr lang="en-US" altLang="zh-CN" sz="1200">
              <a:solidFill>
                <a:srgbClr val="FFFFFF"/>
              </a:solidFill>
            </a:endParaRPr>
          </a:p>
        </p:txBody>
      </p:sp>
      <p:grpSp>
        <p:nvGrpSpPr>
          <p:cNvPr id="4" name="组合 3"/>
          <p:cNvGrpSpPr/>
          <p:nvPr/>
        </p:nvGrpSpPr>
        <p:grpSpPr bwMode="auto">
          <a:xfrm>
            <a:off x="7869238" y="1831975"/>
            <a:ext cx="2260600" cy="3201988"/>
            <a:chOff x="8295481" y="1160463"/>
            <a:chExt cx="2259925" cy="3202783"/>
          </a:xfrm>
        </p:grpSpPr>
        <p:pic>
          <p:nvPicPr>
            <p:cNvPr id="3175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95481" y="1160463"/>
              <a:ext cx="1600200" cy="277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8524013" y="4025024"/>
              <a:ext cx="2031393" cy="338222"/>
            </a:xfrm>
            <a:prstGeom prst="rect">
              <a:avLst/>
            </a:prstGeom>
          </p:spPr>
          <p:txBody>
            <a:bodyPr wrap="none">
              <a:spAutoFit/>
            </a:bodyPr>
            <a:lstStyle/>
            <a:p>
              <a:pPr>
                <a:defRPr/>
              </a:pPr>
              <a:r>
                <a:rPr lang="en-US" altLang="zh-CN" sz="1600" dirty="0">
                  <a:latin typeface="+mn-ea"/>
                  <a:ea typeface="+mn-ea"/>
                </a:rPr>
                <a:t>location</a:t>
              </a:r>
              <a:r>
                <a:rPr lang="zh-CN" altLang="en-US" sz="1600" dirty="0">
                  <a:latin typeface="+mn-ea"/>
                  <a:ea typeface="+mn-ea"/>
                </a:rPr>
                <a:t>的层次结构</a:t>
              </a:r>
              <a:endParaRPr lang="zh-CN" altLang="en-US" sz="1600" dirty="0">
                <a:latin typeface="+mn-ea"/>
                <a:ea typeface="+mn-ea"/>
              </a:endParaRPr>
            </a:p>
          </p:txBody>
        </p:sp>
      </p:grpSp>
      <p:sp>
        <p:nvSpPr>
          <p:cNvPr id="6" name="矩形 5"/>
          <p:cNvSpPr/>
          <p:nvPr/>
        </p:nvSpPr>
        <p:spPr>
          <a:xfrm>
            <a:off x="7002463" y="5300663"/>
            <a:ext cx="3333750" cy="1323975"/>
          </a:xfrm>
          <a:prstGeom prst="rect">
            <a:avLst/>
          </a:prstGeom>
          <a:solidFill>
            <a:schemeClr val="accent1">
              <a:lumMod val="40000"/>
              <a:lumOff val="60000"/>
            </a:schemeClr>
          </a:solidFill>
        </p:spPr>
        <p:txBody>
          <a:bodyPr>
            <a:spAutoFit/>
          </a:bodyPr>
          <a:lstStyle/>
          <a:p>
            <a:pPr eaLnBrk="1" hangingPunct="1">
              <a:buFont typeface="Arial" panose="020B0604020202090204" pitchFamily="34" charset="0"/>
              <a:buNone/>
              <a:defRPr/>
            </a:pPr>
            <a:r>
              <a:rPr lang="zh-CN" altLang="en-US" sz="2000" dirty="0">
                <a:latin typeface="+mn-ea"/>
              </a:rPr>
              <a:t>概念分层可以由系统用户、领域专家、知识工程师</a:t>
            </a:r>
            <a:r>
              <a:rPr lang="zh-CN" altLang="en-US" sz="2000" dirty="0">
                <a:solidFill>
                  <a:srgbClr val="FF0000"/>
                </a:solidFill>
                <a:latin typeface="+mn-ea"/>
              </a:rPr>
              <a:t>人工地提供</a:t>
            </a:r>
            <a:r>
              <a:rPr lang="zh-CN" altLang="en-US" sz="2000" dirty="0">
                <a:latin typeface="+mn-ea"/>
              </a:rPr>
              <a:t>，或根据数据分布的统计分析</a:t>
            </a:r>
            <a:r>
              <a:rPr lang="zh-CN" altLang="en-US" sz="2000" dirty="0">
                <a:solidFill>
                  <a:srgbClr val="FF0000"/>
                </a:solidFill>
                <a:latin typeface="+mn-ea"/>
              </a:rPr>
              <a:t>自动地产生</a:t>
            </a:r>
            <a:r>
              <a:rPr lang="zh-CN" altLang="en-US" sz="2000" dirty="0">
                <a:latin typeface="+mn-ea"/>
              </a:rPr>
              <a:t>。</a:t>
            </a:r>
            <a:endParaRPr lang="zh-CN" altLang="en-US" sz="2000" dirty="0">
              <a:latin typeface="+mn-ea"/>
            </a:endParaRPr>
          </a:p>
        </p:txBody>
      </p:sp>
      <p:grpSp>
        <p:nvGrpSpPr>
          <p:cNvPr id="7" name="组合 6"/>
          <p:cNvGrpSpPr/>
          <p:nvPr/>
        </p:nvGrpSpPr>
        <p:grpSpPr bwMode="auto">
          <a:xfrm>
            <a:off x="903288" y="4741863"/>
            <a:ext cx="5638800" cy="2182812"/>
            <a:chOff x="904081" y="4742656"/>
            <a:chExt cx="5638095" cy="2182056"/>
          </a:xfrm>
        </p:grpSpPr>
        <p:pic>
          <p:nvPicPr>
            <p:cNvPr id="31753"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081" y="4742656"/>
              <a:ext cx="5638095" cy="1819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2707256" y="6586692"/>
              <a:ext cx="1723809" cy="338020"/>
            </a:xfrm>
            <a:prstGeom prst="rect">
              <a:avLst/>
            </a:prstGeom>
          </p:spPr>
          <p:txBody>
            <a:bodyPr wrap="none">
              <a:spAutoFit/>
            </a:bodyPr>
            <a:lstStyle/>
            <a:p>
              <a:pPr>
                <a:defRPr/>
              </a:pPr>
              <a:r>
                <a:rPr lang="en-US" altLang="zh-CN" sz="1600" dirty="0">
                  <a:latin typeface="+mn-ea"/>
                  <a:ea typeface="+mn-ea"/>
                </a:rPr>
                <a:t>price</a:t>
              </a:r>
              <a:r>
                <a:rPr lang="zh-CN" altLang="en-US" sz="1600" dirty="0">
                  <a:latin typeface="+mn-ea"/>
                  <a:ea typeface="+mn-ea"/>
                </a:rPr>
                <a:t>的概念结构</a:t>
              </a:r>
              <a:endParaRPr lang="zh-CN" altLang="en-US" sz="1600" dirty="0">
                <a:latin typeface="+mn-ea"/>
                <a:ea typeface="+mn-ea"/>
              </a:endParaRPr>
            </a:p>
          </p:txBody>
        </p:sp>
      </p:grpSp>
      <p:sp>
        <p:nvSpPr>
          <p:cNvPr id="2" name="矩形 1"/>
          <p:cNvSpPr/>
          <p:nvPr/>
        </p:nvSpPr>
        <p:spPr>
          <a:xfrm>
            <a:off x="4562475" y="1177925"/>
            <a:ext cx="5210175" cy="522288"/>
          </a:xfrm>
          <a:prstGeom prst="rect">
            <a:avLst/>
          </a:prstGeom>
          <a:solidFill>
            <a:schemeClr val="accent6">
              <a:lumMod val="60000"/>
              <a:lumOff val="40000"/>
            </a:schemeClr>
          </a:solidFill>
        </p:spPr>
        <p:txBody>
          <a:bodyPr wrap="none">
            <a:spAutoFit/>
          </a:bodyPr>
          <a:lstStyle/>
          <a:p>
            <a:pPr algn="ctr">
              <a:defRPr/>
            </a:pPr>
            <a:r>
              <a:rPr lang="zh-CN" altLang="en-US" sz="2800" b="1" dirty="0"/>
              <a:t>目的：</a:t>
            </a:r>
            <a:r>
              <a:rPr lang="zh-CN" altLang="en-US" sz="2800" dirty="0">
                <a:solidFill>
                  <a:srgbClr val="FF0000"/>
                </a:solidFill>
              </a:rPr>
              <a:t>在各种抽象层处理数据。</a:t>
            </a:r>
            <a:endParaRPr lang="zh-CN" altLang="en-US" sz="2800"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585325" cy="5895975"/>
          </a:xfrm>
        </p:spPr>
        <p:txBody>
          <a:bodyPr>
            <a:normAutofit fontScale="92500"/>
          </a:bodyPr>
          <a:lstStyle/>
          <a:p>
            <a:pPr marL="0" indent="0" defTabSz="868680" eaLnBrk="1" hangingPunct="1">
              <a:buFont typeface="Arial" panose="020B0604020202090204" pitchFamily="34" charset="0"/>
              <a:buNone/>
              <a:defRPr/>
            </a:pPr>
            <a:r>
              <a:rPr lang="en-US" altLang="zh-CN" sz="2600" b="1" dirty="0">
                <a:solidFill>
                  <a:srgbClr val="0000FF"/>
                </a:solidFill>
                <a:latin typeface="+mn-ea"/>
                <a:ea typeface="+mn-ea"/>
              </a:rPr>
              <a:t>4</a:t>
            </a:r>
            <a:r>
              <a:rPr lang="zh-CN" altLang="en-US" sz="2600" b="1" dirty="0">
                <a:solidFill>
                  <a:srgbClr val="0000FF"/>
                </a:solidFill>
                <a:latin typeface="+mn-ea"/>
                <a:ea typeface="+mn-ea"/>
              </a:rPr>
              <a:t>、度量的分类和计算</a:t>
            </a:r>
            <a:endParaRPr lang="en-US" altLang="zh-CN" sz="26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solidFill>
                  <a:srgbClr val="FF0000"/>
                </a:solidFill>
                <a:latin typeface="+mn-ea"/>
                <a:ea typeface="+mn-ea"/>
              </a:rPr>
              <a:t>数据立方体度量是一个数值函数</a:t>
            </a:r>
            <a:r>
              <a:rPr lang="zh-CN" altLang="en-US" sz="2400" dirty="0">
                <a:latin typeface="+mn-ea"/>
                <a:ea typeface="+mn-ea"/>
              </a:rPr>
              <a:t>，该函数可以对数据立方体空间的每个点求值。度量根据其所用的</a:t>
            </a:r>
            <a:r>
              <a:rPr lang="zh-CN" altLang="en-US" sz="2400" b="1" dirty="0">
                <a:latin typeface="+mn-ea"/>
                <a:ea typeface="+mn-ea"/>
              </a:rPr>
              <a:t>聚集函数</a:t>
            </a:r>
            <a:r>
              <a:rPr lang="zh-CN" altLang="en-US" sz="2400" dirty="0">
                <a:latin typeface="+mn-ea"/>
                <a:ea typeface="+mn-ea"/>
              </a:rPr>
              <a:t>可以分成三类：</a:t>
            </a:r>
            <a:r>
              <a:rPr lang="zh-CN" altLang="en-US" sz="2400" dirty="0">
                <a:solidFill>
                  <a:srgbClr val="FF0000"/>
                </a:solidFill>
                <a:latin typeface="+mn-ea"/>
                <a:ea typeface="+mn-ea"/>
              </a:rPr>
              <a:t>分布的、代数的、整体的</a:t>
            </a:r>
            <a:r>
              <a:rPr lang="zh-CN" altLang="en-US" sz="2400" dirty="0">
                <a:latin typeface="+mn-ea"/>
                <a:ea typeface="+mn-ea"/>
              </a:rPr>
              <a:t>。</a:t>
            </a:r>
            <a:endParaRPr lang="zh-CN" altLang="en-US" sz="2400" dirty="0">
              <a:latin typeface="+mn-ea"/>
              <a:ea typeface="+mn-ea"/>
            </a:endParaRPr>
          </a:p>
          <a:p>
            <a:pPr marL="0" indent="0" defTabSz="868680">
              <a:spcBef>
                <a:spcPts val="1200"/>
              </a:spcBef>
              <a:buFont typeface="Arial" panose="020B0604020202090204" pitchFamily="34" charset="0"/>
              <a:buNone/>
              <a:defRPr/>
            </a:pPr>
            <a:r>
              <a:rPr lang="zh-CN" altLang="en-US" sz="2200" b="1" dirty="0">
                <a:solidFill>
                  <a:srgbClr val="0000FF"/>
                </a:solidFill>
                <a:latin typeface="+mn-ea"/>
                <a:ea typeface="+mn-ea"/>
              </a:rPr>
              <a:t>（</a:t>
            </a:r>
            <a:r>
              <a:rPr lang="en-US" altLang="zh-CN" sz="2200" b="1" dirty="0">
                <a:solidFill>
                  <a:srgbClr val="0000FF"/>
                </a:solidFill>
                <a:latin typeface="+mn-ea"/>
                <a:ea typeface="+mn-ea"/>
              </a:rPr>
              <a:t>1</a:t>
            </a:r>
            <a:r>
              <a:rPr lang="zh-CN" altLang="en-US" sz="2200" b="1" dirty="0">
                <a:solidFill>
                  <a:srgbClr val="0000FF"/>
                </a:solidFill>
                <a:latin typeface="+mn-ea"/>
                <a:ea typeface="+mn-ea"/>
              </a:rPr>
              <a:t>）分布的：</a:t>
            </a:r>
            <a:r>
              <a:rPr lang="zh-CN" altLang="en-US" sz="2200" dirty="0">
                <a:latin typeface="+mn-ea"/>
                <a:ea typeface="+mn-ea"/>
              </a:rPr>
              <a:t>假设数据被划分成</a:t>
            </a:r>
            <a:r>
              <a:rPr lang="en-US" altLang="zh-CN" sz="2200" dirty="0">
                <a:latin typeface="+mn-ea"/>
                <a:ea typeface="+mn-ea"/>
              </a:rPr>
              <a:t>n</a:t>
            </a:r>
            <a:r>
              <a:rPr lang="zh-CN" altLang="en-US" sz="2200" dirty="0">
                <a:latin typeface="+mn-ea"/>
                <a:ea typeface="+mn-ea"/>
              </a:rPr>
              <a:t>个集合，将函数用于</a:t>
            </a:r>
            <a:r>
              <a:rPr lang="zh-CN" altLang="en-US" sz="2200" dirty="0">
                <a:solidFill>
                  <a:srgbClr val="0070C0"/>
                </a:solidFill>
                <a:latin typeface="+mn-ea"/>
                <a:ea typeface="+mn-ea"/>
              </a:rPr>
              <a:t>每一部分</a:t>
            </a:r>
            <a:r>
              <a:rPr lang="zh-CN" altLang="en-US" sz="2200" dirty="0">
                <a:latin typeface="+mn-ea"/>
                <a:ea typeface="+mn-ea"/>
              </a:rPr>
              <a:t>，得到</a:t>
            </a:r>
            <a:r>
              <a:rPr lang="en-US" altLang="zh-CN" sz="2200" dirty="0">
                <a:latin typeface="+mn-ea"/>
                <a:ea typeface="+mn-ea"/>
              </a:rPr>
              <a:t>n</a:t>
            </a:r>
            <a:r>
              <a:rPr lang="zh-CN" altLang="en-US" sz="2200" dirty="0">
                <a:latin typeface="+mn-ea"/>
                <a:ea typeface="+mn-ea"/>
              </a:rPr>
              <a:t>个聚集值，如果将函数用于</a:t>
            </a:r>
            <a:r>
              <a:rPr lang="en-US" altLang="zh-CN" sz="2200" dirty="0">
                <a:latin typeface="+mn-ea"/>
                <a:ea typeface="+mn-ea"/>
              </a:rPr>
              <a:t>n</a:t>
            </a:r>
            <a:r>
              <a:rPr lang="zh-CN" altLang="en-US" sz="2200" dirty="0">
                <a:latin typeface="+mn-ea"/>
                <a:ea typeface="+mn-ea"/>
              </a:rPr>
              <a:t>个聚集值得到的结果与将函数用于</a:t>
            </a:r>
            <a:r>
              <a:rPr lang="zh-CN" altLang="en-US" sz="2200" dirty="0">
                <a:solidFill>
                  <a:srgbClr val="0070C0"/>
                </a:solidFill>
                <a:latin typeface="+mn-ea"/>
                <a:ea typeface="+mn-ea"/>
              </a:rPr>
              <a:t>整个数据集</a:t>
            </a:r>
            <a:r>
              <a:rPr lang="zh-CN" altLang="en-US" sz="2200" dirty="0">
                <a:latin typeface="+mn-ea"/>
                <a:ea typeface="+mn-ea"/>
              </a:rPr>
              <a:t>（不划分）得到的结果一样，则该函数可以用分布方式计算。如函数</a:t>
            </a:r>
            <a:r>
              <a:rPr lang="en-US" altLang="zh-CN" sz="2200" dirty="0">
                <a:solidFill>
                  <a:srgbClr val="FF0000"/>
                </a:solidFill>
                <a:latin typeface="+mn-ea"/>
                <a:ea typeface="+mn-ea"/>
              </a:rPr>
              <a:t>sum()</a:t>
            </a:r>
            <a:r>
              <a:rPr lang="zh-CN" altLang="en-US" sz="2200" dirty="0">
                <a:solidFill>
                  <a:srgbClr val="FF0000"/>
                </a:solidFill>
                <a:latin typeface="+mn-ea"/>
                <a:ea typeface="+mn-ea"/>
              </a:rPr>
              <a:t>、</a:t>
            </a:r>
            <a:r>
              <a:rPr lang="en-US" altLang="zh-CN" sz="2200" dirty="0">
                <a:solidFill>
                  <a:srgbClr val="FF0000"/>
                </a:solidFill>
                <a:latin typeface="+mn-ea"/>
                <a:ea typeface="+mn-ea"/>
              </a:rPr>
              <a:t>count()</a:t>
            </a:r>
            <a:r>
              <a:rPr lang="zh-CN" altLang="en-US" sz="2200" dirty="0">
                <a:solidFill>
                  <a:srgbClr val="FF0000"/>
                </a:solidFill>
                <a:latin typeface="+mn-ea"/>
                <a:ea typeface="+mn-ea"/>
              </a:rPr>
              <a:t>、 </a:t>
            </a:r>
            <a:r>
              <a:rPr lang="en-US" altLang="zh-CN" sz="2200" dirty="0">
                <a:solidFill>
                  <a:srgbClr val="FF0000"/>
                </a:solidFill>
                <a:latin typeface="+mn-ea"/>
                <a:ea typeface="+mn-ea"/>
              </a:rPr>
              <a:t>min()</a:t>
            </a:r>
            <a:r>
              <a:rPr lang="zh-CN" altLang="en-US" sz="2200" dirty="0">
                <a:solidFill>
                  <a:srgbClr val="FF0000"/>
                </a:solidFill>
                <a:latin typeface="+mn-ea"/>
                <a:ea typeface="+mn-ea"/>
              </a:rPr>
              <a:t>、</a:t>
            </a:r>
            <a:r>
              <a:rPr lang="en-US" altLang="zh-CN" sz="2200" dirty="0">
                <a:solidFill>
                  <a:srgbClr val="FF0000"/>
                </a:solidFill>
                <a:latin typeface="+mn-ea"/>
                <a:ea typeface="+mn-ea"/>
              </a:rPr>
              <a:t>max()</a:t>
            </a:r>
            <a:r>
              <a:rPr lang="zh-CN" altLang="en-US" sz="2200" dirty="0">
                <a:latin typeface="+mn-ea"/>
                <a:ea typeface="+mn-ea"/>
              </a:rPr>
              <a:t>。</a:t>
            </a:r>
            <a:endParaRPr lang="zh-CN" altLang="en-US" sz="2200" dirty="0">
              <a:latin typeface="+mn-ea"/>
              <a:ea typeface="+mn-ea"/>
            </a:endParaRPr>
          </a:p>
          <a:p>
            <a:pPr marL="0" indent="0" defTabSz="868680">
              <a:spcBef>
                <a:spcPts val="1200"/>
              </a:spcBef>
              <a:buFont typeface="Arial" panose="020B0604020202090204" pitchFamily="34" charset="0"/>
              <a:buNone/>
              <a:defRPr/>
            </a:pPr>
            <a:r>
              <a:rPr lang="zh-CN" altLang="en-US" sz="2200" b="1" dirty="0">
                <a:solidFill>
                  <a:srgbClr val="0000FF"/>
                </a:solidFill>
                <a:latin typeface="+mn-ea"/>
                <a:ea typeface="+mn-ea"/>
              </a:rPr>
              <a:t>（</a:t>
            </a:r>
            <a:r>
              <a:rPr lang="en-US" altLang="zh-CN" sz="2200" b="1" dirty="0">
                <a:solidFill>
                  <a:srgbClr val="0000FF"/>
                </a:solidFill>
                <a:latin typeface="+mn-ea"/>
                <a:ea typeface="+mn-ea"/>
              </a:rPr>
              <a:t>2</a:t>
            </a:r>
            <a:r>
              <a:rPr lang="zh-CN" altLang="en-US" sz="2200" b="1" dirty="0">
                <a:solidFill>
                  <a:srgbClr val="0000FF"/>
                </a:solidFill>
                <a:latin typeface="+mn-ea"/>
                <a:ea typeface="+mn-ea"/>
              </a:rPr>
              <a:t>）代数的</a:t>
            </a:r>
            <a:r>
              <a:rPr lang="zh-CN" altLang="en-US" sz="2200" dirty="0">
                <a:latin typeface="+mn-ea"/>
                <a:ea typeface="+mn-ea"/>
              </a:rPr>
              <a:t>：一个聚集函数如果能够用一个具有</a:t>
            </a:r>
            <a:r>
              <a:rPr lang="en-US" altLang="zh-CN" sz="2200" dirty="0">
                <a:solidFill>
                  <a:srgbClr val="FF0000"/>
                </a:solidFill>
                <a:latin typeface="+mn-ea"/>
                <a:ea typeface="+mn-ea"/>
              </a:rPr>
              <a:t>M</a:t>
            </a:r>
            <a:r>
              <a:rPr lang="zh-CN" altLang="en-US" sz="2200" dirty="0">
                <a:solidFill>
                  <a:srgbClr val="FF0000"/>
                </a:solidFill>
                <a:latin typeface="+mn-ea"/>
                <a:ea typeface="+mn-ea"/>
              </a:rPr>
              <a:t>个参数的代数函数计算</a:t>
            </a:r>
            <a:r>
              <a:rPr lang="zh-CN" altLang="en-US" sz="2200" dirty="0">
                <a:latin typeface="+mn-ea"/>
                <a:ea typeface="+mn-ea"/>
              </a:rPr>
              <a:t>（</a:t>
            </a:r>
            <a:r>
              <a:rPr lang="en-US" altLang="zh-CN" sz="2200" dirty="0">
                <a:latin typeface="+mn-ea"/>
                <a:ea typeface="+mn-ea"/>
              </a:rPr>
              <a:t>M</a:t>
            </a:r>
            <a:r>
              <a:rPr lang="zh-CN" altLang="en-US" sz="2200" dirty="0">
                <a:latin typeface="+mn-ea"/>
                <a:ea typeface="+mn-ea"/>
              </a:rPr>
              <a:t>是有界正整数），而每个参数都可以用一个分部聚集函数求得，则它是代数的。如函数</a:t>
            </a:r>
            <a:r>
              <a:rPr lang="en-US" altLang="zh-CN" sz="2200" dirty="0" err="1">
                <a:solidFill>
                  <a:srgbClr val="FF0000"/>
                </a:solidFill>
                <a:latin typeface="+mn-ea"/>
                <a:ea typeface="+mn-ea"/>
              </a:rPr>
              <a:t>avg</a:t>
            </a:r>
            <a:r>
              <a:rPr lang="en-US" altLang="zh-CN" sz="2200" dirty="0">
                <a:solidFill>
                  <a:srgbClr val="FF0000"/>
                </a:solidFill>
                <a:latin typeface="+mn-ea"/>
                <a:ea typeface="+mn-ea"/>
              </a:rPr>
              <a:t>()</a:t>
            </a:r>
            <a:r>
              <a:rPr lang="zh-CN" altLang="en-US" sz="2200" dirty="0">
                <a:solidFill>
                  <a:srgbClr val="FF0000"/>
                </a:solidFill>
                <a:latin typeface="+mn-ea"/>
                <a:ea typeface="+mn-ea"/>
              </a:rPr>
              <a:t>（可以用</a:t>
            </a:r>
            <a:r>
              <a:rPr lang="en-US" altLang="zh-CN" sz="2200" dirty="0">
                <a:solidFill>
                  <a:srgbClr val="FF0000"/>
                </a:solidFill>
                <a:latin typeface="+mn-ea"/>
                <a:ea typeface="+mn-ea"/>
              </a:rPr>
              <a:t>sum()/count()</a:t>
            </a:r>
            <a:r>
              <a:rPr lang="zh-CN" altLang="en-US" sz="2200" dirty="0">
                <a:solidFill>
                  <a:srgbClr val="FF0000"/>
                </a:solidFill>
                <a:latin typeface="+mn-ea"/>
                <a:ea typeface="+mn-ea"/>
              </a:rPr>
              <a:t>计算）、</a:t>
            </a:r>
            <a:r>
              <a:rPr lang="en-US" altLang="zh-CN" sz="2200" dirty="0" err="1">
                <a:solidFill>
                  <a:srgbClr val="FF0000"/>
                </a:solidFill>
                <a:latin typeface="+mn-ea"/>
                <a:ea typeface="+mn-ea"/>
              </a:rPr>
              <a:t>min_N</a:t>
            </a:r>
            <a:r>
              <a:rPr lang="en-US" altLang="zh-CN" sz="2200" dirty="0">
                <a:solidFill>
                  <a:srgbClr val="FF0000"/>
                </a:solidFill>
                <a:latin typeface="+mn-ea"/>
                <a:ea typeface="+mn-ea"/>
              </a:rPr>
              <a:t>()</a:t>
            </a:r>
            <a:r>
              <a:rPr lang="zh-CN" altLang="en-US" sz="2200" dirty="0">
                <a:solidFill>
                  <a:srgbClr val="FF0000"/>
                </a:solidFill>
                <a:latin typeface="+mn-ea"/>
                <a:ea typeface="+mn-ea"/>
              </a:rPr>
              <a:t>、</a:t>
            </a:r>
            <a:r>
              <a:rPr lang="en-US" altLang="zh-CN" sz="2200" dirty="0" err="1">
                <a:solidFill>
                  <a:srgbClr val="FF0000"/>
                </a:solidFill>
                <a:latin typeface="+mn-ea"/>
                <a:ea typeface="+mn-ea"/>
              </a:rPr>
              <a:t>max_N</a:t>
            </a:r>
            <a:r>
              <a:rPr lang="en-US" altLang="zh-CN" sz="2200" dirty="0">
                <a:solidFill>
                  <a:srgbClr val="FF0000"/>
                </a:solidFill>
                <a:latin typeface="+mn-ea"/>
                <a:ea typeface="+mn-ea"/>
              </a:rPr>
              <a:t>()</a:t>
            </a:r>
            <a:r>
              <a:rPr lang="zh-CN" altLang="en-US" sz="2200" dirty="0">
                <a:latin typeface="+mn-ea"/>
                <a:ea typeface="+mn-ea"/>
              </a:rPr>
              <a:t>。</a:t>
            </a:r>
            <a:endParaRPr lang="zh-CN" altLang="en-US" sz="2200" dirty="0">
              <a:latin typeface="+mn-ea"/>
              <a:ea typeface="+mn-ea"/>
            </a:endParaRPr>
          </a:p>
          <a:p>
            <a:pPr marL="0" indent="0" defTabSz="868680">
              <a:spcBef>
                <a:spcPts val="1200"/>
              </a:spcBef>
              <a:buFont typeface="Arial" panose="020B0604020202090204" pitchFamily="34" charset="0"/>
              <a:buNone/>
              <a:defRPr/>
            </a:pPr>
            <a:r>
              <a:rPr lang="zh-CN" altLang="en-US" sz="2200" b="1" dirty="0">
                <a:solidFill>
                  <a:srgbClr val="0000FF"/>
                </a:solidFill>
                <a:latin typeface="+mn-ea"/>
                <a:ea typeface="+mn-ea"/>
              </a:rPr>
              <a:t>（</a:t>
            </a:r>
            <a:r>
              <a:rPr lang="en-US" altLang="zh-CN" sz="2200" b="1" dirty="0">
                <a:solidFill>
                  <a:srgbClr val="0000FF"/>
                </a:solidFill>
                <a:latin typeface="+mn-ea"/>
                <a:ea typeface="+mn-ea"/>
              </a:rPr>
              <a:t>3</a:t>
            </a:r>
            <a:r>
              <a:rPr lang="zh-CN" altLang="en-US" sz="2200" b="1" dirty="0">
                <a:solidFill>
                  <a:srgbClr val="0000FF"/>
                </a:solidFill>
                <a:latin typeface="+mn-ea"/>
                <a:ea typeface="+mn-ea"/>
              </a:rPr>
              <a:t>）整体的：</a:t>
            </a:r>
            <a:r>
              <a:rPr lang="zh-CN" altLang="en-US" sz="2200" dirty="0">
                <a:latin typeface="+mn-ea"/>
                <a:ea typeface="+mn-ea"/>
              </a:rPr>
              <a:t>一个聚集函数如果描述他的子聚集所需的存储没有一个常数界，则它是整体的。如函数</a:t>
            </a:r>
            <a:r>
              <a:rPr lang="en-US" altLang="zh-CN" sz="2200" dirty="0">
                <a:solidFill>
                  <a:srgbClr val="FF0000"/>
                </a:solidFill>
                <a:latin typeface="+mn-ea"/>
                <a:ea typeface="+mn-ea"/>
              </a:rPr>
              <a:t>median()</a:t>
            </a:r>
            <a:r>
              <a:rPr lang="zh-CN" altLang="en-US" sz="2200" dirty="0">
                <a:solidFill>
                  <a:srgbClr val="FF0000"/>
                </a:solidFill>
                <a:latin typeface="+mn-ea"/>
                <a:ea typeface="+mn-ea"/>
              </a:rPr>
              <a:t>、</a:t>
            </a:r>
            <a:r>
              <a:rPr lang="en-US" altLang="zh-CN" sz="2200" dirty="0">
                <a:solidFill>
                  <a:srgbClr val="FF0000"/>
                </a:solidFill>
                <a:latin typeface="+mn-ea"/>
                <a:ea typeface="+mn-ea"/>
              </a:rPr>
              <a:t>mode()</a:t>
            </a:r>
            <a:r>
              <a:rPr lang="zh-CN" altLang="en-US" sz="2200" dirty="0">
                <a:solidFill>
                  <a:srgbClr val="FF0000"/>
                </a:solidFill>
                <a:latin typeface="+mn-ea"/>
                <a:ea typeface="+mn-ea"/>
              </a:rPr>
              <a:t>、</a:t>
            </a:r>
            <a:r>
              <a:rPr lang="en-US" altLang="zh-CN" sz="2200" dirty="0">
                <a:solidFill>
                  <a:srgbClr val="FF0000"/>
                </a:solidFill>
                <a:latin typeface="+mn-ea"/>
                <a:ea typeface="+mn-ea"/>
              </a:rPr>
              <a:t>rank()</a:t>
            </a:r>
            <a:r>
              <a:rPr lang="zh-CN" altLang="en-US" sz="2200" dirty="0">
                <a:latin typeface="+mn-ea"/>
                <a:ea typeface="+mn-ea"/>
              </a:rPr>
              <a:t>。</a:t>
            </a:r>
            <a:endParaRPr lang="zh-CN" altLang="en-US" sz="22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753600" cy="5895975"/>
          </a:xfrm>
        </p:spPr>
        <p:txBody>
          <a:bodyPr>
            <a:normAutofit/>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5</a:t>
            </a:r>
            <a:r>
              <a:rPr lang="zh-CN" altLang="en-US" sz="2400" b="1" dirty="0">
                <a:solidFill>
                  <a:srgbClr val="0000FF"/>
                </a:solidFill>
                <a:latin typeface="+mn-ea"/>
                <a:ea typeface="+mn-ea"/>
              </a:rPr>
              <a:t>、典型的</a:t>
            </a:r>
            <a:r>
              <a:rPr lang="en-US" altLang="zh-CN" sz="2400" b="1" dirty="0">
                <a:solidFill>
                  <a:srgbClr val="0000FF"/>
                </a:solidFill>
                <a:latin typeface="+mn-ea"/>
                <a:ea typeface="+mn-ea"/>
              </a:rPr>
              <a:t>OLAP</a:t>
            </a:r>
            <a:r>
              <a:rPr lang="zh-CN" altLang="en-US" sz="2400" b="1" dirty="0">
                <a:solidFill>
                  <a:srgbClr val="0000FF"/>
                </a:solidFill>
                <a:latin typeface="+mn-ea"/>
                <a:ea typeface="+mn-ea"/>
              </a:rPr>
              <a:t>操作</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a:t>
            </a:r>
            <a:r>
              <a:rPr lang="en-US" altLang="zh-CN" sz="2000" b="1" dirty="0">
                <a:solidFill>
                  <a:srgbClr val="0000FF"/>
                </a:solidFill>
                <a:latin typeface="+mn-ea"/>
                <a:ea typeface="+mn-ea"/>
              </a:rPr>
              <a:t>1</a:t>
            </a:r>
            <a:r>
              <a:rPr lang="zh-CN" altLang="en-US" sz="2000" b="1" dirty="0">
                <a:solidFill>
                  <a:srgbClr val="0000FF"/>
                </a:solidFill>
                <a:latin typeface="+mn-ea"/>
                <a:ea typeface="+mn-ea"/>
              </a:rPr>
              <a:t>）上卷（</a:t>
            </a:r>
            <a:r>
              <a:rPr lang="en-US" altLang="zh-CN" sz="2000" b="1" dirty="0">
                <a:solidFill>
                  <a:srgbClr val="0000FF"/>
                </a:solidFill>
                <a:latin typeface="+mn-ea"/>
                <a:ea typeface="+mn-ea"/>
              </a:rPr>
              <a:t>roll-up</a:t>
            </a:r>
            <a:r>
              <a:rPr lang="zh-CN" altLang="en-US" sz="2000" b="1" dirty="0">
                <a:solidFill>
                  <a:srgbClr val="0000FF"/>
                </a:solidFill>
                <a:latin typeface="+mn-ea"/>
                <a:ea typeface="+mn-ea"/>
              </a:rPr>
              <a:t>）</a:t>
            </a:r>
            <a:r>
              <a:rPr lang="zh-CN" altLang="en-US" sz="2000" dirty="0">
                <a:latin typeface="+mn-ea"/>
                <a:ea typeface="+mn-ea"/>
              </a:rPr>
              <a:t>：通过沿一个维的概念分层</a:t>
            </a:r>
            <a:r>
              <a:rPr lang="zh-CN" altLang="en-US" sz="2000" dirty="0">
                <a:solidFill>
                  <a:srgbClr val="FF0000"/>
                </a:solidFill>
                <a:latin typeface="+mn-ea"/>
                <a:ea typeface="+mn-ea"/>
              </a:rPr>
              <a:t>向上攀升或者通过维归约</a:t>
            </a:r>
            <a:r>
              <a:rPr lang="zh-CN" altLang="en-US" sz="2000" dirty="0">
                <a:latin typeface="+mn-ea"/>
                <a:ea typeface="+mn-ea"/>
              </a:rPr>
              <a:t>在数据立方体上进行聚集。</a:t>
            </a:r>
            <a:endParaRPr lang="en-US" altLang="zh-CN" sz="2000" dirty="0">
              <a:latin typeface="+mn-ea"/>
              <a:ea typeface="+mn-ea"/>
            </a:endParaRPr>
          </a:p>
          <a:p>
            <a:pPr marL="0" indent="0" defTabSz="868680">
              <a:buFont typeface="Arial" panose="020B0604020202090204" pitchFamily="34" charset="0"/>
              <a:buNone/>
              <a:defRPr/>
            </a:pPr>
            <a:endParaRPr lang="zh-CN" altLang="en-US" sz="2000" dirty="0">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a:t>
            </a:r>
            <a:r>
              <a:rPr lang="en-US" altLang="zh-CN" sz="2000" b="1" dirty="0">
                <a:solidFill>
                  <a:srgbClr val="0000FF"/>
                </a:solidFill>
                <a:latin typeface="+mn-ea"/>
                <a:ea typeface="+mn-ea"/>
              </a:rPr>
              <a:t>2</a:t>
            </a:r>
            <a:r>
              <a:rPr lang="zh-CN" altLang="en-US" sz="2000" b="1" dirty="0">
                <a:solidFill>
                  <a:srgbClr val="0000FF"/>
                </a:solidFill>
                <a:latin typeface="+mn-ea"/>
                <a:ea typeface="+mn-ea"/>
              </a:rPr>
              <a:t>）下钻（</a:t>
            </a:r>
            <a:r>
              <a:rPr lang="en-US" altLang="zh-CN" sz="2000" b="1" dirty="0">
                <a:solidFill>
                  <a:srgbClr val="0000FF"/>
                </a:solidFill>
                <a:latin typeface="+mn-ea"/>
                <a:ea typeface="+mn-ea"/>
              </a:rPr>
              <a:t>drill-down</a:t>
            </a:r>
            <a:r>
              <a:rPr lang="zh-CN" altLang="en-US" sz="2000" b="1" dirty="0">
                <a:solidFill>
                  <a:srgbClr val="0000FF"/>
                </a:solidFill>
                <a:latin typeface="+mn-ea"/>
                <a:ea typeface="+mn-ea"/>
              </a:rPr>
              <a:t>）</a:t>
            </a:r>
            <a:r>
              <a:rPr lang="zh-CN" altLang="en-US" sz="2000" dirty="0">
                <a:latin typeface="+mn-ea"/>
                <a:ea typeface="+mn-ea"/>
              </a:rPr>
              <a:t>：由不太详细的数据到</a:t>
            </a:r>
            <a:r>
              <a:rPr lang="zh-CN" altLang="en-US" sz="2000" dirty="0">
                <a:solidFill>
                  <a:srgbClr val="FF0000"/>
                </a:solidFill>
                <a:latin typeface="+mn-ea"/>
                <a:ea typeface="+mn-ea"/>
              </a:rPr>
              <a:t>更详细的数据</a:t>
            </a:r>
            <a:r>
              <a:rPr lang="zh-CN" altLang="en-US" sz="2000" dirty="0">
                <a:latin typeface="+mn-ea"/>
                <a:ea typeface="+mn-ea"/>
              </a:rPr>
              <a:t>，通过沿维的概念分层向下或引入附加的维来实现。</a:t>
            </a:r>
            <a:endParaRPr lang="en-US" altLang="zh-CN" sz="2000" dirty="0">
              <a:latin typeface="+mn-ea"/>
              <a:ea typeface="+mn-ea"/>
            </a:endParaRPr>
          </a:p>
          <a:p>
            <a:pPr marL="0" indent="0" defTabSz="868680">
              <a:buFont typeface="Arial" panose="020B0604020202090204" pitchFamily="34" charset="0"/>
              <a:buNone/>
              <a:defRPr/>
            </a:pPr>
            <a:endParaRPr lang="zh-CN" altLang="en-US" sz="2000" dirty="0">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a:t>
            </a:r>
            <a:r>
              <a:rPr lang="en-US" altLang="zh-CN" sz="2000" b="1" dirty="0">
                <a:solidFill>
                  <a:srgbClr val="0000FF"/>
                </a:solidFill>
                <a:latin typeface="+mn-ea"/>
                <a:ea typeface="+mn-ea"/>
              </a:rPr>
              <a:t>3</a:t>
            </a:r>
            <a:r>
              <a:rPr lang="zh-CN" altLang="en-US" sz="2000" b="1" dirty="0">
                <a:solidFill>
                  <a:srgbClr val="0000FF"/>
                </a:solidFill>
                <a:latin typeface="+mn-ea"/>
                <a:ea typeface="+mn-ea"/>
              </a:rPr>
              <a:t>）切片和切块（</a:t>
            </a:r>
            <a:r>
              <a:rPr lang="en-US" altLang="zh-CN" sz="2000" b="1" dirty="0">
                <a:solidFill>
                  <a:srgbClr val="0000FF"/>
                </a:solidFill>
                <a:latin typeface="+mn-ea"/>
                <a:ea typeface="+mn-ea"/>
              </a:rPr>
              <a:t>slice</a:t>
            </a:r>
            <a:r>
              <a:rPr lang="zh-CN" altLang="en-US" sz="2000" b="1" dirty="0">
                <a:solidFill>
                  <a:srgbClr val="0000FF"/>
                </a:solidFill>
                <a:latin typeface="+mn-ea"/>
                <a:ea typeface="+mn-ea"/>
              </a:rPr>
              <a:t>、</a:t>
            </a:r>
            <a:r>
              <a:rPr lang="en-US" altLang="zh-CN" sz="2000" b="1" dirty="0">
                <a:solidFill>
                  <a:srgbClr val="0000FF"/>
                </a:solidFill>
                <a:latin typeface="+mn-ea"/>
                <a:ea typeface="+mn-ea"/>
              </a:rPr>
              <a:t>dice</a:t>
            </a:r>
            <a:r>
              <a:rPr lang="zh-CN" altLang="en-US" sz="2000" b="1" dirty="0">
                <a:solidFill>
                  <a:srgbClr val="0000FF"/>
                </a:solidFill>
                <a:latin typeface="+mn-ea"/>
                <a:ea typeface="+mn-ea"/>
              </a:rPr>
              <a:t>）</a:t>
            </a:r>
            <a:r>
              <a:rPr lang="zh-CN" altLang="en-US" sz="2000" dirty="0">
                <a:latin typeface="+mn-ea"/>
                <a:ea typeface="+mn-ea"/>
              </a:rPr>
              <a:t>：</a:t>
            </a:r>
            <a:r>
              <a:rPr lang="zh-CN" altLang="en-US" sz="2000" b="1" dirty="0">
                <a:latin typeface="+mn-ea"/>
                <a:ea typeface="+mn-ea"/>
              </a:rPr>
              <a:t>切片</a:t>
            </a:r>
            <a:r>
              <a:rPr lang="zh-CN" altLang="en-US" sz="2000" dirty="0">
                <a:latin typeface="+mn-ea"/>
                <a:ea typeface="+mn-ea"/>
              </a:rPr>
              <a:t>操作在给定的立方体的</a:t>
            </a:r>
            <a:r>
              <a:rPr lang="zh-CN" altLang="en-US" sz="2000" dirty="0">
                <a:solidFill>
                  <a:srgbClr val="FF0000"/>
                </a:solidFill>
                <a:latin typeface="+mn-ea"/>
                <a:ea typeface="+mn-ea"/>
              </a:rPr>
              <a:t>一个维上进行选择</a:t>
            </a:r>
            <a:r>
              <a:rPr lang="zh-CN" altLang="en-US" sz="2000" dirty="0">
                <a:latin typeface="+mn-ea"/>
                <a:ea typeface="+mn-ea"/>
              </a:rPr>
              <a:t>，产生一个子立方体。</a:t>
            </a:r>
            <a:r>
              <a:rPr lang="zh-CN" altLang="en-US" sz="2000" b="1" dirty="0">
                <a:latin typeface="+mn-ea"/>
                <a:ea typeface="+mn-ea"/>
              </a:rPr>
              <a:t>切块</a:t>
            </a:r>
            <a:r>
              <a:rPr lang="zh-CN" altLang="en-US" sz="2000" dirty="0">
                <a:latin typeface="+mn-ea"/>
                <a:ea typeface="+mn-ea"/>
              </a:rPr>
              <a:t>操作通过在</a:t>
            </a:r>
            <a:r>
              <a:rPr lang="zh-CN" altLang="en-US" sz="2000" dirty="0">
                <a:solidFill>
                  <a:srgbClr val="FF0000"/>
                </a:solidFill>
                <a:latin typeface="+mn-ea"/>
                <a:ea typeface="+mn-ea"/>
              </a:rPr>
              <a:t>两个或多个维上进行选择</a:t>
            </a:r>
            <a:r>
              <a:rPr lang="zh-CN" altLang="en-US" sz="2000" dirty="0">
                <a:latin typeface="+mn-ea"/>
                <a:ea typeface="+mn-ea"/>
              </a:rPr>
              <a:t>，定义子立方体。</a:t>
            </a:r>
            <a:endParaRPr lang="en-US" altLang="zh-CN" sz="2000" dirty="0">
              <a:latin typeface="+mn-ea"/>
              <a:ea typeface="+mn-ea"/>
            </a:endParaRPr>
          </a:p>
          <a:p>
            <a:pPr marL="0" indent="0" defTabSz="868680">
              <a:buFont typeface="Arial" panose="020B0604020202090204" pitchFamily="34" charset="0"/>
              <a:buNone/>
              <a:defRPr/>
            </a:pPr>
            <a:endParaRPr lang="en-US" altLang="zh-CN" sz="2000" dirty="0">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rPr>
              <a:t>（</a:t>
            </a:r>
            <a:r>
              <a:rPr lang="en-US" altLang="zh-CN" sz="2000" b="1" dirty="0">
                <a:solidFill>
                  <a:srgbClr val="0000FF"/>
                </a:solidFill>
                <a:latin typeface="+mn-ea"/>
              </a:rPr>
              <a:t>4</a:t>
            </a:r>
            <a:r>
              <a:rPr lang="zh-CN" altLang="en-US" sz="2000" b="1" dirty="0">
                <a:solidFill>
                  <a:srgbClr val="0000FF"/>
                </a:solidFill>
                <a:latin typeface="+mn-ea"/>
              </a:rPr>
              <a:t>）转轴（</a:t>
            </a:r>
            <a:r>
              <a:rPr lang="en-US" altLang="zh-CN" sz="2000" b="1" dirty="0">
                <a:solidFill>
                  <a:srgbClr val="0000FF"/>
                </a:solidFill>
                <a:latin typeface="+mn-ea"/>
              </a:rPr>
              <a:t>pivot</a:t>
            </a:r>
            <a:r>
              <a:rPr lang="zh-CN" altLang="en-US" sz="2000" b="1" dirty="0">
                <a:solidFill>
                  <a:srgbClr val="0000FF"/>
                </a:solidFill>
                <a:latin typeface="+mn-ea"/>
              </a:rPr>
              <a:t>）</a:t>
            </a:r>
            <a:r>
              <a:rPr lang="zh-CN" altLang="en-US" sz="2000" dirty="0">
                <a:latin typeface="+mn-ea"/>
              </a:rPr>
              <a:t>：</a:t>
            </a:r>
            <a:r>
              <a:rPr lang="zh-CN" altLang="en-US" sz="2000" dirty="0">
                <a:solidFill>
                  <a:srgbClr val="FF0000"/>
                </a:solidFill>
                <a:latin typeface="+mn-ea"/>
              </a:rPr>
              <a:t>转轴又称旋转</a:t>
            </a:r>
            <a:r>
              <a:rPr lang="zh-CN" altLang="en-US" sz="2000" dirty="0">
                <a:latin typeface="+mn-ea"/>
              </a:rPr>
              <a:t>，是一种目视操作，它转动数据的视角，提供数据的替代表示。</a:t>
            </a:r>
            <a:endParaRPr lang="en-US" altLang="zh-CN" sz="2000" dirty="0">
              <a:latin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76475" y="0"/>
            <a:ext cx="6370638" cy="723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4.2 </a:t>
            </a:r>
            <a:r>
              <a:rPr lang="zh-CN" altLang="en-US" sz="4000" b="1" dirty="0">
                <a:latin typeface="楷体" panose="02010609060101010101" pitchFamily="49" charset="-122"/>
                <a:ea typeface="楷体" panose="02010609060101010101" pitchFamily="49" charset="-122"/>
              </a:rPr>
              <a:t>数据仓库建模：数据立方体</a:t>
            </a:r>
            <a:r>
              <a:rPr lang="zh-CN" altLang="en-US" sz="4000" b="1" dirty="0">
                <a:latin typeface="Times New Roman" panose="02020503050405090304" pitchFamily="18" charset="0"/>
                <a:ea typeface="楷体" panose="02010609060101010101" pitchFamily="49" charset="-122"/>
                <a:cs typeface="Times New Roman" panose="02020503050405090304" pitchFamily="18" charset="0"/>
              </a:rPr>
              <a:t>与</a:t>
            </a:r>
            <a:r>
              <a:rPr lang="en-US" altLang="zh-CN" sz="4000" b="1" dirty="0">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40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585325" cy="3886200"/>
          </a:xfrm>
        </p:spPr>
        <p:txBody>
          <a:bodyPr>
            <a:normAutofit/>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5</a:t>
            </a:r>
            <a:r>
              <a:rPr lang="zh-CN" altLang="en-US" sz="2400" b="1" dirty="0">
                <a:solidFill>
                  <a:srgbClr val="0000FF"/>
                </a:solidFill>
                <a:latin typeface="+mn-ea"/>
                <a:ea typeface="+mn-ea"/>
              </a:rPr>
              <a:t>、典型的</a:t>
            </a:r>
            <a:r>
              <a:rPr lang="en-US" altLang="zh-CN" sz="2400" b="1" dirty="0">
                <a:solidFill>
                  <a:srgbClr val="0000FF"/>
                </a:solidFill>
                <a:latin typeface="+mn-ea"/>
                <a:ea typeface="+mn-ea"/>
              </a:rPr>
              <a:t>OLAP</a:t>
            </a:r>
            <a:r>
              <a:rPr lang="zh-CN" altLang="en-US" sz="2400" b="1" dirty="0">
                <a:solidFill>
                  <a:srgbClr val="0000FF"/>
                </a:solidFill>
                <a:latin typeface="+mn-ea"/>
                <a:ea typeface="+mn-ea"/>
              </a:rPr>
              <a:t>操作</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a:t>
            </a:r>
            <a:r>
              <a:rPr lang="en-US" altLang="zh-CN" sz="2000" b="1" dirty="0">
                <a:solidFill>
                  <a:srgbClr val="0000FF"/>
                </a:solidFill>
                <a:latin typeface="+mn-ea"/>
                <a:ea typeface="+mn-ea"/>
              </a:rPr>
              <a:t>5</a:t>
            </a:r>
            <a:r>
              <a:rPr lang="zh-CN" altLang="en-US" sz="2000" b="1" dirty="0">
                <a:solidFill>
                  <a:srgbClr val="0000FF"/>
                </a:solidFill>
                <a:latin typeface="+mn-ea"/>
                <a:ea typeface="+mn-ea"/>
              </a:rPr>
              <a:t>）钻过（</a:t>
            </a:r>
            <a:r>
              <a:rPr lang="en-US" altLang="zh-CN" sz="2000" b="1" dirty="0">
                <a:solidFill>
                  <a:srgbClr val="0000FF"/>
                </a:solidFill>
                <a:latin typeface="+mn-ea"/>
                <a:ea typeface="+mn-ea"/>
              </a:rPr>
              <a:t>drill-across</a:t>
            </a:r>
            <a:r>
              <a:rPr lang="zh-CN" altLang="en-US" sz="2000" b="1" dirty="0">
                <a:solidFill>
                  <a:srgbClr val="0000FF"/>
                </a:solidFill>
                <a:latin typeface="+mn-ea"/>
                <a:ea typeface="+mn-ea"/>
              </a:rPr>
              <a:t>）</a:t>
            </a:r>
            <a:r>
              <a:rPr lang="zh-CN" altLang="en-US" sz="2000" dirty="0">
                <a:latin typeface="+mn-ea"/>
                <a:ea typeface="+mn-ea"/>
              </a:rPr>
              <a:t>：执行涉及</a:t>
            </a:r>
            <a:r>
              <a:rPr lang="zh-CN" altLang="en-US" sz="2000" dirty="0">
                <a:solidFill>
                  <a:srgbClr val="FF0000"/>
                </a:solidFill>
                <a:latin typeface="+mn-ea"/>
                <a:ea typeface="+mn-ea"/>
              </a:rPr>
              <a:t>多个事实表的查询</a:t>
            </a:r>
            <a:r>
              <a:rPr lang="zh-CN" altLang="en-US" sz="2000" dirty="0">
                <a:latin typeface="+mn-ea"/>
                <a:ea typeface="+mn-ea"/>
              </a:rPr>
              <a:t>。</a:t>
            </a:r>
            <a:endParaRPr lang="en-US" altLang="zh-CN" sz="2000" dirty="0">
              <a:latin typeface="+mn-ea"/>
              <a:ea typeface="+mn-ea"/>
            </a:endParaRPr>
          </a:p>
          <a:p>
            <a:pPr marL="0" indent="0" defTabSz="868680">
              <a:buFont typeface="Arial" panose="020B0604020202090204" pitchFamily="34" charset="0"/>
              <a:buNone/>
              <a:defRPr/>
            </a:pPr>
            <a:endParaRPr lang="zh-CN" altLang="en-US" sz="2000" dirty="0">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a:t>
            </a:r>
            <a:r>
              <a:rPr lang="en-US" altLang="zh-CN" sz="2000" b="1" dirty="0">
                <a:solidFill>
                  <a:srgbClr val="0000FF"/>
                </a:solidFill>
                <a:latin typeface="+mn-ea"/>
                <a:ea typeface="+mn-ea"/>
              </a:rPr>
              <a:t>6</a:t>
            </a:r>
            <a:r>
              <a:rPr lang="zh-CN" altLang="en-US" sz="2000" b="1" dirty="0">
                <a:solidFill>
                  <a:srgbClr val="0000FF"/>
                </a:solidFill>
                <a:latin typeface="+mn-ea"/>
                <a:ea typeface="+mn-ea"/>
              </a:rPr>
              <a:t>）钻透（</a:t>
            </a:r>
            <a:r>
              <a:rPr lang="en-US" altLang="zh-CN" sz="2000" b="1" dirty="0">
                <a:solidFill>
                  <a:srgbClr val="0000FF"/>
                </a:solidFill>
                <a:latin typeface="+mn-ea"/>
                <a:ea typeface="+mn-ea"/>
              </a:rPr>
              <a:t>drill-</a:t>
            </a:r>
            <a:r>
              <a:rPr lang="en-US" altLang="zh-CN" sz="2000" b="1" dirty="0" err="1">
                <a:solidFill>
                  <a:srgbClr val="0000FF"/>
                </a:solidFill>
                <a:latin typeface="+mn-ea"/>
                <a:ea typeface="+mn-ea"/>
              </a:rPr>
              <a:t>throuh</a:t>
            </a:r>
            <a:r>
              <a:rPr lang="zh-CN" altLang="en-US" sz="2000" b="1" dirty="0">
                <a:solidFill>
                  <a:srgbClr val="0000FF"/>
                </a:solidFill>
                <a:latin typeface="+mn-ea"/>
                <a:ea typeface="+mn-ea"/>
              </a:rPr>
              <a:t>）</a:t>
            </a:r>
            <a:r>
              <a:rPr lang="zh-CN" altLang="en-US" sz="2000" dirty="0">
                <a:latin typeface="+mn-ea"/>
                <a:ea typeface="+mn-ea"/>
              </a:rPr>
              <a:t>：操作使用关系</a:t>
            </a:r>
            <a:r>
              <a:rPr lang="en-US" altLang="zh-CN" sz="2000" dirty="0">
                <a:latin typeface="+mn-ea"/>
                <a:ea typeface="+mn-ea"/>
              </a:rPr>
              <a:t>SQL</a:t>
            </a:r>
            <a:r>
              <a:rPr lang="zh-CN" altLang="en-US" sz="2000" dirty="0">
                <a:latin typeface="+mn-ea"/>
                <a:ea typeface="+mn-ea"/>
              </a:rPr>
              <a:t>机制，钻透到数据立方体的底层，</a:t>
            </a:r>
            <a:r>
              <a:rPr lang="zh-CN" altLang="en-US" sz="2000" dirty="0">
                <a:solidFill>
                  <a:srgbClr val="FF0000"/>
                </a:solidFill>
                <a:latin typeface="+mn-ea"/>
                <a:ea typeface="+mn-ea"/>
              </a:rPr>
              <a:t>到后端关系表</a:t>
            </a:r>
            <a:r>
              <a:rPr lang="zh-CN" altLang="en-US" sz="2000" dirty="0">
                <a:latin typeface="+mn-ea"/>
                <a:ea typeface="+mn-ea"/>
              </a:rPr>
              <a:t>。</a:t>
            </a:r>
            <a:endParaRPr lang="zh-CN" altLang="en-US" sz="2000" dirty="0">
              <a:latin typeface="+mn-ea"/>
              <a:ea typeface="+mn-ea"/>
            </a:endParaRPr>
          </a:p>
          <a:p>
            <a:pPr marL="0" indent="0" defTabSz="868680">
              <a:buFont typeface="Arial" panose="020B0604020202090204" pitchFamily="34" charset="0"/>
              <a:buNone/>
              <a:defRPr/>
            </a:pPr>
            <a:r>
              <a:rPr lang="en-US" altLang="zh-CN" sz="2000" dirty="0">
                <a:latin typeface="+mn-ea"/>
                <a:ea typeface="+mn-ea"/>
              </a:rPr>
              <a:t>    OLAP</a:t>
            </a:r>
            <a:r>
              <a:rPr lang="zh-CN" altLang="en-US" sz="2000" dirty="0">
                <a:latin typeface="+mn-ea"/>
                <a:ea typeface="+mn-ea"/>
              </a:rPr>
              <a:t>提供分析建模机制，支持预测、趋势分析和统计分析函数模型。</a:t>
            </a:r>
            <a:r>
              <a:rPr lang="en-US" altLang="zh-CN" sz="2000" dirty="0">
                <a:latin typeface="+mn-ea"/>
                <a:ea typeface="+mn-ea"/>
              </a:rPr>
              <a:t>OLAP</a:t>
            </a:r>
            <a:r>
              <a:rPr lang="zh-CN" altLang="en-US" sz="2000" dirty="0">
                <a:latin typeface="+mn-ea"/>
                <a:ea typeface="+mn-ea"/>
              </a:rPr>
              <a:t>引擎是一种强有力的数据分析工具。</a:t>
            </a:r>
            <a:endParaRPr lang="zh-CN" altLang="en-US" sz="2000" dirty="0">
              <a:latin typeface="+mn-ea"/>
              <a:ea typeface="+mn-ea"/>
            </a:endParaRPr>
          </a:p>
        </p:txBody>
      </p:sp>
      <p:sp>
        <p:nvSpPr>
          <p:cNvPr id="38916" name="矩形 1"/>
          <p:cNvSpPr>
            <a:spLocks noChangeArrowheads="1"/>
          </p:cNvSpPr>
          <p:nvPr/>
        </p:nvSpPr>
        <p:spPr bwMode="auto">
          <a:xfrm>
            <a:off x="903288" y="5065713"/>
            <a:ext cx="93567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楷体" panose="02010609060101010101" pitchFamily="49" charset="-122"/>
                <a:ea typeface="楷体" panose="02010609060101010101" pitchFamily="49" charset="-122"/>
                <a:hlinkClick r:id="rId1"/>
              </a:rPr>
              <a:t>该部分可参照文档操作：</a:t>
            </a:r>
            <a:r>
              <a:rPr lang="en-US" altLang="zh-CN" sz="2400">
                <a:latin typeface="楷体" panose="02010609060101010101" pitchFamily="49" charset="-122"/>
                <a:ea typeface="楷体" panose="02010609060101010101" pitchFamily="49" charset="-122"/>
                <a:hlinkClick r:id="rId1"/>
              </a:rPr>
              <a:t>https://docs.microsoft.com/zh-cn/previous-versions/sql/sql-server-2005/ms170208(v=sql.90)</a:t>
            </a:r>
            <a:endParaRPr lang="zh-CN" altLang="en-US" sz="2400">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16389" name="Rectangle 3"/>
          <p:cNvSpPr>
            <a:spLocks noGrp="1" noChangeArrowheads="1"/>
          </p:cNvSpPr>
          <p:nvPr>
            <p:ph idx="1"/>
          </p:nvPr>
        </p:nvSpPr>
        <p:spPr>
          <a:xfrm>
            <a:off x="576263" y="1079500"/>
            <a:ext cx="9863137" cy="5351463"/>
          </a:xfrm>
        </p:spPr>
        <p:txBody>
          <a:bodyPr/>
          <a:lstStyle/>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4.1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数据仓库：基本概念</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4.2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数据仓库建模：数据立方体</a:t>
            </a:r>
            <a:r>
              <a:rPr lang="zh-CN" altLang="en-US"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与</a:t>
            </a:r>
            <a:r>
              <a:rPr lang="en-US" altLang="zh-CN"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rgbClr val="FF0000"/>
                </a:solidFill>
                <a:latin typeface="楷体" panose="02010609060101010101" pitchFamily="49" charset="-122"/>
                <a:ea typeface="楷体" panose="02010609060101010101" pitchFamily="49" charset="-122"/>
              </a:rPr>
              <a:t>4.3 </a:t>
            </a:r>
            <a:r>
              <a:rPr lang="zh-CN" altLang="en-US" sz="3600" b="1" dirty="0">
                <a:solidFill>
                  <a:srgbClr val="FF0000"/>
                </a:solidFill>
                <a:latin typeface="楷体" panose="02010609060101010101" pitchFamily="49" charset="-122"/>
                <a:ea typeface="楷体" panose="02010609060101010101" pitchFamily="49" charset="-122"/>
              </a:rPr>
              <a:t>数据仓库的设计与使用</a:t>
            </a:r>
            <a:endParaRPr lang="en-US" altLang="zh-CN" sz="3600" b="1" dirty="0">
              <a:solidFill>
                <a:srgbClr val="FF0000"/>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4.4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数据仓库的实现</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4.5 </a:t>
            </a:r>
            <a:r>
              <a:rPr lang="zh-CN" altLang="en-US" sz="3600" b="1" dirty="0">
                <a:solidFill>
                  <a:schemeClr val="bg1">
                    <a:lumMod val="75000"/>
                  </a:schemeClr>
                </a:solidFill>
                <a:latin typeface="楷体" panose="02010609060101010101" pitchFamily="49" charset="-122"/>
                <a:ea typeface="楷体" panose="02010609060101010101" pitchFamily="49" charset="-122"/>
              </a:rPr>
              <a:t>数据泛化：面向属性的归纳</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4.6 </a:t>
            </a:r>
            <a:r>
              <a:rPr lang="zh-CN" altLang="en-US" sz="3600" b="1"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325120" indent="-325120" defTabSz="869315" eaLnBrk="1" hangingPunct="1">
              <a:defRPr/>
            </a:pPr>
            <a:endParaRPr lang="en-US" altLang="zh-CN" sz="3050" b="1" dirty="0"/>
          </a:p>
        </p:txBody>
      </p:sp>
      <p:sp>
        <p:nvSpPr>
          <p:cNvPr id="40964"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6F871C59-2F61-4473-8FF9-F075D626B275}"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a:t>
            </a:r>
            <a:r>
              <a:rPr lang="en-US" altLang="zh-CN" sz="4400" b="1" dirty="0">
                <a:latin typeface="楷体" panose="02010609060101010101" pitchFamily="49" charset="-122"/>
                <a:ea typeface="楷体" panose="02010609060101010101" pitchFamily="49" charset="-122"/>
              </a:rPr>
              <a:t>4.3 </a:t>
            </a:r>
            <a:r>
              <a:rPr lang="zh-CN" altLang="en-US" sz="4400" b="1" dirty="0">
                <a:latin typeface="楷体" panose="02010609060101010101" pitchFamily="49" charset="-122"/>
                <a:ea typeface="楷体" panose="02010609060101010101" pitchFamily="49" charset="-122"/>
              </a:rPr>
              <a:t>数据仓库的设计与使用</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585325" cy="5895975"/>
          </a:xfrm>
        </p:spPr>
        <p:txBody>
          <a:bodyPr>
            <a:normAutofit fontScale="85000" lnSpcReduction="10000"/>
          </a:bodyPr>
          <a:lstStyle/>
          <a:p>
            <a:pPr marL="0" indent="0" defTabSz="868680">
              <a:buFont typeface="Arial" panose="020B0604020202090204" pitchFamily="34" charset="0"/>
              <a:buNone/>
              <a:defRPr/>
            </a:pPr>
            <a:r>
              <a:rPr lang="en-US" altLang="zh-CN" sz="2800" b="1" dirty="0">
                <a:solidFill>
                  <a:srgbClr val="0000FF"/>
                </a:solidFill>
                <a:latin typeface="+mn-ea"/>
                <a:ea typeface="+mn-ea"/>
              </a:rPr>
              <a:t>1</a:t>
            </a:r>
            <a:r>
              <a:rPr lang="zh-CN" altLang="en-US" sz="2800" b="1" dirty="0">
                <a:solidFill>
                  <a:srgbClr val="0000FF"/>
                </a:solidFill>
                <a:latin typeface="+mn-ea"/>
                <a:ea typeface="+mn-ea"/>
              </a:rPr>
              <a:t>、数据仓库的设计的商务分析框架</a:t>
            </a:r>
            <a:endParaRPr lang="zh-CN" altLang="en-US" sz="2800" b="1" dirty="0">
              <a:solidFill>
                <a:srgbClr val="0000FF"/>
              </a:solidFill>
              <a:latin typeface="+mn-ea"/>
              <a:ea typeface="+mn-ea"/>
            </a:endParaRPr>
          </a:p>
          <a:p>
            <a:pPr marL="0" indent="0" defTabSz="868680">
              <a:buFont typeface="Arial" panose="020B0604020202090204" pitchFamily="34" charset="0"/>
              <a:buNone/>
              <a:defRPr/>
            </a:pPr>
            <a:r>
              <a:rPr lang="zh-CN" altLang="en-US" sz="2800" dirty="0">
                <a:latin typeface="+mn-ea"/>
                <a:ea typeface="+mn-ea"/>
              </a:rPr>
              <a:t>关于数据仓库的设计，必须考虑四种不同的视图：</a:t>
            </a:r>
            <a:endParaRPr lang="zh-CN" altLang="en-US" sz="2800" dirty="0">
              <a:latin typeface="+mn-ea"/>
              <a:ea typeface="+mn-ea"/>
            </a:endParaRPr>
          </a:p>
          <a:p>
            <a:pPr marL="0" indent="0" defTabSz="868680">
              <a:buFont typeface="Arial" panose="020B0604020202090204" pitchFamily="34" charset="0"/>
              <a:buNone/>
              <a:defRPr/>
            </a:pPr>
            <a:r>
              <a:rPr lang="en-US" altLang="zh-CN" sz="2800" b="1" dirty="0">
                <a:solidFill>
                  <a:srgbClr val="0000FF"/>
                </a:solidFill>
                <a:latin typeface="+mn-ea"/>
                <a:ea typeface="+mn-ea"/>
              </a:rPr>
              <a:t>1</a:t>
            </a:r>
            <a:r>
              <a:rPr lang="zh-CN" altLang="en-US" sz="2800" b="1" dirty="0">
                <a:solidFill>
                  <a:srgbClr val="0000FF"/>
                </a:solidFill>
                <a:latin typeface="+mn-ea"/>
                <a:ea typeface="+mn-ea"/>
              </a:rPr>
              <a:t>）自顶向下视图：</a:t>
            </a:r>
            <a:r>
              <a:rPr lang="zh-CN" altLang="en-US" sz="2800" dirty="0">
                <a:solidFill>
                  <a:srgbClr val="FF0000"/>
                </a:solidFill>
                <a:latin typeface="+mn-ea"/>
                <a:ea typeface="+mn-ea"/>
              </a:rPr>
              <a:t>选择数据仓库所需的相关信息</a:t>
            </a:r>
            <a:r>
              <a:rPr lang="zh-CN" altLang="en-US" sz="2800" dirty="0">
                <a:latin typeface="+mn-ea"/>
                <a:ea typeface="+mn-ea"/>
              </a:rPr>
              <a:t>，这些信息足够满足</a:t>
            </a:r>
            <a:r>
              <a:rPr lang="zh-CN" altLang="en-US" sz="2800" dirty="0">
                <a:solidFill>
                  <a:srgbClr val="FF0000"/>
                </a:solidFill>
                <a:latin typeface="+mn-ea"/>
                <a:ea typeface="+mn-ea"/>
              </a:rPr>
              <a:t>当前和未来</a:t>
            </a:r>
            <a:r>
              <a:rPr lang="zh-CN" altLang="en-US" sz="2800" dirty="0">
                <a:latin typeface="+mn-ea"/>
                <a:ea typeface="+mn-ea"/>
              </a:rPr>
              <a:t>的商务需求。</a:t>
            </a:r>
            <a:endParaRPr lang="zh-CN" altLang="en-US" sz="2800" dirty="0">
              <a:latin typeface="+mn-ea"/>
              <a:ea typeface="+mn-ea"/>
            </a:endParaRPr>
          </a:p>
          <a:p>
            <a:pPr marL="0" indent="0" defTabSz="868680">
              <a:buFont typeface="Arial" panose="020B0604020202090204" pitchFamily="34" charset="0"/>
              <a:buNone/>
              <a:defRPr/>
            </a:pPr>
            <a:r>
              <a:rPr lang="en-US" altLang="zh-CN" sz="2800" b="1" dirty="0">
                <a:solidFill>
                  <a:srgbClr val="0000FF"/>
                </a:solidFill>
                <a:latin typeface="+mn-ea"/>
                <a:ea typeface="+mn-ea"/>
              </a:rPr>
              <a:t>2</a:t>
            </a:r>
            <a:r>
              <a:rPr lang="zh-CN" altLang="en-US" sz="2800" b="1" dirty="0">
                <a:solidFill>
                  <a:srgbClr val="0000FF"/>
                </a:solidFill>
                <a:latin typeface="+mn-ea"/>
                <a:ea typeface="+mn-ea"/>
              </a:rPr>
              <a:t>）数据源视图：</a:t>
            </a:r>
            <a:r>
              <a:rPr lang="zh-CN" altLang="en-US" sz="2800" dirty="0">
                <a:latin typeface="+mn-ea"/>
                <a:ea typeface="+mn-ea"/>
              </a:rPr>
              <a:t>揭示被操作数据库系统收集、存储、管理的信息。</a:t>
            </a:r>
            <a:endParaRPr lang="en-US" altLang="zh-CN" sz="2800" dirty="0">
              <a:latin typeface="+mn-ea"/>
              <a:ea typeface="+mn-ea"/>
            </a:endParaRPr>
          </a:p>
          <a:p>
            <a:pPr marL="0" indent="0" defTabSz="868680">
              <a:buFont typeface="Arial" panose="020B0604020202090204" pitchFamily="34" charset="0"/>
              <a:buNone/>
              <a:defRPr/>
            </a:pPr>
            <a:r>
              <a:rPr lang="en-US" altLang="zh-CN" sz="2800" b="1" dirty="0">
                <a:solidFill>
                  <a:srgbClr val="0000FF"/>
                </a:solidFill>
                <a:latin typeface="+mn-ea"/>
                <a:ea typeface="+mn-ea"/>
              </a:rPr>
              <a:t>3</a:t>
            </a:r>
            <a:r>
              <a:rPr lang="zh-CN" altLang="en-US" sz="2800" b="1" dirty="0">
                <a:solidFill>
                  <a:srgbClr val="0000FF"/>
                </a:solidFill>
                <a:latin typeface="+mn-ea"/>
                <a:ea typeface="+mn-ea"/>
              </a:rPr>
              <a:t>）数据仓库视图：</a:t>
            </a:r>
            <a:r>
              <a:rPr lang="zh-CN" altLang="en-US" sz="2800" dirty="0">
                <a:latin typeface="+mn-ea"/>
                <a:ea typeface="+mn-ea"/>
              </a:rPr>
              <a:t>包括</a:t>
            </a:r>
            <a:r>
              <a:rPr lang="zh-CN" altLang="en-US" sz="2800" dirty="0">
                <a:solidFill>
                  <a:srgbClr val="FF0000"/>
                </a:solidFill>
                <a:latin typeface="+mn-ea"/>
                <a:ea typeface="+mn-ea"/>
              </a:rPr>
              <a:t>事实表和维表</a:t>
            </a:r>
            <a:r>
              <a:rPr lang="zh-CN" altLang="en-US" sz="2800" dirty="0">
                <a:latin typeface="+mn-ea"/>
                <a:ea typeface="+mn-ea"/>
              </a:rPr>
              <a:t>，它们提供存在数据仓库内的信息，包括预计算的总和与计数，以及提供历史背景的关于源、日期和时间等信息。</a:t>
            </a:r>
            <a:endParaRPr lang="en-US" altLang="zh-CN" sz="2800" dirty="0">
              <a:latin typeface="+mn-ea"/>
              <a:ea typeface="+mn-ea"/>
            </a:endParaRPr>
          </a:p>
          <a:p>
            <a:pPr marL="0" indent="0" defTabSz="868680">
              <a:buFont typeface="Arial" panose="020B0604020202090204" pitchFamily="34" charset="0"/>
              <a:buNone/>
              <a:defRPr/>
            </a:pPr>
            <a:r>
              <a:rPr lang="en-US" altLang="zh-CN" sz="2800" b="1" dirty="0">
                <a:solidFill>
                  <a:srgbClr val="0000FF"/>
                </a:solidFill>
                <a:latin typeface="+mn-ea"/>
                <a:ea typeface="+mn-ea"/>
              </a:rPr>
              <a:t>4</a:t>
            </a:r>
            <a:r>
              <a:rPr lang="zh-CN" altLang="en-US" sz="2800" b="1" dirty="0">
                <a:solidFill>
                  <a:srgbClr val="0000FF"/>
                </a:solidFill>
                <a:latin typeface="+mn-ea"/>
                <a:ea typeface="+mn-ea"/>
              </a:rPr>
              <a:t>）商务查询视图：</a:t>
            </a:r>
            <a:r>
              <a:rPr lang="zh-CN" altLang="en-US" sz="2800" dirty="0">
                <a:solidFill>
                  <a:srgbClr val="FF0000"/>
                </a:solidFill>
                <a:latin typeface="+mn-ea"/>
                <a:ea typeface="+mn-ea"/>
              </a:rPr>
              <a:t>从最终用户的角度</a:t>
            </a:r>
            <a:r>
              <a:rPr lang="zh-CN" altLang="en-US" sz="2800" dirty="0">
                <a:latin typeface="+mn-ea"/>
                <a:ea typeface="+mn-ea"/>
              </a:rPr>
              <a:t>透视数据仓库中的数据。</a:t>
            </a:r>
            <a:endParaRPr lang="en-US" altLang="zh-CN" sz="2800" dirty="0">
              <a:latin typeface="+mn-ea"/>
              <a:ea typeface="+mn-ea"/>
            </a:endParaRPr>
          </a:p>
          <a:p>
            <a:pPr marL="0" indent="0" defTabSz="868680">
              <a:buFont typeface="Arial" panose="020B0604020202090204" pitchFamily="34" charset="0"/>
              <a:buNone/>
              <a:defRPr/>
            </a:pPr>
            <a:r>
              <a:rPr lang="zh-CN" altLang="en-US" sz="2800" dirty="0">
                <a:latin typeface="+mn-ea"/>
                <a:ea typeface="+mn-ea"/>
              </a:rPr>
              <a:t>    建立和使用数据仓库是一项复杂的任务，它需要</a:t>
            </a:r>
            <a:r>
              <a:rPr lang="zh-CN" altLang="en-US" sz="2800" dirty="0">
                <a:solidFill>
                  <a:srgbClr val="FF0000"/>
                </a:solidFill>
                <a:latin typeface="+mn-ea"/>
                <a:ea typeface="+mn-ea"/>
              </a:rPr>
              <a:t>商务技巧、技术技巧、计划管理技巧</a:t>
            </a:r>
            <a:r>
              <a:rPr lang="zh-CN" altLang="en-US" sz="2800" dirty="0">
                <a:latin typeface="+mn-ea"/>
                <a:ea typeface="+mn-ea"/>
              </a:rPr>
              <a:t>。</a:t>
            </a:r>
            <a:endParaRPr lang="zh-CN" altLang="en-US" sz="28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a:t>
            </a:r>
            <a:r>
              <a:rPr lang="en-US" altLang="zh-CN" sz="4400" b="1" dirty="0">
                <a:latin typeface="楷体" panose="02010609060101010101" pitchFamily="49" charset="-122"/>
                <a:ea typeface="楷体" panose="02010609060101010101" pitchFamily="49" charset="-122"/>
              </a:rPr>
              <a:t>4.3 </a:t>
            </a:r>
            <a:r>
              <a:rPr lang="zh-CN" altLang="en-US" sz="4400" b="1" dirty="0">
                <a:latin typeface="楷体" panose="02010609060101010101" pitchFamily="49" charset="-122"/>
                <a:ea typeface="楷体" panose="02010609060101010101" pitchFamily="49" charset="-122"/>
              </a:rPr>
              <a:t>数据仓库的设计与使用</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7" y="1160463"/>
            <a:ext cx="9830459" cy="5895975"/>
          </a:xfrm>
        </p:spPr>
        <p:txBody>
          <a:bodyPr>
            <a:normAutofit fontScale="92500" lnSpcReduction="10000"/>
          </a:bodyPr>
          <a:lstStyle/>
          <a:p>
            <a:pPr marL="0" indent="0" defTabSz="868680">
              <a:buFont typeface="Arial" panose="020B0604020202090204" pitchFamily="34" charset="0"/>
              <a:buNone/>
              <a:defRPr/>
            </a:pPr>
            <a:r>
              <a:rPr lang="en-US" altLang="zh-CN" sz="2600" b="1" dirty="0">
                <a:solidFill>
                  <a:srgbClr val="0000FF"/>
                </a:solidFill>
                <a:latin typeface="+mn-ea"/>
                <a:ea typeface="+mn-ea"/>
              </a:rPr>
              <a:t>2</a:t>
            </a:r>
            <a:r>
              <a:rPr lang="zh-CN" altLang="en-US" sz="2600" b="1" dirty="0">
                <a:solidFill>
                  <a:srgbClr val="0000FF"/>
                </a:solidFill>
                <a:latin typeface="+mn-ea"/>
                <a:ea typeface="+mn-ea"/>
              </a:rPr>
              <a:t>、数据仓库的设计过程</a:t>
            </a:r>
            <a:endParaRPr lang="zh-CN" altLang="en-US" sz="26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    数据仓库可以使用</a:t>
            </a:r>
            <a:r>
              <a:rPr lang="zh-CN" altLang="en-US" sz="2400" dirty="0">
                <a:solidFill>
                  <a:srgbClr val="FF0000"/>
                </a:solidFill>
                <a:latin typeface="+mn-ea"/>
                <a:ea typeface="+mn-ea"/>
              </a:rPr>
              <a:t>自顶向下方法、自底向上方法</a:t>
            </a:r>
            <a:r>
              <a:rPr lang="zh-CN" altLang="en-US" sz="2400" dirty="0">
                <a:latin typeface="+mn-ea"/>
                <a:ea typeface="+mn-ea"/>
              </a:rPr>
              <a:t>，</a:t>
            </a:r>
            <a:r>
              <a:rPr lang="zh-CN" altLang="en-US" sz="2400" dirty="0">
                <a:solidFill>
                  <a:srgbClr val="FF0000"/>
                </a:solidFill>
                <a:latin typeface="+mn-ea"/>
                <a:ea typeface="+mn-ea"/>
              </a:rPr>
              <a:t>或者二者结合的混合方法</a:t>
            </a:r>
            <a:r>
              <a:rPr lang="zh-CN" altLang="en-US" sz="2400" dirty="0">
                <a:latin typeface="+mn-ea"/>
                <a:ea typeface="+mn-ea"/>
              </a:rPr>
              <a:t>设计。一般设计步骤为：</a:t>
            </a:r>
            <a:endParaRPr lang="zh-CN" altLang="en-US" sz="2400" dirty="0">
              <a:latin typeface="+mn-ea"/>
              <a:ea typeface="+mn-ea"/>
            </a:endParaRPr>
          </a:p>
          <a:p>
            <a:pPr marL="716280" indent="-716280" defTabSz="868680">
              <a:buNone/>
              <a:defRPr/>
            </a:pPr>
            <a:r>
              <a:rPr lang="zh-CN" altLang="en-US" sz="2400" b="1" dirty="0">
                <a:latin typeface="+mn-ea"/>
                <a:ea typeface="+mn-ea"/>
              </a:rPr>
              <a:t>（</a:t>
            </a:r>
            <a:r>
              <a:rPr lang="en-US" altLang="zh-CN" sz="2400" b="1" dirty="0">
                <a:latin typeface="+mn-ea"/>
                <a:ea typeface="+mn-ea"/>
              </a:rPr>
              <a:t>1</a:t>
            </a:r>
            <a:r>
              <a:rPr lang="zh-CN" altLang="en-US" sz="2400" b="1" dirty="0">
                <a:latin typeface="+mn-ea"/>
                <a:ea typeface="+mn-ea"/>
              </a:rPr>
              <a:t>）选取待建模的商务处理</a:t>
            </a:r>
            <a:r>
              <a:rPr lang="zh-CN" altLang="en-US" sz="2400" dirty="0">
                <a:latin typeface="+mn-ea"/>
                <a:ea typeface="+mn-ea"/>
              </a:rPr>
              <a:t>（例如 订单、发票、销售）：如果一个商务过程</a:t>
            </a:r>
            <a:endParaRPr lang="en-US" altLang="zh-CN" sz="2400" dirty="0">
              <a:latin typeface="+mn-ea"/>
              <a:ea typeface="+mn-ea"/>
            </a:endParaRPr>
          </a:p>
          <a:p>
            <a:pPr lvl="1" defTabSz="868680">
              <a:buFont typeface="Arial" panose="020B0604020202090204" pitchFamily="34" charset="0"/>
              <a:buChar char="•"/>
              <a:defRPr/>
            </a:pPr>
            <a:r>
              <a:rPr lang="zh-CN" altLang="en-US" sz="2200" dirty="0">
                <a:latin typeface="+mn-ea"/>
                <a:ea typeface="+mn-ea"/>
              </a:rPr>
              <a:t>是</a:t>
            </a:r>
            <a:r>
              <a:rPr lang="zh-CN" altLang="en-US" sz="2200" dirty="0">
                <a:solidFill>
                  <a:srgbClr val="FF0000"/>
                </a:solidFill>
                <a:latin typeface="+mn-ea"/>
                <a:ea typeface="+mn-ea"/>
              </a:rPr>
              <a:t>整个组织</a:t>
            </a:r>
            <a:r>
              <a:rPr lang="zh-CN" altLang="en-US" sz="2200" dirty="0">
                <a:latin typeface="+mn-ea"/>
                <a:ea typeface="+mn-ea"/>
              </a:rPr>
              <a:t>并涉及多个复杂对象应该使用</a:t>
            </a:r>
            <a:r>
              <a:rPr lang="zh-CN" altLang="en-US" sz="2200" dirty="0">
                <a:solidFill>
                  <a:srgbClr val="FF0000"/>
                </a:solidFill>
                <a:latin typeface="+mn-ea"/>
                <a:ea typeface="+mn-ea"/>
              </a:rPr>
              <a:t>数据仓库模型</a:t>
            </a:r>
            <a:endParaRPr lang="en-US" altLang="zh-CN" sz="2200" dirty="0">
              <a:latin typeface="+mn-ea"/>
              <a:ea typeface="+mn-ea"/>
            </a:endParaRPr>
          </a:p>
          <a:p>
            <a:pPr lvl="1" defTabSz="868680">
              <a:buFont typeface="Arial" panose="020B0604020202090204" pitchFamily="34" charset="0"/>
              <a:buChar char="•"/>
              <a:defRPr/>
            </a:pPr>
            <a:r>
              <a:rPr lang="zh-CN" altLang="en-US" sz="2200" dirty="0">
                <a:latin typeface="+mn-ea"/>
                <a:ea typeface="+mn-ea"/>
              </a:rPr>
              <a:t>是处理</a:t>
            </a:r>
            <a:r>
              <a:rPr lang="zh-CN" altLang="en-US" sz="2200" dirty="0">
                <a:solidFill>
                  <a:srgbClr val="FF0000"/>
                </a:solidFill>
                <a:latin typeface="+mn-ea"/>
                <a:ea typeface="+mn-ea"/>
              </a:rPr>
              <a:t>部门</a:t>
            </a:r>
            <a:r>
              <a:rPr lang="zh-CN" altLang="en-US" sz="2200" dirty="0">
                <a:latin typeface="+mn-ea"/>
                <a:ea typeface="+mn-ea"/>
              </a:rPr>
              <a:t>的，并关注某一类商务处理的分析，应当选择</a:t>
            </a:r>
            <a:r>
              <a:rPr lang="zh-CN" altLang="en-US" sz="2200" dirty="0">
                <a:solidFill>
                  <a:srgbClr val="FF0000"/>
                </a:solidFill>
                <a:latin typeface="+mn-ea"/>
                <a:ea typeface="+mn-ea"/>
              </a:rPr>
              <a:t>数据集市</a:t>
            </a:r>
            <a:r>
              <a:rPr lang="zh-CN" altLang="en-US" sz="2200" dirty="0">
                <a:latin typeface="+mn-ea"/>
                <a:ea typeface="+mn-ea"/>
              </a:rPr>
              <a:t>。</a:t>
            </a:r>
            <a:endParaRPr lang="zh-CN" altLang="en-US" sz="2200" dirty="0">
              <a:latin typeface="+mn-ea"/>
              <a:ea typeface="+mn-ea"/>
            </a:endParaRPr>
          </a:p>
          <a:p>
            <a:pPr marL="716280" indent="-716280" defTabSz="868680">
              <a:buFont typeface="Arial" panose="020B0604020202090204" pitchFamily="34" charset="0"/>
              <a:buNone/>
              <a:defRPr/>
            </a:pPr>
            <a:r>
              <a:rPr lang="zh-CN" altLang="en-US" sz="2400" b="1" dirty="0">
                <a:latin typeface="+mn-ea"/>
                <a:ea typeface="+mn-ea"/>
              </a:rPr>
              <a:t>（</a:t>
            </a:r>
            <a:r>
              <a:rPr lang="en-US" altLang="zh-CN" sz="2400" b="1" dirty="0">
                <a:latin typeface="+mn-ea"/>
                <a:ea typeface="+mn-ea"/>
              </a:rPr>
              <a:t>2</a:t>
            </a:r>
            <a:r>
              <a:rPr lang="zh-CN" altLang="en-US" sz="2400" b="1" dirty="0">
                <a:latin typeface="+mn-ea"/>
                <a:ea typeface="+mn-ea"/>
              </a:rPr>
              <a:t>）选取商务处理的粒度：</a:t>
            </a:r>
            <a:r>
              <a:rPr lang="zh-CN" altLang="en-US" sz="2400" dirty="0">
                <a:latin typeface="+mn-ea"/>
                <a:ea typeface="+mn-ea"/>
              </a:rPr>
              <a:t>对于处理，该粒度是基本的，在事实表中是数据的原子级（例如，单个事务、一天的快照）。</a:t>
            </a:r>
            <a:endParaRPr lang="zh-CN" altLang="en-US" sz="2400" dirty="0">
              <a:latin typeface="+mn-ea"/>
              <a:ea typeface="+mn-ea"/>
            </a:endParaRPr>
          </a:p>
          <a:p>
            <a:pPr marL="716280" indent="-716280" defTabSz="868680">
              <a:buFont typeface="Arial" panose="020B0604020202090204" pitchFamily="34" charset="0"/>
              <a:buNone/>
              <a:defRPr/>
            </a:pPr>
            <a:r>
              <a:rPr lang="zh-CN" altLang="en-US" sz="2400" b="1" dirty="0">
                <a:latin typeface="+mn-ea"/>
                <a:ea typeface="+mn-ea"/>
              </a:rPr>
              <a:t>（</a:t>
            </a:r>
            <a:r>
              <a:rPr lang="en-US" altLang="zh-CN" sz="2400" b="1" dirty="0">
                <a:latin typeface="+mn-ea"/>
                <a:ea typeface="+mn-ea"/>
              </a:rPr>
              <a:t>3</a:t>
            </a:r>
            <a:r>
              <a:rPr lang="zh-CN" altLang="en-US" sz="2400" b="1" dirty="0">
                <a:latin typeface="+mn-ea"/>
                <a:ea typeface="+mn-ea"/>
              </a:rPr>
              <a:t>）选取用于每个事实表记录的维</a:t>
            </a:r>
            <a:r>
              <a:rPr lang="zh-CN" altLang="en-US" sz="2400" dirty="0">
                <a:latin typeface="+mn-ea"/>
                <a:ea typeface="+mn-ea"/>
              </a:rPr>
              <a:t>：典型的维是</a:t>
            </a:r>
            <a:r>
              <a:rPr lang="zh-CN" altLang="en-US" sz="2400" dirty="0">
                <a:solidFill>
                  <a:srgbClr val="FF0000"/>
                </a:solidFill>
                <a:latin typeface="+mn-ea"/>
                <a:ea typeface="+mn-ea"/>
              </a:rPr>
              <a:t>时间、商品、顾客、供应商、仓库、事务类型和状态</a:t>
            </a:r>
            <a:r>
              <a:rPr lang="zh-CN" altLang="en-US" sz="2400" dirty="0">
                <a:latin typeface="+mn-ea"/>
                <a:ea typeface="+mn-ea"/>
              </a:rPr>
              <a:t>。</a:t>
            </a:r>
            <a:endParaRPr lang="zh-CN" altLang="en-US" sz="2400" dirty="0">
              <a:latin typeface="+mn-ea"/>
              <a:ea typeface="+mn-ea"/>
            </a:endParaRPr>
          </a:p>
          <a:p>
            <a:pPr marL="716280" indent="-716280" defTabSz="868680">
              <a:buFont typeface="Arial" panose="020B0604020202090204" pitchFamily="34" charset="0"/>
              <a:buNone/>
              <a:defRPr/>
            </a:pPr>
            <a:r>
              <a:rPr lang="zh-CN" altLang="en-US" sz="2400" b="1" dirty="0">
                <a:latin typeface="+mn-ea"/>
                <a:ea typeface="+mn-ea"/>
              </a:rPr>
              <a:t>（</a:t>
            </a:r>
            <a:r>
              <a:rPr lang="en-US" altLang="zh-CN" sz="2400" b="1" dirty="0">
                <a:latin typeface="+mn-ea"/>
                <a:ea typeface="+mn-ea"/>
              </a:rPr>
              <a:t>4</a:t>
            </a:r>
            <a:r>
              <a:rPr lang="zh-CN" altLang="en-US" sz="2400" b="1" dirty="0">
                <a:latin typeface="+mn-ea"/>
                <a:ea typeface="+mn-ea"/>
              </a:rPr>
              <a:t>）选取将安放在每个事实表记录中的度量</a:t>
            </a:r>
            <a:r>
              <a:rPr lang="zh-CN" altLang="en-US" sz="2400" dirty="0">
                <a:latin typeface="+mn-ea"/>
                <a:ea typeface="+mn-ea"/>
              </a:rPr>
              <a:t>：典型的度量是</a:t>
            </a:r>
            <a:r>
              <a:rPr lang="zh-CN" altLang="en-US" sz="2400" dirty="0">
                <a:solidFill>
                  <a:srgbClr val="FF0000"/>
                </a:solidFill>
                <a:latin typeface="+mn-ea"/>
                <a:ea typeface="+mn-ea"/>
              </a:rPr>
              <a:t>可加的数值量</a:t>
            </a:r>
            <a:r>
              <a:rPr lang="zh-CN" altLang="en-US" sz="2400" dirty="0">
                <a:latin typeface="+mn-ea"/>
                <a:ea typeface="+mn-ea"/>
              </a:rPr>
              <a:t>。如</a:t>
            </a:r>
            <a:r>
              <a:rPr lang="en-US" altLang="zh-CN" sz="2400" dirty="0" err="1">
                <a:latin typeface="+mn-ea"/>
                <a:ea typeface="+mn-ea"/>
              </a:rPr>
              <a:t>dollars_sold</a:t>
            </a:r>
            <a:r>
              <a:rPr lang="zh-CN" altLang="en-US" sz="2400" dirty="0">
                <a:latin typeface="+mn-ea"/>
                <a:ea typeface="+mn-ea"/>
              </a:rPr>
              <a:t>和</a:t>
            </a:r>
            <a:r>
              <a:rPr lang="en-US" altLang="zh-CN" sz="2400" dirty="0" err="1">
                <a:latin typeface="+mn-ea"/>
                <a:ea typeface="+mn-ea"/>
              </a:rPr>
              <a:t>units_sold</a:t>
            </a:r>
            <a:r>
              <a:rPr lang="zh-CN" altLang="en-US" sz="2400" dirty="0">
                <a:latin typeface="+mn-ea"/>
                <a:ea typeface="+mn-ea"/>
              </a:rPr>
              <a:t>。</a:t>
            </a:r>
            <a:endParaRPr lang="zh-CN" altLang="en-US" sz="24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8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a:t>
            </a:r>
            <a:r>
              <a:rPr lang="en-US" altLang="zh-CN" sz="4400" b="1" dirty="0">
                <a:latin typeface="楷体" panose="02010609060101010101" pitchFamily="49" charset="-122"/>
                <a:ea typeface="楷体" panose="02010609060101010101" pitchFamily="49" charset="-122"/>
              </a:rPr>
              <a:t>4.3 </a:t>
            </a:r>
            <a:r>
              <a:rPr lang="zh-CN" altLang="en-US" sz="4400" b="1" dirty="0">
                <a:latin typeface="楷体" panose="02010609060101010101" pitchFamily="49" charset="-122"/>
                <a:ea typeface="楷体" panose="02010609060101010101" pitchFamily="49" charset="-122"/>
              </a:rPr>
              <a:t>数据仓库的设计与使用</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677400" cy="5895975"/>
          </a:xfrm>
        </p:spPr>
        <p:txBody>
          <a:bodyPr>
            <a:normAutofit/>
          </a:bodyPr>
          <a:lstStyle/>
          <a:p>
            <a:pPr marL="0" indent="0" defTabSz="868680">
              <a:buFont typeface="Arial" panose="020B0604020202090204" pitchFamily="34" charset="0"/>
              <a:buNone/>
              <a:defRPr/>
            </a:pPr>
            <a:r>
              <a:rPr lang="en-US" altLang="zh-CN" sz="2600" b="1" dirty="0">
                <a:solidFill>
                  <a:srgbClr val="0000FF"/>
                </a:solidFill>
                <a:latin typeface="+mn-ea"/>
                <a:ea typeface="+mn-ea"/>
              </a:rPr>
              <a:t>2</a:t>
            </a:r>
            <a:r>
              <a:rPr lang="zh-CN" altLang="en-US" sz="2600" b="1" dirty="0">
                <a:solidFill>
                  <a:srgbClr val="0000FF"/>
                </a:solidFill>
                <a:latin typeface="+mn-ea"/>
                <a:ea typeface="+mn-ea"/>
              </a:rPr>
              <a:t>、数据仓库的设计过程</a:t>
            </a:r>
            <a:endParaRPr lang="en-US" altLang="zh-CN" sz="26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数据仓库仓库的设计</a:t>
            </a:r>
            <a:r>
              <a:rPr lang="zh-CN" altLang="en-US" sz="2400" b="1" dirty="0">
                <a:latin typeface="+mn-ea"/>
                <a:ea typeface="+mn-ea"/>
              </a:rPr>
              <a:t>工具</a:t>
            </a:r>
            <a:r>
              <a:rPr lang="zh-CN" altLang="en-US" sz="2400" dirty="0">
                <a:latin typeface="+mn-ea"/>
                <a:ea typeface="+mn-ea"/>
              </a:rPr>
              <a:t>：</a:t>
            </a:r>
            <a:endParaRPr lang="en-US" altLang="zh-CN" sz="2400" dirty="0">
              <a:latin typeface="+mn-ea"/>
              <a:ea typeface="+mn-ea"/>
            </a:endParaRPr>
          </a:p>
          <a:p>
            <a:pPr defTabSz="868680">
              <a:buFont typeface="Wingdings" panose="05000000000000000000" pitchFamily="2" charset="2"/>
              <a:buChar char="Ø"/>
              <a:defRPr/>
            </a:pPr>
            <a:r>
              <a:rPr lang="zh-CN" altLang="en-US" sz="2400" b="1" dirty="0">
                <a:latin typeface="+mn-ea"/>
                <a:ea typeface="+mn-ea"/>
              </a:rPr>
              <a:t>数据仓库</a:t>
            </a:r>
            <a:r>
              <a:rPr lang="zh-CN" altLang="en-US" sz="2400" b="1" dirty="0">
                <a:solidFill>
                  <a:srgbClr val="0000FF"/>
                </a:solidFill>
                <a:latin typeface="+mn-ea"/>
                <a:ea typeface="+mn-ea"/>
              </a:rPr>
              <a:t>开发工具</a:t>
            </a:r>
            <a:r>
              <a:rPr lang="zh-CN" altLang="en-US" sz="2400" b="1" dirty="0">
                <a:latin typeface="+mn-ea"/>
                <a:ea typeface="+mn-ea"/>
              </a:rPr>
              <a:t>：</a:t>
            </a:r>
            <a:r>
              <a:rPr lang="zh-CN" altLang="en-US" sz="2400" dirty="0">
                <a:solidFill>
                  <a:srgbClr val="FF0000"/>
                </a:solidFill>
                <a:latin typeface="+mn-ea"/>
                <a:ea typeface="+mn-ea"/>
              </a:rPr>
              <a:t>定义或编辑元数据库内容</a:t>
            </a:r>
            <a:r>
              <a:rPr lang="zh-CN" altLang="en-US" sz="2400" dirty="0">
                <a:latin typeface="+mn-ea"/>
                <a:ea typeface="+mn-ea"/>
              </a:rPr>
              <a:t>（如模式、脚本或规则），</a:t>
            </a:r>
            <a:r>
              <a:rPr lang="zh-CN" altLang="en-US" sz="2400" dirty="0">
                <a:solidFill>
                  <a:srgbClr val="FF0000"/>
                </a:solidFill>
                <a:latin typeface="+mn-ea"/>
                <a:ea typeface="+mn-ea"/>
              </a:rPr>
              <a:t>回答查询</a:t>
            </a:r>
            <a:r>
              <a:rPr lang="zh-CN" altLang="en-US" sz="2400" dirty="0">
                <a:latin typeface="+mn-ea"/>
                <a:ea typeface="+mn-ea"/>
              </a:rPr>
              <a:t>，</a:t>
            </a:r>
            <a:r>
              <a:rPr lang="zh-CN" altLang="en-US" sz="2400" dirty="0">
                <a:solidFill>
                  <a:srgbClr val="FF0000"/>
                </a:solidFill>
                <a:latin typeface="+mn-ea"/>
                <a:ea typeface="+mn-ea"/>
              </a:rPr>
              <a:t>输出报告</a:t>
            </a:r>
            <a:r>
              <a:rPr lang="zh-CN" altLang="en-US" sz="2400" dirty="0">
                <a:latin typeface="+mn-ea"/>
                <a:ea typeface="+mn-ea"/>
              </a:rPr>
              <a:t>，向或从关系数据库目录</a:t>
            </a:r>
            <a:r>
              <a:rPr lang="zh-CN" altLang="en-US" sz="2400" dirty="0">
                <a:solidFill>
                  <a:srgbClr val="FF0000"/>
                </a:solidFill>
                <a:latin typeface="+mn-ea"/>
                <a:ea typeface="+mn-ea"/>
              </a:rPr>
              <a:t>传送元数据</a:t>
            </a:r>
            <a:r>
              <a:rPr lang="zh-CN" altLang="en-US" sz="2400" dirty="0">
                <a:latin typeface="+mn-ea"/>
                <a:ea typeface="+mn-ea"/>
              </a:rPr>
              <a:t>。</a:t>
            </a:r>
            <a:endParaRPr lang="en-US" altLang="zh-CN" sz="2400" dirty="0">
              <a:latin typeface="+mn-ea"/>
              <a:ea typeface="+mn-ea"/>
            </a:endParaRPr>
          </a:p>
          <a:p>
            <a:pPr defTabSz="868680">
              <a:buFont typeface="Wingdings" panose="05000000000000000000" pitchFamily="2" charset="2"/>
              <a:buChar char="Ø"/>
              <a:defRPr/>
            </a:pPr>
            <a:r>
              <a:rPr lang="zh-CN" altLang="en-US" sz="2400" b="1" dirty="0">
                <a:solidFill>
                  <a:srgbClr val="0000FF"/>
                </a:solidFill>
                <a:latin typeface="+mn-ea"/>
                <a:ea typeface="+mn-ea"/>
              </a:rPr>
              <a:t>规划与分析工具</a:t>
            </a:r>
            <a:r>
              <a:rPr lang="zh-CN" altLang="en-US" sz="2400" b="1" dirty="0">
                <a:latin typeface="+mn-ea"/>
                <a:ea typeface="+mn-ea"/>
              </a:rPr>
              <a:t>：</a:t>
            </a:r>
            <a:r>
              <a:rPr lang="zh-CN" altLang="en-US" sz="2400" dirty="0">
                <a:solidFill>
                  <a:srgbClr val="FF0000"/>
                </a:solidFill>
                <a:latin typeface="+mn-ea"/>
                <a:ea typeface="+mn-ea"/>
              </a:rPr>
              <a:t>研究模式改变的影响</a:t>
            </a:r>
            <a:r>
              <a:rPr lang="zh-CN" altLang="en-US" sz="2400" dirty="0">
                <a:latin typeface="+mn-ea"/>
                <a:ea typeface="+mn-ea"/>
              </a:rPr>
              <a:t>，以及当刷新率或时间窗口改变时对</a:t>
            </a:r>
            <a:r>
              <a:rPr lang="zh-CN" altLang="en-US" sz="2400" dirty="0">
                <a:solidFill>
                  <a:srgbClr val="FF0000"/>
                </a:solidFill>
                <a:latin typeface="+mn-ea"/>
                <a:ea typeface="+mn-ea"/>
              </a:rPr>
              <a:t>刷新性能</a:t>
            </a:r>
            <a:r>
              <a:rPr lang="zh-CN" altLang="en-US" sz="2400" dirty="0">
                <a:latin typeface="+mn-ea"/>
                <a:ea typeface="+mn-ea"/>
              </a:rPr>
              <a:t>的影响。</a:t>
            </a:r>
            <a:endParaRPr lang="zh-CN" altLang="en-US" sz="24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a:t>
            </a:r>
            <a:r>
              <a:rPr lang="en-US" altLang="zh-CN" sz="4400" b="1" dirty="0">
                <a:latin typeface="楷体" panose="02010609060101010101" pitchFamily="49" charset="-122"/>
                <a:ea typeface="楷体" panose="02010609060101010101" pitchFamily="49" charset="-122"/>
              </a:rPr>
              <a:t>4.3 </a:t>
            </a:r>
            <a:r>
              <a:rPr lang="zh-CN" altLang="en-US" sz="4400" b="1" dirty="0">
                <a:latin typeface="楷体" panose="02010609060101010101" pitchFamily="49" charset="-122"/>
                <a:ea typeface="楷体" panose="02010609060101010101" pitchFamily="49" charset="-122"/>
              </a:rPr>
              <a:t>数据仓库的设计与使用</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677400" cy="5895975"/>
          </a:xfrm>
        </p:spPr>
        <p:txBody>
          <a:bodyPr>
            <a:normAutofit/>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、数据仓库用于信息处理</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三类数据仓库应用：</a:t>
            </a:r>
            <a:endParaRPr lang="zh-CN" altLang="en-US" sz="2400" dirty="0">
              <a:latin typeface="+mn-ea"/>
              <a:ea typeface="+mn-ea"/>
            </a:endParaRPr>
          </a:p>
          <a:p>
            <a:pPr marL="533400" indent="-351155" defTabSz="868680">
              <a:buSzPct val="120000"/>
              <a:defRPr/>
            </a:pPr>
            <a:r>
              <a:rPr lang="zh-CN" altLang="en-US" sz="2400" b="1" dirty="0">
                <a:solidFill>
                  <a:srgbClr val="0000FF"/>
                </a:solidFill>
                <a:latin typeface="+mn-ea"/>
                <a:ea typeface="+mn-ea"/>
              </a:rPr>
              <a:t>信息处理：</a:t>
            </a:r>
            <a:r>
              <a:rPr lang="zh-CN" altLang="en-US" sz="2400" dirty="0">
                <a:solidFill>
                  <a:srgbClr val="FF0000"/>
                </a:solidFill>
                <a:latin typeface="+mn-ea"/>
                <a:ea typeface="+mn-ea"/>
              </a:rPr>
              <a:t>支持查询和基本的统计分析</a:t>
            </a:r>
            <a:r>
              <a:rPr lang="zh-CN" altLang="en-US" sz="2400" dirty="0">
                <a:latin typeface="+mn-ea"/>
                <a:ea typeface="+mn-ea"/>
              </a:rPr>
              <a:t>，并使用</a:t>
            </a:r>
            <a:r>
              <a:rPr lang="zh-CN" altLang="en-US" sz="2400" dirty="0">
                <a:solidFill>
                  <a:srgbClr val="FF0000"/>
                </a:solidFill>
                <a:latin typeface="+mn-ea"/>
                <a:ea typeface="+mn-ea"/>
              </a:rPr>
              <a:t>交叉表、表、图表或图</a:t>
            </a:r>
            <a:r>
              <a:rPr lang="zh-CN" altLang="en-US" sz="2400" dirty="0">
                <a:latin typeface="+mn-ea"/>
                <a:ea typeface="+mn-ea"/>
              </a:rPr>
              <a:t>进行报告。</a:t>
            </a:r>
            <a:r>
              <a:rPr lang="zh-CN" altLang="en-US" sz="2400" b="1" dirty="0">
                <a:latin typeface="+mn-ea"/>
                <a:ea typeface="+mn-ea"/>
              </a:rPr>
              <a:t>趋势：</a:t>
            </a:r>
            <a:r>
              <a:rPr lang="zh-CN" altLang="en-US" sz="2400" dirty="0">
                <a:latin typeface="+mn-ea"/>
                <a:ea typeface="+mn-ea"/>
              </a:rPr>
              <a:t>构造低价格的基于</a:t>
            </a:r>
            <a:r>
              <a:rPr lang="en-US" altLang="zh-CN" sz="2400" dirty="0">
                <a:latin typeface="+mn-ea"/>
                <a:ea typeface="+mn-ea"/>
              </a:rPr>
              <a:t>Web</a:t>
            </a:r>
            <a:r>
              <a:rPr lang="zh-CN" altLang="en-US" sz="2400" dirty="0">
                <a:latin typeface="+mn-ea"/>
                <a:ea typeface="+mn-ea"/>
              </a:rPr>
              <a:t>的访问工具，然后与</a:t>
            </a:r>
            <a:r>
              <a:rPr lang="en-US" altLang="zh-CN" sz="2400" dirty="0">
                <a:latin typeface="+mn-ea"/>
                <a:ea typeface="+mn-ea"/>
              </a:rPr>
              <a:t>Web</a:t>
            </a:r>
            <a:r>
              <a:rPr lang="zh-CN" altLang="en-US" sz="2400" dirty="0">
                <a:latin typeface="+mn-ea"/>
                <a:ea typeface="+mn-ea"/>
              </a:rPr>
              <a:t>浏览器集成在一起。</a:t>
            </a:r>
            <a:endParaRPr lang="zh-CN" altLang="en-US" sz="2400" dirty="0">
              <a:latin typeface="+mn-ea"/>
              <a:ea typeface="+mn-ea"/>
            </a:endParaRPr>
          </a:p>
          <a:p>
            <a:pPr marL="533400" indent="-351155" defTabSz="868680">
              <a:buSzPct val="120000"/>
              <a:defRPr/>
            </a:pPr>
            <a:r>
              <a:rPr lang="zh-CN" altLang="en-US" sz="2400" b="1" dirty="0">
                <a:solidFill>
                  <a:srgbClr val="0000FF"/>
                </a:solidFill>
                <a:latin typeface="+mn-ea"/>
                <a:ea typeface="+mn-ea"/>
              </a:rPr>
              <a:t>分析处理：</a:t>
            </a:r>
            <a:r>
              <a:rPr lang="zh-CN" altLang="en-US" sz="2400" dirty="0">
                <a:solidFill>
                  <a:srgbClr val="FF0000"/>
                </a:solidFill>
                <a:latin typeface="+mn-ea"/>
                <a:ea typeface="+mn-ea"/>
              </a:rPr>
              <a:t>支持基本的</a:t>
            </a:r>
            <a:r>
              <a:rPr lang="en-US" altLang="zh-CN" sz="2400" dirty="0">
                <a:solidFill>
                  <a:srgbClr val="FF0000"/>
                </a:solidFill>
                <a:latin typeface="+mn-ea"/>
                <a:ea typeface="+mn-ea"/>
              </a:rPr>
              <a:t>OLAP</a:t>
            </a:r>
            <a:r>
              <a:rPr lang="zh-CN" altLang="en-US" sz="2400" dirty="0">
                <a:solidFill>
                  <a:srgbClr val="FF0000"/>
                </a:solidFill>
                <a:latin typeface="+mn-ea"/>
                <a:ea typeface="+mn-ea"/>
              </a:rPr>
              <a:t>操作</a:t>
            </a:r>
            <a:r>
              <a:rPr lang="zh-CN" altLang="en-US" sz="2400" dirty="0">
                <a:latin typeface="+mn-ea"/>
                <a:ea typeface="+mn-ea"/>
              </a:rPr>
              <a:t>，包括</a:t>
            </a:r>
            <a:r>
              <a:rPr lang="zh-CN" altLang="en-US" sz="2400" dirty="0">
                <a:solidFill>
                  <a:srgbClr val="FF0000"/>
                </a:solidFill>
                <a:latin typeface="+mn-ea"/>
                <a:ea typeface="+mn-ea"/>
              </a:rPr>
              <a:t>切片与切块、下钻、上卷、转轴</a:t>
            </a:r>
            <a:r>
              <a:rPr lang="zh-CN" altLang="en-US" sz="2400" dirty="0">
                <a:latin typeface="+mn-ea"/>
                <a:ea typeface="+mn-ea"/>
              </a:rPr>
              <a:t>。一般地，它在汇总和细节的历史数据上操作。</a:t>
            </a:r>
            <a:endParaRPr lang="zh-CN" altLang="en-US" sz="2400" dirty="0">
              <a:latin typeface="+mn-ea"/>
              <a:ea typeface="+mn-ea"/>
            </a:endParaRPr>
          </a:p>
          <a:p>
            <a:pPr marL="533400" indent="-351155" defTabSz="868680">
              <a:buSzPct val="120000"/>
              <a:defRPr/>
            </a:pPr>
            <a:r>
              <a:rPr lang="zh-CN" altLang="en-US" sz="2400" b="1" dirty="0">
                <a:solidFill>
                  <a:srgbClr val="0000FF"/>
                </a:solidFill>
                <a:latin typeface="+mn-ea"/>
                <a:ea typeface="+mn-ea"/>
              </a:rPr>
              <a:t>数据挖掘：</a:t>
            </a:r>
            <a:r>
              <a:rPr lang="zh-CN" altLang="en-US" sz="2400" dirty="0">
                <a:solidFill>
                  <a:srgbClr val="FF0000"/>
                </a:solidFill>
                <a:latin typeface="+mn-ea"/>
                <a:ea typeface="+mn-ea"/>
              </a:rPr>
              <a:t>支持知识发现</a:t>
            </a:r>
            <a:r>
              <a:rPr lang="zh-CN" altLang="en-US" sz="2400" dirty="0">
                <a:latin typeface="+mn-ea"/>
                <a:ea typeface="+mn-ea"/>
              </a:rPr>
              <a:t>，包括</a:t>
            </a:r>
            <a:r>
              <a:rPr lang="zh-CN" altLang="en-US" sz="2400" dirty="0">
                <a:solidFill>
                  <a:srgbClr val="FF0000"/>
                </a:solidFill>
                <a:latin typeface="+mn-ea"/>
                <a:ea typeface="+mn-ea"/>
              </a:rPr>
              <a:t>找出隐藏的模式和关联</a:t>
            </a:r>
            <a:r>
              <a:rPr lang="zh-CN" altLang="en-US" sz="2400" dirty="0">
                <a:latin typeface="+mn-ea"/>
                <a:ea typeface="+mn-ea"/>
              </a:rPr>
              <a:t>，</a:t>
            </a:r>
            <a:r>
              <a:rPr lang="zh-CN" altLang="en-US" sz="2400" dirty="0">
                <a:solidFill>
                  <a:srgbClr val="FF0000"/>
                </a:solidFill>
                <a:latin typeface="+mn-ea"/>
                <a:ea typeface="+mn-ea"/>
              </a:rPr>
              <a:t>构造分析模型</a:t>
            </a:r>
            <a:r>
              <a:rPr lang="zh-CN" altLang="en-US" sz="2400" dirty="0">
                <a:latin typeface="+mn-ea"/>
                <a:ea typeface="+mn-ea"/>
              </a:rPr>
              <a:t>，进行</a:t>
            </a:r>
            <a:r>
              <a:rPr lang="zh-CN" altLang="en-US" sz="2400" dirty="0">
                <a:solidFill>
                  <a:srgbClr val="FF0000"/>
                </a:solidFill>
                <a:latin typeface="+mn-ea"/>
                <a:ea typeface="+mn-ea"/>
              </a:rPr>
              <a:t>分类和预测</a:t>
            </a:r>
            <a:r>
              <a:rPr lang="zh-CN" altLang="en-US" sz="2400" dirty="0">
                <a:latin typeface="+mn-ea"/>
                <a:ea typeface="+mn-ea"/>
              </a:rPr>
              <a:t>，并使用可视化工具提供挖掘结果。</a:t>
            </a:r>
            <a:endParaRPr lang="zh-CN" altLang="en-US" sz="24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a:t>
            </a:r>
            <a:r>
              <a:rPr lang="en-US" altLang="zh-CN" sz="4400" b="1" dirty="0">
                <a:latin typeface="楷体" panose="02010609060101010101" pitchFamily="49" charset="-122"/>
                <a:ea typeface="楷体" panose="02010609060101010101" pitchFamily="49" charset="-122"/>
              </a:rPr>
              <a:t>4.3 </a:t>
            </a:r>
            <a:r>
              <a:rPr lang="zh-CN" altLang="en-US" sz="4400" b="1" dirty="0">
                <a:latin typeface="楷体" panose="02010609060101010101" pitchFamily="49" charset="-122"/>
                <a:ea typeface="楷体" panose="02010609060101010101" pitchFamily="49" charset="-122"/>
              </a:rPr>
              <a:t>数据仓库的设计与使用</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677400" cy="5895975"/>
          </a:xfrm>
        </p:spPr>
        <p:txBody>
          <a:bodyPr>
            <a:normAutofit fontScale="92500" lnSpcReduction="10000"/>
          </a:bodyPr>
          <a:lstStyle/>
          <a:p>
            <a:pPr marL="0" indent="0" defTabSz="868680">
              <a:buFont typeface="Arial" panose="020B0604020202090204" pitchFamily="34" charset="0"/>
              <a:buNone/>
              <a:defRPr/>
            </a:pPr>
            <a:r>
              <a:rPr lang="en-US" altLang="zh-CN" sz="2600" b="1" dirty="0">
                <a:solidFill>
                  <a:srgbClr val="0000FF"/>
                </a:solidFill>
                <a:latin typeface="+mn-ea"/>
                <a:ea typeface="+mn-ea"/>
              </a:rPr>
              <a:t>3</a:t>
            </a:r>
            <a:r>
              <a:rPr lang="zh-CN" altLang="en-US" sz="2600" b="1" dirty="0">
                <a:solidFill>
                  <a:srgbClr val="0000FF"/>
                </a:solidFill>
                <a:latin typeface="+mn-ea"/>
                <a:ea typeface="+mn-ea"/>
              </a:rPr>
              <a:t>、数据仓库用于信息处理</a:t>
            </a:r>
            <a:endParaRPr lang="zh-CN" altLang="en-US" sz="2600" b="1" dirty="0">
              <a:solidFill>
                <a:srgbClr val="0000FF"/>
              </a:solidFill>
              <a:latin typeface="+mn-ea"/>
              <a:ea typeface="+mn-ea"/>
            </a:endParaRPr>
          </a:p>
          <a:p>
            <a:pPr marL="0" indent="0" defTabSz="868680">
              <a:buFont typeface="Arial" panose="020B0604020202090204" pitchFamily="34" charset="0"/>
              <a:buNone/>
              <a:defRPr/>
            </a:pPr>
            <a:r>
              <a:rPr lang="zh-CN" altLang="en-US" sz="2400" b="1" dirty="0">
                <a:latin typeface="+mn-ea"/>
                <a:ea typeface="+mn-ea"/>
              </a:rPr>
              <a:t>数据挖掘、信息处理、联机数据分析的关系是什么？</a:t>
            </a:r>
            <a:endParaRPr lang="zh-CN" altLang="en-US" sz="2400" b="1" dirty="0">
              <a:latin typeface="+mn-ea"/>
              <a:ea typeface="+mn-ea"/>
            </a:endParaRPr>
          </a:p>
          <a:p>
            <a:pPr marL="719455" indent="-719455" defTabSz="868680">
              <a:buFont typeface="Arial" panose="020B0604020202090204" pitchFamily="34" charset="0"/>
              <a:buNone/>
              <a:defRPr/>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）信息处理</a:t>
            </a:r>
            <a:r>
              <a:rPr lang="zh-CN" altLang="en-US" sz="2400" dirty="0">
                <a:solidFill>
                  <a:srgbClr val="FF0000"/>
                </a:solidFill>
                <a:latin typeface="+mn-ea"/>
                <a:ea typeface="+mn-ea"/>
              </a:rPr>
              <a:t>基于查询，发现有用的信息</a:t>
            </a:r>
            <a:r>
              <a:rPr lang="zh-CN" altLang="en-US" sz="2400" dirty="0">
                <a:latin typeface="+mn-ea"/>
                <a:ea typeface="+mn-ea"/>
              </a:rPr>
              <a:t>，这种查询的回答</a:t>
            </a:r>
            <a:r>
              <a:rPr lang="zh-CN" altLang="en-US" sz="2400" dirty="0">
                <a:solidFill>
                  <a:srgbClr val="FF0000"/>
                </a:solidFill>
                <a:latin typeface="+mn-ea"/>
                <a:ea typeface="+mn-ea"/>
              </a:rPr>
              <a:t>反映直接存放在数据库中的信息，并不反映复杂的模式或规律</a:t>
            </a:r>
            <a:r>
              <a:rPr lang="zh-CN" altLang="en-US" sz="2400" dirty="0">
                <a:latin typeface="+mn-ea"/>
                <a:ea typeface="+mn-ea"/>
              </a:rPr>
              <a:t>。</a:t>
            </a:r>
            <a:endParaRPr lang="en-US" altLang="zh-CN" sz="2400" dirty="0">
              <a:latin typeface="+mn-ea"/>
              <a:ea typeface="+mn-ea"/>
            </a:endParaRPr>
          </a:p>
          <a:p>
            <a:pPr marL="0" indent="0" defTabSz="868680">
              <a:buFont typeface="Arial" panose="020B0604020202090204" pitchFamily="34" charset="0"/>
              <a:buNone/>
              <a:defRPr/>
            </a:pPr>
            <a:r>
              <a:rPr lang="zh-CN" altLang="en-US" sz="2400" b="1" dirty="0">
                <a:solidFill>
                  <a:srgbClr val="FF0000"/>
                </a:solidFill>
                <a:latin typeface="+mn-ea"/>
                <a:ea typeface="+mn-ea"/>
              </a:rPr>
              <a:t>     </a:t>
            </a:r>
            <a:r>
              <a:rPr lang="zh-CN" altLang="en-US" sz="2400" b="1" dirty="0">
                <a:solidFill>
                  <a:srgbClr val="990099"/>
                </a:solidFill>
                <a:latin typeface="+mn-ea"/>
                <a:ea typeface="+mn-ea"/>
              </a:rPr>
              <a:t>信息处理不是数据挖掘</a:t>
            </a:r>
            <a:r>
              <a:rPr lang="zh-CN" altLang="en-US" sz="2400" dirty="0">
                <a:solidFill>
                  <a:srgbClr val="990099"/>
                </a:solidFill>
                <a:latin typeface="+mn-ea"/>
                <a:ea typeface="+mn-ea"/>
              </a:rPr>
              <a:t>。</a:t>
            </a:r>
            <a:endParaRPr lang="zh-CN" altLang="en-US" sz="2400" dirty="0">
              <a:solidFill>
                <a:srgbClr val="990099"/>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a:t>
            </a:r>
            <a:r>
              <a:rPr lang="en-US" altLang="zh-CN" sz="2400" dirty="0">
                <a:latin typeface="+mn-ea"/>
                <a:ea typeface="+mn-ea"/>
              </a:rPr>
              <a:t>OLAP</a:t>
            </a:r>
            <a:r>
              <a:rPr lang="zh-CN" altLang="en-US" sz="2400" dirty="0">
                <a:latin typeface="+mn-ea"/>
                <a:ea typeface="+mn-ea"/>
              </a:rPr>
              <a:t>可以由用户选定的数据仓库子集，在</a:t>
            </a:r>
            <a:r>
              <a:rPr lang="zh-CN" altLang="en-US" sz="2400" dirty="0">
                <a:solidFill>
                  <a:srgbClr val="FF0000"/>
                </a:solidFill>
                <a:latin typeface="+mn-ea"/>
                <a:ea typeface="+mn-ea"/>
              </a:rPr>
              <a:t>多粒度上导出汇总的信息</a:t>
            </a:r>
            <a:r>
              <a:rPr lang="zh-CN" altLang="en-US" sz="2400" dirty="0">
                <a:latin typeface="+mn-ea"/>
                <a:ea typeface="+mn-ea"/>
              </a:rPr>
              <a:t>。</a:t>
            </a:r>
            <a:endParaRPr lang="zh-CN" altLang="en-US" sz="2400" dirty="0">
              <a:latin typeface="+mn-ea"/>
              <a:ea typeface="+mn-ea"/>
            </a:endParaRPr>
          </a:p>
          <a:p>
            <a:pPr marL="0" indent="536575" defTabSz="868680">
              <a:buFont typeface="Arial" panose="020B0604020202090204" pitchFamily="34" charset="0"/>
              <a:buNone/>
              <a:defRPr/>
            </a:pPr>
            <a:r>
              <a:rPr lang="zh-CN" altLang="en-US" sz="2400" dirty="0">
                <a:latin typeface="+mn-ea"/>
                <a:ea typeface="+mn-ea"/>
              </a:rPr>
              <a:t> </a:t>
            </a:r>
            <a:r>
              <a:rPr lang="en-US" altLang="zh-CN" sz="2400" b="1" dirty="0">
                <a:latin typeface="+mn-ea"/>
                <a:ea typeface="+mn-ea"/>
              </a:rPr>
              <a:t>OLAP</a:t>
            </a:r>
            <a:r>
              <a:rPr lang="zh-CN" altLang="en-US" sz="2400" b="1" dirty="0">
                <a:latin typeface="+mn-ea"/>
                <a:ea typeface="+mn-ea"/>
              </a:rPr>
              <a:t>和数据挖掘的功能可以视为</a:t>
            </a:r>
            <a:r>
              <a:rPr lang="zh-CN" altLang="en-US" sz="2400" b="1" dirty="0">
                <a:solidFill>
                  <a:srgbClr val="990099"/>
                </a:solidFill>
                <a:latin typeface="+mn-ea"/>
                <a:ea typeface="+mn-ea"/>
              </a:rPr>
              <a:t>不相交</a:t>
            </a:r>
            <a:r>
              <a:rPr lang="zh-CN" altLang="en-US" sz="2400" b="1" dirty="0">
                <a:latin typeface="+mn-ea"/>
                <a:ea typeface="+mn-ea"/>
              </a:rPr>
              <a:t>的：</a:t>
            </a:r>
            <a:endParaRPr lang="en-US" altLang="zh-CN" sz="2400" b="1" dirty="0">
              <a:latin typeface="+mn-ea"/>
              <a:ea typeface="+mn-ea"/>
            </a:endParaRPr>
          </a:p>
          <a:p>
            <a:pPr marL="987425" indent="-365125" defTabSz="868680">
              <a:buFont typeface="Wingdings" panose="05000000000000000000" pitchFamily="2" charset="2"/>
              <a:buChar char="Ø"/>
              <a:defRPr/>
            </a:pPr>
            <a:r>
              <a:rPr lang="en-US" altLang="zh-CN" sz="2400" dirty="0">
                <a:solidFill>
                  <a:srgbClr val="0000FF"/>
                </a:solidFill>
                <a:latin typeface="+mn-ea"/>
                <a:ea typeface="+mn-ea"/>
              </a:rPr>
              <a:t>OLAP</a:t>
            </a:r>
            <a:r>
              <a:rPr lang="zh-CN" altLang="en-US" sz="2400" dirty="0">
                <a:latin typeface="+mn-ea"/>
                <a:ea typeface="+mn-ea"/>
              </a:rPr>
              <a:t>是数据汇总</a:t>
            </a:r>
            <a:r>
              <a:rPr lang="en-US" altLang="zh-CN" sz="2400" dirty="0">
                <a:latin typeface="+mn-ea"/>
                <a:ea typeface="+mn-ea"/>
              </a:rPr>
              <a:t>/</a:t>
            </a:r>
            <a:r>
              <a:rPr lang="zh-CN" altLang="en-US" sz="2400" dirty="0">
                <a:latin typeface="+mn-ea"/>
                <a:ea typeface="+mn-ea"/>
              </a:rPr>
              <a:t>聚集的工具，</a:t>
            </a:r>
            <a:r>
              <a:rPr lang="zh-CN" altLang="en-US" sz="2400" b="1" dirty="0">
                <a:latin typeface="+mn-ea"/>
                <a:ea typeface="+mn-ea"/>
              </a:rPr>
              <a:t>目标是</a:t>
            </a:r>
            <a:r>
              <a:rPr lang="zh-CN" altLang="en-US" sz="2400" dirty="0">
                <a:solidFill>
                  <a:srgbClr val="FF0000"/>
                </a:solidFill>
                <a:latin typeface="+mn-ea"/>
                <a:ea typeface="+mn-ea"/>
              </a:rPr>
              <a:t>简化数据分析和支持交互数据分析</a:t>
            </a:r>
            <a:r>
              <a:rPr lang="zh-CN" altLang="en-US" sz="2400" dirty="0">
                <a:latin typeface="+mn-ea"/>
                <a:ea typeface="+mn-ea"/>
              </a:rPr>
              <a:t>，功能基本上是用户指导的</a:t>
            </a:r>
            <a:r>
              <a:rPr lang="zh-CN" altLang="en-US" sz="2400" dirty="0">
                <a:solidFill>
                  <a:srgbClr val="FF0000"/>
                </a:solidFill>
                <a:latin typeface="+mn-ea"/>
                <a:ea typeface="+mn-ea"/>
              </a:rPr>
              <a:t>汇总和比较</a:t>
            </a:r>
            <a:r>
              <a:rPr lang="zh-CN" altLang="en-US" sz="2400" dirty="0">
                <a:latin typeface="+mn-ea"/>
                <a:ea typeface="+mn-ea"/>
              </a:rPr>
              <a:t>。</a:t>
            </a:r>
            <a:endParaRPr lang="en-US" altLang="zh-CN" sz="2400" dirty="0">
              <a:latin typeface="+mn-ea"/>
              <a:ea typeface="+mn-ea"/>
            </a:endParaRPr>
          </a:p>
          <a:p>
            <a:pPr marL="987425" indent="-365125" defTabSz="868680">
              <a:buFont typeface="Wingdings" panose="05000000000000000000" pitchFamily="2" charset="2"/>
              <a:buChar char="Ø"/>
              <a:defRPr/>
            </a:pPr>
            <a:r>
              <a:rPr lang="zh-CN" altLang="en-US" sz="2400" dirty="0">
                <a:solidFill>
                  <a:srgbClr val="0000FF"/>
                </a:solidFill>
                <a:latin typeface="+mn-ea"/>
                <a:ea typeface="+mn-ea"/>
              </a:rPr>
              <a:t>数据挖掘</a:t>
            </a:r>
            <a:r>
              <a:rPr lang="zh-CN" altLang="en-US" sz="2400" dirty="0">
                <a:latin typeface="+mn-ea"/>
                <a:ea typeface="+mn-ea"/>
              </a:rPr>
              <a:t>自动地</a:t>
            </a:r>
            <a:r>
              <a:rPr lang="zh-CN" altLang="en-US" sz="2400" dirty="0">
                <a:solidFill>
                  <a:srgbClr val="FF0000"/>
                </a:solidFill>
                <a:latin typeface="+mn-ea"/>
                <a:ea typeface="+mn-ea"/>
              </a:rPr>
              <a:t>发现隐藏在大量数据中的隐含模式和有趣知识</a:t>
            </a:r>
            <a:r>
              <a:rPr lang="zh-CN" altLang="en-US" sz="2400" dirty="0">
                <a:latin typeface="+mn-ea"/>
                <a:ea typeface="+mn-ea"/>
              </a:rPr>
              <a:t>，数据挖掘工具的</a:t>
            </a:r>
            <a:r>
              <a:rPr lang="zh-CN" altLang="en-US" sz="2400" b="1" dirty="0">
                <a:latin typeface="+mn-ea"/>
                <a:ea typeface="+mn-ea"/>
              </a:rPr>
              <a:t>目标是</a:t>
            </a:r>
            <a:r>
              <a:rPr lang="zh-CN" altLang="en-US" sz="2400" dirty="0">
                <a:solidFill>
                  <a:srgbClr val="FF0000"/>
                </a:solidFill>
                <a:latin typeface="+mn-ea"/>
                <a:ea typeface="+mn-ea"/>
              </a:rPr>
              <a:t>尽可能自动处理</a:t>
            </a:r>
            <a:r>
              <a:rPr lang="zh-CN" altLang="en-US" sz="2400" dirty="0">
                <a:latin typeface="+mn-ea"/>
                <a:ea typeface="+mn-ea"/>
              </a:rPr>
              <a:t>，此外，它还包括数据描述和数据建模，涵盖面更广。</a:t>
            </a:r>
            <a:endParaRPr lang="zh-CN" altLang="en-US" sz="24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85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8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000" b="1" dirty="0">
                <a:latin typeface="楷体" panose="02010609060101010101" pitchFamily="49" charset="-122"/>
                <a:ea typeface="楷体" panose="02010609060101010101" pitchFamily="49" charset="-122"/>
              </a:rPr>
              <a:t>  </a:t>
            </a:r>
            <a:r>
              <a:rPr lang="en-US" altLang="zh-CN" sz="4400" b="1" dirty="0">
                <a:latin typeface="楷体" panose="02010609060101010101" pitchFamily="49" charset="-122"/>
                <a:ea typeface="楷体" panose="02010609060101010101" pitchFamily="49" charset="-122"/>
              </a:rPr>
              <a:t>4.3 </a:t>
            </a:r>
            <a:r>
              <a:rPr lang="zh-CN" altLang="en-US" sz="4400" b="1" dirty="0">
                <a:latin typeface="楷体" panose="02010609060101010101" pitchFamily="49" charset="-122"/>
                <a:ea typeface="楷体" panose="02010609060101010101" pitchFamily="49" charset="-122"/>
              </a:rPr>
              <a:t>数据仓库的设计与使用</a:t>
            </a:r>
            <a:endParaRPr lang="zh-CN" altLang="en-US" sz="4400" b="1" dirty="0">
              <a:latin typeface="楷体" panose="02010609060101010101" pitchFamily="49" charset="-122"/>
              <a:ea typeface="楷体" panose="02010609060101010101" pitchFamily="49" charset="-122"/>
            </a:endParaRPr>
          </a:p>
        </p:txBody>
      </p:sp>
      <p:sp>
        <p:nvSpPr>
          <p:cNvPr id="78851" name="Rectangle 3"/>
          <p:cNvSpPr>
            <a:spLocks noGrp="1" noChangeArrowheads="1"/>
          </p:cNvSpPr>
          <p:nvPr>
            <p:ph idx="1"/>
          </p:nvPr>
        </p:nvSpPr>
        <p:spPr>
          <a:xfrm>
            <a:off x="674688" y="1160463"/>
            <a:ext cx="9677400" cy="5895975"/>
          </a:xfrm>
        </p:spPr>
        <p:txBody>
          <a:bodyPr>
            <a:normAutofit fontScale="85000" lnSpcReduction="10000"/>
          </a:bodyPr>
          <a:lstStyle/>
          <a:p>
            <a:pPr marL="0" indent="0" defTabSz="868680">
              <a:lnSpc>
                <a:spcPts val="3000"/>
              </a:lnSpc>
              <a:buFont typeface="Arial" panose="020B0604020202090204" pitchFamily="34" charset="0"/>
              <a:buNone/>
              <a:defRPr/>
            </a:pPr>
            <a:r>
              <a:rPr lang="en-US" altLang="zh-CN" sz="3100" b="1" dirty="0">
                <a:solidFill>
                  <a:srgbClr val="0000FF"/>
                </a:solidFill>
                <a:latin typeface="+mn-ea"/>
                <a:ea typeface="+mn-ea"/>
              </a:rPr>
              <a:t>4</a:t>
            </a:r>
            <a:r>
              <a:rPr lang="zh-CN" altLang="en-US" sz="3100" b="1" dirty="0">
                <a:solidFill>
                  <a:srgbClr val="0000FF"/>
                </a:solidFill>
                <a:latin typeface="+mn-ea"/>
                <a:ea typeface="+mn-ea"/>
              </a:rPr>
              <a:t>、从联机分析处理到多维数据挖掘</a:t>
            </a:r>
            <a:endParaRPr lang="zh-CN" altLang="en-US" sz="3100" b="1" dirty="0">
              <a:solidFill>
                <a:srgbClr val="0000FF"/>
              </a:solidFill>
              <a:latin typeface="+mn-ea"/>
              <a:ea typeface="+mn-ea"/>
            </a:endParaRPr>
          </a:p>
          <a:p>
            <a:pPr marL="0" indent="0" defTabSz="868680">
              <a:lnSpc>
                <a:spcPts val="3000"/>
              </a:lnSpc>
              <a:buFont typeface="Arial" panose="020B0604020202090204" pitchFamily="34" charset="0"/>
              <a:buNone/>
              <a:defRPr/>
            </a:pPr>
            <a:r>
              <a:rPr lang="zh-CN" altLang="en-US" sz="2400" dirty="0">
                <a:latin typeface="+mn-ea"/>
                <a:ea typeface="+mn-ea"/>
              </a:rPr>
              <a:t>    </a:t>
            </a:r>
            <a:r>
              <a:rPr lang="zh-CN" altLang="en-US" sz="2400" b="1" dirty="0">
                <a:latin typeface="+mn-ea"/>
                <a:ea typeface="+mn-ea"/>
              </a:rPr>
              <a:t>多维数据挖掘：</a:t>
            </a:r>
            <a:r>
              <a:rPr lang="zh-CN" altLang="en-US" sz="2400" dirty="0">
                <a:latin typeface="+mn-ea"/>
                <a:ea typeface="+mn-ea"/>
              </a:rPr>
              <a:t>又称探索式多维数据挖掘、联机分析挖掘或</a:t>
            </a:r>
            <a:r>
              <a:rPr lang="en-US" altLang="zh-CN" sz="2400" dirty="0">
                <a:latin typeface="+mn-ea"/>
                <a:ea typeface="+mn-ea"/>
              </a:rPr>
              <a:t>OLAM</a:t>
            </a:r>
            <a:r>
              <a:rPr lang="zh-CN" altLang="en-US" sz="2400" dirty="0">
                <a:latin typeface="+mn-ea"/>
                <a:ea typeface="+mn-ea"/>
              </a:rPr>
              <a:t>，</a:t>
            </a:r>
            <a:r>
              <a:rPr lang="zh-CN" altLang="en-US" sz="2400" dirty="0">
                <a:solidFill>
                  <a:srgbClr val="FF0000"/>
                </a:solidFill>
                <a:latin typeface="+mn-ea"/>
                <a:ea typeface="+mn-ea"/>
              </a:rPr>
              <a:t>它把数据挖掘与</a:t>
            </a:r>
            <a:r>
              <a:rPr lang="en-US" altLang="zh-CN" sz="2400" dirty="0">
                <a:solidFill>
                  <a:srgbClr val="FF0000"/>
                </a:solidFill>
                <a:latin typeface="+mn-ea"/>
                <a:ea typeface="+mn-ea"/>
              </a:rPr>
              <a:t>OLAP</a:t>
            </a:r>
            <a:r>
              <a:rPr lang="zh-CN" altLang="en-US" sz="2400" dirty="0">
                <a:solidFill>
                  <a:srgbClr val="FF0000"/>
                </a:solidFill>
                <a:latin typeface="+mn-ea"/>
                <a:ea typeface="+mn-ea"/>
              </a:rPr>
              <a:t>集成在一起</a:t>
            </a:r>
            <a:r>
              <a:rPr lang="zh-CN" altLang="en-US" sz="2400" dirty="0">
                <a:latin typeface="+mn-ea"/>
                <a:ea typeface="+mn-ea"/>
              </a:rPr>
              <a:t>，在多维数据库中发现知识。</a:t>
            </a:r>
            <a:r>
              <a:rPr lang="zh-CN" altLang="en-US" sz="2400" b="1" dirty="0">
                <a:latin typeface="+mn-ea"/>
                <a:ea typeface="+mn-ea"/>
              </a:rPr>
              <a:t>多维数据挖掘的重要性：</a:t>
            </a:r>
            <a:endParaRPr lang="zh-CN" altLang="en-US" sz="2400" b="1" dirty="0">
              <a:latin typeface="+mn-ea"/>
              <a:ea typeface="+mn-ea"/>
            </a:endParaRPr>
          </a:p>
          <a:p>
            <a:pPr defTabSz="868680">
              <a:lnSpc>
                <a:spcPts val="3000"/>
              </a:lnSpc>
              <a:buFont typeface="Wingdings" panose="05000000000000000000" pitchFamily="2" charset="2"/>
              <a:buChar char="Ø"/>
              <a:defRPr/>
            </a:pPr>
            <a:r>
              <a:rPr lang="zh-CN" altLang="en-US" sz="2400" b="1" dirty="0">
                <a:latin typeface="+mn-ea"/>
                <a:ea typeface="+mn-ea"/>
              </a:rPr>
              <a:t>数据仓库中数据的高质量：</a:t>
            </a:r>
            <a:r>
              <a:rPr lang="zh-CN" altLang="en-US" sz="2400" dirty="0">
                <a:latin typeface="+mn-ea"/>
                <a:ea typeface="+mn-ea"/>
              </a:rPr>
              <a:t>大部分数据挖掘工具需要</a:t>
            </a:r>
            <a:r>
              <a:rPr lang="zh-CN" altLang="en-US" sz="2400" dirty="0">
                <a:solidFill>
                  <a:srgbClr val="FF0000"/>
                </a:solidFill>
                <a:latin typeface="+mn-ea"/>
                <a:ea typeface="+mn-ea"/>
              </a:rPr>
              <a:t>在集成的、一致的、清理过的数据上运行</a:t>
            </a:r>
            <a:r>
              <a:rPr lang="zh-CN" altLang="en-US" sz="2400" dirty="0">
                <a:latin typeface="+mn-ea"/>
                <a:ea typeface="+mn-ea"/>
              </a:rPr>
              <a:t>，这就需要昂贵的数据清理、数据变换、数据集成作为预处理步骤。如此构造处理的数据仓库不仅充当</a:t>
            </a:r>
            <a:r>
              <a:rPr lang="en-US" altLang="zh-CN" sz="2400" dirty="0">
                <a:latin typeface="+mn-ea"/>
                <a:ea typeface="+mn-ea"/>
              </a:rPr>
              <a:t>OLAP</a:t>
            </a:r>
            <a:r>
              <a:rPr lang="zh-CN" altLang="en-US" sz="2400" dirty="0">
                <a:latin typeface="+mn-ea"/>
                <a:ea typeface="+mn-ea"/>
              </a:rPr>
              <a:t>，而且也充当数据挖掘的高质量有价值的数据源。</a:t>
            </a:r>
            <a:endParaRPr lang="zh-CN" altLang="en-US" sz="2400" dirty="0">
              <a:latin typeface="+mn-ea"/>
              <a:ea typeface="+mn-ea"/>
            </a:endParaRPr>
          </a:p>
          <a:p>
            <a:pPr defTabSz="868680">
              <a:lnSpc>
                <a:spcPts val="3000"/>
              </a:lnSpc>
              <a:buFont typeface="Wingdings" panose="05000000000000000000" pitchFamily="2" charset="2"/>
              <a:buChar char="Ø"/>
              <a:defRPr/>
            </a:pPr>
            <a:r>
              <a:rPr lang="zh-CN" altLang="en-US" sz="2400" b="1" dirty="0">
                <a:latin typeface="+mn-ea"/>
                <a:ea typeface="+mn-ea"/>
              </a:rPr>
              <a:t>环绕数据仓库的信息处理基础设施：</a:t>
            </a:r>
            <a:r>
              <a:rPr lang="zh-CN" altLang="en-US" sz="2400" dirty="0">
                <a:latin typeface="+mn-ea"/>
                <a:ea typeface="+mn-ea"/>
              </a:rPr>
              <a:t>包括多个异构数据库的访问、集成、合并、变换、</a:t>
            </a:r>
            <a:r>
              <a:rPr lang="en-US" altLang="zh-CN" sz="2400" dirty="0">
                <a:latin typeface="+mn-ea"/>
                <a:ea typeface="+mn-ea"/>
              </a:rPr>
              <a:t>ODBC/OLE-DB</a:t>
            </a:r>
            <a:r>
              <a:rPr lang="zh-CN" altLang="en-US" sz="2400" dirty="0">
                <a:latin typeface="+mn-ea"/>
                <a:ea typeface="+mn-ea"/>
              </a:rPr>
              <a:t>链接，</a:t>
            </a:r>
            <a:r>
              <a:rPr lang="en-US" altLang="zh-CN" sz="2400" dirty="0">
                <a:latin typeface="+mn-ea"/>
                <a:ea typeface="+mn-ea"/>
              </a:rPr>
              <a:t>Web</a:t>
            </a:r>
            <a:r>
              <a:rPr lang="zh-CN" altLang="en-US" sz="2400" dirty="0">
                <a:latin typeface="+mn-ea"/>
                <a:ea typeface="+mn-ea"/>
              </a:rPr>
              <a:t>访问和服务机制，报表和</a:t>
            </a:r>
            <a:r>
              <a:rPr lang="en-US" altLang="zh-CN" sz="2400" dirty="0">
                <a:latin typeface="+mn-ea"/>
                <a:ea typeface="+mn-ea"/>
              </a:rPr>
              <a:t>OLAP</a:t>
            </a:r>
            <a:r>
              <a:rPr lang="zh-CN" altLang="en-US" sz="2400" dirty="0">
                <a:latin typeface="+mn-ea"/>
                <a:ea typeface="+mn-ea"/>
              </a:rPr>
              <a:t>分析工具。明智的做法是</a:t>
            </a:r>
            <a:r>
              <a:rPr lang="zh-CN" altLang="en-US" sz="2400" dirty="0">
                <a:solidFill>
                  <a:srgbClr val="FF0000"/>
                </a:solidFill>
                <a:latin typeface="+mn-ea"/>
                <a:ea typeface="+mn-ea"/>
              </a:rPr>
              <a:t>尽量利用可用的基础设施</a:t>
            </a:r>
            <a:r>
              <a:rPr lang="zh-CN" altLang="en-US" sz="2400" dirty="0">
                <a:latin typeface="+mn-ea"/>
                <a:ea typeface="+mn-ea"/>
              </a:rPr>
              <a:t>，而不是从头开始。</a:t>
            </a:r>
            <a:endParaRPr lang="zh-CN" altLang="en-US" sz="2400" dirty="0">
              <a:latin typeface="+mn-ea"/>
              <a:ea typeface="+mn-ea"/>
            </a:endParaRPr>
          </a:p>
          <a:p>
            <a:pPr defTabSz="868680">
              <a:lnSpc>
                <a:spcPts val="3000"/>
              </a:lnSpc>
              <a:buFont typeface="Wingdings" panose="05000000000000000000" pitchFamily="2" charset="2"/>
              <a:buChar char="Ø"/>
              <a:defRPr/>
            </a:pPr>
            <a:r>
              <a:rPr lang="zh-CN" altLang="en-US" sz="2400" b="1" dirty="0">
                <a:latin typeface="+mn-ea"/>
                <a:ea typeface="+mn-ea"/>
              </a:rPr>
              <a:t>基于</a:t>
            </a:r>
            <a:r>
              <a:rPr lang="en-US" altLang="zh-CN" sz="2400" b="1" dirty="0">
                <a:latin typeface="+mn-ea"/>
                <a:ea typeface="+mn-ea"/>
              </a:rPr>
              <a:t>OLAP</a:t>
            </a:r>
            <a:r>
              <a:rPr lang="zh-CN" altLang="en-US" sz="2400" b="1" dirty="0">
                <a:latin typeface="+mn-ea"/>
                <a:ea typeface="+mn-ea"/>
              </a:rPr>
              <a:t>的多维数据探索：</a:t>
            </a:r>
            <a:r>
              <a:rPr lang="zh-CN" altLang="en-US" sz="2400" dirty="0">
                <a:latin typeface="+mn-ea"/>
                <a:ea typeface="+mn-ea"/>
              </a:rPr>
              <a:t>有效的数据挖掘</a:t>
            </a:r>
            <a:r>
              <a:rPr lang="zh-CN" altLang="en-US" sz="2400" dirty="0">
                <a:solidFill>
                  <a:srgbClr val="FF0000"/>
                </a:solidFill>
                <a:latin typeface="+mn-ea"/>
                <a:ea typeface="+mn-ea"/>
              </a:rPr>
              <a:t>需要探索式数据分析</a:t>
            </a:r>
            <a:r>
              <a:rPr lang="zh-CN" altLang="en-US" sz="2400" dirty="0">
                <a:latin typeface="+mn-ea"/>
                <a:ea typeface="+mn-ea"/>
              </a:rPr>
              <a:t>。多维数据挖掘提供</a:t>
            </a:r>
            <a:r>
              <a:rPr lang="zh-CN" altLang="en-US" sz="2400" dirty="0">
                <a:solidFill>
                  <a:srgbClr val="FF0000"/>
                </a:solidFill>
                <a:latin typeface="+mn-ea"/>
                <a:ea typeface="+mn-ea"/>
              </a:rPr>
              <a:t>在不同的数据子集和不同的抽象层上</a:t>
            </a:r>
            <a:r>
              <a:rPr lang="zh-CN" altLang="en-US" sz="2400" dirty="0">
                <a:latin typeface="+mn-ea"/>
                <a:ea typeface="+mn-ea"/>
              </a:rPr>
              <a:t>进行数据挖掘的机制，与数据</a:t>
            </a:r>
            <a:r>
              <a:rPr lang="en-US" altLang="zh-CN" sz="2400" dirty="0">
                <a:latin typeface="+mn-ea"/>
                <a:ea typeface="+mn-ea"/>
              </a:rPr>
              <a:t>/</a:t>
            </a:r>
            <a:r>
              <a:rPr lang="zh-CN" altLang="en-US" sz="2400" dirty="0">
                <a:latin typeface="+mn-ea"/>
                <a:ea typeface="+mn-ea"/>
              </a:rPr>
              <a:t>知识可视化工具一起，将大大增强探索式数据挖掘的能力和灵活性。</a:t>
            </a:r>
            <a:endParaRPr lang="zh-CN" altLang="en-US" sz="2400" dirty="0">
              <a:latin typeface="+mn-ea"/>
              <a:ea typeface="+mn-ea"/>
            </a:endParaRPr>
          </a:p>
          <a:p>
            <a:pPr defTabSz="868680">
              <a:lnSpc>
                <a:spcPts val="3000"/>
              </a:lnSpc>
              <a:buFont typeface="Wingdings" panose="05000000000000000000" pitchFamily="2" charset="2"/>
              <a:buChar char="Ø"/>
              <a:defRPr/>
            </a:pPr>
            <a:r>
              <a:rPr lang="zh-CN" altLang="en-US" sz="2400" b="1" dirty="0">
                <a:latin typeface="+mn-ea"/>
                <a:ea typeface="+mn-ea"/>
              </a:rPr>
              <a:t>数据挖掘功能的联机选择</a:t>
            </a:r>
            <a:r>
              <a:rPr lang="zh-CN" altLang="en-US" sz="2400" dirty="0">
                <a:latin typeface="+mn-ea"/>
                <a:ea typeface="+mn-ea"/>
              </a:rPr>
              <a:t>：多维数据挖掘</a:t>
            </a:r>
            <a:r>
              <a:rPr lang="zh-CN" altLang="en-US" sz="2400" dirty="0">
                <a:solidFill>
                  <a:srgbClr val="FF0000"/>
                </a:solidFill>
                <a:latin typeface="+mn-ea"/>
                <a:ea typeface="+mn-ea"/>
              </a:rPr>
              <a:t>为用户选择所期望的数据挖掘功能、动态地切换数据挖掘任务提供了灵活性</a:t>
            </a:r>
            <a:r>
              <a:rPr lang="zh-CN" altLang="en-US" sz="2400" dirty="0">
                <a:latin typeface="+mn-ea"/>
                <a:ea typeface="+mn-ea"/>
              </a:rPr>
              <a:t>。</a:t>
            </a:r>
            <a:endParaRPr lang="zh-CN" altLang="en-US" sz="24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8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16389" name="Rectangle 3"/>
          <p:cNvSpPr>
            <a:spLocks noGrp="1" noChangeArrowheads="1"/>
          </p:cNvSpPr>
          <p:nvPr>
            <p:ph idx="1"/>
          </p:nvPr>
        </p:nvSpPr>
        <p:spPr>
          <a:xfrm>
            <a:off x="576263" y="1079500"/>
            <a:ext cx="9863137" cy="5351463"/>
          </a:xfrm>
        </p:spPr>
        <p:txBody>
          <a:bodyPr/>
          <a:lstStyle/>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4.1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数据仓库：基本概念</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4.2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数据仓库建模：数据立方体</a:t>
            </a:r>
            <a:r>
              <a:rPr lang="zh-CN" altLang="en-US"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与</a:t>
            </a:r>
            <a:r>
              <a:rPr lang="en-US" altLang="zh-CN"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4.3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数据仓库的设计与使用</a:t>
            </a:r>
            <a:endParaRPr lang="en-US" altLang="zh-CN"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rgbClr val="FF0000"/>
                </a:solidFill>
                <a:latin typeface="楷体" panose="02010609060101010101" pitchFamily="49" charset="-122"/>
                <a:ea typeface="楷体" panose="02010609060101010101" pitchFamily="49" charset="-122"/>
              </a:rPr>
              <a:t>4.4 </a:t>
            </a:r>
            <a:r>
              <a:rPr lang="zh-CN" altLang="en-US" sz="3600" b="1" dirty="0">
                <a:solidFill>
                  <a:srgbClr val="FF0000"/>
                </a:solidFill>
                <a:latin typeface="楷体" panose="02010609060101010101" pitchFamily="49" charset="-122"/>
                <a:ea typeface="楷体" panose="02010609060101010101" pitchFamily="49" charset="-122"/>
              </a:rPr>
              <a:t>数据仓库的实现</a:t>
            </a:r>
            <a:endParaRPr lang="zh-CN" altLang="en-US" sz="3600" b="1" dirty="0">
              <a:solidFill>
                <a:srgbClr val="FF0000"/>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4.5 </a:t>
            </a:r>
            <a:r>
              <a:rPr lang="zh-CN" altLang="en-US" sz="3600" b="1" dirty="0">
                <a:solidFill>
                  <a:schemeClr val="bg1">
                    <a:lumMod val="75000"/>
                  </a:schemeClr>
                </a:solidFill>
                <a:latin typeface="楷体" panose="02010609060101010101" pitchFamily="49" charset="-122"/>
                <a:ea typeface="楷体" panose="02010609060101010101" pitchFamily="49" charset="-122"/>
              </a:rPr>
              <a:t>数据泛化：面向属性的归纳</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4.6 </a:t>
            </a:r>
            <a:r>
              <a:rPr lang="zh-CN" altLang="en-US" sz="3600" b="1"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325120" indent="-325120" defTabSz="869315" eaLnBrk="1" hangingPunct="1">
              <a:defRPr/>
            </a:pPr>
            <a:endParaRPr lang="en-US" altLang="zh-CN" sz="3050" b="1" dirty="0"/>
          </a:p>
        </p:txBody>
      </p:sp>
      <p:sp>
        <p:nvSpPr>
          <p:cNvPr id="54276"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9A88EBBA-5ED4-4475-BAC7-E4E701CEA77A}"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304831" y="2380488"/>
            <a:ext cx="3291051" cy="2237914"/>
          </a:xfrm>
          <a:prstGeom prst="rect">
            <a:avLst/>
          </a:prstGeom>
        </p:spPr>
      </p:pic>
      <p:sp>
        <p:nvSpPr>
          <p:cNvPr id="69634" name="Rectangle 2"/>
          <p:cNvSpPr>
            <a:spLocks noGrp="1" noChangeArrowheads="1"/>
          </p:cNvSpPr>
          <p:nvPr>
            <p:ph type="title"/>
          </p:nvPr>
        </p:nvSpPr>
        <p:spPr>
          <a:xfrm>
            <a:off x="0" y="-42863"/>
            <a:ext cx="10799763" cy="1050926"/>
          </a:xfrm>
        </p:spPr>
        <p:txBody>
          <a:bodyPr/>
          <a:lstStyle/>
          <a:p>
            <a:pPr defTabSz="869315" eaLnBrk="1" hangingPunct="1">
              <a:buFont typeface="Arial" panose="020B0604020202090204" pitchFamily="34" charset="0"/>
              <a:buNone/>
              <a:defRPr/>
            </a:pPr>
            <a:r>
              <a:rPr lang="en-US" altLang="zh-CN" sz="4400" b="1" dirty="0">
                <a:latin typeface="楷体" panose="02010609060101010101" pitchFamily="49" charset="-122"/>
                <a:ea typeface="楷体" panose="02010609060101010101" pitchFamily="49" charset="-122"/>
              </a:rPr>
              <a:t>  4.4 </a:t>
            </a:r>
            <a:r>
              <a:rPr lang="zh-CN" altLang="en-US" sz="4400" b="1" dirty="0">
                <a:latin typeface="楷体" panose="02010609060101010101" pitchFamily="49" charset="-122"/>
                <a:ea typeface="楷体" panose="02010609060101010101" pitchFamily="49" charset="-122"/>
              </a:rPr>
              <a:t>数据仓库的实现</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85325" cy="5715000"/>
          </a:xfrm>
        </p:spPr>
        <p:txBody>
          <a:bodyPr/>
          <a:lstStyle/>
          <a:p>
            <a:pPr marL="0" indent="0" defTabSz="868680" eaLnBrk="1" hangingPunct="1">
              <a:lnSpc>
                <a:spcPts val="3300"/>
              </a:lnSpc>
              <a:spcBef>
                <a:spcPct val="0"/>
              </a:spcBef>
              <a:buFont typeface="Arial" panose="020B0604020202090204" pitchFamily="34" charset="0"/>
              <a:buNone/>
              <a:defRPr/>
            </a:pPr>
            <a:r>
              <a:rPr lang="zh-CN" altLang="en-US" sz="2000" dirty="0">
                <a:latin typeface="+mn-ea"/>
                <a:ea typeface="+mn-ea"/>
              </a:rPr>
              <a:t>    数据仓库包含海量数据，</a:t>
            </a:r>
            <a:r>
              <a:rPr lang="en-US" altLang="zh-CN" sz="2000" dirty="0">
                <a:latin typeface="+mn-ea"/>
                <a:ea typeface="+mn-ea"/>
              </a:rPr>
              <a:t>OLAP</a:t>
            </a:r>
            <a:r>
              <a:rPr lang="zh-CN" altLang="en-US" sz="2000" dirty="0">
                <a:latin typeface="+mn-ea"/>
                <a:ea typeface="+mn-ea"/>
              </a:rPr>
              <a:t>服务器要在数秒内回答决策支持查询。因此，</a:t>
            </a:r>
            <a:r>
              <a:rPr lang="zh-CN" altLang="en-US" sz="2000" dirty="0">
                <a:solidFill>
                  <a:srgbClr val="FF0000"/>
                </a:solidFill>
                <a:latin typeface="+mn-ea"/>
                <a:ea typeface="+mn-ea"/>
              </a:rPr>
              <a:t>数据仓库系统要支持高效的数据立方体计算技术、存取方法和查询处理技术。</a:t>
            </a:r>
            <a:endParaRPr lang="en-US" altLang="zh-CN" sz="2000" dirty="0">
              <a:solidFill>
                <a:srgbClr val="FF0000"/>
              </a:solidFill>
              <a:latin typeface="+mn-ea"/>
              <a:ea typeface="+mn-ea"/>
            </a:endParaRPr>
          </a:p>
          <a:p>
            <a:pPr marL="0" indent="0" defTabSz="868680" eaLnBrk="1" hangingPunct="1">
              <a:lnSpc>
                <a:spcPts val="3300"/>
              </a:lnSpc>
              <a:spcBef>
                <a:spcPct val="0"/>
              </a:spcBef>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、数据立方体的有效计算：概述</a:t>
            </a:r>
            <a:endParaRPr lang="en-US" altLang="zh-CN" sz="2400" b="1" dirty="0">
              <a:solidFill>
                <a:srgbClr val="0000FF"/>
              </a:solidFill>
              <a:latin typeface="+mn-ea"/>
              <a:ea typeface="+mn-ea"/>
            </a:endParaRPr>
          </a:p>
          <a:p>
            <a:pPr marL="0" indent="0" defTabSz="868680" eaLnBrk="1" hangingPunct="1">
              <a:lnSpc>
                <a:spcPts val="3300"/>
              </a:lnSpc>
              <a:spcBef>
                <a:spcPct val="0"/>
              </a:spcBef>
              <a:buFont typeface="Arial" panose="020B0604020202090204" pitchFamily="34" charset="0"/>
              <a:buNone/>
              <a:defRPr/>
            </a:pPr>
            <a:r>
              <a:rPr lang="zh-CN" altLang="en-US" sz="1800" b="1" dirty="0">
                <a:latin typeface="+mn-ea"/>
                <a:ea typeface="+mn-ea"/>
              </a:rPr>
              <a:t>多维数据分析的核心</a:t>
            </a:r>
            <a:r>
              <a:rPr lang="zh-CN" altLang="en-US" sz="1800" dirty="0">
                <a:latin typeface="+mn-ea"/>
                <a:ea typeface="+mn-ea"/>
              </a:rPr>
              <a:t>是有效地计算许多维集合上的聚集（</a:t>
            </a:r>
            <a:r>
              <a:rPr lang="en-US" altLang="zh-CN" sz="1800" dirty="0">
                <a:latin typeface="+mn-ea"/>
                <a:ea typeface="+mn-ea"/>
              </a:rPr>
              <a:t>group by</a:t>
            </a:r>
            <a:r>
              <a:rPr lang="zh-CN" altLang="en-US" sz="1800" dirty="0">
                <a:latin typeface="+mn-ea"/>
                <a:ea typeface="+mn-ea"/>
              </a:rPr>
              <a:t>）。</a:t>
            </a:r>
            <a:endParaRPr lang="en-US" altLang="zh-CN" sz="1800" dirty="0">
              <a:latin typeface="+mn-ea"/>
              <a:ea typeface="+mn-ea"/>
            </a:endParaRPr>
          </a:p>
          <a:p>
            <a:pPr marL="0" indent="0" defTabSz="868680" eaLnBrk="1" hangingPunct="1">
              <a:lnSpc>
                <a:spcPts val="3300"/>
              </a:lnSpc>
              <a:spcBef>
                <a:spcPct val="0"/>
              </a:spcBef>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1</a:t>
            </a:r>
            <a:r>
              <a:rPr lang="zh-CN" altLang="en-US" sz="2000" b="1" dirty="0">
                <a:latin typeface="+mn-ea"/>
                <a:ea typeface="+mn-ea"/>
              </a:rPr>
              <a:t>）</a:t>
            </a:r>
            <a:r>
              <a:rPr lang="en-US" altLang="zh-CN" sz="2000" b="1" dirty="0">
                <a:latin typeface="+mn-ea"/>
                <a:ea typeface="+mn-ea"/>
              </a:rPr>
              <a:t>compute cube</a:t>
            </a:r>
            <a:r>
              <a:rPr lang="zh-CN" altLang="en-US" sz="2000" b="1" dirty="0">
                <a:latin typeface="+mn-ea"/>
                <a:ea typeface="+mn-ea"/>
              </a:rPr>
              <a:t>操作与维度灾难</a:t>
            </a:r>
            <a:endParaRPr lang="en-US" altLang="zh-CN" sz="2000" b="1" dirty="0">
              <a:latin typeface="+mn-ea"/>
              <a:ea typeface="+mn-ea"/>
            </a:endParaRPr>
          </a:p>
          <a:p>
            <a:pPr marL="0" indent="0" defTabSz="868680" eaLnBrk="1" hangingPunct="1">
              <a:lnSpc>
                <a:spcPts val="3300"/>
              </a:lnSpc>
              <a:spcBef>
                <a:spcPct val="0"/>
              </a:spcBef>
              <a:buFont typeface="Arial" panose="020B0604020202090204" pitchFamily="34" charset="0"/>
              <a:buNone/>
              <a:defRPr/>
            </a:pPr>
            <a:r>
              <a:rPr lang="zh-CN" altLang="en-US" sz="2000" dirty="0">
                <a:latin typeface="+mn-ea"/>
                <a:ea typeface="+mn-ea"/>
              </a:rPr>
              <a:t>    一个具有概念分层的</a:t>
            </a:r>
            <a:r>
              <a:rPr lang="en-US" altLang="zh-CN" sz="2000" dirty="0">
                <a:latin typeface="+mn-ea"/>
                <a:ea typeface="+mn-ea"/>
              </a:rPr>
              <a:t>n</a:t>
            </a:r>
            <a:r>
              <a:rPr lang="zh-CN" altLang="en-US" sz="2000" dirty="0">
                <a:latin typeface="+mn-ea"/>
                <a:ea typeface="+mn-ea"/>
              </a:rPr>
              <a:t>维立方体有多少个方体？</a:t>
            </a:r>
            <a:endParaRPr lang="zh-CN" altLang="en-US" sz="2000" dirty="0">
              <a:latin typeface="+mn-ea"/>
              <a:ea typeface="+mn-ea"/>
            </a:endParaRPr>
          </a:p>
          <a:p>
            <a:pPr marL="434975" lvl="1" indent="0" defTabSz="868680" eaLnBrk="1" hangingPunct="1">
              <a:lnSpc>
                <a:spcPts val="3300"/>
              </a:lnSpc>
              <a:spcBef>
                <a:spcPct val="0"/>
              </a:spcBef>
              <a:buFont typeface="Arial" panose="020B0604020202090204" pitchFamily="34" charset="0"/>
              <a:buNone/>
              <a:defRPr/>
            </a:pPr>
            <a:endParaRPr lang="en-US" altLang="zh-CN" sz="2000" dirty="0">
              <a:latin typeface="+mn-ea"/>
              <a:ea typeface="+mn-ea"/>
            </a:endParaRPr>
          </a:p>
          <a:p>
            <a:pPr marL="434975" lvl="1" indent="0" defTabSz="868680" eaLnBrk="1" hangingPunct="1">
              <a:lnSpc>
                <a:spcPts val="3300"/>
              </a:lnSpc>
              <a:spcBef>
                <a:spcPct val="0"/>
              </a:spcBef>
              <a:buFont typeface="Arial" panose="020B0604020202090204" pitchFamily="34" charset="0"/>
              <a:buNone/>
              <a:defRPr/>
            </a:pPr>
            <a:endParaRPr lang="zh-CN" altLang="en-US" sz="2000" dirty="0">
              <a:latin typeface="+mn-ea"/>
              <a:ea typeface="+mn-ea"/>
            </a:endParaRPr>
          </a:p>
          <a:p>
            <a:pPr marL="0" lvl="2" indent="365125" defTabSz="868680" eaLnBrk="1" hangingPunct="1">
              <a:lnSpc>
                <a:spcPts val="3300"/>
              </a:lnSpc>
              <a:spcBef>
                <a:spcPct val="0"/>
              </a:spcBef>
              <a:buFont typeface="Arial" panose="020B0604020202090204" pitchFamily="34" charset="0"/>
              <a:buNone/>
              <a:defRPr/>
            </a:pPr>
            <a:r>
              <a:rPr lang="en-US" altLang="zh-CN" sz="2000" dirty="0">
                <a:latin typeface="+mn-ea"/>
                <a:ea typeface="+mn-ea"/>
              </a:rPr>
              <a:t> L</a:t>
            </a:r>
            <a:r>
              <a:rPr lang="en-US" altLang="zh-CN" sz="2000" baseline="-25000" dirty="0">
                <a:latin typeface="+mn-ea"/>
                <a:ea typeface="+mn-ea"/>
              </a:rPr>
              <a:t>i</a:t>
            </a:r>
            <a:r>
              <a:rPr lang="zh-CN" altLang="en-US" sz="2000" dirty="0">
                <a:latin typeface="+mn-ea"/>
                <a:ea typeface="+mn-ea"/>
              </a:rPr>
              <a:t>是维</a:t>
            </a:r>
            <a:r>
              <a:rPr lang="en-US" altLang="zh-CN" sz="2000" dirty="0" err="1">
                <a:latin typeface="+mn-ea"/>
                <a:ea typeface="+mn-ea"/>
              </a:rPr>
              <a:t>i</a:t>
            </a:r>
            <a:r>
              <a:rPr lang="zh-CN" altLang="en-US" sz="2000" dirty="0">
                <a:latin typeface="+mn-ea"/>
                <a:ea typeface="+mn-ea"/>
              </a:rPr>
              <a:t>（除去虚拟的顶层</a:t>
            </a:r>
            <a:r>
              <a:rPr lang="en-US" altLang="zh-CN" sz="2000" dirty="0">
                <a:latin typeface="+mn-ea"/>
                <a:ea typeface="+mn-ea"/>
              </a:rPr>
              <a:t>all</a:t>
            </a:r>
            <a:r>
              <a:rPr lang="zh-CN" altLang="en-US" sz="2000" dirty="0">
                <a:latin typeface="+mn-ea"/>
                <a:ea typeface="+mn-ea"/>
              </a:rPr>
              <a:t>，因为概化到</a:t>
            </a:r>
            <a:r>
              <a:rPr lang="en-US" altLang="zh-CN" sz="2000" dirty="0">
                <a:latin typeface="+mn-ea"/>
                <a:ea typeface="+mn-ea"/>
              </a:rPr>
              <a:t>all</a:t>
            </a:r>
            <a:r>
              <a:rPr lang="zh-CN" altLang="en-US" sz="2000" dirty="0">
                <a:latin typeface="+mn-ea"/>
                <a:ea typeface="+mn-ea"/>
              </a:rPr>
              <a:t>等价于去掉一个维）的层次数。</a:t>
            </a:r>
            <a:endParaRPr lang="en-US" altLang="zh-CN" sz="2000" dirty="0">
              <a:latin typeface="+mn-ea"/>
              <a:ea typeface="+mn-ea"/>
            </a:endParaRPr>
          </a:p>
          <a:p>
            <a:pPr marL="0" lvl="2" indent="0" defTabSz="868680" eaLnBrk="1" hangingPunct="1">
              <a:lnSpc>
                <a:spcPts val="3300"/>
              </a:lnSpc>
              <a:spcBef>
                <a:spcPct val="0"/>
              </a:spcBef>
              <a:buFont typeface="Arial" panose="020B0604020202090204" pitchFamily="34" charset="0"/>
              <a:buNone/>
              <a:defRPr/>
            </a:pPr>
            <a:r>
              <a:rPr lang="zh-CN" altLang="en-US" sz="2000" dirty="0">
                <a:solidFill>
                  <a:srgbClr val="FF0000"/>
                </a:solidFill>
                <a:latin typeface="+mn-ea"/>
                <a:ea typeface="+mn-ea"/>
              </a:rPr>
              <a:t>维灾难：</a:t>
            </a:r>
            <a:r>
              <a:rPr lang="zh-CN" altLang="en-US" sz="2000" dirty="0">
                <a:latin typeface="+mn-ea"/>
                <a:ea typeface="+mn-ea"/>
              </a:rPr>
              <a:t>随着维数、概念分层数或基数增加时，许多分组需要的空间都将</a:t>
            </a:r>
            <a:r>
              <a:rPr lang="zh-CN" altLang="en-US" sz="2000" dirty="0">
                <a:solidFill>
                  <a:srgbClr val="FF0000"/>
                </a:solidFill>
                <a:latin typeface="+mn-ea"/>
                <a:ea typeface="+mn-ea"/>
              </a:rPr>
              <a:t>大大超过输入关系的大小</a:t>
            </a:r>
            <a:r>
              <a:rPr lang="zh-CN" altLang="en-US" sz="2000" dirty="0">
                <a:latin typeface="+mn-ea"/>
                <a:ea typeface="+mn-ea"/>
              </a:rPr>
              <a:t>。</a:t>
            </a:r>
            <a:endParaRPr lang="en-US" altLang="zh-CN" sz="2000" dirty="0">
              <a:latin typeface="+mn-ea"/>
              <a:ea typeface="+mn-ea"/>
            </a:endParaRPr>
          </a:p>
          <a:p>
            <a:pPr marL="0" lvl="2" indent="365125" defTabSz="868680" eaLnBrk="1" hangingPunct="1">
              <a:lnSpc>
                <a:spcPts val="3300"/>
              </a:lnSpc>
              <a:spcBef>
                <a:spcPct val="0"/>
              </a:spcBef>
              <a:buFont typeface="Arial" panose="020B0604020202090204" pitchFamily="34" charset="0"/>
              <a:buNone/>
              <a:defRPr/>
            </a:pPr>
            <a:r>
              <a:rPr lang="en-US" altLang="zh-CN" sz="2000" dirty="0">
                <a:latin typeface="+mn-ea"/>
                <a:ea typeface="+mn-ea"/>
              </a:rPr>
              <a:t> </a:t>
            </a:r>
            <a:r>
              <a:rPr lang="zh-CN" altLang="en-US" sz="2000" dirty="0">
                <a:latin typeface="+mn-ea"/>
                <a:ea typeface="+mn-ea"/>
              </a:rPr>
              <a:t>预算并物化由数据立方体可能产生的所有方体是不现实的。如果有很多方体，并且这些方体都很大，</a:t>
            </a:r>
            <a:r>
              <a:rPr lang="zh-CN" altLang="en-US" sz="2000" dirty="0">
                <a:solidFill>
                  <a:srgbClr val="FF0000"/>
                </a:solidFill>
                <a:latin typeface="+mn-ea"/>
                <a:ea typeface="+mn-ea"/>
              </a:rPr>
              <a:t>更合理的选择是部分物化</a:t>
            </a:r>
            <a:r>
              <a:rPr lang="zh-CN" altLang="en-US" sz="2000" dirty="0">
                <a:latin typeface="+mn-ea"/>
                <a:ea typeface="+mn-ea"/>
              </a:rPr>
              <a:t>，即只物化某些可能产生的方体。</a:t>
            </a:r>
            <a:endParaRPr lang="zh-CN" altLang="en-US" sz="2000" dirty="0">
              <a:latin typeface="+mn-ea"/>
              <a:ea typeface="+mn-ea"/>
            </a:endParaRPr>
          </a:p>
          <a:p>
            <a:pPr marL="434975" lvl="1" indent="0" defTabSz="868680" eaLnBrk="1" hangingPunct="1">
              <a:lnSpc>
                <a:spcPct val="100000"/>
              </a:lnSpc>
              <a:spcBef>
                <a:spcPct val="0"/>
              </a:spcBef>
              <a:buFont typeface="Arial" panose="020B0604020202090204" pitchFamily="34" charset="0"/>
              <a:buNone/>
              <a:defRPr/>
            </a:pPr>
            <a:endParaRPr lang="en-US" altLang="zh-CN" sz="2000" b="1" dirty="0">
              <a:latin typeface="+mn-ea"/>
              <a:ea typeface="+mn-ea"/>
            </a:endParaRPr>
          </a:p>
        </p:txBody>
      </p:sp>
      <p:sp>
        <p:nvSpPr>
          <p:cNvPr id="5530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7DE9AED2-C0B7-4905-933A-086C2A051502}" type="slidenum">
              <a:rPr lang="en-US" altLang="zh-CN" sz="1200" smtClean="0">
                <a:solidFill>
                  <a:srgbClr val="FFFFFF"/>
                </a:solidFill>
              </a:rPr>
            </a:fld>
            <a:endParaRPr lang="en-US" altLang="zh-CN" sz="1200">
              <a:solidFill>
                <a:srgbClr val="FFFFFF"/>
              </a:solidFill>
            </a:endParaRPr>
          </a:p>
        </p:txBody>
      </p:sp>
      <p:pic>
        <p:nvPicPr>
          <p:cNvPr id="5530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515" y="3828250"/>
            <a:ext cx="20002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0899">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0899">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08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buFont typeface="Arial" panose="020B0604020202090204" pitchFamily="34" charset="0"/>
              <a:buNone/>
              <a:defRPr/>
            </a:pPr>
            <a:r>
              <a:rPr lang="en-US" altLang="zh-CN" sz="4400" b="1" dirty="0">
                <a:latin typeface="楷体" panose="02010609060101010101" pitchFamily="49" charset="-122"/>
                <a:ea typeface="楷体" panose="02010609060101010101" pitchFamily="49" charset="-122"/>
              </a:rPr>
              <a:t>  4.4 </a:t>
            </a:r>
            <a:r>
              <a:rPr lang="zh-CN" altLang="en-US" sz="4400" b="1" dirty="0">
                <a:latin typeface="楷体" panose="02010609060101010101" pitchFamily="49" charset="-122"/>
                <a:ea typeface="楷体" panose="02010609060101010101" pitchFamily="49" charset="-122"/>
              </a:rPr>
              <a:t>数据仓库的实现</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25000" cy="5715000"/>
          </a:xfrm>
        </p:spPr>
        <p:txBody>
          <a:bodyPr/>
          <a:lstStyle/>
          <a:p>
            <a:pPr marL="0" indent="0" defTabSz="868680" eaLnBrk="1" hangingPunct="1">
              <a:lnSpc>
                <a:spcPct val="100000"/>
              </a:lnSpc>
              <a:spcBef>
                <a:spcPct val="0"/>
              </a:spcBef>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、数据立方体的有效计算：概述</a:t>
            </a:r>
            <a:endParaRPr lang="en-US" altLang="zh-CN" sz="24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2</a:t>
            </a:r>
            <a:r>
              <a:rPr lang="zh-CN" altLang="en-US" sz="2000" b="1" dirty="0">
                <a:latin typeface="+mn-ea"/>
                <a:ea typeface="+mn-ea"/>
              </a:rPr>
              <a:t>）部分物化：方体的选择计算</a:t>
            </a:r>
            <a:endParaRPr lang="zh-CN" altLang="en-US" sz="2000" b="1" dirty="0">
              <a:latin typeface="+mn-ea"/>
              <a:ea typeface="+mn-ea"/>
            </a:endParaRPr>
          </a:p>
          <a:p>
            <a:pPr marL="0" indent="0" defTabSz="868680">
              <a:buFont typeface="Arial" panose="020B0604020202090204" pitchFamily="34" charset="0"/>
              <a:buNone/>
              <a:defRPr/>
            </a:pPr>
            <a:r>
              <a:rPr lang="zh-CN" altLang="en-US" sz="2000" dirty="0">
                <a:latin typeface="+mn-ea"/>
                <a:ea typeface="+mn-ea"/>
              </a:rPr>
              <a:t>    给定基本方体，方体的物化有三种选择：</a:t>
            </a:r>
            <a:endParaRPr lang="zh-CN" altLang="en-US" sz="2000" dirty="0">
              <a:latin typeface="+mn-ea"/>
              <a:ea typeface="+mn-ea"/>
            </a:endParaRPr>
          </a:p>
          <a:p>
            <a:pPr marL="0" indent="0" defTabSz="868680">
              <a:buFont typeface="Arial" panose="020B0604020202090204" pitchFamily="34" charset="0"/>
              <a:buNone/>
              <a:defRPr/>
            </a:pPr>
            <a:r>
              <a:rPr lang="zh-CN" altLang="en-US" sz="2000" dirty="0">
                <a:latin typeface="+mn-ea"/>
                <a:ea typeface="+mn-ea"/>
              </a:rPr>
              <a:t>   </a:t>
            </a:r>
            <a:r>
              <a:rPr lang="zh-CN" altLang="en-US" sz="2000" b="1" dirty="0">
                <a:latin typeface="+mn-ea"/>
                <a:ea typeface="+mn-ea"/>
              </a:rPr>
              <a:t> </a:t>
            </a:r>
            <a:r>
              <a:rPr lang="en-US" altLang="zh-CN" sz="2000" b="1" dirty="0">
                <a:solidFill>
                  <a:srgbClr val="0000FF"/>
                </a:solidFill>
                <a:latin typeface="+mn-ea"/>
                <a:ea typeface="+mn-ea"/>
              </a:rPr>
              <a:t>1</a:t>
            </a:r>
            <a:r>
              <a:rPr lang="zh-CN" altLang="en-US" sz="2000" b="1" dirty="0">
                <a:solidFill>
                  <a:srgbClr val="0000FF"/>
                </a:solidFill>
                <a:latin typeface="+mn-ea"/>
                <a:ea typeface="+mn-ea"/>
              </a:rPr>
              <a:t>）不物化：</a:t>
            </a:r>
            <a:r>
              <a:rPr lang="zh-CN" altLang="en-US" sz="2000" dirty="0">
                <a:solidFill>
                  <a:srgbClr val="FF0000"/>
                </a:solidFill>
                <a:latin typeface="+mn-ea"/>
                <a:ea typeface="+mn-ea"/>
              </a:rPr>
              <a:t>不预先计算任何“非基本”方体</a:t>
            </a:r>
            <a:r>
              <a:rPr lang="zh-CN" altLang="en-US" sz="2000" dirty="0">
                <a:latin typeface="+mn-ea"/>
                <a:ea typeface="+mn-ea"/>
              </a:rPr>
              <a:t>。这导致回答查询时实时计算昂贵的多维聚集</a:t>
            </a:r>
            <a:r>
              <a:rPr lang="zh-CN" altLang="en-US" sz="2000" dirty="0">
                <a:solidFill>
                  <a:srgbClr val="FF0000"/>
                </a:solidFill>
                <a:latin typeface="+mn-ea"/>
                <a:ea typeface="+mn-ea"/>
              </a:rPr>
              <a:t>非常慢</a:t>
            </a:r>
            <a:r>
              <a:rPr lang="zh-CN" altLang="en-US" sz="2000" dirty="0">
                <a:latin typeface="+mn-ea"/>
                <a:ea typeface="+mn-ea"/>
              </a:rPr>
              <a:t>。</a:t>
            </a:r>
            <a:endParaRPr lang="zh-CN" altLang="en-US" sz="2000" dirty="0">
              <a:latin typeface="+mn-ea"/>
              <a:ea typeface="+mn-ea"/>
            </a:endParaRPr>
          </a:p>
          <a:p>
            <a:pPr marL="0" indent="0" defTabSz="868680">
              <a:buFont typeface="Arial" panose="020B0604020202090204" pitchFamily="34" charset="0"/>
              <a:buNone/>
              <a:defRPr/>
            </a:pPr>
            <a:r>
              <a:rPr lang="zh-CN" altLang="en-US" sz="2000" dirty="0">
                <a:latin typeface="+mn-ea"/>
                <a:ea typeface="+mn-ea"/>
              </a:rPr>
              <a:t>   </a:t>
            </a:r>
            <a:r>
              <a:rPr lang="zh-CN" altLang="en-US" sz="2000" b="1" dirty="0">
                <a:latin typeface="+mn-ea"/>
                <a:ea typeface="+mn-ea"/>
              </a:rPr>
              <a:t> </a:t>
            </a:r>
            <a:r>
              <a:rPr lang="en-US" altLang="zh-CN" sz="2000" b="1" dirty="0">
                <a:solidFill>
                  <a:srgbClr val="0000FF"/>
                </a:solidFill>
                <a:latin typeface="+mn-ea"/>
                <a:ea typeface="+mn-ea"/>
              </a:rPr>
              <a:t>2</a:t>
            </a:r>
            <a:r>
              <a:rPr lang="zh-CN" altLang="en-US" sz="2000" b="1" dirty="0">
                <a:solidFill>
                  <a:srgbClr val="0000FF"/>
                </a:solidFill>
                <a:latin typeface="+mn-ea"/>
                <a:ea typeface="+mn-ea"/>
              </a:rPr>
              <a:t>）完全物化</a:t>
            </a:r>
            <a:r>
              <a:rPr lang="zh-CN" altLang="en-US" sz="2000" dirty="0">
                <a:latin typeface="+mn-ea"/>
                <a:ea typeface="+mn-ea"/>
              </a:rPr>
              <a:t>：</a:t>
            </a:r>
            <a:r>
              <a:rPr lang="zh-CN" altLang="en-US" sz="2000" dirty="0">
                <a:solidFill>
                  <a:srgbClr val="FF0000"/>
                </a:solidFill>
                <a:latin typeface="+mn-ea"/>
                <a:ea typeface="+mn-ea"/>
              </a:rPr>
              <a:t>预先计算所有方体</a:t>
            </a:r>
            <a:r>
              <a:rPr lang="zh-CN" altLang="en-US" sz="2000" dirty="0">
                <a:latin typeface="+mn-ea"/>
                <a:ea typeface="+mn-ea"/>
              </a:rPr>
              <a:t>。计算的方体的格是完整立方体。通常这样</a:t>
            </a:r>
            <a:r>
              <a:rPr lang="zh-CN" altLang="en-US" sz="2000" dirty="0">
                <a:solidFill>
                  <a:srgbClr val="FF0000"/>
                </a:solidFill>
                <a:latin typeface="+mn-ea"/>
                <a:ea typeface="+mn-ea"/>
              </a:rPr>
              <a:t>需要海量存储空间</a:t>
            </a:r>
            <a:r>
              <a:rPr lang="zh-CN" altLang="en-US" sz="2000" dirty="0">
                <a:latin typeface="+mn-ea"/>
                <a:ea typeface="+mn-ea"/>
              </a:rPr>
              <a:t>来存放所有的预计算的方体。</a:t>
            </a:r>
            <a:endParaRPr lang="zh-CN" altLang="en-US" sz="2000" dirty="0">
              <a:latin typeface="+mn-ea"/>
              <a:ea typeface="+mn-ea"/>
            </a:endParaRPr>
          </a:p>
          <a:p>
            <a:pPr marL="0" indent="0" defTabSz="868680">
              <a:buFont typeface="Arial" panose="020B0604020202090204" pitchFamily="34" charset="0"/>
              <a:buNone/>
              <a:defRPr/>
            </a:pPr>
            <a:r>
              <a:rPr lang="zh-CN" altLang="en-US" sz="2000" dirty="0">
                <a:latin typeface="+mn-ea"/>
                <a:ea typeface="+mn-ea"/>
              </a:rPr>
              <a:t>    </a:t>
            </a:r>
            <a:r>
              <a:rPr lang="en-US" altLang="zh-CN" sz="2000" b="1" dirty="0">
                <a:solidFill>
                  <a:srgbClr val="0000FF"/>
                </a:solidFill>
                <a:latin typeface="+mn-ea"/>
                <a:ea typeface="+mn-ea"/>
              </a:rPr>
              <a:t>3</a:t>
            </a:r>
            <a:r>
              <a:rPr lang="zh-CN" altLang="en-US" sz="2000" b="1" dirty="0">
                <a:solidFill>
                  <a:srgbClr val="0000FF"/>
                </a:solidFill>
                <a:latin typeface="+mn-ea"/>
                <a:ea typeface="+mn-ea"/>
              </a:rPr>
              <a:t>）部分物化</a:t>
            </a:r>
            <a:r>
              <a:rPr lang="zh-CN" altLang="en-US" sz="2000" dirty="0">
                <a:solidFill>
                  <a:srgbClr val="0000FF"/>
                </a:solidFill>
                <a:latin typeface="+mn-ea"/>
                <a:ea typeface="+mn-ea"/>
              </a:rPr>
              <a:t>：</a:t>
            </a:r>
            <a:r>
              <a:rPr lang="zh-CN" altLang="en-US" sz="2000" dirty="0">
                <a:latin typeface="+mn-ea"/>
                <a:ea typeface="+mn-ea"/>
              </a:rPr>
              <a:t>有选择地</a:t>
            </a:r>
            <a:r>
              <a:rPr lang="zh-CN" altLang="en-US" sz="2000" dirty="0">
                <a:solidFill>
                  <a:srgbClr val="FF0000"/>
                </a:solidFill>
                <a:latin typeface="+mn-ea"/>
                <a:ea typeface="+mn-ea"/>
              </a:rPr>
              <a:t>计算整个可能的方体的子集</a:t>
            </a:r>
            <a:r>
              <a:rPr lang="zh-CN" altLang="en-US" sz="2000" dirty="0">
                <a:latin typeface="+mn-ea"/>
                <a:ea typeface="+mn-ea"/>
              </a:rPr>
              <a:t>。子集只包含满足用户指定的某种条件。部分物化</a:t>
            </a:r>
            <a:r>
              <a:rPr lang="zh-CN" altLang="en-US" sz="2000" dirty="0">
                <a:solidFill>
                  <a:srgbClr val="FF0000"/>
                </a:solidFill>
                <a:latin typeface="+mn-ea"/>
                <a:ea typeface="+mn-ea"/>
              </a:rPr>
              <a:t>是存储空间和响应时间二者之间的很好折中</a:t>
            </a:r>
            <a:r>
              <a:rPr lang="zh-CN" altLang="en-US" sz="2000" dirty="0">
                <a:latin typeface="+mn-ea"/>
                <a:ea typeface="+mn-ea"/>
              </a:rPr>
              <a:t>。</a:t>
            </a:r>
            <a:endParaRPr lang="en-US" altLang="zh-CN" sz="2000" dirty="0">
              <a:latin typeface="+mn-ea"/>
              <a:ea typeface="+mn-ea"/>
            </a:endParaRPr>
          </a:p>
          <a:p>
            <a:pPr marL="0" indent="0" defTabSz="868680">
              <a:lnSpc>
                <a:spcPts val="3000"/>
              </a:lnSpc>
              <a:buFont typeface="Arial" panose="020B0604020202090204" pitchFamily="34" charset="0"/>
              <a:buNone/>
              <a:defRPr/>
            </a:pPr>
            <a:r>
              <a:rPr lang="en-US" altLang="zh-CN" sz="2000" dirty="0">
                <a:latin typeface="+mn-ea"/>
                <a:ea typeface="+mn-ea"/>
              </a:rPr>
              <a:t>    </a:t>
            </a:r>
            <a:r>
              <a:rPr lang="zh-CN" altLang="en-US" sz="2000" dirty="0">
                <a:latin typeface="+mn-ea"/>
                <a:ea typeface="+mn-ea"/>
              </a:rPr>
              <a:t>部分物化应考虑三个因素：</a:t>
            </a:r>
            <a:endParaRPr lang="zh-CN" altLang="en-US" sz="2000" dirty="0">
              <a:latin typeface="+mn-ea"/>
              <a:ea typeface="+mn-ea"/>
            </a:endParaRPr>
          </a:p>
          <a:p>
            <a:pPr marL="0" indent="0" defTabSz="868680">
              <a:lnSpc>
                <a:spcPts val="3000"/>
              </a:lnSpc>
              <a:buFont typeface="Arial" panose="020B0604020202090204" pitchFamily="34" charset="0"/>
              <a:buNone/>
              <a:defRPr/>
            </a:pPr>
            <a:r>
              <a:rPr lang="zh-CN" altLang="en-US" sz="2000" dirty="0">
                <a:latin typeface="+mn-ea"/>
                <a:ea typeface="+mn-ea"/>
              </a:rPr>
              <a:t>    </a:t>
            </a:r>
            <a:r>
              <a:rPr lang="en-US" altLang="zh-CN" sz="2000" dirty="0" err="1">
                <a:latin typeface="+mn-ea"/>
                <a:ea typeface="+mn-ea"/>
              </a:rPr>
              <a:t>i</a:t>
            </a:r>
            <a:r>
              <a:rPr lang="zh-CN" altLang="en-US" sz="2000" dirty="0">
                <a:latin typeface="+mn-ea"/>
                <a:ea typeface="+mn-ea"/>
              </a:rPr>
              <a:t>）</a:t>
            </a:r>
            <a:r>
              <a:rPr lang="zh-CN" altLang="en-US" sz="2000" dirty="0">
                <a:solidFill>
                  <a:srgbClr val="FF0000"/>
                </a:solidFill>
                <a:latin typeface="+mn-ea"/>
                <a:ea typeface="+mn-ea"/>
              </a:rPr>
              <a:t>确定</a:t>
            </a:r>
            <a:r>
              <a:rPr lang="zh-CN" altLang="en-US" sz="2000" dirty="0">
                <a:latin typeface="+mn-ea"/>
                <a:ea typeface="+mn-ea"/>
              </a:rPr>
              <a:t>要物化的方体子集或子立方体；</a:t>
            </a:r>
            <a:endParaRPr lang="zh-CN" altLang="en-US" sz="2000" dirty="0">
              <a:latin typeface="+mn-ea"/>
              <a:ea typeface="+mn-ea"/>
            </a:endParaRPr>
          </a:p>
          <a:p>
            <a:pPr marL="0" indent="0" defTabSz="868680">
              <a:lnSpc>
                <a:spcPts val="3000"/>
              </a:lnSpc>
              <a:buFont typeface="Arial" panose="020B0604020202090204" pitchFamily="34" charset="0"/>
              <a:buNone/>
              <a:defRPr/>
            </a:pPr>
            <a:r>
              <a:rPr lang="zh-CN" altLang="en-US" sz="2000" dirty="0">
                <a:latin typeface="+mn-ea"/>
                <a:ea typeface="+mn-ea"/>
              </a:rPr>
              <a:t>    </a:t>
            </a:r>
            <a:r>
              <a:rPr lang="en-US" altLang="zh-CN" sz="2000" dirty="0">
                <a:latin typeface="+mn-ea"/>
                <a:ea typeface="+mn-ea"/>
              </a:rPr>
              <a:t>ii</a:t>
            </a:r>
            <a:r>
              <a:rPr lang="zh-CN" altLang="en-US" sz="2000" dirty="0">
                <a:latin typeface="+mn-ea"/>
                <a:ea typeface="+mn-ea"/>
              </a:rPr>
              <a:t>）在查询处理时</a:t>
            </a:r>
            <a:r>
              <a:rPr lang="zh-CN" altLang="en-US" sz="2000" dirty="0">
                <a:solidFill>
                  <a:srgbClr val="FF0000"/>
                </a:solidFill>
                <a:latin typeface="+mn-ea"/>
                <a:ea typeface="+mn-ea"/>
              </a:rPr>
              <a:t>利用</a:t>
            </a:r>
            <a:r>
              <a:rPr lang="zh-CN" altLang="en-US" sz="2000" dirty="0">
                <a:latin typeface="+mn-ea"/>
                <a:ea typeface="+mn-ea"/>
              </a:rPr>
              <a:t>物化的方体或子立方体；</a:t>
            </a:r>
            <a:endParaRPr lang="zh-CN" altLang="en-US" sz="2000" dirty="0">
              <a:latin typeface="+mn-ea"/>
              <a:ea typeface="+mn-ea"/>
            </a:endParaRPr>
          </a:p>
          <a:p>
            <a:pPr marL="0" indent="0" defTabSz="868680">
              <a:lnSpc>
                <a:spcPts val="3000"/>
              </a:lnSpc>
              <a:buFont typeface="Arial" panose="020B0604020202090204" pitchFamily="34" charset="0"/>
              <a:buNone/>
              <a:defRPr/>
            </a:pPr>
            <a:r>
              <a:rPr lang="zh-CN" altLang="en-US" sz="2000" dirty="0">
                <a:latin typeface="+mn-ea"/>
                <a:ea typeface="+mn-ea"/>
              </a:rPr>
              <a:t>    </a:t>
            </a:r>
            <a:r>
              <a:rPr lang="en-US" altLang="zh-CN" sz="2000" dirty="0">
                <a:latin typeface="+mn-ea"/>
                <a:ea typeface="+mn-ea"/>
              </a:rPr>
              <a:t>iii</a:t>
            </a:r>
            <a:r>
              <a:rPr lang="zh-CN" altLang="en-US" sz="2000" dirty="0">
                <a:latin typeface="+mn-ea"/>
                <a:ea typeface="+mn-ea"/>
              </a:rPr>
              <a:t>）在装入和刷新时，有效地</a:t>
            </a:r>
            <a:r>
              <a:rPr lang="zh-CN" altLang="en-US" sz="2000" dirty="0">
                <a:solidFill>
                  <a:srgbClr val="FF0000"/>
                </a:solidFill>
                <a:latin typeface="+mn-ea"/>
                <a:ea typeface="+mn-ea"/>
              </a:rPr>
              <a:t>更新</a:t>
            </a:r>
            <a:r>
              <a:rPr lang="zh-CN" altLang="en-US" sz="2000" dirty="0">
                <a:latin typeface="+mn-ea"/>
                <a:ea typeface="+mn-ea"/>
              </a:rPr>
              <a:t>物化的方体或子立方体。</a:t>
            </a:r>
            <a:endParaRPr lang="zh-CN" altLang="en-US" sz="2000" dirty="0">
              <a:latin typeface="+mn-ea"/>
              <a:ea typeface="+mn-ea"/>
            </a:endParaRPr>
          </a:p>
        </p:txBody>
      </p:sp>
      <p:sp>
        <p:nvSpPr>
          <p:cNvPr id="2" name="矩形 1"/>
          <p:cNvSpPr>
            <a:spLocks noChangeArrowheads="1"/>
          </p:cNvSpPr>
          <p:nvPr/>
        </p:nvSpPr>
        <p:spPr bwMode="auto">
          <a:xfrm>
            <a:off x="7075488" y="5275263"/>
            <a:ext cx="3587750" cy="1077912"/>
          </a:xfrm>
          <a:prstGeom prst="rect">
            <a:avLst/>
          </a:prstGeom>
          <a:noFill/>
          <a:ln w="9525">
            <a:solidFill>
              <a:srgbClr val="00B05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285750" indent="-285750">
              <a:defRPr>
                <a:solidFill>
                  <a:schemeClr val="tx1"/>
                </a:solidFill>
                <a:latin typeface="Arial" panose="020B0604020202090204" pitchFamily="34" charset="0"/>
                <a:ea typeface="宋体" pitchFamily="2" charset="-122"/>
              </a:defRPr>
            </a:lvl1pPr>
            <a:lvl2pPr>
              <a:defRPr>
                <a:solidFill>
                  <a:schemeClr val="tx1"/>
                </a:solidFill>
                <a:latin typeface="Arial" panose="020B0604020202090204" pitchFamily="34" charset="0"/>
                <a:ea typeface="宋体" pitchFamily="2" charset="-122"/>
              </a:defRPr>
            </a:lvl2pPr>
            <a:lvl3pPr>
              <a:defRPr>
                <a:solidFill>
                  <a:schemeClr val="tx1"/>
                </a:solidFill>
                <a:latin typeface="Arial" panose="020B0604020202090204" pitchFamily="34" charset="0"/>
                <a:ea typeface="宋体" pitchFamily="2" charset="-122"/>
              </a:defRPr>
            </a:lvl3pPr>
            <a:lvl4pPr>
              <a:defRPr>
                <a:solidFill>
                  <a:schemeClr val="tx1"/>
                </a:solidFill>
                <a:latin typeface="Arial" panose="020B0604020202090204" pitchFamily="34" charset="0"/>
                <a:ea typeface="宋体" pitchFamily="2" charset="-122"/>
              </a:defRPr>
            </a:lvl4pPr>
            <a:lvl5pPr>
              <a:defRPr>
                <a:solidFill>
                  <a:schemeClr val="tx1"/>
                </a:solidFill>
                <a:latin typeface="Arial" panose="020B0604020202090204" pitchFamily="34" charset="0"/>
                <a:ea typeface="宋体" pitchFamily="2" charset="-122"/>
              </a:defRPr>
            </a:lvl5pPr>
            <a:lvl6pPr marL="2513330" indent="-22733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0530" indent="-22733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7730" indent="-22733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4930" indent="-22733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buFont typeface="Wingdings" panose="05000000000000000000" pitchFamily="2" charset="2"/>
              <a:buChar char="Ø"/>
            </a:pPr>
            <a:r>
              <a:rPr lang="zh-CN" altLang="en-US" sz="1600" b="1">
                <a:solidFill>
                  <a:srgbClr val="0000FF"/>
                </a:solidFill>
              </a:rPr>
              <a:t>冰山立方体</a:t>
            </a:r>
            <a:r>
              <a:rPr lang="zh-CN" altLang="en-US" sz="1600"/>
              <a:t>只存放聚集值只</a:t>
            </a:r>
            <a:r>
              <a:rPr lang="zh-CN" altLang="en-US" sz="1600">
                <a:solidFill>
                  <a:srgbClr val="FF0000"/>
                </a:solidFill>
              </a:rPr>
              <a:t>大于某个最小支持度阈值</a:t>
            </a:r>
            <a:r>
              <a:rPr lang="zh-CN" altLang="en-US" sz="1600"/>
              <a:t>的立方体单元。</a:t>
            </a:r>
            <a:endParaRPr lang="zh-CN" altLang="en-US" sz="1600"/>
          </a:p>
          <a:p>
            <a:pPr>
              <a:buFont typeface="Wingdings" panose="05000000000000000000" pitchFamily="2" charset="2"/>
              <a:buChar char="Ø"/>
            </a:pPr>
            <a:r>
              <a:rPr lang="zh-CN" altLang="en-US" sz="1600" b="1">
                <a:solidFill>
                  <a:srgbClr val="0000FF"/>
                </a:solidFill>
              </a:rPr>
              <a:t>外壳立方体</a:t>
            </a:r>
            <a:r>
              <a:rPr lang="zh-CN" altLang="en-US" sz="1600"/>
              <a:t>涉及预计算数据立方体的</a:t>
            </a:r>
            <a:r>
              <a:rPr lang="zh-CN" altLang="en-US" sz="1600">
                <a:solidFill>
                  <a:srgbClr val="FF0000"/>
                </a:solidFill>
              </a:rPr>
              <a:t>只有少量维</a:t>
            </a:r>
            <a:r>
              <a:rPr lang="zh-CN" altLang="en-US" sz="1600"/>
              <a:t>（3到5维）的方体。</a:t>
            </a:r>
            <a:endParaRPr lang="zh-CN" altLang="en-US" sz="16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089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089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0899">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buFont typeface="Arial" panose="020B0604020202090204" pitchFamily="34" charset="0"/>
              <a:buNone/>
              <a:defRPr/>
            </a:pPr>
            <a:r>
              <a:rPr lang="en-US" altLang="zh-CN" sz="4400" b="1" dirty="0">
                <a:latin typeface="楷体" panose="02010609060101010101" pitchFamily="49" charset="-122"/>
                <a:ea typeface="楷体" panose="02010609060101010101" pitchFamily="49" charset="-122"/>
              </a:rPr>
              <a:t>  4.4 </a:t>
            </a:r>
            <a:r>
              <a:rPr lang="zh-CN" altLang="en-US" sz="4400" b="1" dirty="0">
                <a:latin typeface="楷体" panose="02010609060101010101" pitchFamily="49" charset="-122"/>
                <a:ea typeface="楷体" panose="02010609060101010101" pitchFamily="49" charset="-122"/>
              </a:rPr>
              <a:t>数据仓库的实现</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2050"/>
            <a:ext cx="9525000" cy="30480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2</a:t>
            </a:r>
            <a:r>
              <a:rPr lang="zh-CN" altLang="en-US" sz="2400" b="1" dirty="0">
                <a:solidFill>
                  <a:srgbClr val="0000FF"/>
                </a:solidFill>
                <a:latin typeface="+mn-ea"/>
                <a:ea typeface="+mn-ea"/>
              </a:rPr>
              <a:t>、索引</a:t>
            </a:r>
            <a:r>
              <a:rPr lang="en-US" altLang="zh-CN" sz="2400" b="1" dirty="0">
                <a:solidFill>
                  <a:srgbClr val="0000FF"/>
                </a:solidFill>
                <a:latin typeface="+mn-ea"/>
                <a:ea typeface="+mn-ea"/>
              </a:rPr>
              <a:t>OLAP</a:t>
            </a:r>
            <a:r>
              <a:rPr lang="zh-CN" altLang="en-US" sz="2400" b="1" dirty="0">
                <a:solidFill>
                  <a:srgbClr val="0000FF"/>
                </a:solidFill>
                <a:latin typeface="+mn-ea"/>
                <a:ea typeface="+mn-ea"/>
              </a:rPr>
              <a:t>数据：位图索引和连接索引</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   </a:t>
            </a:r>
            <a:r>
              <a:rPr lang="zh-CN" altLang="en-US" sz="2400" b="1" dirty="0">
                <a:latin typeface="+mn-ea"/>
                <a:ea typeface="+mn-ea"/>
              </a:rPr>
              <a:t>位图索引：</a:t>
            </a:r>
            <a:r>
              <a:rPr lang="zh-CN" altLang="en-US" sz="2400" dirty="0">
                <a:latin typeface="+mn-ea"/>
                <a:ea typeface="+mn-ea"/>
              </a:rPr>
              <a:t>它允许在数据立方体中快速搜索。在给定属性的位图索引中，属性域中的每个值</a:t>
            </a:r>
            <a:r>
              <a:rPr lang="en-US" altLang="zh-CN" sz="2400" i="1" dirty="0">
                <a:latin typeface="+mn-ea"/>
                <a:ea typeface="+mn-ea"/>
              </a:rPr>
              <a:t>v</a:t>
            </a:r>
            <a:r>
              <a:rPr lang="zh-CN" altLang="en-US" sz="2400" dirty="0">
                <a:latin typeface="+mn-ea"/>
                <a:ea typeface="+mn-ea"/>
              </a:rPr>
              <a:t>，有一个不同的位向量</a:t>
            </a:r>
            <a:r>
              <a:rPr lang="en-US" altLang="zh-CN" sz="2400" i="1" dirty="0" err="1">
                <a:latin typeface="+mn-ea"/>
                <a:ea typeface="+mn-ea"/>
              </a:rPr>
              <a:t>Bv</a:t>
            </a:r>
            <a:r>
              <a:rPr lang="zh-CN" altLang="en-US" sz="2400" dirty="0">
                <a:latin typeface="+mn-ea"/>
                <a:ea typeface="+mn-ea"/>
              </a:rPr>
              <a:t>，如果属性域包括</a:t>
            </a:r>
            <a:r>
              <a:rPr lang="en-US" altLang="zh-CN" sz="2400" dirty="0">
                <a:solidFill>
                  <a:srgbClr val="FF0000"/>
                </a:solidFill>
                <a:latin typeface="+mn-ea"/>
                <a:ea typeface="+mn-ea"/>
              </a:rPr>
              <a:t>n</a:t>
            </a:r>
            <a:r>
              <a:rPr lang="zh-CN" altLang="en-US" sz="2400" dirty="0">
                <a:solidFill>
                  <a:srgbClr val="FF0000"/>
                </a:solidFill>
                <a:latin typeface="+mn-ea"/>
                <a:ea typeface="+mn-ea"/>
              </a:rPr>
              <a:t>个值</a:t>
            </a:r>
            <a:r>
              <a:rPr lang="zh-CN" altLang="en-US" sz="2400" dirty="0">
                <a:latin typeface="+mn-ea"/>
                <a:ea typeface="+mn-ea"/>
              </a:rPr>
              <a:t>，则位图索引中</a:t>
            </a:r>
            <a:r>
              <a:rPr lang="zh-CN" altLang="en-US" sz="2400" dirty="0">
                <a:solidFill>
                  <a:srgbClr val="FF0000"/>
                </a:solidFill>
                <a:latin typeface="+mn-ea"/>
                <a:ea typeface="+mn-ea"/>
              </a:rPr>
              <a:t>每项需要</a:t>
            </a:r>
            <a:r>
              <a:rPr lang="en-US" altLang="zh-CN" sz="2400" dirty="0">
                <a:solidFill>
                  <a:srgbClr val="FF0000"/>
                </a:solidFill>
                <a:latin typeface="+mn-ea"/>
                <a:ea typeface="+mn-ea"/>
              </a:rPr>
              <a:t>n</a:t>
            </a:r>
            <a:r>
              <a:rPr lang="zh-CN" altLang="en-US" sz="2400" dirty="0">
                <a:solidFill>
                  <a:srgbClr val="FF0000"/>
                </a:solidFill>
                <a:latin typeface="+mn-ea"/>
                <a:ea typeface="+mn-ea"/>
              </a:rPr>
              <a:t>个位（</a:t>
            </a:r>
            <a:r>
              <a:rPr lang="en-US" altLang="zh-CN" sz="2400" dirty="0">
                <a:solidFill>
                  <a:srgbClr val="FF0000"/>
                </a:solidFill>
                <a:latin typeface="+mn-ea"/>
                <a:ea typeface="+mn-ea"/>
              </a:rPr>
              <a:t>n</a:t>
            </a:r>
            <a:r>
              <a:rPr lang="zh-CN" altLang="en-US" sz="2400" dirty="0">
                <a:solidFill>
                  <a:srgbClr val="FF0000"/>
                </a:solidFill>
                <a:latin typeface="+mn-ea"/>
                <a:ea typeface="+mn-ea"/>
              </a:rPr>
              <a:t>位向量），数据在给定行上该属性值为</a:t>
            </a:r>
            <a:r>
              <a:rPr lang="en-US" altLang="zh-CN" sz="2400" dirty="0">
                <a:solidFill>
                  <a:srgbClr val="FF0000"/>
                </a:solidFill>
                <a:latin typeface="+mn-ea"/>
                <a:ea typeface="+mn-ea"/>
              </a:rPr>
              <a:t>v</a:t>
            </a:r>
            <a:r>
              <a:rPr lang="zh-CN" altLang="en-US" sz="2400" dirty="0">
                <a:solidFill>
                  <a:srgbClr val="FF0000"/>
                </a:solidFill>
                <a:latin typeface="+mn-ea"/>
                <a:ea typeface="+mn-ea"/>
              </a:rPr>
              <a:t>，则位图索引的对应行上值维</a:t>
            </a:r>
            <a:r>
              <a:rPr lang="en-US" altLang="zh-CN" sz="2400" dirty="0">
                <a:solidFill>
                  <a:srgbClr val="FF0000"/>
                </a:solidFill>
                <a:latin typeface="+mn-ea"/>
                <a:ea typeface="+mn-ea"/>
              </a:rPr>
              <a:t>1</a:t>
            </a:r>
            <a:r>
              <a:rPr lang="zh-CN" altLang="en-US" sz="2400" dirty="0">
                <a:solidFill>
                  <a:srgbClr val="FF0000"/>
                </a:solidFill>
                <a:latin typeface="+mn-ea"/>
                <a:ea typeface="+mn-ea"/>
              </a:rPr>
              <a:t>，其他</a:t>
            </a:r>
            <a:r>
              <a:rPr lang="en-US" altLang="zh-CN" sz="2400" dirty="0">
                <a:solidFill>
                  <a:srgbClr val="FF0000"/>
                </a:solidFill>
                <a:latin typeface="+mn-ea"/>
                <a:ea typeface="+mn-ea"/>
              </a:rPr>
              <a:t>0</a:t>
            </a:r>
            <a:r>
              <a:rPr lang="zh-CN" altLang="en-US" sz="2400" dirty="0">
                <a:latin typeface="+mn-ea"/>
                <a:ea typeface="+mn-ea"/>
              </a:rPr>
              <a:t>。</a:t>
            </a:r>
            <a:endParaRPr lang="zh-CN" altLang="en-US" sz="2400" dirty="0">
              <a:latin typeface="+mn-ea"/>
              <a:ea typeface="+mn-ea"/>
            </a:endParaRPr>
          </a:p>
        </p:txBody>
      </p:sp>
      <p:pic>
        <p:nvPicPr>
          <p:cNvPr id="5734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36688" y="4316413"/>
            <a:ext cx="8001000"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285288" y="4240213"/>
            <a:ext cx="838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矩形 5"/>
          <p:cNvSpPr/>
          <p:nvPr/>
        </p:nvSpPr>
        <p:spPr>
          <a:xfrm>
            <a:off x="9285288" y="6646863"/>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buFont typeface="Arial" panose="020B0604020202090204" pitchFamily="34" charset="0"/>
              <a:buNone/>
              <a:defRPr/>
            </a:pPr>
            <a:r>
              <a:rPr lang="en-US" altLang="zh-CN" sz="4400" b="1" dirty="0">
                <a:latin typeface="楷体" panose="02010609060101010101" pitchFamily="49" charset="-122"/>
                <a:ea typeface="楷体" panose="02010609060101010101" pitchFamily="49" charset="-122"/>
              </a:rPr>
              <a:t>  4.4 </a:t>
            </a:r>
            <a:r>
              <a:rPr lang="zh-CN" altLang="en-US" sz="4400" b="1" dirty="0">
                <a:latin typeface="楷体" panose="02010609060101010101" pitchFamily="49" charset="-122"/>
                <a:ea typeface="楷体" panose="02010609060101010101" pitchFamily="49" charset="-122"/>
              </a:rPr>
              <a:t>数据仓库的实现</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448800" cy="48006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2</a:t>
            </a:r>
            <a:r>
              <a:rPr lang="zh-CN" altLang="en-US" sz="2400" b="1" dirty="0">
                <a:solidFill>
                  <a:srgbClr val="0000FF"/>
                </a:solidFill>
                <a:latin typeface="+mn-ea"/>
                <a:ea typeface="+mn-ea"/>
              </a:rPr>
              <a:t>、索引</a:t>
            </a:r>
            <a:r>
              <a:rPr lang="en-US" altLang="zh-CN" sz="2400" b="1" dirty="0">
                <a:solidFill>
                  <a:srgbClr val="0000FF"/>
                </a:solidFill>
                <a:latin typeface="+mn-ea"/>
                <a:ea typeface="+mn-ea"/>
              </a:rPr>
              <a:t>OLAP</a:t>
            </a:r>
            <a:r>
              <a:rPr lang="zh-CN" altLang="en-US" sz="2400" b="1" dirty="0">
                <a:solidFill>
                  <a:srgbClr val="0000FF"/>
                </a:solidFill>
                <a:latin typeface="+mn-ea"/>
                <a:ea typeface="+mn-ea"/>
              </a:rPr>
              <a:t>数据：位图索引和连接索引</a:t>
            </a:r>
            <a:endParaRPr lang="zh-CN" altLang="en-US" sz="2400" b="1" dirty="0">
              <a:solidFill>
                <a:srgbClr val="0000FF"/>
              </a:solidFill>
              <a:latin typeface="+mn-ea"/>
              <a:ea typeface="+mn-ea"/>
            </a:endParaRPr>
          </a:p>
          <a:p>
            <a:pPr marL="0" indent="0" algn="just" defTabSz="868680" eaLnBrk="1" hangingPunct="1">
              <a:buFont typeface="Arial" panose="020B0604020202090204" pitchFamily="34" charset="0"/>
              <a:buNone/>
              <a:defRPr/>
            </a:pPr>
            <a:r>
              <a:rPr lang="zh-CN" altLang="en-US" sz="2400" dirty="0">
                <a:latin typeface="+mn-ea"/>
                <a:ea typeface="+mn-ea"/>
              </a:rPr>
              <a:t>   </a:t>
            </a:r>
            <a:r>
              <a:rPr lang="zh-CN" altLang="en-US" sz="2400" b="1" dirty="0">
                <a:latin typeface="+mn-ea"/>
                <a:ea typeface="+mn-ea"/>
              </a:rPr>
              <a:t>连接索引：</a:t>
            </a:r>
            <a:endParaRPr lang="en-US" altLang="zh-CN" sz="2400" b="1" dirty="0">
              <a:latin typeface="+mn-ea"/>
              <a:ea typeface="+mn-ea"/>
            </a:endParaRPr>
          </a:p>
          <a:p>
            <a:pPr marL="716280" indent="-351155" algn="just" defTabSz="868680" eaLnBrk="1" hangingPunct="1">
              <a:buFont typeface="Wingdings" panose="05000000000000000000" pitchFamily="2" charset="2"/>
              <a:buChar char="Ø"/>
              <a:defRPr/>
            </a:pPr>
            <a:r>
              <a:rPr lang="zh-CN" altLang="en-US" sz="2000" b="1" dirty="0">
                <a:latin typeface="+mn-ea"/>
                <a:ea typeface="+mn-ea"/>
              </a:rPr>
              <a:t>在关系数据库中</a:t>
            </a:r>
            <a:r>
              <a:rPr lang="zh-CN" altLang="en-US" sz="2000" dirty="0">
                <a:latin typeface="+mn-ea"/>
                <a:ea typeface="+mn-ea"/>
              </a:rPr>
              <a:t>，</a:t>
            </a:r>
            <a:r>
              <a:rPr lang="zh-CN" altLang="en-US" sz="2000" dirty="0">
                <a:solidFill>
                  <a:srgbClr val="FF0000"/>
                </a:solidFill>
                <a:latin typeface="+mn-ea"/>
                <a:ea typeface="+mn-ea"/>
              </a:rPr>
              <a:t>连接索引记录能够识别可连接的元组</a:t>
            </a:r>
            <a:r>
              <a:rPr lang="zh-CN" altLang="en-US" sz="2000" dirty="0">
                <a:latin typeface="+mn-ea"/>
                <a:ea typeface="+mn-ea"/>
              </a:rPr>
              <a:t>，而不必执行开销很大的连接操作。</a:t>
            </a:r>
            <a:endParaRPr lang="zh-CN" altLang="en-US" sz="2000" dirty="0">
              <a:latin typeface="+mn-ea"/>
              <a:ea typeface="+mn-ea"/>
            </a:endParaRPr>
          </a:p>
          <a:p>
            <a:pPr marL="716280" indent="-351155" algn="just" defTabSz="868680" eaLnBrk="1" hangingPunct="1">
              <a:buFont typeface="Wingdings" panose="05000000000000000000" pitchFamily="2" charset="2"/>
              <a:buChar char="Ø"/>
              <a:defRPr/>
            </a:pPr>
            <a:r>
              <a:rPr lang="zh-CN" altLang="en-US" sz="2000" b="1" dirty="0">
                <a:latin typeface="+mn-ea"/>
                <a:ea typeface="+mn-ea"/>
              </a:rPr>
              <a:t>在数据仓库中</a:t>
            </a:r>
            <a:r>
              <a:rPr lang="zh-CN" altLang="en-US" sz="2000" dirty="0">
                <a:latin typeface="+mn-ea"/>
                <a:ea typeface="+mn-ea"/>
              </a:rPr>
              <a:t>，</a:t>
            </a:r>
            <a:r>
              <a:rPr lang="zh-CN" altLang="en-US" sz="2000" dirty="0">
                <a:solidFill>
                  <a:srgbClr val="FF0000"/>
                </a:solidFill>
                <a:latin typeface="+mn-ea"/>
                <a:ea typeface="+mn-ea"/>
              </a:rPr>
              <a:t>连接索引把星形模式的维值连接到事实表中的行</a:t>
            </a:r>
            <a:r>
              <a:rPr lang="zh-CN" altLang="en-US" sz="2000" dirty="0">
                <a:latin typeface="+mn-ea"/>
                <a:ea typeface="+mn-ea"/>
              </a:rPr>
              <a:t>，事实表和它对应维表的连接属性是事实表的外关键字和维表的主关键字。</a:t>
            </a:r>
            <a:endParaRPr lang="zh-CN" altLang="en-US" sz="2000" dirty="0">
              <a:latin typeface="+mn-ea"/>
              <a:ea typeface="+mn-ea"/>
            </a:endParaRPr>
          </a:p>
          <a:p>
            <a:pPr marL="434975" lvl="1" indent="0" algn="just" defTabSz="868680" eaLnBrk="1" hangingPunct="1">
              <a:buFont typeface="Arial" panose="020B0604020202090204" pitchFamily="34" charset="0"/>
              <a:buNone/>
              <a:defRPr/>
            </a:pPr>
            <a:r>
              <a:rPr lang="zh-CN" altLang="en-US" sz="2000" dirty="0">
                <a:latin typeface="+mn-ea"/>
                <a:ea typeface="+mn-ea"/>
              </a:rPr>
              <a:t>连接索引可以跨越多维，形成</a:t>
            </a:r>
            <a:r>
              <a:rPr lang="zh-CN" altLang="en-US" sz="2000" b="1" dirty="0">
                <a:latin typeface="+mn-ea"/>
                <a:ea typeface="+mn-ea"/>
              </a:rPr>
              <a:t>复合连接索引</a:t>
            </a:r>
            <a:r>
              <a:rPr lang="zh-CN" altLang="en-US" sz="2000" dirty="0">
                <a:latin typeface="+mn-ea"/>
                <a:ea typeface="+mn-ea"/>
              </a:rPr>
              <a:t>。</a:t>
            </a:r>
            <a:endParaRPr lang="zh-CN" altLang="en-US" sz="2000" dirty="0">
              <a:latin typeface="+mn-ea"/>
              <a:ea typeface="+mn-ea"/>
            </a:endParaRPr>
          </a:p>
        </p:txBody>
      </p:sp>
      <p:pic>
        <p:nvPicPr>
          <p:cNvPr id="5530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46288" y="4665663"/>
            <a:ext cx="3663950" cy="238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9688" y="4816475"/>
            <a:ext cx="297497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buFont typeface="Arial" panose="020B0604020202090204" pitchFamily="34" charset="0"/>
              <a:buNone/>
              <a:defRPr/>
            </a:pPr>
            <a:r>
              <a:rPr lang="en-US" altLang="zh-CN" sz="4400" b="1" dirty="0">
                <a:latin typeface="楷体" panose="02010609060101010101" pitchFamily="49" charset="-122"/>
                <a:ea typeface="楷体" panose="02010609060101010101" pitchFamily="49" charset="-122"/>
              </a:rPr>
              <a:t>  4.4 </a:t>
            </a:r>
            <a:r>
              <a:rPr lang="zh-CN" altLang="en-US" sz="4400" b="1" dirty="0">
                <a:latin typeface="楷体" panose="02010609060101010101" pitchFamily="49" charset="-122"/>
                <a:ea typeface="楷体" panose="02010609060101010101" pitchFamily="49" charset="-122"/>
              </a:rPr>
              <a:t>数据仓库的实现</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25000" cy="54864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a:t>
            </a:r>
            <a:r>
              <a:rPr lang="en-US" altLang="zh-CN" sz="2400" b="1" dirty="0">
                <a:solidFill>
                  <a:srgbClr val="0000FF"/>
                </a:solidFill>
                <a:latin typeface="+mn-ea"/>
                <a:ea typeface="+mn-ea"/>
              </a:rPr>
              <a:t>OLAP</a:t>
            </a:r>
            <a:r>
              <a:rPr lang="zh-CN" altLang="en-US" sz="2400" b="1" dirty="0">
                <a:solidFill>
                  <a:srgbClr val="0000FF"/>
                </a:solidFill>
                <a:latin typeface="+mn-ea"/>
                <a:ea typeface="+mn-ea"/>
              </a:rPr>
              <a:t>查询的有效处理</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给定物化的视图，查询处理步骤为：</a:t>
            </a:r>
            <a:endParaRPr lang="zh-CN" altLang="en-US" sz="2400" dirty="0">
              <a:latin typeface="+mn-ea"/>
              <a:ea typeface="+mn-ea"/>
            </a:endParaRPr>
          </a:p>
          <a:p>
            <a:pPr marL="0" indent="0" defTabSz="868680">
              <a:buFont typeface="Arial" panose="020B0604020202090204" pitchFamily="34" charset="0"/>
              <a:buNone/>
              <a:defRPr/>
            </a:pPr>
            <a:r>
              <a:rPr lang="zh-CN" altLang="en-US" sz="2400" b="1" dirty="0">
                <a:latin typeface="+mn-ea"/>
                <a:ea typeface="+mn-ea"/>
              </a:rPr>
              <a:t>（</a:t>
            </a:r>
            <a:r>
              <a:rPr lang="en-US" altLang="zh-CN" sz="2400" b="1" dirty="0">
                <a:latin typeface="+mn-ea"/>
                <a:ea typeface="+mn-ea"/>
              </a:rPr>
              <a:t>1</a:t>
            </a:r>
            <a:r>
              <a:rPr lang="zh-CN" altLang="en-US" sz="2400" b="1" dirty="0">
                <a:latin typeface="+mn-ea"/>
                <a:ea typeface="+mn-ea"/>
              </a:rPr>
              <a:t>）确定哪些操作应当在可利用的方体上执行：</a:t>
            </a:r>
            <a:r>
              <a:rPr lang="zh-CN" altLang="en-US" sz="2400" dirty="0">
                <a:latin typeface="+mn-ea"/>
                <a:ea typeface="+mn-ea"/>
              </a:rPr>
              <a:t>将查询中的选择、投影、上卷（分组）和下钻操作</a:t>
            </a:r>
            <a:r>
              <a:rPr lang="zh-CN" altLang="en-US" sz="2400" dirty="0">
                <a:solidFill>
                  <a:srgbClr val="FF0000"/>
                </a:solidFill>
                <a:latin typeface="+mn-ea"/>
                <a:ea typeface="+mn-ea"/>
              </a:rPr>
              <a:t>转换成对应的</a:t>
            </a:r>
            <a:r>
              <a:rPr lang="en-US" altLang="zh-CN" sz="2400" dirty="0">
                <a:solidFill>
                  <a:srgbClr val="FF0000"/>
                </a:solidFill>
                <a:latin typeface="+mn-ea"/>
                <a:ea typeface="+mn-ea"/>
              </a:rPr>
              <a:t>SQL</a:t>
            </a:r>
            <a:r>
              <a:rPr lang="zh-CN" altLang="en-US" sz="2400" dirty="0">
                <a:solidFill>
                  <a:srgbClr val="FF0000"/>
                </a:solidFill>
                <a:latin typeface="+mn-ea"/>
                <a:ea typeface="+mn-ea"/>
              </a:rPr>
              <a:t>或</a:t>
            </a:r>
            <a:r>
              <a:rPr lang="en-US" altLang="zh-CN" sz="2400" dirty="0">
                <a:solidFill>
                  <a:srgbClr val="FF0000"/>
                </a:solidFill>
                <a:latin typeface="+mn-ea"/>
                <a:ea typeface="+mn-ea"/>
              </a:rPr>
              <a:t>OLAP</a:t>
            </a:r>
            <a:r>
              <a:rPr lang="zh-CN" altLang="en-US" sz="2400" dirty="0">
                <a:solidFill>
                  <a:srgbClr val="FF0000"/>
                </a:solidFill>
                <a:latin typeface="+mn-ea"/>
                <a:ea typeface="+mn-ea"/>
              </a:rPr>
              <a:t>操作</a:t>
            </a:r>
            <a:r>
              <a:rPr lang="zh-CN" altLang="en-US" sz="2400" dirty="0">
                <a:latin typeface="+mn-ea"/>
                <a:ea typeface="+mn-ea"/>
              </a:rPr>
              <a:t>。</a:t>
            </a:r>
            <a:endParaRPr lang="zh-CN" altLang="en-US" sz="2400" dirty="0">
              <a:latin typeface="+mn-ea"/>
              <a:ea typeface="+mn-ea"/>
            </a:endParaRPr>
          </a:p>
          <a:p>
            <a:pPr marL="0" indent="0" defTabSz="868680">
              <a:buFont typeface="Arial" panose="020B0604020202090204" pitchFamily="34" charset="0"/>
              <a:buNone/>
              <a:defRPr/>
            </a:pPr>
            <a:r>
              <a:rPr lang="zh-CN" altLang="en-US" sz="2400" b="1" dirty="0">
                <a:latin typeface="+mn-ea"/>
                <a:ea typeface="+mn-ea"/>
              </a:rPr>
              <a:t>（</a:t>
            </a:r>
            <a:r>
              <a:rPr lang="en-US" altLang="zh-CN" sz="2400" b="1" dirty="0">
                <a:latin typeface="+mn-ea"/>
                <a:ea typeface="+mn-ea"/>
              </a:rPr>
              <a:t>2</a:t>
            </a:r>
            <a:r>
              <a:rPr lang="zh-CN" altLang="en-US" sz="2400" b="1" dirty="0">
                <a:latin typeface="+mn-ea"/>
                <a:ea typeface="+mn-ea"/>
              </a:rPr>
              <a:t>）确定相关操作应当使用哪些物化的方体：</a:t>
            </a:r>
            <a:r>
              <a:rPr lang="zh-CN" altLang="en-US" sz="2400" dirty="0">
                <a:latin typeface="+mn-ea"/>
                <a:ea typeface="+mn-ea"/>
              </a:rPr>
              <a:t>找出可能用于回答查询的所有物化方体，使用方体间的“支配”联系知识，进行修剪，评估使用剩余物化方体的开销，并</a:t>
            </a:r>
            <a:r>
              <a:rPr lang="zh-CN" altLang="en-US" sz="2400" dirty="0">
                <a:solidFill>
                  <a:srgbClr val="FF0000"/>
                </a:solidFill>
                <a:latin typeface="+mn-ea"/>
                <a:ea typeface="+mn-ea"/>
              </a:rPr>
              <a:t>选择开销最小的方体</a:t>
            </a:r>
            <a:r>
              <a:rPr lang="zh-CN" altLang="en-US" sz="2400" dirty="0">
                <a:latin typeface="+mn-ea"/>
                <a:ea typeface="+mn-ea"/>
              </a:rPr>
              <a:t>。</a:t>
            </a:r>
            <a:endParaRPr lang="en-US" altLang="zh-CN" sz="2400" dirty="0">
              <a:latin typeface="+mn-ea"/>
              <a:ea typeface="+mn-ea"/>
            </a:endParaRPr>
          </a:p>
          <a:p>
            <a:pPr marL="0" indent="0" defTabSz="868680">
              <a:buFont typeface="Arial" panose="020B0604020202090204" pitchFamily="34" charset="0"/>
              <a:buNone/>
              <a:defRPr/>
            </a:pPr>
            <a:r>
              <a:rPr lang="zh-CN" altLang="en-US" sz="2400" b="1" dirty="0">
                <a:latin typeface="+mn-ea"/>
                <a:ea typeface="+mn-ea"/>
              </a:rPr>
              <a:t>注意：</a:t>
            </a:r>
            <a:endParaRPr lang="en-US" altLang="zh-CN" sz="2400" b="1" dirty="0">
              <a:latin typeface="+mn-ea"/>
              <a:ea typeface="+mn-ea"/>
            </a:endParaRPr>
          </a:p>
          <a:p>
            <a:pPr marL="457200" indent="-457200" defTabSz="868680">
              <a:buFont typeface="+mj-ea"/>
              <a:buAutoNum type="circleNumDbPlain"/>
              <a:defRPr/>
            </a:pPr>
            <a:r>
              <a:rPr lang="zh-CN" altLang="en-US" sz="2400" dirty="0">
                <a:solidFill>
                  <a:schemeClr val="accent6">
                    <a:lumMod val="75000"/>
                  </a:schemeClr>
                </a:solidFill>
                <a:latin typeface="+mn-ea"/>
                <a:ea typeface="+mn-ea"/>
              </a:rPr>
              <a:t>较细力度的数据不能由较粗力度的数据产生。</a:t>
            </a:r>
            <a:endParaRPr lang="en-US" altLang="zh-CN" sz="2400" dirty="0">
              <a:solidFill>
                <a:schemeClr val="accent6">
                  <a:lumMod val="75000"/>
                </a:schemeClr>
              </a:solidFill>
              <a:latin typeface="+mn-ea"/>
              <a:ea typeface="+mn-ea"/>
            </a:endParaRPr>
          </a:p>
          <a:p>
            <a:pPr marL="457200" indent="-457200" defTabSz="868680">
              <a:buFont typeface="+mj-ea"/>
              <a:buAutoNum type="circleNumDbPlain"/>
              <a:defRPr/>
            </a:pPr>
            <a:r>
              <a:rPr lang="zh-CN" altLang="en-US" sz="2400" dirty="0">
                <a:solidFill>
                  <a:schemeClr val="accent6">
                    <a:lumMod val="75000"/>
                  </a:schemeClr>
                </a:solidFill>
                <a:latin typeface="+mn-ea"/>
                <a:ea typeface="+mn-ea"/>
              </a:rPr>
              <a:t>需要某种</a:t>
            </a:r>
            <a:r>
              <a:rPr lang="zh-CN" altLang="en-US" sz="2400" dirty="0">
                <a:solidFill>
                  <a:srgbClr val="FF0000"/>
                </a:solidFill>
                <a:latin typeface="+mn-ea"/>
                <a:ea typeface="+mn-ea"/>
              </a:rPr>
              <a:t>基于代价的估计</a:t>
            </a:r>
            <a:r>
              <a:rPr lang="zh-CN" altLang="en-US" sz="2400" dirty="0">
                <a:solidFill>
                  <a:schemeClr val="accent6">
                    <a:lumMod val="75000"/>
                  </a:schemeClr>
                </a:solidFill>
                <a:latin typeface="+mn-ea"/>
                <a:ea typeface="+mn-ea"/>
              </a:rPr>
              <a:t>，以确定应当使用哪个方体来处理查询。</a:t>
            </a:r>
            <a:endParaRPr lang="zh-CN" altLang="en-US" sz="2400" dirty="0">
              <a:solidFill>
                <a:schemeClr val="accent6">
                  <a:lumMod val="75000"/>
                </a:schemeClr>
              </a:solidFill>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089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08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buFont typeface="Arial" panose="020B0604020202090204" pitchFamily="34" charset="0"/>
              <a:buNone/>
              <a:defRPr/>
            </a:pPr>
            <a:r>
              <a:rPr lang="en-US" altLang="zh-CN" sz="4400" b="1" dirty="0">
                <a:latin typeface="楷体" panose="02010609060101010101" pitchFamily="49" charset="-122"/>
                <a:ea typeface="楷体" panose="02010609060101010101" pitchFamily="49" charset="-122"/>
              </a:rPr>
              <a:t>  4.4 </a:t>
            </a:r>
            <a:r>
              <a:rPr lang="zh-CN" altLang="en-US" sz="4400" b="1" dirty="0">
                <a:latin typeface="楷体" panose="02010609060101010101" pitchFamily="49" charset="-122"/>
                <a:ea typeface="楷体" panose="02010609060101010101" pitchFamily="49" charset="-122"/>
              </a:rPr>
              <a:t>数据仓库的实现</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25000" cy="54864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4</a:t>
            </a:r>
            <a:r>
              <a:rPr lang="zh-CN" altLang="en-US" sz="2400" b="1" dirty="0">
                <a:solidFill>
                  <a:srgbClr val="0000FF"/>
                </a:solidFill>
                <a:latin typeface="+mn-ea"/>
                <a:ea typeface="+mn-ea"/>
              </a:rPr>
              <a:t>、</a:t>
            </a:r>
            <a:r>
              <a:rPr lang="en-US" altLang="zh-CN" sz="2400" b="1" dirty="0">
                <a:solidFill>
                  <a:srgbClr val="0000FF"/>
                </a:solidFill>
                <a:latin typeface="+mn-ea"/>
                <a:ea typeface="+mn-ea"/>
              </a:rPr>
              <a:t>OLAP</a:t>
            </a:r>
            <a:r>
              <a:rPr lang="zh-CN" altLang="en-US" sz="2400" b="1" dirty="0">
                <a:solidFill>
                  <a:srgbClr val="0000FF"/>
                </a:solidFill>
                <a:latin typeface="+mn-ea"/>
                <a:ea typeface="+mn-ea"/>
              </a:rPr>
              <a:t>服务器结构：</a:t>
            </a:r>
            <a:r>
              <a:rPr lang="en-US" altLang="zh-CN" sz="2400" b="1" dirty="0">
                <a:solidFill>
                  <a:srgbClr val="0000FF"/>
                </a:solidFill>
                <a:latin typeface="+mn-ea"/>
                <a:ea typeface="+mn-ea"/>
              </a:rPr>
              <a:t>ROLAP</a:t>
            </a:r>
            <a:r>
              <a:rPr lang="zh-CN" altLang="en-US" sz="2400" b="1" dirty="0">
                <a:solidFill>
                  <a:srgbClr val="0000FF"/>
                </a:solidFill>
                <a:latin typeface="+mn-ea"/>
                <a:ea typeface="+mn-ea"/>
              </a:rPr>
              <a:t>、</a:t>
            </a:r>
            <a:r>
              <a:rPr lang="en-US" altLang="zh-CN" sz="2400" b="1" dirty="0">
                <a:solidFill>
                  <a:srgbClr val="0000FF"/>
                </a:solidFill>
                <a:latin typeface="+mn-ea"/>
                <a:ea typeface="+mn-ea"/>
              </a:rPr>
              <a:t>MOLAP</a:t>
            </a:r>
            <a:r>
              <a:rPr lang="zh-CN" altLang="en-US" sz="2400" b="1" dirty="0">
                <a:solidFill>
                  <a:srgbClr val="0000FF"/>
                </a:solidFill>
                <a:latin typeface="+mn-ea"/>
                <a:ea typeface="+mn-ea"/>
              </a:rPr>
              <a:t>、</a:t>
            </a:r>
            <a:r>
              <a:rPr lang="en-US" altLang="zh-CN" sz="2400" b="1" dirty="0">
                <a:solidFill>
                  <a:srgbClr val="0000FF"/>
                </a:solidFill>
                <a:latin typeface="+mn-ea"/>
                <a:ea typeface="+mn-ea"/>
              </a:rPr>
              <a:t>HOLAP</a:t>
            </a:r>
            <a:r>
              <a:rPr lang="zh-CN" altLang="en-US" sz="2400" b="1" dirty="0">
                <a:solidFill>
                  <a:srgbClr val="0000FF"/>
                </a:solidFill>
                <a:latin typeface="+mn-ea"/>
                <a:ea typeface="+mn-ea"/>
              </a:rPr>
              <a:t>的比较</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1800" b="1" dirty="0">
                <a:latin typeface="+mn-ea"/>
                <a:ea typeface="+mn-ea"/>
              </a:rPr>
              <a:t>（</a:t>
            </a:r>
            <a:r>
              <a:rPr lang="en-US" altLang="zh-CN" sz="1800" b="1" dirty="0">
                <a:latin typeface="+mn-ea"/>
                <a:ea typeface="+mn-ea"/>
              </a:rPr>
              <a:t>1</a:t>
            </a:r>
            <a:r>
              <a:rPr lang="zh-CN" altLang="en-US" sz="1800" b="1" dirty="0">
                <a:latin typeface="+mn-ea"/>
                <a:ea typeface="+mn-ea"/>
              </a:rPr>
              <a:t>）关系</a:t>
            </a:r>
            <a:r>
              <a:rPr lang="en-US" altLang="zh-CN" sz="1800" b="1" dirty="0">
                <a:latin typeface="+mn-ea"/>
                <a:ea typeface="+mn-ea"/>
              </a:rPr>
              <a:t>OLPA(ROLAP)</a:t>
            </a:r>
            <a:r>
              <a:rPr lang="zh-CN" altLang="en-US" sz="1800" b="1" dirty="0">
                <a:latin typeface="+mn-ea"/>
                <a:ea typeface="+mn-ea"/>
              </a:rPr>
              <a:t>服务器：</a:t>
            </a:r>
            <a:r>
              <a:rPr lang="zh-CN" altLang="en-US" sz="1800" dirty="0">
                <a:latin typeface="+mn-ea"/>
                <a:ea typeface="+mn-ea"/>
              </a:rPr>
              <a:t>这是一种中间服务器，介于关系的后端服务器和客户前端工具之间。</a:t>
            </a:r>
            <a:r>
              <a:rPr lang="zh-CN" altLang="en-US" sz="1800" dirty="0">
                <a:solidFill>
                  <a:srgbClr val="FF0000"/>
                </a:solidFill>
                <a:latin typeface="+mn-ea"/>
                <a:ea typeface="+mn-ea"/>
              </a:rPr>
              <a:t>使用关系或扩充关系的</a:t>
            </a:r>
            <a:r>
              <a:rPr lang="en-US" altLang="zh-CN" sz="1800" dirty="0">
                <a:solidFill>
                  <a:srgbClr val="FF0000"/>
                </a:solidFill>
                <a:latin typeface="+mn-ea"/>
                <a:ea typeface="+mn-ea"/>
              </a:rPr>
              <a:t>DBMS</a:t>
            </a:r>
            <a:r>
              <a:rPr lang="zh-CN" altLang="en-US" sz="1800" dirty="0">
                <a:solidFill>
                  <a:srgbClr val="FF0000"/>
                </a:solidFill>
                <a:latin typeface="+mn-ea"/>
                <a:ea typeface="+mn-ea"/>
              </a:rPr>
              <a:t>存储并管理数据仓库数据</a:t>
            </a:r>
            <a:r>
              <a:rPr lang="zh-CN" altLang="en-US" sz="1800" dirty="0">
                <a:latin typeface="+mn-ea"/>
                <a:ea typeface="+mn-ea"/>
              </a:rPr>
              <a:t>，而</a:t>
            </a:r>
            <a:r>
              <a:rPr lang="en-US" altLang="zh-CN" sz="1800" dirty="0">
                <a:latin typeface="+mn-ea"/>
                <a:ea typeface="+mn-ea"/>
              </a:rPr>
              <a:t>OLAP</a:t>
            </a:r>
            <a:r>
              <a:rPr lang="zh-CN" altLang="en-US" sz="1800" dirty="0">
                <a:latin typeface="+mn-ea"/>
                <a:ea typeface="+mn-ea"/>
              </a:rPr>
              <a:t>中间件支持其余部分。</a:t>
            </a:r>
            <a:r>
              <a:rPr lang="en-US" altLang="zh-CN" sz="1800" dirty="0">
                <a:latin typeface="+mn-ea"/>
                <a:ea typeface="+mn-ea"/>
              </a:rPr>
              <a:t>ROLAP</a:t>
            </a:r>
            <a:r>
              <a:rPr lang="zh-CN" altLang="en-US" sz="1800" dirty="0">
                <a:latin typeface="+mn-ea"/>
                <a:ea typeface="+mn-ea"/>
              </a:rPr>
              <a:t>服务器包括每个</a:t>
            </a:r>
            <a:r>
              <a:rPr lang="en-US" altLang="zh-CN" sz="1800" dirty="0">
                <a:latin typeface="+mn-ea"/>
                <a:ea typeface="+mn-ea"/>
              </a:rPr>
              <a:t>DBMS</a:t>
            </a:r>
            <a:r>
              <a:rPr lang="zh-CN" altLang="en-US" sz="1800" dirty="0">
                <a:latin typeface="+mn-ea"/>
                <a:ea typeface="+mn-ea"/>
              </a:rPr>
              <a:t>后端优化，聚集导航逻辑的实现，附加的工具盒服务。</a:t>
            </a:r>
            <a:r>
              <a:rPr lang="en-US" altLang="zh-CN" sz="1800" dirty="0">
                <a:latin typeface="+mn-ea"/>
                <a:ea typeface="+mn-ea"/>
              </a:rPr>
              <a:t>ROLAP</a:t>
            </a:r>
            <a:r>
              <a:rPr lang="zh-CN" altLang="en-US" sz="1800" dirty="0">
                <a:latin typeface="+mn-ea"/>
                <a:ea typeface="+mn-ea"/>
              </a:rPr>
              <a:t>技术比</a:t>
            </a:r>
            <a:r>
              <a:rPr lang="en-US" altLang="zh-CN" sz="1800" dirty="0">
                <a:latin typeface="+mn-ea"/>
                <a:ea typeface="+mn-ea"/>
              </a:rPr>
              <a:t>MOLAP</a:t>
            </a:r>
            <a:r>
              <a:rPr lang="zh-CN" altLang="en-US" sz="1800" dirty="0">
                <a:latin typeface="+mn-ea"/>
                <a:ea typeface="+mn-ea"/>
              </a:rPr>
              <a:t>技术</a:t>
            </a:r>
            <a:r>
              <a:rPr lang="zh-CN" altLang="en-US" sz="1800" dirty="0">
                <a:solidFill>
                  <a:srgbClr val="FF0000"/>
                </a:solidFill>
                <a:latin typeface="+mn-ea"/>
                <a:ea typeface="+mn-ea"/>
              </a:rPr>
              <a:t>具有很好的可伸缩性</a:t>
            </a:r>
            <a:r>
              <a:rPr lang="zh-CN" altLang="en-US" sz="1800" dirty="0">
                <a:latin typeface="+mn-ea"/>
                <a:ea typeface="+mn-ea"/>
              </a:rPr>
              <a:t>。</a:t>
            </a:r>
            <a:endParaRPr lang="zh-CN" altLang="en-US" sz="1800" dirty="0">
              <a:latin typeface="+mn-ea"/>
              <a:ea typeface="+mn-ea"/>
            </a:endParaRPr>
          </a:p>
          <a:p>
            <a:pPr marL="0" indent="0" defTabSz="868680">
              <a:buFont typeface="Arial" panose="020B0604020202090204" pitchFamily="34" charset="0"/>
              <a:buNone/>
              <a:defRPr/>
            </a:pPr>
            <a:r>
              <a:rPr lang="zh-CN" altLang="en-US" sz="1800" b="1" dirty="0">
                <a:latin typeface="+mn-ea"/>
                <a:ea typeface="+mn-ea"/>
              </a:rPr>
              <a:t>（</a:t>
            </a:r>
            <a:r>
              <a:rPr lang="en-US" altLang="zh-CN" sz="1800" b="1" dirty="0">
                <a:latin typeface="+mn-ea"/>
                <a:ea typeface="+mn-ea"/>
              </a:rPr>
              <a:t>2</a:t>
            </a:r>
            <a:r>
              <a:rPr lang="zh-CN" altLang="en-US" sz="1800" b="1" dirty="0">
                <a:latin typeface="+mn-ea"/>
                <a:ea typeface="+mn-ea"/>
              </a:rPr>
              <a:t>）多维</a:t>
            </a:r>
            <a:r>
              <a:rPr lang="en-US" altLang="zh-CN" sz="1800" b="1" dirty="0">
                <a:latin typeface="+mn-ea"/>
                <a:ea typeface="+mn-ea"/>
              </a:rPr>
              <a:t>OLAP(MOLAP)</a:t>
            </a:r>
            <a:r>
              <a:rPr lang="zh-CN" altLang="en-US" sz="1800" b="1" dirty="0">
                <a:latin typeface="+mn-ea"/>
                <a:ea typeface="+mn-ea"/>
              </a:rPr>
              <a:t>服务器：</a:t>
            </a:r>
            <a:r>
              <a:rPr lang="zh-CN" altLang="en-US" sz="1800" dirty="0">
                <a:latin typeface="+mn-ea"/>
                <a:ea typeface="+mn-ea"/>
              </a:rPr>
              <a:t>这些服务器通过</a:t>
            </a:r>
            <a:r>
              <a:rPr lang="zh-CN" altLang="en-US" sz="1800" dirty="0">
                <a:solidFill>
                  <a:srgbClr val="FF0000"/>
                </a:solidFill>
                <a:latin typeface="+mn-ea"/>
                <a:ea typeface="+mn-ea"/>
              </a:rPr>
              <a:t>基于数组的多维存储引擎</a:t>
            </a:r>
            <a:r>
              <a:rPr lang="zh-CN" altLang="en-US" sz="1800" dirty="0">
                <a:latin typeface="+mn-ea"/>
                <a:ea typeface="+mn-ea"/>
              </a:rPr>
              <a:t>，支持数据的多维视图。将多维视图直接映射到数据立方体数组结构。使用数据立方体的</a:t>
            </a:r>
            <a:r>
              <a:rPr lang="zh-CN" altLang="en-US" sz="1800" dirty="0">
                <a:solidFill>
                  <a:srgbClr val="FF0000"/>
                </a:solidFill>
                <a:latin typeface="+mn-ea"/>
                <a:ea typeface="+mn-ea"/>
              </a:rPr>
              <a:t>优点是能够对预计算的汇总数据快速索引</a:t>
            </a:r>
            <a:r>
              <a:rPr lang="zh-CN" altLang="en-US" sz="1800" dirty="0">
                <a:latin typeface="+mn-ea"/>
                <a:ea typeface="+mn-ea"/>
              </a:rPr>
              <a:t>。如果数据集是稀疏的，则使用多维数据存储利用率可能很低。此时应当使用稀疏矩阵压缩技术。</a:t>
            </a:r>
            <a:endParaRPr lang="zh-CN" altLang="en-US" sz="1800" dirty="0">
              <a:latin typeface="+mn-ea"/>
              <a:ea typeface="+mn-ea"/>
            </a:endParaRPr>
          </a:p>
          <a:p>
            <a:pPr marL="0" indent="0" defTabSz="868680">
              <a:buFont typeface="Arial" panose="020B0604020202090204" pitchFamily="34" charset="0"/>
              <a:buNone/>
              <a:defRPr/>
            </a:pPr>
            <a:r>
              <a:rPr lang="zh-CN" altLang="en-US" sz="1800" b="1" dirty="0">
                <a:latin typeface="+mn-ea"/>
                <a:ea typeface="+mn-ea"/>
              </a:rPr>
              <a:t>（</a:t>
            </a:r>
            <a:r>
              <a:rPr lang="en-US" altLang="zh-CN" sz="1800" b="1" dirty="0">
                <a:latin typeface="+mn-ea"/>
                <a:ea typeface="+mn-ea"/>
              </a:rPr>
              <a:t>3</a:t>
            </a:r>
            <a:r>
              <a:rPr lang="zh-CN" altLang="en-US" sz="1800" b="1" dirty="0">
                <a:latin typeface="+mn-ea"/>
                <a:ea typeface="+mn-ea"/>
              </a:rPr>
              <a:t>）混合</a:t>
            </a:r>
            <a:r>
              <a:rPr lang="en-US" altLang="zh-CN" sz="1800" b="1" dirty="0">
                <a:latin typeface="+mn-ea"/>
                <a:ea typeface="+mn-ea"/>
              </a:rPr>
              <a:t>OLAP(HOLAP)</a:t>
            </a:r>
            <a:r>
              <a:rPr lang="zh-CN" altLang="en-US" sz="1800" b="1" dirty="0">
                <a:latin typeface="+mn-ea"/>
                <a:ea typeface="+mn-ea"/>
              </a:rPr>
              <a:t>服务器：</a:t>
            </a:r>
            <a:r>
              <a:rPr lang="zh-CN" altLang="en-US" sz="1800" dirty="0">
                <a:solidFill>
                  <a:srgbClr val="FF0000"/>
                </a:solidFill>
                <a:latin typeface="+mn-ea"/>
                <a:ea typeface="+mn-ea"/>
              </a:rPr>
              <a:t>混合</a:t>
            </a:r>
            <a:r>
              <a:rPr lang="en-US" altLang="zh-CN" sz="1800" dirty="0">
                <a:solidFill>
                  <a:srgbClr val="FF0000"/>
                </a:solidFill>
                <a:latin typeface="+mn-ea"/>
                <a:ea typeface="+mn-ea"/>
              </a:rPr>
              <a:t>OLAP</a:t>
            </a:r>
            <a:r>
              <a:rPr lang="zh-CN" altLang="en-US" sz="1800" dirty="0">
                <a:solidFill>
                  <a:srgbClr val="FF0000"/>
                </a:solidFill>
                <a:latin typeface="+mn-ea"/>
                <a:ea typeface="+mn-ea"/>
              </a:rPr>
              <a:t>方法结合</a:t>
            </a:r>
            <a:r>
              <a:rPr lang="en-US" altLang="zh-CN" sz="1800" dirty="0">
                <a:solidFill>
                  <a:srgbClr val="FF0000"/>
                </a:solidFill>
                <a:latin typeface="+mn-ea"/>
                <a:ea typeface="+mn-ea"/>
              </a:rPr>
              <a:t>ROLAP</a:t>
            </a:r>
            <a:r>
              <a:rPr lang="zh-CN" altLang="en-US" sz="1800" dirty="0">
                <a:solidFill>
                  <a:srgbClr val="FF0000"/>
                </a:solidFill>
                <a:latin typeface="+mn-ea"/>
                <a:ea typeface="+mn-ea"/>
              </a:rPr>
              <a:t>和</a:t>
            </a:r>
            <a:r>
              <a:rPr lang="en-US" altLang="zh-CN" sz="1800" dirty="0">
                <a:solidFill>
                  <a:srgbClr val="FF0000"/>
                </a:solidFill>
                <a:latin typeface="+mn-ea"/>
                <a:ea typeface="+mn-ea"/>
              </a:rPr>
              <a:t>MOLAP</a:t>
            </a:r>
            <a:r>
              <a:rPr lang="zh-CN" altLang="en-US" sz="1800" dirty="0">
                <a:solidFill>
                  <a:srgbClr val="FF0000"/>
                </a:solidFill>
                <a:latin typeface="+mn-ea"/>
                <a:ea typeface="+mn-ea"/>
              </a:rPr>
              <a:t>技术</a:t>
            </a:r>
            <a:r>
              <a:rPr lang="zh-CN" altLang="en-US" sz="1800" dirty="0">
                <a:latin typeface="+mn-ea"/>
                <a:ea typeface="+mn-ea"/>
              </a:rPr>
              <a:t>，得益于</a:t>
            </a:r>
            <a:r>
              <a:rPr lang="en-US" altLang="zh-CN" sz="1800" dirty="0">
                <a:latin typeface="+mn-ea"/>
                <a:ea typeface="+mn-ea"/>
              </a:rPr>
              <a:t>ROLAP</a:t>
            </a:r>
            <a:r>
              <a:rPr lang="zh-CN" altLang="en-US" sz="1800" dirty="0">
                <a:latin typeface="+mn-ea"/>
                <a:ea typeface="+mn-ea"/>
              </a:rPr>
              <a:t>较大的可伸缩性和</a:t>
            </a:r>
            <a:r>
              <a:rPr lang="en-US" altLang="zh-CN" sz="1800" dirty="0">
                <a:latin typeface="+mn-ea"/>
                <a:ea typeface="+mn-ea"/>
              </a:rPr>
              <a:t>MOLAP</a:t>
            </a:r>
            <a:r>
              <a:rPr lang="zh-CN" altLang="en-US" sz="1800" dirty="0">
                <a:latin typeface="+mn-ea"/>
                <a:ea typeface="+mn-ea"/>
              </a:rPr>
              <a:t>的快速计算。</a:t>
            </a:r>
            <a:endParaRPr lang="zh-CN" altLang="en-US" sz="1800" dirty="0">
              <a:latin typeface="+mn-ea"/>
              <a:ea typeface="+mn-ea"/>
            </a:endParaRPr>
          </a:p>
          <a:p>
            <a:pPr marL="0" indent="0" defTabSz="868680">
              <a:buFont typeface="Arial" panose="020B0604020202090204" pitchFamily="34" charset="0"/>
              <a:buNone/>
              <a:defRPr/>
            </a:pPr>
            <a:r>
              <a:rPr lang="zh-CN" altLang="en-US" sz="1800" b="1" dirty="0">
                <a:latin typeface="+mn-ea"/>
                <a:ea typeface="+mn-ea"/>
              </a:rPr>
              <a:t>（</a:t>
            </a:r>
            <a:r>
              <a:rPr lang="en-US" altLang="zh-CN" sz="1800" b="1" dirty="0">
                <a:latin typeface="+mn-ea"/>
                <a:ea typeface="+mn-ea"/>
              </a:rPr>
              <a:t>4</a:t>
            </a:r>
            <a:r>
              <a:rPr lang="zh-CN" altLang="en-US" sz="1800" b="1" dirty="0">
                <a:latin typeface="+mn-ea"/>
                <a:ea typeface="+mn-ea"/>
              </a:rPr>
              <a:t>）特殊的</a:t>
            </a:r>
            <a:r>
              <a:rPr lang="en-US" altLang="zh-CN" sz="1800" b="1" dirty="0">
                <a:latin typeface="+mn-ea"/>
                <a:ea typeface="+mn-ea"/>
              </a:rPr>
              <a:t>SQL</a:t>
            </a:r>
            <a:r>
              <a:rPr lang="zh-CN" altLang="en-US" sz="1800" b="1" dirty="0">
                <a:latin typeface="+mn-ea"/>
                <a:ea typeface="+mn-ea"/>
              </a:rPr>
              <a:t>服务器：</a:t>
            </a:r>
            <a:r>
              <a:rPr lang="zh-CN" altLang="en-US" sz="1800" dirty="0">
                <a:latin typeface="+mn-ea"/>
                <a:ea typeface="+mn-ea"/>
              </a:rPr>
              <a:t>为了满足关系数据库中日益增长的</a:t>
            </a:r>
            <a:r>
              <a:rPr lang="en-US" altLang="zh-CN" sz="1800" dirty="0">
                <a:latin typeface="+mn-ea"/>
                <a:ea typeface="+mn-ea"/>
              </a:rPr>
              <a:t>OLAP</a:t>
            </a:r>
            <a:r>
              <a:rPr lang="zh-CN" altLang="en-US" sz="1800" dirty="0">
                <a:latin typeface="+mn-ea"/>
                <a:ea typeface="+mn-ea"/>
              </a:rPr>
              <a:t>处理的需要，一些数据库系统供应商实现了特殊的</a:t>
            </a:r>
            <a:r>
              <a:rPr lang="en-US" altLang="zh-CN" sz="1800" dirty="0">
                <a:latin typeface="+mn-ea"/>
                <a:ea typeface="+mn-ea"/>
              </a:rPr>
              <a:t>SQL</a:t>
            </a:r>
            <a:r>
              <a:rPr lang="zh-CN" altLang="en-US" sz="1800" dirty="0">
                <a:latin typeface="+mn-ea"/>
                <a:ea typeface="+mn-ea"/>
              </a:rPr>
              <a:t>服务器，提供高级查询语言和查询处理，在只读环境下，</a:t>
            </a:r>
            <a:r>
              <a:rPr lang="zh-CN" altLang="en-US" sz="1800" dirty="0">
                <a:solidFill>
                  <a:srgbClr val="FF0000"/>
                </a:solidFill>
                <a:latin typeface="+mn-ea"/>
                <a:ea typeface="+mn-ea"/>
              </a:rPr>
              <a:t>在星形和雪花形模式上支持</a:t>
            </a:r>
            <a:r>
              <a:rPr lang="en-US" altLang="zh-CN" sz="1800" dirty="0">
                <a:solidFill>
                  <a:srgbClr val="FF0000"/>
                </a:solidFill>
                <a:latin typeface="+mn-ea"/>
                <a:ea typeface="+mn-ea"/>
              </a:rPr>
              <a:t>SQL</a:t>
            </a:r>
            <a:r>
              <a:rPr lang="zh-CN" altLang="en-US" sz="1800" dirty="0">
                <a:solidFill>
                  <a:srgbClr val="FF0000"/>
                </a:solidFill>
                <a:latin typeface="+mn-ea"/>
                <a:ea typeface="+mn-ea"/>
              </a:rPr>
              <a:t>查询</a:t>
            </a:r>
            <a:r>
              <a:rPr lang="zh-CN" altLang="en-US" sz="1800" dirty="0">
                <a:latin typeface="+mn-ea"/>
                <a:ea typeface="+mn-ea"/>
              </a:rPr>
              <a:t>。</a:t>
            </a:r>
            <a:endParaRPr lang="zh-CN" altLang="en-US" sz="18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16389" name="Rectangle 3"/>
          <p:cNvSpPr>
            <a:spLocks noGrp="1" noChangeArrowheads="1"/>
          </p:cNvSpPr>
          <p:nvPr>
            <p:ph idx="1"/>
          </p:nvPr>
        </p:nvSpPr>
        <p:spPr>
          <a:xfrm>
            <a:off x="576263" y="1079500"/>
            <a:ext cx="9863137" cy="5351463"/>
          </a:xfrm>
        </p:spPr>
        <p:txBody>
          <a:bodyPr/>
          <a:lstStyle/>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4.1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数据仓库：基本概念</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4.2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数据仓库建模：数据立方体</a:t>
            </a:r>
            <a:r>
              <a:rPr lang="zh-CN" altLang="en-US"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与</a:t>
            </a:r>
            <a:r>
              <a:rPr lang="en-US" altLang="zh-CN"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4.3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数据仓库的设计与使用</a:t>
            </a:r>
            <a:endParaRPr lang="en-US" altLang="zh-CN"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4.4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数据仓库的实现</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rgbClr val="FF0000"/>
                </a:solidFill>
                <a:latin typeface="楷体" panose="02010609060101010101" pitchFamily="49" charset="-122"/>
                <a:ea typeface="楷体" panose="02010609060101010101" pitchFamily="49" charset="-122"/>
              </a:rPr>
              <a:t>4.5 </a:t>
            </a:r>
            <a:r>
              <a:rPr lang="zh-CN" altLang="en-US" sz="3600" b="1" dirty="0">
                <a:solidFill>
                  <a:srgbClr val="FF0000"/>
                </a:solidFill>
                <a:latin typeface="楷体" panose="02010609060101010101" pitchFamily="49" charset="-122"/>
                <a:ea typeface="楷体" panose="02010609060101010101" pitchFamily="49" charset="-122"/>
              </a:rPr>
              <a:t>数据泛化：面向属性的归纳</a:t>
            </a:r>
            <a:endParaRPr lang="zh-CN" altLang="en-US" sz="3600" b="1" dirty="0">
              <a:solidFill>
                <a:srgbClr val="FF0000"/>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4.6 </a:t>
            </a:r>
            <a:r>
              <a:rPr lang="zh-CN" altLang="en-US" sz="3600" b="1"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325120" indent="-325120" defTabSz="869315" eaLnBrk="1" hangingPunct="1">
              <a:defRPr/>
            </a:pPr>
            <a:endParaRPr lang="en-US" altLang="zh-CN" sz="3050" b="1" dirty="0"/>
          </a:p>
        </p:txBody>
      </p:sp>
      <p:sp>
        <p:nvSpPr>
          <p:cNvPr id="61444"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C784AEFF-63FF-472C-B3A5-E3D6782D5201}"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25000" cy="5486400"/>
          </a:xfrm>
        </p:spPr>
        <p:txBody>
          <a:bodyPr/>
          <a:lstStyle/>
          <a:p>
            <a:pPr defTabSz="868680">
              <a:buFont typeface="Wingdings" panose="05000000000000000000" pitchFamily="2" charset="2"/>
              <a:buChar char="Ø"/>
              <a:defRPr/>
            </a:pPr>
            <a:r>
              <a:rPr lang="zh-CN" altLang="en-US" sz="2400" b="1" dirty="0">
                <a:latin typeface="+mn-ea"/>
                <a:ea typeface="+mn-ea"/>
              </a:rPr>
              <a:t>数据泛化</a:t>
            </a:r>
            <a:r>
              <a:rPr lang="zh-CN" altLang="en-US" sz="2400" dirty="0">
                <a:latin typeface="+mn-ea"/>
                <a:ea typeface="+mn-ea"/>
              </a:rPr>
              <a:t>通过把相对低层的值（年龄数值）用较高层概念（青年、中年</a:t>
            </a:r>
            <a:r>
              <a:rPr lang="en-US" altLang="zh-CN" sz="2400" dirty="0">
                <a:latin typeface="+mn-ea"/>
                <a:ea typeface="+mn-ea"/>
              </a:rPr>
              <a:t>...</a:t>
            </a:r>
            <a:r>
              <a:rPr lang="zh-CN" altLang="en-US" sz="2400" dirty="0">
                <a:latin typeface="+mn-ea"/>
                <a:ea typeface="+mn-ea"/>
              </a:rPr>
              <a:t>）替换来</a:t>
            </a:r>
            <a:r>
              <a:rPr lang="zh-CN" altLang="en-US" sz="2400" dirty="0">
                <a:solidFill>
                  <a:srgbClr val="FF0000"/>
                </a:solidFill>
                <a:latin typeface="+mn-ea"/>
                <a:ea typeface="+mn-ea"/>
              </a:rPr>
              <a:t>汇总数据</a:t>
            </a:r>
            <a:r>
              <a:rPr lang="zh-CN" altLang="en-US" sz="2400" dirty="0">
                <a:latin typeface="+mn-ea"/>
                <a:ea typeface="+mn-ea"/>
              </a:rPr>
              <a:t>，或通过</a:t>
            </a:r>
            <a:r>
              <a:rPr lang="zh-CN" altLang="en-US" sz="2400" dirty="0">
                <a:solidFill>
                  <a:srgbClr val="FF0000"/>
                </a:solidFill>
                <a:latin typeface="+mn-ea"/>
                <a:ea typeface="+mn-ea"/>
              </a:rPr>
              <a:t>减少维数</a:t>
            </a:r>
            <a:r>
              <a:rPr lang="zh-CN" altLang="en-US" sz="2400" dirty="0">
                <a:latin typeface="+mn-ea"/>
                <a:ea typeface="+mn-ea"/>
              </a:rPr>
              <a:t>，在涉及较少维数的概念空间汇总数据。</a:t>
            </a:r>
            <a:endParaRPr lang="zh-CN" altLang="en-US" sz="2400" dirty="0">
              <a:latin typeface="+mn-ea"/>
              <a:ea typeface="+mn-ea"/>
            </a:endParaRPr>
          </a:p>
          <a:p>
            <a:pPr defTabSz="868680">
              <a:buFont typeface="Wingdings" panose="05000000000000000000" pitchFamily="2" charset="2"/>
              <a:buChar char="Ø"/>
              <a:defRPr/>
            </a:pPr>
            <a:r>
              <a:rPr lang="zh-CN" altLang="en-US" sz="2400" dirty="0">
                <a:solidFill>
                  <a:srgbClr val="FF0000"/>
                </a:solidFill>
                <a:latin typeface="+mn-ea"/>
                <a:ea typeface="+mn-ea"/>
              </a:rPr>
              <a:t>数据泛化形式：概念描述。</a:t>
            </a:r>
            <a:endParaRPr lang="en-US" altLang="zh-CN" sz="2400" dirty="0">
              <a:solidFill>
                <a:srgbClr val="FF0000"/>
              </a:solidFill>
              <a:latin typeface="+mn-ea"/>
              <a:ea typeface="+mn-ea"/>
            </a:endParaRPr>
          </a:p>
          <a:p>
            <a:pPr marL="706755" lvl="1" indent="-271780" defTabSz="868680">
              <a:defRPr/>
            </a:pPr>
            <a:r>
              <a:rPr lang="zh-CN" altLang="en-US" sz="2400" b="1" dirty="0">
                <a:latin typeface="+mn-ea"/>
                <a:ea typeface="+mn-ea"/>
              </a:rPr>
              <a:t>概念</a:t>
            </a:r>
            <a:r>
              <a:rPr lang="zh-CN" altLang="en-US" sz="2400" dirty="0">
                <a:latin typeface="+mn-ea"/>
                <a:ea typeface="+mn-ea"/>
              </a:rPr>
              <a:t>通常指数据的汇集。</a:t>
            </a:r>
            <a:endParaRPr lang="en-US" altLang="zh-CN" sz="2400" dirty="0">
              <a:latin typeface="+mn-ea"/>
              <a:ea typeface="+mn-ea"/>
            </a:endParaRPr>
          </a:p>
          <a:p>
            <a:pPr marL="706755" lvl="1" indent="-271780" defTabSz="868680">
              <a:defRPr/>
            </a:pPr>
            <a:r>
              <a:rPr lang="zh-CN" altLang="en-US" sz="2400" b="1" dirty="0">
                <a:latin typeface="+mn-ea"/>
                <a:ea typeface="+mn-ea"/>
              </a:rPr>
              <a:t>概念描述</a:t>
            </a:r>
            <a:r>
              <a:rPr lang="zh-CN" altLang="en-US" sz="2400" dirty="0">
                <a:latin typeface="+mn-ea"/>
                <a:ea typeface="+mn-ea"/>
              </a:rPr>
              <a:t>：</a:t>
            </a:r>
            <a:r>
              <a:rPr lang="zh-CN" altLang="en-US" sz="2400" dirty="0">
                <a:solidFill>
                  <a:srgbClr val="FF0000"/>
                </a:solidFill>
                <a:latin typeface="+mn-ea"/>
                <a:ea typeface="+mn-ea"/>
              </a:rPr>
              <a:t>产生数据的特征和比较描述</a:t>
            </a:r>
            <a:r>
              <a:rPr lang="zh-CN" altLang="en-US" sz="2400" dirty="0">
                <a:latin typeface="+mn-ea"/>
                <a:ea typeface="+mn-ea"/>
              </a:rPr>
              <a:t>。当被描述的概念涉及对象类时，有时也称概念描述为类描述。</a:t>
            </a:r>
            <a:endParaRPr lang="en-US" altLang="zh-CN" sz="2400" dirty="0">
              <a:latin typeface="+mn-ea"/>
              <a:ea typeface="+mn-ea"/>
            </a:endParaRPr>
          </a:p>
          <a:p>
            <a:pPr lvl="2" defTabSz="868680">
              <a:defRPr/>
            </a:pPr>
            <a:r>
              <a:rPr lang="zh-CN" altLang="en-US" sz="2400" b="1" dirty="0">
                <a:latin typeface="+mn-ea"/>
                <a:ea typeface="+mn-ea"/>
              </a:rPr>
              <a:t>特征</a:t>
            </a:r>
            <a:r>
              <a:rPr lang="zh-CN" altLang="en-US" sz="2400" dirty="0">
                <a:latin typeface="+mn-ea"/>
                <a:ea typeface="+mn-ea"/>
              </a:rPr>
              <a:t>提供给定数据汇集的简洁汇总。</a:t>
            </a:r>
            <a:endParaRPr lang="en-US" altLang="zh-CN" sz="2400" dirty="0">
              <a:latin typeface="+mn-ea"/>
              <a:ea typeface="+mn-ea"/>
            </a:endParaRPr>
          </a:p>
          <a:p>
            <a:pPr lvl="2" defTabSz="868680">
              <a:defRPr/>
            </a:pPr>
            <a:r>
              <a:rPr lang="zh-CN" altLang="en-US" sz="2400" dirty="0">
                <a:latin typeface="+mn-ea"/>
                <a:ea typeface="+mn-ea"/>
              </a:rPr>
              <a:t>概念或类的比较也称做</a:t>
            </a:r>
            <a:r>
              <a:rPr lang="zh-CN" altLang="en-US" sz="2400" b="1" dirty="0">
                <a:latin typeface="+mn-ea"/>
                <a:ea typeface="+mn-ea"/>
              </a:rPr>
              <a:t>区分</a:t>
            </a:r>
            <a:r>
              <a:rPr lang="zh-CN" altLang="en-US" sz="2400" dirty="0">
                <a:latin typeface="+mn-ea"/>
                <a:ea typeface="+mn-ea"/>
              </a:rPr>
              <a:t>，提供两个或多个数据集合的</a:t>
            </a:r>
            <a:r>
              <a:rPr lang="zh-CN" altLang="en-US" sz="2400" b="1" dirty="0">
                <a:latin typeface="+mn-ea"/>
                <a:ea typeface="+mn-ea"/>
              </a:rPr>
              <a:t>比较描述</a:t>
            </a:r>
            <a:r>
              <a:rPr lang="zh-CN" altLang="en-US" sz="2400" dirty="0">
                <a:latin typeface="+mn-ea"/>
                <a:ea typeface="+mn-ea"/>
              </a:rPr>
              <a:t>。</a:t>
            </a:r>
            <a:endParaRPr lang="zh-CN" altLang="en-US" sz="24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82150" cy="54864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、数据特征的面向属性的归纳</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   </a:t>
            </a:r>
            <a:r>
              <a:rPr lang="zh-CN" altLang="en-US" sz="2000" b="1" dirty="0">
                <a:latin typeface="+mn-ea"/>
                <a:ea typeface="+mn-ea"/>
              </a:rPr>
              <a:t>面向属性归纳的基本思想</a:t>
            </a:r>
            <a:r>
              <a:rPr lang="zh-CN" altLang="en-US" sz="2000" dirty="0">
                <a:latin typeface="+mn-ea"/>
                <a:ea typeface="+mn-ea"/>
              </a:rPr>
              <a:t>：首先使用数据库</a:t>
            </a:r>
            <a:r>
              <a:rPr lang="zh-CN" altLang="en-US" sz="2000" dirty="0">
                <a:solidFill>
                  <a:srgbClr val="FF0000"/>
                </a:solidFill>
                <a:latin typeface="+mn-ea"/>
                <a:ea typeface="+mn-ea"/>
              </a:rPr>
              <a:t>查询</a:t>
            </a:r>
            <a:r>
              <a:rPr lang="zh-CN" altLang="en-US" sz="2000" dirty="0">
                <a:latin typeface="+mn-ea"/>
                <a:ea typeface="+mn-ea"/>
              </a:rPr>
              <a:t>收集任务相关的数据；然后，通过考察</a:t>
            </a:r>
            <a:r>
              <a:rPr lang="zh-CN" altLang="en-US" sz="2000" dirty="0">
                <a:solidFill>
                  <a:srgbClr val="FF0000"/>
                </a:solidFill>
                <a:latin typeface="+mn-ea"/>
                <a:ea typeface="+mn-ea"/>
              </a:rPr>
              <a:t>任务相关数据</a:t>
            </a:r>
            <a:r>
              <a:rPr lang="zh-CN" altLang="en-US" sz="2000" dirty="0">
                <a:latin typeface="+mn-ea"/>
                <a:ea typeface="+mn-ea"/>
              </a:rPr>
              <a:t>中每个属性的不同值的个数进行泛化。</a:t>
            </a:r>
            <a:r>
              <a:rPr lang="zh-CN" altLang="en-US" sz="2000" b="1" dirty="0">
                <a:latin typeface="+mn-ea"/>
                <a:ea typeface="+mn-ea"/>
              </a:rPr>
              <a:t>数据泛化有两种方法</a:t>
            </a:r>
            <a:r>
              <a:rPr lang="zh-CN" altLang="en-US" sz="2000" dirty="0">
                <a:latin typeface="+mn-ea"/>
                <a:ea typeface="+mn-ea"/>
              </a:rPr>
              <a:t>：</a:t>
            </a:r>
            <a:endParaRPr lang="en-US" altLang="zh-CN" sz="2000" dirty="0">
              <a:latin typeface="+mn-ea"/>
              <a:ea typeface="+mn-ea"/>
            </a:endParaRPr>
          </a:p>
          <a:p>
            <a:pPr marL="0" indent="0" defTabSz="868680">
              <a:buFont typeface="Arial" panose="020B0604020202090204" pitchFamily="34" charset="0"/>
              <a:buNone/>
              <a:defRPr/>
            </a:pPr>
            <a:r>
              <a:rPr lang="zh-CN" altLang="en-US" sz="2000" dirty="0">
                <a:latin typeface="+mn-ea"/>
                <a:ea typeface="+mn-ea"/>
              </a:rPr>
              <a:t>（</a:t>
            </a:r>
            <a:r>
              <a:rPr lang="en-US" altLang="zh-CN" sz="2000" dirty="0">
                <a:latin typeface="+mn-ea"/>
                <a:ea typeface="+mn-ea"/>
              </a:rPr>
              <a:t>1</a:t>
            </a:r>
            <a:r>
              <a:rPr lang="zh-CN" altLang="en-US" sz="2000" dirty="0">
                <a:latin typeface="+mn-ea"/>
                <a:ea typeface="+mn-ea"/>
              </a:rPr>
              <a:t>）</a:t>
            </a:r>
            <a:r>
              <a:rPr lang="zh-CN" altLang="en-US" sz="2000" b="1" dirty="0">
                <a:latin typeface="+mn-ea"/>
                <a:ea typeface="+mn-ea"/>
              </a:rPr>
              <a:t>属性删除：</a:t>
            </a:r>
            <a:r>
              <a:rPr lang="zh-CN" altLang="en-US" sz="2000" dirty="0">
                <a:latin typeface="+mn-ea"/>
                <a:ea typeface="+mn-ea"/>
              </a:rPr>
              <a:t>如果初始工作关系的</a:t>
            </a:r>
            <a:r>
              <a:rPr lang="zh-CN" altLang="en-US" sz="2000" dirty="0">
                <a:solidFill>
                  <a:srgbClr val="0000FF"/>
                </a:solidFill>
                <a:latin typeface="+mn-ea"/>
                <a:ea typeface="+mn-ea"/>
              </a:rPr>
              <a:t>某个属性有大量不同的值</a:t>
            </a:r>
            <a:r>
              <a:rPr lang="zh-CN" altLang="en-US" sz="2000" dirty="0">
                <a:latin typeface="+mn-ea"/>
                <a:ea typeface="+mn-ea"/>
              </a:rPr>
              <a:t>，但是在该属性上</a:t>
            </a:r>
            <a:r>
              <a:rPr lang="zh-CN" altLang="en-US" sz="2000" dirty="0">
                <a:solidFill>
                  <a:srgbClr val="FF0000"/>
                </a:solidFill>
                <a:latin typeface="+mn-ea"/>
                <a:ea typeface="+mn-ea"/>
              </a:rPr>
              <a:t>没有泛化操作符</a:t>
            </a:r>
            <a:r>
              <a:rPr lang="en-US" altLang="zh-CN" sz="2000" dirty="0">
                <a:latin typeface="+mn-ea"/>
                <a:ea typeface="+mn-ea"/>
              </a:rPr>
              <a:t>(</a:t>
            </a:r>
            <a:r>
              <a:rPr lang="zh-CN" altLang="en-US" sz="2000" dirty="0">
                <a:latin typeface="+mn-ea"/>
                <a:ea typeface="+mn-ea"/>
              </a:rPr>
              <a:t>该属性没有定义概念分层</a:t>
            </a:r>
            <a:r>
              <a:rPr lang="en-US" altLang="zh-CN" sz="2000" dirty="0">
                <a:latin typeface="+mn-ea"/>
                <a:ea typeface="+mn-ea"/>
              </a:rPr>
              <a:t>)</a:t>
            </a:r>
            <a:r>
              <a:rPr lang="zh-CN" altLang="en-US" sz="2000" dirty="0">
                <a:latin typeface="+mn-ea"/>
                <a:ea typeface="+mn-ea"/>
              </a:rPr>
              <a:t>，或者它的</a:t>
            </a:r>
            <a:r>
              <a:rPr lang="zh-CN" altLang="en-US" sz="2000" dirty="0">
                <a:solidFill>
                  <a:srgbClr val="FF0000"/>
                </a:solidFill>
                <a:latin typeface="+mn-ea"/>
                <a:ea typeface="+mn-ea"/>
              </a:rPr>
              <a:t>较高层概念用其他属性表示</a:t>
            </a:r>
            <a:r>
              <a:rPr lang="zh-CN" altLang="en-US" sz="2000" dirty="0">
                <a:latin typeface="+mn-ea"/>
                <a:ea typeface="+mn-ea"/>
              </a:rPr>
              <a:t>，则应当将该属性从工作关系中删除。</a:t>
            </a:r>
            <a:endParaRPr lang="en-US" altLang="zh-CN" sz="2000" dirty="0">
              <a:latin typeface="+mn-ea"/>
              <a:ea typeface="+mn-ea"/>
            </a:endParaRPr>
          </a:p>
          <a:p>
            <a:pPr marL="0" indent="0" defTabSz="868680">
              <a:buFont typeface="Arial" panose="020B0604020202090204" pitchFamily="34" charset="0"/>
              <a:buNone/>
              <a:defRPr/>
            </a:pPr>
            <a:r>
              <a:rPr lang="zh-CN" altLang="en-US" sz="2000" dirty="0">
                <a:latin typeface="+mn-ea"/>
                <a:ea typeface="+mn-ea"/>
              </a:rPr>
              <a:t>（</a:t>
            </a:r>
            <a:r>
              <a:rPr lang="en-US" altLang="zh-CN" sz="2000" dirty="0">
                <a:latin typeface="+mn-ea"/>
                <a:ea typeface="+mn-ea"/>
              </a:rPr>
              <a:t>2</a:t>
            </a:r>
            <a:r>
              <a:rPr lang="zh-CN" altLang="en-US" sz="2000" dirty="0">
                <a:latin typeface="+mn-ea"/>
                <a:ea typeface="+mn-ea"/>
              </a:rPr>
              <a:t>）</a:t>
            </a:r>
            <a:r>
              <a:rPr lang="zh-CN" altLang="en-US" sz="2000" b="1" dirty="0">
                <a:latin typeface="+mn-ea"/>
                <a:ea typeface="+mn-ea"/>
              </a:rPr>
              <a:t>属性泛化：</a:t>
            </a:r>
            <a:r>
              <a:rPr lang="zh-CN" altLang="en-US" sz="2000" dirty="0">
                <a:latin typeface="+mn-ea"/>
                <a:ea typeface="+mn-ea"/>
              </a:rPr>
              <a:t>如果初始工作关系的</a:t>
            </a:r>
            <a:r>
              <a:rPr lang="zh-CN" altLang="en-US" sz="2000" dirty="0">
                <a:solidFill>
                  <a:srgbClr val="0000FF"/>
                </a:solidFill>
                <a:latin typeface="+mn-ea"/>
                <a:ea typeface="+mn-ea"/>
              </a:rPr>
              <a:t>某个属性有大量不同的值</a:t>
            </a:r>
            <a:r>
              <a:rPr lang="zh-CN" altLang="en-US" sz="2000" dirty="0">
                <a:latin typeface="+mn-ea"/>
                <a:ea typeface="+mn-ea"/>
              </a:rPr>
              <a:t>，并且该属性上</a:t>
            </a:r>
            <a:r>
              <a:rPr lang="zh-CN" altLang="en-US" sz="2000" dirty="0">
                <a:solidFill>
                  <a:srgbClr val="FF0000"/>
                </a:solidFill>
                <a:latin typeface="+mn-ea"/>
                <a:ea typeface="+mn-ea"/>
              </a:rPr>
              <a:t>存在泛化操作符的集合</a:t>
            </a:r>
            <a:r>
              <a:rPr lang="zh-CN" altLang="en-US" sz="2000" dirty="0">
                <a:latin typeface="+mn-ea"/>
                <a:ea typeface="+mn-ea"/>
              </a:rPr>
              <a:t>，则应当选择一个泛化操作符，并将它用于该属性。</a:t>
            </a:r>
            <a:endParaRPr lang="en-US" altLang="zh-CN" sz="2000"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过分泛化：</a:t>
            </a:r>
            <a:r>
              <a:rPr lang="zh-CN" altLang="en-US" sz="2000" dirty="0">
                <a:latin typeface="+mn-ea"/>
                <a:ea typeface="+mn-ea"/>
              </a:rPr>
              <a:t>属性泛化到“太高”抽象层。</a:t>
            </a:r>
            <a:endParaRPr lang="en-US" altLang="zh-CN" sz="2000"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泛化不足：</a:t>
            </a:r>
            <a:r>
              <a:rPr lang="zh-CN" altLang="en-US" sz="2000" dirty="0">
                <a:latin typeface="+mn-ea"/>
                <a:ea typeface="+mn-ea"/>
              </a:rPr>
              <a:t>属性不泛化到“足够高的层次”。</a:t>
            </a:r>
            <a:endParaRPr lang="zh-CN" altLang="en-US" sz="2000" dirty="0">
              <a:latin typeface="+mn-ea"/>
              <a:ea typeface="+mn-ea"/>
            </a:endParaRPr>
          </a:p>
        </p:txBody>
      </p:sp>
      <p:sp>
        <p:nvSpPr>
          <p:cNvPr id="2" name="矩形 1"/>
          <p:cNvSpPr>
            <a:spLocks noChangeArrowheads="1"/>
          </p:cNvSpPr>
          <p:nvPr/>
        </p:nvSpPr>
        <p:spPr bwMode="auto">
          <a:xfrm>
            <a:off x="6072188" y="5324655"/>
            <a:ext cx="4184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rgbClr val="0000FF"/>
                </a:solidFill>
              </a:rPr>
              <a:t>得到的规则可能没有多少信息</a:t>
            </a:r>
            <a:endParaRPr lang="zh-CN" altLang="en-US" sz="2400">
              <a:solidFill>
                <a:srgbClr val="0000FF"/>
              </a:solidFill>
            </a:endParaRPr>
          </a:p>
        </p:txBody>
      </p:sp>
      <p:sp>
        <p:nvSpPr>
          <p:cNvPr id="3" name="右大括号 2"/>
          <p:cNvSpPr/>
          <p:nvPr/>
        </p:nvSpPr>
        <p:spPr>
          <a:xfrm>
            <a:off x="5767388" y="5175430"/>
            <a:ext cx="304800" cy="762000"/>
          </a:xfrm>
          <a:prstGeom prst="righ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6" name="矩形 5"/>
          <p:cNvSpPr>
            <a:spLocks noChangeArrowheads="1"/>
          </p:cNvSpPr>
          <p:nvPr/>
        </p:nvSpPr>
        <p:spPr bwMode="auto">
          <a:xfrm>
            <a:off x="6994525" y="6097768"/>
            <a:ext cx="2339975" cy="522287"/>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sz="2800">
                <a:solidFill>
                  <a:srgbClr val="FF0000"/>
                </a:solidFill>
              </a:rPr>
              <a:t>属性泛化控制</a:t>
            </a:r>
            <a:endParaRPr lang="zh-CN" altLang="en-US" sz="2800">
              <a:solidFill>
                <a:srgbClr val="FF0000"/>
              </a:solidFill>
            </a:endParaRPr>
          </a:p>
        </p:txBody>
      </p:sp>
      <p:cxnSp>
        <p:nvCxnSpPr>
          <p:cNvPr id="5" name="直接箭头连接符 4"/>
          <p:cNvCxnSpPr>
            <a:stCxn id="6" idx="0"/>
            <a:endCxn id="2" idx="2"/>
          </p:cNvCxnSpPr>
          <p:nvPr/>
        </p:nvCxnSpPr>
        <p:spPr>
          <a:xfrm flipV="1">
            <a:off x="8164513" y="5786618"/>
            <a:ext cx="0" cy="311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525000" cy="54864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、数据特征的面向属性的归纳</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400" dirty="0">
                <a:latin typeface="+mn-ea"/>
                <a:ea typeface="+mn-ea"/>
              </a:rPr>
              <a:t>属性泛化控制的</a:t>
            </a:r>
            <a:r>
              <a:rPr lang="zh-CN" altLang="en-US" sz="2400" b="1" dirty="0">
                <a:latin typeface="+mn-ea"/>
                <a:ea typeface="+mn-ea"/>
              </a:rPr>
              <a:t>两种方法</a:t>
            </a:r>
            <a:r>
              <a:rPr lang="zh-CN" altLang="en-US" sz="2400" dirty="0">
                <a:latin typeface="+mn-ea"/>
                <a:ea typeface="+mn-ea"/>
              </a:rPr>
              <a:t>：</a:t>
            </a:r>
            <a:endParaRPr lang="en-US" altLang="zh-CN" sz="2400" dirty="0">
              <a:latin typeface="+mn-ea"/>
              <a:ea typeface="+mn-ea"/>
            </a:endParaRPr>
          </a:p>
          <a:p>
            <a:pPr defTabSz="868680">
              <a:buFont typeface="Wingdings" panose="05000000000000000000" pitchFamily="2" charset="2"/>
              <a:buChar char="Ø"/>
              <a:defRPr/>
            </a:pPr>
            <a:r>
              <a:rPr lang="zh-CN" altLang="en-US" sz="2000" b="1" dirty="0">
                <a:solidFill>
                  <a:srgbClr val="0000FF"/>
                </a:solidFill>
                <a:latin typeface="+mn-ea"/>
                <a:ea typeface="+mn-ea"/>
              </a:rPr>
              <a:t>属性泛化阈值控制：</a:t>
            </a:r>
            <a:r>
              <a:rPr lang="zh-CN" altLang="en-US" sz="2000" dirty="0">
                <a:latin typeface="+mn-ea"/>
                <a:ea typeface="+mn-ea"/>
              </a:rPr>
              <a:t>对所有的属性设置一个泛化阈值，或者对每个属性设置一个阈值。如果</a:t>
            </a:r>
            <a:r>
              <a:rPr lang="zh-CN" altLang="en-US" sz="2000" dirty="0">
                <a:solidFill>
                  <a:srgbClr val="FF0000"/>
                </a:solidFill>
                <a:latin typeface="+mn-ea"/>
                <a:ea typeface="+mn-ea"/>
              </a:rPr>
              <a:t>属性的不同值个数大于该属性泛化阈值</a:t>
            </a:r>
            <a:r>
              <a:rPr lang="zh-CN" altLang="en-US" sz="2000" dirty="0">
                <a:latin typeface="+mn-ea"/>
                <a:ea typeface="+mn-ea"/>
              </a:rPr>
              <a:t>，则应当进行进一步的属性删除或属性泛化。</a:t>
            </a:r>
            <a:endParaRPr lang="zh-CN" altLang="en-US" sz="2000" dirty="0">
              <a:latin typeface="+mn-ea"/>
              <a:ea typeface="+mn-ea"/>
            </a:endParaRPr>
          </a:p>
          <a:p>
            <a:pPr defTabSz="868680">
              <a:buFont typeface="Wingdings" panose="05000000000000000000" pitchFamily="2" charset="2"/>
              <a:buChar char="Ø"/>
              <a:defRPr/>
            </a:pPr>
            <a:endParaRPr lang="zh-CN" altLang="en-US" sz="2000" dirty="0">
              <a:latin typeface="+mn-ea"/>
              <a:ea typeface="+mn-ea"/>
            </a:endParaRPr>
          </a:p>
          <a:p>
            <a:pPr defTabSz="868680">
              <a:buFont typeface="Wingdings" panose="05000000000000000000" pitchFamily="2" charset="2"/>
              <a:buChar char="Ø"/>
              <a:defRPr/>
            </a:pPr>
            <a:r>
              <a:rPr lang="zh-CN" altLang="en-US" sz="2000" b="1" dirty="0">
                <a:solidFill>
                  <a:srgbClr val="0000FF"/>
                </a:solidFill>
                <a:latin typeface="+mn-ea"/>
                <a:ea typeface="+mn-ea"/>
              </a:rPr>
              <a:t>广义关系阈值控制：</a:t>
            </a:r>
            <a:r>
              <a:rPr lang="zh-CN" altLang="en-US" sz="2000" dirty="0">
                <a:latin typeface="+mn-ea"/>
                <a:ea typeface="+mn-ea"/>
              </a:rPr>
              <a:t>为广义关系设置一个阈值，如果广义关系中</a:t>
            </a:r>
            <a:r>
              <a:rPr lang="zh-CN" altLang="en-US" sz="2000" dirty="0">
                <a:solidFill>
                  <a:srgbClr val="FF0000"/>
                </a:solidFill>
                <a:latin typeface="+mn-ea"/>
                <a:ea typeface="+mn-ea"/>
              </a:rPr>
              <a:t>不同元组的个数超过该阈值</a:t>
            </a:r>
            <a:r>
              <a:rPr lang="zh-CN" altLang="en-US" sz="2000" dirty="0">
                <a:latin typeface="+mn-ea"/>
                <a:ea typeface="+mn-ea"/>
              </a:rPr>
              <a:t>，则应当进行进一步泛化，否则不再进行进一步泛化。</a:t>
            </a:r>
            <a:endParaRPr lang="zh-CN" altLang="en-US" sz="2000" dirty="0">
              <a:latin typeface="+mn-ea"/>
              <a:ea typeface="+mn-ea"/>
            </a:endParaRPr>
          </a:p>
          <a:p>
            <a:pPr marL="0" indent="0" defTabSz="868680">
              <a:buFont typeface="Arial" panose="020B0604020202090204" pitchFamily="34" charset="0"/>
              <a:buNone/>
              <a:defRPr/>
            </a:pPr>
            <a:r>
              <a:rPr lang="zh-CN" altLang="en-US" sz="2000" dirty="0">
                <a:latin typeface="+mn-ea"/>
                <a:ea typeface="+mn-ea"/>
              </a:rPr>
              <a:t>    </a:t>
            </a:r>
            <a:r>
              <a:rPr lang="zh-CN" altLang="en-US" sz="2000" dirty="0">
                <a:solidFill>
                  <a:srgbClr val="FF0000"/>
                </a:solidFill>
                <a:latin typeface="+mn-ea"/>
                <a:ea typeface="+mn-ea"/>
              </a:rPr>
              <a:t>这两种技术可以顺序使用</a:t>
            </a:r>
            <a:r>
              <a:rPr lang="zh-CN" altLang="en-US" sz="2000" dirty="0">
                <a:latin typeface="+mn-ea"/>
                <a:ea typeface="+mn-ea"/>
              </a:rPr>
              <a:t>，首先使用属性泛化阈值控制技术泛化每个属性，然后使用关系阈值控制进一步压缩广义关系。</a:t>
            </a:r>
            <a:endParaRPr lang="zh-CN" altLang="en-US" sz="20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906000" cy="2438400"/>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2</a:t>
            </a:r>
            <a:r>
              <a:rPr lang="zh-CN" altLang="en-US" sz="2400" b="1" dirty="0">
                <a:solidFill>
                  <a:srgbClr val="0000FF"/>
                </a:solidFill>
                <a:latin typeface="+mn-ea"/>
                <a:ea typeface="+mn-ea"/>
              </a:rPr>
              <a:t>、面向属性归纳的有效实现</a:t>
            </a:r>
            <a:endParaRPr lang="en-US" altLang="zh-CN" sz="2400" b="1" dirty="0">
              <a:solidFill>
                <a:srgbClr val="0000FF"/>
              </a:solidFill>
              <a:latin typeface="+mn-ea"/>
              <a:ea typeface="+mn-ea"/>
            </a:endParaRPr>
          </a:p>
          <a:p>
            <a:pPr marL="0" indent="0" defTabSz="868680">
              <a:lnSpc>
                <a:spcPts val="3000"/>
              </a:lnSpc>
              <a:buFont typeface="Arial" panose="020B0604020202090204" pitchFamily="34" charset="0"/>
              <a:buNone/>
              <a:defRPr/>
            </a:pPr>
            <a:r>
              <a:rPr lang="zh-CN" altLang="en-US" sz="2400" dirty="0">
                <a:latin typeface="+mn-ea"/>
                <a:ea typeface="+mn-ea"/>
              </a:rPr>
              <a:t>面向属性归纳的实现步骤：</a:t>
            </a:r>
            <a:endParaRPr lang="en-US" altLang="zh-CN" sz="2400" dirty="0">
              <a:latin typeface="+mn-ea"/>
              <a:ea typeface="+mn-ea"/>
            </a:endParaRPr>
          </a:p>
          <a:p>
            <a:pPr marL="0" indent="0" defTabSz="868680">
              <a:lnSpc>
                <a:spcPts val="3000"/>
              </a:lnSpc>
              <a:buFont typeface="Arial" panose="020B0604020202090204" pitchFamily="34" charset="0"/>
              <a:buNone/>
              <a:defRPr/>
            </a:pPr>
            <a:r>
              <a:rPr lang="zh-CN" altLang="en-US" sz="2200" dirty="0">
                <a:latin typeface="+mn-ea"/>
                <a:ea typeface="+mn-ea"/>
              </a:rPr>
              <a:t>（</a:t>
            </a:r>
            <a:r>
              <a:rPr lang="en-US" altLang="zh-CN" sz="2200" dirty="0">
                <a:latin typeface="+mn-ea"/>
                <a:ea typeface="+mn-ea"/>
              </a:rPr>
              <a:t>1</a:t>
            </a:r>
            <a:r>
              <a:rPr lang="zh-CN" altLang="en-US" sz="2200" dirty="0">
                <a:latin typeface="+mn-ea"/>
                <a:ea typeface="+mn-ea"/>
              </a:rPr>
              <a:t>）查询出任务相关的数据；</a:t>
            </a:r>
            <a:endParaRPr lang="en-US" altLang="zh-CN" sz="2200" dirty="0">
              <a:latin typeface="+mn-ea"/>
              <a:ea typeface="+mn-ea"/>
            </a:endParaRPr>
          </a:p>
          <a:p>
            <a:pPr marL="0" indent="0" defTabSz="868680">
              <a:lnSpc>
                <a:spcPts val="3000"/>
              </a:lnSpc>
              <a:buFont typeface="Arial" panose="020B0604020202090204" pitchFamily="34" charset="0"/>
              <a:buNone/>
              <a:defRPr/>
            </a:pPr>
            <a:r>
              <a:rPr lang="zh-CN" altLang="en-US" sz="2200" dirty="0">
                <a:latin typeface="+mn-ea"/>
                <a:ea typeface="+mn-ea"/>
              </a:rPr>
              <a:t>（</a:t>
            </a:r>
            <a:r>
              <a:rPr lang="en-US" altLang="zh-CN" sz="2200" dirty="0">
                <a:latin typeface="+mn-ea"/>
                <a:ea typeface="+mn-ea"/>
              </a:rPr>
              <a:t>2</a:t>
            </a:r>
            <a:r>
              <a:rPr lang="zh-CN" altLang="en-US" sz="2200" dirty="0">
                <a:latin typeface="+mn-ea"/>
                <a:ea typeface="+mn-ea"/>
              </a:rPr>
              <a:t>）收集关系上的统计量，确定泛化的属性和删除的属性（</a:t>
            </a:r>
            <a:r>
              <a:rPr lang="zh-CN" altLang="en-US" sz="2200" dirty="0">
                <a:solidFill>
                  <a:srgbClr val="FF0000"/>
                </a:solidFill>
                <a:latin typeface="+mn-ea"/>
                <a:ea typeface="+mn-ea"/>
              </a:rPr>
              <a:t>属性泛化</a:t>
            </a:r>
            <a:r>
              <a:rPr lang="zh-CN" altLang="en-US" sz="2200" dirty="0">
                <a:latin typeface="+mn-ea"/>
                <a:ea typeface="+mn-ea"/>
              </a:rPr>
              <a:t>）</a:t>
            </a:r>
            <a:endParaRPr lang="en-US" altLang="zh-CN" sz="2200" dirty="0">
              <a:latin typeface="+mn-ea"/>
              <a:ea typeface="+mn-ea"/>
            </a:endParaRPr>
          </a:p>
          <a:p>
            <a:pPr marL="0" indent="0" defTabSz="868680">
              <a:lnSpc>
                <a:spcPts val="3000"/>
              </a:lnSpc>
              <a:spcBef>
                <a:spcPts val="600"/>
              </a:spcBef>
              <a:buFont typeface="Arial" panose="020B0604020202090204" pitchFamily="34" charset="0"/>
              <a:buNone/>
              <a:defRPr/>
            </a:pPr>
            <a:r>
              <a:rPr lang="en-US" altLang="zh-CN" sz="3200" dirty="0">
                <a:latin typeface="+mn-ea"/>
              </a:rPr>
              <a:t>  </a:t>
            </a:r>
            <a:r>
              <a:rPr lang="en-US" altLang="zh-CN" sz="3200" dirty="0">
                <a:solidFill>
                  <a:srgbClr val="FF0000"/>
                </a:solidFill>
                <a:latin typeface="+mn-ea"/>
              </a:rPr>
              <a:t>╳       √    √      √      √      ╳  √ </a:t>
            </a:r>
            <a:endParaRPr lang="en-US" altLang="zh-CN" sz="3200" dirty="0">
              <a:solidFill>
                <a:srgbClr val="FF0000"/>
              </a:solidFill>
              <a:latin typeface="+mn-ea"/>
              <a:ea typeface="+mn-ea"/>
            </a:endParaRPr>
          </a:p>
          <a:p>
            <a:pPr marL="0" indent="0" defTabSz="868680">
              <a:buFont typeface="Arial" panose="020B0604020202090204" pitchFamily="34" charset="0"/>
              <a:buNone/>
              <a:defRPr/>
            </a:pPr>
            <a:endParaRPr lang="en-US" altLang="zh-CN" sz="2400" dirty="0">
              <a:latin typeface="+mn-ea"/>
              <a:ea typeface="+mn-ea"/>
            </a:endParaRPr>
          </a:p>
          <a:p>
            <a:pPr marL="0" indent="0" defTabSz="868680">
              <a:buFont typeface="Arial" panose="020B0604020202090204" pitchFamily="34" charset="0"/>
              <a:buNone/>
              <a:defRPr/>
            </a:pPr>
            <a:endParaRPr lang="en-US" altLang="zh-CN" sz="2400" dirty="0">
              <a:latin typeface="+mn-ea"/>
              <a:ea typeface="+mn-ea"/>
            </a:endParaRPr>
          </a:p>
          <a:p>
            <a:pPr marL="0" indent="0" defTabSz="868680">
              <a:buFont typeface="Arial" panose="020B0604020202090204" pitchFamily="34" charset="0"/>
              <a:buNone/>
              <a:defRPr/>
            </a:pPr>
            <a:endParaRPr lang="en-US" altLang="zh-CN" sz="2400" dirty="0">
              <a:latin typeface="+mn-ea"/>
              <a:ea typeface="+mn-ea"/>
            </a:endParaRPr>
          </a:p>
          <a:p>
            <a:pPr marL="0" indent="0" defTabSz="868680">
              <a:spcBef>
                <a:spcPts val="1200"/>
              </a:spcBef>
              <a:buFont typeface="Arial" panose="020B0604020202090204" pitchFamily="34" charset="0"/>
              <a:buNone/>
              <a:defRPr/>
            </a:pPr>
            <a:r>
              <a:rPr lang="zh-CN" altLang="en-US" sz="2000" dirty="0">
                <a:latin typeface="+mn-ea"/>
                <a:ea typeface="+mn-ea"/>
              </a:rPr>
              <a:t>（</a:t>
            </a:r>
            <a:r>
              <a:rPr lang="en-US" altLang="zh-CN" sz="2000" dirty="0">
                <a:latin typeface="+mn-ea"/>
                <a:ea typeface="+mn-ea"/>
              </a:rPr>
              <a:t>3</a:t>
            </a:r>
            <a:r>
              <a:rPr lang="zh-CN" altLang="en-US" sz="2000" dirty="0">
                <a:latin typeface="+mn-ea"/>
                <a:ea typeface="+mn-ea"/>
              </a:rPr>
              <a:t>）导出主关系表（</a:t>
            </a:r>
            <a:r>
              <a:rPr lang="zh-CN" altLang="en-US" sz="2000" b="1" dirty="0">
                <a:solidFill>
                  <a:srgbClr val="FF0000"/>
                </a:solidFill>
                <a:latin typeface="+mn-ea"/>
                <a:ea typeface="+mn-ea"/>
              </a:rPr>
              <a:t>元组泛化</a:t>
            </a:r>
            <a:r>
              <a:rPr lang="zh-CN" altLang="en-US" sz="2000" dirty="0">
                <a:latin typeface="+mn-ea"/>
                <a:ea typeface="+mn-ea"/>
              </a:rPr>
              <a:t>）</a:t>
            </a:r>
            <a:endParaRPr lang="en-US" altLang="zh-CN" sz="2000" dirty="0">
              <a:latin typeface="+mn-ea"/>
              <a:ea typeface="+mn-ea"/>
            </a:endParaRPr>
          </a:p>
        </p:txBody>
      </p:sp>
      <p:pic>
        <p:nvPicPr>
          <p:cNvPr id="4"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975" y="3403600"/>
            <a:ext cx="9891713"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988" y="5715000"/>
            <a:ext cx="84582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8599488" y="5715000"/>
            <a:ext cx="838200" cy="12239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089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arn(inVertical)">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160463"/>
            <a:ext cx="9678987" cy="5867400"/>
          </a:xfrm>
        </p:spPr>
        <p:txBody>
          <a:bodyPr/>
          <a:lstStyle/>
          <a:p>
            <a:pPr marL="0" indent="0" defTabSz="868680">
              <a:lnSpc>
                <a:spcPct val="100000"/>
              </a:lnSpc>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、类比较的面向属性归纳</a:t>
            </a:r>
            <a:endParaRPr lang="zh-CN" altLang="en-US" sz="24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    </a:t>
            </a:r>
            <a:r>
              <a:rPr lang="zh-CN" altLang="en-US" sz="2000" dirty="0">
                <a:latin typeface="+mn-ea"/>
                <a:ea typeface="+mn-ea"/>
              </a:rPr>
              <a:t>许多应用中，用户可能对单个类（或概念）的描述或特征不感兴趣，而是希望挖掘一种描述，将一个类（或概念）与其他可对比较的类相区分。</a:t>
            </a:r>
            <a:r>
              <a:rPr lang="zh-CN" altLang="en-US" sz="2000" b="1" dirty="0">
                <a:latin typeface="+mn-ea"/>
                <a:ea typeface="+mn-ea"/>
              </a:rPr>
              <a:t>注意：</a:t>
            </a:r>
            <a:r>
              <a:rPr lang="zh-CN" altLang="en-US" sz="2000" dirty="0">
                <a:latin typeface="+mn-ea"/>
                <a:ea typeface="+mn-ea"/>
              </a:rPr>
              <a:t> 目标类和对比类必须是</a:t>
            </a:r>
            <a:r>
              <a:rPr lang="zh-CN" altLang="en-US" sz="2000" dirty="0">
                <a:solidFill>
                  <a:srgbClr val="FF0000"/>
                </a:solidFill>
                <a:latin typeface="+mn-ea"/>
                <a:ea typeface="+mn-ea"/>
              </a:rPr>
              <a:t>可比较的，意指它们具有</a:t>
            </a:r>
            <a:r>
              <a:rPr lang="zh-CN" altLang="en-US" sz="2000" b="1" dirty="0">
                <a:solidFill>
                  <a:srgbClr val="FF0000"/>
                </a:solidFill>
                <a:latin typeface="+mn-ea"/>
                <a:ea typeface="+mn-ea"/>
              </a:rPr>
              <a:t>相似的维或属性</a:t>
            </a:r>
            <a:r>
              <a:rPr lang="zh-CN" altLang="en-US" sz="2000" dirty="0">
                <a:solidFill>
                  <a:srgbClr val="FF0000"/>
                </a:solidFill>
                <a:latin typeface="+mn-ea"/>
                <a:ea typeface="+mn-ea"/>
              </a:rPr>
              <a:t>，</a:t>
            </a:r>
            <a:r>
              <a:rPr lang="zh-CN" altLang="en-US" sz="2000" dirty="0">
                <a:latin typeface="+mn-ea"/>
                <a:ea typeface="+mn-ea"/>
              </a:rPr>
              <a:t>如过去三年的销售。</a:t>
            </a:r>
            <a:endParaRPr lang="zh-CN" altLang="en-US" sz="2000" dirty="0">
              <a:latin typeface="+mn-ea"/>
              <a:ea typeface="+mn-ea"/>
            </a:endParaRPr>
          </a:p>
          <a:p>
            <a:pPr marL="0" indent="0" defTabSz="868680">
              <a:buFont typeface="Arial" panose="020B0604020202090204" pitchFamily="34" charset="0"/>
              <a:buNone/>
              <a:defRPr/>
            </a:pPr>
            <a:r>
              <a:rPr lang="zh-CN" altLang="en-US" sz="2000" b="1" dirty="0">
                <a:solidFill>
                  <a:srgbClr val="0000FF"/>
                </a:solidFill>
                <a:latin typeface="+mn-ea"/>
                <a:ea typeface="+mn-ea"/>
              </a:rPr>
              <a:t>如何进行类比较？</a:t>
            </a:r>
            <a:endParaRPr lang="zh-CN" altLang="en-US" sz="20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1</a:t>
            </a:r>
            <a:r>
              <a:rPr lang="zh-CN" altLang="en-US" sz="2000" b="1" dirty="0">
                <a:latin typeface="+mn-ea"/>
                <a:ea typeface="+mn-ea"/>
              </a:rPr>
              <a:t>）数据收集：</a:t>
            </a:r>
            <a:r>
              <a:rPr lang="zh-CN" altLang="en-US" sz="2000" dirty="0">
                <a:latin typeface="+mn-ea"/>
                <a:ea typeface="+mn-ea"/>
              </a:rPr>
              <a:t>通过查询处理收集数据库中相关数据，并把它</a:t>
            </a:r>
            <a:r>
              <a:rPr lang="zh-CN" altLang="en-US" sz="2000" dirty="0">
                <a:solidFill>
                  <a:srgbClr val="FF0000"/>
                </a:solidFill>
                <a:latin typeface="+mn-ea"/>
                <a:ea typeface="+mn-ea"/>
              </a:rPr>
              <a:t>划分成一个目标类和一个或多个对比类</a:t>
            </a:r>
            <a:r>
              <a:rPr lang="zh-CN" altLang="en-US" sz="2000" dirty="0">
                <a:latin typeface="+mn-ea"/>
                <a:ea typeface="+mn-ea"/>
              </a:rPr>
              <a:t>。</a:t>
            </a:r>
            <a:endParaRPr lang="zh-CN" altLang="en-US" sz="2000"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2</a:t>
            </a:r>
            <a:r>
              <a:rPr lang="zh-CN" altLang="en-US" sz="2000" b="1" dirty="0">
                <a:latin typeface="+mn-ea"/>
                <a:ea typeface="+mn-ea"/>
              </a:rPr>
              <a:t>）维相关分析：</a:t>
            </a:r>
            <a:r>
              <a:rPr lang="zh-CN" altLang="en-US" sz="2000" dirty="0">
                <a:latin typeface="+mn-ea"/>
                <a:ea typeface="+mn-ea"/>
              </a:rPr>
              <a:t>如果有多个维，则应当在这些类上进行</a:t>
            </a:r>
            <a:r>
              <a:rPr lang="zh-CN" altLang="en-US" sz="2000" dirty="0">
                <a:solidFill>
                  <a:srgbClr val="FF0000"/>
                </a:solidFill>
                <a:latin typeface="+mn-ea"/>
                <a:ea typeface="+mn-ea"/>
              </a:rPr>
              <a:t>维相关分析，仅选择与进一步分析高度相关的维</a:t>
            </a:r>
            <a:r>
              <a:rPr lang="zh-CN" altLang="en-US" sz="2000" dirty="0">
                <a:latin typeface="+mn-ea"/>
                <a:ea typeface="+mn-ea"/>
              </a:rPr>
              <a:t>。这一步可以使用相关性度量或基于熵的度量。</a:t>
            </a:r>
            <a:endParaRPr lang="zh-CN" altLang="en-US" sz="2000"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3</a:t>
            </a:r>
            <a:r>
              <a:rPr lang="zh-CN" altLang="en-US" sz="2000" b="1" dirty="0">
                <a:latin typeface="+mn-ea"/>
                <a:ea typeface="+mn-ea"/>
              </a:rPr>
              <a:t>）同步泛化：</a:t>
            </a:r>
            <a:r>
              <a:rPr lang="zh-CN" altLang="en-US" sz="2000" dirty="0">
                <a:latin typeface="+mn-ea"/>
                <a:ea typeface="+mn-ea"/>
              </a:rPr>
              <a:t>泛化在目标类上进行，泛化到用户或领域专家指定的维阈值控制的层，</a:t>
            </a:r>
            <a:r>
              <a:rPr lang="zh-CN" altLang="en-US" sz="2000" dirty="0">
                <a:solidFill>
                  <a:srgbClr val="FF0000"/>
                </a:solidFill>
                <a:latin typeface="+mn-ea"/>
                <a:ea typeface="+mn-ea"/>
              </a:rPr>
              <a:t>产生主目标类关系</a:t>
            </a:r>
            <a:r>
              <a:rPr lang="zh-CN" altLang="en-US" sz="2000" dirty="0">
                <a:latin typeface="+mn-ea"/>
                <a:ea typeface="+mn-ea"/>
              </a:rPr>
              <a:t>。对比类的概念泛化到与主目标类关系相同的层次，</a:t>
            </a:r>
            <a:r>
              <a:rPr lang="zh-CN" altLang="en-US" sz="2000" dirty="0">
                <a:solidFill>
                  <a:srgbClr val="FF0000"/>
                </a:solidFill>
                <a:latin typeface="+mn-ea"/>
                <a:ea typeface="+mn-ea"/>
              </a:rPr>
              <a:t>形成主对比类关系</a:t>
            </a:r>
            <a:r>
              <a:rPr lang="zh-CN" altLang="en-US" sz="2000" dirty="0">
                <a:latin typeface="+mn-ea"/>
                <a:ea typeface="+mn-ea"/>
              </a:rPr>
              <a:t>。</a:t>
            </a:r>
            <a:endParaRPr lang="en-US" altLang="zh-CN" sz="2000"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4</a:t>
            </a:r>
            <a:r>
              <a:rPr lang="zh-CN" altLang="en-US" sz="2000" b="1" dirty="0">
                <a:latin typeface="+mn-ea"/>
                <a:ea typeface="+mn-ea"/>
              </a:rPr>
              <a:t>）导出比较的表示：</a:t>
            </a:r>
            <a:r>
              <a:rPr lang="zh-CN" altLang="en-US" sz="2000" dirty="0">
                <a:latin typeface="+mn-ea"/>
                <a:ea typeface="+mn-ea"/>
              </a:rPr>
              <a:t>结果类比较描述</a:t>
            </a:r>
            <a:r>
              <a:rPr lang="zh-CN" altLang="en-US" sz="2000" dirty="0">
                <a:solidFill>
                  <a:srgbClr val="FF0000"/>
                </a:solidFill>
                <a:latin typeface="+mn-ea"/>
                <a:ea typeface="+mn-ea"/>
              </a:rPr>
              <a:t>可以用表、图、规则的形式可视化</a:t>
            </a:r>
            <a:r>
              <a:rPr lang="zh-CN" altLang="en-US" sz="2000" dirty="0">
                <a:latin typeface="+mn-ea"/>
                <a:ea typeface="+mn-ea"/>
              </a:rPr>
              <a:t>。</a:t>
            </a:r>
            <a:endParaRPr lang="en-US" altLang="zh-CN" sz="2000" dirty="0">
              <a:latin typeface="+mn-ea"/>
              <a:ea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89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084263"/>
            <a:ext cx="9678987" cy="5868987"/>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、类比较的面向属性归纳</a:t>
            </a:r>
            <a:endParaRPr lang="en-US" altLang="zh-CN" sz="24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latin typeface="+mn-ea"/>
                <a:ea typeface="+mn-ea"/>
              </a:rPr>
              <a:t>例子：</a:t>
            </a:r>
            <a:r>
              <a:rPr lang="zh-CN" altLang="en-US" sz="2000" b="1" dirty="0">
                <a:solidFill>
                  <a:srgbClr val="00B050"/>
                </a:solidFill>
                <a:latin typeface="+mn-ea"/>
                <a:ea typeface="+mn-ea"/>
              </a:rPr>
              <a:t>比较某大学的研究生和本科生的一般性质。</a:t>
            </a:r>
            <a:endParaRPr lang="zh-CN" altLang="en-US" sz="2000" b="1" dirty="0">
              <a:solidFill>
                <a:srgbClr val="00B050"/>
              </a:solidFill>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1</a:t>
            </a:r>
            <a:r>
              <a:rPr lang="zh-CN" altLang="en-US" sz="2000" b="1" dirty="0">
                <a:latin typeface="+mn-ea"/>
                <a:ea typeface="+mn-ea"/>
              </a:rPr>
              <a:t>）数据收集</a:t>
            </a: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dirty="0">
              <a:latin typeface="+mn-ea"/>
              <a:ea typeface="+mn-ea"/>
            </a:endParaRPr>
          </a:p>
          <a:p>
            <a:pPr marL="0" indent="0" defTabSz="868680">
              <a:buFont typeface="Arial" panose="020B0604020202090204" pitchFamily="34" charset="0"/>
              <a:buNone/>
              <a:defRPr/>
            </a:pPr>
            <a:endParaRPr lang="en-US" altLang="zh-CN" sz="2000" dirty="0">
              <a:latin typeface="+mn-ea"/>
              <a:ea typeface="+mn-ea"/>
            </a:endParaRPr>
          </a:p>
          <a:p>
            <a:pPr marL="0" indent="0" defTabSz="868680">
              <a:buFont typeface="Arial" panose="020B0604020202090204" pitchFamily="34" charset="0"/>
              <a:buNone/>
              <a:defRPr/>
            </a:pPr>
            <a:endParaRPr lang="zh-CN" altLang="en-US" sz="2000"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2</a:t>
            </a:r>
            <a:r>
              <a:rPr lang="zh-CN" altLang="en-US" sz="2000" b="1" dirty="0">
                <a:latin typeface="+mn-ea"/>
                <a:ea typeface="+mn-ea"/>
              </a:rPr>
              <a:t>）维相关分析</a:t>
            </a:r>
            <a:endParaRPr lang="en-US" altLang="zh-CN" sz="2000" b="1" dirty="0">
              <a:latin typeface="+mn-ea"/>
              <a:ea typeface="+mn-ea"/>
            </a:endParaRPr>
          </a:p>
          <a:p>
            <a:pPr marL="0" indent="0" defTabSz="868680">
              <a:buFont typeface="Arial" panose="020B0604020202090204" pitchFamily="34" charset="0"/>
              <a:buNone/>
              <a:defRPr/>
            </a:pPr>
            <a:r>
              <a:rPr lang="en-US" altLang="zh-CN" sz="2000" b="1" dirty="0">
                <a:latin typeface="+mn-ea"/>
                <a:ea typeface="+mn-ea"/>
              </a:rPr>
              <a:t>    </a:t>
            </a:r>
            <a:r>
              <a:rPr lang="zh-CN" altLang="en-US" sz="2000" dirty="0">
                <a:latin typeface="+mn-ea"/>
                <a:ea typeface="+mn-ea"/>
              </a:rPr>
              <a:t>分析后，不相关或弱相关的维从结果中删除，如</a:t>
            </a:r>
            <a:r>
              <a:rPr lang="en-US" altLang="zh-CN" sz="2000" dirty="0">
                <a:latin typeface="+mn-ea"/>
                <a:ea typeface="+mn-ea"/>
              </a:rPr>
              <a:t>name</a:t>
            </a:r>
            <a:r>
              <a:rPr lang="zh-CN" altLang="en-US" sz="2000" dirty="0">
                <a:latin typeface="+mn-ea"/>
                <a:ea typeface="+mn-ea"/>
              </a:rPr>
              <a:t>、</a:t>
            </a:r>
            <a:r>
              <a:rPr lang="en-US" altLang="zh-CN" sz="2000" dirty="0">
                <a:latin typeface="+mn-ea"/>
                <a:ea typeface="+mn-ea"/>
              </a:rPr>
              <a:t>gender</a:t>
            </a:r>
            <a:r>
              <a:rPr lang="zh-CN" altLang="en-US" sz="2000" dirty="0">
                <a:latin typeface="+mn-ea"/>
                <a:ea typeface="+mn-ea"/>
              </a:rPr>
              <a:t>、</a:t>
            </a:r>
            <a:r>
              <a:rPr lang="en-US" altLang="zh-CN" sz="2000" dirty="0" err="1">
                <a:latin typeface="+mn-ea"/>
                <a:ea typeface="+mn-ea"/>
              </a:rPr>
              <a:t>birth_place</a:t>
            </a:r>
            <a:r>
              <a:rPr lang="zh-CN" altLang="en-US" sz="2000" dirty="0">
                <a:latin typeface="+mn-ea"/>
                <a:ea typeface="+mn-ea"/>
              </a:rPr>
              <a:t>、</a:t>
            </a:r>
            <a:r>
              <a:rPr lang="en-US" altLang="zh-CN" sz="2000" dirty="0">
                <a:latin typeface="+mn-ea"/>
                <a:ea typeface="+mn-ea"/>
              </a:rPr>
              <a:t>residence</a:t>
            </a:r>
            <a:r>
              <a:rPr lang="zh-CN" altLang="en-US" sz="2000" dirty="0">
                <a:latin typeface="+mn-ea"/>
                <a:ea typeface="+mn-ea"/>
              </a:rPr>
              <a:t>、</a:t>
            </a:r>
            <a:r>
              <a:rPr lang="en-US" altLang="zh-CN" sz="2000" dirty="0">
                <a:latin typeface="+mn-ea"/>
                <a:ea typeface="+mn-ea"/>
              </a:rPr>
              <a:t>phone#</a:t>
            </a:r>
            <a:r>
              <a:rPr lang="zh-CN" altLang="en-US" sz="2000" dirty="0">
                <a:latin typeface="+mn-ea"/>
                <a:ea typeface="+mn-ea"/>
              </a:rPr>
              <a:t>。</a:t>
            </a:r>
            <a:endParaRPr lang="en-US" altLang="zh-CN" sz="2000" dirty="0">
              <a:latin typeface="+mn-ea"/>
              <a:ea typeface="+mn-ea"/>
            </a:endParaRPr>
          </a:p>
        </p:txBody>
      </p:sp>
      <p:grpSp>
        <p:nvGrpSpPr>
          <p:cNvPr id="2" name="组合 1"/>
          <p:cNvGrpSpPr/>
          <p:nvPr/>
        </p:nvGrpSpPr>
        <p:grpSpPr>
          <a:xfrm>
            <a:off x="1123950" y="2624138"/>
            <a:ext cx="8551863" cy="3200400"/>
            <a:chOff x="1123950" y="2624138"/>
            <a:chExt cx="8551863" cy="3200400"/>
          </a:xfrm>
        </p:grpSpPr>
        <p:pic>
          <p:nvPicPr>
            <p:cNvPr id="7168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3950" y="2624138"/>
              <a:ext cx="855186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6313488" y="2640013"/>
              <a:ext cx="7620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矩形 5"/>
            <p:cNvSpPr/>
            <p:nvPr/>
          </p:nvSpPr>
          <p:spPr>
            <a:xfrm>
              <a:off x="6313488" y="4406900"/>
              <a:ext cx="7620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899">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42863"/>
            <a:ext cx="10799763" cy="1050926"/>
          </a:xfrm>
        </p:spPr>
        <p:txBody>
          <a:bodyPr/>
          <a:lstStyle/>
          <a:p>
            <a:pPr defTabSz="869315" eaLnBrk="1" hangingPunct="1">
              <a:defRPr/>
            </a:pPr>
            <a:r>
              <a:rPr lang="en-US" altLang="zh-CN" sz="4400" b="1" dirty="0">
                <a:latin typeface="楷体" panose="02010609060101010101" pitchFamily="49" charset="-122"/>
                <a:ea typeface="楷体" panose="02010609060101010101" pitchFamily="49" charset="-122"/>
              </a:rPr>
              <a:t>  4.5 </a:t>
            </a:r>
            <a:r>
              <a:rPr lang="zh-CN" altLang="en-US" sz="4400" b="1" dirty="0">
                <a:latin typeface="楷体" panose="02010609060101010101" pitchFamily="49" charset="-122"/>
                <a:ea typeface="楷体" panose="02010609060101010101" pitchFamily="49" charset="-122"/>
              </a:rPr>
              <a:t>数据泛化：面向属性的归纳</a:t>
            </a:r>
            <a:endParaRPr lang="zh-CN" altLang="en-US" sz="4400" b="1" dirty="0">
              <a:latin typeface="楷体" panose="02010609060101010101" pitchFamily="49" charset="-122"/>
              <a:ea typeface="楷体" panose="02010609060101010101" pitchFamily="49" charset="-122"/>
            </a:endParaRPr>
          </a:p>
        </p:txBody>
      </p:sp>
      <p:sp>
        <p:nvSpPr>
          <p:cNvPr id="80899" name="Rectangle 3"/>
          <p:cNvSpPr>
            <a:spLocks noGrp="1" noChangeArrowheads="1"/>
          </p:cNvSpPr>
          <p:nvPr>
            <p:ph idx="1"/>
          </p:nvPr>
        </p:nvSpPr>
        <p:spPr>
          <a:xfrm>
            <a:off x="674688" y="1084263"/>
            <a:ext cx="9678987" cy="5868987"/>
          </a:xfrm>
        </p:spPr>
        <p:txBody>
          <a:bodyPr/>
          <a:lstStyle/>
          <a:p>
            <a:pPr marL="0" indent="0" defTabSz="868680">
              <a:buFont typeface="Arial" panose="020B0604020202090204" pitchFamily="34" charset="0"/>
              <a:buNone/>
              <a:defRPr/>
            </a:pPr>
            <a:r>
              <a:rPr lang="en-US" altLang="zh-CN" sz="2400" b="1" dirty="0">
                <a:solidFill>
                  <a:srgbClr val="0000FF"/>
                </a:solidFill>
                <a:latin typeface="+mn-ea"/>
                <a:ea typeface="+mn-ea"/>
              </a:rPr>
              <a:t>3</a:t>
            </a:r>
            <a:r>
              <a:rPr lang="zh-CN" altLang="en-US" sz="2400" b="1" dirty="0">
                <a:solidFill>
                  <a:srgbClr val="0000FF"/>
                </a:solidFill>
                <a:latin typeface="+mn-ea"/>
                <a:ea typeface="+mn-ea"/>
              </a:rPr>
              <a:t>、类比较的面向属性归纳</a:t>
            </a:r>
            <a:endParaRPr lang="en-US" altLang="zh-CN" sz="2400" b="1" dirty="0">
              <a:solidFill>
                <a:srgbClr val="0000FF"/>
              </a:solidFill>
              <a:latin typeface="+mn-ea"/>
              <a:ea typeface="+mn-ea"/>
            </a:endParaRPr>
          </a:p>
          <a:p>
            <a:pPr marL="0" indent="0" defTabSz="868680">
              <a:buFont typeface="Arial" panose="020B0604020202090204" pitchFamily="34" charset="0"/>
              <a:buNone/>
              <a:defRPr/>
            </a:pPr>
            <a:r>
              <a:rPr lang="zh-CN" altLang="en-US" sz="2000" b="1" dirty="0">
                <a:latin typeface="+mn-ea"/>
                <a:ea typeface="+mn-ea"/>
              </a:rPr>
              <a:t>例子：</a:t>
            </a:r>
            <a:r>
              <a:rPr lang="zh-CN" altLang="en-US" sz="2000" b="1" dirty="0">
                <a:solidFill>
                  <a:srgbClr val="00B050"/>
                </a:solidFill>
                <a:latin typeface="+mn-ea"/>
                <a:ea typeface="+mn-ea"/>
              </a:rPr>
              <a:t>比较某大学的研究生和本科生的一般性质。</a:t>
            </a:r>
            <a:endParaRPr lang="en-US" altLang="zh-CN" sz="2000" b="1" dirty="0">
              <a:solidFill>
                <a:srgbClr val="00B050"/>
              </a:solidFill>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3</a:t>
            </a:r>
            <a:r>
              <a:rPr lang="zh-CN" altLang="en-US" sz="2000" b="1" dirty="0">
                <a:latin typeface="+mn-ea"/>
                <a:ea typeface="+mn-ea"/>
              </a:rPr>
              <a:t>）同步泛化</a:t>
            </a: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endParaRPr lang="en-US" altLang="zh-CN" sz="2000" b="1" dirty="0">
              <a:latin typeface="+mn-ea"/>
              <a:ea typeface="+mn-ea"/>
            </a:endParaRPr>
          </a:p>
          <a:p>
            <a:pPr marL="0" indent="0" defTabSz="868680">
              <a:buFont typeface="Arial" panose="020B0604020202090204" pitchFamily="34" charset="0"/>
              <a:buNone/>
              <a:defRPr/>
            </a:pPr>
            <a:r>
              <a:rPr lang="zh-CN" altLang="en-US" sz="2000" b="1" dirty="0">
                <a:latin typeface="+mn-ea"/>
                <a:ea typeface="+mn-ea"/>
              </a:rPr>
              <a:t>（</a:t>
            </a:r>
            <a:r>
              <a:rPr lang="en-US" altLang="zh-CN" sz="2000" b="1" dirty="0">
                <a:latin typeface="+mn-ea"/>
                <a:ea typeface="+mn-ea"/>
              </a:rPr>
              <a:t>4</a:t>
            </a:r>
            <a:r>
              <a:rPr lang="zh-CN" altLang="en-US" sz="2000" b="1" dirty="0">
                <a:latin typeface="+mn-ea"/>
                <a:ea typeface="+mn-ea"/>
              </a:rPr>
              <a:t>）导出比较的表示</a:t>
            </a:r>
            <a:endParaRPr lang="en-US" altLang="zh-CN" sz="2000" dirty="0">
              <a:latin typeface="+mn-ea"/>
              <a:ea typeface="+mn-ea"/>
            </a:endParaRPr>
          </a:p>
          <a:p>
            <a:pPr marL="0" indent="0" defTabSz="868680">
              <a:buFont typeface="Arial" panose="020B0604020202090204" pitchFamily="34" charset="0"/>
              <a:buNone/>
              <a:defRPr/>
            </a:pPr>
            <a:r>
              <a:rPr lang="en-US" altLang="zh-CN" sz="2000" b="1" dirty="0">
                <a:solidFill>
                  <a:srgbClr val="00B050"/>
                </a:solidFill>
                <a:latin typeface="+mn-ea"/>
                <a:ea typeface="+mn-ea"/>
              </a:rPr>
              <a:t>     </a:t>
            </a:r>
            <a:r>
              <a:rPr lang="zh-CN" altLang="en-US" sz="2000" dirty="0">
                <a:latin typeface="+mn-ea"/>
                <a:ea typeface="+mn-ea"/>
              </a:rPr>
              <a:t>如</a:t>
            </a:r>
            <a:r>
              <a:rPr lang="en-US" altLang="zh-CN" sz="2000" dirty="0">
                <a:latin typeface="+mn-ea"/>
                <a:ea typeface="+mn-ea"/>
              </a:rPr>
              <a:t>5.02%</a:t>
            </a:r>
            <a:r>
              <a:rPr lang="zh-CN" altLang="en-US" sz="2000" dirty="0">
                <a:latin typeface="+mn-ea"/>
                <a:ea typeface="+mn-ea"/>
              </a:rPr>
              <a:t>的研究生选择“科学”专业，年龄在</a:t>
            </a:r>
            <a:r>
              <a:rPr lang="en-US" altLang="zh-CN" sz="2000" dirty="0">
                <a:latin typeface="+mn-ea"/>
                <a:ea typeface="+mn-ea"/>
              </a:rPr>
              <a:t>26-30</a:t>
            </a:r>
            <a:r>
              <a:rPr lang="zh-CN" altLang="en-US" sz="2000" dirty="0">
                <a:latin typeface="+mn-ea"/>
                <a:ea typeface="+mn-ea"/>
              </a:rPr>
              <a:t>岁，</a:t>
            </a:r>
            <a:r>
              <a:rPr lang="en-US" altLang="zh-CN" sz="2000" dirty="0" err="1">
                <a:latin typeface="+mn-ea"/>
                <a:ea typeface="+mn-ea"/>
              </a:rPr>
              <a:t>gpa</a:t>
            </a:r>
            <a:r>
              <a:rPr lang="zh-CN" altLang="en-US" sz="2000" dirty="0">
                <a:latin typeface="+mn-ea"/>
                <a:ea typeface="+mn-ea"/>
              </a:rPr>
              <a:t>为</a:t>
            </a:r>
            <a:r>
              <a:rPr lang="en-US" altLang="zh-CN" sz="2000" dirty="0">
                <a:latin typeface="+mn-ea"/>
                <a:ea typeface="+mn-ea"/>
              </a:rPr>
              <a:t>good</a:t>
            </a:r>
            <a:r>
              <a:rPr lang="zh-CN" altLang="en-US" sz="2000" dirty="0">
                <a:latin typeface="+mn-ea"/>
                <a:ea typeface="+mn-ea"/>
              </a:rPr>
              <a:t>，而只有</a:t>
            </a:r>
            <a:r>
              <a:rPr lang="en-US" altLang="zh-CN" sz="2000" dirty="0">
                <a:latin typeface="+mn-ea"/>
                <a:ea typeface="+mn-ea"/>
              </a:rPr>
              <a:t>2.32%</a:t>
            </a:r>
            <a:r>
              <a:rPr lang="zh-CN" altLang="en-US" sz="2000" dirty="0">
                <a:latin typeface="+mn-ea"/>
                <a:ea typeface="+mn-ea"/>
              </a:rPr>
              <a:t>的本科生具有这样的特征。</a:t>
            </a:r>
            <a:endParaRPr lang="zh-CN" altLang="en-US" sz="2000" dirty="0">
              <a:latin typeface="+mn-ea"/>
              <a:ea typeface="+mn-ea"/>
            </a:endParaRPr>
          </a:p>
        </p:txBody>
      </p:sp>
      <p:pic>
        <p:nvPicPr>
          <p:cNvPr id="73732"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7288" y="2684463"/>
            <a:ext cx="871378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247775" y="3598863"/>
            <a:ext cx="3862388"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矩形 8"/>
          <p:cNvSpPr/>
          <p:nvPr/>
        </p:nvSpPr>
        <p:spPr>
          <a:xfrm>
            <a:off x="5703888" y="4003675"/>
            <a:ext cx="3862387"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8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42863"/>
            <a:ext cx="10799763" cy="1050926"/>
          </a:xfrm>
        </p:spPr>
        <p:txBody>
          <a:bodyPr/>
          <a:lstStyle/>
          <a:p>
            <a:pPr defTabSz="868680" eaLnBrk="1" hangingPunct="1">
              <a:defRPr/>
            </a:pPr>
            <a:r>
              <a:rPr lang="zh-CN" altLang="en-US" b="1" dirty="0">
                <a:latin typeface="楷体" panose="02010609060101010101" pitchFamily="49" charset="-122"/>
                <a:ea typeface="楷体" panose="02010609060101010101" pitchFamily="49" charset="-122"/>
              </a:rPr>
              <a:t>  </a:t>
            </a:r>
            <a:r>
              <a:rPr lang="zh-CN" altLang="en-US" sz="4400" b="1" dirty="0">
                <a:latin typeface="楷体" panose="02010609060101010101" pitchFamily="49" charset="-122"/>
                <a:ea typeface="楷体" panose="02010609060101010101" pitchFamily="49" charset="-122"/>
              </a:rPr>
              <a:t>第</a:t>
            </a:r>
            <a:r>
              <a:rPr lang="en-US" altLang="zh-CN" sz="4400" b="1" dirty="0">
                <a:latin typeface="楷体" panose="02010609060101010101" pitchFamily="49" charset="-122"/>
                <a:ea typeface="楷体" panose="02010609060101010101" pitchFamily="49" charset="-122"/>
              </a:rPr>
              <a:t>4</a:t>
            </a:r>
            <a:r>
              <a:rPr lang="zh-CN" altLang="en-US" sz="4400" b="1" dirty="0">
                <a:latin typeface="楷体" panose="02010609060101010101" pitchFamily="49" charset="-122"/>
                <a:ea typeface="楷体" panose="02010609060101010101" pitchFamily="49" charset="-122"/>
              </a:rPr>
              <a:t>章 数据仓库与联机分析处理</a:t>
            </a:r>
            <a:endParaRPr lang="zh-CN" altLang="en-US" sz="4400" b="1" dirty="0">
              <a:latin typeface="楷体" panose="02010609060101010101" pitchFamily="49" charset="-122"/>
              <a:ea typeface="楷体" panose="02010609060101010101" pitchFamily="49" charset="-122"/>
            </a:endParaRPr>
          </a:p>
        </p:txBody>
      </p:sp>
      <p:sp>
        <p:nvSpPr>
          <p:cNvPr id="16389" name="Rectangle 3"/>
          <p:cNvSpPr>
            <a:spLocks noGrp="1" noChangeArrowheads="1"/>
          </p:cNvSpPr>
          <p:nvPr>
            <p:ph idx="1"/>
          </p:nvPr>
        </p:nvSpPr>
        <p:spPr>
          <a:xfrm>
            <a:off x="576263" y="1079500"/>
            <a:ext cx="9863137" cy="5351463"/>
          </a:xfrm>
        </p:spPr>
        <p:txBody>
          <a:bodyPr/>
          <a:lstStyle/>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4.1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数据仓库：基本概念</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4.2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数据仓库建模：数据立方体</a:t>
            </a:r>
            <a:r>
              <a:rPr lang="zh-CN" altLang="en-US"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与</a:t>
            </a:r>
            <a:r>
              <a:rPr lang="en-US" altLang="zh-CN" sz="3600" b="1" dirty="0">
                <a:solidFill>
                  <a:schemeClr val="bg1">
                    <a:lumMod val="75000"/>
                  </a:schemeClr>
                </a:solidFill>
                <a:latin typeface="Times New Roman" panose="02020503050405090304" pitchFamily="18" charset="0"/>
                <a:ea typeface="楷体" panose="02010609060101010101" pitchFamily="49" charset="-122"/>
                <a:cs typeface="Times New Roman" panose="02020503050405090304" pitchFamily="18" charset="0"/>
              </a:rPr>
              <a:t>OLAP</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4.3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数据仓库的设计与使用</a:t>
            </a:r>
            <a:endParaRPr lang="en-US" altLang="zh-CN"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4.4 </a:t>
            </a:r>
            <a:r>
              <a:rPr lang="zh-CN" altLang="en-US" sz="3600" b="1" dirty="0">
                <a:solidFill>
                  <a:schemeClr val="bg1">
                    <a:lumMod val="75000"/>
                  </a:schemeClr>
                </a:solidFill>
                <a:latin typeface="楷体" panose="02010609060101010101" pitchFamily="49" charset="-122"/>
                <a:ea typeface="楷体" panose="02010609060101010101" pitchFamily="49" charset="-122"/>
              </a:rPr>
              <a:t>数据仓库的实现</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chemeClr val="bg1">
                    <a:lumMod val="75000"/>
                  </a:schemeClr>
                </a:solidFill>
                <a:latin typeface="楷体" panose="02010609060101010101" pitchFamily="49" charset="-122"/>
                <a:ea typeface="楷体" panose="02010609060101010101" pitchFamily="49" charset="-122"/>
              </a:rPr>
              <a:t>4.5 </a:t>
            </a:r>
            <a:r>
              <a:rPr lang="zh-CN" altLang="en-US" sz="3600" b="1" dirty="0">
                <a:solidFill>
                  <a:schemeClr val="bg1">
                    <a:lumMod val="75000"/>
                  </a:schemeClr>
                </a:solidFill>
                <a:latin typeface="楷体" panose="02010609060101010101" pitchFamily="49" charset="-122"/>
                <a:ea typeface="楷体" panose="02010609060101010101" pitchFamily="49" charset="-122"/>
              </a:rPr>
              <a:t>数据泛化：面向属性的归纳</a:t>
            </a:r>
            <a:endParaRPr lang="zh-CN" altLang="en-US" sz="3600" b="1" dirty="0">
              <a:solidFill>
                <a:schemeClr val="bg1">
                  <a:lumMod val="75000"/>
                </a:schemeClr>
              </a:solidFill>
              <a:latin typeface="楷体" panose="02010609060101010101" pitchFamily="49" charset="-122"/>
              <a:ea typeface="楷体" panose="02010609060101010101" pitchFamily="49" charset="-122"/>
            </a:endParaRPr>
          </a:p>
          <a:p>
            <a:pPr marL="0" indent="0" defTabSz="869315" eaLnBrk="1" hangingPunct="1">
              <a:buFont typeface="Arial" panose="020B0604020202090204" pitchFamily="34" charset="0"/>
              <a:buNone/>
              <a:defRPr/>
            </a:pPr>
            <a:r>
              <a:rPr lang="en-US" altLang="zh-CN" sz="3600" b="1" dirty="0">
                <a:solidFill>
                  <a:srgbClr val="FF0000"/>
                </a:solidFill>
                <a:latin typeface="楷体" panose="02010609060101010101" pitchFamily="49" charset="-122"/>
                <a:ea typeface="楷体" panose="02010609060101010101" pitchFamily="49" charset="-122"/>
              </a:rPr>
              <a:t>4.6 </a:t>
            </a:r>
            <a:r>
              <a:rPr lang="zh-CN" altLang="en-US" sz="3600" b="1" dirty="0">
                <a:solidFill>
                  <a:srgbClr val="FF0000"/>
                </a:solidFill>
                <a:latin typeface="楷体" panose="02010609060101010101" pitchFamily="49" charset="-122"/>
                <a:ea typeface="楷体" panose="02010609060101010101" pitchFamily="49" charset="-122"/>
              </a:rPr>
              <a:t>小结</a:t>
            </a:r>
            <a:endParaRPr lang="zh-CN" altLang="en-US" sz="3600" b="1" dirty="0">
              <a:solidFill>
                <a:srgbClr val="FF0000"/>
              </a:solidFill>
              <a:latin typeface="楷体" panose="02010609060101010101" pitchFamily="49" charset="-122"/>
              <a:ea typeface="楷体" panose="02010609060101010101" pitchFamily="49" charset="-122"/>
            </a:endParaRPr>
          </a:p>
          <a:p>
            <a:pPr marL="325120" indent="-325120" defTabSz="869315" eaLnBrk="1" hangingPunct="1">
              <a:defRPr/>
            </a:pPr>
            <a:endParaRPr lang="en-US" altLang="zh-CN" sz="3050" b="1" dirty="0"/>
          </a:p>
        </p:txBody>
      </p:sp>
      <p:sp>
        <p:nvSpPr>
          <p:cNvPr id="75780" name="灯片编号占位符 5"/>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fld id="{5B8C4191-57F8-4190-A4F4-546A5CAA2ADF}" type="slidenum">
              <a:rPr lang="en-US" altLang="zh-CN" sz="1200" smtClean="0">
                <a:solidFill>
                  <a:srgbClr val="FFFFFF"/>
                </a:solidFill>
              </a:rPr>
            </a:fld>
            <a:endParaRPr lang="en-US" altLang="zh-CN" sz="1200">
              <a:solidFill>
                <a:srgbClr val="FFFFFF"/>
              </a:solidFill>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0799763" cy="71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200" y="0"/>
            <a:ext cx="10656888" cy="740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theme/theme1.xml><?xml version="1.0" encoding="utf-8"?>
<a:theme xmlns:a="http://schemas.openxmlformats.org/drawingml/2006/main" name="D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DM</Template>
  <TotalTime>0</TotalTime>
  <Words>10179</Words>
  <Application>WPS 表格</Application>
  <PresentationFormat>自定义</PresentationFormat>
  <Paragraphs>582</Paragraphs>
  <Slides>50</Slides>
  <Notes>24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50</vt:i4>
      </vt:variant>
    </vt:vector>
  </HeadingPairs>
  <TitlesOfParts>
    <vt:vector size="68" baseType="lpstr">
      <vt:lpstr>Arial</vt:lpstr>
      <vt:lpstr>宋体</vt:lpstr>
      <vt:lpstr>Wingdings</vt:lpstr>
      <vt:lpstr>汉仪书宋二KW</vt:lpstr>
      <vt:lpstr>PMingLiU</vt:lpstr>
      <vt:lpstr>宋体-繁</vt:lpstr>
      <vt:lpstr>Calibri</vt:lpstr>
      <vt:lpstr>Helvetica Neue</vt:lpstr>
      <vt:lpstr>微软雅黑</vt:lpstr>
      <vt:lpstr>汉仪旗黑</vt:lpstr>
      <vt:lpstr>楷体</vt:lpstr>
      <vt:lpstr>汉仪楷体KW</vt:lpstr>
      <vt:lpstr>Times New Roman</vt:lpstr>
      <vt:lpstr>宋体</vt:lpstr>
      <vt:lpstr>Arial Unicode MS</vt:lpstr>
      <vt:lpstr>仿宋</vt:lpstr>
      <vt:lpstr>方正仿宋_GBK</vt:lpstr>
      <vt:lpstr>DM</vt:lpstr>
      <vt:lpstr>  第4章 数据仓库与联机分析处理</vt:lpstr>
      <vt:lpstr>  第4章 数据仓库与联机分析处理</vt:lpstr>
      <vt:lpstr>  4.1 数据仓库：基本概念</vt:lpstr>
      <vt:lpstr>  4.1 数据仓库：基本概念</vt:lpstr>
      <vt:lpstr>  4.1 数据仓库：基本概念</vt:lpstr>
      <vt:lpstr>  4.1 数据仓库：基本概念</vt:lpstr>
      <vt:lpstr>  4.1 数据仓库：基本概念</vt:lpstr>
      <vt:lpstr>  4.1 数据仓库：基本概念</vt:lpstr>
      <vt:lpstr>  4.1 数据仓库：基本概念</vt:lpstr>
      <vt:lpstr>  4.1 数据仓库：基本概念</vt:lpstr>
      <vt:lpstr>  4.1 数据仓库：基本概念</vt:lpstr>
      <vt:lpstr>  第4章 数据仓库与联机分析处理</vt:lpstr>
      <vt:lpstr>  4.2 数据仓库建模：数据立方体与OLAP</vt:lpstr>
      <vt:lpstr>  4.2 数据仓库建模：数据立方体与OLAP</vt:lpstr>
      <vt:lpstr>  4.2 数据仓库建模：数据立方体与OLAP</vt:lpstr>
      <vt:lpstr>  4.2 数据仓库建模：数据立方体与OLAP</vt:lpstr>
      <vt:lpstr>  4.2 数据仓库建模：数据立方体与OLAP</vt:lpstr>
      <vt:lpstr>    星形模式的例子</vt:lpstr>
      <vt:lpstr>    雪花模式的例子</vt:lpstr>
      <vt:lpstr>    事实星座模式的例子</vt:lpstr>
      <vt:lpstr>  4.2 数据仓库建模：数据立方体与OLAP</vt:lpstr>
      <vt:lpstr>  4.2 数据仓库建模：数据立方体与OLAP</vt:lpstr>
      <vt:lpstr>  4.2 数据仓库建模：数据立方体与OLAP</vt:lpstr>
      <vt:lpstr>PowerPoint 演示文稿</vt:lpstr>
      <vt:lpstr>  4.2 数据仓库建模：数据立方体与OLAP</vt:lpstr>
      <vt:lpstr>  第4章 数据仓库与联机分析处理</vt:lpstr>
      <vt:lpstr>  4.3 数据仓库的设计与使用</vt:lpstr>
      <vt:lpstr>  4.3 数据仓库的设计与使用</vt:lpstr>
      <vt:lpstr>  4.3 数据仓库的设计与使用</vt:lpstr>
      <vt:lpstr>  4.3 数据仓库的设计与使用</vt:lpstr>
      <vt:lpstr>  4.3 数据仓库的设计与使用</vt:lpstr>
      <vt:lpstr>  4.3 数据仓库的设计与使用</vt:lpstr>
      <vt:lpstr>  第4章 数据仓库与联机分析处理</vt:lpstr>
      <vt:lpstr>  4.4 数据仓库的实现</vt:lpstr>
      <vt:lpstr>  4.4 数据仓库的实现</vt:lpstr>
      <vt:lpstr>  4.4 数据仓库的实现</vt:lpstr>
      <vt:lpstr>  4.4 数据仓库的实现</vt:lpstr>
      <vt:lpstr>  4.4 数据仓库的实现</vt:lpstr>
      <vt:lpstr>  4.4 数据仓库的实现</vt:lpstr>
      <vt:lpstr>  第4章 数据仓库与联机分析处理</vt:lpstr>
      <vt:lpstr>  4.5 数据泛化：面向属性的归纳</vt:lpstr>
      <vt:lpstr>  4.5 数据泛化：面向属性的归纳</vt:lpstr>
      <vt:lpstr>  4.5 数据泛化：面向属性的归纳</vt:lpstr>
      <vt:lpstr>  4.5 数据泛化：面向属性的归纳</vt:lpstr>
      <vt:lpstr>  4.5 数据泛化：面向属性的归纳</vt:lpstr>
      <vt:lpstr>  4.5 数据泛化：面向属性的归纳</vt:lpstr>
      <vt:lpstr>  4.5 数据泛化：面向属性的归纳</vt:lpstr>
      <vt:lpstr>  第4章 数据仓库与联机分析处理</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louvre</cp:lastModifiedBy>
  <cp:revision>501</cp:revision>
  <dcterms:created xsi:type="dcterms:W3CDTF">2024-05-16T09:07:08Z</dcterms:created>
  <dcterms:modified xsi:type="dcterms:W3CDTF">2024-05-16T09:07:08Z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2052-6.4.0.8550</vt:lpwstr>
  </property>
  <property fmtid="{D5CDD505-2E9C-101B-9397-08002B2CF9AE}" pid="4" name="ICV">
    <vt:lpwstr>EA9DFC1092AD3A503169FA65C551BC53_42</vt:lpwstr>
  </property>
</Properties>
</file>