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92"/>
    <p:restoredTop sz="94660"/>
  </p:normalViewPr>
  <p:slideViewPr>
    <p:cSldViewPr snapToGrid="0">
      <p:cViewPr varScale="1">
        <p:scale>
          <a:sx n="82" d="100"/>
          <a:sy n="82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7FC4D8-CBDA-1681-E8E0-1883F2D09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B576598-F8ED-703B-FFB4-9BCD11F4FD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3DD223-C96D-5DDE-8CCB-5447C3C78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B172-912E-6E4C-8D50-0984EE4A133E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955470-5EB0-9F04-0C2A-6E5424B66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7830D5-41D0-614F-935C-C9A203831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CE-EFE8-CA4E-B100-4906A5C405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698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DFB7E-8F8A-83CB-572B-768D04AC7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CB5D3F-C0F1-2570-19BD-0D6A34AB0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93289E-6857-622D-5DE3-733699A07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B172-912E-6E4C-8D50-0984EE4A133E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138D6C-D9E2-D22E-8371-92AB7C500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4357B9-9BCC-4DE3-0BC3-280FA1B22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CE-EFE8-CA4E-B100-4906A5C405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1553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2AE44-C073-69C2-7468-EC0209931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1C42DE-0E51-89BF-1382-7B84E5E3A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352A51-2516-EDC7-D840-6ABD09706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B172-912E-6E4C-8D50-0984EE4A133E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5E561A-86F3-EAB1-480B-2BEF77EC8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5DDC5D-6299-D785-FD86-C256F2EC6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CE-EFE8-CA4E-B100-4906A5C405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1301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B1D60D-3D16-D560-BC79-10D979969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B577E2-AF7A-A0BF-32B5-18E26F51FC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ACF186-E4F8-08FA-320F-353BBB645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4DCFD5-DBEB-FA47-9084-A9A809513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B172-912E-6E4C-8D50-0984EE4A133E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554F09-C05E-F32A-FBC0-66490A196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72F3EB-F634-7851-8044-289BA6D18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CE-EFE8-CA4E-B100-4906A5C405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8904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34692-D694-04AB-A697-EBFC3B8E1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06C25F-5AC7-7C7F-3F8D-C988AA840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E0A2A1-F0E8-E9D3-13C0-8567CA514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92887B8-2FAD-599D-2782-000ACBBABF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66EECC-5CED-499C-E320-6778F2522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1B535A1-A61E-C6E5-F9E6-75B2CABC6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B172-912E-6E4C-8D50-0984EE4A133E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F905E7F-2FF8-C057-76F7-A346BB3AA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D2D6028-F9F3-60E7-F93D-3ED9D7A7F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CE-EFE8-CA4E-B100-4906A5C405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8404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95CEEE-4370-B91D-3BA6-2C8674399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A01A91-03AE-80CB-D232-301EFEC5B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B172-912E-6E4C-8D50-0984EE4A133E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18E4B63-1260-FA27-8FE9-8BC49E233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EF6FE2-8D6E-588C-361B-9C17729EE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CE-EFE8-CA4E-B100-4906A5C405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6763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E528F4-DABB-D143-E397-CFC11054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B172-912E-6E4C-8D50-0984EE4A133E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7D9534F-8FB3-503E-E6BC-03F2B43B4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2C9960-7B88-3BF8-D9CB-79BE7662B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CE-EFE8-CA4E-B100-4906A5C405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8024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CF99F-8FE5-DC3D-82E1-13C9B80E4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5CFC79-2D25-94F4-D9BA-4B5F853EE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E99C1B-1FEF-004D-B6E1-594338FEC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EEA3CF-13B2-1B59-CAA6-A8A2509B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B172-912E-6E4C-8D50-0984EE4A133E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CD6113-7222-C1BB-DAFB-E3874A882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BC04D2-B0A9-44C6-86AF-992AD0C58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CE-EFE8-CA4E-B100-4906A5C405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624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FD51EA-E8B0-D094-5906-9B2376178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B7C8FB3-5340-0550-1A9B-4BF1E98BFF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E049A4-1612-CD92-90EB-185465666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7B65DA-6133-43B4-4AC5-CE000361B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B172-912E-6E4C-8D50-0984EE4A133E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76AE56-9F7E-9DB3-3AA7-EA908766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FE7104-C3DD-7217-4DCF-62D32BE4E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CE-EFE8-CA4E-B100-4906A5C405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600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C65D3A-A5C1-8307-214B-4C0F5D82C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67DC58-B3AC-F89E-8D76-4991EB485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FFAAB9-1908-AF0C-8410-DE09D7501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B172-912E-6E4C-8D50-0984EE4A133E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BDABEA-BD22-B919-A07A-525C01C25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179E42-6F28-E1A7-437D-439F4C718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CE-EFE8-CA4E-B100-4906A5C405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5734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D9FF75-7D29-F078-841C-3F9B1B1637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C924E1-10B2-CF3A-8306-E965BE65C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AEEBAF-E9F5-5F78-6D66-80971DF00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B172-912E-6E4C-8D50-0984EE4A133E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7074E7-8CE3-8B78-EE5E-E03668E6E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19C363-1E6F-B906-77F3-C1D52EF97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248CE-EFE8-CA4E-B100-4906A5C405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9744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CB044E-09FC-E054-5D0C-5307A52BE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C5536D-10FA-9757-6D3A-F68FE7E6E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5EDE19-369C-938A-FD4D-86C06A2951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AB172-912E-6E4C-8D50-0984EE4A133E}" type="datetimeFigureOut">
              <a:rPr kumimoji="1" lang="zh-CN" altLang="en-US" smtClean="0"/>
              <a:t>2023/10/26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7F3638-72D3-5D5A-5513-DBB5142C4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326A0E-0901-2000-BDC4-04A67FFCC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248CE-EFE8-CA4E-B100-4906A5C405C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1953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33870423-F5FC-A333-3B16-E708CB4E4619}"/>
              </a:ext>
            </a:extLst>
          </p:cNvPr>
          <p:cNvSpPr/>
          <p:nvPr/>
        </p:nvSpPr>
        <p:spPr>
          <a:xfrm>
            <a:off x="1525700" y="371456"/>
            <a:ext cx="868101" cy="6597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latin typeface="SimSun" panose="02010600030101010101" pitchFamily="2" charset="-122"/>
                <a:ea typeface="SimSun" panose="02010600030101010101" pitchFamily="2" charset="-122"/>
              </a:rPr>
              <a:t>开始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FB8DDF-6C77-A15A-F777-07D78B09CFD8}"/>
              </a:ext>
            </a:extLst>
          </p:cNvPr>
          <p:cNvSpPr/>
          <p:nvPr/>
        </p:nvSpPr>
        <p:spPr>
          <a:xfrm>
            <a:off x="1403190" y="1389023"/>
            <a:ext cx="1122746" cy="5787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latin typeface="SimSun" panose="02010600030101010101" pitchFamily="2" charset="-122"/>
                <a:ea typeface="SimSun" panose="02010600030101010101" pitchFamily="2" charset="-122"/>
              </a:rPr>
              <a:t>输入符号串压栈</a:t>
            </a:r>
          </a:p>
        </p:txBody>
      </p:sp>
      <p:sp>
        <p:nvSpPr>
          <p:cNvPr id="6" name="决策 5">
            <a:extLst>
              <a:ext uri="{FF2B5EF4-FFF2-40B4-BE49-F238E27FC236}">
                <a16:creationId xmlns:a16="http://schemas.microsoft.com/office/drawing/2014/main" id="{B7B1E805-F427-B98E-C268-F9A09806F2B8}"/>
              </a:ext>
            </a:extLst>
          </p:cNvPr>
          <p:cNvSpPr/>
          <p:nvPr/>
        </p:nvSpPr>
        <p:spPr>
          <a:xfrm>
            <a:off x="1297252" y="2335345"/>
            <a:ext cx="1324996" cy="85424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latin typeface="SimSun" panose="02010600030101010101" pitchFamily="2" charset="-122"/>
                <a:ea typeface="SimSun" panose="02010600030101010101" pitchFamily="2" charset="-122"/>
              </a:rPr>
              <a:t>输入串扫描完毕</a:t>
            </a:r>
          </a:p>
        </p:txBody>
      </p:sp>
      <p:sp>
        <p:nvSpPr>
          <p:cNvPr id="7" name="决策 6">
            <a:extLst>
              <a:ext uri="{FF2B5EF4-FFF2-40B4-BE49-F238E27FC236}">
                <a16:creationId xmlns:a16="http://schemas.microsoft.com/office/drawing/2014/main" id="{241CCB3E-AA7A-8AC2-AA8D-C9B3958CC2B7}"/>
              </a:ext>
            </a:extLst>
          </p:cNvPr>
          <p:cNvSpPr/>
          <p:nvPr/>
        </p:nvSpPr>
        <p:spPr>
          <a:xfrm>
            <a:off x="5487280" y="2343146"/>
            <a:ext cx="1324996" cy="85424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latin typeface="SimSun" panose="02010600030101010101" pitchFamily="2" charset="-122"/>
                <a:ea typeface="SimSun" panose="02010600030101010101" pitchFamily="2" charset="-122"/>
              </a:rPr>
              <a:t>栈顶出现可归约串</a:t>
            </a:r>
          </a:p>
        </p:txBody>
      </p:sp>
      <p:sp>
        <p:nvSpPr>
          <p:cNvPr id="8" name="决策 7">
            <a:extLst>
              <a:ext uri="{FF2B5EF4-FFF2-40B4-BE49-F238E27FC236}">
                <a16:creationId xmlns:a16="http://schemas.microsoft.com/office/drawing/2014/main" id="{90DB05F8-1272-6EF8-0941-1D37DB606979}"/>
              </a:ext>
            </a:extLst>
          </p:cNvPr>
          <p:cNvSpPr/>
          <p:nvPr/>
        </p:nvSpPr>
        <p:spPr>
          <a:xfrm>
            <a:off x="1304314" y="3452562"/>
            <a:ext cx="1324996" cy="85424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latin typeface="SimSun" panose="02010600030101010101" pitchFamily="2" charset="-122"/>
                <a:ea typeface="SimSun" panose="02010600030101010101" pitchFamily="2" charset="-122"/>
              </a:rPr>
              <a:t>栈里只剩下</a:t>
            </a:r>
            <a:r>
              <a:rPr kumimoji="1" lang="en-US" altLang="zh-CN" sz="1100" dirty="0">
                <a:latin typeface="SimSun" panose="02010600030101010101" pitchFamily="2" charset="-122"/>
                <a:ea typeface="SimSun" panose="02010600030101010101" pitchFamily="2" charset="-122"/>
              </a:rPr>
              <a:t>#</a:t>
            </a:r>
            <a:endParaRPr kumimoji="1" lang="zh-CN" altLang="en-US" sz="11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流程 8">
            <a:extLst>
              <a:ext uri="{FF2B5EF4-FFF2-40B4-BE49-F238E27FC236}">
                <a16:creationId xmlns:a16="http://schemas.microsoft.com/office/drawing/2014/main" id="{6530E4E9-8281-A6F8-6FDE-2C694F62B8C6}"/>
              </a:ext>
            </a:extLst>
          </p:cNvPr>
          <p:cNvSpPr/>
          <p:nvPr/>
        </p:nvSpPr>
        <p:spPr>
          <a:xfrm>
            <a:off x="2440139" y="4540917"/>
            <a:ext cx="1179094" cy="66173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latin typeface="SimSun" panose="02010600030101010101" pitchFamily="2" charset="-122"/>
                <a:ea typeface="SimSun" panose="02010600030101010101" pitchFamily="2" charset="-122"/>
              </a:rPr>
              <a:t>输入不合法，生成错误报告</a:t>
            </a:r>
          </a:p>
        </p:txBody>
      </p:sp>
      <p:sp>
        <p:nvSpPr>
          <p:cNvPr id="10" name="流程 9">
            <a:extLst>
              <a:ext uri="{FF2B5EF4-FFF2-40B4-BE49-F238E27FC236}">
                <a16:creationId xmlns:a16="http://schemas.microsoft.com/office/drawing/2014/main" id="{FC123B8B-6ABE-2391-C7A9-ADC326F346A2}"/>
              </a:ext>
            </a:extLst>
          </p:cNvPr>
          <p:cNvSpPr/>
          <p:nvPr/>
        </p:nvSpPr>
        <p:spPr>
          <a:xfrm>
            <a:off x="346606" y="4569779"/>
            <a:ext cx="1179094" cy="66173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latin typeface="SimSun" panose="02010600030101010101" pitchFamily="2" charset="-122"/>
                <a:ea typeface="SimSun" panose="02010600030101010101" pitchFamily="2" charset="-122"/>
              </a:rPr>
              <a:t>输入合法，分析成功</a:t>
            </a:r>
          </a:p>
        </p:txBody>
      </p:sp>
      <p:sp>
        <p:nvSpPr>
          <p:cNvPr id="11" name="流程 10">
            <a:extLst>
              <a:ext uri="{FF2B5EF4-FFF2-40B4-BE49-F238E27FC236}">
                <a16:creationId xmlns:a16="http://schemas.microsoft.com/office/drawing/2014/main" id="{49A92696-7406-EAE6-663A-D101C1FA6810}"/>
              </a:ext>
            </a:extLst>
          </p:cNvPr>
          <p:cNvSpPr/>
          <p:nvPr/>
        </p:nvSpPr>
        <p:spPr>
          <a:xfrm>
            <a:off x="3642047" y="2434230"/>
            <a:ext cx="1179094" cy="66173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latin typeface="SimSun" panose="02010600030101010101" pitchFamily="2" charset="-122"/>
                <a:ea typeface="SimSun" panose="02010600030101010101" pitchFamily="2" charset="-122"/>
              </a:rPr>
              <a:t>将下一个输入符号压入分析栈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3594E8C-5B00-BD0C-2751-E41EB0D3A321}"/>
              </a:ext>
            </a:extLst>
          </p:cNvPr>
          <p:cNvSpPr/>
          <p:nvPr/>
        </p:nvSpPr>
        <p:spPr>
          <a:xfrm>
            <a:off x="1502857" y="5686996"/>
            <a:ext cx="868101" cy="6597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latin typeface="SimSun" panose="02010600030101010101" pitchFamily="2" charset="-122"/>
                <a:ea typeface="SimSun" panose="02010600030101010101" pitchFamily="2" charset="-122"/>
              </a:rPr>
              <a:t>结束</a:t>
            </a:r>
          </a:p>
        </p:txBody>
      </p:sp>
      <p:sp>
        <p:nvSpPr>
          <p:cNvPr id="13" name="流程 12">
            <a:extLst>
              <a:ext uri="{FF2B5EF4-FFF2-40B4-BE49-F238E27FC236}">
                <a16:creationId xmlns:a16="http://schemas.microsoft.com/office/drawing/2014/main" id="{A70F64BD-F0ED-76A6-5B28-0FAEE6920CA0}"/>
              </a:ext>
            </a:extLst>
          </p:cNvPr>
          <p:cNvSpPr/>
          <p:nvPr/>
        </p:nvSpPr>
        <p:spPr>
          <a:xfrm>
            <a:off x="7478415" y="2439398"/>
            <a:ext cx="1179094" cy="661737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00" dirty="0">
                <a:latin typeface="SimSun" panose="02010600030101010101" pitchFamily="2" charset="-122"/>
                <a:ea typeface="SimSun" panose="02010600030101010101" pitchFamily="2" charset="-122"/>
              </a:rPr>
              <a:t>将可归约串归约为相应产生式左部</a:t>
            </a: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79484164-1CB7-7A7F-71B3-52E3CB6CCD6B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959751" y="1031213"/>
            <a:ext cx="4812" cy="357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2CF44A8A-8877-46FA-9E1F-F71AA4B64BF3}"/>
              </a:ext>
            </a:extLst>
          </p:cNvPr>
          <p:cNvCxnSpPr/>
          <p:nvPr/>
        </p:nvCxnSpPr>
        <p:spPr>
          <a:xfrm>
            <a:off x="1936908" y="1952554"/>
            <a:ext cx="4812" cy="357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764EF12-B601-94A2-264C-3118F20EF280}"/>
              </a:ext>
            </a:extLst>
          </p:cNvPr>
          <p:cNvCxnSpPr/>
          <p:nvPr/>
        </p:nvCxnSpPr>
        <p:spPr>
          <a:xfrm>
            <a:off x="1959064" y="3095967"/>
            <a:ext cx="7748" cy="357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连接符 18">
            <a:extLst>
              <a:ext uri="{FF2B5EF4-FFF2-40B4-BE49-F238E27FC236}">
                <a16:creationId xmlns:a16="http://schemas.microsoft.com/office/drawing/2014/main" id="{AF62DC19-B3D6-B055-0C29-59C3A4CD9BB9}"/>
              </a:ext>
            </a:extLst>
          </p:cNvPr>
          <p:cNvCxnSpPr>
            <a:cxnSpLocks/>
            <a:stCxn id="8" idx="1"/>
            <a:endCxn id="10" idx="0"/>
          </p:cNvCxnSpPr>
          <p:nvPr/>
        </p:nvCxnSpPr>
        <p:spPr>
          <a:xfrm rot="10800000" flipV="1">
            <a:off x="936154" y="3879683"/>
            <a:ext cx="368161" cy="6900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20">
            <a:extLst>
              <a:ext uri="{FF2B5EF4-FFF2-40B4-BE49-F238E27FC236}">
                <a16:creationId xmlns:a16="http://schemas.microsoft.com/office/drawing/2014/main" id="{C6782E86-8F7B-3145-02F8-617999606CD7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>
            <a:off x="2629310" y="3879683"/>
            <a:ext cx="400376" cy="6612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BC44AB98-5AFE-B945-24B2-2599F277F270}"/>
              </a:ext>
            </a:extLst>
          </p:cNvPr>
          <p:cNvCxnSpPr>
            <a:stCxn id="10" idx="2"/>
          </p:cNvCxnSpPr>
          <p:nvPr/>
        </p:nvCxnSpPr>
        <p:spPr>
          <a:xfrm>
            <a:off x="936153" y="5231516"/>
            <a:ext cx="589547" cy="455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FFE89089-DCB5-6596-C683-76B81E5A06DE}"/>
              </a:ext>
            </a:extLst>
          </p:cNvPr>
          <p:cNvCxnSpPr/>
          <p:nvPr/>
        </p:nvCxnSpPr>
        <p:spPr>
          <a:xfrm flipH="1">
            <a:off x="2370958" y="5202654"/>
            <a:ext cx="455009" cy="484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F8C86B7D-EC7D-9251-45FC-93858997E127}"/>
              </a:ext>
            </a:extLst>
          </p:cNvPr>
          <p:cNvCxnSpPr>
            <a:stCxn id="6" idx="3"/>
          </p:cNvCxnSpPr>
          <p:nvPr/>
        </p:nvCxnSpPr>
        <p:spPr>
          <a:xfrm flipV="1">
            <a:off x="2622248" y="2762465"/>
            <a:ext cx="99698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87F3D389-E31F-9E17-E817-D87D2E14597B}"/>
              </a:ext>
            </a:extLst>
          </p:cNvPr>
          <p:cNvCxnSpPr>
            <a:stCxn id="11" idx="3"/>
          </p:cNvCxnSpPr>
          <p:nvPr/>
        </p:nvCxnSpPr>
        <p:spPr>
          <a:xfrm>
            <a:off x="4821141" y="2765099"/>
            <a:ext cx="666139" cy="5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34FC762B-2237-15A8-CF25-810F27F82861}"/>
              </a:ext>
            </a:extLst>
          </p:cNvPr>
          <p:cNvCxnSpPr/>
          <p:nvPr/>
        </p:nvCxnSpPr>
        <p:spPr>
          <a:xfrm>
            <a:off x="6812276" y="2789531"/>
            <a:ext cx="666139" cy="5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曲线连接符 36">
            <a:extLst>
              <a:ext uri="{FF2B5EF4-FFF2-40B4-BE49-F238E27FC236}">
                <a16:creationId xmlns:a16="http://schemas.microsoft.com/office/drawing/2014/main" id="{7815ED19-2B3B-6D93-AB2F-0080F536AF08}"/>
              </a:ext>
            </a:extLst>
          </p:cNvPr>
          <p:cNvCxnSpPr>
            <a:stCxn id="7" idx="0"/>
            <a:endCxn id="6" idx="0"/>
          </p:cNvCxnSpPr>
          <p:nvPr/>
        </p:nvCxnSpPr>
        <p:spPr>
          <a:xfrm rot="16200000" flipV="1">
            <a:off x="4050864" y="244232"/>
            <a:ext cx="7801" cy="4190028"/>
          </a:xfrm>
          <a:prstGeom prst="curvedConnector3">
            <a:avLst>
              <a:gd name="adj1" fmla="val 30303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B61081F0-ED14-0E70-CA8C-2361C60C7649}"/>
              </a:ext>
            </a:extLst>
          </p:cNvPr>
          <p:cNvSpPr txBox="1"/>
          <p:nvPr/>
        </p:nvSpPr>
        <p:spPr>
          <a:xfrm>
            <a:off x="978586" y="3656790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>
                <a:latin typeface="SimSun" panose="02010600030101010101" pitchFamily="2" charset="-122"/>
                <a:ea typeface="SimSun" panose="02010600030101010101" pitchFamily="2" charset="-122"/>
              </a:rPr>
              <a:t>是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0021C75-997E-AF73-2994-34F60A84DC6B}"/>
              </a:ext>
            </a:extLst>
          </p:cNvPr>
          <p:cNvSpPr txBox="1"/>
          <p:nvPr/>
        </p:nvSpPr>
        <p:spPr>
          <a:xfrm>
            <a:off x="2648106" y="3640838"/>
            <a:ext cx="60985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100" dirty="0">
                <a:latin typeface="SimSun" panose="02010600030101010101" pitchFamily="2" charset="-122"/>
                <a:ea typeface="SimSun" panose="02010600030101010101" pitchFamily="2" charset="-122"/>
              </a:rPr>
              <a:t>否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B3A6AF6-246F-3C26-9C12-C3396F839614}"/>
              </a:ext>
            </a:extLst>
          </p:cNvPr>
          <p:cNvSpPr txBox="1"/>
          <p:nvPr/>
        </p:nvSpPr>
        <p:spPr>
          <a:xfrm>
            <a:off x="6819615" y="2512525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>
                <a:latin typeface="SimSun" panose="02010600030101010101" pitchFamily="2" charset="-122"/>
                <a:ea typeface="SimSun" panose="02010600030101010101" pitchFamily="2" charset="-122"/>
              </a:rPr>
              <a:t>是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30F7E13-9189-3D9F-47C7-AC5C6D70BA28}"/>
              </a:ext>
            </a:extLst>
          </p:cNvPr>
          <p:cNvSpPr txBox="1"/>
          <p:nvPr/>
        </p:nvSpPr>
        <p:spPr>
          <a:xfrm>
            <a:off x="4054764" y="1862387"/>
            <a:ext cx="3257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>
                <a:latin typeface="SimSun" panose="02010600030101010101" pitchFamily="2" charset="-122"/>
                <a:ea typeface="SimSun" panose="02010600030101010101" pitchFamily="2" charset="-122"/>
              </a:rPr>
              <a:t>否</a:t>
            </a:r>
          </a:p>
        </p:txBody>
      </p:sp>
    </p:spTree>
    <p:extLst>
      <p:ext uri="{BB962C8B-B14F-4D97-AF65-F5344CB8AC3E}">
        <p14:creationId xmlns:p14="http://schemas.microsoft.com/office/powerpoint/2010/main" val="2876976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62</Words>
  <Application>Microsoft Macintosh PowerPoint</Application>
  <PresentationFormat>宽屏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SimSun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瑶 卢</dc:creator>
  <cp:lastModifiedBy>瑶 卢</cp:lastModifiedBy>
  <cp:revision>1</cp:revision>
  <dcterms:created xsi:type="dcterms:W3CDTF">2023-10-26T14:04:57Z</dcterms:created>
  <dcterms:modified xsi:type="dcterms:W3CDTF">2023-10-26T14:23:15Z</dcterms:modified>
</cp:coreProperties>
</file>