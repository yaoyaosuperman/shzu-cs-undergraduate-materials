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</p:sldMasterIdLst>
  <p:notesMasterIdLst>
    <p:notesMasterId r:id="rId49"/>
  </p:notesMasterIdLst>
  <p:sldIdLst>
    <p:sldId id="536" r:id="rId6"/>
    <p:sldId id="500" r:id="rId7"/>
    <p:sldId id="501" r:id="rId8"/>
    <p:sldId id="502" r:id="rId9"/>
    <p:sldId id="537" r:id="rId10"/>
    <p:sldId id="538" r:id="rId11"/>
    <p:sldId id="350" r:id="rId12"/>
    <p:sldId id="539" r:id="rId13"/>
    <p:sldId id="352" r:id="rId14"/>
    <p:sldId id="540" r:id="rId15"/>
    <p:sldId id="541" r:id="rId16"/>
    <p:sldId id="355" r:id="rId17"/>
    <p:sldId id="542" r:id="rId18"/>
    <p:sldId id="357" r:id="rId19"/>
    <p:sldId id="295" r:id="rId20"/>
    <p:sldId id="281" r:id="rId21"/>
    <p:sldId id="285" r:id="rId22"/>
    <p:sldId id="289" r:id="rId23"/>
    <p:sldId id="282" r:id="rId24"/>
    <p:sldId id="283" r:id="rId25"/>
    <p:sldId id="286" r:id="rId26"/>
    <p:sldId id="287" r:id="rId27"/>
    <p:sldId id="284" r:id="rId28"/>
    <p:sldId id="292" r:id="rId29"/>
    <p:sldId id="294" r:id="rId30"/>
    <p:sldId id="293" r:id="rId31"/>
    <p:sldId id="491" r:id="rId32"/>
    <p:sldId id="494" r:id="rId33"/>
    <p:sldId id="543" r:id="rId34"/>
    <p:sldId id="544" r:id="rId35"/>
    <p:sldId id="545" r:id="rId36"/>
    <p:sldId id="546" r:id="rId37"/>
    <p:sldId id="318" r:id="rId38"/>
    <p:sldId id="319" r:id="rId39"/>
    <p:sldId id="547" r:id="rId40"/>
    <p:sldId id="492" r:id="rId41"/>
    <p:sldId id="495" r:id="rId42"/>
    <p:sldId id="548" r:id="rId43"/>
    <p:sldId id="549" r:id="rId44"/>
    <p:sldId id="496" r:id="rId45"/>
    <p:sldId id="498" r:id="rId46"/>
    <p:sldId id="360" r:id="rId47"/>
    <p:sldId id="368" r:id="rId48"/>
    <p:sldId id="326" r:id="rId50"/>
    <p:sldId id="327" r:id="rId51"/>
    <p:sldId id="328" r:id="rId52"/>
    <p:sldId id="329" r:id="rId53"/>
    <p:sldId id="330" r:id="rId54"/>
    <p:sldId id="331" r:id="rId55"/>
    <p:sldId id="369" r:id="rId56"/>
    <p:sldId id="332" r:id="rId57"/>
    <p:sldId id="333" r:id="rId58"/>
    <p:sldId id="351" r:id="rId59"/>
    <p:sldId id="335" r:id="rId60"/>
    <p:sldId id="336" r:id="rId61"/>
    <p:sldId id="429" r:id="rId62"/>
    <p:sldId id="361" r:id="rId63"/>
    <p:sldId id="362" r:id="rId64"/>
    <p:sldId id="363" r:id="rId65"/>
    <p:sldId id="428" r:id="rId66"/>
    <p:sldId id="431" r:id="rId67"/>
    <p:sldId id="430" r:id="rId68"/>
    <p:sldId id="480" r:id="rId69"/>
    <p:sldId id="481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8" r:id="rId79"/>
    <p:sldId id="345" r:id="rId80"/>
    <p:sldId id="346" r:id="rId81"/>
    <p:sldId id="347" r:id="rId82"/>
    <p:sldId id="354" r:id="rId83"/>
    <p:sldId id="349" r:id="rId84"/>
    <p:sldId id="300" r:id="rId85"/>
    <p:sldId id="301" r:id="rId86"/>
    <p:sldId id="302" r:id="rId87"/>
    <p:sldId id="303" r:id="rId88"/>
    <p:sldId id="304" r:id="rId89"/>
    <p:sldId id="305" r:id="rId90"/>
    <p:sldId id="306" r:id="rId91"/>
    <p:sldId id="307" r:id="rId92"/>
    <p:sldId id="308" r:id="rId93"/>
    <p:sldId id="309" r:id="rId94"/>
    <p:sldId id="310" r:id="rId95"/>
    <p:sldId id="311" r:id="rId96"/>
    <p:sldId id="312" r:id="rId97"/>
    <p:sldId id="313" r:id="rId98"/>
    <p:sldId id="314" r:id="rId99"/>
    <p:sldId id="353" r:id="rId100"/>
    <p:sldId id="315" r:id="rId101"/>
    <p:sldId id="316" r:id="rId102"/>
    <p:sldId id="317" r:id="rId103"/>
    <p:sldId id="535" r:id="rId104"/>
    <p:sldId id="365" r:id="rId105"/>
    <p:sldId id="366" r:id="rId106"/>
    <p:sldId id="356" r:id="rId107"/>
    <p:sldId id="358" r:id="rId108"/>
    <p:sldId id="526" r:id="rId109"/>
    <p:sldId id="527" r:id="rId110"/>
    <p:sldId id="367" r:id="rId111"/>
    <p:sldId id="371" r:id="rId112"/>
    <p:sldId id="372" r:id="rId113"/>
    <p:sldId id="373" r:id="rId114"/>
    <p:sldId id="374" r:id="rId115"/>
    <p:sldId id="375" r:id="rId116"/>
    <p:sldId id="376" r:id="rId11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AF3B0"/>
    <a:srgbClr val="FD00C6"/>
    <a:srgbClr val="7A0020"/>
    <a:srgbClr val="7A0077"/>
    <a:srgbClr val="009900"/>
    <a:srgbClr val="EBF7FF"/>
    <a:srgbClr val="00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>
    <p:restoredLeft sz="12420"/>
    <p:restoredTop sz="91079"/>
  </p:normalViewPr>
  <p:slideViewPr>
    <p:cSldViewPr showGuides="1">
      <p:cViewPr varScale="1">
        <p:scale>
          <a:sx n="83" d="100"/>
          <a:sy n="83" d="100"/>
        </p:scale>
        <p:origin x="1592" y="52"/>
      </p:cViewPr>
      <p:guideLst>
        <p:guide orient="horz" pos="21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" Type="http://schemas.openxmlformats.org/officeDocument/2006/relationships/slide" Target="slides/slide4.xml"/><Relationship Id="rId89" Type="http://schemas.openxmlformats.org/officeDocument/2006/relationships/slide" Target="slides/slide83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80" Type="http://schemas.openxmlformats.org/officeDocument/2006/relationships/slide" Target="slides/slide74.xml"/><Relationship Id="rId8" Type="http://schemas.openxmlformats.org/officeDocument/2006/relationships/slide" Target="slides/slide3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slide" Target="slides/slide2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0" Type="http://schemas.openxmlformats.org/officeDocument/2006/relationships/tableStyles" Target="tableStyles.xml"/><Relationship Id="rId12" Type="http://schemas.openxmlformats.org/officeDocument/2006/relationships/slide" Target="slides/slide7.xml"/><Relationship Id="rId119" Type="http://schemas.openxmlformats.org/officeDocument/2006/relationships/viewProps" Target="viewProps.xml"/><Relationship Id="rId118" Type="http://schemas.openxmlformats.org/officeDocument/2006/relationships/presProps" Target="presProps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4" Type="http://schemas.openxmlformats.org/officeDocument/2006/relationships/slide" Target="slides/slide108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110" Type="http://schemas.openxmlformats.org/officeDocument/2006/relationships/slide" Target="slides/slide104.xml"/><Relationship Id="rId11" Type="http://schemas.openxmlformats.org/officeDocument/2006/relationships/slide" Target="slides/slide6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13.png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D8250F-4FE7-42A0-AC17-91CF6D7A253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4276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algn="just" eaLnBrk="1" hangingPunct="1">
              <a:spcBef>
                <a:spcPct val="0"/>
              </a:spcBef>
            </a:pP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6246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2468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algn="just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2083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0836" name="Rectangle 3"/>
          <p:cNvSpPr/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sz="28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22883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2884" name="Rectangle 3"/>
          <p:cNvSpPr/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sz="28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24931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4932" name="Rectangle 3"/>
          <p:cNvSpPr/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sz="28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26979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6980" name="Rectangle 3"/>
          <p:cNvSpPr/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sz="2800" dirty="0"/>
              <a:t>《编译原理习题精选》1.3。</a:t>
            </a:r>
            <a:endParaRPr lang="zh-CN" altLang="en-US" sz="28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29027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9028" name="Rectangle 3"/>
          <p:cNvSpPr/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sz="2800" dirty="0"/>
              <a:t>《编译原理习题精选》1.3。</a:t>
            </a:r>
            <a:endParaRPr lang="zh-CN" altLang="en-US" sz="28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3107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1076" name="Rectangle 3"/>
          <p:cNvSpPr/>
          <p:nvPr>
            <p:ph type="body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sz="2800" dirty="0"/>
              <a:t>《编译原理习题精选》1.3。</a:t>
            </a:r>
            <a:endParaRPr lang="zh-CN" altLang="en-US" sz="28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144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144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09600"/>
            <a:ext cx="8540750" cy="5489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Rot="1"/>
          </p:cNvSpPr>
          <p:nvPr>
            <p:ph type="title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Rot="1"/>
          </p:cNvSpPr>
          <p:nvPr>
            <p:ph type="body"/>
          </p:nvPr>
        </p:nvSpPr>
        <p:spPr>
          <a:xfrm>
            <a:off x="301625" y="1905000"/>
            <a:ext cx="8540750" cy="419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</a:fld>
            <a:endParaRPr lang="en-US" altLang="zh-CN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oleObject" Target="../embeddings/oleObject6.bin"/><Relationship Id="rId7" Type="http://schemas.openxmlformats.org/officeDocument/2006/relationships/oleObject" Target="../embeddings/oleObject5.bin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6.xml"/><Relationship Id="rId12" Type="http://schemas.openxmlformats.org/officeDocument/2006/relationships/oleObject" Target="../embeddings/oleObject10.bin"/><Relationship Id="rId11" Type="http://schemas.openxmlformats.org/officeDocument/2006/relationships/oleObject" Target="../embeddings/oleObject9.bin"/><Relationship Id="rId10" Type="http://schemas.openxmlformats.org/officeDocument/2006/relationships/oleObject" Target="../embeddings/oleObject8.bin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6.xml"/><Relationship Id="rId7" Type="http://schemas.openxmlformats.org/officeDocument/2006/relationships/image" Target="../media/image9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2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17.bin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3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8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2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22.bin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26.bin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28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30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5" Type="http://schemas.openxmlformats.org/officeDocument/2006/relationships/oleObject" Target="../embeddings/oleObject34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32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oleObject" Target="../embeddings/oleObject38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36.bin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40.bin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42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4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5" Type="http://schemas.openxmlformats.org/officeDocument/2006/relationships/oleObject" Target="../embeddings/oleObject50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48.bin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52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54.bin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56.bin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58.bin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60.bin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62.bin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64.bin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66.bin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68.bin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70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12.xml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72.bin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76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8.vml"/><Relationship Id="rId7" Type="http://schemas.openxmlformats.org/officeDocument/2006/relationships/slideLayout" Target="../slideLayouts/slideLayout12.xml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78.bin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82.bin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84.bin"/></Relationships>
</file>

<file path=ppt/slides/_rels/slide7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1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4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86.bin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88.bin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90.bin"/></Relationships>
</file>

<file path=ppt/slides/_rels/slide8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92.bin"/></Relationships>
</file>

<file path=ppt/slides/_rels/slide8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94.bin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96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7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98.bin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8.vml"/><Relationship Id="rId8" Type="http://schemas.openxmlformats.org/officeDocument/2006/relationships/slideLayout" Target="../slideLayouts/slideLayout12.xml"/><Relationship Id="rId7" Type="http://schemas.openxmlformats.org/officeDocument/2006/relationships/oleObject" Target="../embeddings/oleObject105.bin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20.png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02.bin"/></Relationships>
</file>

<file path=ppt/slides/_rels/slide8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06.bin"/></Relationships>
</file>

<file path=ppt/slides/_rels/slide8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08.bin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10.bin"/></Relationships>
</file>

<file path=ppt/slides/_rels/slide9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12.bin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118.bin"/><Relationship Id="rId6" Type="http://schemas.openxmlformats.org/officeDocument/2006/relationships/oleObject" Target="../embeddings/oleObject117.bin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3.png"/><Relationship Id="rId10" Type="http://schemas.openxmlformats.org/officeDocument/2006/relationships/vmlDrawing" Target="../drawings/vmlDrawing43.vml"/><Relationship Id="rId1" Type="http://schemas.openxmlformats.org/officeDocument/2006/relationships/oleObject" Target="../embeddings/oleObject114.bin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5.bin"/><Relationship Id="rId8" Type="http://schemas.openxmlformats.org/officeDocument/2006/relationships/oleObject" Target="../embeddings/oleObject124.bin"/><Relationship Id="rId7" Type="http://schemas.openxmlformats.org/officeDocument/2006/relationships/oleObject" Target="../embeddings/oleObject123.bin"/><Relationship Id="rId6" Type="http://schemas.openxmlformats.org/officeDocument/2006/relationships/oleObject" Target="../embeddings/oleObject122.bin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3.png"/><Relationship Id="rId14" Type="http://schemas.openxmlformats.org/officeDocument/2006/relationships/vmlDrawing" Target="../drawings/vmlDrawing44.vml"/><Relationship Id="rId13" Type="http://schemas.openxmlformats.org/officeDocument/2006/relationships/slideLayout" Target="../slideLayouts/slideLayout12.xml"/><Relationship Id="rId12" Type="http://schemas.openxmlformats.org/officeDocument/2006/relationships/oleObject" Target="../embeddings/oleObject128.bin"/><Relationship Id="rId11" Type="http://schemas.openxmlformats.org/officeDocument/2006/relationships/oleObject" Target="../embeddings/oleObject127.bin"/><Relationship Id="rId10" Type="http://schemas.openxmlformats.org/officeDocument/2006/relationships/oleObject" Target="../embeddings/oleObject126.bin"/><Relationship Id="rId1" Type="http://schemas.openxmlformats.org/officeDocument/2006/relationships/oleObject" Target="../embeddings/oleObject119.bin"/></Relationships>
</file>

<file path=ppt/slides/_rels/slide9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oleObject" Target="../embeddings/oleObject134.bin"/><Relationship Id="rId7" Type="http://schemas.openxmlformats.org/officeDocument/2006/relationships/oleObject" Target="../embeddings/oleObject133.bin"/><Relationship Id="rId6" Type="http://schemas.openxmlformats.org/officeDocument/2006/relationships/oleObject" Target="../embeddings/oleObject132.bin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3.png"/><Relationship Id="rId10" Type="http://schemas.openxmlformats.org/officeDocument/2006/relationships/vmlDrawing" Target="../drawings/vmlDrawing45.vml"/><Relationship Id="rId1" Type="http://schemas.openxmlformats.org/officeDocument/2006/relationships/oleObject" Target="../embeddings/oleObject129.bin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oleObject" Target="../embeddings/oleObject140.bin"/><Relationship Id="rId7" Type="http://schemas.openxmlformats.org/officeDocument/2006/relationships/oleObject" Target="../embeddings/oleObject139.bin"/><Relationship Id="rId6" Type="http://schemas.openxmlformats.org/officeDocument/2006/relationships/oleObject" Target="../embeddings/oleObject138.bin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3.png"/><Relationship Id="rId16" Type="http://schemas.openxmlformats.org/officeDocument/2006/relationships/vmlDrawing" Target="../drawings/vmlDrawing46.vml"/><Relationship Id="rId15" Type="http://schemas.openxmlformats.org/officeDocument/2006/relationships/slideLayout" Target="../slideLayouts/slideLayout7.xml"/><Relationship Id="rId14" Type="http://schemas.openxmlformats.org/officeDocument/2006/relationships/oleObject" Target="../embeddings/oleObject146.bin"/><Relationship Id="rId13" Type="http://schemas.openxmlformats.org/officeDocument/2006/relationships/oleObject" Target="../embeddings/oleObject145.bin"/><Relationship Id="rId12" Type="http://schemas.openxmlformats.org/officeDocument/2006/relationships/oleObject" Target="../embeddings/oleObject144.bin"/><Relationship Id="rId11" Type="http://schemas.openxmlformats.org/officeDocument/2006/relationships/oleObject" Target="../embeddings/oleObject143.bin"/><Relationship Id="rId10" Type="http://schemas.openxmlformats.org/officeDocument/2006/relationships/oleObject" Target="../embeddings/oleObject142.bin"/><Relationship Id="rId1" Type="http://schemas.openxmlformats.org/officeDocument/2006/relationships/oleObject" Target="../embeddings/oleObject135.bin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8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47.bin"/></Relationships>
</file>

<file path=ppt/slides/_rels/slide9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8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49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9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154.bin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52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51.bin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56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55.bin"/></Relationships>
</file>

<file path=ppt/slides/_rels/slide10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57.bin"/></Relationships>
</file>

<file path=ppt/slides/_rels/slide10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59.bin"/></Relationships>
</file>

<file path=ppt/slides/_rels/slide10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62.bin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61.bin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Rot="1"/>
          </p:cNvSpPr>
          <p:nvPr>
            <p:ph type="title"/>
          </p:nvPr>
        </p:nvSpPr>
        <p:spPr>
          <a:xfrm>
            <a:off x="328613" y="420688"/>
            <a:ext cx="8485187" cy="990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文法的类型</a:t>
            </a:r>
            <a:endParaRPr lang="zh-CN" altLang="en-US" sz="3200" b="1" dirty="0"/>
          </a:p>
        </p:txBody>
      </p:sp>
      <p:sp>
        <p:nvSpPr>
          <p:cNvPr id="1628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3500" y="1052195"/>
            <a:ext cx="9080500" cy="5297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通过对产生式施加不同的限制，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Chomsky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将文法分为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四种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类型：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型文法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：对任一产生式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α→β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，都有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α∈(V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∪V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β∈(V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∪V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*</a:t>
            </a: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举例：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A-&gt;ab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 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A-&gt;b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型文法是这几个文法中，限制最少的一个，一般见到的文法都可看做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型文法。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3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charRg st="3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74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charRg st="74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96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2819">
                                            <p:txEl>
                                              <p:charRg st="96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ldLvl="2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Rot="1"/>
          </p:cNvSpPr>
          <p:nvPr>
            <p:ph type="title"/>
          </p:nvPr>
        </p:nvSpPr>
        <p:spPr>
          <a:xfrm>
            <a:off x="328613" y="420688"/>
            <a:ext cx="8485187" cy="990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文法的类型</a:t>
            </a:r>
            <a:endParaRPr lang="zh-CN" altLang="en-US" sz="3200" b="1" dirty="0"/>
          </a:p>
        </p:txBody>
      </p:sp>
      <p:sp>
        <p:nvSpPr>
          <p:cNvPr id="1628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1750" y="1079500"/>
            <a:ext cx="9080500" cy="5297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型文法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：对任一产生式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α→β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，都有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|β|≥|α|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 仅仅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S→ε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除外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解释：式子左边可以有多个字符，但必须有一个非终结符；式子右边可以有多个字符，可以是终结符，也可以是非终结符，但必须是有限个字符且左边长度必须小于等于右边。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举例：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Bba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charRg st="1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37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charRg st="37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1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charRg st="115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ldLvl="2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Rot="1"/>
          </p:cNvSpPr>
          <p:nvPr>
            <p:ph type="title"/>
          </p:nvPr>
        </p:nvSpPr>
        <p:spPr>
          <a:xfrm>
            <a:off x="328613" y="420688"/>
            <a:ext cx="8485187" cy="990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文法的类型</a:t>
            </a:r>
            <a:endParaRPr lang="zh-CN" altLang="en-US" sz="3200" b="1" dirty="0"/>
          </a:p>
        </p:txBody>
      </p:sp>
      <p:sp>
        <p:nvSpPr>
          <p:cNvPr id="1628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1750" y="1079500"/>
            <a:ext cx="9080500" cy="5297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型文法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：对任一产生式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α→β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，都有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α∈V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β∈(V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∪V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*</a:t>
            </a: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解释：式子左边必须是非终结符，然而一个终结符一个非终结符的组合不是一个非终结符，如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不是一个非终结符，但是两个非终结符的组合就是一个非终结符了，如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就可以；式子右边可以有多个字符，可以是终结符，也可以是非终结符，但必须是有限个字符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举例：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AB-&gt;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B-&gt;ab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36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charRg st="36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54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charRg st="154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ldLvl="2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Rot="1"/>
          </p:cNvSpPr>
          <p:nvPr>
            <p:ph type="title"/>
          </p:nvPr>
        </p:nvSpPr>
        <p:spPr>
          <a:xfrm>
            <a:off x="328613" y="420688"/>
            <a:ext cx="8485187" cy="990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文法的类型</a:t>
            </a:r>
            <a:endParaRPr lang="zh-CN" altLang="en-US" sz="3200" b="1" dirty="0"/>
          </a:p>
        </p:txBody>
      </p:sp>
      <p:sp>
        <p:nvSpPr>
          <p:cNvPr id="1628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1750" y="1079500"/>
            <a:ext cx="9080500" cy="5297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型文法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：任一产生式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α→β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的形式都为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A→aB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或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A→a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，其中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A∈V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B∈V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a∈V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T</a:t>
            </a:r>
            <a:endParaRPr kumimoji="0" lang="en-US" altLang="zh-CN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解释：式子左边只能有一个字符，而且必须是非终结符；式子右边最多有二个字符。如果有二个字符必须是（终结符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非终结符）的格式，如果是一个字符，那么必须是终结符。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举例：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B-&gt;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47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charRg st="47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26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charRg st="126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ldLvl="2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文法的类型</a:t>
            </a:r>
            <a:endParaRPr lang="zh-CN" altLang="en-US" b="1" dirty="0"/>
          </a:p>
        </p:txBody>
      </p:sp>
      <p:sp>
        <p:nvSpPr>
          <p:cNvPr id="163843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latin typeface="宋体" pitchFamily="2" charset="-122"/>
              </a:rPr>
              <a:t>例：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型（上下文有关）文法</a:t>
            </a:r>
            <a:endParaRPr lang="zh-CN" altLang="en-US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宋体" pitchFamily="2" charset="-122"/>
              </a:rPr>
              <a:t>   文法</a:t>
            </a:r>
            <a:r>
              <a:rPr lang="en-US" altLang="zh-CN" b="1" dirty="0">
                <a:latin typeface="宋体" pitchFamily="2" charset="-122"/>
              </a:rPr>
              <a:t>G[S]</a:t>
            </a:r>
            <a:r>
              <a:rPr lang="zh-CN" altLang="en-US" b="1" dirty="0">
                <a:latin typeface="宋体" pitchFamily="2" charset="-122"/>
              </a:rPr>
              <a:t>：	 </a:t>
            </a:r>
            <a:r>
              <a:rPr lang="en-US" altLang="zh-CN" b="1" dirty="0">
                <a:latin typeface="宋体" pitchFamily="2" charset="-122"/>
              </a:rPr>
              <a:t>S→CD		Ab→bA</a:t>
            </a:r>
            <a:endParaRPr lang="en-US" altLang="zh-CN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				 C→aCA		Ba→aB</a:t>
            </a:r>
            <a:endParaRPr lang="en-US" altLang="zh-CN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				 C→bCB		Bb→bB</a:t>
            </a:r>
            <a:endParaRPr lang="en-US" altLang="zh-CN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				AD→aD		 C→ε</a:t>
            </a:r>
            <a:endParaRPr lang="en-US" altLang="zh-CN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				BD→bD		 D→ε</a:t>
            </a:r>
            <a:endParaRPr lang="en-US" altLang="zh-CN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				Aa→bD</a:t>
            </a:r>
            <a:endParaRPr lang="en-US" altLang="zh-CN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3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3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3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3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7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43">
                                            <p:txEl>
                                              <p:charRg st="7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43">
                                            <p:txEl>
                                              <p:charRg st="7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90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43">
                                            <p:txEl>
                                              <p:charRg st="90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43">
                                            <p:txEl>
                                              <p:charRg st="90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10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43">
                                            <p:txEl>
                                              <p:charRg st="10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43">
                                            <p:txEl>
                                              <p:charRg st="10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文法的类型</a:t>
            </a:r>
            <a:endParaRPr lang="zh-CN" altLang="en-US" b="1" dirty="0"/>
          </a:p>
        </p:txBody>
      </p:sp>
      <p:sp>
        <p:nvSpPr>
          <p:cNvPr id="15363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latin typeface="宋体" pitchFamily="2" charset="-122"/>
              </a:rPr>
              <a:t>例：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型（上下文无关）文法</a:t>
            </a:r>
            <a:endParaRPr lang="zh-CN" altLang="en-US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zh-CN" altLang="en-US" b="1" dirty="0"/>
              <a:t>   </a:t>
            </a:r>
            <a:endParaRPr lang="zh-CN" altLang="en-US" b="1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zh-CN" altLang="en-US" b="1" dirty="0"/>
              <a:t>   文法</a:t>
            </a:r>
            <a:r>
              <a:rPr lang="en-US" altLang="zh-CN" b="1" dirty="0"/>
              <a:t>G[S]</a:t>
            </a:r>
            <a:r>
              <a:rPr lang="zh-CN" altLang="en-US" b="1" dirty="0"/>
              <a:t>：	</a:t>
            </a:r>
            <a:r>
              <a:rPr lang="en-US" altLang="zh-CN" b="1" dirty="0"/>
              <a:t>S</a:t>
            </a:r>
            <a:r>
              <a:rPr lang="en-US" altLang="zh-CN" b="1" dirty="0">
                <a:latin typeface="宋体" pitchFamily="2" charset="-122"/>
              </a:rPr>
              <a:t>→AB</a:t>
            </a:r>
            <a:endParaRPr lang="en-US" altLang="zh-CN" b="1" dirty="0"/>
          </a:p>
          <a:p>
            <a:pPr eaLnBrk="1" hangingPunct="1">
              <a:buNone/>
            </a:pPr>
            <a:r>
              <a:rPr lang="en-US" altLang="zh-CN" b="1" dirty="0"/>
              <a:t>				A</a:t>
            </a:r>
            <a:r>
              <a:rPr lang="en-US" altLang="zh-CN" b="1" dirty="0">
                <a:latin typeface="宋体" pitchFamily="2" charset="-122"/>
              </a:rPr>
              <a:t>→BS|0</a:t>
            </a:r>
            <a:endParaRPr lang="en-US" altLang="zh-CN" b="1" dirty="0"/>
          </a:p>
          <a:p>
            <a:pPr eaLnBrk="1" hangingPunct="1">
              <a:buNone/>
            </a:pPr>
            <a:r>
              <a:rPr lang="en-US" altLang="zh-CN" b="1" dirty="0"/>
              <a:t>				B</a:t>
            </a:r>
            <a:r>
              <a:rPr lang="en-US" altLang="zh-CN" b="1" dirty="0">
                <a:latin typeface="宋体" pitchFamily="2" charset="-122"/>
              </a:rPr>
              <a:t>→SA|1</a:t>
            </a:r>
            <a:endParaRPr lang="en-US" altLang="zh-CN" b="1" dirty="0"/>
          </a:p>
          <a:p>
            <a:pPr eaLnBrk="1" hangingPunct="1">
              <a:buNone/>
            </a:pPr>
            <a:endParaRPr lang="en-US" altLang="zh-CN" b="1" dirty="0"/>
          </a:p>
          <a:p>
            <a:pPr eaLnBrk="1" hangingPunct="1">
              <a:buNone/>
            </a:pPr>
            <a:r>
              <a:rPr lang="en-US" altLang="zh-CN" b="1" dirty="0"/>
              <a:t>				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型文法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6387" name="Rectangle 3"/>
          <p:cNvSpPr>
            <a:spLocks noGrp="1" noRot="1"/>
          </p:cNvSpPr>
          <p:nvPr>
            <p:ph sz="half" idx="1"/>
          </p:nvPr>
        </p:nvSpPr>
        <p:spPr>
          <a:xfrm>
            <a:off x="301625" y="1905000"/>
            <a:ext cx="4057650" cy="41941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G[S]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：	</a:t>
            </a:r>
            <a:endParaRPr lang="zh-CN" altLang="en-US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latin typeface="+mn-lt"/>
                <a:ea typeface="+mn-ea"/>
                <a:cs typeface="+mn-cs"/>
              </a:rPr>
              <a:t>        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S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→0A|1B|0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				A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→0A|1B|0S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				B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→1B|1|0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16388" name="Rectangle 4"/>
          <p:cNvSpPr>
            <a:spLocks noGrp="1" noRot="1"/>
          </p:cNvSpPr>
          <p:nvPr>
            <p:ph sz="half" idx="2"/>
          </p:nvPr>
        </p:nvSpPr>
        <p:spPr>
          <a:xfrm>
            <a:off x="4279900" y="1905000"/>
            <a:ext cx="4562475" cy="41941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G[I]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：	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I 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 lT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			I 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 l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			T 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 lT</a:t>
            </a:r>
            <a:endParaRPr lang="en-US" altLang="zh-CN" b="1" dirty="0">
              <a:latin typeface="宋体" pitchFamily="2" charset="-122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			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T 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 dT</a:t>
            </a:r>
            <a:endParaRPr lang="en-US" altLang="zh-CN" b="1" dirty="0">
              <a:latin typeface="宋体" pitchFamily="2" charset="-122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			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T 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 l</a:t>
            </a:r>
            <a:endParaRPr lang="en-US" altLang="zh-CN" b="1" dirty="0">
              <a:latin typeface="宋体" pitchFamily="2" charset="-122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			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T </a:t>
            </a:r>
            <a:r>
              <a:rPr lang="en-US" altLang="zh-CN" b="1" dirty="0">
                <a:latin typeface="宋体" pitchFamily="2" charset="-122"/>
                <a:ea typeface="+mn-ea"/>
                <a:cs typeface="+mn-cs"/>
              </a:rPr>
              <a:t>→ d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				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  <a:buFont typeface="Wingdings" panose="05000000000000000000" pitchFamily="2" charset="2"/>
              <a:buNone/>
            </a:pPr>
            <a:endParaRPr lang="en-US" altLang="zh-CN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Oval 2"/>
          <p:cNvSpPr/>
          <p:nvPr/>
        </p:nvSpPr>
        <p:spPr>
          <a:xfrm>
            <a:off x="1981200" y="2590800"/>
            <a:ext cx="5410200" cy="3124200"/>
          </a:xfrm>
          <a:prstGeom prst="ellipse">
            <a:avLst/>
          </a:prstGeom>
          <a:solidFill>
            <a:srgbClr val="00FF99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7411" name="Rectangle 3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文法的类型</a:t>
            </a:r>
            <a:endParaRPr lang="zh-CN" altLang="en-US" b="1" dirty="0"/>
          </a:p>
        </p:txBody>
      </p:sp>
      <p:grpSp>
        <p:nvGrpSpPr>
          <p:cNvPr id="17412" name="Group 4"/>
          <p:cNvGrpSpPr/>
          <p:nvPr/>
        </p:nvGrpSpPr>
        <p:grpSpPr>
          <a:xfrm>
            <a:off x="2362200" y="3048000"/>
            <a:ext cx="4800600" cy="2590800"/>
            <a:chOff x="1440" y="1920"/>
            <a:chExt cx="3024" cy="1632"/>
          </a:xfrm>
        </p:grpSpPr>
        <p:sp>
          <p:nvSpPr>
            <p:cNvPr id="17416" name="Oval 5"/>
            <p:cNvSpPr/>
            <p:nvPr/>
          </p:nvSpPr>
          <p:spPr>
            <a:xfrm>
              <a:off x="1440" y="1920"/>
              <a:ext cx="3024" cy="1632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7417" name="Oval 6"/>
            <p:cNvSpPr/>
            <p:nvPr/>
          </p:nvSpPr>
          <p:spPr>
            <a:xfrm>
              <a:off x="1776" y="2400"/>
              <a:ext cx="2430" cy="105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7418" name="Oval 7"/>
            <p:cNvSpPr/>
            <p:nvPr/>
          </p:nvSpPr>
          <p:spPr>
            <a:xfrm>
              <a:off x="2208" y="2832"/>
              <a:ext cx="1512" cy="52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7419" name="Text Box 8"/>
            <p:cNvSpPr txBox="1"/>
            <p:nvPr/>
          </p:nvSpPr>
          <p:spPr>
            <a:xfrm>
              <a:off x="2412" y="2496"/>
              <a:ext cx="10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503050405090304" pitchFamily="18" charset="0"/>
                </a:rPr>
                <a:t>2</a:t>
              </a:r>
              <a:r>
                <a:rPr lang="zh-CN" altLang="en-US" sz="2400" b="1" dirty="0">
                  <a:solidFill>
                    <a:srgbClr val="3366FF"/>
                  </a:solidFill>
                  <a:latin typeface="Times New Roman" panose="02020503050405090304" pitchFamily="18" charset="0"/>
                </a:rPr>
                <a:t>型文法</a:t>
              </a:r>
              <a:endParaRPr lang="zh-CN" altLang="en-US" sz="2400" b="1" dirty="0">
                <a:solidFill>
                  <a:srgbClr val="3366FF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7420" name="Text Box 9"/>
            <p:cNvSpPr txBox="1"/>
            <p:nvPr/>
          </p:nvSpPr>
          <p:spPr>
            <a:xfrm>
              <a:off x="2466" y="1920"/>
              <a:ext cx="99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Times New Roman" panose="02020503050405090304" pitchFamily="18" charset="0"/>
                </a:rPr>
                <a:t>1</a:t>
              </a:r>
              <a:r>
                <a:rPr lang="zh-CN" altLang="en-US" sz="2400" b="1" dirty="0">
                  <a:solidFill>
                    <a:srgbClr val="660033"/>
                  </a:solidFill>
                  <a:latin typeface="Times New Roman" panose="02020503050405090304" pitchFamily="18" charset="0"/>
                </a:rPr>
                <a:t>型文法</a:t>
              </a:r>
              <a:endParaRPr lang="zh-CN" altLang="en-US" sz="2000" b="1" dirty="0">
                <a:solidFill>
                  <a:srgbClr val="660033"/>
                </a:solidFill>
                <a:latin typeface="Times New Roman" panose="02020503050405090304" pitchFamily="18" charset="0"/>
              </a:endParaRPr>
            </a:p>
          </p:txBody>
        </p:sp>
      </p:grpSp>
      <p:sp>
        <p:nvSpPr>
          <p:cNvPr id="17413" name="Text Box 10"/>
          <p:cNvSpPr txBox="1"/>
          <p:nvPr/>
        </p:nvSpPr>
        <p:spPr>
          <a:xfrm>
            <a:off x="3962400" y="2590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0</a:t>
            </a:r>
            <a:r>
              <a:rPr lang="zh-CN" altLang="en-US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型文法</a:t>
            </a:r>
            <a:endParaRPr lang="zh-CN" altLang="en-US" sz="2400" b="1" dirty="0">
              <a:solidFill>
                <a:srgbClr val="007A77"/>
              </a:solidFill>
              <a:latin typeface="Times New Roman" panose="02020503050405090304" pitchFamily="18" charset="0"/>
            </a:endParaRPr>
          </a:p>
        </p:txBody>
      </p:sp>
      <p:sp>
        <p:nvSpPr>
          <p:cNvPr id="17414" name="Text Box 11"/>
          <p:cNvSpPr>
            <a:spLocks noGrp="1" noRot="1"/>
          </p:cNvSpPr>
          <p:nvPr>
            <p:ph idx="1"/>
          </p:nvPr>
        </p:nvSpPr>
        <p:spPr>
          <a:ln w="28575"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CC3300"/>
                </a:solidFill>
              </a:rPr>
              <a:t>四种</a:t>
            </a:r>
            <a:r>
              <a:rPr lang="zh-CN" altLang="en-US" b="1" dirty="0"/>
              <a:t>文法</a:t>
            </a:r>
            <a:r>
              <a:rPr lang="zh-CN" altLang="en-US" b="1" dirty="0">
                <a:solidFill>
                  <a:srgbClr val="CC3300"/>
                </a:solidFill>
              </a:rPr>
              <a:t>之间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33CC"/>
                </a:solidFill>
              </a:rPr>
              <a:t>逐级</a:t>
            </a:r>
            <a:r>
              <a:rPr lang="zh-CN" altLang="en-US" b="1" dirty="0"/>
              <a:t>“</a:t>
            </a:r>
            <a:r>
              <a:rPr lang="zh-CN" altLang="en-US" b="1" dirty="0">
                <a:solidFill>
                  <a:srgbClr val="CC3300"/>
                </a:solidFill>
              </a:rPr>
              <a:t>包含</a:t>
            </a:r>
            <a:r>
              <a:rPr lang="zh-CN" altLang="en-US" b="1" dirty="0"/>
              <a:t>”</a:t>
            </a:r>
            <a:r>
              <a:rPr lang="zh-CN" altLang="en-US" b="1" dirty="0">
                <a:solidFill>
                  <a:srgbClr val="0033CC"/>
                </a:solidFill>
              </a:rPr>
              <a:t>关系</a:t>
            </a:r>
            <a:endParaRPr lang="zh-CN" altLang="en-US" b="1" dirty="0">
              <a:solidFill>
                <a:srgbClr val="CC3300"/>
              </a:solidFill>
            </a:endParaRPr>
          </a:p>
        </p:txBody>
      </p:sp>
      <p:sp>
        <p:nvSpPr>
          <p:cNvPr id="17415" name="Text Box 12"/>
          <p:cNvSpPr txBox="1"/>
          <p:nvPr/>
        </p:nvSpPr>
        <p:spPr>
          <a:xfrm>
            <a:off x="4038600" y="46482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3</a:t>
            </a:r>
            <a:r>
              <a:rPr lang="zh-CN" altLang="en-US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型文法</a:t>
            </a:r>
            <a:endParaRPr lang="zh-CN" altLang="en-US" sz="2400" b="1" dirty="0">
              <a:solidFill>
                <a:srgbClr val="007A77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文法和语言</a:t>
            </a:r>
            <a:endParaRPr lang="zh-CN" altLang="en-US" b="1" dirty="0"/>
          </a:p>
        </p:txBody>
      </p:sp>
      <p:sp>
        <p:nvSpPr>
          <p:cNvPr id="167939" name="Rectangle 3"/>
          <p:cNvSpPr>
            <a:spLocks noGrp="1" noRot="1"/>
          </p:cNvSpPr>
          <p:nvPr>
            <p:ph idx="1"/>
          </p:nvPr>
        </p:nvSpPr>
        <p:spPr>
          <a:xfrm>
            <a:off x="457200" y="1447800"/>
            <a:ext cx="8458200" cy="46101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b="1" dirty="0"/>
          </a:p>
          <a:p>
            <a:pPr lvl="1" eaLnBrk="1" hangingPunct="1">
              <a:buNone/>
            </a:pPr>
            <a:r>
              <a:rPr lang="en-US" altLang="zh-CN" b="1" dirty="0"/>
              <a:t>0</a:t>
            </a:r>
            <a:r>
              <a:rPr lang="zh-CN" altLang="en-US" b="1" dirty="0"/>
              <a:t>型文法产生的语言称为</a:t>
            </a:r>
            <a:r>
              <a:rPr lang="en-US" altLang="zh-CN" b="1" dirty="0"/>
              <a:t>0</a:t>
            </a:r>
            <a:r>
              <a:rPr lang="zh-CN" altLang="en-US" b="1" dirty="0"/>
              <a:t>型语言</a:t>
            </a:r>
            <a:endParaRPr lang="zh-CN" altLang="en-US" b="1" dirty="0">
              <a:latin typeface="宋体" pitchFamily="2" charset="-122"/>
            </a:endParaRPr>
          </a:p>
          <a:p>
            <a:pPr lvl="1"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型文法或上下文有关文法（ </a:t>
            </a:r>
            <a:r>
              <a:rPr lang="en-US" altLang="zh-CN" b="1" dirty="0"/>
              <a:t>CSG</a:t>
            </a:r>
            <a:r>
              <a:rPr lang="en-US" altLang="zh-CN" b="1" dirty="0">
                <a:latin typeface="宋体" pitchFamily="2" charset="-122"/>
              </a:rPr>
              <a:t> </a:t>
            </a:r>
            <a:r>
              <a:rPr lang="zh-CN" altLang="en-US" b="1" dirty="0">
                <a:latin typeface="宋体" pitchFamily="2" charset="-122"/>
              </a:rPr>
              <a:t>）</a:t>
            </a:r>
            <a:r>
              <a:rPr lang="zh-CN" altLang="en-US" b="1" dirty="0"/>
              <a:t>产生的语言称为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/>
              <a:t>型语言</a:t>
            </a:r>
            <a:r>
              <a:rPr lang="zh-CN" altLang="en-US" b="1" dirty="0">
                <a:latin typeface="宋体" pitchFamily="2" charset="-122"/>
              </a:rPr>
              <a:t>或上下文有关</a:t>
            </a:r>
            <a:r>
              <a:rPr lang="zh-CN" altLang="en-US" b="1" dirty="0"/>
              <a:t>语言（</a:t>
            </a:r>
            <a:r>
              <a:rPr lang="en-US" altLang="zh-CN" b="1" dirty="0"/>
              <a:t>CSL</a:t>
            </a:r>
            <a:r>
              <a:rPr lang="zh-CN" altLang="en-US" b="1" dirty="0"/>
              <a:t>）</a:t>
            </a:r>
            <a:endParaRPr lang="zh-CN" altLang="en-US" b="1" dirty="0">
              <a:latin typeface="宋体" pitchFamily="2" charset="-122"/>
            </a:endParaRPr>
          </a:p>
          <a:p>
            <a:pPr lvl="1"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型文法或上下文无关文法（ </a:t>
            </a:r>
            <a:r>
              <a:rPr lang="en-US" altLang="zh-CN" b="1" dirty="0"/>
              <a:t>CFG</a:t>
            </a:r>
            <a:r>
              <a:rPr lang="en-US" altLang="zh-CN" b="1" dirty="0">
                <a:latin typeface="宋体" pitchFamily="2" charset="-122"/>
              </a:rPr>
              <a:t> </a:t>
            </a:r>
            <a:r>
              <a:rPr lang="zh-CN" altLang="en-US" b="1" dirty="0">
                <a:latin typeface="宋体" pitchFamily="2" charset="-122"/>
              </a:rPr>
              <a:t>）</a:t>
            </a:r>
            <a:r>
              <a:rPr lang="zh-CN" altLang="en-US" b="1" dirty="0"/>
              <a:t>产生的语言称为</a:t>
            </a:r>
            <a:r>
              <a:rPr lang="en-US" altLang="zh-CN" b="1" dirty="0"/>
              <a:t>2</a:t>
            </a:r>
            <a:r>
              <a:rPr lang="zh-CN" altLang="en-US" b="1" dirty="0"/>
              <a:t>型语言</a:t>
            </a:r>
            <a:r>
              <a:rPr lang="zh-CN" altLang="en-US" b="1" dirty="0">
                <a:latin typeface="宋体" pitchFamily="2" charset="-122"/>
              </a:rPr>
              <a:t>或上下文无关</a:t>
            </a:r>
            <a:r>
              <a:rPr lang="zh-CN" altLang="en-US" b="1" dirty="0"/>
              <a:t>语言（ </a:t>
            </a:r>
            <a:r>
              <a:rPr lang="en-US" altLang="zh-CN" b="1" dirty="0"/>
              <a:t>CF L </a:t>
            </a:r>
            <a:r>
              <a:rPr lang="zh-CN" altLang="en-US" b="1" dirty="0"/>
              <a:t>）</a:t>
            </a:r>
            <a:r>
              <a:rPr lang="zh-CN" altLang="en-US" b="1" dirty="0">
                <a:latin typeface="宋体" pitchFamily="2" charset="-122"/>
              </a:rPr>
              <a:t> </a:t>
            </a:r>
            <a:endParaRPr lang="zh-CN" altLang="en-US" b="1" baseline="30000" dirty="0">
              <a:latin typeface="宋体" pitchFamily="2" charset="-122"/>
            </a:endParaRPr>
          </a:p>
          <a:p>
            <a:pPr lvl="1" eaLnBrk="1" hangingPunct="1">
              <a:buNone/>
            </a:pP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型文法或正则（正规）文法（ </a:t>
            </a:r>
            <a:r>
              <a:rPr lang="en-US" altLang="zh-CN" b="1" dirty="0"/>
              <a:t>RG </a:t>
            </a:r>
            <a:r>
              <a:rPr lang="zh-CN" altLang="en-US" b="1" dirty="0">
                <a:latin typeface="宋体" pitchFamily="2" charset="-122"/>
              </a:rPr>
              <a:t>）</a:t>
            </a:r>
            <a:r>
              <a:rPr lang="zh-CN" altLang="en-US" b="1" dirty="0"/>
              <a:t>产生的语言称为</a:t>
            </a:r>
            <a:r>
              <a:rPr lang="en-US" altLang="zh-CN" b="1" dirty="0"/>
              <a:t>3</a:t>
            </a:r>
            <a:r>
              <a:rPr lang="zh-CN" altLang="en-US" b="1" dirty="0"/>
              <a:t>型语言</a:t>
            </a:r>
            <a:r>
              <a:rPr lang="zh-CN" altLang="en-US" b="1" dirty="0">
                <a:latin typeface="宋体" pitchFamily="2" charset="-122"/>
              </a:rPr>
              <a:t>正则（正规）</a:t>
            </a:r>
            <a:r>
              <a:rPr lang="zh-CN" altLang="en-US" b="1" dirty="0"/>
              <a:t>语言（ </a:t>
            </a:r>
            <a:r>
              <a:rPr lang="en-US" altLang="zh-CN" b="1" dirty="0"/>
              <a:t>RL </a:t>
            </a:r>
            <a:r>
              <a:rPr lang="zh-CN" altLang="en-US" b="1" dirty="0"/>
              <a:t>）</a:t>
            </a:r>
            <a:r>
              <a:rPr lang="zh-CN" altLang="en-US" b="1" dirty="0">
                <a:latin typeface="宋体" pitchFamily="2" charset="-122"/>
              </a:rPr>
              <a:t> </a:t>
            </a:r>
            <a:endParaRPr lang="zh-CN" altLang="en-US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1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txEl>
                                              <p:charRg st="1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17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939">
                                            <p:txEl>
                                              <p:charRg st="17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6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7939">
                                            <p:txEl>
                                              <p:charRg st="61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10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7939">
                                            <p:txEl>
                                              <p:charRg st="109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ldLvl="2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文法和语言</a:t>
            </a:r>
            <a:endParaRPr lang="zh-CN" altLang="en-US" b="1" dirty="0"/>
          </a:p>
        </p:txBody>
      </p:sp>
      <p:sp>
        <p:nvSpPr>
          <p:cNvPr id="19459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四种文法之间的关系 是将产生式做进一步限制而定义的。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语言之间的关系依次：有不是上下文有关语言的</a:t>
            </a:r>
            <a:r>
              <a:rPr lang="en-US" altLang="zh-CN" b="1" dirty="0"/>
              <a:t>0</a:t>
            </a:r>
            <a:r>
              <a:rPr lang="zh-CN" altLang="en-US" b="1" dirty="0"/>
              <a:t>型语言，有不是上下文无关语言的</a:t>
            </a:r>
            <a:r>
              <a:rPr lang="en-US" altLang="zh-CN" b="1" dirty="0"/>
              <a:t>1</a:t>
            </a:r>
            <a:r>
              <a:rPr lang="zh-CN" altLang="en-US" b="1" dirty="0"/>
              <a:t>型语言，有不是正则语言的上下文无关语言。				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根据形式语言理论</a:t>
            </a:r>
            <a:r>
              <a:rPr lang="en-US" altLang="zh-CN" b="1" dirty="0"/>
              <a:t>,</a:t>
            </a:r>
            <a:r>
              <a:rPr lang="zh-CN" altLang="en-US" b="1" dirty="0"/>
              <a:t>文法和识别系统间有这样的关系</a:t>
            </a:r>
            <a:endParaRPr lang="zh-CN" altLang="en-US" b="1" dirty="0"/>
          </a:p>
        </p:txBody>
      </p:sp>
      <p:sp>
        <p:nvSpPr>
          <p:cNvPr id="169987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  0</a:t>
            </a:r>
            <a:r>
              <a:rPr lang="zh-CN" altLang="en-US" b="1" dirty="0"/>
              <a:t>型文法（短语结构文法）的能力相当于图灵机，可以表征任何递归可枚举集，而且任何</a:t>
            </a:r>
            <a:r>
              <a:rPr lang="en-US" altLang="zh-CN" b="1" dirty="0"/>
              <a:t>0</a:t>
            </a:r>
            <a:r>
              <a:rPr lang="zh-CN" altLang="en-US" b="1" dirty="0"/>
              <a:t>型语言都是递归可枚举的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</a:t>
            </a:r>
            <a:r>
              <a:rPr lang="en-US" altLang="zh-CN" b="1" dirty="0"/>
              <a:t>1</a:t>
            </a:r>
            <a:r>
              <a:rPr lang="zh-CN" altLang="en-US" b="1" dirty="0"/>
              <a:t>型文法（上下文有关文法）：产生式的形式为</a:t>
            </a:r>
            <a:r>
              <a:rPr lang="en-US" altLang="zh-CN" b="1" dirty="0">
                <a:latin typeface="宋体" pitchFamily="2" charset="-122"/>
              </a:rPr>
              <a:t>α</a:t>
            </a:r>
            <a:r>
              <a:rPr lang="en-US" altLang="zh-CN" b="1" baseline="-25000" dirty="0">
                <a:latin typeface="宋体" pitchFamily="2" charset="-122"/>
              </a:rPr>
              <a:t>1</a:t>
            </a:r>
            <a:r>
              <a:rPr lang="en-US" altLang="zh-CN" b="1" dirty="0">
                <a:latin typeface="宋体" pitchFamily="2" charset="-122"/>
              </a:rPr>
              <a:t>Aα</a:t>
            </a:r>
            <a:r>
              <a:rPr lang="en-US" altLang="zh-CN" b="1" baseline="-25000" dirty="0">
                <a:latin typeface="宋体" pitchFamily="2" charset="-122"/>
              </a:rPr>
              <a:t>2</a:t>
            </a:r>
            <a:r>
              <a:rPr lang="en-US" altLang="zh-CN" b="1" dirty="0">
                <a:latin typeface="宋体" pitchFamily="2" charset="-122"/>
              </a:rPr>
              <a:t>→α</a:t>
            </a:r>
            <a:r>
              <a:rPr lang="en-US" altLang="zh-CN" b="1" baseline="-25000" dirty="0">
                <a:latin typeface="宋体" pitchFamily="2" charset="-122"/>
              </a:rPr>
              <a:t>1</a:t>
            </a:r>
            <a:r>
              <a:rPr lang="en-US" altLang="zh-CN" b="1" dirty="0">
                <a:latin typeface="宋体" pitchFamily="2" charset="-122"/>
              </a:rPr>
              <a:t>βα</a:t>
            </a:r>
            <a:r>
              <a:rPr lang="en-US" altLang="zh-CN" b="1" baseline="-25000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，即只有</a:t>
            </a:r>
            <a:r>
              <a:rPr lang="en-US" altLang="zh-CN" b="1" dirty="0">
                <a:latin typeface="宋体" pitchFamily="2" charset="-122"/>
              </a:rPr>
              <a:t>A</a:t>
            </a:r>
            <a:r>
              <a:rPr lang="zh-CN" altLang="en-US" b="1" dirty="0">
                <a:latin typeface="宋体" pitchFamily="2" charset="-122"/>
              </a:rPr>
              <a:t>出现在</a:t>
            </a:r>
            <a:r>
              <a:rPr lang="en-US" altLang="zh-CN" b="1" dirty="0">
                <a:latin typeface="宋体" pitchFamily="2" charset="-122"/>
              </a:rPr>
              <a:t>α</a:t>
            </a:r>
            <a:r>
              <a:rPr lang="en-US" altLang="zh-CN" b="1" baseline="-25000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和</a:t>
            </a:r>
            <a:r>
              <a:rPr lang="en-US" altLang="zh-CN" b="1" dirty="0">
                <a:latin typeface="宋体" pitchFamily="2" charset="-122"/>
              </a:rPr>
              <a:t>α</a:t>
            </a:r>
            <a:r>
              <a:rPr lang="en-US" altLang="zh-CN" b="1" baseline="-25000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的上下文中时，才允许</a:t>
            </a:r>
            <a:r>
              <a:rPr lang="en-US" altLang="zh-CN" b="1" dirty="0">
                <a:latin typeface="宋体" pitchFamily="2" charset="-122"/>
              </a:rPr>
              <a:t>β</a:t>
            </a:r>
            <a:r>
              <a:rPr lang="zh-CN" altLang="en-US" b="1" dirty="0">
                <a:latin typeface="宋体" pitchFamily="2" charset="-122"/>
              </a:rPr>
              <a:t>取代</a:t>
            </a:r>
            <a:r>
              <a:rPr lang="en-US" altLang="zh-CN" b="1" dirty="0">
                <a:latin typeface="宋体" pitchFamily="2" charset="-122"/>
              </a:rPr>
              <a:t>A</a:t>
            </a:r>
            <a:r>
              <a:rPr lang="zh-CN" altLang="en-US" b="1" dirty="0">
                <a:latin typeface="宋体" pitchFamily="2" charset="-122"/>
              </a:rPr>
              <a:t>。其识别系统是线性界限自动机。</a:t>
            </a:r>
            <a:endParaRPr lang="zh-CN" altLang="en-US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55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charRg st="55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/>
        </p:nvSpPr>
        <p:spPr>
          <a:xfrm>
            <a:off x="762000" y="1905000"/>
            <a:ext cx="7543800" cy="457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1507" name="Line 3"/>
          <p:cNvSpPr/>
          <p:nvPr/>
        </p:nvSpPr>
        <p:spPr>
          <a:xfrm>
            <a:off x="12192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8" name="Line 4"/>
          <p:cNvSpPr/>
          <p:nvPr/>
        </p:nvSpPr>
        <p:spPr>
          <a:xfrm>
            <a:off x="16764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9" name="Line 5"/>
          <p:cNvSpPr/>
          <p:nvPr/>
        </p:nvSpPr>
        <p:spPr>
          <a:xfrm>
            <a:off x="21336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0" name="Line 6"/>
          <p:cNvSpPr/>
          <p:nvPr/>
        </p:nvSpPr>
        <p:spPr>
          <a:xfrm>
            <a:off x="25908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7"/>
          <p:cNvSpPr/>
          <p:nvPr/>
        </p:nvSpPr>
        <p:spPr>
          <a:xfrm>
            <a:off x="63246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8"/>
          <p:cNvSpPr/>
          <p:nvPr/>
        </p:nvSpPr>
        <p:spPr>
          <a:xfrm>
            <a:off x="57912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3" name="Line 9"/>
          <p:cNvSpPr/>
          <p:nvPr/>
        </p:nvSpPr>
        <p:spPr>
          <a:xfrm>
            <a:off x="53340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4" name="Line 10"/>
          <p:cNvSpPr/>
          <p:nvPr/>
        </p:nvSpPr>
        <p:spPr>
          <a:xfrm>
            <a:off x="48768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5" name="Line 11"/>
          <p:cNvSpPr/>
          <p:nvPr/>
        </p:nvSpPr>
        <p:spPr>
          <a:xfrm>
            <a:off x="44196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6" name="Line 12"/>
          <p:cNvSpPr/>
          <p:nvPr/>
        </p:nvSpPr>
        <p:spPr>
          <a:xfrm>
            <a:off x="39624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7" name="Line 13"/>
          <p:cNvSpPr/>
          <p:nvPr/>
        </p:nvSpPr>
        <p:spPr>
          <a:xfrm>
            <a:off x="35052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8" name="Line 14"/>
          <p:cNvSpPr/>
          <p:nvPr/>
        </p:nvSpPr>
        <p:spPr>
          <a:xfrm>
            <a:off x="3048000" y="1905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9" name="Text Box 15"/>
          <p:cNvSpPr txBox="1"/>
          <p:nvPr/>
        </p:nvSpPr>
        <p:spPr>
          <a:xfrm>
            <a:off x="0" y="1905000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 </a:t>
            </a:r>
            <a:r>
              <a:rPr lang="zh-CN" altLang="en-US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带  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0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  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1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   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2  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3 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4 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5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6 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7 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8    … 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n-1  </a:t>
            </a: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b="1" baseline="-25000" dirty="0">
                <a:solidFill>
                  <a:srgbClr val="007A77"/>
                </a:solidFill>
                <a:latin typeface="Times New Roman" panose="02020503050405090304" pitchFamily="18" charset="0"/>
              </a:rPr>
              <a:t>n </a:t>
            </a:r>
            <a:endParaRPr lang="en-US" altLang="zh-CN" sz="2400" b="1" baseline="-25000" dirty="0">
              <a:solidFill>
                <a:srgbClr val="007A77"/>
              </a:solidFill>
              <a:latin typeface="Times New Roman" panose="02020503050405090304" pitchFamily="18" charset="0"/>
            </a:endParaRPr>
          </a:p>
        </p:txBody>
      </p:sp>
      <p:sp>
        <p:nvSpPr>
          <p:cNvPr id="21520" name="Rectangle 16"/>
          <p:cNvSpPr/>
          <p:nvPr/>
        </p:nvSpPr>
        <p:spPr>
          <a:xfrm>
            <a:off x="2514600" y="4038600"/>
            <a:ext cx="2438400" cy="685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1521" name="Text Box 17"/>
          <p:cNvSpPr txBox="1"/>
          <p:nvPr/>
        </p:nvSpPr>
        <p:spPr>
          <a:xfrm>
            <a:off x="2590800" y="4191000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   </a:t>
            </a:r>
            <a:r>
              <a:rPr lang="zh-CN" altLang="en-US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有限控制器</a:t>
            </a:r>
            <a:endParaRPr lang="zh-CN" altLang="en-US" sz="2400" b="1" dirty="0">
              <a:solidFill>
                <a:srgbClr val="007A77"/>
              </a:solidFill>
              <a:latin typeface="Times New Roman" panose="02020503050405090304" pitchFamily="18" charset="0"/>
            </a:endParaRPr>
          </a:p>
        </p:txBody>
      </p:sp>
      <p:sp>
        <p:nvSpPr>
          <p:cNvPr id="21522" name="Line 18"/>
          <p:cNvSpPr/>
          <p:nvPr/>
        </p:nvSpPr>
        <p:spPr>
          <a:xfrm flipH="1">
            <a:off x="3200400" y="2514600"/>
            <a:ext cx="4572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3" name="Line 19"/>
          <p:cNvSpPr/>
          <p:nvPr/>
        </p:nvSpPr>
        <p:spPr>
          <a:xfrm>
            <a:off x="3657600" y="2514600"/>
            <a:ext cx="533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4" name="Line 20"/>
          <p:cNvSpPr/>
          <p:nvPr/>
        </p:nvSpPr>
        <p:spPr>
          <a:xfrm>
            <a:off x="3200400" y="28194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5" name="Line 21"/>
          <p:cNvSpPr/>
          <p:nvPr/>
        </p:nvSpPr>
        <p:spPr>
          <a:xfrm>
            <a:off x="4191000" y="28194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6" name="Line 22"/>
          <p:cNvSpPr/>
          <p:nvPr/>
        </p:nvSpPr>
        <p:spPr>
          <a:xfrm>
            <a:off x="3200400" y="32766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7" name="Line 23"/>
          <p:cNvSpPr/>
          <p:nvPr/>
        </p:nvSpPr>
        <p:spPr>
          <a:xfrm>
            <a:off x="3810000" y="32766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8" name="Line 24"/>
          <p:cNvSpPr/>
          <p:nvPr/>
        </p:nvSpPr>
        <p:spPr>
          <a:xfrm>
            <a:off x="3581400" y="3276600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29" name="Line 25"/>
          <p:cNvSpPr/>
          <p:nvPr/>
        </p:nvSpPr>
        <p:spPr>
          <a:xfrm>
            <a:off x="3810000" y="3276600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30" name="Text Box 26"/>
          <p:cNvSpPr txBox="1"/>
          <p:nvPr/>
        </p:nvSpPr>
        <p:spPr>
          <a:xfrm>
            <a:off x="3276600" y="28194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磁头</a:t>
            </a:r>
            <a:endParaRPr lang="zh-CN" altLang="en-US" sz="2400" b="1" dirty="0">
              <a:solidFill>
                <a:srgbClr val="007A77"/>
              </a:solidFill>
              <a:latin typeface="Times New Roman" panose="02020503050405090304" pitchFamily="18" charset="0"/>
            </a:endParaRPr>
          </a:p>
        </p:txBody>
      </p:sp>
      <p:sp>
        <p:nvSpPr>
          <p:cNvPr id="21531" name="Text Box 27"/>
          <p:cNvSpPr txBox="1"/>
          <p:nvPr/>
        </p:nvSpPr>
        <p:spPr>
          <a:xfrm>
            <a:off x="762000" y="533400"/>
            <a:ext cx="7543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7A77"/>
                </a:solidFill>
                <a:latin typeface="Times New Roman" panose="02020503050405090304" pitchFamily="18" charset="0"/>
              </a:rPr>
              <a:t>任何能用图灵机描述的计算都能机械实现，任何能在现代计算机上实现的计算都能用图灵机描述</a:t>
            </a:r>
            <a:endParaRPr lang="zh-CN" altLang="en-US" sz="2400" b="1" dirty="0">
              <a:solidFill>
                <a:srgbClr val="007A77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b="1" dirty="0"/>
          </a:p>
        </p:txBody>
      </p:sp>
      <p:sp>
        <p:nvSpPr>
          <p:cNvPr id="172035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/>
              <a:t>  2</a:t>
            </a:r>
            <a:r>
              <a:rPr lang="zh-CN" altLang="en-US" b="1" dirty="0"/>
              <a:t>型文法（上下文无关文法</a:t>
            </a:r>
            <a:r>
              <a:rPr lang="en-US" altLang="zh-CN" b="1" dirty="0"/>
              <a:t>CFG</a:t>
            </a:r>
            <a:r>
              <a:rPr lang="zh-CN" altLang="en-US" b="1" dirty="0"/>
              <a:t>）：产生式的形式为</a:t>
            </a:r>
            <a:r>
              <a:rPr lang="en-US" altLang="zh-CN" b="1" dirty="0">
                <a:latin typeface="宋体" pitchFamily="2" charset="-122"/>
              </a:rPr>
              <a:t>A→β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dirty="0">
                <a:latin typeface="宋体" pitchFamily="2" charset="-122"/>
              </a:rPr>
              <a:t>β</a:t>
            </a:r>
            <a:r>
              <a:rPr lang="zh-CN" altLang="en-US" b="1" dirty="0">
                <a:latin typeface="宋体" pitchFamily="2" charset="-122"/>
              </a:rPr>
              <a:t>取代</a:t>
            </a:r>
            <a:r>
              <a:rPr lang="en-US" altLang="zh-CN" b="1" dirty="0">
                <a:latin typeface="宋体" pitchFamily="2" charset="-122"/>
              </a:rPr>
              <a:t>A</a:t>
            </a:r>
            <a:r>
              <a:rPr lang="zh-CN" altLang="en-US" b="1" dirty="0">
                <a:latin typeface="宋体" pitchFamily="2" charset="-122"/>
              </a:rPr>
              <a:t>时与</a:t>
            </a:r>
            <a:r>
              <a:rPr lang="en-US" altLang="zh-CN" b="1" dirty="0">
                <a:latin typeface="宋体" pitchFamily="2" charset="-122"/>
              </a:rPr>
              <a:t>A</a:t>
            </a:r>
            <a:r>
              <a:rPr lang="zh-CN" altLang="en-US" b="1" dirty="0">
                <a:latin typeface="宋体" pitchFamily="2" charset="-122"/>
              </a:rPr>
              <a:t>的上下文无关。其识别系统是不确定的下推自动机。</a:t>
            </a:r>
            <a:endParaRPr lang="zh-CN" altLang="en-US" b="1" dirty="0">
              <a:latin typeface="宋体" pitchFamily="2" charset="-122"/>
            </a:endParaRPr>
          </a:p>
          <a:p>
            <a:pPr eaLnBrk="1" hangingPunct="1"/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</a:t>
            </a:r>
            <a:r>
              <a:rPr lang="en-US" altLang="zh-CN" b="1" dirty="0"/>
              <a:t>3</a:t>
            </a:r>
            <a:r>
              <a:rPr lang="zh-CN" altLang="en-US" b="1" dirty="0"/>
              <a:t>型文法（正规文法</a:t>
            </a:r>
            <a:r>
              <a:rPr lang="en-US" altLang="zh-CN" b="1" dirty="0"/>
              <a:t>RG</a:t>
            </a:r>
            <a:r>
              <a:rPr lang="zh-CN" altLang="en-US" b="1" dirty="0"/>
              <a:t>）：产生的语言是有穷自动机（</a:t>
            </a:r>
            <a:r>
              <a:rPr lang="en-US" altLang="zh-CN" b="1" dirty="0"/>
              <a:t>FA</a:t>
            </a:r>
            <a:r>
              <a:rPr lang="zh-CN" altLang="en-US" b="1" dirty="0"/>
              <a:t>）所接受的集合</a:t>
            </a:r>
            <a:endParaRPr lang="zh-CN" altLang="en-US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charRg st="6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charRg st="62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练习：</a:t>
            </a:r>
            <a:endParaRPr lang="zh-CN" altLang="en-US" dirty="0"/>
          </a:p>
        </p:txBody>
      </p:sp>
      <p:sp>
        <p:nvSpPr>
          <p:cNvPr id="23555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None/>
            </a:pPr>
            <a:r>
              <a:rPr lang="zh-CN" altLang="en-US" dirty="0"/>
              <a:t>以下文法描述的语言是什么？</a:t>
            </a:r>
            <a:endParaRPr lang="zh-CN" altLang="en-US" dirty="0"/>
          </a:p>
          <a:p>
            <a:pPr marL="609600" indent="-609600" eaLnBrk="1" hangingPunct="1">
              <a:buNone/>
            </a:pPr>
            <a:r>
              <a:rPr lang="zh-CN" altLang="en-US" dirty="0"/>
              <a:t>   属于那类文法？</a:t>
            </a:r>
            <a:endParaRPr lang="zh-CN" altLang="en-US" dirty="0"/>
          </a:p>
          <a:p>
            <a:pPr marL="609600" indent="-609600" eaLnBrk="1" hangingPunct="1"/>
            <a:r>
              <a:rPr lang="en-US" altLang="zh-CN" dirty="0"/>
              <a:t>G[S]:    S-&gt;Aa	      A-&gt;bA|a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G[S]:    S-&gt;aSBC|abC	   CB-&gt;BC</a:t>
            </a:r>
            <a:endParaRPr lang="en-US" altLang="zh-CN" dirty="0"/>
          </a:p>
          <a:p>
            <a:pPr marL="609600" indent="-609600" eaLnBrk="1" hangingPunct="1">
              <a:buNone/>
            </a:pPr>
            <a:r>
              <a:rPr lang="en-US" altLang="zh-CN" dirty="0"/>
              <a:t>                bB-&gt;bb         bC-&gt;bc</a:t>
            </a:r>
            <a:endParaRPr lang="en-US" altLang="zh-CN" dirty="0"/>
          </a:p>
          <a:p>
            <a:pPr marL="609600" indent="-609600" eaLnBrk="1" hangingPunct="1">
              <a:buNone/>
            </a:pPr>
            <a:r>
              <a:rPr lang="en-US" altLang="zh-CN" dirty="0"/>
              <a:t>                cC-&gt;cc</a:t>
            </a:r>
            <a:endParaRPr lang="en-US" altLang="zh-CN" dirty="0"/>
          </a:p>
          <a:p>
            <a:pPr marL="609600" indent="-609600" eaLnBrk="1" hangingPunct="1">
              <a:buNone/>
            </a:pPr>
            <a:r>
              <a:rPr lang="en-US" altLang="zh-CN" dirty="0"/>
              <a:t>               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4454" name="Group 6"/>
          <p:cNvGrpSpPr/>
          <p:nvPr/>
        </p:nvGrpSpPr>
        <p:grpSpPr>
          <a:xfrm>
            <a:off x="539750" y="765175"/>
            <a:ext cx="7559675" cy="2233613"/>
            <a:chOff x="340" y="1207"/>
            <a:chExt cx="4762" cy="1407"/>
          </a:xfrm>
        </p:grpSpPr>
        <p:pic>
          <p:nvPicPr>
            <p:cNvPr id="24581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0" y="1752"/>
              <a:ext cx="4672" cy="8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2" name="Text Box 4"/>
            <p:cNvSpPr txBox="1"/>
            <p:nvPr/>
          </p:nvSpPr>
          <p:spPr>
            <a:xfrm>
              <a:off x="385" y="1207"/>
              <a:ext cx="4717" cy="12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8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方正姚体" pitchFamily="2" charset="-122"/>
                  <a:ea typeface="方正姚体" pitchFamily="2" charset="-122"/>
                </a:rPr>
                <a:t>3</a:t>
              </a:r>
              <a:r>
                <a:rPr lang="zh-CN" altLang="en-US" sz="2400" b="1" dirty="0">
                  <a:solidFill>
                    <a:srgbClr val="006600"/>
                  </a:solidFill>
                  <a:latin typeface="方正姚体" pitchFamily="2" charset="-122"/>
                  <a:ea typeface="方正姚体" pitchFamily="2" charset="-122"/>
                </a:rPr>
                <a:t>、上下文无关文法的特点：</a:t>
              </a:r>
              <a:endParaRPr lang="zh-CN" altLang="en-US" sz="2400" b="1" dirty="0">
                <a:solidFill>
                  <a:srgbClr val="006600"/>
                </a:solidFill>
                <a:latin typeface="方正姚体" pitchFamily="2" charset="-122"/>
                <a:ea typeface="方正姚体" pitchFamily="2" charset="-122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8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	它所定义的语法范畴（或语法单位）是完全独立于这种范畴可能出现的环境的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  <p:sp>
        <p:nvSpPr>
          <p:cNvPr id="24579" name="WordArt 7" descr="白色大理石"/>
          <p:cNvSpPr>
            <a:spLocks noTextEdit="1"/>
          </p:cNvSpPr>
          <p:nvPr/>
        </p:nvSpPr>
        <p:spPr>
          <a:xfrm>
            <a:off x="684213" y="3476625"/>
            <a:ext cx="9144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zh-CN" altLang="en-US" sz="3600" b="1">
                <a:blipFill rotWithShape="1">
                  <a:blip r:embed="rId2"/>
                </a:blipFill>
                <a:latin typeface="宋体" charset="0"/>
                <a:ea typeface="宋体" charset="0"/>
              </a:rPr>
              <a:t>说明</a:t>
            </a:r>
            <a:endParaRPr lang="zh-CN" altLang="en-US" sz="3600" b="1">
              <a:blipFill rotWithShape="1">
                <a:blip r:embed="rId2"/>
              </a:blipFill>
              <a:latin typeface="宋体" charset="0"/>
              <a:ea typeface="宋体" charset="0"/>
            </a:endParaRPr>
          </a:p>
        </p:txBody>
      </p:sp>
      <p:sp>
        <p:nvSpPr>
          <p:cNvPr id="104456" name="Text Box 8"/>
          <p:cNvSpPr txBox="1"/>
          <p:nvPr/>
        </p:nvSpPr>
        <p:spPr>
          <a:xfrm>
            <a:off x="1042988" y="4364038"/>
            <a:ext cx="6913562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上下文无关文法只能描述一部分语言，但已足够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    描述现今的程序设计语言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自然语言要用其他的文法来描述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2" name="Text Box 4"/>
          <p:cNvSpPr txBox="1"/>
          <p:nvPr/>
        </p:nvSpPr>
        <p:spPr>
          <a:xfrm>
            <a:off x="611188" y="762000"/>
            <a:ext cx="70564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三、语法树与二义性</a:t>
            </a:r>
            <a:endParaRPr lang="zh-CN" altLang="en-US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9105" name="Text Box 17"/>
          <p:cNvSpPr txBox="1"/>
          <p:nvPr/>
        </p:nvSpPr>
        <p:spPr>
          <a:xfrm>
            <a:off x="755650" y="1628775"/>
            <a:ext cx="7200900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0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30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、语法树</a:t>
            </a:r>
            <a:endParaRPr lang="zh-CN" altLang="en-US" sz="30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89112" name="Group 24"/>
          <p:cNvGrpSpPr/>
          <p:nvPr/>
        </p:nvGrpSpPr>
        <p:grpSpPr>
          <a:xfrm>
            <a:off x="611188" y="2349500"/>
            <a:ext cx="8208962" cy="3716338"/>
            <a:chOff x="249" y="1525"/>
            <a:chExt cx="5171" cy="2341"/>
          </a:xfrm>
        </p:grpSpPr>
        <p:pic>
          <p:nvPicPr>
            <p:cNvPr id="25605" name="Pictur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9" y="1525"/>
              <a:ext cx="5171" cy="23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06" name="Text Box 5"/>
            <p:cNvSpPr txBox="1"/>
            <p:nvPr/>
          </p:nvSpPr>
          <p:spPr>
            <a:xfrm>
              <a:off x="430" y="2478"/>
              <a:ext cx="4899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solidFill>
                    <a:srgbClr val="660033"/>
                  </a:solidFill>
                  <a:latin typeface="方正姚体" pitchFamily="2" charset="-122"/>
                  <a:ea typeface="方正姚体" pitchFamily="2" charset="-122"/>
                </a:rPr>
                <a:t>定义：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句型推导的图形表示，它与替换顺序的选取无关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5607" name="Text Box 6"/>
            <p:cNvSpPr txBox="1"/>
            <p:nvPr/>
          </p:nvSpPr>
          <p:spPr>
            <a:xfrm>
              <a:off x="431" y="3004"/>
              <a:ext cx="4762" cy="6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solidFill>
                    <a:srgbClr val="660033"/>
                  </a:solidFill>
                  <a:latin typeface="方正姚体" pitchFamily="2" charset="-122"/>
                  <a:ea typeface="方正姚体" pitchFamily="2" charset="-122"/>
                </a:rPr>
                <a:t>作用：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明显的形成文法所暗含的句子分层语法结构，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	 为语法分析提供一些新的途径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5608" name="Text Box 18"/>
            <p:cNvSpPr txBox="1"/>
            <p:nvPr/>
          </p:nvSpPr>
          <p:spPr>
            <a:xfrm>
              <a:off x="431" y="1661"/>
              <a:ext cx="4944" cy="6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solidFill>
                    <a:srgbClr val="660033"/>
                  </a:solidFill>
                  <a:latin typeface="方正姚体" pitchFamily="2" charset="-122"/>
                  <a:ea typeface="方正姚体" pitchFamily="2" charset="-122"/>
                </a:rPr>
                <a:t>目的：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为了理解句子的语法，得到句子如何从开始符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	 号推导得到，因此引入</a:t>
              </a:r>
              <a:r>
                <a:rPr lang="zh-CN" altLang="en-US" sz="2400" b="1" dirty="0">
                  <a:solidFill>
                    <a:srgbClr val="660033"/>
                  </a:solidFill>
                  <a:latin typeface="宋体" pitchFamily="2" charset="-122"/>
                  <a:ea typeface="华文新魏" pitchFamily="2" charset="-122"/>
                </a:rPr>
                <a:t>“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图</a:t>
              </a:r>
              <a:r>
                <a:rPr lang="zh-CN" altLang="en-US" sz="2400" b="1" dirty="0">
                  <a:solidFill>
                    <a:srgbClr val="660033"/>
                  </a:solidFill>
                  <a:latin typeface="宋体" pitchFamily="2" charset="-122"/>
                  <a:ea typeface="华文新魏" pitchFamily="2" charset="-122"/>
                </a:rPr>
                <a:t>”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89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/>
      <p:bldP spid="891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2" name="Text Box 4"/>
          <p:cNvSpPr txBox="1"/>
          <p:nvPr/>
        </p:nvSpPr>
        <p:spPr>
          <a:xfrm>
            <a:off x="539750" y="4149725"/>
            <a:ext cx="7559675" cy="1646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6600"/>
                </a:solidFill>
                <a:latin typeface="方正姚体" pitchFamily="2" charset="-122"/>
                <a:ea typeface="方正姚体" pitchFamily="2" charset="-122"/>
              </a:rPr>
              <a:t>树的叶：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非终结符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|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终结符，对应一个句型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语法树为语法分析提供一些新的途径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4213" name="Text Box 5"/>
          <p:cNvSpPr txBox="1"/>
          <p:nvPr/>
        </p:nvSpPr>
        <p:spPr>
          <a:xfrm>
            <a:off x="611188" y="836613"/>
            <a:ext cx="7559675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6600"/>
                </a:solidFill>
                <a:latin typeface="方正姚体" pitchFamily="2" charset="-122"/>
                <a:ea typeface="方正姚体" pitchFamily="2" charset="-122"/>
              </a:rPr>
              <a:t>树的内节点：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非终结符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标记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	若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A -&gt;</a:t>
            </a:r>
            <a:r>
              <a:rPr lang="el-GR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α</a:t>
            </a:r>
            <a:r>
              <a:rPr lang="zh-CN" altLang="el-GR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，则该产生式的一棵子树为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94214" name="Group 6"/>
          <p:cNvGrpSpPr/>
          <p:nvPr/>
        </p:nvGrpSpPr>
        <p:grpSpPr>
          <a:xfrm>
            <a:off x="2916238" y="2205038"/>
            <a:ext cx="2016125" cy="1223962"/>
            <a:chOff x="1111" y="3022"/>
            <a:chExt cx="1270" cy="771"/>
          </a:xfrm>
        </p:grpSpPr>
        <p:sp>
          <p:nvSpPr>
            <p:cNvPr id="26629" name="Oval 7"/>
            <p:cNvSpPr/>
            <p:nvPr/>
          </p:nvSpPr>
          <p:spPr>
            <a:xfrm>
              <a:off x="1610" y="3022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A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6630" name="Oval 8"/>
            <p:cNvSpPr/>
            <p:nvPr/>
          </p:nvSpPr>
          <p:spPr>
            <a:xfrm>
              <a:off x="1111" y="3521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X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6631" name="Oval 9"/>
            <p:cNvSpPr/>
            <p:nvPr/>
          </p:nvSpPr>
          <p:spPr>
            <a:xfrm>
              <a:off x="1610" y="3521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Y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6632" name="Oval 10"/>
            <p:cNvSpPr/>
            <p:nvPr/>
          </p:nvSpPr>
          <p:spPr>
            <a:xfrm>
              <a:off x="2109" y="3521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Z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6633" name="Line 11"/>
            <p:cNvSpPr/>
            <p:nvPr/>
          </p:nvSpPr>
          <p:spPr>
            <a:xfrm flipH="1">
              <a:off x="1292" y="3249"/>
              <a:ext cx="318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Line 12"/>
            <p:cNvSpPr/>
            <p:nvPr/>
          </p:nvSpPr>
          <p:spPr>
            <a:xfrm>
              <a:off x="1746" y="329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5" name="Line 13"/>
            <p:cNvSpPr/>
            <p:nvPr/>
          </p:nvSpPr>
          <p:spPr>
            <a:xfrm>
              <a:off x="1882" y="3249"/>
              <a:ext cx="318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421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4212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8" name="Text Box 4"/>
          <p:cNvSpPr txBox="1"/>
          <p:nvPr/>
        </p:nvSpPr>
        <p:spPr>
          <a:xfrm>
            <a:off x="611188" y="965200"/>
            <a:ext cx="7200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在语法树中找出文法中的概念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 useBgFill="1">
        <p:nvSpPr>
          <p:cNvPr id="98309" name="Text Box 5"/>
          <p:cNvSpPr txBox="1"/>
          <p:nvPr/>
        </p:nvSpPr>
        <p:spPr>
          <a:xfrm>
            <a:off x="1258888" y="1844675"/>
            <a:ext cx="6408737" cy="3195638"/>
          </a:xfrm>
          <a:prstGeom prst="rect">
            <a:avLst/>
          </a:prstGeom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内结点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A				V</a:t>
            </a:r>
            <a:r>
              <a:rPr lang="en-US" altLang="zh-CN" sz="2400" b="1" baseline="-25000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N</a:t>
            </a:r>
            <a:endParaRPr lang="en-US" altLang="zh-CN" sz="2400" b="1" baseline="-25000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叶					文法符号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子树					直接推导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根结点				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S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任一次全剪				句型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叶子∈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V</a:t>
            </a:r>
            <a:r>
              <a:rPr lang="en-US" altLang="zh-CN" sz="2400" b="1" baseline="-25000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T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时，将叶子顺序排列	句子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/>
      <p:bldP spid="9830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0178" name="Group 66"/>
          <p:cNvGrpSpPr/>
          <p:nvPr/>
        </p:nvGrpSpPr>
        <p:grpSpPr>
          <a:xfrm>
            <a:off x="684213" y="692150"/>
            <a:ext cx="7559675" cy="549275"/>
            <a:chOff x="431" y="436"/>
            <a:chExt cx="4762" cy="346"/>
          </a:xfrm>
        </p:grpSpPr>
        <p:sp>
          <p:nvSpPr>
            <p:cNvPr id="28713" name="Text Box 5"/>
            <p:cNvSpPr txBox="1"/>
            <p:nvPr/>
          </p:nvSpPr>
          <p:spPr>
            <a:xfrm>
              <a:off x="431" y="436"/>
              <a:ext cx="4762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0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例</a:t>
              </a:r>
              <a:r>
                <a:rPr lang="en-US" altLang="zh-CN" sz="30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3</a:t>
              </a:r>
              <a:r>
                <a:rPr lang="en-US" altLang="zh-CN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   E      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－</a:t>
              </a:r>
              <a:r>
                <a:rPr lang="en-US" altLang="zh-CN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( id + id )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的语法树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pic>
          <p:nvPicPr>
            <p:cNvPr id="28714" name="Picture 6" descr="公式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56" y="482"/>
              <a:ext cx="223" cy="22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0174" name="Group 62"/>
          <p:cNvGrpSpPr/>
          <p:nvPr/>
        </p:nvGrpSpPr>
        <p:grpSpPr>
          <a:xfrm>
            <a:off x="468313" y="1412875"/>
            <a:ext cx="7993062" cy="457200"/>
            <a:chOff x="295" y="890"/>
            <a:chExt cx="5035" cy="288"/>
          </a:xfrm>
        </p:grpSpPr>
        <p:sp>
          <p:nvSpPr>
            <p:cNvPr id="28707" name="Text Box 18"/>
            <p:cNvSpPr txBox="1"/>
            <p:nvPr/>
          </p:nvSpPr>
          <p:spPr>
            <a:xfrm>
              <a:off x="295" y="890"/>
              <a:ext cx="50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solidFill>
                    <a:srgbClr val="660033"/>
                  </a:solidFill>
                  <a:latin typeface="方正姚体" pitchFamily="2" charset="-122"/>
                  <a:ea typeface="方正姚体" pitchFamily="2" charset="-122"/>
                </a:rPr>
                <a:t>最左推导：</a:t>
              </a: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     - E      - ( E )     - (E+E)    -(id+E)   </a:t>
              </a:r>
              <a:r>
                <a:rPr lang="zh-CN" altLang="en-US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－</a:t>
              </a: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(id+id) 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graphicFrame>
          <p:nvGraphicFramePr>
            <p:cNvPr id="28708" name="Object 19"/>
            <p:cNvGraphicFramePr>
              <a:graphicFrameLocks noChangeAspect="1"/>
            </p:cNvGraphicFramePr>
            <p:nvPr/>
          </p:nvGraphicFramePr>
          <p:xfrm>
            <a:off x="1610" y="980"/>
            <a:ext cx="136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" name="" r:id="rId2" imgW="190500" imgH="152400" progId="Equation.3">
                    <p:embed/>
                  </p:oleObj>
                </mc:Choice>
                <mc:Fallback>
                  <p:oleObj name="" r:id="rId2" imgW="190500" imgH="1524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10" y="980"/>
                          <a:ext cx="136" cy="1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20"/>
            <p:cNvGraphicFramePr>
              <a:graphicFrameLocks noChangeAspect="1"/>
            </p:cNvGraphicFramePr>
            <p:nvPr/>
          </p:nvGraphicFramePr>
          <p:xfrm>
            <a:off x="2063" y="971"/>
            <a:ext cx="182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" name="" r:id="rId4" imgW="190500" imgH="152400" progId="Equation.3">
                    <p:embed/>
                  </p:oleObj>
                </mc:Choice>
                <mc:Fallback>
                  <p:oleObj name="" r:id="rId4" imgW="190500" imgH="152400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63" y="971"/>
                          <a:ext cx="182" cy="1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21"/>
            <p:cNvGraphicFramePr>
              <a:graphicFrameLocks noChangeAspect="1"/>
            </p:cNvGraphicFramePr>
            <p:nvPr/>
          </p:nvGraphicFramePr>
          <p:xfrm>
            <a:off x="2759" y="980"/>
            <a:ext cx="16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" name="" r:id="rId5" imgW="190500" imgH="152400" progId="Equation.3">
                    <p:embed/>
                  </p:oleObj>
                </mc:Choice>
                <mc:Fallback>
                  <p:oleObj name="" r:id="rId5" imgW="190500" imgH="15240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59" y="980"/>
                          <a:ext cx="166" cy="1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1" name="Object 22"/>
            <p:cNvGraphicFramePr>
              <a:graphicFrameLocks noChangeAspect="1"/>
            </p:cNvGraphicFramePr>
            <p:nvPr/>
          </p:nvGraphicFramePr>
          <p:xfrm>
            <a:off x="4303" y="980"/>
            <a:ext cx="165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6" imgW="190500" imgH="152400" progId="Equation.3">
                    <p:embed/>
                  </p:oleObj>
                </mc:Choice>
                <mc:Fallback>
                  <p:oleObj name="" r:id="rId6" imgW="190500" imgH="1524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303" y="980"/>
                          <a:ext cx="165" cy="1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2" name="Object 23"/>
            <p:cNvGraphicFramePr>
              <a:graphicFrameLocks noChangeAspect="1"/>
            </p:cNvGraphicFramePr>
            <p:nvPr/>
          </p:nvGraphicFramePr>
          <p:xfrm>
            <a:off x="3530" y="980"/>
            <a:ext cx="16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9" name="" r:id="rId7" imgW="190500" imgH="152400" progId="Equation.3">
                    <p:embed/>
                  </p:oleObj>
                </mc:Choice>
                <mc:Fallback>
                  <p:oleObj name="" r:id="rId7" imgW="190500" imgH="152400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530" y="980"/>
                          <a:ext cx="166" cy="1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173" name="Group 61"/>
          <p:cNvGrpSpPr/>
          <p:nvPr/>
        </p:nvGrpSpPr>
        <p:grpSpPr>
          <a:xfrm>
            <a:off x="468313" y="2060575"/>
            <a:ext cx="7993062" cy="457200"/>
            <a:chOff x="295" y="1298"/>
            <a:chExt cx="5035" cy="288"/>
          </a:xfrm>
        </p:grpSpPr>
        <p:sp>
          <p:nvSpPr>
            <p:cNvPr id="28701" name="Text Box 25"/>
            <p:cNvSpPr txBox="1"/>
            <p:nvPr/>
          </p:nvSpPr>
          <p:spPr>
            <a:xfrm>
              <a:off x="295" y="1298"/>
              <a:ext cx="50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solidFill>
                    <a:srgbClr val="660033"/>
                  </a:solidFill>
                  <a:latin typeface="方正姚体" pitchFamily="2" charset="-122"/>
                  <a:ea typeface="方正姚体" pitchFamily="2" charset="-122"/>
                </a:rPr>
                <a:t>最右推导：</a:t>
              </a: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     - E      - ( E )     - (E+E)    -(E+id)   </a:t>
              </a:r>
              <a:r>
                <a:rPr lang="zh-CN" altLang="en-US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－</a:t>
              </a: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(id+id)</a:t>
              </a:r>
              <a:r>
                <a:rPr lang="en-US" altLang="zh-CN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 </a:t>
              </a:r>
              <a:endPara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graphicFrame>
          <p:nvGraphicFramePr>
            <p:cNvPr id="28702" name="Object 26"/>
            <p:cNvGraphicFramePr>
              <a:graphicFrameLocks noChangeAspect="1"/>
            </p:cNvGraphicFramePr>
            <p:nvPr/>
          </p:nvGraphicFramePr>
          <p:xfrm>
            <a:off x="1610" y="1388"/>
            <a:ext cx="136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0" name="" r:id="rId8" imgW="190500" imgH="152400" progId="Equation.3">
                    <p:embed/>
                  </p:oleObj>
                </mc:Choice>
                <mc:Fallback>
                  <p:oleObj name="" r:id="rId8" imgW="190500" imgH="1524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10" y="1388"/>
                          <a:ext cx="136" cy="1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3" name="Object 27"/>
            <p:cNvGraphicFramePr>
              <a:graphicFrameLocks noChangeAspect="1"/>
            </p:cNvGraphicFramePr>
            <p:nvPr/>
          </p:nvGraphicFramePr>
          <p:xfrm>
            <a:off x="2063" y="1379"/>
            <a:ext cx="182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" r:id="rId9" imgW="190500" imgH="152400" progId="Equation.3">
                    <p:embed/>
                  </p:oleObj>
                </mc:Choice>
                <mc:Fallback>
                  <p:oleObj name="" r:id="rId9" imgW="190500" imgH="1524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63" y="1379"/>
                          <a:ext cx="182" cy="1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28"/>
            <p:cNvGraphicFramePr>
              <a:graphicFrameLocks noChangeAspect="1"/>
            </p:cNvGraphicFramePr>
            <p:nvPr/>
          </p:nvGraphicFramePr>
          <p:xfrm>
            <a:off x="2759" y="1388"/>
            <a:ext cx="16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" name="" r:id="rId10" imgW="190500" imgH="152400" progId="Equation.3">
                    <p:embed/>
                  </p:oleObj>
                </mc:Choice>
                <mc:Fallback>
                  <p:oleObj name="" r:id="rId10" imgW="190500" imgH="1524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59" y="1388"/>
                          <a:ext cx="166" cy="1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5" name="Object 29"/>
            <p:cNvGraphicFramePr>
              <a:graphicFrameLocks noChangeAspect="1"/>
            </p:cNvGraphicFramePr>
            <p:nvPr/>
          </p:nvGraphicFramePr>
          <p:xfrm>
            <a:off x="4303" y="1388"/>
            <a:ext cx="165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" name="" r:id="rId11" imgW="190500" imgH="152400" progId="Equation.3">
                    <p:embed/>
                  </p:oleObj>
                </mc:Choice>
                <mc:Fallback>
                  <p:oleObj name="" r:id="rId11" imgW="190500" imgH="1524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303" y="1388"/>
                          <a:ext cx="165" cy="1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30"/>
            <p:cNvGraphicFramePr>
              <a:graphicFrameLocks noChangeAspect="1"/>
            </p:cNvGraphicFramePr>
            <p:nvPr/>
          </p:nvGraphicFramePr>
          <p:xfrm>
            <a:off x="3530" y="1388"/>
            <a:ext cx="166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12" imgW="190500" imgH="152400" progId="Equation.3">
                    <p:embed/>
                  </p:oleObj>
                </mc:Choice>
                <mc:Fallback>
                  <p:oleObj name="" r:id="rId12" imgW="190500" imgH="1524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530" y="1388"/>
                          <a:ext cx="166" cy="1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172" name="Group 60"/>
          <p:cNvGrpSpPr/>
          <p:nvPr/>
        </p:nvGrpSpPr>
        <p:grpSpPr>
          <a:xfrm>
            <a:off x="3995738" y="2781300"/>
            <a:ext cx="2305050" cy="3529013"/>
            <a:chOff x="2018" y="2024"/>
            <a:chExt cx="1452" cy="2223"/>
          </a:xfrm>
        </p:grpSpPr>
        <p:sp>
          <p:nvSpPr>
            <p:cNvPr id="28679" name="Oval 33"/>
            <p:cNvSpPr/>
            <p:nvPr/>
          </p:nvSpPr>
          <p:spPr>
            <a:xfrm>
              <a:off x="2336" y="2024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8680" name="Oval 34"/>
            <p:cNvSpPr/>
            <p:nvPr/>
          </p:nvSpPr>
          <p:spPr>
            <a:xfrm>
              <a:off x="2018" y="2478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－</a:t>
              </a:r>
              <a:endParaRPr lang="zh-CN" altLang="en-US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28681" name="Line 37"/>
            <p:cNvSpPr/>
            <p:nvPr/>
          </p:nvSpPr>
          <p:spPr>
            <a:xfrm flipH="1">
              <a:off x="2154" y="2251"/>
              <a:ext cx="228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2" name="Line 38"/>
            <p:cNvSpPr/>
            <p:nvPr/>
          </p:nvSpPr>
          <p:spPr>
            <a:xfrm>
              <a:off x="2562" y="2251"/>
              <a:ext cx="273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8683" name="Group 59"/>
            <p:cNvGrpSpPr/>
            <p:nvPr/>
          </p:nvGrpSpPr>
          <p:grpSpPr>
            <a:xfrm>
              <a:off x="2200" y="2478"/>
              <a:ext cx="1270" cy="1769"/>
              <a:chOff x="2200" y="2478"/>
              <a:chExt cx="1270" cy="1769"/>
            </a:xfrm>
          </p:grpSpPr>
          <p:sp>
            <p:nvSpPr>
              <p:cNvPr id="28684" name="Line 46"/>
              <p:cNvSpPr/>
              <p:nvPr/>
            </p:nvSpPr>
            <p:spPr>
              <a:xfrm>
                <a:off x="2835" y="2750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5" name="Oval 35"/>
              <p:cNvSpPr/>
              <p:nvPr/>
            </p:nvSpPr>
            <p:spPr>
              <a:xfrm>
                <a:off x="2699" y="2478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E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86" name="Oval 36"/>
              <p:cNvSpPr/>
              <p:nvPr/>
            </p:nvSpPr>
            <p:spPr>
              <a:xfrm>
                <a:off x="3198" y="3975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id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87" name="Line 39"/>
              <p:cNvSpPr/>
              <p:nvPr/>
            </p:nvSpPr>
            <p:spPr>
              <a:xfrm>
                <a:off x="2336" y="3748"/>
                <a:ext cx="1" cy="22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88" name="Oval 41"/>
              <p:cNvSpPr/>
              <p:nvPr/>
            </p:nvSpPr>
            <p:spPr>
              <a:xfrm>
                <a:off x="2200" y="3974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id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89" name="Oval 42"/>
              <p:cNvSpPr/>
              <p:nvPr/>
            </p:nvSpPr>
            <p:spPr>
              <a:xfrm>
                <a:off x="2200" y="2977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(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90" name="Oval 43"/>
              <p:cNvSpPr/>
              <p:nvPr/>
            </p:nvSpPr>
            <p:spPr>
              <a:xfrm>
                <a:off x="2699" y="2977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E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91" name="Oval 44"/>
              <p:cNvSpPr/>
              <p:nvPr/>
            </p:nvSpPr>
            <p:spPr>
              <a:xfrm>
                <a:off x="3198" y="2977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)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92" name="Line 45"/>
              <p:cNvSpPr/>
              <p:nvPr/>
            </p:nvSpPr>
            <p:spPr>
              <a:xfrm flipH="1">
                <a:off x="2381" y="2705"/>
                <a:ext cx="318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3" name="Line 47"/>
              <p:cNvSpPr/>
              <p:nvPr/>
            </p:nvSpPr>
            <p:spPr>
              <a:xfrm>
                <a:off x="2971" y="2705"/>
                <a:ext cx="318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4" name="Oval 50"/>
              <p:cNvSpPr/>
              <p:nvPr/>
            </p:nvSpPr>
            <p:spPr>
              <a:xfrm>
                <a:off x="2200" y="3475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E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95" name="Oval 51"/>
              <p:cNvSpPr/>
              <p:nvPr/>
            </p:nvSpPr>
            <p:spPr>
              <a:xfrm>
                <a:off x="2699" y="3475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+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96" name="Oval 52"/>
              <p:cNvSpPr/>
              <p:nvPr/>
            </p:nvSpPr>
            <p:spPr>
              <a:xfrm>
                <a:off x="3198" y="3475"/>
                <a:ext cx="272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6600"/>
                    </a:solidFill>
                    <a:latin typeface="华文新魏" pitchFamily="2" charset="-122"/>
                    <a:ea typeface="华文新魏" pitchFamily="2" charset="-122"/>
                  </a:rPr>
                  <a:t>E</a:t>
                </a:r>
                <a:endPara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28697" name="Line 53"/>
              <p:cNvSpPr/>
              <p:nvPr/>
            </p:nvSpPr>
            <p:spPr>
              <a:xfrm flipH="1">
                <a:off x="2381" y="3203"/>
                <a:ext cx="318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8" name="Line 54"/>
              <p:cNvSpPr/>
              <p:nvPr/>
            </p:nvSpPr>
            <p:spPr>
              <a:xfrm>
                <a:off x="2835" y="3248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9" name="Line 55"/>
              <p:cNvSpPr/>
              <p:nvPr/>
            </p:nvSpPr>
            <p:spPr>
              <a:xfrm>
                <a:off x="2971" y="3203"/>
                <a:ext cx="318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0" name="Line 56"/>
              <p:cNvSpPr/>
              <p:nvPr/>
            </p:nvSpPr>
            <p:spPr>
              <a:xfrm>
                <a:off x="3334" y="3748"/>
                <a:ext cx="1" cy="22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90177" name="Text Box 65"/>
          <p:cNvSpPr txBox="1"/>
          <p:nvPr/>
        </p:nvSpPr>
        <p:spPr>
          <a:xfrm>
            <a:off x="1903413" y="3357563"/>
            <a:ext cx="581025" cy="2376487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语     法     树</a:t>
            </a:r>
            <a:endParaRPr lang="zh-CN" altLang="en-US" sz="26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9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9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9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0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0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7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4" name="Text Box 4"/>
          <p:cNvSpPr txBox="1"/>
          <p:nvPr/>
        </p:nvSpPr>
        <p:spPr>
          <a:xfrm>
            <a:off x="395288" y="749300"/>
            <a:ext cx="72723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由此可见，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92174" name="Group 14"/>
          <p:cNvGrpSpPr/>
          <p:nvPr/>
        </p:nvGrpSpPr>
        <p:grpSpPr>
          <a:xfrm>
            <a:off x="755650" y="1458913"/>
            <a:ext cx="7993063" cy="3554412"/>
            <a:chOff x="385" y="874"/>
            <a:chExt cx="5035" cy="2239"/>
          </a:xfrm>
        </p:grpSpPr>
        <p:pic>
          <p:nvPicPr>
            <p:cNvPr id="29701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890"/>
              <a:ext cx="5035" cy="222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2" name="Text Box 5"/>
            <p:cNvSpPr txBox="1"/>
            <p:nvPr/>
          </p:nvSpPr>
          <p:spPr>
            <a:xfrm>
              <a:off x="475" y="874"/>
              <a:ext cx="4718" cy="21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6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每一中间过程，句型很容易获得</a:t>
              </a:r>
              <a:endParaRPr lang="zh-CN" altLang="en-US" sz="26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6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树忽略了符号的替换顺序的不同，不同推导过程	得到相同的语法树</a:t>
              </a:r>
              <a:endParaRPr lang="zh-CN" altLang="en-US" sz="26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6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有的语法，对于同一句子、应用不同规则进行推	导得到不同的语法树</a:t>
              </a:r>
              <a:endParaRPr lang="zh-CN" altLang="en-US" sz="26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  <p:sp>
        <p:nvSpPr>
          <p:cNvPr id="92168" name="Text Box 8"/>
          <p:cNvSpPr txBox="1"/>
          <p:nvPr/>
        </p:nvSpPr>
        <p:spPr>
          <a:xfrm>
            <a:off x="684213" y="5445125"/>
            <a:ext cx="7704137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0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30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en-US" altLang="zh-CN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根据文法</a:t>
            </a:r>
            <a:r>
              <a:rPr lang="en-US" altLang="zh-CN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G</a:t>
            </a: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对句子</a:t>
            </a:r>
            <a:r>
              <a:rPr lang="en-US" altLang="zh-CN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id + id * id</a:t>
            </a: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进行推导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/>
      <p:bldP spid="921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6" name="Text Box 4"/>
          <p:cNvSpPr txBox="1"/>
          <p:nvPr/>
        </p:nvSpPr>
        <p:spPr>
          <a:xfrm>
            <a:off x="827088" y="765175"/>
            <a:ext cx="7632700" cy="429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①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文法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G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	E -&gt; E+E|E*E|( E )| i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②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推导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E =&gt; E+E =&gt; id+E =&gt; id+E*E =&gt; id+id*E 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=&gt; id+id*id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③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推导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2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E =&gt; E*E =&gt; E+E*E =&gt; id+E*E =&gt; id+id*E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=&gt; id+id*id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5237" name="Text Box 5"/>
          <p:cNvSpPr txBox="1"/>
          <p:nvPr/>
        </p:nvSpPr>
        <p:spPr>
          <a:xfrm>
            <a:off x="755650" y="5373688"/>
            <a:ext cx="7705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方正姚体" pitchFamily="2" charset="-122"/>
                <a:ea typeface="方正姚体" pitchFamily="2" charset="-122"/>
              </a:rPr>
              <a:t>②</a:t>
            </a:r>
            <a:r>
              <a:rPr lang="zh-CN" altLang="en-US" sz="2400" b="1" dirty="0">
                <a:solidFill>
                  <a:srgbClr val="006600"/>
                </a:solidFill>
                <a:latin typeface="方正姚体" pitchFamily="2" charset="-122"/>
                <a:ea typeface="方正姚体" pitchFamily="2" charset="-122"/>
              </a:rPr>
              <a:t>与 ③两种推导对应两棵不同的语法树，如下所示：</a:t>
            </a:r>
            <a:endParaRPr lang="zh-CN" altLang="en-US" sz="2400" b="1" dirty="0">
              <a:solidFill>
                <a:srgbClr val="006600"/>
              </a:solidFill>
              <a:latin typeface="方正姚体" pitchFamily="2" charset="-122"/>
              <a:ea typeface="方正姚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952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306" name="Text Box 50"/>
          <p:cNvSpPr txBox="1"/>
          <p:nvPr/>
        </p:nvSpPr>
        <p:spPr>
          <a:xfrm>
            <a:off x="971550" y="3860800"/>
            <a:ext cx="3240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推导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的语法树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6307" name="Text Box 51"/>
          <p:cNvSpPr txBox="1"/>
          <p:nvPr/>
        </p:nvSpPr>
        <p:spPr>
          <a:xfrm>
            <a:off x="5292725" y="3860800"/>
            <a:ext cx="3240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推导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的语法树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96314" name="Group 58"/>
          <p:cNvGrpSpPr/>
          <p:nvPr/>
        </p:nvGrpSpPr>
        <p:grpSpPr>
          <a:xfrm>
            <a:off x="898525" y="620713"/>
            <a:ext cx="2736850" cy="2879725"/>
            <a:chOff x="566" y="800"/>
            <a:chExt cx="1724" cy="1814"/>
          </a:xfrm>
        </p:grpSpPr>
        <p:sp>
          <p:nvSpPr>
            <p:cNvPr id="31775" name="Oval 5"/>
            <p:cNvSpPr/>
            <p:nvPr/>
          </p:nvSpPr>
          <p:spPr>
            <a:xfrm>
              <a:off x="1111" y="1798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76" name="Line 7"/>
            <p:cNvSpPr/>
            <p:nvPr/>
          </p:nvSpPr>
          <p:spPr>
            <a:xfrm flipH="1">
              <a:off x="1247" y="2070"/>
              <a:ext cx="2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7" name="Line 10"/>
            <p:cNvSpPr/>
            <p:nvPr/>
          </p:nvSpPr>
          <p:spPr>
            <a:xfrm>
              <a:off x="1700" y="1571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8" name="Oval 11"/>
            <p:cNvSpPr/>
            <p:nvPr/>
          </p:nvSpPr>
          <p:spPr>
            <a:xfrm>
              <a:off x="1564" y="1299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79" name="Oval 12"/>
            <p:cNvSpPr/>
            <p:nvPr/>
          </p:nvSpPr>
          <p:spPr>
            <a:xfrm>
              <a:off x="1564" y="1798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*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0" name="Line 13"/>
            <p:cNvSpPr/>
            <p:nvPr/>
          </p:nvSpPr>
          <p:spPr>
            <a:xfrm>
              <a:off x="702" y="1571"/>
              <a:ext cx="1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1" name="Oval 14"/>
            <p:cNvSpPr/>
            <p:nvPr/>
          </p:nvSpPr>
          <p:spPr>
            <a:xfrm>
              <a:off x="566" y="1797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2" name="Oval 15"/>
            <p:cNvSpPr/>
            <p:nvPr/>
          </p:nvSpPr>
          <p:spPr>
            <a:xfrm>
              <a:off x="1111" y="2342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3" name="Oval 16"/>
            <p:cNvSpPr/>
            <p:nvPr/>
          </p:nvSpPr>
          <p:spPr>
            <a:xfrm>
              <a:off x="1065" y="800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4" name="Oval 17"/>
            <p:cNvSpPr/>
            <p:nvPr/>
          </p:nvSpPr>
          <p:spPr>
            <a:xfrm>
              <a:off x="2018" y="2342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5" name="Line 18"/>
            <p:cNvSpPr/>
            <p:nvPr/>
          </p:nvSpPr>
          <p:spPr>
            <a:xfrm flipH="1">
              <a:off x="1246" y="1526"/>
              <a:ext cx="318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6" name="Line 19"/>
            <p:cNvSpPr/>
            <p:nvPr/>
          </p:nvSpPr>
          <p:spPr>
            <a:xfrm>
              <a:off x="1836" y="1526"/>
              <a:ext cx="318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7" name="Oval 20"/>
            <p:cNvSpPr/>
            <p:nvPr/>
          </p:nvSpPr>
          <p:spPr>
            <a:xfrm>
              <a:off x="566" y="1298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8" name="Oval 21"/>
            <p:cNvSpPr/>
            <p:nvPr/>
          </p:nvSpPr>
          <p:spPr>
            <a:xfrm>
              <a:off x="1065" y="1298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+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89" name="Oval 22"/>
            <p:cNvSpPr/>
            <p:nvPr/>
          </p:nvSpPr>
          <p:spPr>
            <a:xfrm>
              <a:off x="2018" y="1798"/>
              <a:ext cx="272" cy="2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90" name="Line 23"/>
            <p:cNvSpPr/>
            <p:nvPr/>
          </p:nvSpPr>
          <p:spPr>
            <a:xfrm flipH="1">
              <a:off x="747" y="1026"/>
              <a:ext cx="318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1" name="Line 24"/>
            <p:cNvSpPr/>
            <p:nvPr/>
          </p:nvSpPr>
          <p:spPr>
            <a:xfrm>
              <a:off x="1201" y="1071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2" name="Line 25"/>
            <p:cNvSpPr/>
            <p:nvPr/>
          </p:nvSpPr>
          <p:spPr>
            <a:xfrm>
              <a:off x="1337" y="1026"/>
              <a:ext cx="318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3" name="Line 26"/>
            <p:cNvSpPr/>
            <p:nvPr/>
          </p:nvSpPr>
          <p:spPr>
            <a:xfrm>
              <a:off x="1700" y="1571"/>
              <a:ext cx="1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4" name="Line 52"/>
            <p:cNvSpPr/>
            <p:nvPr/>
          </p:nvSpPr>
          <p:spPr>
            <a:xfrm flipH="1">
              <a:off x="2155" y="2070"/>
              <a:ext cx="2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49" name="组合 1"/>
          <p:cNvGrpSpPr/>
          <p:nvPr/>
        </p:nvGrpSpPr>
        <p:grpSpPr>
          <a:xfrm>
            <a:off x="5364163" y="633413"/>
            <a:ext cx="2809875" cy="2879725"/>
            <a:chOff x="4355976" y="620713"/>
            <a:chExt cx="2808412" cy="2879726"/>
          </a:xfrm>
        </p:grpSpPr>
        <p:sp>
          <p:nvSpPr>
            <p:cNvPr id="31756" name="Oval 29"/>
            <p:cNvSpPr/>
            <p:nvPr/>
          </p:nvSpPr>
          <p:spPr>
            <a:xfrm>
              <a:off x="5148139" y="2205039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+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57" name="Oval 35"/>
            <p:cNvSpPr/>
            <p:nvPr/>
          </p:nvSpPr>
          <p:spPr>
            <a:xfrm>
              <a:off x="4355976" y="3068639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58" name="Line 36"/>
            <p:cNvSpPr/>
            <p:nvPr/>
          </p:nvSpPr>
          <p:spPr>
            <a:xfrm>
              <a:off x="6946901" y="1846264"/>
              <a:ext cx="1587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9" name="Oval 37"/>
            <p:cNvSpPr/>
            <p:nvPr/>
          </p:nvSpPr>
          <p:spPr>
            <a:xfrm>
              <a:off x="6731001" y="2205039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0" name="Oval 38"/>
            <p:cNvSpPr/>
            <p:nvPr/>
          </p:nvSpPr>
          <p:spPr>
            <a:xfrm>
              <a:off x="4355976" y="2205039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1" name="Oval 39"/>
            <p:cNvSpPr/>
            <p:nvPr/>
          </p:nvSpPr>
          <p:spPr>
            <a:xfrm>
              <a:off x="5940425" y="620713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2" name="Oval 40"/>
            <p:cNvSpPr/>
            <p:nvPr/>
          </p:nvSpPr>
          <p:spPr>
            <a:xfrm>
              <a:off x="5940301" y="2205039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3" name="Line 41"/>
            <p:cNvSpPr/>
            <p:nvPr/>
          </p:nvSpPr>
          <p:spPr>
            <a:xfrm flipH="1">
              <a:off x="4643314" y="1773239"/>
              <a:ext cx="50482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4" name="Line 42"/>
            <p:cNvSpPr/>
            <p:nvPr/>
          </p:nvSpPr>
          <p:spPr>
            <a:xfrm>
              <a:off x="5579939" y="1773239"/>
              <a:ext cx="50482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5" name="Oval 43"/>
            <p:cNvSpPr/>
            <p:nvPr/>
          </p:nvSpPr>
          <p:spPr>
            <a:xfrm>
              <a:off x="5148263" y="1412876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6" name="Oval 44"/>
            <p:cNvSpPr/>
            <p:nvPr/>
          </p:nvSpPr>
          <p:spPr>
            <a:xfrm>
              <a:off x="5940425" y="1412876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*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7" name="Oval 45"/>
            <p:cNvSpPr/>
            <p:nvPr/>
          </p:nvSpPr>
          <p:spPr>
            <a:xfrm>
              <a:off x="6732588" y="1412876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31768" name="Line 46"/>
            <p:cNvSpPr/>
            <p:nvPr/>
          </p:nvSpPr>
          <p:spPr>
            <a:xfrm flipH="1">
              <a:off x="5435600" y="981076"/>
              <a:ext cx="50482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9" name="Line 47"/>
            <p:cNvSpPr/>
            <p:nvPr/>
          </p:nvSpPr>
          <p:spPr>
            <a:xfrm>
              <a:off x="6156325" y="1052513"/>
              <a:ext cx="0" cy="360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0" name="Line 48"/>
            <p:cNvSpPr/>
            <p:nvPr/>
          </p:nvSpPr>
          <p:spPr>
            <a:xfrm>
              <a:off x="6372225" y="981076"/>
              <a:ext cx="50482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1" name="Line 49"/>
            <p:cNvSpPr/>
            <p:nvPr/>
          </p:nvSpPr>
          <p:spPr>
            <a:xfrm>
              <a:off x="5364039" y="1846264"/>
              <a:ext cx="1587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2" name="Line 54"/>
            <p:cNvSpPr/>
            <p:nvPr/>
          </p:nvSpPr>
          <p:spPr>
            <a:xfrm flipH="1">
              <a:off x="4571876" y="2636839"/>
              <a:ext cx="317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3" name="Line 55"/>
            <p:cNvSpPr/>
            <p:nvPr/>
          </p:nvSpPr>
          <p:spPr>
            <a:xfrm flipH="1">
              <a:off x="6156201" y="2636839"/>
              <a:ext cx="317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4" name="Oval 56"/>
            <p:cNvSpPr/>
            <p:nvPr/>
          </p:nvSpPr>
          <p:spPr>
            <a:xfrm>
              <a:off x="5940301" y="3068639"/>
              <a:ext cx="431800" cy="4318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31750" name="Group 70"/>
          <p:cNvGrpSpPr/>
          <p:nvPr/>
        </p:nvGrpSpPr>
        <p:grpSpPr>
          <a:xfrm>
            <a:off x="539750" y="4508500"/>
            <a:ext cx="4176713" cy="1657350"/>
            <a:chOff x="340" y="2885"/>
            <a:chExt cx="2631" cy="1044"/>
          </a:xfrm>
        </p:grpSpPr>
        <p:pic>
          <p:nvPicPr>
            <p:cNvPr id="31754" name="Picture 6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0" y="2885"/>
              <a:ext cx="2495" cy="10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5" name="Text Box 59"/>
            <p:cNvSpPr txBox="1"/>
            <p:nvPr/>
          </p:nvSpPr>
          <p:spPr>
            <a:xfrm>
              <a:off x="385" y="2906"/>
              <a:ext cx="2586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 =&gt; E+E =&gt; id+E 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   =&gt; id+E*E =&gt; id+id*E 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   =&gt; id+id*id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31751" name="Group 69"/>
          <p:cNvGrpSpPr/>
          <p:nvPr/>
        </p:nvGrpSpPr>
        <p:grpSpPr>
          <a:xfrm>
            <a:off x="5003800" y="4508500"/>
            <a:ext cx="4176713" cy="1657350"/>
            <a:chOff x="3061" y="2885"/>
            <a:chExt cx="2631" cy="1044"/>
          </a:xfrm>
        </p:grpSpPr>
        <p:pic>
          <p:nvPicPr>
            <p:cNvPr id="31752" name="Picture 6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61" y="2885"/>
              <a:ext cx="2495" cy="10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3" name="Text Box 60"/>
            <p:cNvSpPr txBox="1"/>
            <p:nvPr/>
          </p:nvSpPr>
          <p:spPr>
            <a:xfrm>
              <a:off x="3106" y="2906"/>
              <a:ext cx="2586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E =&gt; E*E =&gt; E+E*E 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   =&gt; id+E*E =&gt; id+id*E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华文新魏" pitchFamily="2" charset="-122"/>
                  <a:ea typeface="华文新魏" pitchFamily="2" charset="-122"/>
                </a:rPr>
                <a:t>   =&gt; id+id*id</a:t>
              </a:r>
              <a:endParaRPr lang="en-US" altLang="zh-CN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6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6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6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6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6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06" grpId="0"/>
      <p:bldP spid="9630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8" name="Text Box 4"/>
          <p:cNvSpPr txBox="1"/>
          <p:nvPr/>
        </p:nvSpPr>
        <p:spPr>
          <a:xfrm>
            <a:off x="539750" y="1052513"/>
            <a:ext cx="79200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、二义性问题</a:t>
            </a:r>
            <a:endParaRPr lang="zh-CN" altLang="en-US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3189" name="Text Box 5"/>
          <p:cNvSpPr txBox="1"/>
          <p:nvPr/>
        </p:nvSpPr>
        <p:spPr>
          <a:xfrm>
            <a:off x="539750" y="1844675"/>
            <a:ext cx="79200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定义：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3190" name="Text Box 6"/>
          <p:cNvSpPr txBox="1"/>
          <p:nvPr/>
        </p:nvSpPr>
        <p:spPr>
          <a:xfrm>
            <a:off x="539750" y="2565400"/>
            <a:ext cx="82089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文法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G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的某一句子有两棵不同的树，则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G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为</a:t>
            </a:r>
            <a:r>
              <a:rPr lang="zh-CN" altLang="en-US" sz="24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二义的。</a:t>
            </a:r>
            <a:endParaRPr lang="zh-CN" altLang="en-US" sz="24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3191" name="Text Box 7"/>
          <p:cNvSpPr txBox="1"/>
          <p:nvPr/>
        </p:nvSpPr>
        <p:spPr>
          <a:xfrm>
            <a:off x="468313" y="3476625"/>
            <a:ext cx="79200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处理二义性对语法分析不便，因此希望：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3192" name="Text Box 8"/>
          <p:cNvSpPr txBox="1"/>
          <p:nvPr/>
        </p:nvSpPr>
        <p:spPr>
          <a:xfrm>
            <a:off x="539750" y="4295775"/>
            <a:ext cx="7920038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	1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）判定二义否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	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）控制充分条件，消除二义性</a:t>
            </a:r>
            <a:endParaRPr lang="zh-CN" altLang="en-US" sz="24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89" grpId="0"/>
      <p:bldP spid="93190" grpId="0"/>
      <p:bldP spid="93191" grpId="0"/>
      <p:bldP spid="9319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82" name="Text Box 6"/>
          <p:cNvSpPr txBox="1"/>
          <p:nvPr/>
        </p:nvSpPr>
        <p:spPr>
          <a:xfrm>
            <a:off x="539750" y="1052513"/>
            <a:ext cx="64087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解决办法：尽量去掉二义性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01392" name="Group 16"/>
          <p:cNvGrpSpPr/>
          <p:nvPr/>
        </p:nvGrpSpPr>
        <p:grpSpPr>
          <a:xfrm>
            <a:off x="828675" y="1844675"/>
            <a:ext cx="7775575" cy="3240088"/>
            <a:chOff x="431" y="1162"/>
            <a:chExt cx="4898" cy="2041"/>
          </a:xfrm>
        </p:grpSpPr>
        <p:pic>
          <p:nvPicPr>
            <p:cNvPr id="33796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1" y="1207"/>
              <a:ext cx="4898" cy="199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33797" name="Group 15"/>
            <p:cNvGrpSpPr/>
            <p:nvPr/>
          </p:nvGrpSpPr>
          <p:grpSpPr>
            <a:xfrm>
              <a:off x="565" y="1162"/>
              <a:ext cx="4721" cy="1951"/>
              <a:chOff x="565" y="1207"/>
              <a:chExt cx="4721" cy="1951"/>
            </a:xfrm>
          </p:grpSpPr>
          <p:sp>
            <p:nvSpPr>
              <p:cNvPr id="33798" name="Text Box 4"/>
              <p:cNvSpPr txBox="1"/>
              <p:nvPr/>
            </p:nvSpPr>
            <p:spPr>
              <a:xfrm>
                <a:off x="565" y="1207"/>
                <a:ext cx="4721" cy="7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50000"/>
                  </a:lnSpc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	①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如对上例，可以通过阐明运算符的优先性和结合性来解除文法的二义性</a:t>
                </a:r>
                <a:endPara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33799" name="Text Box 7"/>
              <p:cNvSpPr txBox="1"/>
              <p:nvPr/>
            </p:nvSpPr>
            <p:spPr>
              <a:xfrm>
                <a:off x="565" y="1950"/>
                <a:ext cx="4720" cy="1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50000"/>
                  </a:lnSpc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	②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通过重写一个文法，把结合性和优先规则结合进文法本身中去</a:t>
                </a:r>
                <a:endPara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endParaRPr>
              </a:p>
              <a:p>
                <a:pPr marL="0" lvl="0" indent="0" eaLnBrk="1" hangingPunct="1">
                  <a:lnSpc>
                    <a:spcPct val="150000"/>
                  </a:lnSpc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注意到，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L(G)=L(G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宋体" pitchFamily="2" charset="-122"/>
                    <a:ea typeface="华文新魏" pitchFamily="2" charset="-122"/>
                  </a:rPr>
                  <a:t>’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)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，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G≠G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宋体" pitchFamily="2" charset="-122"/>
                    <a:ea typeface="华文新魏" pitchFamily="2" charset="-122"/>
                  </a:rPr>
                  <a:t>’</a:t>
                </a:r>
                <a:endParaRPr lang="en-US" altLang="zh-CN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1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8" name="Text Box 4"/>
          <p:cNvSpPr txBox="1"/>
          <p:nvPr/>
        </p:nvSpPr>
        <p:spPr>
          <a:xfrm>
            <a:off x="900113" y="1052513"/>
            <a:ext cx="6696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语言的二义性问题与文法的二义性问题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 useBgFill="1">
        <p:nvSpPr>
          <p:cNvPr id="103429" name="Text Box 5"/>
          <p:cNvSpPr txBox="1"/>
          <p:nvPr/>
        </p:nvSpPr>
        <p:spPr>
          <a:xfrm>
            <a:off x="1547813" y="1773238"/>
            <a:ext cx="6985000" cy="3743325"/>
          </a:xfrm>
          <a:prstGeom prst="rect">
            <a:avLst/>
          </a:prstGeom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①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如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L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找到一个文法是无二义的，则</a:t>
            </a: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L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是无二义的；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②如未找到一个文法是无二义的，则也不能断定它	二义，但先天二义也存在；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③文法的二义性是不可判定的。    </a:t>
            </a:r>
            <a:b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（因为文法的二义性由句子的语法树决定，不可能对无穷句子来判别）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/>
      <p:bldP spid="1034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4" name="Text Box 4"/>
          <p:cNvSpPr txBox="1"/>
          <p:nvPr/>
        </p:nvSpPr>
        <p:spPr>
          <a:xfrm>
            <a:off x="431800" y="836613"/>
            <a:ext cx="8316913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最后，作为描述程序语言的上下文无关文法，</a:t>
            </a:r>
            <a:endParaRPr lang="zh-CN" altLang="en-US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我们限制：</a:t>
            </a:r>
            <a:endParaRPr lang="zh-CN" altLang="en-US" sz="28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02421" name="Group 21"/>
          <p:cNvGrpSpPr/>
          <p:nvPr/>
        </p:nvGrpSpPr>
        <p:grpSpPr>
          <a:xfrm>
            <a:off x="825500" y="2347913"/>
            <a:ext cx="7778750" cy="3168650"/>
            <a:chOff x="429" y="1434"/>
            <a:chExt cx="4900" cy="1996"/>
          </a:xfrm>
        </p:grpSpPr>
        <p:pic>
          <p:nvPicPr>
            <p:cNvPr id="35844" name="Picture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9" y="1434"/>
              <a:ext cx="4900" cy="199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45" name="Text Box 5"/>
            <p:cNvSpPr txBox="1"/>
            <p:nvPr/>
          </p:nvSpPr>
          <p:spPr>
            <a:xfrm>
              <a:off x="612" y="1525"/>
              <a:ext cx="2903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① G</a:t>
              </a: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不含下面的产生式</a:t>
              </a: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	</a:t>
              </a:r>
              <a:r>
                <a:rPr lang="en-US" altLang="zh-CN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rPr>
                <a:t>P-&gt;P</a:t>
              </a:r>
              <a:endPara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grpSp>
          <p:nvGrpSpPr>
            <p:cNvPr id="35846" name="Group 20"/>
            <p:cNvGrpSpPr/>
            <p:nvPr/>
          </p:nvGrpSpPr>
          <p:grpSpPr>
            <a:xfrm>
              <a:off x="567" y="2271"/>
              <a:ext cx="4762" cy="981"/>
              <a:chOff x="567" y="2271"/>
              <a:chExt cx="4762" cy="981"/>
            </a:xfrm>
          </p:grpSpPr>
          <p:sp>
            <p:nvSpPr>
              <p:cNvPr id="35847" name="Text Box 6"/>
              <p:cNvSpPr txBox="1"/>
              <p:nvPr/>
            </p:nvSpPr>
            <p:spPr>
              <a:xfrm>
                <a:off x="567" y="2271"/>
                <a:ext cx="4762" cy="9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②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每一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P∈V</a:t>
                </a:r>
                <a:r>
                  <a:rPr lang="en-US" altLang="zh-CN" sz="2400" b="1" baseline="-25000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N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，必须都有用处，即</a:t>
                </a:r>
                <a:endParaRPr lang="en-US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endParaRPr>
              </a:p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	    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S        </a:t>
                </a:r>
                <a:r>
                  <a:rPr lang="el-GR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α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P</a:t>
                </a:r>
                <a:r>
                  <a:rPr lang="el-GR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β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，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P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在句型中出现</a:t>
                </a:r>
                <a:endParaRPr lang="zh-CN" altLang="en-US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endParaRPr>
              </a:p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	   </a:t>
                </a:r>
                <a:r>
                  <a:rPr lang="el-GR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γ∈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V</a:t>
                </a:r>
                <a:r>
                  <a:rPr lang="en-US" altLang="zh-CN" sz="2400" b="1" baseline="-25000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T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*, P      </a:t>
                </a:r>
                <a:r>
                  <a:rPr lang="el-GR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γ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，即对</a:t>
                </a:r>
                <a:r>
                  <a:rPr lang="en-US" altLang="zh-CN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P</a:t>
                </a:r>
                <a:r>
                  <a:rPr lang="zh-CN" altLang="en-US" sz="2400" b="1" dirty="0">
                    <a:solidFill>
                      <a:srgbClr val="660033"/>
                    </a:solidFill>
                    <a:latin typeface="华文新魏" pitchFamily="2" charset="-122"/>
                    <a:ea typeface="华文新魏" pitchFamily="2" charset="-122"/>
                  </a:rPr>
                  <a:t>不存在不终结的回路</a:t>
                </a:r>
                <a:endParaRPr lang="zh-CN" altLang="el-GR" sz="2400" b="1" dirty="0">
                  <a:solidFill>
                    <a:srgbClr val="660033"/>
                  </a:solidFill>
                  <a:latin typeface="华文新魏" pitchFamily="2" charset="-122"/>
                  <a:ea typeface="华文新魏" pitchFamily="2" charset="-122"/>
                </a:endParaRPr>
              </a:p>
            </p:txBody>
          </p:sp>
          <p:grpSp>
            <p:nvGrpSpPr>
              <p:cNvPr id="35848" name="Group 19"/>
              <p:cNvGrpSpPr/>
              <p:nvPr/>
            </p:nvGrpSpPr>
            <p:grpSpPr>
              <a:xfrm>
                <a:off x="1143" y="2588"/>
                <a:ext cx="1374" cy="664"/>
                <a:chOff x="1143" y="2588"/>
                <a:chExt cx="1374" cy="664"/>
              </a:xfrm>
            </p:grpSpPr>
            <p:pic>
              <p:nvPicPr>
                <p:cNvPr id="35849" name="Picture 9" descr="公式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565" y="2588"/>
                  <a:ext cx="257" cy="3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5850" name="Picture 10" descr="公式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98" y="2922"/>
                  <a:ext cx="219" cy="3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aphicFrame>
              <p:nvGraphicFramePr>
                <p:cNvPr id="35851" name="Object 8"/>
                <p:cNvGraphicFramePr>
                  <a:graphicFrameLocks noChangeAspect="1"/>
                </p:cNvGraphicFramePr>
                <p:nvPr/>
              </p:nvGraphicFramePr>
              <p:xfrm>
                <a:off x="1143" y="2614"/>
                <a:ext cx="176" cy="2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29" name="" r:id="rId4" imgW="127000" imgH="152400" progId="Equation.3">
                        <p:embed/>
                      </p:oleObj>
                    </mc:Choice>
                    <mc:Fallback>
                      <p:oleObj name="" r:id="rId4" imgW="127000" imgH="152400" progId="Equation.3">
                        <p:embed/>
                        <p:pic>
                          <p:nvPicPr>
                            <p:cNvPr id="0" name="图片 3228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43" y="2614"/>
                              <a:ext cx="176" cy="22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5852" name="Object 11"/>
                <p:cNvGraphicFramePr>
                  <a:graphicFrameLocks noChangeAspect="1"/>
                </p:cNvGraphicFramePr>
                <p:nvPr/>
              </p:nvGraphicFramePr>
              <p:xfrm>
                <a:off x="1143" y="3023"/>
                <a:ext cx="176" cy="2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0" name="" r:id="rId6" imgW="127000" imgH="152400" progId="Equation.3">
                        <p:embed/>
                      </p:oleObj>
                    </mc:Choice>
                    <mc:Fallback>
                      <p:oleObj name="" r:id="rId6" imgW="127000" imgH="152400" progId="Equation.3">
                        <p:embed/>
                        <p:pic>
                          <p:nvPicPr>
                            <p:cNvPr id="0" name="图片 3229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43" y="3023"/>
                              <a:ext cx="176" cy="22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1"/>
          <p:cNvSpPr>
            <a:spLocks noGrp="1" noRot="1"/>
          </p:cNvSpPr>
          <p:nvPr>
            <p:ph type="title"/>
          </p:nvPr>
        </p:nvSpPr>
        <p:spPr>
          <a:xfrm>
            <a:off x="301625" y="442913"/>
            <a:ext cx="854075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练 习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13" y="1290638"/>
            <a:ext cx="9120188" cy="5218113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已知文法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为：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S-&gt;iSeS      S-&gt;iS       S-&gt;i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3200" b="0" i="0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={      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V</a:t>
            </a:r>
            <a:r>
              <a:rPr kumimoji="0" lang="en-US" altLang="zh-CN" sz="3200" b="0" i="0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={      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）给出句子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iiiei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的最左推导、最右推导、语法树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）证明文法是二义性的。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）是几型文法？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图片 3" descr="练习1答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" y="12700"/>
            <a:ext cx="9151938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6" name="Text Box 4"/>
          <p:cNvSpPr txBox="1"/>
          <p:nvPr/>
        </p:nvSpPr>
        <p:spPr>
          <a:xfrm>
            <a:off x="611188" y="762000"/>
            <a:ext cx="70564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四、句型的分析</a:t>
            </a:r>
            <a:endParaRPr lang="zh-CN" altLang="en-US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8915" name="Text Box 5"/>
          <p:cNvSpPr txBox="1"/>
          <p:nvPr/>
        </p:nvSpPr>
        <p:spPr>
          <a:xfrm>
            <a:off x="323850" y="1412875"/>
            <a:ext cx="8280400" cy="22828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句型的分析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        指构造一种算法，用以判断所给的符号串是否为某一文法的句型或句子。是一个过程。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       </a:t>
            </a:r>
            <a:r>
              <a:rPr lang="zh-CN" altLang="en-US" sz="2400" b="1" dirty="0">
                <a:solidFill>
                  <a:srgbClr val="CC0000"/>
                </a:solidFill>
                <a:latin typeface="华文新魏" pitchFamily="2" charset="-122"/>
                <a:ea typeface="华文新魏" pitchFamily="2" charset="-122"/>
              </a:rPr>
              <a:t>其中，将算法称为分析算法，完成句型分析的程序称为分析程序或识别程序。</a:t>
            </a:r>
            <a:endParaRPr lang="zh-CN" altLang="en-US" sz="2400" b="1" dirty="0">
              <a:solidFill>
                <a:srgbClr val="CC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31078" name="Text Box 6"/>
          <p:cNvSpPr txBox="1"/>
          <p:nvPr/>
        </p:nvSpPr>
        <p:spPr>
          <a:xfrm>
            <a:off x="250825" y="4292600"/>
            <a:ext cx="7993063" cy="8223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        </a:t>
            </a:r>
            <a:r>
              <a: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在编译程序中，词法分析阶段和语法分析阶段都存在句型分析。</a:t>
            </a:r>
            <a:endParaRPr lang="zh-CN" altLang="en-US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/>
      <p:bldP spid="13107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/>
              <a:t>2.</a:t>
            </a:r>
            <a:r>
              <a:rPr lang="zh-CN" altLang="en-US" sz="2800" b="1" dirty="0"/>
              <a:t>分析算法分为：</a:t>
            </a:r>
            <a:endParaRPr lang="zh-CN" altLang="en-US" sz="2800" b="1" dirty="0"/>
          </a:p>
        </p:txBody>
      </p:sp>
      <p:sp>
        <p:nvSpPr>
          <p:cNvPr id="39939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solidFill>
                  <a:srgbClr val="CC0000"/>
                </a:solidFill>
              </a:rPr>
              <a:t>自上而下的分析方法</a:t>
            </a:r>
            <a:endParaRPr lang="zh-CN" altLang="en-US" b="1" dirty="0">
              <a:solidFill>
                <a:srgbClr val="CC0000"/>
              </a:solidFill>
            </a:endParaRPr>
          </a:p>
          <a:p>
            <a:pPr eaLnBrk="1" hangingPunct="1">
              <a:buNone/>
            </a:pPr>
            <a:r>
              <a:rPr lang="zh-CN" altLang="en-US" b="1" dirty="0"/>
              <a:t>		</a:t>
            </a:r>
            <a:r>
              <a:rPr lang="zh-CN" altLang="en-US" sz="2800" b="1" dirty="0">
                <a:solidFill>
                  <a:schemeClr val="tx2"/>
                </a:solidFill>
              </a:rPr>
              <a:t>从文法的开始符号出发，以给定的符号串为目标，试图推导出此符号串。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rgbClr val="CC0000"/>
                </a:solidFill>
              </a:rPr>
              <a:t>自下向上的分析方法</a:t>
            </a:r>
            <a:endParaRPr lang="zh-CN" altLang="en-US" b="1" dirty="0">
              <a:solidFill>
                <a:srgbClr val="CC0000"/>
              </a:solidFill>
            </a:endParaRPr>
          </a:p>
          <a:p>
            <a:pPr eaLnBrk="1" hangingPunct="1">
              <a:buNone/>
            </a:pPr>
            <a:r>
              <a:rPr lang="zh-CN" altLang="en-US" sz="2800" b="1" dirty="0"/>
              <a:t>		</a:t>
            </a:r>
            <a:r>
              <a:rPr lang="zh-CN" altLang="en-US" sz="2800" b="1" dirty="0">
                <a:solidFill>
                  <a:schemeClr val="tx2"/>
                </a:solidFill>
              </a:rPr>
              <a:t>从给定的符号串出发，反复用文法中有关产生式的左部去替换当前符号串中相应的子串，以期最后将其规约为文法的开始符号。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Times New Roman" panose="02020503050405090304" pitchFamily="18" charset="0"/>
              </a:rPr>
              <a:t>两种方法反映了两种语法树的构造过程。</a:t>
            </a:r>
            <a:endParaRPr lang="zh-CN" altLang="en-US" b="1" dirty="0">
              <a:latin typeface="Times New Roman" panose="02020503050405090304" pitchFamily="18" charset="0"/>
            </a:endParaRPr>
          </a:p>
        </p:txBody>
      </p:sp>
      <p:sp>
        <p:nvSpPr>
          <p:cNvPr id="40963" name="Rectangle 3"/>
          <p:cNvSpPr>
            <a:spLocks noGrp="1" noRot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b="1" i="1" dirty="0">
                <a:latin typeface="Times New Roman" panose="02020503050405090304" pitchFamily="18" charset="0"/>
              </a:rPr>
              <a:t>自上而下方法</a:t>
            </a:r>
            <a:r>
              <a:rPr lang="zh-CN" altLang="en-US" b="1" dirty="0">
                <a:latin typeface="Times New Roman" panose="02020503050405090304" pitchFamily="18" charset="0"/>
              </a:rPr>
              <a:t>是从文法符号开始，将它做为语法树的根，向下逐步建立语法树，使语法树的结果正好是输入符号串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b="1" i="1" dirty="0">
                <a:latin typeface="Times New Roman" panose="02020503050405090304" pitchFamily="18" charset="0"/>
              </a:rPr>
              <a:t>自下而上方法</a:t>
            </a:r>
            <a:r>
              <a:rPr lang="zh-CN" altLang="en-US" b="1" dirty="0">
                <a:latin typeface="Times New Roman" panose="02020503050405090304" pitchFamily="18" charset="0"/>
              </a:rPr>
              <a:t>则是从输入符号串开始，以它做为语法树的结果，自底向上地构造语法树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130000"/>
              </a:lnSpc>
              <a:buNone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</a:rPr>
              <a:t>句型分析的有关问题</a:t>
            </a: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1987" name="Rectangle 3"/>
          <p:cNvSpPr>
            <a:spLocks noGrp="1" noRot="1"/>
          </p:cNvSpPr>
          <p:nvPr>
            <p:ph idx="1"/>
          </p:nvPr>
        </p:nvSpPr>
        <p:spPr>
          <a:xfrm>
            <a:off x="0" y="1600200"/>
            <a:ext cx="9144000" cy="5257800"/>
          </a:xfrm>
          <a:solidFill>
            <a:srgbClr val="CCFFFF">
              <a:alpha val="100000"/>
            </a:srgb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1</a:t>
            </a:r>
            <a:r>
              <a:rPr lang="zh-CN" altLang="en-US" b="1" dirty="0">
                <a:latin typeface="Times New Roman" panose="02020503050405090304" pitchFamily="18" charset="0"/>
              </a:rPr>
              <a:t>）在自上而下的分析方法中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503050405090304" pitchFamily="18" charset="0"/>
              </a:rPr>
              <a:t>如何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选择</a:t>
            </a:r>
            <a:r>
              <a:rPr lang="zh-CN" altLang="en-US" b="1" dirty="0">
                <a:latin typeface="Times New Roman" panose="02020503050405090304" pitchFamily="18" charset="0"/>
              </a:rPr>
              <a:t>使用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哪个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503050405090304" pitchFamily="18" charset="0"/>
              </a:rPr>
              <a:t>产生式进行推导</a:t>
            </a:r>
            <a:r>
              <a:rPr lang="zh-CN" altLang="en-US" b="1" dirty="0">
                <a:latin typeface="Times New Roman" panose="02020503050405090304" pitchFamily="18" charset="0"/>
              </a:rPr>
              <a:t>？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503050405090304" pitchFamily="18" charset="0"/>
              </a:rPr>
              <a:t>	假定要被代换的最左非终结符号是</a:t>
            </a:r>
            <a:r>
              <a:rPr lang="en-US" altLang="zh-CN" b="1" dirty="0">
                <a:latin typeface="Times New Roman" panose="02020503050405090304" pitchFamily="18" charset="0"/>
              </a:rPr>
              <a:t>B</a:t>
            </a:r>
            <a:r>
              <a:rPr lang="zh-CN" altLang="en-US" b="1" dirty="0">
                <a:latin typeface="Times New Roman" panose="02020503050405090304" pitchFamily="18" charset="0"/>
              </a:rPr>
              <a:t>，且有</a:t>
            </a:r>
            <a:r>
              <a:rPr lang="en-US" altLang="zh-CN" b="1" dirty="0">
                <a:latin typeface="Times New Roman" panose="02020503050405090304" pitchFamily="18" charset="0"/>
              </a:rPr>
              <a:t>n</a:t>
            </a:r>
            <a:r>
              <a:rPr lang="zh-CN" altLang="en-US" b="1" dirty="0">
                <a:latin typeface="Times New Roman" panose="02020503050405090304" pitchFamily="18" charset="0"/>
              </a:rPr>
              <a:t>条规则：</a:t>
            </a:r>
            <a:r>
              <a:rPr lang="en-US" altLang="zh-CN" b="1" dirty="0">
                <a:latin typeface="Times New Roman" panose="02020503050405090304" pitchFamily="18" charset="0"/>
              </a:rPr>
              <a:t>B</a:t>
            </a:r>
            <a:r>
              <a:rPr lang="en-US" altLang="zh-CN" b="1" dirty="0">
                <a:latin typeface="宋体" pitchFamily="2" charset="-122"/>
              </a:rPr>
              <a:t>→</a:t>
            </a:r>
            <a:r>
              <a:rPr lang="en-US" altLang="zh-CN" b="1" dirty="0">
                <a:latin typeface="Times New Roman" panose="02020503050405090304" pitchFamily="18" charset="0"/>
              </a:rPr>
              <a:t>A1|A2|…|An</a:t>
            </a:r>
            <a:r>
              <a:rPr lang="zh-CN" altLang="en-US" b="1" dirty="0">
                <a:latin typeface="Times New Roman" panose="02020503050405090304" pitchFamily="18" charset="0"/>
              </a:rPr>
              <a:t>，那么如何确定用哪个右部去替代</a:t>
            </a:r>
            <a:r>
              <a:rPr lang="en-US" altLang="zh-CN" b="1" dirty="0">
                <a:latin typeface="Times New Roman" panose="02020503050405090304" pitchFamily="18" charset="0"/>
              </a:rPr>
              <a:t>B</a:t>
            </a:r>
            <a:r>
              <a:rPr lang="zh-CN" altLang="en-US" b="1" dirty="0">
                <a:latin typeface="Times New Roman" panose="02020503050405090304" pitchFamily="18" charset="0"/>
              </a:rPr>
              <a:t>？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2</a:t>
            </a:r>
            <a:r>
              <a:rPr lang="zh-CN" altLang="en-US" b="1" dirty="0">
                <a:latin typeface="Times New Roman" panose="02020503050405090304" pitchFamily="18" charset="0"/>
              </a:rPr>
              <a:t>）在自下而上的分析方法中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503050405090304" pitchFamily="18" charset="0"/>
              </a:rPr>
              <a:t>如何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识别可归约的串</a:t>
            </a:r>
            <a:r>
              <a:rPr lang="zh-CN" altLang="en-US" b="1" dirty="0">
                <a:latin typeface="Times New Roman" panose="02020503050405090304" pitchFamily="18" charset="0"/>
              </a:rPr>
              <a:t>？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503050405090304" pitchFamily="18" charset="0"/>
              </a:rPr>
              <a:t>	在分析程序工作的每一步，都是从当前串中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503050405090304" pitchFamily="18" charset="0"/>
              </a:rPr>
              <a:t>选择一个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子串</a:t>
            </a:r>
            <a:r>
              <a:rPr lang="zh-CN" altLang="en-US" b="1" dirty="0">
                <a:latin typeface="Times New Roman" panose="02020503050405090304" pitchFamily="18" charset="0"/>
              </a:rPr>
              <a:t>，将它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503050405090304" pitchFamily="18" charset="0"/>
              </a:rPr>
              <a:t>归约</a:t>
            </a:r>
            <a:r>
              <a:rPr lang="zh-CN" altLang="en-US" b="1" dirty="0">
                <a:latin typeface="Times New Roman" panose="02020503050405090304" pitchFamily="18" charset="0"/>
              </a:rPr>
              <a:t>到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某个非终结符号</a:t>
            </a:r>
            <a:r>
              <a:rPr lang="zh-CN" altLang="en-US" b="1" dirty="0">
                <a:latin typeface="Times New Roman" panose="02020503050405090304" pitchFamily="18" charset="0"/>
              </a:rPr>
              <a:t>，该子串称为“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可归约串</a:t>
            </a:r>
            <a:r>
              <a:rPr lang="zh-CN" altLang="en-US" b="1" dirty="0">
                <a:latin typeface="Times New Roman" panose="02020503050405090304" pitchFamily="18" charset="0"/>
              </a:rPr>
              <a:t>”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endParaRPr lang="en-US" altLang="zh-CN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Text Box 2"/>
          <p:cNvSpPr txBox="1"/>
          <p:nvPr/>
        </p:nvSpPr>
        <p:spPr>
          <a:xfrm>
            <a:off x="539750" y="1073150"/>
            <a:ext cx="56165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006600"/>
                </a:solidFill>
                <a:latin typeface="隶书" pitchFamily="49" charset="-122"/>
                <a:ea typeface="隶书" pitchFamily="49" charset="-122"/>
              </a:rPr>
              <a:t>3 </a:t>
            </a:r>
            <a:r>
              <a:rPr lang="zh-CN" altLang="en-US" sz="3600" b="1" dirty="0">
                <a:solidFill>
                  <a:srgbClr val="006600"/>
                </a:solidFill>
                <a:latin typeface="隶书" pitchFamily="49" charset="-122"/>
                <a:ea typeface="隶书" pitchFamily="49" charset="-122"/>
              </a:rPr>
              <a:t>句型分析的有关问题</a:t>
            </a:r>
            <a:endParaRPr lang="zh-CN" altLang="en-US" sz="3600" b="1" dirty="0">
              <a:solidFill>
                <a:srgbClr val="006600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133123" name="Group 3"/>
          <p:cNvGrpSpPr/>
          <p:nvPr/>
        </p:nvGrpSpPr>
        <p:grpSpPr>
          <a:xfrm>
            <a:off x="808038" y="2060575"/>
            <a:ext cx="7526337" cy="3389313"/>
            <a:chOff x="567" y="1434"/>
            <a:chExt cx="4741" cy="2135"/>
          </a:xfrm>
        </p:grpSpPr>
        <p:grpSp>
          <p:nvGrpSpPr>
            <p:cNvPr id="43012" name="Group 4"/>
            <p:cNvGrpSpPr/>
            <p:nvPr/>
          </p:nvGrpSpPr>
          <p:grpSpPr>
            <a:xfrm>
              <a:off x="567" y="1434"/>
              <a:ext cx="4741" cy="2135"/>
              <a:chOff x="498" y="2614"/>
              <a:chExt cx="4741" cy="1496"/>
            </a:xfrm>
          </p:grpSpPr>
          <p:pic>
            <p:nvPicPr>
              <p:cNvPr id="43015" name="Picture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8" y="2614"/>
                <a:ext cx="4741" cy="149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3016" name="Text Box 6"/>
              <p:cNvSpPr txBox="1"/>
              <p:nvPr/>
            </p:nvSpPr>
            <p:spPr>
              <a:xfrm>
                <a:off x="703" y="2659"/>
                <a:ext cx="4219" cy="13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lnSpc>
                    <a:spcPct val="14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993366"/>
                    </a:solidFill>
                    <a:latin typeface="隶书" pitchFamily="49" charset="-122"/>
                    <a:ea typeface="隶书" pitchFamily="49" charset="-122"/>
                  </a:rPr>
                  <a:t>短语</a:t>
                </a:r>
                <a:r>
                  <a:rPr lang="en-US" altLang="zh-CN" sz="2800" b="1" dirty="0">
                    <a:solidFill>
                      <a:srgbClr val="993366"/>
                    </a:solidFill>
                    <a:latin typeface="隶书" pitchFamily="49" charset="-122"/>
                    <a:ea typeface="隶书" pitchFamily="49" charset="-122"/>
                  </a:rPr>
                  <a:t>: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令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G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是一个文法，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S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是文法的开始符	号，若</a:t>
                </a:r>
                <a:r>
                  <a:rPr lang="el-GR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αβδ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是文法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G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的一个句型，	如果有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S    </a:t>
                </a:r>
                <a:r>
                  <a:rPr lang="el-GR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α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A</a:t>
                </a:r>
                <a:r>
                  <a:rPr lang="el-GR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δ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且 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A   </a:t>
                </a:r>
                <a:r>
                  <a:rPr lang="el-GR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β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，则称	</a:t>
                </a:r>
                <a:r>
                  <a:rPr lang="el-GR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β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是句型</a:t>
                </a:r>
                <a:r>
                  <a:rPr lang="el-GR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αβδ</a:t>
                </a:r>
                <a:r>
                  <a:rPr lang="zh-CN" altLang="en-US" sz="2800" b="1" i="1" dirty="0">
                    <a:solidFill>
                      <a:srgbClr val="660033"/>
                    </a:solidFill>
                    <a:latin typeface="隶书" pitchFamily="49" charset="-122"/>
                    <a:ea typeface="隶书" pitchFamily="49" charset="-122"/>
                  </a:rPr>
                  <a:t>相对于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非终结符</a:t>
                </a:r>
                <a:r>
                  <a:rPr lang="en-US" altLang="zh-CN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A</a:t>
                </a:r>
                <a:r>
                  <a:rPr lang="zh-CN" altLang="en-US" sz="2800" b="1" i="1" dirty="0">
                    <a:solidFill>
                      <a:srgbClr val="006600"/>
                    </a:solidFill>
                    <a:latin typeface="隶书" pitchFamily="49" charset="-122"/>
                    <a:ea typeface="隶书" pitchFamily="49" charset="-122"/>
                  </a:rPr>
                  <a:t>的	短语。</a:t>
                </a:r>
                <a:endPara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endParaRPr>
              </a:p>
            </p:txBody>
          </p:sp>
        </p:grpSp>
        <p:pic>
          <p:nvPicPr>
            <p:cNvPr id="43013" name="Picture 7" descr="公式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4" y="2296"/>
              <a:ext cx="256" cy="2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3014" name="Picture 8" descr="公式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3" y="2333"/>
              <a:ext cx="253" cy="27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4146" name="Group 2"/>
          <p:cNvGrpSpPr/>
          <p:nvPr/>
        </p:nvGrpSpPr>
        <p:grpSpPr>
          <a:xfrm>
            <a:off x="755650" y="3932238"/>
            <a:ext cx="7526338" cy="1441450"/>
            <a:chOff x="476" y="2976"/>
            <a:chExt cx="4741" cy="908"/>
          </a:xfrm>
        </p:grpSpPr>
        <p:pic>
          <p:nvPicPr>
            <p:cNvPr id="44039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6" y="2976"/>
              <a:ext cx="4741" cy="90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0" name="Text Box 4"/>
            <p:cNvSpPr txBox="1"/>
            <p:nvPr/>
          </p:nvSpPr>
          <p:spPr>
            <a:xfrm>
              <a:off x="521" y="2993"/>
              <a:ext cx="4581" cy="8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lnSpc>
                  <a:spcPct val="14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993366"/>
                  </a:solidFill>
                  <a:latin typeface="隶书" pitchFamily="49" charset="-122"/>
                  <a:ea typeface="隶书" pitchFamily="49" charset="-122"/>
                </a:rPr>
                <a:t>句柄：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一个句型的</a:t>
              </a:r>
              <a:r>
                <a:rPr lang="zh-CN" altLang="en-US" sz="2800" b="1" i="1" dirty="0">
                  <a:solidFill>
                    <a:srgbClr val="993366"/>
                  </a:solidFill>
                  <a:latin typeface="隶书" pitchFamily="49" charset="-122"/>
                  <a:ea typeface="隶书" pitchFamily="49" charset="-122"/>
                </a:rPr>
                <a:t>最左直接短语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称为该句型	的句柄。</a:t>
              </a:r>
              <a:endParaRPr lang="zh-CN" altLang="en-US" sz="2800" b="1" i="1" dirty="0">
                <a:solidFill>
                  <a:srgbClr val="0066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</p:grpSp>
      <p:grpSp>
        <p:nvGrpSpPr>
          <p:cNvPr id="134149" name="Group 5"/>
          <p:cNvGrpSpPr/>
          <p:nvPr/>
        </p:nvGrpSpPr>
        <p:grpSpPr>
          <a:xfrm>
            <a:off x="755650" y="1268413"/>
            <a:ext cx="7526338" cy="1584325"/>
            <a:chOff x="476" y="981"/>
            <a:chExt cx="4741" cy="998"/>
          </a:xfrm>
        </p:grpSpPr>
        <p:pic>
          <p:nvPicPr>
            <p:cNvPr id="44036" name="Pictur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6" y="981"/>
              <a:ext cx="4741" cy="9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37" name="Text Box 7"/>
            <p:cNvSpPr txBox="1"/>
            <p:nvPr/>
          </p:nvSpPr>
          <p:spPr>
            <a:xfrm>
              <a:off x="612" y="1026"/>
              <a:ext cx="4400" cy="8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lnSpc>
                  <a:spcPct val="14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993366"/>
                  </a:solidFill>
                  <a:latin typeface="隶书" pitchFamily="49" charset="-122"/>
                  <a:ea typeface="隶书" pitchFamily="49" charset="-122"/>
                </a:rPr>
                <a:t>直接短语：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如果有</a:t>
              </a:r>
              <a:r>
                <a:rPr lang="en-US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A  </a:t>
              </a:r>
              <a:r>
                <a:rPr lang="el-GR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β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，则称</a:t>
              </a:r>
              <a:r>
                <a:rPr lang="el-GR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β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是句型	</a:t>
              </a:r>
              <a:r>
                <a:rPr lang="el-GR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αβδ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相对于规则</a:t>
              </a:r>
              <a:r>
                <a:rPr lang="en-US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A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－</a:t>
              </a:r>
              <a:r>
                <a:rPr lang="en-US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&gt;</a:t>
              </a:r>
              <a:r>
                <a:rPr lang="el-GR" altLang="zh-CN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β</a:t>
              </a:r>
              <a:r>
                <a:rPr lang="zh-CN" altLang="en-US" sz="2800" b="1" i="1" dirty="0">
                  <a:solidFill>
                    <a:srgbClr val="006600"/>
                  </a:solidFill>
                  <a:latin typeface="隶书" pitchFamily="49" charset="-122"/>
                  <a:ea typeface="隶书" pitchFamily="49" charset="-122"/>
                </a:rPr>
                <a:t>的</a:t>
              </a:r>
              <a:r>
                <a:rPr lang="zh-CN" altLang="en-US" sz="2800" b="1" i="1" dirty="0">
                  <a:solidFill>
                    <a:srgbClr val="993366"/>
                  </a:solidFill>
                  <a:latin typeface="隶书" pitchFamily="49" charset="-122"/>
                  <a:ea typeface="隶书" pitchFamily="49" charset="-122"/>
                </a:rPr>
                <a:t>直接短语</a:t>
              </a:r>
              <a:endParaRPr lang="zh-CN" altLang="en-US" sz="2800" b="1" i="1" dirty="0">
                <a:solidFill>
                  <a:srgbClr val="993366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44038" name="AutoShape 8"/>
            <p:cNvSpPr/>
            <p:nvPr/>
          </p:nvSpPr>
          <p:spPr>
            <a:xfrm>
              <a:off x="2653" y="1292"/>
              <a:ext cx="182" cy="5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 noRot="1"/>
          </p:cNvSpPr>
          <p:nvPr>
            <p:ph idx="1"/>
          </p:nvPr>
        </p:nvSpPr>
        <p:spPr>
          <a:xfrm>
            <a:off x="228600" y="1600200"/>
            <a:ext cx="8915400" cy="5029200"/>
          </a:xfrm>
          <a:solidFill>
            <a:srgbClr val="CCFFFF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en-US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                    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短语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+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3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0" lang="en-US" altLang="zh-CN" sz="36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，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                                                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 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3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。   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                             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直接短语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3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。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句柄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                                     </a:t>
            </a:r>
            <a:endParaRPr kumimoji="0" lang="en-US" altLang="zh-CN" sz="3200" b="1" i="0" u="none" strike="noStrike" kern="0" cap="none" spc="0" normalizeH="0" baseline="-2500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</p:txBody>
      </p:sp>
      <p:sp>
        <p:nvSpPr>
          <p:cNvPr id="45059" name="Rectangle 2"/>
          <p:cNvSpPr>
            <a:spLocks noGrp="1" noRot="1"/>
          </p:cNvSpPr>
          <p:nvPr>
            <p:ph type="title"/>
          </p:nvPr>
        </p:nvSpPr>
        <p:spPr>
          <a:xfrm>
            <a:off x="0" y="228600"/>
            <a:ext cx="91440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Times New Roman" panose="02020503050405090304" pitchFamily="18" charset="0"/>
              </a:rPr>
              <a:t>例</a:t>
            </a:r>
            <a:r>
              <a:rPr lang="en-US" altLang="zh-CN" sz="4800" b="1" dirty="0">
                <a:latin typeface="宋体" pitchFamily="2" charset="-122"/>
              </a:rPr>
              <a:t>i*i+i</a:t>
            </a:r>
            <a:br>
              <a:rPr lang="en-US" altLang="zh-CN" sz="4800" b="1" dirty="0">
                <a:latin typeface="宋体" pitchFamily="2" charset="-122"/>
              </a:rPr>
            </a:br>
            <a:r>
              <a:rPr lang="zh-CN" altLang="en-US" sz="3600" b="1" dirty="0">
                <a:latin typeface="宋体" pitchFamily="2" charset="-122"/>
              </a:rPr>
              <a:t>例 ：</a:t>
            </a:r>
            <a:r>
              <a:rPr lang="en-US" altLang="zh-CN" sz="3600" b="1" dirty="0">
                <a:latin typeface="宋体" pitchFamily="2" charset="-122"/>
              </a:rPr>
              <a:t>i*i+i </a:t>
            </a:r>
            <a:r>
              <a:rPr lang="zh-CN" altLang="en-US" sz="3600" b="1" dirty="0">
                <a:latin typeface="宋体" pitchFamily="2" charset="-122"/>
              </a:rPr>
              <a:t>的短语、直接短语和句柄</a:t>
            </a:r>
            <a:endParaRPr lang="zh-CN" altLang="en-US" sz="3600" b="1" dirty="0">
              <a:latin typeface="宋体" pitchFamily="2" charset="-122"/>
            </a:endParaRPr>
          </a:p>
        </p:txBody>
      </p:sp>
      <p:sp>
        <p:nvSpPr>
          <p:cNvPr id="45060" name="Text Box 4"/>
          <p:cNvSpPr txBox="1"/>
          <p:nvPr/>
        </p:nvSpPr>
        <p:spPr>
          <a:xfrm>
            <a:off x="5486400" y="1524000"/>
            <a:ext cx="3429000" cy="265588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G[E]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：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E→E+T|T</a:t>
            </a:r>
            <a:b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</a:b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      T→T*F|F</a:t>
            </a:r>
            <a:b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</a:b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      F→(E)|i</a:t>
            </a:r>
            <a:endParaRPr lang="en-US" altLang="zh-CN" b="1" dirty="0">
              <a:solidFill>
                <a:srgbClr val="660033"/>
              </a:solidFill>
              <a:latin typeface="宋体" pitchFamily="2" charset="-122"/>
            </a:endParaRPr>
          </a:p>
          <a:p>
            <a:pPr marL="457200" lvl="1" inden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句型：</a:t>
            </a:r>
            <a:r>
              <a:rPr lang="en-US" altLang="zh-CN" b="1" dirty="0">
                <a:solidFill>
                  <a:srgbClr val="CC0000"/>
                </a:solidFill>
                <a:latin typeface="宋体" pitchFamily="2" charset="-122"/>
              </a:rPr>
              <a:t>i*i+i</a:t>
            </a:r>
            <a:endParaRPr lang="en-US" altLang="zh-CN" b="1" dirty="0">
              <a:solidFill>
                <a:srgbClr val="007A77"/>
              </a:solidFill>
              <a:latin typeface="宋体" pitchFamily="2" charset="-12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solidFill>
                <a:srgbClr val="007A77"/>
              </a:solidFill>
              <a:latin typeface="宋体" pitchFamily="2" charset="-122"/>
            </a:endParaRPr>
          </a:p>
        </p:txBody>
      </p:sp>
      <p:sp>
        <p:nvSpPr>
          <p:cNvPr id="45061" name="Line 5"/>
          <p:cNvSpPr/>
          <p:nvPr/>
        </p:nvSpPr>
        <p:spPr>
          <a:xfrm flipH="1">
            <a:off x="1295400" y="20574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Line 6"/>
          <p:cNvSpPr/>
          <p:nvPr/>
        </p:nvSpPr>
        <p:spPr>
          <a:xfrm flipH="1">
            <a:off x="533400" y="3733800"/>
            <a:ext cx="6096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3" name="Line 7"/>
          <p:cNvSpPr/>
          <p:nvPr/>
        </p:nvSpPr>
        <p:spPr>
          <a:xfrm>
            <a:off x="2667000" y="2057400"/>
            <a:ext cx="533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4" name="Line 8"/>
          <p:cNvSpPr/>
          <p:nvPr/>
        </p:nvSpPr>
        <p:spPr>
          <a:xfrm>
            <a:off x="1295400" y="3733800"/>
            <a:ext cx="6096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5" name="Line 9"/>
          <p:cNvSpPr/>
          <p:nvPr/>
        </p:nvSpPr>
        <p:spPr>
          <a:xfrm>
            <a:off x="2590800" y="20574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6" name="Line 10"/>
          <p:cNvSpPr/>
          <p:nvPr/>
        </p:nvSpPr>
        <p:spPr>
          <a:xfrm>
            <a:off x="1219200" y="27432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7" name="Line 11"/>
          <p:cNvSpPr/>
          <p:nvPr/>
        </p:nvSpPr>
        <p:spPr>
          <a:xfrm>
            <a:off x="3429000" y="27432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8" name="Line 12"/>
          <p:cNvSpPr/>
          <p:nvPr/>
        </p:nvSpPr>
        <p:spPr>
          <a:xfrm>
            <a:off x="3429000" y="39624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9" name="Line 13"/>
          <p:cNvSpPr/>
          <p:nvPr/>
        </p:nvSpPr>
        <p:spPr>
          <a:xfrm>
            <a:off x="1219200" y="38100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0" name="Line 14"/>
          <p:cNvSpPr/>
          <p:nvPr/>
        </p:nvSpPr>
        <p:spPr>
          <a:xfrm>
            <a:off x="2057400" y="4495800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1" name="Line 15"/>
          <p:cNvSpPr/>
          <p:nvPr/>
        </p:nvSpPr>
        <p:spPr>
          <a:xfrm>
            <a:off x="381000" y="44958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2" name="Line 16"/>
          <p:cNvSpPr/>
          <p:nvPr/>
        </p:nvSpPr>
        <p:spPr>
          <a:xfrm>
            <a:off x="381000" y="57150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练 习 </a:t>
            </a:r>
            <a:r>
              <a:rPr lang="en-US" altLang="zh-CN" dirty="0"/>
              <a:t>2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895475"/>
            <a:ext cx="8540750" cy="3622675"/>
          </a:xfrm>
          <a:solidFill>
            <a:schemeClr val="accent5">
              <a:lumMod val="9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已知文法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为：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S-&gt;aAcB|Bd      A-&gt;AaB|c      B-&gt;bScA|b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写出句型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aAaBcbbdcc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的语法树，并指出相应的短语、直接短语、句柄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6" name="图片 3" descr="练习2答案"/>
          <p:cNvPicPr>
            <a:picLocks noChangeAspect="1"/>
          </p:cNvPicPr>
          <p:nvPr/>
        </p:nvPicPr>
        <p:blipFill>
          <a:blip r:embed="rId1"/>
          <a:srcRect l="3970" r="4933" b="36984"/>
          <a:stretch>
            <a:fillRect/>
          </a:stretch>
        </p:blipFill>
        <p:spPr>
          <a:xfrm>
            <a:off x="-103187" y="481013"/>
            <a:ext cx="9201150" cy="4772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 noRot="1"/>
          </p:cNvSpPr>
          <p:nvPr>
            <p:ph type="title"/>
          </p:nvPr>
        </p:nvSpPr>
        <p:spPr>
          <a:xfrm>
            <a:off x="357188" y="609600"/>
            <a:ext cx="8485187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ym typeface="Symbol" pitchFamily="18" charset="2"/>
              </a:rPr>
              <a:t>化简文法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</a:rPr>
              <a:t>文法实用中的一些说明</a:t>
            </a: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8131" name="Rectangle 3"/>
          <p:cNvSpPr>
            <a:spLocks noGrp="1" noRot="1"/>
          </p:cNvSpPr>
          <p:nvPr>
            <p:ph idx="1"/>
          </p:nvPr>
        </p:nvSpPr>
        <p:spPr>
          <a:xfrm>
            <a:off x="0" y="1447800"/>
            <a:ext cx="8915400" cy="5105400"/>
          </a:xfrm>
          <a:solidFill>
            <a:srgbClr val="CCFFFF">
              <a:alpha val="100000"/>
            </a:srgb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    </a:t>
            </a:r>
            <a:r>
              <a:rPr lang="zh-CN" altLang="en-US" sz="2800" b="1" dirty="0">
                <a:latin typeface="Times New Roman" panose="02020503050405090304" pitchFamily="18" charset="0"/>
              </a:rPr>
              <a:t>文法中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不含有</a:t>
            </a:r>
            <a:r>
              <a:rPr lang="zh-CN" altLang="en-US" sz="2800" b="1" i="1" u="sng" dirty="0">
                <a:solidFill>
                  <a:srgbClr val="CC3300"/>
                </a:solidFill>
                <a:latin typeface="Times New Roman" panose="02020503050405090304" pitchFamily="18" charset="0"/>
              </a:rPr>
              <a:t>有害规则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和</a:t>
            </a:r>
            <a:r>
              <a:rPr lang="zh-CN" altLang="en-US" sz="2800" b="1" i="1" u="sng" dirty="0">
                <a:solidFill>
                  <a:srgbClr val="CC3300"/>
                </a:solidFill>
                <a:latin typeface="Times New Roman" panose="02020503050405090304" pitchFamily="18" charset="0"/>
              </a:rPr>
              <a:t>多余规则</a:t>
            </a:r>
            <a:endParaRPr lang="zh-CN" altLang="en-US" sz="2800" b="1" i="1" u="sng" dirty="0">
              <a:latin typeface="Times New Roman" panose="02020503050405090304" pitchFamily="18" charset="0"/>
            </a:endParaRPr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有害规则</a:t>
            </a:r>
            <a:r>
              <a:rPr lang="zh-CN" altLang="en-US" b="1" dirty="0">
                <a:latin typeface="Times New Roman" panose="02020503050405090304" pitchFamily="18" charset="0"/>
              </a:rPr>
              <a:t>：形如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503050405090304" pitchFamily="18" charset="0"/>
              </a:rPr>
              <a:t>U</a:t>
            </a: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→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503050405090304" pitchFamily="18" charset="0"/>
              </a:rPr>
              <a:t>U</a:t>
            </a:r>
            <a:r>
              <a:rPr lang="zh-CN" altLang="en-US" b="1" dirty="0">
                <a:latin typeface="Times New Roman" panose="02020503050405090304" pitchFamily="18" charset="0"/>
              </a:rPr>
              <a:t>的产生式。会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503050405090304" pitchFamily="18" charset="0"/>
              </a:rPr>
              <a:t>引起</a:t>
            </a:r>
            <a:r>
              <a:rPr lang="zh-CN" altLang="en-US" b="1" dirty="0">
                <a:latin typeface="Times New Roman" panose="02020503050405090304" pitchFamily="18" charset="0"/>
              </a:rPr>
              <a:t>文法的</a:t>
            </a:r>
            <a:r>
              <a:rPr lang="zh-CN" altLang="en-US" b="1" dirty="0">
                <a:solidFill>
                  <a:srgbClr val="0033CC"/>
                </a:solidFill>
                <a:latin typeface="Times New Roman" panose="02020503050405090304" pitchFamily="18" charset="0"/>
              </a:rPr>
              <a:t>二义性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CC3300"/>
                </a:solidFill>
                <a:latin typeface="Times New Roman" panose="02020503050405090304" pitchFamily="18" charset="0"/>
              </a:rPr>
              <a:t>多余规则</a:t>
            </a:r>
            <a:r>
              <a:rPr lang="zh-CN" altLang="en-US" b="1" dirty="0">
                <a:latin typeface="Times New Roman" panose="02020503050405090304" pitchFamily="18" charset="0"/>
              </a:rPr>
              <a:t>：指文法中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任何句子的推导</a:t>
            </a:r>
            <a:r>
              <a:rPr lang="zh-CN" altLang="en-US" b="1" dirty="0">
                <a:latin typeface="Times New Roman" panose="02020503050405090304" pitchFamily="18" charset="0"/>
              </a:rPr>
              <a:t>都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</a:rPr>
              <a:t>不会用到的规则</a:t>
            </a:r>
            <a:endParaRPr lang="zh-CN" altLang="en-US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lvl="1" eaLnBrk="1" hangingPunct="1">
              <a:buNone/>
            </a:pPr>
            <a:r>
              <a:rPr lang="zh-CN" altLang="en-US" sz="3200" b="1" dirty="0">
                <a:latin typeface="Times New Roman" panose="02020503050405090304" pitchFamily="18" charset="0"/>
              </a:rPr>
              <a:t>文法中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不含有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503050405090304" pitchFamily="18" charset="0"/>
              </a:rPr>
              <a:t>不可到达和不可终止的</a:t>
            </a:r>
            <a:r>
              <a:rPr lang="zh-CN" altLang="en-US" sz="32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非终结符</a:t>
            </a:r>
            <a:endParaRPr lang="zh-CN" altLang="en-US" sz="2400" b="1" dirty="0">
              <a:latin typeface="Times New Roman" panose="02020503050405090304" pitchFamily="18" charset="0"/>
            </a:endParaRPr>
          </a:p>
          <a:p>
            <a:pPr lvl="2" eaLnBrk="1" hangingPunct="1"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1</a:t>
            </a:r>
            <a:r>
              <a:rPr lang="zh-CN" altLang="en-US" sz="2800" b="1" dirty="0">
                <a:latin typeface="Times New Roman" panose="02020503050405090304" pitchFamily="18" charset="0"/>
              </a:rPr>
              <a:t>）文法中某些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非终结符不在任何规则的右部出现</a:t>
            </a:r>
            <a:r>
              <a:rPr lang="zh-CN" altLang="en-US" sz="2800" b="1" dirty="0">
                <a:latin typeface="Times New Roman" panose="02020503050405090304" pitchFamily="18" charset="0"/>
              </a:rPr>
              <a:t>，该非终结符称为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503050405090304" pitchFamily="18" charset="0"/>
              </a:rPr>
              <a:t>不可到达</a:t>
            </a:r>
            <a:r>
              <a:rPr lang="zh-CN" altLang="en-US" sz="2800" b="1" dirty="0">
                <a:latin typeface="Times New Roman" panose="02020503050405090304" pitchFamily="18" charset="0"/>
              </a:rPr>
              <a:t>。</a:t>
            </a:r>
            <a:endParaRPr lang="zh-CN" altLang="en-US" sz="2800" b="1" dirty="0">
              <a:latin typeface="Times New Roman" panose="02020503050405090304" pitchFamily="18" charset="0"/>
            </a:endParaRPr>
          </a:p>
          <a:p>
            <a:pPr lvl="2" eaLnBrk="1" hangingPunct="1"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2</a:t>
            </a:r>
            <a:r>
              <a:rPr lang="zh-CN" altLang="en-US" sz="2800" b="1" dirty="0">
                <a:latin typeface="Times New Roman" panose="02020503050405090304" pitchFamily="18" charset="0"/>
              </a:rPr>
              <a:t>）文法中某些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非终结符</a:t>
            </a:r>
            <a:r>
              <a:rPr lang="zh-CN" altLang="en-US" sz="2800" b="1" dirty="0">
                <a:latin typeface="Times New Roman" panose="02020503050405090304" pitchFamily="18" charset="0"/>
              </a:rPr>
              <a:t>，由它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不能推出终结符号串</a:t>
            </a:r>
            <a:r>
              <a:rPr lang="zh-CN" altLang="en-US" sz="2800" b="1" dirty="0">
                <a:latin typeface="Times New Roman" panose="02020503050405090304" pitchFamily="18" charset="0"/>
              </a:rPr>
              <a:t>，该非终结符称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503050405090304" pitchFamily="18" charset="0"/>
              </a:rPr>
              <a:t>为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503050405090304" pitchFamily="18" charset="0"/>
              </a:rPr>
              <a:t>不可终止</a:t>
            </a:r>
            <a:r>
              <a:rPr lang="zh-CN" altLang="en-US" sz="2800" b="1" dirty="0">
                <a:latin typeface="Times New Roman" panose="02020503050405090304" pitchFamily="18" charset="0"/>
              </a:rPr>
              <a:t>。</a:t>
            </a:r>
            <a:endParaRPr lang="zh-CN" altLang="en-US" sz="2800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3"/>
          <p:cNvSpPr>
            <a:spLocks noGrp="1" noRot="1"/>
          </p:cNvSpPr>
          <p:nvPr>
            <p:ph idx="1"/>
          </p:nvPr>
        </p:nvSpPr>
        <p:spPr>
          <a:solidFill>
            <a:srgbClr val="CCFFFF">
              <a:alpha val="100000"/>
            </a:srgb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  </a:t>
            </a:r>
            <a:r>
              <a:rPr lang="zh-CN" altLang="en-US" b="1" dirty="0">
                <a:latin typeface="Times New Roman" panose="02020503050405090304" pitchFamily="18" charset="0"/>
              </a:rPr>
              <a:t>对于文法</a:t>
            </a:r>
            <a:r>
              <a:rPr lang="en-US" altLang="zh-CN" b="1" dirty="0">
                <a:latin typeface="Times New Roman" panose="02020503050405090304" pitchFamily="18" charset="0"/>
              </a:rPr>
              <a:t>G[S]</a:t>
            </a:r>
            <a:r>
              <a:rPr lang="zh-CN" altLang="en-US" b="1" dirty="0">
                <a:latin typeface="Times New Roman" panose="02020503050405090304" pitchFamily="18" charset="0"/>
              </a:rPr>
              <a:t>，为了保证任一非终结符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503050405090304" pitchFamily="18" charset="0"/>
              </a:rPr>
              <a:t>A</a:t>
            </a:r>
            <a:r>
              <a:rPr lang="zh-CN" altLang="en-US" b="1" dirty="0">
                <a:latin typeface="Times New Roman" panose="02020503050405090304" pitchFamily="18" charset="0"/>
              </a:rPr>
              <a:t>在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503050405090304" pitchFamily="18" charset="0"/>
              </a:rPr>
              <a:t>句子</a:t>
            </a:r>
            <a:r>
              <a:rPr lang="zh-CN" altLang="en-US" b="1" dirty="0">
                <a:latin typeface="Times New Roman" panose="02020503050405090304" pitchFamily="18" charset="0"/>
              </a:rPr>
              <a:t>推导中出现，必须满足如下两个条件：</a:t>
            </a:r>
            <a:br>
              <a:rPr lang="zh-CN" altLang="en-US" b="1" dirty="0">
                <a:latin typeface="Times New Roman" panose="02020503050405090304" pitchFamily="18" charset="0"/>
              </a:rPr>
            </a:br>
            <a:br>
              <a:rPr lang="zh-CN" altLang="en-US" b="1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 A</a:t>
            </a:r>
            <a:r>
              <a:rPr lang="zh-CN" altLang="en-US" b="1" dirty="0">
                <a:latin typeface="Times New Roman" panose="02020503050405090304" pitchFamily="18" charset="0"/>
              </a:rPr>
              <a:t>必须在某句型中出现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503050405090304" pitchFamily="18" charset="0"/>
              </a:rPr>
              <a:t>     即有</a:t>
            </a:r>
            <a:r>
              <a:rPr lang="en-US" altLang="zh-CN" b="1" dirty="0">
                <a:latin typeface="Times New Roman" panose="02020503050405090304" pitchFamily="18" charset="0"/>
              </a:rPr>
              <a:t>S </a:t>
            </a:r>
            <a:r>
              <a:rPr lang="en-US" altLang="zh-CN" dirty="0">
                <a:latin typeface="Times New Roman" panose="02020503050405090304" pitchFamily="18" charset="0"/>
                <a:sym typeface="Symbol" pitchFamily="18" charset="2"/>
              </a:rPr>
              <a:t>=&gt;</a:t>
            </a:r>
            <a:r>
              <a:rPr lang="en-US" altLang="zh-CN" b="1" dirty="0"/>
              <a:t>αAβ</a:t>
            </a:r>
            <a:r>
              <a:rPr lang="zh-CN" altLang="en-US" b="1" dirty="0">
                <a:latin typeface="Times New Roman" panose="02020503050405090304" pitchFamily="18" charset="0"/>
              </a:rPr>
              <a:t>，其中</a:t>
            </a:r>
            <a:r>
              <a:rPr lang="en-US" altLang="zh-CN" b="1" dirty="0"/>
              <a:t>α</a:t>
            </a:r>
            <a:r>
              <a:rPr lang="zh-CN" altLang="en-US" b="1" dirty="0">
                <a:latin typeface="Times New Roman" panose="02020503050405090304" pitchFamily="18" charset="0"/>
              </a:rPr>
              <a:t>，</a:t>
            </a:r>
            <a:r>
              <a:rPr lang="en-US" altLang="zh-CN" b="1" dirty="0"/>
              <a:t>β</a:t>
            </a:r>
            <a:r>
              <a:rPr lang="zh-CN" altLang="en-US" b="1" dirty="0">
                <a:latin typeface="Times New Roman" panose="02020503050405090304" pitchFamily="18" charset="0"/>
              </a:rPr>
              <a:t>属于</a:t>
            </a:r>
            <a:r>
              <a:rPr lang="en-US" altLang="zh-CN" b="1" dirty="0">
                <a:latin typeface="宋体" pitchFamily="2" charset="-122"/>
              </a:rPr>
              <a:t>V</a:t>
            </a:r>
            <a:r>
              <a:rPr lang="en-US" altLang="zh-CN" b="1" baseline="30000" dirty="0">
                <a:latin typeface="宋体" pitchFamily="2" charset="-122"/>
              </a:rPr>
              <a:t>*</a:t>
            </a:r>
            <a:endParaRPr lang="en-US" altLang="zh-CN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    2. </a:t>
            </a:r>
            <a:r>
              <a:rPr lang="zh-CN" altLang="en-US" b="1" dirty="0">
                <a:latin typeface="Times New Roman" panose="02020503050405090304" pitchFamily="18" charset="0"/>
              </a:rPr>
              <a:t>必须能够从</a:t>
            </a:r>
            <a:r>
              <a:rPr lang="en-US" altLang="zh-CN" b="1" dirty="0">
                <a:latin typeface="Times New Roman" panose="02020503050405090304" pitchFamily="18" charset="0"/>
              </a:rPr>
              <a:t>A</a:t>
            </a:r>
            <a:r>
              <a:rPr lang="zh-CN" altLang="en-US" b="1" dirty="0">
                <a:latin typeface="Times New Roman" panose="02020503050405090304" pitchFamily="18" charset="0"/>
              </a:rPr>
              <a:t>推出终结符号串</a:t>
            </a:r>
            <a:r>
              <a:rPr lang="en-US" altLang="zh-CN" b="1" dirty="0">
                <a:latin typeface="Times New Roman" panose="02020503050405090304" pitchFamily="18" charset="0"/>
              </a:rPr>
              <a:t>t</a:t>
            </a:r>
            <a:r>
              <a:rPr lang="zh-CN" altLang="en-US" b="1" dirty="0">
                <a:latin typeface="Times New Roman" panose="02020503050405090304" pitchFamily="18" charset="0"/>
              </a:rPr>
              <a:t>来</a:t>
            </a:r>
            <a:endParaRPr lang="zh-CN" altLang="en-US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503050405090304" pitchFamily="18" charset="0"/>
              </a:rPr>
              <a:t>    即</a:t>
            </a:r>
            <a:r>
              <a:rPr lang="en-US" altLang="zh-CN" b="1" dirty="0">
                <a:latin typeface="Times New Roman" panose="02020503050405090304" pitchFamily="18" charset="0"/>
              </a:rPr>
              <a:t>A </a:t>
            </a:r>
            <a:r>
              <a:rPr lang="en-US" altLang="zh-CN" dirty="0">
                <a:latin typeface="Times New Roman" panose="02020503050405090304" pitchFamily="18" charset="0"/>
                <a:sym typeface="Symbol" pitchFamily="18" charset="2"/>
              </a:rPr>
              <a:t>=&gt;</a:t>
            </a:r>
            <a:r>
              <a:rPr lang="en-US" altLang="zh-CN" b="1" dirty="0">
                <a:latin typeface="Times New Roman" panose="02020503050405090304" pitchFamily="18" charset="0"/>
              </a:rPr>
              <a:t>t</a:t>
            </a:r>
            <a:r>
              <a:rPr lang="zh-CN" altLang="en-US" b="1" dirty="0">
                <a:latin typeface="Times New Roman" panose="02020503050405090304" pitchFamily="18" charset="0"/>
              </a:rPr>
              <a:t>，其中</a:t>
            </a:r>
            <a:r>
              <a:rPr lang="en-US" altLang="zh-CN" b="1" dirty="0">
                <a:latin typeface="Times New Roman" panose="02020503050405090304" pitchFamily="18" charset="0"/>
              </a:rPr>
              <a:t>t∈V</a:t>
            </a:r>
            <a:r>
              <a:rPr lang="en-US" altLang="zh-CN" b="1" baseline="-25000" dirty="0">
                <a:latin typeface="Times New Roman" panose="02020503050405090304" pitchFamily="18" charset="0"/>
              </a:rPr>
              <a:t>T</a:t>
            </a:r>
            <a:r>
              <a:rPr lang="en-US" altLang="zh-CN" b="1" dirty="0">
                <a:latin typeface="Times New Roman" panose="02020503050405090304" pitchFamily="18" charset="0"/>
              </a:rPr>
              <a:t>*</a:t>
            </a:r>
            <a:endParaRPr lang="en-US" altLang="zh-CN" b="1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endParaRPr lang="en-US" altLang="zh-CN" b="1" dirty="0">
              <a:solidFill>
                <a:srgbClr val="0033CC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标题 1"/>
          <p:cNvSpPr>
            <a:spLocks noGrp="1" noRot="1"/>
          </p:cNvSpPr>
          <p:nvPr>
            <p:ph type="title"/>
          </p:nvPr>
        </p:nvSpPr>
        <p:spPr>
          <a:xfrm>
            <a:off x="301625" y="338138"/>
            <a:ext cx="854075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已知语言构造出描述其的文法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481138"/>
            <a:ext cx="8540750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已知字母表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T={a, b}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L(G)={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ξ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81000" y="2924175"/>
            <a:ext cx="8540750" cy="874713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DC5900"/>
              </a:buClr>
            </a:pPr>
            <a:r>
              <a:rPr lang="en-US" altLang="zh-CN" b="1" dirty="0">
                <a:solidFill>
                  <a:srgbClr val="007A77"/>
                </a:solidFill>
              </a:rPr>
              <a:t>L(G)={ a }</a:t>
            </a:r>
            <a:endParaRPr lang="en-US" altLang="zh-CN" b="1" dirty="0">
              <a:solidFill>
                <a:srgbClr val="007A77"/>
              </a:solidFill>
            </a:endParaRPr>
          </a:p>
          <a:p>
            <a:pPr marL="342900" lvl="0" indent="-342900">
              <a:buClr>
                <a:srgbClr val="DC5900"/>
              </a:buClr>
            </a:pPr>
            <a:endParaRPr lang="en-US" altLang="zh-CN" b="1" dirty="0">
              <a:solidFill>
                <a:srgbClr val="007A77"/>
              </a:solidFill>
            </a:endParaRPr>
          </a:p>
          <a:p>
            <a:pPr marL="342900" lvl="0" indent="-342900">
              <a:buClr>
                <a:srgbClr val="DC5900"/>
              </a:buClr>
            </a:pPr>
            <a:endParaRPr lang="en-US" altLang="zh-CN" b="1" dirty="0">
              <a:solidFill>
                <a:srgbClr val="007A77"/>
              </a:solidFill>
            </a:endParaRPr>
          </a:p>
          <a:p>
            <a:pPr marL="342900" lvl="0" indent="-342900">
              <a:buClr>
                <a:srgbClr val="DC5900"/>
              </a:buClr>
            </a:pPr>
            <a:endParaRPr lang="en-US" altLang="zh-CN" b="1" dirty="0">
              <a:solidFill>
                <a:srgbClr val="007A77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81000" y="3863975"/>
            <a:ext cx="8540750" cy="984250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DC5900"/>
              </a:buClr>
            </a:pPr>
            <a:r>
              <a:rPr lang="en-US" altLang="zh-CN" b="1" dirty="0">
                <a:solidFill>
                  <a:srgbClr val="007A77"/>
                </a:solidFill>
              </a:rPr>
              <a:t>L(G)={ a</a:t>
            </a:r>
            <a:r>
              <a:rPr lang="en-US" altLang="zh-CN" b="1" baseline="30000" dirty="0">
                <a:solidFill>
                  <a:srgbClr val="007A77"/>
                </a:solidFill>
              </a:rPr>
              <a:t>n </a:t>
            </a:r>
            <a:r>
              <a:rPr lang="en-US" altLang="zh-CN" b="1" dirty="0">
                <a:solidFill>
                  <a:srgbClr val="007A77"/>
                </a:solidFill>
              </a:rPr>
              <a:t>| n&gt;=0 }</a:t>
            </a:r>
            <a:endParaRPr lang="en-US" altLang="zh-CN" b="1" dirty="0">
              <a:solidFill>
                <a:srgbClr val="007A77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63938" y="3933825"/>
            <a:ext cx="360362" cy="4603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endParaRPr lang="en-US" altLang="zh-CN" sz="24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24075" y="2924175"/>
            <a:ext cx="884238" cy="5222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a,b</a:t>
            </a:r>
            <a:endParaRPr lang="en-US" altLang="zh-CN" sz="28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01625" y="5143500"/>
            <a:ext cx="8540750" cy="984250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DC5900"/>
              </a:buClr>
            </a:pPr>
            <a:r>
              <a:rPr lang="en-US" altLang="zh-CN" b="1" dirty="0">
                <a:solidFill>
                  <a:srgbClr val="007A77"/>
                </a:solidFill>
              </a:rPr>
              <a:t>L(G)={ a</a:t>
            </a:r>
            <a:r>
              <a:rPr lang="en-US" altLang="zh-CN" b="1" baseline="30000" dirty="0">
                <a:solidFill>
                  <a:srgbClr val="007A77"/>
                </a:solidFill>
              </a:rPr>
              <a:t>n </a:t>
            </a:r>
            <a:r>
              <a:rPr lang="en-US" altLang="zh-CN" b="1" dirty="0">
                <a:solidFill>
                  <a:srgbClr val="007A77"/>
                </a:solidFill>
              </a:rPr>
              <a:t>b</a:t>
            </a:r>
            <a:r>
              <a:rPr lang="en-US" altLang="zh-CN" b="1" baseline="30000" dirty="0">
                <a:solidFill>
                  <a:srgbClr val="007A77"/>
                </a:solidFill>
              </a:rPr>
              <a:t>n</a:t>
            </a:r>
            <a:r>
              <a:rPr lang="en-US" altLang="zh-CN" b="1" dirty="0">
                <a:solidFill>
                  <a:srgbClr val="007A77"/>
                </a:solidFill>
              </a:rPr>
              <a:t>| n&gt;=0 }</a:t>
            </a:r>
            <a:endParaRPr lang="en-US" altLang="zh-CN" b="1" dirty="0">
              <a:solidFill>
                <a:srgbClr val="007A77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65700" y="5311775"/>
            <a:ext cx="4032250" cy="522288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L(G)={ a</a:t>
            </a:r>
            <a:r>
              <a:rPr lang="en-US" altLang="zh-CN" sz="2800" b="1" baseline="30000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n </a:t>
            </a:r>
            <a:r>
              <a:rPr lang="en-US" altLang="zh-CN" sz="28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b</a:t>
            </a:r>
            <a:r>
              <a:rPr lang="en-US" altLang="zh-CN" sz="2800" b="1" baseline="30000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m</a:t>
            </a:r>
            <a:r>
              <a:rPr lang="en-US" altLang="zh-CN" sz="2800" b="1" dirty="0">
                <a:solidFill>
                  <a:srgbClr val="660033"/>
                </a:solidFill>
                <a:latin typeface="华文新魏" pitchFamily="2" charset="-122"/>
                <a:ea typeface="华文新魏" pitchFamily="2" charset="-122"/>
              </a:rPr>
              <a:t>| n,m&gt;=0 }</a:t>
            </a:r>
            <a:endParaRPr lang="zh-CN" altLang="en-US" sz="2800" b="1" dirty="0">
              <a:solidFill>
                <a:srgbClr val="660033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14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3" grpId="1" animBg="1" build="p"/>
      <p:bldP spid="4" grpId="0" bldLvl="0" animBg="1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1"/>
          <p:cNvSpPr>
            <a:spLocks noGrp="1" noRot="1"/>
          </p:cNvSpPr>
          <p:nvPr>
            <p:ph type="title"/>
          </p:nvPr>
        </p:nvSpPr>
        <p:spPr>
          <a:xfrm>
            <a:off x="301625" y="338138"/>
            <a:ext cx="854075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已知语言构造出描述其的文法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481138"/>
            <a:ext cx="8540750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已知字母表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T={a, b}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L(G)={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a</a:t>
            </a:r>
            <a:r>
              <a:rPr kumimoji="0" lang="en-US" altLang="zh-CN" sz="3200" b="0" i="0" u="none" strike="noStrike" kern="0" cap="none" spc="0" normalizeH="0" baseline="3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n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b</a:t>
            </a:r>
            <a:r>
              <a:rPr kumimoji="0" lang="en-US" altLang="zh-CN" sz="3200" b="0" i="0" u="none" strike="noStrike" kern="0" cap="none" spc="0" normalizeH="0" baseline="3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c</a:t>
            </a:r>
            <a:r>
              <a:rPr kumimoji="0" lang="en-US" altLang="zh-CN" sz="3200" b="0" i="0" u="none" strike="noStrike" kern="0" cap="none" spc="0" normalizeH="0" baseline="3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i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| n&gt;=1,i&gt;=0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81000" y="2924175"/>
            <a:ext cx="8540750" cy="874713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DC5900"/>
              </a:buClr>
            </a:pPr>
            <a:r>
              <a:rPr lang="en-US" altLang="zh-CN" b="1" dirty="0">
                <a:solidFill>
                  <a:srgbClr val="007A77"/>
                </a:solidFill>
              </a:rPr>
              <a:t>L(G)={ a</a:t>
            </a:r>
            <a:r>
              <a:rPr lang="en-US" altLang="zh-CN" b="1" baseline="30000" dirty="0">
                <a:solidFill>
                  <a:srgbClr val="007A77"/>
                </a:solidFill>
              </a:rPr>
              <a:t>m</a:t>
            </a:r>
            <a:r>
              <a:rPr lang="en-US" altLang="zh-CN" b="1" dirty="0">
                <a:solidFill>
                  <a:srgbClr val="007A77"/>
                </a:solidFill>
              </a:rPr>
              <a:t>b</a:t>
            </a:r>
            <a:r>
              <a:rPr lang="en-US" altLang="zh-CN" b="1" baseline="30000" dirty="0">
                <a:solidFill>
                  <a:srgbClr val="007A77"/>
                </a:solidFill>
              </a:rPr>
              <a:t>n</a:t>
            </a:r>
            <a:r>
              <a:rPr lang="en-US" altLang="zh-CN" b="1" dirty="0">
                <a:solidFill>
                  <a:srgbClr val="007A77"/>
                </a:solidFill>
              </a:rPr>
              <a:t>a</a:t>
            </a:r>
            <a:r>
              <a:rPr lang="en-US" altLang="zh-CN" b="1" baseline="30000" dirty="0">
                <a:solidFill>
                  <a:srgbClr val="007A77"/>
                </a:solidFill>
              </a:rPr>
              <a:t>n</a:t>
            </a:r>
            <a:r>
              <a:rPr lang="en-US" altLang="zh-CN" b="1" dirty="0">
                <a:solidFill>
                  <a:srgbClr val="007A77"/>
                </a:solidFill>
              </a:rPr>
              <a:t>b</a:t>
            </a:r>
            <a:r>
              <a:rPr lang="en-US" altLang="zh-CN" b="1" baseline="30000" dirty="0">
                <a:solidFill>
                  <a:srgbClr val="007A77"/>
                </a:solidFill>
              </a:rPr>
              <a:t>m</a:t>
            </a:r>
            <a:r>
              <a:rPr lang="en-US" altLang="zh-CN" b="1" dirty="0">
                <a:solidFill>
                  <a:srgbClr val="007A77"/>
                </a:solidFill>
              </a:rPr>
              <a:t>| n,m&gt;=1 }</a:t>
            </a:r>
            <a:endParaRPr lang="en-US" altLang="zh-CN" b="1" dirty="0">
              <a:solidFill>
                <a:srgbClr val="007A77"/>
              </a:solidFill>
            </a:endParaRPr>
          </a:p>
          <a:p>
            <a:pPr marL="342900" lvl="0" indent="-342900">
              <a:buClr>
                <a:srgbClr val="DC5900"/>
              </a:buClr>
            </a:pPr>
            <a:endParaRPr lang="en-US" altLang="zh-CN" b="1" dirty="0">
              <a:solidFill>
                <a:srgbClr val="007A77"/>
              </a:solidFill>
            </a:endParaRPr>
          </a:p>
          <a:p>
            <a:pPr marL="342900" lvl="0" indent="-342900">
              <a:buClr>
                <a:srgbClr val="DC5900"/>
              </a:buClr>
            </a:pPr>
            <a:endParaRPr lang="en-US" altLang="zh-CN" b="1" dirty="0">
              <a:solidFill>
                <a:srgbClr val="007A77"/>
              </a:solidFill>
            </a:endParaRPr>
          </a:p>
          <a:p>
            <a:pPr marL="342900" lvl="0" indent="-342900">
              <a:buClr>
                <a:srgbClr val="DC5900"/>
              </a:buClr>
            </a:pPr>
            <a:endParaRPr lang="en-US" altLang="zh-CN" b="1" dirty="0">
              <a:solidFill>
                <a:srgbClr val="007A77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81000" y="3863975"/>
            <a:ext cx="8540750" cy="984250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DC5900"/>
              </a:buClr>
            </a:pPr>
            <a:r>
              <a:rPr lang="en-US" altLang="zh-CN" b="1" dirty="0">
                <a:solidFill>
                  <a:srgbClr val="007A77"/>
                </a:solidFill>
              </a:rPr>
              <a:t>L(G)={ ab</a:t>
            </a:r>
            <a:r>
              <a:rPr lang="en-US" altLang="zh-CN" b="1" baseline="30000" dirty="0">
                <a:solidFill>
                  <a:srgbClr val="007A77"/>
                </a:solidFill>
              </a:rPr>
              <a:t>n</a:t>
            </a:r>
            <a:r>
              <a:rPr lang="en-US" altLang="zh-CN" b="1" dirty="0">
                <a:solidFill>
                  <a:srgbClr val="007A77"/>
                </a:solidFill>
              </a:rPr>
              <a:t>ab</a:t>
            </a:r>
            <a:r>
              <a:rPr lang="en-US" altLang="zh-CN" b="1" baseline="30000" dirty="0">
                <a:solidFill>
                  <a:srgbClr val="007A77"/>
                </a:solidFill>
              </a:rPr>
              <a:t>n-1</a:t>
            </a:r>
            <a:r>
              <a:rPr lang="en-US" altLang="zh-CN" b="1" dirty="0">
                <a:solidFill>
                  <a:srgbClr val="007A77"/>
                </a:solidFill>
              </a:rPr>
              <a:t> | n&gt;=1 }</a:t>
            </a:r>
            <a:endParaRPr lang="en-US" altLang="zh-CN" b="1" dirty="0">
              <a:solidFill>
                <a:srgbClr val="007A77"/>
              </a:solidFill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01625" y="5143500"/>
            <a:ext cx="8540750" cy="984250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buClr>
                <a:srgbClr val="DC5900"/>
              </a:buClr>
            </a:pPr>
            <a:r>
              <a:rPr lang="en-US" altLang="zh-CN" b="1" dirty="0">
                <a:solidFill>
                  <a:srgbClr val="007A77"/>
                </a:solidFill>
              </a:rPr>
              <a:t>L(G)={ WcW</a:t>
            </a:r>
            <a:r>
              <a:rPr lang="en-US" altLang="zh-CN" b="1" baseline="30000" dirty="0">
                <a:solidFill>
                  <a:srgbClr val="007A77"/>
                </a:solidFill>
              </a:rPr>
              <a:t>R</a:t>
            </a:r>
            <a:r>
              <a:rPr lang="en-US" altLang="zh-CN" b="1" dirty="0">
                <a:solidFill>
                  <a:srgbClr val="007A77"/>
                </a:solidFill>
              </a:rPr>
              <a:t>| W</a:t>
            </a:r>
            <a:r>
              <a:rPr lang="en-US" altLang="zh-CN" b="1" dirty="0">
                <a:solidFill>
                  <a:srgbClr val="007A77"/>
                </a:solidFill>
                <a:latin typeface="微软雅黑" pitchFamily="34" charset="-122"/>
              </a:rPr>
              <a:t>ϵ(a|b)*,W</a:t>
            </a:r>
            <a:r>
              <a:rPr lang="en-US" altLang="zh-CN" b="1" baseline="30000" dirty="0">
                <a:solidFill>
                  <a:srgbClr val="007A77"/>
                </a:solidFill>
                <a:latin typeface="微软雅黑" pitchFamily="34" charset="-122"/>
              </a:rPr>
              <a:t>R</a:t>
            </a:r>
            <a:r>
              <a:rPr lang="zh-CN" altLang="en-US" b="1" dirty="0">
                <a:solidFill>
                  <a:srgbClr val="007A77"/>
                </a:solidFill>
                <a:latin typeface="微软雅黑" pitchFamily="34" charset="-122"/>
              </a:rPr>
              <a:t>是</a:t>
            </a:r>
            <a:r>
              <a:rPr lang="en-US" altLang="zh-CN" b="1" dirty="0">
                <a:solidFill>
                  <a:srgbClr val="007A77"/>
                </a:solidFill>
                <a:latin typeface="微软雅黑" pitchFamily="34" charset="-122"/>
              </a:rPr>
              <a:t>W</a:t>
            </a:r>
            <a:r>
              <a:rPr lang="zh-CN" altLang="en-US" b="1" dirty="0">
                <a:solidFill>
                  <a:srgbClr val="007A77"/>
                </a:solidFill>
                <a:latin typeface="微软雅黑" pitchFamily="34" charset="-122"/>
              </a:rPr>
              <a:t>的反置</a:t>
            </a:r>
            <a:r>
              <a:rPr lang="en-US" altLang="zh-CN" b="1" dirty="0">
                <a:solidFill>
                  <a:srgbClr val="007A77"/>
                </a:solidFill>
              </a:rPr>
              <a:t> }</a:t>
            </a:r>
            <a:endParaRPr lang="en-US" altLang="zh-CN" b="1" dirty="0">
              <a:solidFill>
                <a:srgbClr val="007A7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14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3" grpId="1" animBg="1" build="p"/>
      <p:bldP spid="4" grpId="0" bldLvl="0" animBg="1"/>
      <p:bldP spid="5" grpId="0" bldLvl="0" animBg="1"/>
      <p:bldP spid="5" grpId="1" bldLvl="0" animBg="1"/>
      <p:bldP spid="8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 noRot="1"/>
          </p:cNvSpPr>
          <p:nvPr>
            <p:ph idx="1"/>
          </p:nvPr>
        </p:nvSpPr>
        <p:spPr>
          <a:xfrm>
            <a:off x="250825" y="476250"/>
            <a:ext cx="8458200" cy="6096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宋体" pitchFamily="2" charset="-122"/>
              </a:rPr>
              <a:t>[</a:t>
            </a:r>
            <a:r>
              <a:rPr lang="zh-CN" altLang="en-US" sz="2400" b="1" dirty="0">
                <a:latin typeface="宋体" pitchFamily="2" charset="-122"/>
              </a:rPr>
              <a:t>本章小结</a:t>
            </a:r>
            <a:r>
              <a:rPr lang="en-US" altLang="zh-CN" sz="2400" b="1" dirty="0">
                <a:latin typeface="宋体" pitchFamily="2" charset="-122"/>
              </a:rPr>
              <a:t>]</a:t>
            </a:r>
            <a:endParaRPr lang="en-US" altLang="zh-CN" sz="2400" b="1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考察本章知识点最典型的题目是</a:t>
            </a:r>
            <a:endParaRPr lang="zh-CN" altLang="en-US" sz="2400" b="1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   </a:t>
            </a:r>
            <a:r>
              <a:rPr lang="en-US" altLang="zh-CN" sz="2400" b="1" dirty="0">
                <a:latin typeface="宋体" pitchFamily="2" charset="-122"/>
              </a:rPr>
              <a:t>1.</a:t>
            </a:r>
            <a:r>
              <a:rPr lang="zh-CN" altLang="en-US" sz="2400" b="1" dirty="0">
                <a:latin typeface="宋体" pitchFamily="2" charset="-122"/>
              </a:rPr>
              <a:t>已知文法</a:t>
            </a:r>
            <a:r>
              <a:rPr lang="en-US" altLang="zh-CN" sz="2400" b="1" dirty="0">
                <a:latin typeface="宋体" pitchFamily="2" charset="-122"/>
              </a:rPr>
              <a:t>G[A]</a:t>
            </a:r>
            <a:r>
              <a:rPr lang="zh-CN" altLang="en-US" sz="2400" b="1" dirty="0">
                <a:latin typeface="宋体" pitchFamily="2" charset="-122"/>
              </a:rPr>
              <a:t>，写出它定义的语言描述</a:t>
            </a:r>
            <a:endParaRPr lang="zh-CN" altLang="en-US" sz="2400" b="1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   如：</a:t>
            </a:r>
            <a:r>
              <a:rPr lang="en-US" altLang="zh-CN" sz="2400" b="1" dirty="0">
                <a:latin typeface="宋体" pitchFamily="2" charset="-122"/>
              </a:rPr>
              <a:t>G[A]: A → 0B|1C</a:t>
            </a:r>
            <a:br>
              <a:rPr lang="en-US" altLang="zh-CN" sz="2400" b="1" dirty="0">
                <a:latin typeface="宋体" pitchFamily="2" charset="-122"/>
              </a:rPr>
            </a:br>
            <a:r>
              <a:rPr lang="en-US" altLang="zh-CN" sz="2400" b="1" dirty="0">
                <a:latin typeface="宋体" pitchFamily="2" charset="-122"/>
              </a:rPr>
              <a:t>       B → 1|1A|0BB</a:t>
            </a:r>
            <a:br>
              <a:rPr lang="en-US" altLang="zh-CN" sz="2400" b="1" dirty="0">
                <a:latin typeface="宋体" pitchFamily="2" charset="-122"/>
              </a:rPr>
            </a:br>
            <a:r>
              <a:rPr lang="en-US" altLang="zh-CN" sz="2400" b="1" dirty="0">
                <a:latin typeface="宋体" pitchFamily="2" charset="-122"/>
              </a:rPr>
              <a:t>       C → 0|0A|1CC</a:t>
            </a:r>
            <a:endParaRPr lang="en-US" altLang="zh-CN" sz="2400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答案</a:t>
            </a:r>
            <a:r>
              <a:rPr lang="en-US" altLang="zh-CN" sz="2400" b="1" dirty="0">
                <a:latin typeface="宋体" pitchFamily="2" charset="-122"/>
              </a:rPr>
              <a:t>:G[A]</a:t>
            </a:r>
            <a:r>
              <a:rPr lang="zh-CN" altLang="en-US" sz="2400" b="1" dirty="0">
                <a:latin typeface="宋体" pitchFamily="2" charset="-122"/>
              </a:rPr>
              <a:t>定义的语言由</a:t>
            </a:r>
            <a:r>
              <a:rPr lang="en-US" altLang="zh-CN" sz="2400" b="1" dirty="0">
                <a:latin typeface="宋体" pitchFamily="2" charset="-122"/>
              </a:rPr>
              <a:t>0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lang="en-US" altLang="zh-CN" sz="2400" b="1" dirty="0">
                <a:latin typeface="宋体" pitchFamily="2" charset="-122"/>
              </a:rPr>
              <a:t>1</a:t>
            </a:r>
            <a:r>
              <a:rPr lang="zh-CN" altLang="en-US" sz="2400" b="1" dirty="0">
                <a:latin typeface="宋体" pitchFamily="2" charset="-122"/>
              </a:rPr>
              <a:t>符号串组成，串中</a:t>
            </a:r>
            <a:r>
              <a:rPr lang="en-US" altLang="zh-CN" sz="2400" b="1" dirty="0">
                <a:latin typeface="宋体" pitchFamily="2" charset="-122"/>
              </a:rPr>
              <a:t>0</a:t>
            </a:r>
            <a:r>
              <a:rPr lang="zh-CN" altLang="en-US" sz="2400" b="1" dirty="0">
                <a:latin typeface="宋体" pitchFamily="2" charset="-122"/>
              </a:rPr>
              <a:t>和</a:t>
            </a:r>
            <a:r>
              <a:rPr lang="en-US" altLang="zh-CN" sz="2400" b="1" dirty="0">
                <a:latin typeface="宋体" pitchFamily="2" charset="-122"/>
              </a:rPr>
              <a:t>1</a:t>
            </a:r>
            <a:r>
              <a:rPr lang="zh-CN" altLang="en-US" sz="2400" b="1" dirty="0">
                <a:latin typeface="宋体" pitchFamily="2" charset="-122"/>
              </a:rPr>
              <a:t>的个数相同</a:t>
            </a:r>
            <a:r>
              <a:rPr lang="en-US" altLang="zh-CN" sz="2400" b="1" dirty="0">
                <a:latin typeface="宋体" pitchFamily="2" charset="-122"/>
              </a:rPr>
              <a:t>.</a:t>
            </a:r>
            <a:endParaRPr lang="en-US" altLang="zh-CN" sz="2400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宋体" pitchFamily="2" charset="-122"/>
              </a:rPr>
              <a:t>2.</a:t>
            </a:r>
            <a:r>
              <a:rPr lang="zh-CN" altLang="en-US" sz="2400" b="1" dirty="0">
                <a:latin typeface="宋体" pitchFamily="2" charset="-122"/>
              </a:rPr>
              <a:t>给出语言描述，构造文法</a:t>
            </a:r>
            <a:r>
              <a:rPr lang="en-US" altLang="zh-CN" sz="2400" b="1" dirty="0">
                <a:latin typeface="宋体" pitchFamily="2" charset="-122"/>
              </a:rPr>
              <a:t>.</a:t>
            </a:r>
            <a:endParaRPr lang="en-US" altLang="zh-CN" sz="2400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如：构造一文法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zh-CN" altLang="en-US" sz="2400" b="1" dirty="0">
                <a:latin typeface="宋体" pitchFamily="2" charset="-122"/>
              </a:rPr>
              <a:t>其定义的语言是由算符</a:t>
            </a:r>
            <a:r>
              <a:rPr lang="en-US" altLang="zh-CN" sz="2400" b="1" dirty="0">
                <a:latin typeface="宋体" pitchFamily="2" charset="-122"/>
              </a:rPr>
              <a:t>+, *, (,)</a:t>
            </a:r>
            <a:r>
              <a:rPr lang="zh-CN" altLang="en-US" sz="2400" b="1" dirty="0">
                <a:latin typeface="宋体" pitchFamily="2" charset="-122"/>
              </a:rPr>
              <a:t>和运算对象</a:t>
            </a:r>
            <a:r>
              <a:rPr lang="en-US" altLang="zh-CN" sz="2400" b="1" dirty="0">
                <a:latin typeface="宋体" pitchFamily="2" charset="-122"/>
              </a:rPr>
              <a:t>a</a:t>
            </a:r>
            <a:r>
              <a:rPr lang="zh-CN" altLang="en-US" sz="2400" b="1" dirty="0">
                <a:latin typeface="宋体" pitchFamily="2" charset="-122"/>
              </a:rPr>
              <a:t>构成的算术表达式的集合</a:t>
            </a:r>
            <a:r>
              <a:rPr lang="en-US" altLang="zh-CN" sz="2400" b="1" dirty="0">
                <a:latin typeface="宋体" pitchFamily="2" charset="-122"/>
              </a:rPr>
              <a:t>.</a:t>
            </a:r>
            <a:endParaRPr lang="en-US" altLang="zh-CN" sz="2400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答案</a:t>
            </a:r>
            <a:r>
              <a:rPr lang="en-US" altLang="zh-CN" sz="2400" b="1" dirty="0">
                <a:latin typeface="宋体" pitchFamily="2" charset="-122"/>
              </a:rPr>
              <a:t>1: G[E] E→E+T|T</a:t>
            </a:r>
            <a:br>
              <a:rPr lang="en-US" altLang="zh-CN" sz="2400" b="1" dirty="0">
                <a:latin typeface="宋体" pitchFamily="2" charset="-122"/>
              </a:rPr>
            </a:br>
            <a:r>
              <a:rPr lang="en-US" altLang="zh-CN" sz="2400" b="1" dirty="0">
                <a:latin typeface="宋体" pitchFamily="2" charset="-122"/>
              </a:rPr>
              <a:t>          T→T*F|F</a:t>
            </a:r>
            <a:br>
              <a:rPr lang="en-US" altLang="zh-CN" sz="2400" b="1" dirty="0">
                <a:latin typeface="宋体" pitchFamily="2" charset="-122"/>
              </a:rPr>
            </a:br>
            <a:r>
              <a:rPr lang="en-US" altLang="zh-CN" sz="2400" b="1" dirty="0">
                <a:latin typeface="宋体" pitchFamily="2" charset="-122"/>
              </a:rPr>
              <a:t>          F→(E)|a</a:t>
            </a:r>
            <a:endParaRPr lang="en-US" altLang="zh-CN" sz="2400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itchFamily="2" charset="-122"/>
              </a:rPr>
              <a:t>答案</a:t>
            </a:r>
            <a:r>
              <a:rPr lang="en-US" altLang="zh-CN" sz="2400" b="1" dirty="0">
                <a:latin typeface="宋体" pitchFamily="2" charset="-122"/>
              </a:rPr>
              <a:t>2: G[E] E→E+E|E*E|(E)|a</a:t>
            </a:r>
            <a:endParaRPr lang="en-US" altLang="zh-CN" sz="2400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sz="2400" b="1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 noRot="1"/>
          </p:cNvSpPr>
          <p:nvPr>
            <p:ph type="title"/>
          </p:nvPr>
        </p:nvSpPr>
        <p:spPr>
          <a:xfrm>
            <a:off x="609600" y="228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第三章  词法分析</a:t>
            </a:r>
            <a:endParaRPr lang="zh-CN" altLang="en-US" b="1" dirty="0"/>
          </a:p>
        </p:txBody>
      </p:sp>
      <p:sp>
        <p:nvSpPr>
          <p:cNvPr id="622595" name="Rectangle 3"/>
          <p:cNvSpPr>
            <a:spLocks noGrp="1" noRot="1"/>
          </p:cNvSpPr>
          <p:nvPr>
            <p:ph idx="1"/>
          </p:nvPr>
        </p:nvSpPr>
        <p:spPr>
          <a:xfrm>
            <a:off x="609600" y="3733800"/>
            <a:ext cx="7772400" cy="2590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Tx/>
              <a:buNone/>
            </a:pPr>
            <a:r>
              <a:rPr lang="zh-CN" altLang="en-US" b="1" dirty="0"/>
              <a:t>本章内容</a:t>
            </a:r>
            <a:endParaRPr lang="zh-CN" altLang="en-US" b="1" dirty="0"/>
          </a:p>
          <a:p>
            <a:pPr lvl="1" eaLnBrk="1" hangingPunct="1">
              <a:buFont typeface="Wingdings" panose="05000000000000000000" pitchFamily="2" charset="2"/>
              <a:buChar char=""/>
            </a:pPr>
            <a:r>
              <a:rPr lang="zh-CN" altLang="en-US" b="1" dirty="0"/>
              <a:t>词法分析器：把构成源程序的字符流翻译成记号流，</a:t>
            </a:r>
            <a:r>
              <a:rPr lang="zh-CN" altLang="en-US" b="1" dirty="0">
                <a:latin typeface="宋体" pitchFamily="2" charset="-122"/>
              </a:rPr>
              <a:t>还完成和用户接口的一些任务</a:t>
            </a:r>
            <a:endParaRPr lang="zh-CN" altLang="en-US" b="1" dirty="0"/>
          </a:p>
          <a:p>
            <a:pPr lvl="1" eaLnBrk="1" hangingPunct="1">
              <a:buFont typeface="Wingdings" panose="05000000000000000000" pitchFamily="2" charset="2"/>
              <a:buChar char=""/>
            </a:pPr>
            <a:r>
              <a:rPr lang="zh-CN" altLang="en-US" b="1" dirty="0"/>
              <a:t>围绕词法分析器的自动生成展开</a:t>
            </a:r>
            <a:endParaRPr lang="zh-CN" altLang="en-US" b="1" dirty="0"/>
          </a:p>
          <a:p>
            <a:pPr lvl="1" eaLnBrk="1" hangingPunct="1">
              <a:buFont typeface="Wingdings" panose="05000000000000000000" pitchFamily="2" charset="2"/>
              <a:buChar char=""/>
            </a:pPr>
            <a:r>
              <a:rPr lang="zh-CN" altLang="en-US" b="1" dirty="0"/>
              <a:t>介绍正规式、状态转换图和有限自动机概念</a:t>
            </a:r>
            <a:endParaRPr lang="zh-CN" altLang="en-US" b="1" dirty="0"/>
          </a:p>
          <a:p>
            <a:pPr eaLnBrk="1" hangingPunct="1">
              <a:lnSpc>
                <a:spcPct val="0"/>
              </a:lnSpc>
              <a:buFont typeface="Wingdings" panose="05000000000000000000" pitchFamily="2" charset="2"/>
              <a:buChar char="v"/>
            </a:pPr>
            <a:endParaRPr lang="zh-CN" altLang="en-US" sz="2800" dirty="0"/>
          </a:p>
        </p:txBody>
      </p:sp>
      <p:grpSp>
        <p:nvGrpSpPr>
          <p:cNvPr id="53252" name="Group 20"/>
          <p:cNvGrpSpPr/>
          <p:nvPr/>
        </p:nvGrpSpPr>
        <p:grpSpPr>
          <a:xfrm>
            <a:off x="228600" y="1295400"/>
            <a:ext cx="8612188" cy="2819400"/>
            <a:chOff x="144" y="816"/>
            <a:chExt cx="5425" cy="1776"/>
          </a:xfrm>
        </p:grpSpPr>
        <p:sp>
          <p:nvSpPr>
            <p:cNvPr id="53253" name="Rectangle 5"/>
            <p:cNvSpPr/>
            <p:nvPr/>
          </p:nvSpPr>
          <p:spPr>
            <a:xfrm>
              <a:off x="1580" y="1891"/>
              <a:ext cx="2601" cy="538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latin typeface="Times New Roman" panose="02020503050405090304" pitchFamily="18" charset="0"/>
                </a:rPr>
                <a:t> </a:t>
              </a:r>
              <a:endParaRPr lang="zh-CN" altLang="en-US" sz="2600" b="1" dirty="0">
                <a:latin typeface="宋体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53254" name="Rectangle 6"/>
            <p:cNvSpPr/>
            <p:nvPr/>
          </p:nvSpPr>
          <p:spPr>
            <a:xfrm>
              <a:off x="1580" y="1891"/>
              <a:ext cx="2601" cy="538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latin typeface="Times New Roman" panose="02020503050405090304" pitchFamily="18" charset="0"/>
                </a:rPr>
                <a:t> </a:t>
              </a:r>
              <a:endParaRPr lang="zh-CN" altLang="en-US" sz="2600" b="1" dirty="0">
                <a:latin typeface="宋体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53255" name="Rectangle 7"/>
            <p:cNvSpPr/>
            <p:nvPr/>
          </p:nvSpPr>
          <p:spPr>
            <a:xfrm>
              <a:off x="480" y="816"/>
              <a:ext cx="4896" cy="1776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742950" lvl="1" indent="-285750" eaLnBrk="1" hangingPunct="1">
                <a:buClrTx/>
                <a:buSzTx/>
                <a:buFontTx/>
                <a:buChar char="–"/>
              </a:pPr>
              <a:endParaRPr lang="zh-CN" altLang="en-US" dirty="0"/>
            </a:p>
            <a:p>
              <a:pPr marL="342900" lvl="0" indent="-342900" eaLnBrk="1" hangingPunct="1">
                <a:lnSpc>
                  <a:spcPct val="0"/>
                </a:lnSpc>
                <a:buClrTx/>
                <a:buSzTx/>
                <a:buFontTx/>
                <a:buChar char="•"/>
              </a:pPr>
              <a:endParaRPr lang="zh-CN" altLang="en-US" dirty="0"/>
            </a:p>
          </p:txBody>
        </p:sp>
        <p:sp>
          <p:nvSpPr>
            <p:cNvPr id="53256" name="Rectangle 8"/>
            <p:cNvSpPr/>
            <p:nvPr/>
          </p:nvSpPr>
          <p:spPr>
            <a:xfrm>
              <a:off x="1200" y="1152"/>
              <a:ext cx="1192" cy="39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词法分析器</a:t>
              </a:r>
              <a:endParaRPr lang="zh-CN" altLang="en-US" sz="1800" b="1" dirty="0"/>
            </a:p>
          </p:txBody>
        </p:sp>
        <p:sp>
          <p:nvSpPr>
            <p:cNvPr id="53257" name="Rectangle 9"/>
            <p:cNvSpPr/>
            <p:nvPr/>
          </p:nvSpPr>
          <p:spPr>
            <a:xfrm>
              <a:off x="3740" y="1172"/>
              <a:ext cx="1156" cy="39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语法分析器</a:t>
              </a:r>
              <a:endParaRPr lang="zh-CN" altLang="en-US" sz="1800" b="1" dirty="0"/>
            </a:p>
          </p:txBody>
        </p:sp>
        <p:sp>
          <p:nvSpPr>
            <p:cNvPr id="53258" name="Rectangle 10"/>
            <p:cNvSpPr/>
            <p:nvPr/>
          </p:nvSpPr>
          <p:spPr>
            <a:xfrm>
              <a:off x="2649" y="1956"/>
              <a:ext cx="884" cy="39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符号表</a:t>
              </a:r>
              <a:endParaRPr lang="zh-CN" altLang="en-US" sz="1800" b="1" dirty="0"/>
            </a:p>
          </p:txBody>
        </p:sp>
        <p:sp>
          <p:nvSpPr>
            <p:cNvPr id="53259" name="Line 11"/>
            <p:cNvSpPr/>
            <p:nvPr/>
          </p:nvSpPr>
          <p:spPr>
            <a:xfrm>
              <a:off x="2168" y="1593"/>
              <a:ext cx="481" cy="3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lg" len="med"/>
              <a:tailEnd type="stealth" w="lg" len="med"/>
            </a:ln>
          </p:spPr>
        </p:sp>
        <p:sp>
          <p:nvSpPr>
            <p:cNvPr id="53260" name="Line 12"/>
            <p:cNvSpPr/>
            <p:nvPr/>
          </p:nvSpPr>
          <p:spPr>
            <a:xfrm flipH="1">
              <a:off x="3544" y="1593"/>
              <a:ext cx="480" cy="3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lg" len="med"/>
              <a:tailEnd type="stealth" w="lg" len="med"/>
            </a:ln>
          </p:spPr>
        </p:sp>
        <p:sp>
          <p:nvSpPr>
            <p:cNvPr id="53261" name="Line 13"/>
            <p:cNvSpPr/>
            <p:nvPr/>
          </p:nvSpPr>
          <p:spPr>
            <a:xfrm>
              <a:off x="2463" y="1257"/>
              <a:ext cx="125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med"/>
            </a:ln>
          </p:spPr>
        </p:sp>
        <p:sp>
          <p:nvSpPr>
            <p:cNvPr id="53262" name="Line 14"/>
            <p:cNvSpPr/>
            <p:nvPr/>
          </p:nvSpPr>
          <p:spPr>
            <a:xfrm flipH="1">
              <a:off x="2400" y="1440"/>
              <a:ext cx="126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med"/>
            </a:ln>
          </p:spPr>
        </p:sp>
        <p:sp>
          <p:nvSpPr>
            <p:cNvPr id="53263" name="Line 15"/>
            <p:cNvSpPr/>
            <p:nvPr/>
          </p:nvSpPr>
          <p:spPr>
            <a:xfrm>
              <a:off x="960" y="1344"/>
              <a:ext cx="2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med"/>
            </a:ln>
          </p:spPr>
        </p:sp>
        <p:sp>
          <p:nvSpPr>
            <p:cNvPr id="53264" name="Line 16"/>
            <p:cNvSpPr/>
            <p:nvPr/>
          </p:nvSpPr>
          <p:spPr>
            <a:xfrm>
              <a:off x="4944" y="1344"/>
              <a:ext cx="6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stealth" w="lg" len="med"/>
            </a:ln>
          </p:spPr>
        </p:sp>
        <p:sp>
          <p:nvSpPr>
            <p:cNvPr id="53265" name="Rectangle 17"/>
            <p:cNvSpPr/>
            <p:nvPr/>
          </p:nvSpPr>
          <p:spPr>
            <a:xfrm>
              <a:off x="2517" y="935"/>
              <a:ext cx="115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记号</a:t>
              </a:r>
              <a:r>
                <a:rPr lang="en-US" altLang="zh-CN" sz="1800" b="1" dirty="0"/>
                <a:t>(token)</a:t>
              </a:r>
              <a:endParaRPr lang="en-US" altLang="zh-CN" sz="1800" b="1" dirty="0"/>
            </a:p>
          </p:txBody>
        </p:sp>
        <p:sp>
          <p:nvSpPr>
            <p:cNvPr id="53266" name="Rectangle 18"/>
            <p:cNvSpPr/>
            <p:nvPr/>
          </p:nvSpPr>
          <p:spPr>
            <a:xfrm>
              <a:off x="2448" y="1457"/>
              <a:ext cx="128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取下一个记号</a:t>
              </a:r>
              <a:endParaRPr lang="zh-CN" altLang="en-US" sz="1800" b="1" dirty="0"/>
            </a:p>
          </p:txBody>
        </p:sp>
        <p:sp>
          <p:nvSpPr>
            <p:cNvPr id="53267" name="Rectangle 19"/>
            <p:cNvSpPr/>
            <p:nvPr/>
          </p:nvSpPr>
          <p:spPr>
            <a:xfrm>
              <a:off x="144" y="1200"/>
              <a:ext cx="768" cy="395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源程序</a:t>
              </a:r>
              <a:endParaRPr lang="zh-CN" altLang="en-US" sz="1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2259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charRg st="5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22595">
                                            <p:txEl>
                                              <p:charRg st="5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22595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charRg st="5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22595">
                                            <p:txEl>
                                              <p:charRg st="57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8067" name="Group 3"/>
          <p:cNvGrpSpPr/>
          <p:nvPr/>
        </p:nvGrpSpPr>
        <p:grpSpPr>
          <a:xfrm>
            <a:off x="827088" y="1412875"/>
            <a:ext cx="7345362" cy="863600"/>
            <a:chOff x="340" y="3022"/>
            <a:chExt cx="5171" cy="499"/>
          </a:xfrm>
        </p:grpSpPr>
        <p:graphicFrame>
          <p:nvGraphicFramePr>
            <p:cNvPr id="55308" name="Object 4"/>
            <p:cNvGraphicFramePr>
              <a:graphicFrameLocks noChangeAspect="1"/>
            </p:cNvGraphicFramePr>
            <p:nvPr/>
          </p:nvGraphicFramePr>
          <p:xfrm>
            <a:off x="340" y="3022"/>
            <a:ext cx="5171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1" imgW="7581900" imgH="2768600" progId="Photoshop.Image.7">
                    <p:embed/>
                  </p:oleObj>
                </mc:Choice>
                <mc:Fallback>
                  <p:oleObj name="" r:id="rId1" imgW="7581900" imgH="2768600" progId="Photoshop.Image.7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0" y="3022"/>
                          <a:ext cx="5171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9" name="Rectangle 5"/>
            <p:cNvSpPr/>
            <p:nvPr/>
          </p:nvSpPr>
          <p:spPr>
            <a:xfrm>
              <a:off x="385" y="3067"/>
              <a:ext cx="3677" cy="3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2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zh-CN" altLang="en-US" sz="3200" b="1" dirty="0">
                  <a:solidFill>
                    <a:schemeClr val="tx2"/>
                  </a:solidFill>
                  <a:latin typeface="宋体" pitchFamily="2" charset="-122"/>
                </a:rPr>
                <a:t>词法分析的</a:t>
              </a:r>
              <a:r>
                <a:rPr lang="zh-CN" altLang="en-US" sz="3200" b="1" dirty="0">
                  <a:solidFill>
                    <a:schemeClr val="hlink"/>
                  </a:solidFill>
                  <a:latin typeface="宋体" pitchFamily="2" charset="-122"/>
                </a:rPr>
                <a:t>任务</a:t>
              </a:r>
              <a:r>
                <a:rPr lang="zh-CN" altLang="en-US" sz="3200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32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aphicFrame>
        <p:nvGraphicFramePr>
          <p:cNvPr id="55299" name="Object 6"/>
          <p:cNvGraphicFramePr>
            <a:graphicFrameLocks noChangeAspect="1"/>
          </p:cNvGraphicFramePr>
          <p:nvPr/>
        </p:nvGraphicFramePr>
        <p:xfrm>
          <a:off x="-887412" y="8104188"/>
          <a:ext cx="2587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3" imgW="114300" imgH="215900" progId="Equation.3">
                  <p:embed/>
                </p:oleObj>
              </mc:Choice>
              <mc:Fallback>
                <p:oleObj name="" r:id="rId3" imgW="114300" imgH="2159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887412" y="8104188"/>
                        <a:ext cx="258762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71" name="Group 7"/>
          <p:cNvGrpSpPr/>
          <p:nvPr/>
        </p:nvGrpSpPr>
        <p:grpSpPr>
          <a:xfrm>
            <a:off x="827088" y="2636838"/>
            <a:ext cx="7345362" cy="1871662"/>
            <a:chOff x="558" y="1877"/>
            <a:chExt cx="4545" cy="1203"/>
          </a:xfrm>
        </p:grpSpPr>
        <p:graphicFrame>
          <p:nvGraphicFramePr>
            <p:cNvPr id="55306" name="Object 8"/>
            <p:cNvGraphicFramePr>
              <a:graphicFrameLocks noChangeAspect="1"/>
            </p:cNvGraphicFramePr>
            <p:nvPr/>
          </p:nvGraphicFramePr>
          <p:xfrm>
            <a:off x="558" y="1877"/>
            <a:ext cx="4545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3" name="" r:id="rId5" imgW="7581900" imgH="2768600" progId="Photoshop.Image.7">
                    <p:embed/>
                  </p:oleObj>
                </mc:Choice>
                <mc:Fallback>
                  <p:oleObj name="" r:id="rId5" imgW="7581900" imgH="2768600" progId="Photoshop.Image.7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58" y="1877"/>
                          <a:ext cx="4545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7" name="Text Box 9"/>
            <p:cNvSpPr txBox="1"/>
            <p:nvPr/>
          </p:nvSpPr>
          <p:spPr>
            <a:xfrm>
              <a:off x="612" y="1933"/>
              <a:ext cx="4341" cy="8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从左至右逐个字符地扫描源程序，产生一个个的</a:t>
              </a:r>
              <a:r>
                <a:rPr lang="zh-CN" altLang="en-US" sz="2800" b="1" dirty="0">
                  <a:solidFill>
                    <a:schemeClr val="hlink"/>
                  </a:solidFill>
                  <a:latin typeface="宋体" pitchFamily="2" charset="-122"/>
                </a:rPr>
                <a:t>单词符号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，把作为字符串的源程序改造成为单词符号串的</a:t>
              </a:r>
              <a:r>
                <a:rPr lang="zh-CN" altLang="en-US" sz="2800" b="1" dirty="0">
                  <a:solidFill>
                    <a:schemeClr val="hlink"/>
                  </a:solidFill>
                  <a:latin typeface="宋体" pitchFamily="2" charset="-122"/>
                </a:rPr>
                <a:t>中间程序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。 </a:t>
              </a:r>
              <a:endParaRPr lang="zh-CN" altLang="en-US" sz="2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88074" name="Group 10"/>
          <p:cNvGrpSpPr/>
          <p:nvPr/>
        </p:nvGrpSpPr>
        <p:grpSpPr>
          <a:xfrm>
            <a:off x="827088" y="4868863"/>
            <a:ext cx="7345362" cy="863600"/>
            <a:chOff x="567" y="3249"/>
            <a:chExt cx="4535" cy="590"/>
          </a:xfrm>
        </p:grpSpPr>
        <p:grpSp>
          <p:nvGrpSpPr>
            <p:cNvPr id="55302" name="Group 11"/>
            <p:cNvGrpSpPr/>
            <p:nvPr/>
          </p:nvGrpSpPr>
          <p:grpSpPr>
            <a:xfrm>
              <a:off x="567" y="3249"/>
              <a:ext cx="4535" cy="590"/>
              <a:chOff x="720" y="480"/>
              <a:chExt cx="4224" cy="1390"/>
            </a:xfrm>
          </p:grpSpPr>
          <p:graphicFrame>
            <p:nvGraphicFramePr>
              <p:cNvPr id="55304" name="Object 12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4" name="" r:id="rId6" imgW="7581900" imgH="2768600" progId="Photoshop.Image.7">
                      <p:embed/>
                    </p:oleObj>
                  </mc:Choice>
                  <mc:Fallback>
                    <p:oleObj name="" r:id="rId6" imgW="7581900" imgH="2768600" progId="Photoshop.Image.7">
                      <p:embed/>
                      <p:pic>
                        <p:nvPicPr>
                          <p:cNvPr id="0" name="图片 323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305" name="Object 13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5" name="" r:id="rId7" imgW="114300" imgH="215900" progId="Equation.3">
                      <p:embed/>
                    </p:oleObj>
                  </mc:Choice>
                  <mc:Fallback>
                    <p:oleObj name="" r:id="rId7" imgW="114300" imgH="215900" progId="Equation.3">
                      <p:embed/>
                      <p:pic>
                        <p:nvPicPr>
                          <p:cNvPr id="0" name="图片 323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5303" name="Text Box 14"/>
            <p:cNvSpPr txBox="1"/>
            <p:nvPr/>
          </p:nvSpPr>
          <p:spPr>
            <a:xfrm>
              <a:off x="567" y="3385"/>
              <a:ext cx="4490" cy="3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词法分析器</a:t>
              </a:r>
              <a:r>
                <a:rPr lang="en-US" altLang="zh-CN" sz="2800" b="1" dirty="0">
                  <a:solidFill>
                    <a:schemeClr val="tx2"/>
                  </a:solidFill>
                  <a:latin typeface="宋体" pitchFamily="2" charset="-122"/>
                </a:rPr>
                <a:t>/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扫描器</a:t>
              </a:r>
              <a:r>
                <a:rPr lang="zh-CN" altLang="en-US" sz="2800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执行词法分析的程序。</a:t>
              </a:r>
              <a:endParaRPr lang="zh-CN" altLang="en-US" sz="2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20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95288" y="3243263"/>
            <a:ext cx="576263" cy="15541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源程序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1403350" y="3495675"/>
            <a:ext cx="1439863" cy="11604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扫描器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scanner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89092" name="Line 4"/>
          <p:cNvSpPr/>
          <p:nvPr/>
        </p:nvSpPr>
        <p:spPr>
          <a:xfrm>
            <a:off x="971550" y="4076700"/>
            <a:ext cx="431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3" name="Line 5"/>
          <p:cNvSpPr/>
          <p:nvPr/>
        </p:nvSpPr>
        <p:spPr>
          <a:xfrm>
            <a:off x="2844800" y="4076700"/>
            <a:ext cx="358775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4" name="Line 6"/>
          <p:cNvSpPr/>
          <p:nvPr/>
        </p:nvSpPr>
        <p:spPr>
          <a:xfrm>
            <a:off x="3203575" y="2852738"/>
            <a:ext cx="0" cy="2592387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5" name="Line 7"/>
          <p:cNvSpPr/>
          <p:nvPr/>
        </p:nvSpPr>
        <p:spPr>
          <a:xfrm>
            <a:off x="3203575" y="2852738"/>
            <a:ext cx="431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6" name="Line 8"/>
          <p:cNvSpPr/>
          <p:nvPr/>
        </p:nvSpPr>
        <p:spPr>
          <a:xfrm>
            <a:off x="3203575" y="3500438"/>
            <a:ext cx="431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7" name="Line 9"/>
          <p:cNvSpPr/>
          <p:nvPr/>
        </p:nvSpPr>
        <p:spPr>
          <a:xfrm>
            <a:off x="3203575" y="4795838"/>
            <a:ext cx="431800" cy="1587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8" name="Line 10"/>
          <p:cNvSpPr/>
          <p:nvPr/>
        </p:nvSpPr>
        <p:spPr>
          <a:xfrm flipV="1">
            <a:off x="3203575" y="5445125"/>
            <a:ext cx="431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9" name="Text Box 11"/>
          <p:cNvSpPr txBox="1"/>
          <p:nvPr/>
        </p:nvSpPr>
        <p:spPr>
          <a:xfrm>
            <a:off x="3563938" y="2636838"/>
            <a:ext cx="172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、关键字</a:t>
            </a:r>
            <a:endParaRPr lang="zh-CN" altLang="en-US" sz="8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89100" name="Group 12"/>
          <p:cNvGrpSpPr/>
          <p:nvPr/>
        </p:nvGrpSpPr>
        <p:grpSpPr>
          <a:xfrm>
            <a:off x="323850" y="836613"/>
            <a:ext cx="8280400" cy="936625"/>
            <a:chOff x="295" y="709"/>
            <a:chExt cx="5216" cy="590"/>
          </a:xfrm>
        </p:grpSpPr>
        <p:grpSp>
          <p:nvGrpSpPr>
            <p:cNvPr id="56348" name="Group 13"/>
            <p:cNvGrpSpPr/>
            <p:nvPr/>
          </p:nvGrpSpPr>
          <p:grpSpPr>
            <a:xfrm>
              <a:off x="295" y="709"/>
              <a:ext cx="5216" cy="590"/>
              <a:chOff x="720" y="480"/>
              <a:chExt cx="4224" cy="1390"/>
            </a:xfrm>
          </p:grpSpPr>
          <p:graphicFrame>
            <p:nvGraphicFramePr>
              <p:cNvPr id="56350" name="Object 1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3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351" name="Object 1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3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349" name="Text Box 16"/>
            <p:cNvSpPr txBox="1"/>
            <p:nvPr/>
          </p:nvSpPr>
          <p:spPr>
            <a:xfrm>
              <a:off x="385" y="799"/>
              <a:ext cx="394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chemeClr val="tx2"/>
                  </a:solidFill>
                  <a:latin typeface="宋体" pitchFamily="2" charset="-122"/>
                </a:rPr>
                <a:t>词法分析器的</a:t>
              </a:r>
              <a:r>
                <a:rPr lang="zh-CN" altLang="en-US" b="1" dirty="0">
                  <a:solidFill>
                    <a:srgbClr val="FF0066"/>
                  </a:solidFill>
                  <a:latin typeface="宋体" pitchFamily="2" charset="-122"/>
                </a:rPr>
                <a:t>功能</a:t>
              </a:r>
              <a:r>
                <a:rPr lang="zh-CN" altLang="en-US" b="1" dirty="0">
                  <a:solidFill>
                    <a:schemeClr val="tx2"/>
                  </a:solidFill>
                  <a:latin typeface="宋体" pitchFamily="2" charset="-122"/>
                </a:rPr>
                <a:t>如下图所示：</a:t>
              </a:r>
              <a:endParaRPr lang="zh-CN" altLang="en-US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89105" name="Text Box 17"/>
          <p:cNvSpPr txBox="1"/>
          <p:nvPr/>
        </p:nvSpPr>
        <p:spPr>
          <a:xfrm>
            <a:off x="3563938" y="3213100"/>
            <a:ext cx="172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、标识符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06" name="Text Box 18"/>
          <p:cNvSpPr txBox="1"/>
          <p:nvPr/>
        </p:nvSpPr>
        <p:spPr>
          <a:xfrm>
            <a:off x="3563938" y="5121275"/>
            <a:ext cx="172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、界符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07" name="Text Box 19"/>
          <p:cNvSpPr txBox="1"/>
          <p:nvPr/>
        </p:nvSpPr>
        <p:spPr>
          <a:xfrm>
            <a:off x="3565525" y="4473575"/>
            <a:ext cx="172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、运算符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08" name="Text Box 20"/>
          <p:cNvSpPr txBox="1"/>
          <p:nvPr/>
        </p:nvSpPr>
        <p:spPr>
          <a:xfrm>
            <a:off x="3563938" y="3824288"/>
            <a:ext cx="172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、常数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09" name="Line 21"/>
          <p:cNvSpPr/>
          <p:nvPr/>
        </p:nvSpPr>
        <p:spPr>
          <a:xfrm flipV="1">
            <a:off x="3203575" y="4076700"/>
            <a:ext cx="431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110" name="Rectangle 22"/>
          <p:cNvSpPr/>
          <p:nvPr/>
        </p:nvSpPr>
        <p:spPr>
          <a:xfrm>
            <a:off x="5364163" y="2133600"/>
            <a:ext cx="3600450" cy="13208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由程序语言定义的具有固定意义的标识符。也可称为保留字或基本字。例如：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Pascal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中的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begin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end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if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等。</a:t>
            </a:r>
            <a:endParaRPr lang="zh-CN" altLang="en-US" sz="20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11" name="Rectangle 23"/>
          <p:cNvSpPr/>
          <p:nvPr/>
        </p:nvSpPr>
        <p:spPr>
          <a:xfrm>
            <a:off x="5364163" y="4868863"/>
            <a:ext cx="3600450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界符：如逗号、分号、括号、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/*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，*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/ 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等。它是确定的。</a:t>
            </a:r>
            <a:endParaRPr lang="zh-CN" altLang="en-US" sz="20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12" name="Rectangle 24"/>
          <p:cNvSpPr/>
          <p:nvPr/>
        </p:nvSpPr>
        <p:spPr>
          <a:xfrm>
            <a:off x="5364163" y="4302125"/>
            <a:ext cx="3600450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运算符：如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+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-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、*、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/ 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等。它是确定的。</a:t>
            </a:r>
            <a:endParaRPr lang="zh-CN" altLang="en-US" sz="20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13" name="Rectangle 25"/>
          <p:cNvSpPr/>
          <p:nvPr/>
        </p:nvSpPr>
        <p:spPr>
          <a:xfrm>
            <a:off x="5364163" y="3500438"/>
            <a:ext cx="3600450" cy="1016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常数的类型一般有整型、实型、布尔型、文字型等。它是不限的。</a:t>
            </a:r>
            <a:endParaRPr lang="zh-CN" altLang="en-US" sz="20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14" name="Rectangle 26"/>
          <p:cNvSpPr/>
          <p:nvPr/>
        </p:nvSpPr>
        <p:spPr>
          <a:xfrm>
            <a:off x="5364163" y="2852738"/>
            <a:ext cx="3600450" cy="1016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用来表示各种名字，如变量名、数组名、过程名等。它是不限的。</a:t>
            </a:r>
            <a:endParaRPr lang="zh-CN" altLang="en-US" sz="20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9115" name="Line 27"/>
          <p:cNvSpPr/>
          <p:nvPr/>
        </p:nvSpPr>
        <p:spPr>
          <a:xfrm>
            <a:off x="4787900" y="2781300"/>
            <a:ext cx="576263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89116" name="Line 28"/>
          <p:cNvSpPr/>
          <p:nvPr/>
        </p:nvSpPr>
        <p:spPr>
          <a:xfrm>
            <a:off x="4787900" y="3429000"/>
            <a:ext cx="576263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89117" name="Line 29"/>
          <p:cNvSpPr/>
          <p:nvPr/>
        </p:nvSpPr>
        <p:spPr>
          <a:xfrm>
            <a:off x="4643438" y="4005263"/>
            <a:ext cx="720725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89118" name="Line 30"/>
          <p:cNvSpPr/>
          <p:nvPr/>
        </p:nvSpPr>
        <p:spPr>
          <a:xfrm>
            <a:off x="4859338" y="4724400"/>
            <a:ext cx="504825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89119" name="Line 31"/>
          <p:cNvSpPr/>
          <p:nvPr/>
        </p:nvSpPr>
        <p:spPr>
          <a:xfrm>
            <a:off x="4572000" y="5300663"/>
            <a:ext cx="792163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8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8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0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0" dur="500" autoRev="1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500" autoRev="1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500" autoRev="1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0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84" dur="500" autoRev="1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autoRev="1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500" autoRev="1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4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8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8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89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89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0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08" dur="500" autoRev="1" fill="hold"/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9" dur="500" autoRev="1" fill="hold"/>
                                        <p:tgtEl>
                                          <p:spTgt spid="89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500" autoRev="1" fill="hold"/>
                                        <p:tgtEl>
                                          <p:spTgt spid="89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30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8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89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89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89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0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32" dur="500" autoRev="1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3" dur="500" autoRev="1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4" dur="500" autoRev="1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40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0"/>
                                        <p:tgtEl>
                                          <p:spTgt spid="8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89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89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1000"/>
                                        <p:tgtEl>
                                          <p:spTgt spid="89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0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56" dur="500" autoRev="1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500" autoRev="1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autoRev="1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300"/>
                            </p:stCondLst>
                            <p:childTnLst>
                              <p:par>
                                <p:cTn id="1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9" dur="1000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1000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nimBg="1"/>
      <p:bldP spid="89091" grpId="0" animBg="1"/>
      <p:bldP spid="89099" grpId="0"/>
      <p:bldP spid="89099" grpId="1"/>
      <p:bldP spid="89105" grpId="0"/>
      <p:bldP spid="89105" grpId="1"/>
      <p:bldP spid="89106" grpId="0"/>
      <p:bldP spid="89106" grpId="1"/>
      <p:bldP spid="89107" grpId="0"/>
      <p:bldP spid="89107" grpId="1"/>
      <p:bldP spid="89108" grpId="0"/>
      <p:bldP spid="89108" grpId="1"/>
      <p:bldP spid="89110" grpId="0" animBg="1"/>
      <p:bldP spid="89110" grpId="1" animBg="1"/>
      <p:bldP spid="89111" grpId="0" animBg="1"/>
      <p:bldP spid="89111" grpId="1" animBg="1"/>
      <p:bldP spid="89112" grpId="0" animBg="1"/>
      <p:bldP spid="89112" grpId="1" animBg="1"/>
      <p:bldP spid="89113" grpId="0" animBg="1"/>
      <p:bldP spid="89113" grpId="1" animBg="1"/>
      <p:bldP spid="89114" grpId="0" animBg="1"/>
      <p:bldP spid="8911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0116" name="Group 4"/>
          <p:cNvGrpSpPr/>
          <p:nvPr/>
        </p:nvGrpSpPr>
        <p:grpSpPr>
          <a:xfrm>
            <a:off x="323850" y="1125538"/>
            <a:ext cx="8497888" cy="4906962"/>
            <a:chOff x="385" y="1389"/>
            <a:chExt cx="5035" cy="2540"/>
          </a:xfrm>
        </p:grpSpPr>
        <p:grpSp>
          <p:nvGrpSpPr>
            <p:cNvPr id="57362" name="Group 5"/>
            <p:cNvGrpSpPr/>
            <p:nvPr/>
          </p:nvGrpSpPr>
          <p:grpSpPr>
            <a:xfrm>
              <a:off x="385" y="1389"/>
              <a:ext cx="5035" cy="2540"/>
              <a:chOff x="720" y="480"/>
              <a:chExt cx="4224" cy="1390"/>
            </a:xfrm>
          </p:grpSpPr>
          <p:graphicFrame>
            <p:nvGraphicFramePr>
              <p:cNvPr id="57364" name="Object 6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3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9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365" name="Object 7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4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9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7363" name="Text Box 8"/>
            <p:cNvSpPr txBox="1"/>
            <p:nvPr/>
          </p:nvSpPr>
          <p:spPr>
            <a:xfrm>
              <a:off x="385" y="1526"/>
              <a:ext cx="4944" cy="2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词法分析器的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功能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：输入源程序，输出单词符号。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单词符号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：一个程序语言的基本语法符号。分为以下</a:t>
              </a:r>
              <a:r>
                <a:rPr lang="en-US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5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种。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     </a:t>
              </a:r>
              <a:r>
                <a:rPr lang="zh-CN" altLang="en-US" sz="8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关键字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：由程序语言定义的具有固定意义的标识符。也可称为保留字或基本字。例如：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Pascal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中的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begin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end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if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等。它是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确定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标识符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：用来表示各种名字，如变量名、数组名、过程名等。它是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不限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常数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：常数的类型一般有整型、实型、布尔型、文字型等。它是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不限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4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运算符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：如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+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-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、*、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/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等。它是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确定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2057400" indent="-2057400" defTabSz="914400" eaLnBrk="1" hangingPunct="1">
                <a:spcBef>
                  <a:spcPct val="50000"/>
                </a:spcBef>
                <a:buNone/>
                <a:tabLst>
                  <a:tab pos="622300" algn="l"/>
                  <a:tab pos="974725" algn="l"/>
                  <a:tab pos="1079500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5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界符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：如逗号、分号、括号、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/*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，*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/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等。它是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确定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90121" name="Rectangle 9"/>
          <p:cNvSpPr/>
          <p:nvPr/>
        </p:nvSpPr>
        <p:spPr>
          <a:xfrm>
            <a:off x="323850" y="2782888"/>
            <a:ext cx="503238" cy="433387"/>
          </a:xfrm>
          <a:prstGeom prst="rect">
            <a:avLst/>
          </a:prstGeom>
          <a:gradFill rotWithShape="1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00CC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itchFamily="2" charset="-122"/>
              </a:rPr>
              <a:t>确定</a:t>
            </a:r>
            <a:endParaRPr lang="zh-CN" altLang="en-US" sz="18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90122" name="Rectangle 10"/>
          <p:cNvSpPr/>
          <p:nvPr/>
        </p:nvSpPr>
        <p:spPr>
          <a:xfrm>
            <a:off x="323850" y="3717925"/>
            <a:ext cx="503238" cy="504825"/>
          </a:xfrm>
          <a:prstGeom prst="rect">
            <a:avLst/>
          </a:prstGeom>
          <a:gradFill rotWithShape="1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00CCFF"/>
            </a:extrusionClr>
          </a:sp3d>
        </p:spPr>
        <p:txBody>
          <a:bodyPr wrap="none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itchFamily="2" charset="-122"/>
              </a:rPr>
              <a:t>不限</a:t>
            </a:r>
            <a:endParaRPr lang="zh-CN" altLang="en-US" sz="18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57349" name="Line 11"/>
          <p:cNvSpPr/>
          <p:nvPr/>
        </p:nvSpPr>
        <p:spPr>
          <a:xfrm flipV="1">
            <a:off x="971550" y="2711450"/>
            <a:ext cx="865188" cy="358775"/>
          </a:xfrm>
          <a:prstGeom prst="line">
            <a:avLst/>
          </a:prstGeom>
          <a:ln w="9525">
            <a:noFill/>
          </a:ln>
        </p:spPr>
      </p:sp>
      <p:grpSp>
        <p:nvGrpSpPr>
          <p:cNvPr id="90124" name="Group 12"/>
          <p:cNvGrpSpPr/>
          <p:nvPr/>
        </p:nvGrpSpPr>
        <p:grpSpPr>
          <a:xfrm>
            <a:off x="827088" y="2638425"/>
            <a:ext cx="936625" cy="3095625"/>
            <a:chOff x="521" y="2160"/>
            <a:chExt cx="590" cy="1950"/>
          </a:xfrm>
        </p:grpSpPr>
        <p:sp>
          <p:nvSpPr>
            <p:cNvPr id="57356" name="Line 13"/>
            <p:cNvSpPr/>
            <p:nvPr/>
          </p:nvSpPr>
          <p:spPr>
            <a:xfrm>
              <a:off x="703" y="2160"/>
              <a:ext cx="0" cy="195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7357" name="Group 14"/>
            <p:cNvGrpSpPr/>
            <p:nvPr/>
          </p:nvGrpSpPr>
          <p:grpSpPr>
            <a:xfrm>
              <a:off x="521" y="2160"/>
              <a:ext cx="590" cy="1950"/>
              <a:chOff x="521" y="2160"/>
              <a:chExt cx="590" cy="1950"/>
            </a:xfrm>
          </p:grpSpPr>
          <p:sp>
            <p:nvSpPr>
              <p:cNvPr id="57358" name="Line 15"/>
              <p:cNvSpPr/>
              <p:nvPr/>
            </p:nvSpPr>
            <p:spPr>
              <a:xfrm flipH="1" flipV="1">
                <a:off x="521" y="2387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59" name="Line 16"/>
              <p:cNvSpPr/>
              <p:nvPr/>
            </p:nvSpPr>
            <p:spPr>
              <a:xfrm>
                <a:off x="703" y="2160"/>
                <a:ext cx="36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60" name="Line 17"/>
              <p:cNvSpPr/>
              <p:nvPr/>
            </p:nvSpPr>
            <p:spPr>
              <a:xfrm>
                <a:off x="703" y="3793"/>
                <a:ext cx="40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61" name="Line 18"/>
              <p:cNvSpPr/>
              <p:nvPr/>
            </p:nvSpPr>
            <p:spPr>
              <a:xfrm>
                <a:off x="703" y="4110"/>
                <a:ext cx="40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90131" name="Group 19"/>
          <p:cNvGrpSpPr/>
          <p:nvPr/>
        </p:nvGrpSpPr>
        <p:grpSpPr>
          <a:xfrm>
            <a:off x="827088" y="3646488"/>
            <a:ext cx="1079500" cy="792162"/>
            <a:chOff x="476" y="2840"/>
            <a:chExt cx="680" cy="499"/>
          </a:xfrm>
        </p:grpSpPr>
        <p:sp>
          <p:nvSpPr>
            <p:cNvPr id="57352" name="Line 20"/>
            <p:cNvSpPr/>
            <p:nvPr/>
          </p:nvSpPr>
          <p:spPr>
            <a:xfrm>
              <a:off x="476" y="3022"/>
              <a:ext cx="4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3" name="Line 21"/>
            <p:cNvSpPr/>
            <p:nvPr/>
          </p:nvSpPr>
          <p:spPr>
            <a:xfrm>
              <a:off x="884" y="2840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54" name="Line 22"/>
            <p:cNvSpPr/>
            <p:nvPr/>
          </p:nvSpPr>
          <p:spPr>
            <a:xfrm>
              <a:off x="884" y="2840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55" name="Line 23"/>
            <p:cNvSpPr/>
            <p:nvPr/>
          </p:nvSpPr>
          <p:spPr>
            <a:xfrm>
              <a:off x="884" y="3339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 animBg="1"/>
      <p:bldP spid="901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1138" name="Group 2"/>
          <p:cNvGrpSpPr/>
          <p:nvPr/>
        </p:nvGrpSpPr>
        <p:grpSpPr>
          <a:xfrm>
            <a:off x="250825" y="476250"/>
            <a:ext cx="8569325" cy="3529013"/>
            <a:chOff x="340" y="436"/>
            <a:chExt cx="5125" cy="1406"/>
          </a:xfrm>
        </p:grpSpPr>
        <p:grpSp>
          <p:nvGrpSpPr>
            <p:cNvPr id="58376" name="Group 3"/>
            <p:cNvGrpSpPr/>
            <p:nvPr/>
          </p:nvGrpSpPr>
          <p:grpSpPr>
            <a:xfrm>
              <a:off x="340" y="436"/>
              <a:ext cx="5125" cy="1406"/>
              <a:chOff x="720" y="480"/>
              <a:chExt cx="4224" cy="1390"/>
            </a:xfrm>
          </p:grpSpPr>
          <p:graphicFrame>
            <p:nvGraphicFramePr>
              <p:cNvPr id="58378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5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9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379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8377" name="Text Box 6"/>
            <p:cNvSpPr txBox="1"/>
            <p:nvPr/>
          </p:nvSpPr>
          <p:spPr>
            <a:xfrm>
              <a:off x="431" y="527"/>
              <a:ext cx="4944" cy="12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976630" indent="-976630" defTabSz="976630" eaLnBrk="1" hangingPunct="1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单词符号的表示形式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：词法分析器所输出的单词符号常常表示成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976630" indent="-976630" defTabSz="976630" eaLnBrk="1" hangingPunct="1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  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二元式（单词种别，单词自身的值）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。 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976630" indent="-976630" defTabSz="976630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单词种别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可以用以下形式表示：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976630" indent="-976630" defTabSz="976630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、一类单词统一用一个整数值代表其属性。例如：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代表关键字，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代表标识符等。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976630" indent="-976630" defTabSz="976630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、每一个单词一个类别。例如：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代表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BEGIN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代表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END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等。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976630" indent="-976630" defTabSz="976630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单词自身的值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可以表示成：常量的二进制表示；常量、变量等在符号表种的地址码，等等。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91143" name="Group 7"/>
          <p:cNvGrpSpPr/>
          <p:nvPr/>
        </p:nvGrpSpPr>
        <p:grpSpPr>
          <a:xfrm>
            <a:off x="323850" y="4149725"/>
            <a:ext cx="8497888" cy="2376488"/>
            <a:chOff x="158" y="2659"/>
            <a:chExt cx="5353" cy="1497"/>
          </a:xfrm>
        </p:grpSpPr>
        <p:grpSp>
          <p:nvGrpSpPr>
            <p:cNvPr id="58372" name="Group 8"/>
            <p:cNvGrpSpPr/>
            <p:nvPr/>
          </p:nvGrpSpPr>
          <p:grpSpPr>
            <a:xfrm>
              <a:off x="158" y="2659"/>
              <a:ext cx="5353" cy="1497"/>
              <a:chOff x="720" y="480"/>
              <a:chExt cx="4224" cy="1390"/>
            </a:xfrm>
          </p:grpSpPr>
          <p:graphicFrame>
            <p:nvGraphicFramePr>
              <p:cNvPr id="58374" name="Object 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7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9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375" name="Object 1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8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9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8373" name="Text Box 11"/>
            <p:cNvSpPr txBox="1"/>
            <p:nvPr/>
          </p:nvSpPr>
          <p:spPr>
            <a:xfrm>
              <a:off x="204" y="2750"/>
              <a:ext cx="5216" cy="13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注意：</a:t>
              </a: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一个语言的单词符号如何分种，分几种，怎样编码，是一个技术问题。标识符一般同归为一种。常数则宜按类型（整、实、布尔）分。关键字可以将其全体视为一种，也可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一字一种</a:t>
              </a: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。运算符可采用一符一种，但也可把具有一定共性的视为一种。界符则一般采用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一符一种</a:t>
              </a: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。如何进行分种主要取决于处理上的方便。</a:t>
              </a:r>
              <a:endParaRPr lang="zh-CN" altLang="en-US" sz="2000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 若是一符一种分种，单词自身值就不需要了。否则，要查符号表。</a:t>
              </a:r>
              <a:endParaRPr lang="zh-CN" altLang="en-US" sz="20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11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62" name="Group 2"/>
          <p:cNvGrpSpPr/>
          <p:nvPr/>
        </p:nvGrpSpPr>
        <p:grpSpPr>
          <a:xfrm>
            <a:off x="323850" y="836613"/>
            <a:ext cx="8424863" cy="1439862"/>
            <a:chOff x="204" y="346"/>
            <a:chExt cx="5307" cy="907"/>
          </a:xfrm>
        </p:grpSpPr>
        <p:grpSp>
          <p:nvGrpSpPr>
            <p:cNvPr id="59404" name="Group 3"/>
            <p:cNvGrpSpPr/>
            <p:nvPr/>
          </p:nvGrpSpPr>
          <p:grpSpPr>
            <a:xfrm>
              <a:off x="204" y="346"/>
              <a:ext cx="5307" cy="907"/>
              <a:chOff x="720" y="480"/>
              <a:chExt cx="4224" cy="1390"/>
            </a:xfrm>
          </p:grpSpPr>
          <p:graphicFrame>
            <p:nvGraphicFramePr>
              <p:cNvPr id="59406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9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9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07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9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9405" name="Text Box 6"/>
            <p:cNvSpPr txBox="1"/>
            <p:nvPr/>
          </p:nvSpPr>
          <p:spPr>
            <a:xfrm>
              <a:off x="295" y="482"/>
              <a:ext cx="5059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3-1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151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－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FORTRAN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编译程序的词法分析器在扫描输入串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 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IF (5·EQ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·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M) GOTO 100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后，它输出的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单词符号串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是：</a:t>
              </a: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        </a:t>
              </a:r>
              <a:endParaRPr lang="zh-CN" altLang="en-US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92167" name="Text Box 7"/>
          <p:cNvSpPr txBox="1"/>
          <p:nvPr/>
        </p:nvSpPr>
        <p:spPr>
          <a:xfrm>
            <a:off x="-757237" y="2565400"/>
            <a:ext cx="6624637" cy="365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itchFamily="2" charset="-122"/>
              </a:rPr>
              <a:t>        </a:t>
            </a:r>
            <a:r>
              <a:rPr lang="en-US" altLang="zh-CN" sz="800" dirty="0">
                <a:solidFill>
                  <a:schemeClr val="tx2"/>
                </a:solidFill>
                <a:latin typeface="宋体" pitchFamily="2" charset="-122"/>
              </a:rPr>
              <a:t>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逻辑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IF   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34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左括号    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整常数    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，‘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的二进制表示）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等号      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标识符    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，‘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M’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右括号    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GOTO     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       标号      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19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，‘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100’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的二进制表示）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68" name="Rectangle 8"/>
          <p:cNvSpPr/>
          <p:nvPr/>
        </p:nvSpPr>
        <p:spPr>
          <a:xfrm>
            <a:off x="5148263" y="2430463"/>
            <a:ext cx="345598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IF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为关键字，种别编码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34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，采用一符一种的编码方式。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69" name="Rectangle 9"/>
          <p:cNvSpPr/>
          <p:nvPr/>
        </p:nvSpPr>
        <p:spPr>
          <a:xfrm>
            <a:off x="5148263" y="3379788"/>
            <a:ext cx="399573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常数类型，种别编码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，单词自身的值为‘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的二进制表示。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70" name="Rectangle 10"/>
          <p:cNvSpPr/>
          <p:nvPr/>
        </p:nvSpPr>
        <p:spPr>
          <a:xfrm>
            <a:off x="5148263" y="2781300"/>
            <a:ext cx="367188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‘(’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为界符，种别编码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，采用一符一种的编码方式。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71" name="Rectangle 11"/>
          <p:cNvSpPr/>
          <p:nvPr/>
        </p:nvSpPr>
        <p:spPr>
          <a:xfrm>
            <a:off x="5148263" y="3716338"/>
            <a:ext cx="345598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等号为运算符，种别编码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，采用一符一种的编码方式。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72" name="Rectangle 12"/>
          <p:cNvSpPr/>
          <p:nvPr/>
        </p:nvSpPr>
        <p:spPr>
          <a:xfrm>
            <a:off x="5148263" y="4149725"/>
            <a:ext cx="345598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M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为标识符，种别编码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，单词自身值为‘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M’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73" name="Rectangle 13"/>
          <p:cNvSpPr/>
          <p:nvPr/>
        </p:nvSpPr>
        <p:spPr>
          <a:xfrm>
            <a:off x="5148263" y="4724400"/>
            <a:ext cx="345598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‘)’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为界符，种别编码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，采用一符一种的编码方式。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74" name="Rectangle 14"/>
          <p:cNvSpPr/>
          <p:nvPr/>
        </p:nvSpPr>
        <p:spPr>
          <a:xfrm>
            <a:off x="5148263" y="5094288"/>
            <a:ext cx="367188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GOTO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为关键字，种别编码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，采用一符一种的编码方式。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2175" name="Rectangle 15"/>
          <p:cNvSpPr/>
          <p:nvPr/>
        </p:nvSpPr>
        <p:spPr>
          <a:xfrm>
            <a:off x="5148263" y="5661025"/>
            <a:ext cx="3779837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100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为标号，种别编码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19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，单词内部的值用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100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的二进制表示。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1000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1000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1000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7" grpId="0"/>
      <p:bldP spid="92168" grpId="0" animBg="1"/>
      <p:bldP spid="92168" grpId="1" animBg="1"/>
      <p:bldP spid="92169" grpId="0" animBg="1"/>
      <p:bldP spid="92169" grpId="1" animBg="1"/>
      <p:bldP spid="92170" grpId="0" animBg="1"/>
      <p:bldP spid="92170" grpId="1" animBg="1"/>
      <p:bldP spid="92171" grpId="0" animBg="1"/>
      <p:bldP spid="92171" grpId="1" animBg="1"/>
      <p:bldP spid="92172" grpId="0" animBg="1"/>
      <p:bldP spid="92172" grpId="1" animBg="1"/>
      <p:bldP spid="92173" grpId="0" animBg="1"/>
      <p:bldP spid="92173" grpId="1" animBg="1"/>
      <p:bldP spid="92174" grpId="0" animBg="1"/>
      <p:bldP spid="92174" grpId="1" animBg="1"/>
      <p:bldP spid="92175" grpId="0" animBg="1"/>
      <p:bldP spid="92175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3186" name="Group 2"/>
          <p:cNvGrpSpPr/>
          <p:nvPr/>
        </p:nvGrpSpPr>
        <p:grpSpPr>
          <a:xfrm>
            <a:off x="323850" y="692150"/>
            <a:ext cx="8424863" cy="1439863"/>
            <a:chOff x="204" y="346"/>
            <a:chExt cx="5307" cy="907"/>
          </a:xfrm>
        </p:grpSpPr>
        <p:grpSp>
          <p:nvGrpSpPr>
            <p:cNvPr id="60420" name="Group 3"/>
            <p:cNvGrpSpPr/>
            <p:nvPr/>
          </p:nvGrpSpPr>
          <p:grpSpPr>
            <a:xfrm>
              <a:off x="204" y="346"/>
              <a:ext cx="5307" cy="907"/>
              <a:chOff x="720" y="480"/>
              <a:chExt cx="4224" cy="1390"/>
            </a:xfrm>
          </p:grpSpPr>
          <p:graphicFrame>
            <p:nvGraphicFramePr>
              <p:cNvPr id="60422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1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00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423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2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0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0421" name="Text Box 6"/>
            <p:cNvSpPr txBox="1"/>
            <p:nvPr/>
          </p:nvSpPr>
          <p:spPr>
            <a:xfrm>
              <a:off x="295" y="482"/>
              <a:ext cx="5059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3-2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：下述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C++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代码段：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while ( i &gt;= j ) i - -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经词法分析器处理以后，它将被转换为如下的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单词符号串</a:t>
              </a: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        </a:t>
              </a:r>
              <a:endParaRPr lang="zh-CN" altLang="en-US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93191" name="Text Box 7"/>
          <p:cNvSpPr txBox="1"/>
          <p:nvPr/>
        </p:nvSpPr>
        <p:spPr>
          <a:xfrm>
            <a:off x="395288" y="2205038"/>
            <a:ext cx="8208962" cy="4054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while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 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(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 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id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，指向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的符号表指针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&gt;=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 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id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，指向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j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的符号表指针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)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 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id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，指向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的符号表指针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  <a:sym typeface="Wingdings" panose="05000000000000000000" pitchFamily="2" charset="2"/>
              </a:rPr>
              <a:t>( - -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  <a:sym typeface="Wingdings" panose="05000000000000000000" pitchFamily="2" charset="2"/>
              </a:rPr>
              <a:t>_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2784475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(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； 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 )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4291" name="Rectangle 3"/>
          <p:cNvSpPr>
            <a:spLocks noGrp="1" noRot="1"/>
          </p:cNvSpPr>
          <p:nvPr>
            <p:ph idx="1"/>
          </p:nvPr>
        </p:nvSpPr>
        <p:spPr>
          <a:xfrm>
            <a:off x="250825" y="981075"/>
            <a:ext cx="8569325" cy="52546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Tx/>
              <a:buNone/>
            </a:pPr>
            <a:r>
              <a:rPr lang="zh-CN" altLang="en-US" b="1" dirty="0">
                <a:latin typeface="宋体" pitchFamily="2" charset="-122"/>
              </a:rPr>
              <a:t>词法错误</a:t>
            </a:r>
            <a:endParaRPr lang="zh-CN" altLang="en-US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latin typeface="宋体" pitchFamily="2" charset="-122"/>
              </a:rPr>
              <a:t>词法分析器对源程序采取非常局部的观点</a:t>
            </a:r>
            <a:endParaRPr lang="zh-CN" altLang="en-US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latin typeface="宋体" pitchFamily="2" charset="-122"/>
              </a:rPr>
              <a:t>例：难以发现下面的错误</a:t>
            </a:r>
            <a:endParaRPr lang="zh-CN" altLang="en-US" b="1" dirty="0"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itchFamily="2" charset="-122"/>
              </a:rPr>
              <a:t>			</a:t>
            </a:r>
            <a:r>
              <a:rPr lang="en-US" altLang="zh-CN" b="1" dirty="0"/>
              <a:t>fi (a == f (x) ) … 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在实数是</a:t>
            </a:r>
            <a:r>
              <a:rPr lang="zh-CN" altLang="en-US" b="1" dirty="0">
                <a:latin typeface="宋体" pitchFamily="2" charset="-122"/>
              </a:rPr>
              <a:t>“</a:t>
            </a:r>
            <a:r>
              <a:rPr lang="zh-CN" altLang="en-US" b="1" dirty="0"/>
              <a:t>数字串</a:t>
            </a:r>
            <a:r>
              <a:rPr lang="en-US" altLang="zh-CN" b="1" dirty="0"/>
              <a:t>.</a:t>
            </a:r>
            <a:r>
              <a:rPr lang="zh-CN" altLang="en-US" b="1" dirty="0"/>
              <a:t>数字串</a:t>
            </a:r>
            <a:r>
              <a:rPr lang="zh-CN" altLang="en-US" b="1" dirty="0">
                <a:latin typeface="宋体" pitchFamily="2" charset="-122"/>
              </a:rPr>
              <a:t>”</a:t>
            </a:r>
            <a:r>
              <a:rPr lang="zh-CN" altLang="en-US" b="1" dirty="0"/>
              <a:t>格式下，可以发现下面的错误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			123.</a:t>
            </a:r>
            <a:r>
              <a:rPr lang="en-US" altLang="zh-CN" b="1" dirty="0"/>
              <a:t>x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latin typeface="宋体" pitchFamily="2" charset="-122"/>
              </a:rPr>
              <a:t>紧急方式</a:t>
            </a:r>
            <a:r>
              <a:rPr lang="zh-CN" altLang="en-US" b="1" dirty="0"/>
              <a:t>的错误恢复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	删掉当前若干个字符，直至能读出正确的记号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/>
              <a:t>错误修补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	进行增、删、替换和交换字符的尝试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24291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36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24291">
                                            <p:txEl>
                                              <p:charRg st="36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24291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86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24291">
                                            <p:txEl>
                                              <p:charRg st="86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9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24291">
                                            <p:txEl>
                                              <p:charRg st="95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0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24291">
                                            <p:txEl>
                                              <p:charRg st="105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27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24291">
                                            <p:txEl>
                                              <p:charRg st="127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3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524291">
                                            <p:txEl>
                                              <p:charRg st="132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WordArt 2"/>
          <p:cNvSpPr>
            <a:spLocks noTextEdit="1"/>
          </p:cNvSpPr>
          <p:nvPr/>
        </p:nvSpPr>
        <p:spPr>
          <a:xfrm>
            <a:off x="1187450" y="620713"/>
            <a:ext cx="66294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5921" dir="2699999" algn="ctr" rotWithShape="0">
                    <a:srgbClr val="808080">
                      <a:alpha val="79999"/>
                    </a:srgbClr>
                  </a:outerShdw>
                </a:effectLst>
                <a:latin typeface="宋体" charset="0"/>
                <a:ea typeface="宋体" charset="0"/>
              </a:rPr>
              <a:t>词法分析与语法分析的关系</a:t>
            </a:r>
            <a:endParaRPr lang="zh-CN" altLang="en-US" sz="3600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effectLst>
                <a:outerShdw dist="35921" dir="2699999" algn="ctr" rotWithShape="0">
                  <a:srgbClr val="808080">
                    <a:alpha val="79999"/>
                  </a:srgbClr>
                </a:outerShdw>
              </a:effectLst>
              <a:latin typeface="宋体" charset="0"/>
              <a:ea typeface="宋体" charset="0"/>
            </a:endParaRPr>
          </a:p>
        </p:txBody>
      </p:sp>
      <p:grpSp>
        <p:nvGrpSpPr>
          <p:cNvPr id="94211" name="Group 3"/>
          <p:cNvGrpSpPr/>
          <p:nvPr/>
        </p:nvGrpSpPr>
        <p:grpSpPr>
          <a:xfrm>
            <a:off x="323850" y="1268413"/>
            <a:ext cx="8569325" cy="4967287"/>
            <a:chOff x="158" y="845"/>
            <a:chExt cx="5398" cy="1406"/>
          </a:xfrm>
        </p:grpSpPr>
        <p:grpSp>
          <p:nvGrpSpPr>
            <p:cNvPr id="63514" name="Group 4"/>
            <p:cNvGrpSpPr/>
            <p:nvPr/>
          </p:nvGrpSpPr>
          <p:grpSpPr>
            <a:xfrm>
              <a:off x="158" y="845"/>
              <a:ext cx="5398" cy="1406"/>
              <a:chOff x="720" y="480"/>
              <a:chExt cx="4224" cy="1390"/>
            </a:xfrm>
          </p:grpSpPr>
          <p:graphicFrame>
            <p:nvGraphicFramePr>
              <p:cNvPr id="63516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3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0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517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4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0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3515" name="Text Box 7"/>
            <p:cNvSpPr txBox="1"/>
            <p:nvPr/>
          </p:nvSpPr>
          <p:spPr>
            <a:xfrm>
              <a:off x="204" y="890"/>
              <a:ext cx="5307" cy="1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、把词法分析从语法分析中脱离出来的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优点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使编译程序的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结构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更加简洁、清晰和条理化。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词法分析和语法分析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方法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不同，词法分析可以使用正则文法自动构造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简单。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有利于提高语法分析的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效率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可以改善词法分析的细节，甚至于一个语法分析配几个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，把不同的输入变成一种内部表示。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、把词法分析作为独立的一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遍</a:t>
              </a:r>
              <a:endParaRPr lang="zh-CN" altLang="en-US" sz="24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当作一遍。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把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当作子程序。 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94216" name="Group 8"/>
          <p:cNvGrpSpPr/>
          <p:nvPr/>
        </p:nvGrpSpPr>
        <p:grpSpPr>
          <a:xfrm>
            <a:off x="2411413" y="1268413"/>
            <a:ext cx="3717925" cy="4838700"/>
            <a:chOff x="1655" y="754"/>
            <a:chExt cx="2342" cy="3048"/>
          </a:xfrm>
        </p:grpSpPr>
        <p:grpSp>
          <p:nvGrpSpPr>
            <p:cNvPr id="63502" name="Group 9"/>
            <p:cNvGrpSpPr/>
            <p:nvPr/>
          </p:nvGrpSpPr>
          <p:grpSpPr>
            <a:xfrm>
              <a:off x="1655" y="754"/>
              <a:ext cx="2342" cy="2436"/>
              <a:chOff x="567" y="-244"/>
              <a:chExt cx="2342" cy="2436"/>
            </a:xfrm>
          </p:grpSpPr>
          <p:sp>
            <p:nvSpPr>
              <p:cNvPr id="63504" name="AutoShape 10"/>
              <p:cNvSpPr/>
              <p:nvPr/>
            </p:nvSpPr>
            <p:spPr>
              <a:xfrm>
                <a:off x="657" y="-244"/>
                <a:ext cx="726" cy="1536"/>
              </a:xfrm>
              <a:prstGeom prst="can">
                <a:avLst>
                  <a:gd name="adj" fmla="val 52889"/>
                </a:avLst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宋体" pitchFamily="2" charset="-122"/>
                  </a:rPr>
                  <a:t>外存</a:t>
                </a:r>
                <a:endParaRPr lang="zh-CN" altLang="en-US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zh-CN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505" name="Rectangle 11"/>
              <p:cNvSpPr/>
              <p:nvPr/>
            </p:nvSpPr>
            <p:spPr>
              <a:xfrm>
                <a:off x="567" y="1898"/>
                <a:ext cx="828" cy="29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宋体" pitchFamily="2" charset="-122"/>
                  </a:rPr>
                  <a:t>scanner</a:t>
                </a:r>
                <a:endParaRPr lang="en-US" altLang="zh-CN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506" name="Rectangle 12"/>
              <p:cNvSpPr/>
              <p:nvPr/>
            </p:nvSpPr>
            <p:spPr>
              <a:xfrm>
                <a:off x="2019" y="1898"/>
                <a:ext cx="890" cy="29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宋体" pitchFamily="2" charset="-122"/>
                  </a:rPr>
                  <a:t>语法分析</a:t>
                </a:r>
                <a:endParaRPr lang="zh-CN" altLang="en-US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507" name="Line 13"/>
              <p:cNvSpPr/>
              <p:nvPr/>
            </p:nvSpPr>
            <p:spPr>
              <a:xfrm flipV="1">
                <a:off x="1383" y="2034"/>
                <a:ext cx="63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3508" name="Line 14"/>
              <p:cNvSpPr/>
              <p:nvPr/>
            </p:nvSpPr>
            <p:spPr>
              <a:xfrm>
                <a:off x="748" y="1217"/>
                <a:ext cx="0" cy="68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triangle" w="med" len="med"/>
              </a:ln>
            </p:spPr>
          </p:sp>
          <p:sp>
            <p:nvSpPr>
              <p:cNvPr id="63509" name="Line 15"/>
              <p:cNvSpPr/>
              <p:nvPr/>
            </p:nvSpPr>
            <p:spPr>
              <a:xfrm flipV="1">
                <a:off x="1247" y="1263"/>
                <a:ext cx="0" cy="63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triangle" w="med" len="med"/>
              </a:ln>
            </p:spPr>
          </p:sp>
          <p:sp>
            <p:nvSpPr>
              <p:cNvPr id="63510" name="Line 16"/>
              <p:cNvSpPr/>
              <p:nvPr/>
            </p:nvSpPr>
            <p:spPr>
              <a:xfrm>
                <a:off x="1383" y="1036"/>
                <a:ext cx="99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3511" name="Line 17"/>
              <p:cNvSpPr/>
              <p:nvPr/>
            </p:nvSpPr>
            <p:spPr>
              <a:xfrm>
                <a:off x="2382" y="1036"/>
                <a:ext cx="0" cy="86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triangle" w="med" len="med"/>
              </a:ln>
            </p:spPr>
          </p:sp>
          <p:sp>
            <p:nvSpPr>
              <p:cNvPr id="63512" name="Text Box 18"/>
              <p:cNvSpPr txBox="1"/>
              <p:nvPr/>
            </p:nvSpPr>
            <p:spPr>
              <a:xfrm>
                <a:off x="612" y="673"/>
                <a:ext cx="289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rgbClr val="000000"/>
                    </a:solidFill>
                    <a:latin typeface="宋体" pitchFamily="2" charset="-122"/>
                  </a:rPr>
                  <a:t>源程序</a:t>
                </a:r>
                <a:endParaRPr lang="zh-CN" altLang="en-US" sz="1800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513" name="Text Box 19"/>
              <p:cNvSpPr txBox="1"/>
              <p:nvPr/>
            </p:nvSpPr>
            <p:spPr>
              <a:xfrm>
                <a:off x="1111" y="628"/>
                <a:ext cx="289" cy="6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rgbClr val="000000"/>
                    </a:solidFill>
                    <a:latin typeface="宋体" pitchFamily="2" charset="-122"/>
                  </a:rPr>
                  <a:t>单词符号</a:t>
                </a:r>
                <a:endParaRPr lang="zh-CN" altLang="en-US" sz="1800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</p:grpSp>
        <p:sp>
          <p:nvSpPr>
            <p:cNvPr id="63503" name="Text Box 20"/>
            <p:cNvSpPr txBox="1"/>
            <p:nvPr/>
          </p:nvSpPr>
          <p:spPr>
            <a:xfrm>
              <a:off x="1701" y="3475"/>
              <a:ext cx="21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作为一遍</a:t>
              </a:r>
              <a:endParaRPr lang="zh-CN" altLang="en-US" sz="2800" b="1" i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94229" name="Group 21"/>
          <p:cNvGrpSpPr/>
          <p:nvPr/>
        </p:nvGrpSpPr>
        <p:grpSpPr>
          <a:xfrm>
            <a:off x="1403350" y="2997200"/>
            <a:ext cx="5905500" cy="2246313"/>
            <a:chOff x="884" y="1888"/>
            <a:chExt cx="3720" cy="1415"/>
          </a:xfrm>
        </p:grpSpPr>
        <p:grpSp>
          <p:nvGrpSpPr>
            <p:cNvPr id="63494" name="Group 22"/>
            <p:cNvGrpSpPr/>
            <p:nvPr/>
          </p:nvGrpSpPr>
          <p:grpSpPr>
            <a:xfrm>
              <a:off x="1111" y="1888"/>
              <a:ext cx="3474" cy="639"/>
              <a:chOff x="381" y="2340"/>
              <a:chExt cx="3474" cy="639"/>
            </a:xfrm>
          </p:grpSpPr>
          <p:sp>
            <p:nvSpPr>
              <p:cNvPr id="63496" name="Rectangle 23"/>
              <p:cNvSpPr/>
              <p:nvPr/>
            </p:nvSpPr>
            <p:spPr>
              <a:xfrm>
                <a:off x="381" y="2340"/>
                <a:ext cx="506" cy="639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宋体" pitchFamily="2" charset="-122"/>
                  </a:rPr>
                  <a:t>语法</a:t>
                </a:r>
                <a:endParaRPr lang="zh-CN" altLang="en-US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宋体" pitchFamily="2" charset="-122"/>
                  </a:rPr>
                  <a:t>分析</a:t>
                </a:r>
                <a:endParaRPr lang="zh-CN" altLang="en-US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497" name="Rectangle 24"/>
              <p:cNvSpPr/>
              <p:nvPr/>
            </p:nvSpPr>
            <p:spPr>
              <a:xfrm>
                <a:off x="1519" y="2478"/>
                <a:ext cx="1018" cy="371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b="1" dirty="0">
                    <a:solidFill>
                      <a:srgbClr val="000000"/>
                    </a:solidFill>
                    <a:latin typeface="宋体" pitchFamily="2" charset="-122"/>
                  </a:rPr>
                  <a:t>scanner</a:t>
                </a:r>
                <a:endParaRPr lang="en-US" altLang="zh-CN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498" name="Rectangle 25"/>
              <p:cNvSpPr/>
              <p:nvPr/>
            </p:nvSpPr>
            <p:spPr>
              <a:xfrm>
                <a:off x="3061" y="2478"/>
                <a:ext cx="794" cy="33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宋体" pitchFamily="2" charset="-122"/>
                  </a:rPr>
                  <a:t>源程序</a:t>
                </a:r>
                <a:endParaRPr lang="zh-CN" altLang="en-US" sz="2800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63499" name="Line 26"/>
              <p:cNvSpPr/>
              <p:nvPr/>
            </p:nvSpPr>
            <p:spPr>
              <a:xfrm>
                <a:off x="884" y="2568"/>
                <a:ext cx="63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3500" name="Line 27"/>
              <p:cNvSpPr/>
              <p:nvPr/>
            </p:nvSpPr>
            <p:spPr>
              <a:xfrm flipH="1">
                <a:off x="884" y="2750"/>
                <a:ext cx="63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3501" name="Line 28"/>
              <p:cNvSpPr/>
              <p:nvPr/>
            </p:nvSpPr>
            <p:spPr>
              <a:xfrm flipH="1">
                <a:off x="2517" y="2659"/>
                <a:ext cx="544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triangle" w="med" len="med"/>
              </a:ln>
            </p:spPr>
          </p:sp>
        </p:grpSp>
        <p:sp>
          <p:nvSpPr>
            <p:cNvPr id="63495" name="Text Box 29"/>
            <p:cNvSpPr txBox="1"/>
            <p:nvPr/>
          </p:nvSpPr>
          <p:spPr>
            <a:xfrm>
              <a:off x="884" y="2976"/>
              <a:ext cx="3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作为子程序</a:t>
              </a:r>
              <a:endParaRPr lang="zh-CN" altLang="en-US" sz="2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94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94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94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94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ext Box 2"/>
          <p:cNvSpPr txBox="1"/>
          <p:nvPr/>
        </p:nvSpPr>
        <p:spPr>
          <a:xfrm>
            <a:off x="971550" y="5661025"/>
            <a:ext cx="6769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000" b="1" i="1" dirty="0">
              <a:solidFill>
                <a:srgbClr val="006600"/>
              </a:solidFill>
              <a:latin typeface="宋体" pitchFamily="2" charset="-122"/>
            </a:endParaRPr>
          </a:p>
        </p:txBody>
      </p:sp>
      <p:sp>
        <p:nvSpPr>
          <p:cNvPr id="64515" name="WordArt 3"/>
          <p:cNvSpPr>
            <a:spLocks noTextEdit="1"/>
          </p:cNvSpPr>
          <p:nvPr/>
        </p:nvSpPr>
        <p:spPr>
          <a:xfrm>
            <a:off x="2124075" y="549275"/>
            <a:ext cx="43434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5921" dir="2699999" algn="ctr" rotWithShape="0">
                    <a:srgbClr val="808080">
                      <a:alpha val="79999"/>
                    </a:srgbClr>
                  </a:outerShdw>
                </a:effectLst>
                <a:latin typeface="宋体" charset="0"/>
                <a:ea typeface="宋体" charset="0"/>
              </a:rPr>
              <a:t>词法分析器的设计</a:t>
            </a:r>
            <a:endParaRPr lang="zh-CN" altLang="en-US" sz="3600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effectLst>
                <a:outerShdw dist="35921" dir="2699999" algn="ctr" rotWithShape="0">
                  <a:srgbClr val="808080">
                    <a:alpha val="79999"/>
                  </a:srgbClr>
                </a:outerShdw>
              </a:effectLst>
              <a:latin typeface="宋体" charset="0"/>
              <a:ea typeface="宋体" charset="0"/>
            </a:endParaRPr>
          </a:p>
        </p:txBody>
      </p:sp>
      <p:grpSp>
        <p:nvGrpSpPr>
          <p:cNvPr id="95236" name="Group 4"/>
          <p:cNvGrpSpPr/>
          <p:nvPr/>
        </p:nvGrpSpPr>
        <p:grpSpPr>
          <a:xfrm>
            <a:off x="1116013" y="1268413"/>
            <a:ext cx="6911975" cy="1800225"/>
            <a:chOff x="204" y="799"/>
            <a:chExt cx="5216" cy="1180"/>
          </a:xfrm>
        </p:grpSpPr>
        <p:grpSp>
          <p:nvGrpSpPr>
            <p:cNvPr id="64550" name="Group 5"/>
            <p:cNvGrpSpPr/>
            <p:nvPr/>
          </p:nvGrpSpPr>
          <p:grpSpPr>
            <a:xfrm>
              <a:off x="204" y="799"/>
              <a:ext cx="5216" cy="1180"/>
              <a:chOff x="720" y="480"/>
              <a:chExt cx="4224" cy="1390"/>
            </a:xfrm>
          </p:grpSpPr>
          <p:graphicFrame>
            <p:nvGraphicFramePr>
              <p:cNvPr id="64552" name="Object 6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6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2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53" name="Object 7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2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4551" name="Text Box 8"/>
            <p:cNvSpPr txBox="1"/>
            <p:nvPr/>
          </p:nvSpPr>
          <p:spPr>
            <a:xfrm>
              <a:off x="295" y="845"/>
              <a:ext cx="5079" cy="10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设计前提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8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把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scanner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作为一个独立的子程序；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 词法分析器的任务为输出单词符号。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95241" name="WordArt 9"/>
          <p:cNvSpPr>
            <a:spLocks noChangeArrowheads="1" noChangeShapeType="1" noTextEdit="1"/>
          </p:cNvSpPr>
          <p:nvPr/>
        </p:nvSpPr>
        <p:spPr bwMode="auto">
          <a:xfrm>
            <a:off x="3132138" y="3573463"/>
            <a:ext cx="251460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1. 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预处理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00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pSp>
        <p:nvGrpSpPr>
          <p:cNvPr id="95242" name="Group 10"/>
          <p:cNvGrpSpPr/>
          <p:nvPr/>
        </p:nvGrpSpPr>
        <p:grpSpPr>
          <a:xfrm>
            <a:off x="179388" y="4151313"/>
            <a:ext cx="8893175" cy="2373312"/>
            <a:chOff x="238" y="2615"/>
            <a:chExt cx="5464" cy="1450"/>
          </a:xfrm>
        </p:grpSpPr>
        <p:grpSp>
          <p:nvGrpSpPr>
            <p:cNvPr id="64546" name="Group 11"/>
            <p:cNvGrpSpPr/>
            <p:nvPr/>
          </p:nvGrpSpPr>
          <p:grpSpPr>
            <a:xfrm>
              <a:off x="238" y="2615"/>
              <a:ext cx="5364" cy="1450"/>
              <a:chOff x="720" y="480"/>
              <a:chExt cx="4224" cy="1390"/>
            </a:xfrm>
          </p:grpSpPr>
          <p:graphicFrame>
            <p:nvGraphicFramePr>
              <p:cNvPr id="64548" name="Object 12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3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22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49" name="Object 13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4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22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4547" name="Text Box 14"/>
            <p:cNvSpPr txBox="1"/>
            <p:nvPr/>
          </p:nvSpPr>
          <p:spPr>
            <a:xfrm>
              <a:off x="295" y="2648"/>
              <a:ext cx="5407" cy="12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必要性</a:t>
              </a: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编辑性字符如空白符、回车符等，除了出现在文字和 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     常数中以外，在别处出现都没有意义。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功 能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 剔除无用字符。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Char char="•"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实 现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 预处理子程序。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95247" name="Group 15"/>
          <p:cNvGrpSpPr/>
          <p:nvPr/>
        </p:nvGrpSpPr>
        <p:grpSpPr>
          <a:xfrm>
            <a:off x="107950" y="331788"/>
            <a:ext cx="8893175" cy="5976937"/>
            <a:chOff x="158" y="164"/>
            <a:chExt cx="5602" cy="3765"/>
          </a:xfrm>
        </p:grpSpPr>
        <p:sp>
          <p:nvSpPr>
            <p:cNvPr id="64520" name="Text Box 16"/>
            <p:cNvSpPr txBox="1"/>
            <p:nvPr/>
          </p:nvSpPr>
          <p:spPr>
            <a:xfrm>
              <a:off x="2834" y="873"/>
              <a:ext cx="4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输入</a:t>
              </a:r>
              <a:endParaRPr lang="zh-CN" altLang="en-US" sz="20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21" name="Text Box 17"/>
            <p:cNvSpPr txBox="1"/>
            <p:nvPr/>
          </p:nvSpPr>
          <p:spPr>
            <a:xfrm>
              <a:off x="3560" y="1190"/>
              <a:ext cx="4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列表</a:t>
              </a:r>
              <a:endParaRPr lang="zh-CN" altLang="en-US" sz="20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22" name="Rectangle 18"/>
            <p:cNvSpPr/>
            <p:nvPr/>
          </p:nvSpPr>
          <p:spPr>
            <a:xfrm>
              <a:off x="748" y="1371"/>
              <a:ext cx="698" cy="63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预处理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子程序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23" name="Rectangle 19"/>
            <p:cNvSpPr/>
            <p:nvPr/>
          </p:nvSpPr>
          <p:spPr>
            <a:xfrm>
              <a:off x="748" y="2823"/>
              <a:ext cx="698" cy="2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扫描器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24" name="Rectangle 20"/>
            <p:cNvSpPr/>
            <p:nvPr/>
          </p:nvSpPr>
          <p:spPr>
            <a:xfrm>
              <a:off x="2018" y="2069"/>
              <a:ext cx="1082" cy="2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扫描缓冲区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25" name="Rectangle 21"/>
            <p:cNvSpPr/>
            <p:nvPr/>
          </p:nvSpPr>
          <p:spPr>
            <a:xfrm>
              <a:off x="2245" y="1281"/>
              <a:ext cx="1082" cy="2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输入缓冲区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26" name="AutoShape 22"/>
            <p:cNvSpPr/>
            <p:nvPr/>
          </p:nvSpPr>
          <p:spPr>
            <a:xfrm>
              <a:off x="2608" y="164"/>
              <a:ext cx="499" cy="680"/>
            </a:xfrm>
            <a:prstGeom prst="flowChartMultidocumen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64527" name="AutoShape 23"/>
            <p:cNvSpPr/>
            <p:nvPr/>
          </p:nvSpPr>
          <p:spPr>
            <a:xfrm>
              <a:off x="4195" y="1099"/>
              <a:ext cx="499" cy="635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64528" name="Line 24"/>
            <p:cNvSpPr/>
            <p:nvPr/>
          </p:nvSpPr>
          <p:spPr>
            <a:xfrm>
              <a:off x="839" y="2006"/>
              <a:ext cx="0" cy="8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29" name="Line 25"/>
            <p:cNvSpPr/>
            <p:nvPr/>
          </p:nvSpPr>
          <p:spPr>
            <a:xfrm flipV="1">
              <a:off x="1292" y="2006"/>
              <a:ext cx="0" cy="8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30" name="Line 26"/>
            <p:cNvSpPr/>
            <p:nvPr/>
          </p:nvSpPr>
          <p:spPr>
            <a:xfrm>
              <a:off x="1066" y="1054"/>
              <a:ext cx="0" cy="3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31" name="Line 27"/>
            <p:cNvSpPr/>
            <p:nvPr/>
          </p:nvSpPr>
          <p:spPr>
            <a:xfrm>
              <a:off x="930" y="3113"/>
              <a:ext cx="0" cy="3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32" name="Line 28"/>
            <p:cNvSpPr/>
            <p:nvPr/>
          </p:nvSpPr>
          <p:spPr>
            <a:xfrm>
              <a:off x="1429" y="1780"/>
              <a:ext cx="113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33" name="Line 29"/>
            <p:cNvSpPr/>
            <p:nvPr/>
          </p:nvSpPr>
          <p:spPr>
            <a:xfrm>
              <a:off x="2562" y="1780"/>
              <a:ext cx="0" cy="2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4534" name="Line 30"/>
            <p:cNvSpPr/>
            <p:nvPr/>
          </p:nvSpPr>
          <p:spPr>
            <a:xfrm>
              <a:off x="2562" y="2387"/>
              <a:ext cx="0" cy="5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35" name="Line 31"/>
            <p:cNvSpPr/>
            <p:nvPr/>
          </p:nvSpPr>
          <p:spPr>
            <a:xfrm flipH="1">
              <a:off x="1429" y="2914"/>
              <a:ext cx="113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4536" name="Line 32"/>
            <p:cNvSpPr/>
            <p:nvPr/>
          </p:nvSpPr>
          <p:spPr>
            <a:xfrm flipH="1">
              <a:off x="1429" y="1462"/>
              <a:ext cx="81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4537" name="Line 33"/>
            <p:cNvSpPr/>
            <p:nvPr/>
          </p:nvSpPr>
          <p:spPr>
            <a:xfrm>
              <a:off x="2835" y="873"/>
              <a:ext cx="0" cy="4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4538" name="Line 34"/>
            <p:cNvSpPr/>
            <p:nvPr/>
          </p:nvSpPr>
          <p:spPr>
            <a:xfrm>
              <a:off x="3334" y="1417"/>
              <a:ext cx="86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4539" name="Text Box 35"/>
            <p:cNvSpPr txBox="1"/>
            <p:nvPr/>
          </p:nvSpPr>
          <p:spPr>
            <a:xfrm>
              <a:off x="158" y="3158"/>
              <a:ext cx="8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单词符号</a:t>
              </a:r>
              <a:endParaRPr lang="zh-CN" altLang="en-US" sz="20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40" name="Text Box 36"/>
            <p:cNvSpPr txBox="1"/>
            <p:nvPr/>
          </p:nvSpPr>
          <p:spPr>
            <a:xfrm>
              <a:off x="2200" y="3641"/>
              <a:ext cx="29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图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2.1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词法分析器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41" name="Rectangle 37"/>
            <p:cNvSpPr/>
            <p:nvPr/>
          </p:nvSpPr>
          <p:spPr>
            <a:xfrm>
              <a:off x="556" y="3475"/>
              <a:ext cx="1082" cy="2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语法分析器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42" name="Line 38"/>
            <p:cNvSpPr/>
            <p:nvPr/>
          </p:nvSpPr>
          <p:spPr>
            <a:xfrm flipV="1">
              <a:off x="1202" y="3113"/>
              <a:ext cx="0" cy="362"/>
            </a:xfrm>
            <a:prstGeom prst="line">
              <a:avLst/>
            </a:prstGeom>
            <a:ln w="9525" cap="flat" cmpd="sng">
              <a:solidFill>
                <a:srgbClr val="000C0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43" name="Line 39"/>
            <p:cNvSpPr/>
            <p:nvPr/>
          </p:nvSpPr>
          <p:spPr>
            <a:xfrm>
              <a:off x="204" y="2568"/>
              <a:ext cx="5556" cy="46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64544" name="Rectangle 40"/>
            <p:cNvSpPr/>
            <p:nvPr/>
          </p:nvSpPr>
          <p:spPr>
            <a:xfrm>
              <a:off x="5057" y="1071"/>
              <a:ext cx="447" cy="1214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预处理部分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4545" name="Rectangle 41"/>
            <p:cNvSpPr/>
            <p:nvPr/>
          </p:nvSpPr>
          <p:spPr>
            <a:xfrm>
              <a:off x="5103" y="2994"/>
              <a:ext cx="408" cy="754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扫描器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3686" name="Group 22"/>
          <p:cNvGrpSpPr/>
          <p:nvPr/>
        </p:nvGrpSpPr>
        <p:grpSpPr>
          <a:xfrm>
            <a:off x="0" y="620713"/>
            <a:ext cx="9467850" cy="792162"/>
            <a:chOff x="0" y="391"/>
            <a:chExt cx="5964" cy="499"/>
          </a:xfrm>
        </p:grpSpPr>
        <p:grpSp>
          <p:nvGrpSpPr>
            <p:cNvPr id="65583" name="Group 13"/>
            <p:cNvGrpSpPr/>
            <p:nvPr/>
          </p:nvGrpSpPr>
          <p:grpSpPr>
            <a:xfrm>
              <a:off x="0" y="391"/>
              <a:ext cx="5760" cy="499"/>
              <a:chOff x="720" y="480"/>
              <a:chExt cx="4224" cy="1390"/>
            </a:xfrm>
          </p:grpSpPr>
          <p:graphicFrame>
            <p:nvGraphicFramePr>
              <p:cNvPr id="65585" name="Object 1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7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2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586" name="Object 1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8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2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5584" name="Text Box 16"/>
            <p:cNvSpPr txBox="1"/>
            <p:nvPr/>
          </p:nvSpPr>
          <p:spPr>
            <a:xfrm>
              <a:off x="23" y="482"/>
              <a:ext cx="594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若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识别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输入语句 </a:t>
              </a:r>
              <a:r>
                <a:rPr lang="en-US" altLang="zh-CN" sz="2400" b="1" dirty="0">
                  <a:solidFill>
                    <a:schemeClr val="hlink"/>
                  </a:solidFill>
                </a:rPr>
                <a:t>IF (5.EQ.M) GOTO 100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，若缓冲区情况如下所示：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13715" name="Group 51"/>
          <p:cNvGrpSpPr/>
          <p:nvPr/>
        </p:nvGrpSpPr>
        <p:grpSpPr>
          <a:xfrm>
            <a:off x="1908175" y="3108325"/>
            <a:ext cx="5111750" cy="1976438"/>
            <a:chOff x="2381" y="1369"/>
            <a:chExt cx="3220" cy="1245"/>
          </a:xfrm>
        </p:grpSpPr>
        <p:sp>
          <p:nvSpPr>
            <p:cNvPr id="65573" name="Rectangle 5"/>
            <p:cNvSpPr/>
            <p:nvPr/>
          </p:nvSpPr>
          <p:spPr>
            <a:xfrm>
              <a:off x="2699" y="1369"/>
              <a:ext cx="2449" cy="33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            IF (5.EQ.M) GO   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65574" name="Line 23"/>
            <p:cNvSpPr/>
            <p:nvPr/>
          </p:nvSpPr>
          <p:spPr>
            <a:xfrm flipV="1">
              <a:off x="3560" y="1706"/>
              <a:ext cx="0" cy="318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5" name="Line 25"/>
            <p:cNvSpPr/>
            <p:nvPr/>
          </p:nvSpPr>
          <p:spPr>
            <a:xfrm flipV="1">
              <a:off x="3651" y="1706"/>
              <a:ext cx="0" cy="318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6" name="Text Box 28"/>
            <p:cNvSpPr txBox="1"/>
            <p:nvPr/>
          </p:nvSpPr>
          <p:spPr>
            <a:xfrm>
              <a:off x="2744" y="1979"/>
              <a:ext cx="95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起点指示器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5577" name="Text Box 29"/>
            <p:cNvSpPr txBox="1"/>
            <p:nvPr/>
          </p:nvSpPr>
          <p:spPr>
            <a:xfrm>
              <a:off x="3560" y="1979"/>
              <a:ext cx="10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搜索指示器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5578" name="Line 32"/>
            <p:cNvSpPr/>
            <p:nvPr/>
          </p:nvSpPr>
          <p:spPr>
            <a:xfrm>
              <a:off x="2699" y="1706"/>
              <a:ext cx="0" cy="908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9" name="Line 33"/>
            <p:cNvSpPr/>
            <p:nvPr/>
          </p:nvSpPr>
          <p:spPr>
            <a:xfrm>
              <a:off x="5148" y="1706"/>
              <a:ext cx="0" cy="908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0" name="Line 34"/>
            <p:cNvSpPr/>
            <p:nvPr/>
          </p:nvSpPr>
          <p:spPr>
            <a:xfrm flipH="1">
              <a:off x="2699" y="2478"/>
              <a:ext cx="725" cy="0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81" name="Line 35"/>
            <p:cNvSpPr/>
            <p:nvPr/>
          </p:nvSpPr>
          <p:spPr>
            <a:xfrm>
              <a:off x="4513" y="2478"/>
              <a:ext cx="635" cy="0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82" name="Text Box 36"/>
            <p:cNvSpPr txBox="1"/>
            <p:nvPr/>
          </p:nvSpPr>
          <p:spPr>
            <a:xfrm>
              <a:off x="2381" y="2326"/>
              <a:ext cx="32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输入缓冲区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3730" name="Group 66"/>
          <p:cNvGrpSpPr/>
          <p:nvPr/>
        </p:nvGrpSpPr>
        <p:grpSpPr>
          <a:xfrm>
            <a:off x="1908175" y="3141663"/>
            <a:ext cx="5614988" cy="1862137"/>
            <a:chOff x="2654" y="1416"/>
            <a:chExt cx="3537" cy="1173"/>
          </a:xfrm>
        </p:grpSpPr>
        <p:sp>
          <p:nvSpPr>
            <p:cNvPr id="65563" name="Rectangle 53"/>
            <p:cNvSpPr/>
            <p:nvPr/>
          </p:nvSpPr>
          <p:spPr>
            <a:xfrm>
              <a:off x="2972" y="1416"/>
              <a:ext cx="2448" cy="2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 </a:t>
              </a:r>
              <a:r>
                <a:rPr lang="en-US" altLang="zh-CN" sz="2000" b="1" dirty="0">
                  <a:solidFill>
                    <a:schemeClr val="hlink"/>
                  </a:solidFill>
                </a:rPr>
                <a:t>TO 100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              IF (5.EQ.M) GO   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65564" name="Text Box 56"/>
            <p:cNvSpPr txBox="1"/>
            <p:nvPr/>
          </p:nvSpPr>
          <p:spPr>
            <a:xfrm>
              <a:off x="4331" y="1954"/>
              <a:ext cx="95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起点指示器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5565" name="Text Box 57"/>
            <p:cNvSpPr txBox="1"/>
            <p:nvPr/>
          </p:nvSpPr>
          <p:spPr>
            <a:xfrm>
              <a:off x="5147" y="1954"/>
              <a:ext cx="10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搜索指示器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65566" name="Line 58"/>
            <p:cNvSpPr/>
            <p:nvPr/>
          </p:nvSpPr>
          <p:spPr>
            <a:xfrm>
              <a:off x="2972" y="1681"/>
              <a:ext cx="0" cy="908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7" name="Line 59"/>
            <p:cNvSpPr/>
            <p:nvPr/>
          </p:nvSpPr>
          <p:spPr>
            <a:xfrm>
              <a:off x="5421" y="1681"/>
              <a:ext cx="0" cy="908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8" name="Line 60"/>
            <p:cNvSpPr/>
            <p:nvPr/>
          </p:nvSpPr>
          <p:spPr>
            <a:xfrm flipH="1">
              <a:off x="2972" y="2453"/>
              <a:ext cx="725" cy="0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69" name="Line 61"/>
            <p:cNvSpPr/>
            <p:nvPr/>
          </p:nvSpPr>
          <p:spPr>
            <a:xfrm>
              <a:off x="4786" y="2453"/>
              <a:ext cx="635" cy="0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0" name="Text Box 62"/>
            <p:cNvSpPr txBox="1"/>
            <p:nvPr/>
          </p:nvSpPr>
          <p:spPr>
            <a:xfrm>
              <a:off x="2654" y="2301"/>
              <a:ext cx="32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输入缓冲区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65571" name="Line 64"/>
            <p:cNvSpPr/>
            <p:nvPr/>
          </p:nvSpPr>
          <p:spPr>
            <a:xfrm flipV="1">
              <a:off x="5284" y="1661"/>
              <a:ext cx="0" cy="363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2" name="Line 65"/>
            <p:cNvSpPr/>
            <p:nvPr/>
          </p:nvSpPr>
          <p:spPr>
            <a:xfrm flipV="1">
              <a:off x="5148" y="1661"/>
              <a:ext cx="0" cy="363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13737" name="Group 73"/>
          <p:cNvGrpSpPr/>
          <p:nvPr/>
        </p:nvGrpSpPr>
        <p:grpSpPr>
          <a:xfrm>
            <a:off x="684213" y="3455988"/>
            <a:ext cx="7705725" cy="2565400"/>
            <a:chOff x="431" y="2387"/>
            <a:chExt cx="4854" cy="1616"/>
          </a:xfrm>
        </p:grpSpPr>
        <p:sp>
          <p:nvSpPr>
            <p:cNvPr id="65547" name="Line 49"/>
            <p:cNvSpPr/>
            <p:nvPr/>
          </p:nvSpPr>
          <p:spPr>
            <a:xfrm flipV="1">
              <a:off x="4876" y="2704"/>
              <a:ext cx="0" cy="363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65548" name="Group 71"/>
            <p:cNvGrpSpPr/>
            <p:nvPr/>
          </p:nvGrpSpPr>
          <p:grpSpPr>
            <a:xfrm>
              <a:off x="431" y="2387"/>
              <a:ext cx="4854" cy="1616"/>
              <a:chOff x="385" y="2704"/>
              <a:chExt cx="4854" cy="1616"/>
            </a:xfrm>
          </p:grpSpPr>
          <p:sp>
            <p:nvSpPr>
              <p:cNvPr id="65550" name="Rectangle 39"/>
              <p:cNvSpPr/>
              <p:nvPr/>
            </p:nvSpPr>
            <p:spPr>
              <a:xfrm>
                <a:off x="385" y="2704"/>
                <a:ext cx="4853" cy="33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solidFill>
                      <a:schemeClr val="hlink"/>
                    </a:solidFill>
                  </a:rPr>
                  <a:t>TO 100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                                     IF (5.EQ.M) GO   </a:t>
                </a:r>
                <a:endParaRPr lang="en-US" altLang="zh-CN" sz="28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5551" name="Line 41"/>
              <p:cNvSpPr/>
              <p:nvPr/>
            </p:nvSpPr>
            <p:spPr>
              <a:xfrm flipH="1" flipV="1">
                <a:off x="567" y="3022"/>
                <a:ext cx="0" cy="408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5552" name="Text Box 42"/>
              <p:cNvSpPr txBox="1"/>
              <p:nvPr/>
            </p:nvSpPr>
            <p:spPr>
              <a:xfrm>
                <a:off x="4014" y="3324"/>
                <a:ext cx="95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起点指示器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65553" name="Text Box 43"/>
              <p:cNvSpPr txBox="1"/>
              <p:nvPr/>
            </p:nvSpPr>
            <p:spPr>
              <a:xfrm>
                <a:off x="385" y="3324"/>
                <a:ext cx="104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搜索指示器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65554" name="Line 44"/>
              <p:cNvSpPr/>
              <p:nvPr/>
            </p:nvSpPr>
            <p:spPr>
              <a:xfrm>
                <a:off x="385" y="3051"/>
                <a:ext cx="0" cy="1269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555" name="Line 45"/>
              <p:cNvSpPr/>
              <p:nvPr/>
            </p:nvSpPr>
            <p:spPr>
              <a:xfrm>
                <a:off x="5238" y="3051"/>
                <a:ext cx="1" cy="1269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556" name="Line 46"/>
              <p:cNvSpPr/>
              <p:nvPr/>
            </p:nvSpPr>
            <p:spPr>
              <a:xfrm flipH="1">
                <a:off x="385" y="4157"/>
                <a:ext cx="725" cy="0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5557" name="Line 47"/>
              <p:cNvSpPr/>
              <p:nvPr/>
            </p:nvSpPr>
            <p:spPr>
              <a:xfrm>
                <a:off x="4376" y="4202"/>
                <a:ext cx="862" cy="0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5558" name="Text Box 48"/>
              <p:cNvSpPr txBox="1"/>
              <p:nvPr/>
            </p:nvSpPr>
            <p:spPr>
              <a:xfrm>
                <a:off x="1156" y="4020"/>
                <a:ext cx="32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chemeClr val="tx2"/>
                    </a:solidFill>
                  </a:rPr>
                  <a:t>两   个  互  补  输  入  缓  冲  区</a:t>
                </a:r>
                <a:endParaRPr lang="zh-CN" altLang="en-US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5559" name="Line 67"/>
              <p:cNvSpPr/>
              <p:nvPr/>
            </p:nvSpPr>
            <p:spPr>
              <a:xfrm>
                <a:off x="2699" y="3022"/>
                <a:ext cx="0" cy="816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560" name="Line 68"/>
              <p:cNvSpPr/>
              <p:nvPr/>
            </p:nvSpPr>
            <p:spPr>
              <a:xfrm>
                <a:off x="2154" y="3748"/>
                <a:ext cx="545" cy="0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5561" name="Line 69"/>
              <p:cNvSpPr/>
              <p:nvPr/>
            </p:nvSpPr>
            <p:spPr>
              <a:xfrm flipH="1">
                <a:off x="385" y="3748"/>
                <a:ext cx="499" cy="0"/>
              </a:xfrm>
              <a:prstGeom prst="line">
                <a:avLst/>
              </a:prstGeom>
              <a:ln w="9525" cap="flat" cmpd="sng">
                <a:solidFill>
                  <a:srgbClr val="000808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5562" name="Text Box 70"/>
              <p:cNvSpPr txBox="1"/>
              <p:nvPr/>
            </p:nvSpPr>
            <p:spPr>
              <a:xfrm>
                <a:off x="612" y="3596"/>
                <a:ext cx="195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120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个字符</a:t>
                </a:r>
                <a:endParaRPr lang="zh-CN" altLang="en-US" sz="2400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65549" name="Line 72"/>
            <p:cNvSpPr/>
            <p:nvPr/>
          </p:nvSpPr>
          <p:spPr>
            <a:xfrm>
              <a:off x="2744" y="2387"/>
              <a:ext cx="0" cy="317"/>
            </a:xfrm>
            <a:prstGeom prst="line">
              <a:avLst/>
            </a:prstGeom>
            <a:ln w="9525" cap="flat" cmpd="sng">
              <a:solidFill>
                <a:srgbClr val="000808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3738" name="Group 74"/>
          <p:cNvGrpSpPr/>
          <p:nvPr/>
        </p:nvGrpSpPr>
        <p:grpSpPr>
          <a:xfrm>
            <a:off x="323850" y="692150"/>
            <a:ext cx="8496300" cy="2232025"/>
            <a:chOff x="204" y="346"/>
            <a:chExt cx="5352" cy="1406"/>
          </a:xfrm>
        </p:grpSpPr>
        <p:grpSp>
          <p:nvGrpSpPr>
            <p:cNvPr id="65543" name="Group 75"/>
            <p:cNvGrpSpPr/>
            <p:nvPr/>
          </p:nvGrpSpPr>
          <p:grpSpPr>
            <a:xfrm>
              <a:off x="204" y="346"/>
              <a:ext cx="5352" cy="1406"/>
              <a:chOff x="720" y="480"/>
              <a:chExt cx="4224" cy="1390"/>
            </a:xfrm>
          </p:grpSpPr>
          <p:graphicFrame>
            <p:nvGraphicFramePr>
              <p:cNvPr id="65545" name="Object 76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5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546" name="Object 77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6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5544" name="Text Box 78"/>
            <p:cNvSpPr txBox="1"/>
            <p:nvPr/>
          </p:nvSpPr>
          <p:spPr>
            <a:xfrm>
              <a:off x="295" y="482"/>
              <a:ext cx="5125" cy="12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扫描缓冲区的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结构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缓冲区大小</a:t>
              </a: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120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个字符。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采用两个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指示器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：起点指示器、搜索指示器。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两个互补区</a:t>
              </a: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0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13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13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13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1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WordArt 2"/>
          <p:cNvSpPr>
            <a:spLocks noChangeArrowheads="1" noChangeShapeType="1" noTextEdit="1"/>
          </p:cNvSpPr>
          <p:nvPr/>
        </p:nvSpPr>
        <p:spPr bwMode="auto">
          <a:xfrm>
            <a:off x="1042988" y="692150"/>
            <a:ext cx="708660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单词符号的识别</a:t>
            </a: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——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超前搜索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00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pSp>
        <p:nvGrpSpPr>
          <p:cNvPr id="97283" name="Group 3"/>
          <p:cNvGrpSpPr/>
          <p:nvPr/>
        </p:nvGrpSpPr>
        <p:grpSpPr>
          <a:xfrm>
            <a:off x="395288" y="1412875"/>
            <a:ext cx="5761037" cy="4608513"/>
            <a:chOff x="249" y="890"/>
            <a:chExt cx="3629" cy="2903"/>
          </a:xfrm>
        </p:grpSpPr>
        <p:grpSp>
          <p:nvGrpSpPr>
            <p:cNvPr id="66574" name="Group 4"/>
            <p:cNvGrpSpPr/>
            <p:nvPr/>
          </p:nvGrpSpPr>
          <p:grpSpPr>
            <a:xfrm>
              <a:off x="249" y="890"/>
              <a:ext cx="3629" cy="2903"/>
              <a:chOff x="720" y="480"/>
              <a:chExt cx="4224" cy="1390"/>
            </a:xfrm>
          </p:grpSpPr>
          <p:graphicFrame>
            <p:nvGraphicFramePr>
              <p:cNvPr id="66576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577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8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3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575" name="Text Box 7"/>
            <p:cNvSpPr txBox="1"/>
            <p:nvPr/>
          </p:nvSpPr>
          <p:spPr>
            <a:xfrm>
              <a:off x="340" y="981"/>
              <a:ext cx="3447" cy="27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单词符号识别的简单方法：</a:t>
              </a:r>
              <a:r>
                <a:rPr lang="zh-CN" altLang="en-US" sz="2400" dirty="0">
                  <a:solidFill>
                    <a:srgbClr val="FF0000"/>
                  </a:solidFill>
                  <a:latin typeface="宋体" pitchFamily="2" charset="-122"/>
                </a:rPr>
                <a:t>超前搜索</a:t>
              </a: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关键字识别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例如：在标准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FORTRAN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中 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  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DO99K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= 1,10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     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latin typeface="宋体" pitchFamily="2" charset="-122"/>
                </a:rPr>
                <a:t>IF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(5.EQ.M)I = 10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     3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DO99K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= 1.10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     4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latin typeface="宋体" pitchFamily="2" charset="-122"/>
                </a:rPr>
                <a:t>IF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(5) = 55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endParaRPr lang="en-US" altLang="zh-CN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97288" name="Line 8"/>
          <p:cNvSpPr/>
          <p:nvPr/>
        </p:nvSpPr>
        <p:spPr>
          <a:xfrm>
            <a:off x="4356100" y="3429000"/>
            <a:ext cx="2376488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89" name="Line 9"/>
          <p:cNvSpPr/>
          <p:nvPr/>
        </p:nvSpPr>
        <p:spPr>
          <a:xfrm>
            <a:off x="4932363" y="4005263"/>
            <a:ext cx="1800225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90" name="Line 10"/>
          <p:cNvSpPr/>
          <p:nvPr/>
        </p:nvSpPr>
        <p:spPr>
          <a:xfrm>
            <a:off x="6732588" y="3429000"/>
            <a:ext cx="0" cy="576263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91" name="Line 11"/>
          <p:cNvSpPr/>
          <p:nvPr/>
        </p:nvSpPr>
        <p:spPr>
          <a:xfrm>
            <a:off x="6732588" y="3716338"/>
            <a:ext cx="4318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92" name="Rectangle 12"/>
          <p:cNvSpPr/>
          <p:nvPr/>
        </p:nvSpPr>
        <p:spPr>
          <a:xfrm>
            <a:off x="7164388" y="3357563"/>
            <a:ext cx="1477962" cy="709612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其中的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DO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IF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为关键字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7293" name="Rectangle 13"/>
          <p:cNvSpPr/>
          <p:nvPr/>
        </p:nvSpPr>
        <p:spPr>
          <a:xfrm>
            <a:off x="7164388" y="4356100"/>
            <a:ext cx="1477962" cy="1016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其中的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DO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IF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为标识符的一部分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7294" name="Line 14"/>
          <p:cNvSpPr/>
          <p:nvPr/>
        </p:nvSpPr>
        <p:spPr>
          <a:xfrm>
            <a:off x="4356100" y="4581525"/>
            <a:ext cx="2376488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95" name="Line 15"/>
          <p:cNvSpPr/>
          <p:nvPr/>
        </p:nvSpPr>
        <p:spPr>
          <a:xfrm>
            <a:off x="4067175" y="5157788"/>
            <a:ext cx="2665413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96" name="Line 16"/>
          <p:cNvSpPr/>
          <p:nvPr/>
        </p:nvSpPr>
        <p:spPr>
          <a:xfrm>
            <a:off x="6732588" y="4581525"/>
            <a:ext cx="0" cy="576263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297" name="Line 17"/>
          <p:cNvSpPr/>
          <p:nvPr/>
        </p:nvSpPr>
        <p:spPr>
          <a:xfrm>
            <a:off x="6732588" y="4868863"/>
            <a:ext cx="4318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2" grpId="0" animBg="1"/>
      <p:bldP spid="9729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8306" name="Group 2"/>
          <p:cNvGrpSpPr/>
          <p:nvPr/>
        </p:nvGrpSpPr>
        <p:grpSpPr>
          <a:xfrm>
            <a:off x="539750" y="765175"/>
            <a:ext cx="7993063" cy="5307013"/>
            <a:chOff x="340" y="482"/>
            <a:chExt cx="5035" cy="3469"/>
          </a:xfrm>
        </p:grpSpPr>
        <p:grpSp>
          <p:nvGrpSpPr>
            <p:cNvPr id="67587" name="Group 3"/>
            <p:cNvGrpSpPr/>
            <p:nvPr/>
          </p:nvGrpSpPr>
          <p:grpSpPr>
            <a:xfrm>
              <a:off x="340" y="482"/>
              <a:ext cx="5035" cy="3402"/>
              <a:chOff x="720" y="480"/>
              <a:chExt cx="4224" cy="1390"/>
            </a:xfrm>
          </p:grpSpPr>
          <p:graphicFrame>
            <p:nvGraphicFramePr>
              <p:cNvPr id="67589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5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1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590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1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7588" name="Text Box 6"/>
            <p:cNvSpPr txBox="1"/>
            <p:nvPr/>
          </p:nvSpPr>
          <p:spPr>
            <a:xfrm>
              <a:off x="466" y="589"/>
              <a:ext cx="4783" cy="33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8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标识符的识别</a:t>
              </a:r>
              <a:endParaRPr lang="zh-CN" altLang="en-US" sz="24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多数语言的标识符是字母开头的“字母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/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数字”串，而且在程序中标识符的出现后都跟着算符或界符。因此，不难识别。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常数的识别</a:t>
              </a:r>
              <a:endParaRPr lang="zh-CN" altLang="en-US" sz="24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对于某些语言的常数的识别也需要使用超前搜索。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算符和界符的识别</a:t>
              </a:r>
              <a:endParaRPr lang="zh-CN" altLang="en-US" sz="24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对于诸如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C++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语言中的“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+ +”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、“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- -”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，这种复合成的算符，需要超前搜索。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endParaRPr lang="zh-CN" altLang="en-US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 noRot="1"/>
          </p:cNvSpPr>
          <p:nvPr>
            <p:ph type="title"/>
          </p:nvPr>
        </p:nvSpPr>
        <p:spPr>
          <a:xfrm>
            <a:off x="200025" y="1052513"/>
            <a:ext cx="8540750" cy="1143000"/>
          </a:xfrm>
          <a:solidFill>
            <a:srgbClr val="D6E0FF">
              <a:alpha val="100000"/>
            </a:srgbClr>
          </a:solidFill>
          <a:ln/>
        </p:spPr>
        <p:txBody>
          <a:bodyPr vert="horz" wrap="square" lIns="91440" tIns="45720" rIns="91440" bIns="45720" anchor="ctr" anchorCtr="0"/>
          <a:p>
            <a:r>
              <a:rPr lang="zh-CN" altLang="en-US" sz="4000" dirty="0"/>
              <a:t>词法分析</a:t>
            </a:r>
            <a:r>
              <a:rPr lang="en-US" altLang="zh-CN" sz="4000" dirty="0"/>
              <a:t>-</a:t>
            </a:r>
            <a:r>
              <a:rPr lang="zh-CN" altLang="en-US" sz="4000" dirty="0"/>
              <a:t>识别单词，校正拼写错误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2722563"/>
            <a:ext cx="8135938" cy="2540000"/>
          </a:xfrm>
          <a:solidFill>
            <a:schemeClr val="tx1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描述工具：正规文法、正规式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识别工具：有限自动机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6227763" y="3141663"/>
            <a:ext cx="619125" cy="169862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9100" y="3452813"/>
            <a:ext cx="2316163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zh-CN" altLang="en-US" b="1" dirty="0">
                <a:solidFill>
                  <a:srgbClr val="FF0000"/>
                </a:solidFill>
              </a:rPr>
              <a:t>单词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（正规集）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charRg st="15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/>
      <p:bldP spid="3" grpId="0" animBg="1" uiExpand="1" build="p"/>
      <p:bldP spid="3" grpId="1" animBg="1" build="p"/>
      <p:bldP spid="5" grpId="0"/>
      <p:bldP spid="5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4930" name="Group 2"/>
          <p:cNvGrpSpPr/>
          <p:nvPr/>
        </p:nvGrpSpPr>
        <p:grpSpPr>
          <a:xfrm>
            <a:off x="142875" y="1628775"/>
            <a:ext cx="8893175" cy="4321175"/>
            <a:chOff x="158" y="1162"/>
            <a:chExt cx="5444" cy="2223"/>
          </a:xfrm>
        </p:grpSpPr>
        <p:grpSp>
          <p:nvGrpSpPr>
            <p:cNvPr id="69663" name="Group 3"/>
            <p:cNvGrpSpPr/>
            <p:nvPr/>
          </p:nvGrpSpPr>
          <p:grpSpPr>
            <a:xfrm>
              <a:off x="159" y="1162"/>
              <a:ext cx="5443" cy="2223"/>
              <a:chOff x="720" y="480"/>
              <a:chExt cx="4224" cy="1390"/>
            </a:xfrm>
          </p:grpSpPr>
          <p:graphicFrame>
            <p:nvGraphicFramePr>
              <p:cNvPr id="69665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7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1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666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8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1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9664" name="Text Box 6"/>
            <p:cNvSpPr txBox="1"/>
            <p:nvPr/>
          </p:nvSpPr>
          <p:spPr>
            <a:xfrm>
              <a:off x="158" y="1207"/>
              <a:ext cx="5398" cy="20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正规式与正规集的递归定义：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l-GR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ε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和</a:t>
              </a:r>
              <a:r>
                <a:rPr lang="el-GR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都是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字母表∑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上的正规式，它们所表示的正规集分别为</a:t>
              </a:r>
              <a:r>
                <a:rPr lang="en-US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{</a:t>
              </a:r>
              <a:r>
                <a:rPr lang="el-GR" altLang="zh-CN" sz="2000" b="1" dirty="0">
                  <a:solidFill>
                    <a:srgbClr val="FF0066"/>
                  </a:solidFill>
                  <a:latin typeface="Arial" panose="020B0604020202090204" pitchFamily="34" charset="0"/>
                </a:rPr>
                <a:t>ε</a:t>
              </a:r>
              <a:r>
                <a:rPr lang="en-US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}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和</a:t>
              </a:r>
              <a:r>
                <a:rPr lang="el-GR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、任何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a∈∑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是∑上的一个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正规式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，它所表示的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正规集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为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{a}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 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正规式            正规集         正规式         正规集</a:t>
              </a:r>
              <a:endParaRPr lang="zh-CN" altLang="en-US" sz="20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U                L(U)      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（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U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|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V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）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L(U)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∪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L(V)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V                L(V)      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（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U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·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V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）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L(U)L(V)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                   (U)</a:t>
              </a:r>
              <a:r>
                <a:rPr lang="en-US" altLang="zh-CN" sz="2000" b="1" baseline="30000" dirty="0">
                  <a:solidFill>
                    <a:schemeClr val="hlink"/>
                  </a:solidFill>
                  <a:latin typeface="宋体" pitchFamily="2" charset="-122"/>
                </a:rPr>
                <a:t>* 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     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L(U)</a:t>
              </a:r>
              <a:r>
                <a:rPr lang="en-US" altLang="zh-CN" sz="2000" b="1" baseline="30000" dirty="0">
                  <a:solidFill>
                    <a:schemeClr val="hlink"/>
                  </a:solidFill>
                  <a:latin typeface="宋体" pitchFamily="2" charset="-122"/>
                </a:rPr>
                <a:t>*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（闭包）</a:t>
              </a:r>
              <a:endParaRPr lang="zh-CN" altLang="en-US" sz="20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仅由有限次使用上述三步骤而得到的表达式才是∑上的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正规式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。仅由这 些正规式所表示的子集才是∑上的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正规集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9635" name="WordArt 7"/>
          <p:cNvSpPr>
            <a:spLocks noTextEdit="1"/>
          </p:cNvSpPr>
          <p:nvPr/>
        </p:nvSpPr>
        <p:spPr>
          <a:xfrm>
            <a:off x="1692275" y="354013"/>
            <a:ext cx="5715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5921" dir="2699999" algn="ctr" rotWithShape="0">
                    <a:srgbClr val="808080">
                      <a:alpha val="79999"/>
                    </a:srgbClr>
                  </a:outerShdw>
                </a:effectLst>
                <a:latin typeface="宋体" charset="0"/>
                <a:ea typeface="宋体" charset="0"/>
              </a:rPr>
              <a:t>正规表达式与有限自动机</a:t>
            </a:r>
            <a:endParaRPr lang="zh-CN" altLang="en-US" sz="3600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effectLst>
                <a:outerShdw dist="35921" dir="2699999" algn="ctr" rotWithShape="0">
                  <a:srgbClr val="808080">
                    <a:alpha val="79999"/>
                  </a:srgbClr>
                </a:outerShdw>
              </a:effectLst>
              <a:latin typeface="宋体" charset="0"/>
              <a:ea typeface="宋体" charset="0"/>
            </a:endParaRPr>
          </a:p>
        </p:txBody>
      </p:sp>
      <p:sp>
        <p:nvSpPr>
          <p:cNvPr id="69636" name="WordArt 8"/>
          <p:cNvSpPr>
            <a:spLocks noTextEdit="1"/>
          </p:cNvSpPr>
          <p:nvPr/>
        </p:nvSpPr>
        <p:spPr>
          <a:xfrm>
            <a:off x="2339975" y="1027113"/>
            <a:ext cx="43434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5921" dir="2699999" algn="ctr" rotWithShape="0">
                    <a:srgbClr val="808080">
                      <a:alpha val="79999"/>
                    </a:srgbClr>
                  </a:outerShdw>
                </a:effectLst>
                <a:latin typeface="宋体" charset="0"/>
                <a:ea typeface="宋体" charset="0"/>
              </a:rPr>
              <a:t>正规式与正规集</a:t>
            </a:r>
            <a:endParaRPr lang="zh-CN" altLang="en-US" sz="3600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effectLst>
                <a:outerShdw dist="35921" dir="2699999" algn="ctr" rotWithShape="0">
                  <a:srgbClr val="808080">
                    <a:alpha val="79999"/>
                  </a:srgbClr>
                </a:outerShdw>
              </a:effectLst>
              <a:latin typeface="宋体" charset="0"/>
              <a:ea typeface="宋体" charset="0"/>
            </a:endParaRPr>
          </a:p>
        </p:txBody>
      </p:sp>
      <p:sp>
        <p:nvSpPr>
          <p:cNvPr id="124937" name="AutoShape 9"/>
          <p:cNvSpPr/>
          <p:nvPr/>
        </p:nvSpPr>
        <p:spPr>
          <a:xfrm>
            <a:off x="4756150" y="-39687"/>
            <a:ext cx="4386263" cy="2468562"/>
          </a:xfrm>
          <a:prstGeom prst="irregularSeal1">
            <a:avLst/>
          </a:prstGeom>
          <a:solidFill>
            <a:schemeClr val="accent1">
              <a:alpha val="98822"/>
            </a:schemeClr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运算符的优先顺序：先</a:t>
            </a:r>
            <a:r>
              <a:rPr lang="zh-CN" altLang="en-US" sz="1800" b="1" dirty="0">
                <a:solidFill>
                  <a:srgbClr val="FF0000"/>
                </a:solidFill>
                <a:latin typeface="宋体" pitchFamily="2" charset="-122"/>
              </a:rPr>
              <a:t>“*”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，次</a:t>
            </a:r>
            <a:r>
              <a:rPr lang="zh-CN" altLang="en-US" sz="1800" b="1" dirty="0">
                <a:solidFill>
                  <a:srgbClr val="FF0000"/>
                </a:solidFill>
                <a:latin typeface="宋体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宋体" pitchFamily="2" charset="-122"/>
              </a:rPr>
              <a:t>·”</a:t>
            </a:r>
            <a:r>
              <a:rPr lang="en-US" altLang="zh-CN" sz="18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，最后</a:t>
            </a:r>
            <a:r>
              <a:rPr lang="zh-CN" altLang="en-US" sz="1800" b="1" dirty="0">
                <a:solidFill>
                  <a:srgbClr val="FF0000"/>
                </a:solidFill>
                <a:latin typeface="宋体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宋体" pitchFamily="2" charset="-122"/>
              </a:rPr>
              <a:t>|”</a:t>
            </a:r>
            <a:endParaRPr lang="en-US" altLang="zh-CN" sz="18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grpSp>
        <p:nvGrpSpPr>
          <p:cNvPr id="124938" name="Group 10"/>
          <p:cNvGrpSpPr/>
          <p:nvPr/>
        </p:nvGrpSpPr>
        <p:grpSpPr>
          <a:xfrm>
            <a:off x="3276600" y="3570288"/>
            <a:ext cx="2374900" cy="2954337"/>
            <a:chOff x="2064" y="2249"/>
            <a:chExt cx="1496" cy="1861"/>
          </a:xfrm>
        </p:grpSpPr>
        <p:grpSp>
          <p:nvGrpSpPr>
            <p:cNvPr id="69657" name="Group 11"/>
            <p:cNvGrpSpPr/>
            <p:nvPr/>
          </p:nvGrpSpPr>
          <p:grpSpPr>
            <a:xfrm>
              <a:off x="2789" y="2249"/>
              <a:ext cx="771" cy="1635"/>
              <a:chOff x="2789" y="2249"/>
              <a:chExt cx="771" cy="1635"/>
            </a:xfrm>
          </p:grpSpPr>
          <p:sp>
            <p:nvSpPr>
              <p:cNvPr id="69659" name="Oval 12"/>
              <p:cNvSpPr/>
              <p:nvPr/>
            </p:nvSpPr>
            <p:spPr>
              <a:xfrm>
                <a:off x="3345" y="2249"/>
                <a:ext cx="215" cy="33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2000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grpSp>
            <p:nvGrpSpPr>
              <p:cNvPr id="69660" name="Group 13"/>
              <p:cNvGrpSpPr/>
              <p:nvPr/>
            </p:nvGrpSpPr>
            <p:grpSpPr>
              <a:xfrm>
                <a:off x="2789" y="2614"/>
                <a:ext cx="647" cy="1270"/>
                <a:chOff x="930" y="2659"/>
                <a:chExt cx="544" cy="1089"/>
              </a:xfrm>
            </p:grpSpPr>
            <p:sp>
              <p:nvSpPr>
                <p:cNvPr id="69661" name="Line 14"/>
                <p:cNvSpPr/>
                <p:nvPr/>
              </p:nvSpPr>
              <p:spPr>
                <a:xfrm>
                  <a:off x="1474" y="2659"/>
                  <a:ext cx="0" cy="1089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lgDashDotDot"/>
                  <a:headEnd type="none" w="med" len="med"/>
                  <a:tailEnd type="none" w="med" len="med"/>
                </a:ln>
              </p:spPr>
            </p:sp>
            <p:sp>
              <p:nvSpPr>
                <p:cNvPr id="69662" name="Line 15"/>
                <p:cNvSpPr/>
                <p:nvPr/>
              </p:nvSpPr>
              <p:spPr>
                <a:xfrm flipH="1">
                  <a:off x="930" y="3748"/>
                  <a:ext cx="544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lgDashDotDot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9658" name="Rectangle 16"/>
            <p:cNvSpPr/>
            <p:nvPr/>
          </p:nvSpPr>
          <p:spPr>
            <a:xfrm>
              <a:off x="2064" y="3700"/>
              <a:ext cx="726" cy="410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itchFamily="2" charset="-122"/>
                </a:rPr>
                <a:t>“</a:t>
              </a:r>
              <a:r>
                <a:rPr lang="en-US" altLang="zh-CN" sz="1800" b="1" dirty="0">
                  <a:solidFill>
                    <a:srgbClr val="FF0000"/>
                  </a:solidFill>
                  <a:latin typeface="宋体" pitchFamily="2" charset="-122"/>
                </a:rPr>
                <a:t>|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itchFamily="2" charset="-122"/>
                </a:rPr>
                <a:t>”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itchFamily="2" charset="-122"/>
                </a:rPr>
                <a:t>读做“或”</a:t>
              </a:r>
              <a:endParaRPr lang="zh-CN" altLang="en-US" sz="1800" b="1" dirty="0">
                <a:solidFill>
                  <a:schemeClr val="accent2"/>
                </a:solidFill>
                <a:latin typeface="宋体" pitchFamily="2" charset="-122"/>
              </a:endParaRPr>
            </a:p>
          </p:txBody>
        </p:sp>
      </p:grpSp>
      <p:grpSp>
        <p:nvGrpSpPr>
          <p:cNvPr id="124945" name="Group 17"/>
          <p:cNvGrpSpPr/>
          <p:nvPr/>
        </p:nvGrpSpPr>
        <p:grpSpPr>
          <a:xfrm>
            <a:off x="3132138" y="4005263"/>
            <a:ext cx="2519362" cy="2595562"/>
            <a:chOff x="1973" y="2523"/>
            <a:chExt cx="1587" cy="1635"/>
          </a:xfrm>
        </p:grpSpPr>
        <p:grpSp>
          <p:nvGrpSpPr>
            <p:cNvPr id="69651" name="Group 18"/>
            <p:cNvGrpSpPr/>
            <p:nvPr/>
          </p:nvGrpSpPr>
          <p:grpSpPr>
            <a:xfrm>
              <a:off x="2925" y="2523"/>
              <a:ext cx="635" cy="1497"/>
              <a:chOff x="3651" y="2523"/>
              <a:chExt cx="635" cy="1497"/>
            </a:xfrm>
          </p:grpSpPr>
          <p:sp>
            <p:nvSpPr>
              <p:cNvPr id="69653" name="Oval 19"/>
              <p:cNvSpPr/>
              <p:nvPr/>
            </p:nvSpPr>
            <p:spPr>
              <a:xfrm>
                <a:off x="4105" y="2523"/>
                <a:ext cx="181" cy="336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2000" b="1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grpSp>
            <p:nvGrpSpPr>
              <p:cNvPr id="69654" name="Group 20"/>
              <p:cNvGrpSpPr/>
              <p:nvPr/>
            </p:nvGrpSpPr>
            <p:grpSpPr>
              <a:xfrm>
                <a:off x="3651" y="2886"/>
                <a:ext cx="545" cy="1134"/>
                <a:chOff x="930" y="2659"/>
                <a:chExt cx="544" cy="1089"/>
              </a:xfrm>
            </p:grpSpPr>
            <p:sp>
              <p:nvSpPr>
                <p:cNvPr id="69655" name="Line 21"/>
                <p:cNvSpPr/>
                <p:nvPr/>
              </p:nvSpPr>
              <p:spPr>
                <a:xfrm>
                  <a:off x="1474" y="2659"/>
                  <a:ext cx="0" cy="1089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lgDashDotDot"/>
                  <a:headEnd type="none" w="med" len="med"/>
                  <a:tailEnd type="none" w="med" len="med"/>
                </a:ln>
              </p:spPr>
            </p:sp>
            <p:sp>
              <p:nvSpPr>
                <p:cNvPr id="69656" name="Line 22"/>
                <p:cNvSpPr/>
                <p:nvPr/>
              </p:nvSpPr>
              <p:spPr>
                <a:xfrm flipH="1">
                  <a:off x="930" y="3748"/>
                  <a:ext cx="544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lgDashDotDot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9652" name="Rectangle 23"/>
            <p:cNvSpPr/>
            <p:nvPr/>
          </p:nvSpPr>
          <p:spPr>
            <a:xfrm>
              <a:off x="1973" y="3748"/>
              <a:ext cx="953" cy="410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itchFamily="2" charset="-122"/>
                </a:rPr>
                <a:t>“</a:t>
              </a:r>
              <a:r>
                <a:rPr lang="en-US" altLang="zh-CN" sz="1800" b="1" dirty="0">
                  <a:solidFill>
                    <a:srgbClr val="FF0000"/>
                  </a:solidFill>
                  <a:latin typeface="宋体" pitchFamily="2" charset="-122"/>
                </a:rPr>
                <a:t>·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itchFamily="2" charset="-122"/>
                </a:rPr>
                <a:t>”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itchFamily="2" charset="-122"/>
                </a:rPr>
                <a:t>读做“连接”</a:t>
              </a:r>
              <a:endParaRPr lang="zh-CN" altLang="en-US" sz="1800" b="1" dirty="0">
                <a:solidFill>
                  <a:schemeClr val="accent2"/>
                </a:solidFill>
                <a:latin typeface="宋体" pitchFamily="2" charset="-122"/>
              </a:endParaRPr>
            </a:p>
          </p:txBody>
        </p:sp>
      </p:grpSp>
      <p:grpSp>
        <p:nvGrpSpPr>
          <p:cNvPr id="124952" name="Group 24"/>
          <p:cNvGrpSpPr/>
          <p:nvPr/>
        </p:nvGrpSpPr>
        <p:grpSpPr>
          <a:xfrm>
            <a:off x="3063875" y="4365625"/>
            <a:ext cx="2516188" cy="2235200"/>
            <a:chOff x="3334" y="2750"/>
            <a:chExt cx="1585" cy="1408"/>
          </a:xfrm>
        </p:grpSpPr>
        <p:sp>
          <p:nvSpPr>
            <p:cNvPr id="69646" name="Oval 25"/>
            <p:cNvSpPr/>
            <p:nvPr/>
          </p:nvSpPr>
          <p:spPr>
            <a:xfrm>
              <a:off x="4785" y="2750"/>
              <a:ext cx="134" cy="336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000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grpSp>
          <p:nvGrpSpPr>
            <p:cNvPr id="69647" name="Group 26"/>
            <p:cNvGrpSpPr/>
            <p:nvPr/>
          </p:nvGrpSpPr>
          <p:grpSpPr>
            <a:xfrm>
              <a:off x="4286" y="3067"/>
              <a:ext cx="544" cy="908"/>
              <a:chOff x="930" y="2659"/>
              <a:chExt cx="544" cy="1089"/>
            </a:xfrm>
          </p:grpSpPr>
          <p:sp>
            <p:nvSpPr>
              <p:cNvPr id="69649" name="Line 27"/>
              <p:cNvSpPr/>
              <p:nvPr/>
            </p:nvSpPr>
            <p:spPr>
              <a:xfrm>
                <a:off x="1474" y="2659"/>
                <a:ext cx="0" cy="1089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none" w="med" len="med"/>
              </a:ln>
            </p:spPr>
          </p:sp>
          <p:sp>
            <p:nvSpPr>
              <p:cNvPr id="69650" name="Line 28"/>
              <p:cNvSpPr/>
              <p:nvPr/>
            </p:nvSpPr>
            <p:spPr>
              <a:xfrm flipH="1">
                <a:off x="930" y="3748"/>
                <a:ext cx="54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triangle" w="med" len="med"/>
              </a:ln>
            </p:spPr>
          </p:sp>
        </p:grpSp>
        <p:sp>
          <p:nvSpPr>
            <p:cNvPr id="69648" name="Rectangle 29"/>
            <p:cNvSpPr/>
            <p:nvPr/>
          </p:nvSpPr>
          <p:spPr>
            <a:xfrm>
              <a:off x="3334" y="3748"/>
              <a:ext cx="953" cy="410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itchFamily="2" charset="-122"/>
                </a:rPr>
                <a:t>“</a:t>
              </a:r>
              <a:r>
                <a:rPr lang="en-US" altLang="zh-CN" sz="1800" b="1" dirty="0">
                  <a:solidFill>
                    <a:srgbClr val="FF0000"/>
                  </a:solidFill>
                  <a:latin typeface="宋体" pitchFamily="2" charset="-122"/>
                </a:rPr>
                <a:t>*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itchFamily="2" charset="-122"/>
                </a:rPr>
                <a:t>”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itchFamily="2" charset="-122"/>
                </a:rPr>
                <a:t>读做“闭包”</a:t>
              </a:r>
              <a:endParaRPr lang="zh-CN" altLang="en-US" sz="1800" b="1" dirty="0">
                <a:solidFill>
                  <a:schemeClr val="accent2"/>
                </a:solidFill>
                <a:latin typeface="宋体" pitchFamily="2" charset="-122"/>
              </a:endParaRPr>
            </a:p>
          </p:txBody>
        </p:sp>
      </p:grpSp>
      <p:grpSp>
        <p:nvGrpSpPr>
          <p:cNvPr id="124958" name="Group 30"/>
          <p:cNvGrpSpPr/>
          <p:nvPr/>
        </p:nvGrpSpPr>
        <p:grpSpPr>
          <a:xfrm>
            <a:off x="900113" y="1844675"/>
            <a:ext cx="7632700" cy="4337050"/>
            <a:chOff x="204" y="346"/>
            <a:chExt cx="5307" cy="4086"/>
          </a:xfrm>
        </p:grpSpPr>
        <p:grpSp>
          <p:nvGrpSpPr>
            <p:cNvPr id="69642" name="Group 31"/>
            <p:cNvGrpSpPr/>
            <p:nvPr/>
          </p:nvGrpSpPr>
          <p:grpSpPr>
            <a:xfrm>
              <a:off x="204" y="346"/>
              <a:ext cx="5216" cy="3492"/>
              <a:chOff x="720" y="480"/>
              <a:chExt cx="4224" cy="1390"/>
            </a:xfrm>
          </p:grpSpPr>
          <p:graphicFrame>
            <p:nvGraphicFramePr>
              <p:cNvPr id="69644" name="Object 32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9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21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645" name="Object 33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0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21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9643" name="Text Box 34"/>
            <p:cNvSpPr txBox="1"/>
            <p:nvPr/>
          </p:nvSpPr>
          <p:spPr>
            <a:xfrm>
              <a:off x="250" y="516"/>
              <a:ext cx="5261" cy="39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∑* 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的子集 </a:t>
              </a:r>
              <a:r>
                <a:rPr lang="en-US" altLang="zh-CN" sz="2400" b="1" dirty="0">
                  <a:solidFill>
                    <a:schemeClr val="hlink"/>
                  </a:solidFill>
                </a:rPr>
                <a:t>U , V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：</a:t>
              </a:r>
              <a:endParaRPr lang="zh-CN" altLang="en-US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      </a:t>
              </a:r>
              <a:r>
                <a:rPr lang="zh-CN" altLang="en-US" sz="2400" b="1" dirty="0">
                  <a:solidFill>
                    <a:schemeClr val="hlink"/>
                  </a:solidFill>
                </a:rPr>
                <a:t>积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                      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UV ={</a:t>
              </a:r>
              <a:r>
                <a:rPr lang="el-GR" altLang="zh-CN" sz="2400" b="1" dirty="0">
                  <a:solidFill>
                    <a:schemeClr val="tx2"/>
                  </a:solidFill>
                </a:rPr>
                <a:t>αβ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|</a:t>
              </a:r>
              <a:r>
                <a:rPr lang="el-GR" altLang="zh-CN" sz="2400" b="1" dirty="0">
                  <a:solidFill>
                    <a:schemeClr val="tx2"/>
                  </a:solidFill>
                </a:rPr>
                <a:t>α</a:t>
              </a: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∈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U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&amp; </a:t>
              </a:r>
              <a:r>
                <a:rPr lang="el-GR" altLang="zh-CN" sz="2400" b="1" dirty="0">
                  <a:solidFill>
                    <a:schemeClr val="tx2"/>
                  </a:solidFill>
                </a:rPr>
                <a:t>β</a:t>
              </a: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∈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V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}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     </a:t>
              </a:r>
              <a:r>
                <a:rPr lang="en-US" altLang="zh-CN" sz="2400" b="1" dirty="0">
                  <a:solidFill>
                    <a:schemeClr val="hlink"/>
                  </a:solidFill>
                </a:rPr>
                <a:t>n</a:t>
              </a:r>
              <a:r>
                <a:rPr lang="zh-CN" altLang="en-US" sz="2400" b="1" dirty="0">
                  <a:solidFill>
                    <a:schemeClr val="hlink"/>
                  </a:solidFill>
                </a:rPr>
                <a:t>次积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                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V =  VVV… V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                                V</a:t>
              </a:r>
              <a:r>
                <a:rPr lang="en-US" altLang="zh-CN" sz="2400" b="1" baseline="30000" dirty="0">
                  <a:solidFill>
                    <a:schemeClr val="tx2"/>
                  </a:solidFill>
                </a:rPr>
                <a:t>0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 = {</a:t>
              </a:r>
              <a:r>
                <a:rPr lang="el-GR" altLang="zh-CN" sz="2400" b="1" dirty="0">
                  <a:solidFill>
                    <a:schemeClr val="tx2"/>
                  </a:solidFill>
                </a:rPr>
                <a:t>ε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}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      V</a:t>
              </a:r>
              <a:r>
                <a:rPr lang="zh-CN" altLang="en-US" sz="2400" b="1" dirty="0">
                  <a:solidFill>
                    <a:schemeClr val="hlink"/>
                  </a:solidFill>
                </a:rPr>
                <a:t>的闭包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             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V*  = V0  U  V1  U  V2  U …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      V</a:t>
              </a:r>
              <a:r>
                <a:rPr lang="zh-CN" altLang="en-US" sz="2400" b="1" dirty="0">
                  <a:solidFill>
                    <a:schemeClr val="hlink"/>
                  </a:solidFill>
                </a:rPr>
                <a:t>的正则闭包      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400" b="1" baseline="30000" dirty="0">
                  <a:solidFill>
                    <a:schemeClr val="tx2"/>
                  </a:solidFill>
                </a:rPr>
                <a:t>+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 = V V* 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400" b="1" dirty="0">
                <a:solidFill>
                  <a:schemeClr val="tx2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5954" name="Group 2"/>
          <p:cNvGrpSpPr/>
          <p:nvPr/>
        </p:nvGrpSpPr>
        <p:grpSpPr>
          <a:xfrm>
            <a:off x="179388" y="3427413"/>
            <a:ext cx="8497887" cy="3097212"/>
            <a:chOff x="249" y="436"/>
            <a:chExt cx="5353" cy="1951"/>
          </a:xfrm>
        </p:grpSpPr>
        <p:grpSp>
          <p:nvGrpSpPr>
            <p:cNvPr id="70665" name="Group 3"/>
            <p:cNvGrpSpPr/>
            <p:nvPr/>
          </p:nvGrpSpPr>
          <p:grpSpPr>
            <a:xfrm>
              <a:off x="249" y="436"/>
              <a:ext cx="5353" cy="1951"/>
              <a:chOff x="720" y="480"/>
              <a:chExt cx="4224" cy="1390"/>
            </a:xfrm>
          </p:grpSpPr>
          <p:graphicFrame>
            <p:nvGraphicFramePr>
              <p:cNvPr id="70667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1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220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668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2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22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0666" name="Text Box 6"/>
            <p:cNvSpPr txBox="1"/>
            <p:nvPr/>
          </p:nvSpPr>
          <p:spPr>
            <a:xfrm>
              <a:off x="294" y="533"/>
              <a:ext cx="5262" cy="17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3-4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：令∑＝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{a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b}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，下面是∑上的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正规式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和相应的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正规集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正规式                       正规集</a:t>
              </a:r>
              <a:endParaRPr lang="zh-CN" altLang="en-US" sz="20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ba</a:t>
              </a:r>
              <a:r>
                <a:rPr lang="en-US" altLang="zh-CN" sz="24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        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上所有的以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为首，并且后跟任                        </a:t>
              </a:r>
              <a:r>
                <a:rPr lang="zh-CN" altLang="en-US" sz="8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意多个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的字，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{b, ba,baa,baaa,…}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a(a|b)</a:t>
              </a:r>
              <a:r>
                <a:rPr lang="en-US" altLang="zh-CN" sz="2400" b="1" baseline="30000" dirty="0">
                  <a:solidFill>
                    <a:schemeClr val="tx2"/>
                  </a:solidFill>
                  <a:latin typeface="宋体" pitchFamily="2" charset="-122"/>
                </a:rPr>
                <a:t>*                          </a:t>
              </a:r>
              <a:r>
                <a:rPr lang="en-US" altLang="zh-CN" sz="8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上所有的以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为首的字</a:t>
              </a:r>
              <a:endParaRPr lang="zh-CN" altLang="en-US" sz="2400" b="1" baseline="30000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400" b="1" baseline="30000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(a|b)* (aa|bb) (a|b)*</a:t>
              </a:r>
              <a:r>
                <a:rPr lang="en-US" altLang="zh-CN" sz="2000" b="1" i="1" dirty="0">
                  <a:solidFill>
                    <a:srgbClr val="006600"/>
                  </a:solidFill>
                  <a:latin typeface="宋体" pitchFamily="2" charset="-122"/>
                </a:rPr>
                <a:t>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上所有含有两个连续的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或者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25959" name="Group 7"/>
          <p:cNvGrpSpPr/>
          <p:nvPr/>
        </p:nvGrpSpPr>
        <p:grpSpPr>
          <a:xfrm>
            <a:off x="179388" y="809625"/>
            <a:ext cx="6840537" cy="2403475"/>
            <a:chOff x="204" y="2369"/>
            <a:chExt cx="4400" cy="1469"/>
          </a:xfrm>
        </p:grpSpPr>
        <p:grpSp>
          <p:nvGrpSpPr>
            <p:cNvPr id="70661" name="Group 8"/>
            <p:cNvGrpSpPr/>
            <p:nvPr/>
          </p:nvGrpSpPr>
          <p:grpSpPr>
            <a:xfrm>
              <a:off x="204" y="2369"/>
              <a:ext cx="4400" cy="1469"/>
              <a:chOff x="720" y="480"/>
              <a:chExt cx="4224" cy="1390"/>
            </a:xfrm>
          </p:grpSpPr>
          <p:graphicFrame>
            <p:nvGraphicFramePr>
              <p:cNvPr id="70663" name="Object 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9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664" name="Object 1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4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3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0662" name="Text Box 11"/>
            <p:cNvSpPr txBox="1"/>
            <p:nvPr/>
          </p:nvSpPr>
          <p:spPr>
            <a:xfrm>
              <a:off x="249" y="2466"/>
              <a:ext cx="4264" cy="12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3-3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：令∑＝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{A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1}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，则：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正规式                       正规集</a:t>
              </a:r>
              <a:endParaRPr lang="zh-CN" altLang="en-US" sz="20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(A|B)(A|B|0|1)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</a:t>
              </a:r>
              <a:r>
                <a:rPr lang="en-US" altLang="zh-CN" sz="8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上“标识符”的全体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3956050" indent="-3956050" defTabSz="914400" eaLnBrk="1" hangingPunct="1">
                <a:spcBef>
                  <a:spcPct val="50000"/>
                </a:spcBef>
                <a:buNone/>
                <a:tabLst>
                  <a:tab pos="25717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(0|1)(0|1)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                 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上“数”的全体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25964" name="AutoShape 12"/>
          <p:cNvSpPr/>
          <p:nvPr/>
        </p:nvSpPr>
        <p:spPr>
          <a:xfrm>
            <a:off x="5795963" y="333375"/>
            <a:ext cx="3348037" cy="2951163"/>
          </a:xfrm>
          <a:prstGeom prst="cloudCallout">
            <a:avLst>
              <a:gd name="adj1" fmla="val 112208"/>
              <a:gd name="adj2" fmla="val -85824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若两个正规式表示相同的正规集，则认为二者</a:t>
            </a: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等价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，记为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U=V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。例如：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b(ab)</a:t>
            </a:r>
            <a:r>
              <a:rPr lang="en-US" altLang="zh-CN" sz="2000" b="1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=(ba)</a:t>
            </a:r>
            <a:r>
              <a:rPr lang="en-US" altLang="zh-CN" sz="2000" b="1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rgbClr val="FF0000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(a|b)</a:t>
            </a:r>
            <a:r>
              <a:rPr lang="en-US" altLang="zh-CN" sz="2000" b="1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=(a</a:t>
            </a:r>
            <a:r>
              <a:rPr lang="en-US" altLang="zh-CN" sz="2000" b="1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b</a:t>
            </a:r>
            <a:r>
              <a:rPr lang="en-US" altLang="zh-CN" sz="2000" b="1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)</a:t>
            </a:r>
            <a:r>
              <a:rPr lang="en-US" altLang="zh-CN" sz="2000" b="1" baseline="30000" dirty="0">
                <a:solidFill>
                  <a:srgbClr val="FF0000"/>
                </a:solidFill>
                <a:latin typeface="宋体" pitchFamily="2" charset="-122"/>
              </a:rPr>
              <a:t>*</a:t>
            </a:r>
            <a:endParaRPr lang="en-US" altLang="zh-CN" sz="2000" b="1" baseline="30000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8" name="Group 2"/>
          <p:cNvGrpSpPr/>
          <p:nvPr/>
        </p:nvGrpSpPr>
        <p:grpSpPr>
          <a:xfrm>
            <a:off x="611188" y="1301750"/>
            <a:ext cx="7993062" cy="4719638"/>
            <a:chOff x="385" y="820"/>
            <a:chExt cx="5035" cy="2973"/>
          </a:xfrm>
        </p:grpSpPr>
        <p:grpSp>
          <p:nvGrpSpPr>
            <p:cNvPr id="71683" name="Group 3"/>
            <p:cNvGrpSpPr/>
            <p:nvPr/>
          </p:nvGrpSpPr>
          <p:grpSpPr>
            <a:xfrm>
              <a:off x="385" y="820"/>
              <a:ext cx="4992" cy="2921"/>
              <a:chOff x="720" y="480"/>
              <a:chExt cx="4224" cy="1390"/>
            </a:xfrm>
          </p:grpSpPr>
          <p:graphicFrame>
            <p:nvGraphicFramePr>
              <p:cNvPr id="71685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5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686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6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3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1684" name="Text Box 6"/>
            <p:cNvSpPr txBox="1"/>
            <p:nvPr/>
          </p:nvSpPr>
          <p:spPr>
            <a:xfrm>
              <a:off x="428" y="1090"/>
              <a:ext cx="4992" cy="27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令</a:t>
              </a:r>
              <a:r>
                <a:rPr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U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V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和</a:t>
              </a:r>
              <a:r>
                <a:rPr lang="en-US" altLang="zh-CN" sz="2400" b="1" dirty="0">
                  <a:solidFill>
                    <a:srgbClr val="FF0066"/>
                  </a:solidFill>
                  <a:latin typeface="宋体" pitchFamily="2" charset="-122"/>
                </a:rPr>
                <a:t>W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均为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正规式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，显而易见，下列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关系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普遍成立：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U|V = V|U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（交换律）；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U|(V|W) = (U|V)|W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（结合律）；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U(VW) = (UV)W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（结合律）；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4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U(V|W) = UV|UW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（分配律）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(V|W)U = VU|WU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5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U = U</a:t>
              </a:r>
              <a:r>
                <a:rPr lang="el-GR" altLang="zh-CN" sz="20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ε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= U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536575" algn="l"/>
                </a:tabLst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标题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" y="1577975"/>
            <a:ext cx="9051925" cy="2322513"/>
          </a:xfrm>
          <a:solidFill>
            <a:schemeClr val="tx1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标识符类单词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由字母和数字组成，但第一个字符必须是字母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设字母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a={a|b|c...|z}    n={0|1|2...|9}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44463" y="4017963"/>
            <a:ext cx="2678113" cy="8858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正规式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81375" y="4127500"/>
            <a:ext cx="4595813" cy="708025"/>
          </a:xfrm>
          <a:prstGeom prst="rect">
            <a:avLst/>
          </a:prstGeom>
          <a:solidFill>
            <a:srgbClr val="EAF3B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000808"/>
                </a:solidFill>
                <a:latin typeface="宋体" pitchFamily="2" charset="-122"/>
              </a:rPr>
              <a:t>  r=a(a|n)</a:t>
            </a:r>
            <a:r>
              <a:rPr lang="en-US" altLang="zh-CN" sz="4000" baseline="30000" dirty="0">
                <a:solidFill>
                  <a:srgbClr val="000808"/>
                </a:solidFill>
                <a:latin typeface="宋体" pitchFamily="2" charset="-122"/>
              </a:rPr>
              <a:t>*</a:t>
            </a:r>
            <a:endParaRPr lang="en-US" altLang="zh-CN" sz="4000" baseline="30000" dirty="0">
              <a:solidFill>
                <a:srgbClr val="000808"/>
              </a:solidFill>
              <a:latin typeface="宋体" pitchFamily="2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44463" y="5508625"/>
            <a:ext cx="2678113" cy="884238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正规文法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81375" y="5289550"/>
            <a:ext cx="5461000" cy="1322388"/>
          </a:xfrm>
          <a:prstGeom prst="rect">
            <a:avLst/>
          </a:prstGeom>
          <a:solidFill>
            <a:srgbClr val="EAF3B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000808"/>
                </a:solidFill>
                <a:latin typeface="宋体" pitchFamily="2" charset="-122"/>
              </a:rPr>
              <a:t> G</a:t>
            </a:r>
            <a:r>
              <a:rPr lang="zh-CN" altLang="en-US" sz="4000" dirty="0">
                <a:solidFill>
                  <a:srgbClr val="000808"/>
                </a:solidFill>
                <a:latin typeface="宋体" pitchFamily="2" charset="-122"/>
              </a:rPr>
              <a:t>：</a:t>
            </a:r>
            <a:r>
              <a:rPr lang="en-US" altLang="zh-CN" sz="4000" dirty="0">
                <a:solidFill>
                  <a:srgbClr val="000808"/>
                </a:solidFill>
                <a:latin typeface="宋体" pitchFamily="2" charset="-122"/>
              </a:rPr>
              <a:t>S-&gt;aA|a  </a:t>
            </a:r>
            <a:endParaRPr lang="en-US" altLang="zh-CN" sz="4000" dirty="0">
              <a:solidFill>
                <a:srgbClr val="000808"/>
              </a:solidFill>
              <a:latin typeface="宋体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000808"/>
                </a:solidFill>
                <a:latin typeface="宋体" pitchFamily="2" charset="-122"/>
              </a:rPr>
              <a:t>    A-&gt;aA|nA|a|n</a:t>
            </a:r>
            <a:endParaRPr lang="zh-CN" altLang="en-US" sz="4000" baseline="30000" dirty="0">
              <a:solidFill>
                <a:srgbClr val="000808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7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30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  <p:bldP spid="3" grpId="1" animBg="1" build="p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标题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905000"/>
            <a:ext cx="8540750" cy="3860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十进制整型常量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“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0-9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数字组成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正规式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正规文法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08175" y="3644900"/>
            <a:ext cx="511175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b="1" kern="0" cap="none" spc="0" normalizeH="0" baseline="0" noProof="1">
                <a:solidFill>
                  <a:srgbClr val="000808"/>
                </a:solidFill>
                <a:latin typeface="Arial" panose="020B0604020202090204"/>
                <a:ea typeface="宋体"/>
                <a:cs typeface="+mn-cs"/>
              </a:rPr>
              <a:t>(1 | … | 9) (0 | … | 9)* | 0</a:t>
            </a:r>
            <a:endParaRPr kumimoji="0" lang="zh-CN" altLang="en-US" kern="1200" cap="none" spc="0" normalizeH="0" baseline="0" noProof="0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标题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正规式和正规文法的等价性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905000"/>
            <a:ext cx="6796088" cy="4194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正规式转正规文法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正规文法转正规式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4427538" y="2205038"/>
            <a:ext cx="303213" cy="1112838"/>
          </a:xfrm>
          <a:prstGeom prst="rightBrace">
            <a:avLst>
              <a:gd name="adj1" fmla="val 8333"/>
              <a:gd name="adj2" fmla="val 5002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8863" y="2578100"/>
            <a:ext cx="1985962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正规集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342707" y="4070984"/>
            <a:ext cx="7069455" cy="193801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1">
                <a:ln w="50800" cmpd="thickThin">
                  <a:solidFill>
                    <a:srgbClr val="5B9BD5">
                      <a:lumMod val="75000"/>
                    </a:srgbClr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两者之间的转换方法</a:t>
            </a:r>
            <a:endParaRPr kumimoji="0" lang="zh-CN" altLang="en-US" sz="6000" b="1" i="0" u="none" strike="noStrike" kern="1200" cap="none" spc="0" normalizeH="0" baseline="0" noProof="1">
              <a:ln w="50800" cmpd="thickThin">
                <a:solidFill>
                  <a:srgbClr val="5B9BD5">
                    <a:lumMod val="75000"/>
                  </a:srgbClr>
                </a:solidFill>
                <a:prstDash val="solid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1">
                <a:ln w="50800" cmpd="thickThin">
                  <a:solidFill>
                    <a:srgbClr val="5B9BD5">
                      <a:lumMod val="75000"/>
                    </a:srgbClr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见书</a:t>
            </a:r>
            <a:r>
              <a:rPr kumimoji="0" lang="en-US" altLang="zh-CN" sz="6000" b="1" i="0" u="none" strike="noStrike" kern="1200" cap="none" spc="0" normalizeH="0" baseline="0" noProof="1">
                <a:ln w="50800" cmpd="thickThin">
                  <a:solidFill>
                    <a:srgbClr val="5B9BD5">
                      <a:lumMod val="75000"/>
                    </a:srgbClr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46-47</a:t>
            </a:r>
            <a:r>
              <a:rPr kumimoji="0" lang="zh-CN" altLang="en-US" sz="6000" b="1" i="0" u="none" strike="noStrike" kern="1200" cap="none" spc="0" normalizeH="0" baseline="0" noProof="1">
                <a:ln w="50800" cmpd="thickThin">
                  <a:solidFill>
                    <a:srgbClr val="5B9BD5">
                      <a:lumMod val="75000"/>
                    </a:srgbClr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页</a:t>
            </a:r>
            <a:endParaRPr kumimoji="0" lang="zh-CN" altLang="en-US" sz="6000" b="1" i="0" u="none" strike="noStrike" kern="1200" cap="none" spc="0" normalizeH="0" baseline="0" noProof="1">
              <a:ln w="50800" cmpd="thickThin">
                <a:solidFill>
                  <a:srgbClr val="5B9BD5">
                    <a:lumMod val="75000"/>
                  </a:srgbClr>
                </a:solidFill>
                <a:prstDash val="solid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内容占位符 2"/>
          <p:cNvSpPr>
            <a:spLocks noGrp="1" noRot="1"/>
          </p:cNvSpPr>
          <p:nvPr>
            <p:ph idx="1"/>
          </p:nvPr>
        </p:nvSpPr>
        <p:spPr>
          <a:xfrm>
            <a:off x="301625" y="765175"/>
            <a:ext cx="8540750" cy="419417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正规式  </a:t>
            </a:r>
            <a:r>
              <a:rPr lang="en-US" altLang="zh-CN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R= a(a|d)*  </a:t>
            </a:r>
            <a:r>
              <a:rPr lang="zh-CN" altLang="en-US" dirty="0"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转换为等价正规文法</a:t>
            </a:r>
            <a:endParaRPr lang="zh-CN" altLang="en-US" dirty="0">
              <a:highlight>
                <a:srgbClr val="FFFF00"/>
              </a:highligh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77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75" y="1458913"/>
            <a:ext cx="7461250" cy="1390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3068638"/>
            <a:ext cx="5835650" cy="1320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75" y="4659313"/>
            <a:ext cx="5784850" cy="1035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标题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文法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G[S]: 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S-&gt;aA   S-&gt;a  A-&gt;aA    A-&gt;dA  </a:t>
            </a: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A-&gt;a   A-&gt;d</a:t>
            </a:r>
            <a:endParaRPr kumimoji="0" lang="en-US" altLang="zh-CN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转换为等价的正规式</a:t>
            </a:r>
            <a:endParaRPr kumimoji="0" lang="zh-CN" altLang="en-US" sz="3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680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3789363"/>
            <a:ext cx="6007100" cy="215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WordArt 2"/>
          <p:cNvSpPr>
            <a:spLocks noTextEdit="1"/>
          </p:cNvSpPr>
          <p:nvPr/>
        </p:nvSpPr>
        <p:spPr>
          <a:xfrm>
            <a:off x="2700338" y="692150"/>
            <a:ext cx="3429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5921" dir="2699999" algn="ctr" rotWithShape="0">
                    <a:srgbClr val="808080">
                      <a:alpha val="79999"/>
                    </a:srgbClr>
                  </a:outerShdw>
                </a:effectLst>
                <a:latin typeface="宋体" charset="0"/>
                <a:ea typeface="宋体" charset="0"/>
              </a:rPr>
              <a:t>状态转换图</a:t>
            </a:r>
            <a:endParaRPr lang="zh-CN" altLang="en-US" sz="3600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effectLst>
                <a:outerShdw dist="35921" dir="2699999" algn="ctr" rotWithShape="0">
                  <a:srgbClr val="808080">
                    <a:alpha val="79999"/>
                  </a:srgbClr>
                </a:outerShdw>
              </a:effectLst>
              <a:latin typeface="宋体" charset="0"/>
              <a:ea typeface="宋体" charset="0"/>
            </a:endParaRPr>
          </a:p>
        </p:txBody>
      </p:sp>
      <p:grpSp>
        <p:nvGrpSpPr>
          <p:cNvPr id="99331" name="Group 3"/>
          <p:cNvGrpSpPr/>
          <p:nvPr/>
        </p:nvGrpSpPr>
        <p:grpSpPr>
          <a:xfrm>
            <a:off x="250825" y="1412875"/>
            <a:ext cx="8569325" cy="4968875"/>
            <a:chOff x="249" y="709"/>
            <a:chExt cx="5307" cy="2086"/>
          </a:xfrm>
        </p:grpSpPr>
        <p:grpSp>
          <p:nvGrpSpPr>
            <p:cNvPr id="77828" name="Group 4"/>
            <p:cNvGrpSpPr/>
            <p:nvPr/>
          </p:nvGrpSpPr>
          <p:grpSpPr>
            <a:xfrm>
              <a:off x="249" y="709"/>
              <a:ext cx="5307" cy="2086"/>
              <a:chOff x="720" y="480"/>
              <a:chExt cx="4224" cy="1390"/>
            </a:xfrm>
          </p:grpSpPr>
          <p:graphicFrame>
            <p:nvGraphicFramePr>
              <p:cNvPr id="77830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7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831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8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7829" name="Text Box 7"/>
            <p:cNvSpPr txBox="1"/>
            <p:nvPr/>
          </p:nvSpPr>
          <p:spPr>
            <a:xfrm>
              <a:off x="340" y="799"/>
              <a:ext cx="5080" cy="17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1246505" indent="-1246505" eaLnBrk="1" hangingPunct="1">
                <a:lnSpc>
                  <a:spcPct val="115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转换图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：是一张有限方向图。在状态转换图中，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结点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代表   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状态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，用圆圈表示。状态之间用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箭弧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连接。箭弧上的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标记（字符）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代表在射出结状态下可能出现的输入字符或字符类。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eaLnBrk="1" hangingPunct="1">
                <a:lnSpc>
                  <a:spcPct val="115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状态转换图的功能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: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用于识别一定的字符串。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eaLnBrk="1" hangingPunct="1">
                <a:lnSpc>
                  <a:spcPct val="115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初态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：一张转换图的启动条件，至少有一个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,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用圆圈表示。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eaLnBrk="1" hangingPunct="1">
                <a:lnSpc>
                  <a:spcPct val="115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highlight>
                    <a:srgbClr val="FFFF00"/>
                  </a:highlight>
                  <a:latin typeface="宋体" pitchFamily="2" charset="-122"/>
                </a:rPr>
                <a:t>终态</a:t>
              </a:r>
              <a:r>
                <a:rPr lang="zh-CN" altLang="en-US" sz="2400" b="1" dirty="0">
                  <a:solidFill>
                    <a:schemeClr val="tx2"/>
                  </a:solidFill>
                  <a:highlight>
                    <a:srgbClr val="FFFF00"/>
                  </a:highlight>
                  <a:latin typeface="宋体" pitchFamily="2" charset="-122"/>
                </a:rPr>
                <a:t>：一张转换图的结束条件，至少有一个，用双圈表示。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eaLnBrk="1" hangingPunct="1">
                <a:lnSpc>
                  <a:spcPct val="115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*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：表示多读进了一个字符。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0354" name="Group 2"/>
          <p:cNvGrpSpPr/>
          <p:nvPr/>
        </p:nvGrpSpPr>
        <p:grpSpPr>
          <a:xfrm>
            <a:off x="5724525" y="1196975"/>
            <a:ext cx="2652713" cy="2514600"/>
            <a:chOff x="205" y="572"/>
            <a:chExt cx="1671" cy="1584"/>
          </a:xfrm>
        </p:grpSpPr>
        <p:sp>
          <p:nvSpPr>
            <p:cNvPr id="78887" name="Line 3"/>
            <p:cNvSpPr/>
            <p:nvPr/>
          </p:nvSpPr>
          <p:spPr>
            <a:xfrm>
              <a:off x="566" y="799"/>
              <a:ext cx="90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8" name="AutoShape 4"/>
            <p:cNvSpPr/>
            <p:nvPr/>
          </p:nvSpPr>
          <p:spPr>
            <a:xfrm>
              <a:off x="205" y="643"/>
              <a:ext cx="358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89" name="AutoShape 5"/>
            <p:cNvSpPr/>
            <p:nvPr/>
          </p:nvSpPr>
          <p:spPr>
            <a:xfrm>
              <a:off x="1473" y="657"/>
              <a:ext cx="358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90" name="AutoShape 6"/>
            <p:cNvSpPr/>
            <p:nvPr/>
          </p:nvSpPr>
          <p:spPr>
            <a:xfrm>
              <a:off x="1518" y="1383"/>
              <a:ext cx="358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91" name="Arc 7"/>
            <p:cNvSpPr/>
            <p:nvPr/>
          </p:nvSpPr>
          <p:spPr>
            <a:xfrm rot="10605009">
              <a:off x="381" y="936"/>
              <a:ext cx="1042" cy="638"/>
            </a:xfrm>
            <a:custGeom>
              <a:avLst/>
              <a:gdLst/>
              <a:ahLst/>
              <a:cxnLst>
                <a:cxn ang="0">
                  <a:pos x="477" y="0"/>
                </a:cxn>
                <a:cxn ang="0">
                  <a:pos x="1042" y="638"/>
                </a:cxn>
                <a:cxn ang="0">
                  <a:pos x="0" y="638"/>
                </a:cxn>
              </a:cxnLst>
              <a:pathLst>
                <a:path w="21600" h="19209" fill="none">
                  <a:moveTo>
                    <a:pt x="9878" y="0"/>
                  </a:moveTo>
                  <a:cubicBezTo>
                    <a:pt x="17075" y="3701"/>
                    <a:pt x="21600" y="11115"/>
                    <a:pt x="21600" y="19209"/>
                  </a:cubicBezTo>
                </a:path>
                <a:path w="21600" h="19209" stroke="0">
                  <a:moveTo>
                    <a:pt x="9878" y="0"/>
                  </a:moveTo>
                  <a:cubicBezTo>
                    <a:pt x="17075" y="3701"/>
                    <a:pt x="21600" y="11115"/>
                    <a:pt x="21600" y="19209"/>
                  </a:cubicBezTo>
                  <a:lnTo>
                    <a:pt x="0" y="19209"/>
                  </a:lnTo>
                  <a:lnTo>
                    <a:pt x="987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892" name="Line 8"/>
            <p:cNvSpPr/>
            <p:nvPr/>
          </p:nvSpPr>
          <p:spPr>
            <a:xfrm>
              <a:off x="973" y="1570"/>
              <a:ext cx="544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93" name="Text Box 9"/>
            <p:cNvSpPr txBox="1"/>
            <p:nvPr/>
          </p:nvSpPr>
          <p:spPr>
            <a:xfrm>
              <a:off x="882" y="572"/>
              <a:ext cx="318" cy="306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itchFamily="2" charset="-122"/>
                </a:rPr>
                <a:t>X</a:t>
              </a:r>
              <a:endParaRPr lang="en-US" altLang="zh-CN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94" name="Text Box 10"/>
            <p:cNvSpPr txBox="1"/>
            <p:nvPr/>
          </p:nvSpPr>
          <p:spPr>
            <a:xfrm>
              <a:off x="882" y="1298"/>
              <a:ext cx="318" cy="306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itchFamily="2" charset="-122"/>
                </a:rPr>
                <a:t>Y</a:t>
              </a:r>
              <a:endParaRPr lang="en-US" altLang="zh-CN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95" name="Text Box 11"/>
            <p:cNvSpPr txBox="1"/>
            <p:nvPr/>
          </p:nvSpPr>
          <p:spPr>
            <a:xfrm>
              <a:off x="385" y="1888"/>
              <a:ext cx="1406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(a)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转换图示例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0364" name="AutoShape 12"/>
          <p:cNvSpPr/>
          <p:nvPr/>
        </p:nvSpPr>
        <p:spPr>
          <a:xfrm>
            <a:off x="3687763" y="4824413"/>
            <a:ext cx="482600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65" name="AutoShape 13"/>
          <p:cNvSpPr/>
          <p:nvPr/>
        </p:nvSpPr>
        <p:spPr>
          <a:xfrm>
            <a:off x="146050" y="4824413"/>
            <a:ext cx="492125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66" name="AutoShape 14"/>
          <p:cNvSpPr/>
          <p:nvPr/>
        </p:nvSpPr>
        <p:spPr>
          <a:xfrm>
            <a:off x="1946275" y="4824413"/>
            <a:ext cx="490538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67" name="Line 15"/>
          <p:cNvSpPr/>
          <p:nvPr/>
        </p:nvSpPr>
        <p:spPr>
          <a:xfrm>
            <a:off x="641350" y="5114925"/>
            <a:ext cx="130333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68" name="Line 16"/>
          <p:cNvSpPr/>
          <p:nvPr/>
        </p:nvSpPr>
        <p:spPr>
          <a:xfrm>
            <a:off x="2441575" y="5114925"/>
            <a:ext cx="12414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69" name="Arc 17"/>
          <p:cNvSpPr/>
          <p:nvPr/>
        </p:nvSpPr>
        <p:spPr>
          <a:xfrm rot="5271687" flipH="1" flipV="1">
            <a:off x="1884363" y="4346575"/>
            <a:ext cx="606425" cy="355600"/>
          </a:xfrm>
          <a:custGeom>
            <a:avLst/>
            <a:gdLst/>
            <a:ahLst/>
            <a:cxnLst>
              <a:cxn ang="0">
                <a:pos x="218045" y="5581"/>
              </a:cxn>
              <a:cxn ang="0">
                <a:pos x="0" y="233568"/>
              </a:cxn>
              <a:cxn ang="0">
                <a:pos x="295364" y="177800"/>
              </a:cxn>
            </a:cxnLst>
            <a:pathLst>
              <a:path w="42110" h="43200" fill="none">
                <a:moveTo>
                  <a:pt x="15140" y="677"/>
                </a:moveTo>
                <a:cubicBezTo>
                  <a:pt x="16895" y="227"/>
                  <a:pt x="18698" y="-1"/>
                  <a:pt x="20510" y="0"/>
                </a:cubicBezTo>
                <a:cubicBezTo>
                  <a:pt x="32439" y="0"/>
                  <a:pt x="42110" y="9670"/>
                  <a:pt x="42110" y="21600"/>
                </a:cubicBezTo>
                <a:cubicBezTo>
                  <a:pt x="42110" y="33529"/>
                  <a:pt x="32439" y="43200"/>
                  <a:pt x="20510" y="43200"/>
                </a:cubicBezTo>
                <a:cubicBezTo>
                  <a:pt x="11191" y="43200"/>
                  <a:pt x="2922" y="37223"/>
                  <a:pt x="0" y="28374"/>
                </a:cubicBezTo>
              </a:path>
              <a:path w="42110" h="43200" stroke="0">
                <a:moveTo>
                  <a:pt x="15140" y="677"/>
                </a:moveTo>
                <a:cubicBezTo>
                  <a:pt x="16895" y="227"/>
                  <a:pt x="18698" y="-1"/>
                  <a:pt x="20510" y="0"/>
                </a:cubicBezTo>
                <a:cubicBezTo>
                  <a:pt x="32439" y="0"/>
                  <a:pt x="42110" y="9670"/>
                  <a:pt x="42110" y="21600"/>
                </a:cubicBezTo>
                <a:cubicBezTo>
                  <a:pt x="42110" y="33529"/>
                  <a:pt x="32439" y="43200"/>
                  <a:pt x="20510" y="43200"/>
                </a:cubicBezTo>
                <a:cubicBezTo>
                  <a:pt x="11191" y="43200"/>
                  <a:pt x="2922" y="37223"/>
                  <a:pt x="0" y="28374"/>
                </a:cubicBezTo>
                <a:lnTo>
                  <a:pt x="20510" y="21600"/>
                </a:lnTo>
                <a:lnTo>
                  <a:pt x="15140" y="677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0370" name="Line 18"/>
          <p:cNvSpPr/>
          <p:nvPr/>
        </p:nvSpPr>
        <p:spPr>
          <a:xfrm>
            <a:off x="2008188" y="4614863"/>
            <a:ext cx="60325" cy="24765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71" name="Text Box 19"/>
          <p:cNvSpPr txBox="1"/>
          <p:nvPr/>
        </p:nvSpPr>
        <p:spPr>
          <a:xfrm>
            <a:off x="827088" y="4724400"/>
            <a:ext cx="806450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字母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72" name="Text Box 20"/>
          <p:cNvSpPr txBox="1"/>
          <p:nvPr/>
        </p:nvSpPr>
        <p:spPr>
          <a:xfrm>
            <a:off x="2627313" y="4724400"/>
            <a:ext cx="8826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其他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73" name="Text Box 21"/>
          <p:cNvSpPr txBox="1"/>
          <p:nvPr/>
        </p:nvSpPr>
        <p:spPr>
          <a:xfrm>
            <a:off x="1385888" y="3860800"/>
            <a:ext cx="1676400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字母或数字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74" name="Text Box 22"/>
          <p:cNvSpPr txBox="1"/>
          <p:nvPr/>
        </p:nvSpPr>
        <p:spPr>
          <a:xfrm>
            <a:off x="4054475" y="4719638"/>
            <a:ext cx="373063" cy="455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itchFamily="2" charset="-122"/>
              </a:rPr>
              <a:t>*</a:t>
            </a:r>
            <a:endParaRPr lang="en-US" altLang="zh-CN" sz="24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75" name="Text Box 23"/>
          <p:cNvSpPr txBox="1"/>
          <p:nvPr/>
        </p:nvSpPr>
        <p:spPr>
          <a:xfrm>
            <a:off x="539750" y="5608638"/>
            <a:ext cx="32924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）识别标识符的转换图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100376" name="Group 24"/>
          <p:cNvGrpSpPr/>
          <p:nvPr/>
        </p:nvGrpSpPr>
        <p:grpSpPr>
          <a:xfrm>
            <a:off x="4572000" y="4149725"/>
            <a:ext cx="4316413" cy="1971675"/>
            <a:chOff x="2883" y="2614"/>
            <a:chExt cx="2719" cy="1242"/>
          </a:xfrm>
        </p:grpSpPr>
        <p:sp>
          <p:nvSpPr>
            <p:cNvPr id="78875" name="Text Box 25"/>
            <p:cNvSpPr txBox="1"/>
            <p:nvPr/>
          </p:nvSpPr>
          <p:spPr>
            <a:xfrm>
              <a:off x="4493" y="3067"/>
              <a:ext cx="519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其他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76" name="AutoShape 26"/>
            <p:cNvSpPr/>
            <p:nvPr/>
          </p:nvSpPr>
          <p:spPr>
            <a:xfrm>
              <a:off x="5131" y="3120"/>
              <a:ext cx="310" cy="348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5" y="10800"/>
                  </a:moveTo>
                  <a:cubicBezTo>
                    <a:pt x="2925" y="15149"/>
                    <a:pt x="6451" y="18675"/>
                    <a:pt x="10800" y="18675"/>
                  </a:cubicBezTo>
                  <a:cubicBezTo>
                    <a:pt x="15149" y="18675"/>
                    <a:pt x="18675" y="15149"/>
                    <a:pt x="18675" y="10800"/>
                  </a:cubicBezTo>
                  <a:cubicBezTo>
                    <a:pt x="18675" y="6451"/>
                    <a:pt x="15149" y="2925"/>
                    <a:pt x="10800" y="2925"/>
                  </a:cubicBezTo>
                  <a:cubicBezTo>
                    <a:pt x="6451" y="2925"/>
                    <a:pt x="2925" y="6451"/>
                    <a:pt x="2925" y="1080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77" name="AutoShape 27"/>
            <p:cNvSpPr/>
            <p:nvPr/>
          </p:nvSpPr>
          <p:spPr>
            <a:xfrm>
              <a:off x="2883" y="3120"/>
              <a:ext cx="310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78" name="AutoShape 28"/>
            <p:cNvSpPr/>
            <p:nvPr/>
          </p:nvSpPr>
          <p:spPr>
            <a:xfrm>
              <a:off x="4026" y="3120"/>
              <a:ext cx="311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79" name="Line 29"/>
            <p:cNvSpPr/>
            <p:nvPr/>
          </p:nvSpPr>
          <p:spPr>
            <a:xfrm>
              <a:off x="3197" y="3303"/>
              <a:ext cx="82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0" name="Line 30"/>
            <p:cNvSpPr/>
            <p:nvPr/>
          </p:nvSpPr>
          <p:spPr>
            <a:xfrm>
              <a:off x="4340" y="3303"/>
              <a:ext cx="789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1" name="Arc 31"/>
            <p:cNvSpPr/>
            <p:nvPr/>
          </p:nvSpPr>
          <p:spPr>
            <a:xfrm rot="5271687" flipH="1" flipV="1">
              <a:off x="3994" y="2846"/>
              <a:ext cx="351" cy="226"/>
            </a:xfrm>
            <a:custGeom>
              <a:avLst/>
              <a:gdLst/>
              <a:ahLst/>
              <a:cxnLst>
                <a:cxn ang="0">
                  <a:pos x="126" y="4"/>
                </a:cxn>
                <a:cxn ang="0">
                  <a:pos x="0" y="148"/>
                </a:cxn>
                <a:cxn ang="0">
                  <a:pos x="171" y="113"/>
                </a:cxn>
              </a:cxnLst>
              <a:pathLst>
                <a:path w="42110" h="43200" fill="none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</a:path>
                <a:path w="42110" h="43200" stroke="0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  <a:lnTo>
                    <a:pt x="20510" y="21600"/>
                  </a:lnTo>
                  <a:lnTo>
                    <a:pt x="15140" y="677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882" name="Line 32"/>
            <p:cNvSpPr/>
            <p:nvPr/>
          </p:nvSpPr>
          <p:spPr>
            <a:xfrm>
              <a:off x="4065" y="3022"/>
              <a:ext cx="39" cy="14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3" name="Text Box 33"/>
            <p:cNvSpPr txBox="1"/>
            <p:nvPr/>
          </p:nvSpPr>
          <p:spPr>
            <a:xfrm>
              <a:off x="3315" y="3067"/>
              <a:ext cx="512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84" name="Text Box 34"/>
            <p:cNvSpPr txBox="1"/>
            <p:nvPr/>
          </p:nvSpPr>
          <p:spPr>
            <a:xfrm>
              <a:off x="3651" y="2614"/>
              <a:ext cx="1065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85" name="Text Box 35"/>
            <p:cNvSpPr txBox="1"/>
            <p:nvPr/>
          </p:nvSpPr>
          <p:spPr>
            <a:xfrm>
              <a:off x="5365" y="3074"/>
              <a:ext cx="237" cy="306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endParaRPr lang="en-US" altLang="zh-CN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78886" name="Text Box 36"/>
            <p:cNvSpPr txBox="1"/>
            <p:nvPr/>
          </p:nvSpPr>
          <p:spPr>
            <a:xfrm>
              <a:off x="3236" y="3588"/>
              <a:ext cx="1853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（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c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）识别整数的转换图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00389" name="Group 37"/>
          <p:cNvGrpSpPr/>
          <p:nvPr/>
        </p:nvGrpSpPr>
        <p:grpSpPr>
          <a:xfrm>
            <a:off x="360363" y="765175"/>
            <a:ext cx="4211637" cy="660400"/>
            <a:chOff x="0" y="255"/>
            <a:chExt cx="2472" cy="408"/>
          </a:xfrm>
        </p:grpSpPr>
        <p:grpSp>
          <p:nvGrpSpPr>
            <p:cNvPr id="78871" name="Group 38"/>
            <p:cNvGrpSpPr/>
            <p:nvPr/>
          </p:nvGrpSpPr>
          <p:grpSpPr>
            <a:xfrm>
              <a:off x="0" y="255"/>
              <a:ext cx="2472" cy="408"/>
              <a:chOff x="720" y="480"/>
              <a:chExt cx="4224" cy="1390"/>
            </a:xfrm>
          </p:grpSpPr>
          <p:graphicFrame>
            <p:nvGraphicFramePr>
              <p:cNvPr id="78873" name="Object 3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8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9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8874" name="Object 4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9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9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8872" name="Text Box 41"/>
            <p:cNvSpPr txBox="1"/>
            <p:nvPr/>
          </p:nvSpPr>
          <p:spPr>
            <a:xfrm>
              <a:off x="22" y="346"/>
              <a:ext cx="2411" cy="2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3-5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：简单的状态转换图示例：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0394" name="Line 42"/>
          <p:cNvSpPr/>
          <p:nvPr/>
        </p:nvSpPr>
        <p:spPr>
          <a:xfrm flipV="1">
            <a:off x="323850" y="2924175"/>
            <a:ext cx="0" cy="187325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100395" name="Rectangle 43"/>
          <p:cNvSpPr/>
          <p:nvPr/>
        </p:nvSpPr>
        <p:spPr>
          <a:xfrm>
            <a:off x="107950" y="2517775"/>
            <a:ext cx="704850" cy="406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初态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96" name="Rectangle 44"/>
          <p:cNvSpPr/>
          <p:nvPr/>
        </p:nvSpPr>
        <p:spPr>
          <a:xfrm>
            <a:off x="3506788" y="2517775"/>
            <a:ext cx="704850" cy="406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终态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97" name="Line 45"/>
          <p:cNvSpPr/>
          <p:nvPr/>
        </p:nvSpPr>
        <p:spPr>
          <a:xfrm flipV="1">
            <a:off x="3851275" y="2924175"/>
            <a:ext cx="0" cy="1873250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100398" name="Rectangle 46"/>
          <p:cNvSpPr/>
          <p:nvPr/>
        </p:nvSpPr>
        <p:spPr>
          <a:xfrm>
            <a:off x="395288" y="3149600"/>
            <a:ext cx="2016125" cy="711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从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状态到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状态可能出现字母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0399" name="Line 47"/>
          <p:cNvSpPr/>
          <p:nvPr/>
        </p:nvSpPr>
        <p:spPr>
          <a:xfrm flipH="1" flipV="1">
            <a:off x="1258888" y="3860800"/>
            <a:ext cx="0" cy="792163"/>
          </a:xfrm>
          <a:prstGeom prst="line">
            <a:avLst/>
          </a:prstGeom>
          <a:ln w="28575" cap="flat" cmpd="sng">
            <a:solidFill>
              <a:schemeClr val="hlink"/>
            </a:solidFill>
            <a:prstDash val="lgDashDotDot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0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0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0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0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00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100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100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4" grpId="0" animBg="1"/>
      <p:bldP spid="100365" grpId="0" animBg="1"/>
      <p:bldP spid="100366" grpId="0" animBg="1"/>
      <p:bldP spid="100367" grpId="0" animBg="1"/>
      <p:bldP spid="100368" grpId="0" animBg="1"/>
      <p:bldP spid="100369" grpId="0" animBg="1"/>
      <p:bldP spid="100370" grpId="0" animBg="1"/>
      <p:bldP spid="100371" grpId="0"/>
      <p:bldP spid="100372" grpId="0"/>
      <p:bldP spid="100373" grpId="0"/>
      <p:bldP spid="100374" grpId="0"/>
      <p:bldP spid="100375" grpId="0"/>
      <p:bldP spid="100394" grpId="0" animBg="1"/>
      <p:bldP spid="100395" grpId="0" animBg="1"/>
      <p:bldP spid="100396" grpId="0" animBg="1"/>
      <p:bldP spid="100397" grpId="0" animBg="1"/>
      <p:bldP spid="100398" grpId="0" animBg="1"/>
      <p:bldP spid="10039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1378" name="Group 2"/>
          <p:cNvGrpSpPr/>
          <p:nvPr/>
        </p:nvGrpSpPr>
        <p:grpSpPr>
          <a:xfrm>
            <a:off x="250825" y="2087563"/>
            <a:ext cx="8675688" cy="4365625"/>
            <a:chOff x="158" y="1315"/>
            <a:chExt cx="5465" cy="2750"/>
          </a:xfrm>
        </p:grpSpPr>
        <p:sp>
          <p:nvSpPr>
            <p:cNvPr id="79881" name="Text Box 3"/>
            <p:cNvSpPr txBox="1"/>
            <p:nvPr/>
          </p:nvSpPr>
          <p:spPr>
            <a:xfrm>
              <a:off x="1949" y="3777"/>
              <a:ext cx="17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图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3.2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状态转换图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grpSp>
          <p:nvGrpSpPr>
            <p:cNvPr id="79882" name="Group 4"/>
            <p:cNvGrpSpPr/>
            <p:nvPr/>
          </p:nvGrpSpPr>
          <p:grpSpPr>
            <a:xfrm>
              <a:off x="158" y="1315"/>
              <a:ext cx="5465" cy="2569"/>
              <a:chOff x="0" y="436"/>
              <a:chExt cx="5465" cy="2569"/>
            </a:xfrm>
          </p:grpSpPr>
          <p:sp>
            <p:nvSpPr>
              <p:cNvPr id="79883" name="AutoShape 5"/>
              <p:cNvSpPr/>
              <p:nvPr/>
            </p:nvSpPr>
            <p:spPr>
              <a:xfrm>
                <a:off x="4921" y="1570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7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79884" name="Text Box 6"/>
              <p:cNvSpPr txBox="1"/>
              <p:nvPr/>
            </p:nvSpPr>
            <p:spPr>
              <a:xfrm>
                <a:off x="5193" y="1434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chemeClr val="tx2"/>
                    </a:solidFill>
                    <a:latin typeface="宋体" pitchFamily="2" charset="-122"/>
                  </a:rPr>
                  <a:t>*</a:t>
                </a:r>
                <a:endParaRPr lang="en-US" altLang="zh-CN" sz="2400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grpSp>
            <p:nvGrpSpPr>
              <p:cNvPr id="79885" name="Group 7"/>
              <p:cNvGrpSpPr/>
              <p:nvPr/>
            </p:nvGrpSpPr>
            <p:grpSpPr>
              <a:xfrm>
                <a:off x="2895" y="1519"/>
                <a:ext cx="1256" cy="767"/>
                <a:chOff x="2894" y="1791"/>
                <a:chExt cx="1256" cy="809"/>
              </a:xfrm>
            </p:grpSpPr>
            <p:sp>
              <p:nvSpPr>
                <p:cNvPr id="79932" name="Arc 8"/>
                <p:cNvSpPr/>
                <p:nvPr/>
              </p:nvSpPr>
              <p:spPr>
                <a:xfrm rot="7846440">
                  <a:off x="3000" y="1665"/>
                  <a:ext cx="809" cy="1036"/>
                </a:xfrm>
                <a:custGeom>
                  <a:avLst/>
                  <a:gdLst/>
                  <a:ahLst/>
                  <a:cxnLst>
                    <a:cxn ang="0">
                      <a:pos x="130" y="0"/>
                    </a:cxn>
                    <a:cxn ang="0">
                      <a:pos x="763" y="1036"/>
                    </a:cxn>
                    <a:cxn ang="0">
                      <a:pos x="0" y="775"/>
                    </a:cxn>
                  </a:cxnLst>
                  <a:pathLst>
                    <a:path w="21600" h="28509" fill="none">
                      <a:moveTo>
                        <a:pt x="3465" y="-1"/>
                      </a:moveTo>
                      <a:cubicBezTo>
                        <a:pt x="13919" y="1698"/>
                        <a:pt x="21600" y="10728"/>
                        <a:pt x="21600" y="21320"/>
                      </a:cubicBezTo>
                      <a:cubicBezTo>
                        <a:pt x="21600" y="23768"/>
                        <a:pt x="21183" y="26199"/>
                        <a:pt x="20368" y="28508"/>
                      </a:cubicBezTo>
                    </a:path>
                    <a:path w="21600" h="28509" stroke="0">
                      <a:moveTo>
                        <a:pt x="3465" y="-1"/>
                      </a:moveTo>
                      <a:cubicBezTo>
                        <a:pt x="13919" y="1698"/>
                        <a:pt x="21600" y="10728"/>
                        <a:pt x="21600" y="21320"/>
                      </a:cubicBezTo>
                      <a:cubicBezTo>
                        <a:pt x="21600" y="23768"/>
                        <a:pt x="21183" y="26199"/>
                        <a:pt x="20368" y="28508"/>
                      </a:cubicBezTo>
                      <a:lnTo>
                        <a:pt x="0" y="21320"/>
                      </a:lnTo>
                      <a:lnTo>
                        <a:pt x="3465" y="-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9933" name="Line 9"/>
                <p:cNvSpPr/>
                <p:nvPr/>
              </p:nvSpPr>
              <p:spPr>
                <a:xfrm flipV="1">
                  <a:off x="3969" y="2115"/>
                  <a:ext cx="181" cy="22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79886" name="Group 10"/>
              <p:cNvGrpSpPr/>
              <p:nvPr/>
            </p:nvGrpSpPr>
            <p:grpSpPr>
              <a:xfrm>
                <a:off x="0" y="436"/>
                <a:ext cx="5279" cy="2569"/>
                <a:chOff x="0" y="436"/>
                <a:chExt cx="5279" cy="2569"/>
              </a:xfrm>
            </p:grpSpPr>
            <p:sp>
              <p:nvSpPr>
                <p:cNvPr id="79887" name="AutoShape 11"/>
                <p:cNvSpPr/>
                <p:nvPr/>
              </p:nvSpPr>
              <p:spPr>
                <a:xfrm>
                  <a:off x="930" y="2423"/>
                  <a:ext cx="361" cy="336"/>
                </a:xfrm>
                <a:prstGeom prst="flowChartConnector">
                  <a:avLst/>
                </a:prstGeom>
                <a:solidFill>
                  <a:srgbClr val="FFFFFF">
                    <a:alpha val="0"/>
                  </a:srgbClr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6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grpSp>
              <p:nvGrpSpPr>
                <p:cNvPr id="79888" name="Group 12"/>
                <p:cNvGrpSpPr/>
                <p:nvPr/>
              </p:nvGrpSpPr>
              <p:grpSpPr>
                <a:xfrm>
                  <a:off x="1166" y="1661"/>
                  <a:ext cx="753" cy="735"/>
                  <a:chOff x="1165" y="1934"/>
                  <a:chExt cx="753" cy="775"/>
                </a:xfrm>
              </p:grpSpPr>
              <p:sp>
                <p:nvSpPr>
                  <p:cNvPr id="79930" name="Arc 13"/>
                  <p:cNvSpPr/>
                  <p:nvPr/>
                </p:nvSpPr>
                <p:spPr>
                  <a:xfrm rot="4583452">
                    <a:off x="1078" y="2001"/>
                    <a:ext cx="775" cy="616"/>
                  </a:xfrm>
                  <a:custGeom>
                    <a:avLst/>
                    <a:gdLst/>
                    <a:ahLst/>
                    <a:cxnLst>
                      <a:cxn ang="0">
                        <a:pos x="487" y="0"/>
                      </a:cxn>
                      <a:cxn ang="0">
                        <a:pos x="775" y="616"/>
                      </a:cxn>
                      <a:cxn ang="0">
                        <a:pos x="0" y="616"/>
                      </a:cxn>
                    </a:cxnLst>
                    <a:pathLst>
                      <a:path w="21600" h="16794" fill="none">
                        <a:moveTo>
                          <a:pt x="13583" y="-1"/>
                        </a:moveTo>
                        <a:cubicBezTo>
                          <a:pt x="18653" y="4100"/>
                          <a:pt x="21600" y="10272"/>
                          <a:pt x="21600" y="16794"/>
                        </a:cubicBezTo>
                      </a:path>
                      <a:path w="21600" h="16794" stroke="0">
                        <a:moveTo>
                          <a:pt x="13583" y="-1"/>
                        </a:moveTo>
                        <a:cubicBezTo>
                          <a:pt x="18653" y="4100"/>
                          <a:pt x="21600" y="10272"/>
                          <a:pt x="21600" y="16794"/>
                        </a:cubicBezTo>
                        <a:lnTo>
                          <a:pt x="0" y="16794"/>
                        </a:lnTo>
                        <a:lnTo>
                          <a:pt x="13583" y="-1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79931" name="Line 14"/>
                  <p:cNvSpPr/>
                  <p:nvPr/>
                </p:nvSpPr>
                <p:spPr>
                  <a:xfrm rot="-5638964">
                    <a:off x="1751" y="2173"/>
                    <a:ext cx="183" cy="13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79889" name="Line 15"/>
                <p:cNvSpPr/>
                <p:nvPr/>
              </p:nvSpPr>
              <p:spPr>
                <a:xfrm flipV="1">
                  <a:off x="4786" y="1798"/>
                  <a:ext cx="136" cy="257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grpSp>
              <p:nvGrpSpPr>
                <p:cNvPr id="79890" name="Group 16"/>
                <p:cNvGrpSpPr/>
                <p:nvPr/>
              </p:nvGrpSpPr>
              <p:grpSpPr>
                <a:xfrm>
                  <a:off x="0" y="436"/>
                  <a:ext cx="5279" cy="2569"/>
                  <a:chOff x="0" y="436"/>
                  <a:chExt cx="5279" cy="2569"/>
                </a:xfrm>
              </p:grpSpPr>
              <p:sp>
                <p:nvSpPr>
                  <p:cNvPr id="79891" name="AutoShape 17"/>
                  <p:cNvSpPr/>
                  <p:nvPr/>
                </p:nvSpPr>
                <p:spPr>
                  <a:xfrm>
                    <a:off x="4105" y="1569"/>
                    <a:ext cx="361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5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2" name="Text Box 18"/>
                  <p:cNvSpPr txBox="1"/>
                  <p:nvPr/>
                </p:nvSpPr>
                <p:spPr>
                  <a:xfrm>
                    <a:off x="385" y="2023"/>
                    <a:ext cx="227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·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3" name="Text Box 19"/>
                  <p:cNvSpPr txBox="1"/>
                  <p:nvPr/>
                </p:nvSpPr>
                <p:spPr>
                  <a:xfrm>
                    <a:off x="3742" y="799"/>
                    <a:ext cx="122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4" name="AutoShape 20"/>
                  <p:cNvSpPr/>
                  <p:nvPr/>
                </p:nvSpPr>
                <p:spPr>
                  <a:xfrm>
                    <a:off x="3288" y="1562"/>
                    <a:ext cx="361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1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5" name="AutoShape 21"/>
                  <p:cNvSpPr/>
                  <p:nvPr/>
                </p:nvSpPr>
                <p:spPr>
                  <a:xfrm>
                    <a:off x="0" y="1546"/>
                    <a:ext cx="360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0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6" name="AutoShape 22"/>
                  <p:cNvSpPr/>
                  <p:nvPr/>
                </p:nvSpPr>
                <p:spPr>
                  <a:xfrm>
                    <a:off x="931" y="1546"/>
                    <a:ext cx="360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1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7" name="Text Box 23"/>
                  <p:cNvSpPr txBox="1"/>
                  <p:nvPr/>
                </p:nvSpPr>
                <p:spPr>
                  <a:xfrm>
                    <a:off x="294" y="1511"/>
                    <a:ext cx="59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8" name="Text Box 24"/>
                  <p:cNvSpPr txBox="1"/>
                  <p:nvPr/>
                </p:nvSpPr>
                <p:spPr>
                  <a:xfrm>
                    <a:off x="550" y="798"/>
                    <a:ext cx="1222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899" name="AutoShape 25"/>
                  <p:cNvSpPr/>
                  <p:nvPr/>
                </p:nvSpPr>
                <p:spPr>
                  <a:xfrm>
                    <a:off x="1703" y="1546"/>
                    <a:ext cx="361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2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0" name="Text Box 26"/>
                  <p:cNvSpPr txBox="1"/>
                  <p:nvPr/>
                </p:nvSpPr>
                <p:spPr>
                  <a:xfrm>
                    <a:off x="1339" y="798"/>
                    <a:ext cx="1222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1" name="AutoShape 27"/>
                  <p:cNvSpPr/>
                  <p:nvPr/>
                </p:nvSpPr>
                <p:spPr>
                  <a:xfrm>
                    <a:off x="2516" y="1561"/>
                    <a:ext cx="361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3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2" name="Text Box 28"/>
                  <p:cNvSpPr txBox="1"/>
                  <p:nvPr/>
                </p:nvSpPr>
                <p:spPr>
                  <a:xfrm>
                    <a:off x="1337" y="436"/>
                    <a:ext cx="1225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E </a:t>
                    </a: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或 </a:t>
                    </a: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D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3" name="Text Box 29"/>
                  <p:cNvSpPr txBox="1"/>
                  <p:nvPr/>
                </p:nvSpPr>
                <p:spPr>
                  <a:xfrm>
                    <a:off x="2699" y="1479"/>
                    <a:ext cx="771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+</a:t>
                    </a: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或－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4" name="Text Box 30"/>
                  <p:cNvSpPr txBox="1"/>
                  <p:nvPr/>
                </p:nvSpPr>
                <p:spPr>
                  <a:xfrm>
                    <a:off x="3288" y="1480"/>
                    <a:ext cx="122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5" name="Text Box 31"/>
                  <p:cNvSpPr txBox="1"/>
                  <p:nvPr/>
                </p:nvSpPr>
                <p:spPr>
                  <a:xfrm>
                    <a:off x="4059" y="1480"/>
                    <a:ext cx="122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其他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6" name="Text Box 32"/>
                  <p:cNvSpPr txBox="1"/>
                  <p:nvPr/>
                </p:nvSpPr>
                <p:spPr>
                  <a:xfrm>
                    <a:off x="1700" y="1479"/>
                    <a:ext cx="1225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E </a:t>
                    </a: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或 </a:t>
                    </a: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D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07" name="Text Box 33"/>
                  <p:cNvSpPr txBox="1"/>
                  <p:nvPr/>
                </p:nvSpPr>
                <p:spPr>
                  <a:xfrm>
                    <a:off x="1338" y="1526"/>
                    <a:ext cx="227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·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grpSp>
                <p:nvGrpSpPr>
                  <p:cNvPr id="79908" name="Group 34"/>
                  <p:cNvGrpSpPr/>
                  <p:nvPr/>
                </p:nvGrpSpPr>
                <p:grpSpPr>
                  <a:xfrm>
                    <a:off x="244" y="663"/>
                    <a:ext cx="4678" cy="2342"/>
                    <a:chOff x="244" y="663"/>
                    <a:chExt cx="4678" cy="2342"/>
                  </a:xfrm>
                </p:grpSpPr>
                <p:sp>
                  <p:nvSpPr>
                    <p:cNvPr id="79911" name="Line 35"/>
                    <p:cNvSpPr/>
                    <p:nvPr/>
                  </p:nvSpPr>
                  <p:spPr>
                    <a:xfrm>
                      <a:off x="2880" y="1753"/>
                      <a:ext cx="408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12" name="Arc 36"/>
                    <p:cNvSpPr/>
                    <p:nvPr/>
                  </p:nvSpPr>
                  <p:spPr>
                    <a:xfrm rot="5271687" flipH="1" flipV="1">
                      <a:off x="4032" y="1161"/>
                      <a:ext cx="528" cy="258"/>
                    </a:xfrm>
                    <a:custGeom>
                      <a:avLst/>
                      <a:gdLst/>
                      <a:ahLst/>
                      <a:cxnLst>
                        <a:cxn ang="0">
                          <a:pos x="190" y="4"/>
                        </a:cxn>
                        <a:cxn ang="0">
                          <a:pos x="0" y="169"/>
                        </a:cxn>
                        <a:cxn ang="0">
                          <a:pos x="257" y="129"/>
                        </a:cxn>
                      </a:cxnLst>
                      <a:pathLst>
                        <a:path w="42110" h="43200" fill="none">
                          <a:moveTo>
                            <a:pt x="15140" y="677"/>
                          </a:moveTo>
                          <a:cubicBezTo>
                            <a:pt x="16895" y="227"/>
                            <a:pt x="18698" y="-1"/>
                            <a:pt x="20510" y="0"/>
                          </a:cubicBezTo>
                          <a:cubicBezTo>
                            <a:pt x="32439" y="0"/>
                            <a:pt x="42110" y="9670"/>
                            <a:pt x="42110" y="21600"/>
                          </a:cubicBezTo>
                          <a:cubicBezTo>
                            <a:pt x="42110" y="33529"/>
                            <a:pt x="32439" y="43200"/>
                            <a:pt x="20510" y="43200"/>
                          </a:cubicBezTo>
                          <a:cubicBezTo>
                            <a:pt x="11191" y="43200"/>
                            <a:pt x="2922" y="37223"/>
                            <a:pt x="0" y="28374"/>
                          </a:cubicBezTo>
                        </a:path>
                        <a:path w="42110" h="43200" stroke="0">
                          <a:moveTo>
                            <a:pt x="15140" y="677"/>
                          </a:moveTo>
                          <a:cubicBezTo>
                            <a:pt x="16895" y="227"/>
                            <a:pt x="18698" y="-1"/>
                            <a:pt x="20510" y="0"/>
                          </a:cubicBezTo>
                          <a:cubicBezTo>
                            <a:pt x="32439" y="0"/>
                            <a:pt x="42110" y="9670"/>
                            <a:pt x="42110" y="21600"/>
                          </a:cubicBezTo>
                          <a:cubicBezTo>
                            <a:pt x="42110" y="33529"/>
                            <a:pt x="32439" y="43200"/>
                            <a:pt x="20510" y="43200"/>
                          </a:cubicBezTo>
                          <a:cubicBezTo>
                            <a:pt x="11191" y="43200"/>
                            <a:pt x="2922" y="37223"/>
                            <a:pt x="0" y="28374"/>
                          </a:cubicBezTo>
                          <a:lnTo>
                            <a:pt x="20510" y="21600"/>
                          </a:lnTo>
                          <a:lnTo>
                            <a:pt x="15140" y="677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9913" name="Line 37"/>
                    <p:cNvSpPr/>
                    <p:nvPr/>
                  </p:nvSpPr>
                  <p:spPr>
                    <a:xfrm>
                      <a:off x="4167" y="1388"/>
                      <a:ext cx="45" cy="215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14" name="Line 38"/>
                    <p:cNvSpPr/>
                    <p:nvPr/>
                  </p:nvSpPr>
                  <p:spPr>
                    <a:xfrm flipV="1">
                      <a:off x="362" y="1737"/>
                      <a:ext cx="567" cy="1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15" name="Arc 39"/>
                    <p:cNvSpPr/>
                    <p:nvPr/>
                  </p:nvSpPr>
                  <p:spPr>
                    <a:xfrm rot="5271687" flipH="1" flipV="1">
                      <a:off x="838" y="1139"/>
                      <a:ext cx="519" cy="258"/>
                    </a:xfrm>
                    <a:custGeom>
                      <a:avLst/>
                      <a:gdLst/>
                      <a:ahLst/>
                      <a:cxnLst>
                        <a:cxn ang="0">
                          <a:pos x="187" y="4"/>
                        </a:cxn>
                        <a:cxn ang="0">
                          <a:pos x="0" y="169"/>
                        </a:cxn>
                        <a:cxn ang="0">
                          <a:pos x="253" y="129"/>
                        </a:cxn>
                      </a:cxnLst>
                      <a:pathLst>
                        <a:path w="42110" h="43200" fill="none">
                          <a:moveTo>
                            <a:pt x="15140" y="677"/>
                          </a:moveTo>
                          <a:cubicBezTo>
                            <a:pt x="16895" y="227"/>
                            <a:pt x="18698" y="-1"/>
                            <a:pt x="20510" y="0"/>
                          </a:cubicBezTo>
                          <a:cubicBezTo>
                            <a:pt x="32439" y="0"/>
                            <a:pt x="42110" y="9670"/>
                            <a:pt x="42110" y="21600"/>
                          </a:cubicBezTo>
                          <a:cubicBezTo>
                            <a:pt x="42110" y="33529"/>
                            <a:pt x="32439" y="43200"/>
                            <a:pt x="20510" y="43200"/>
                          </a:cubicBezTo>
                          <a:cubicBezTo>
                            <a:pt x="11191" y="43200"/>
                            <a:pt x="2922" y="37223"/>
                            <a:pt x="0" y="28374"/>
                          </a:cubicBezTo>
                        </a:path>
                        <a:path w="42110" h="43200" stroke="0">
                          <a:moveTo>
                            <a:pt x="15140" y="677"/>
                          </a:moveTo>
                          <a:cubicBezTo>
                            <a:pt x="16895" y="227"/>
                            <a:pt x="18698" y="-1"/>
                            <a:pt x="20510" y="0"/>
                          </a:cubicBezTo>
                          <a:cubicBezTo>
                            <a:pt x="32439" y="0"/>
                            <a:pt x="42110" y="9670"/>
                            <a:pt x="42110" y="21600"/>
                          </a:cubicBezTo>
                          <a:cubicBezTo>
                            <a:pt x="42110" y="33529"/>
                            <a:pt x="32439" y="43200"/>
                            <a:pt x="20510" y="43200"/>
                          </a:cubicBezTo>
                          <a:cubicBezTo>
                            <a:pt x="11191" y="43200"/>
                            <a:pt x="2922" y="37223"/>
                            <a:pt x="0" y="28374"/>
                          </a:cubicBezTo>
                          <a:lnTo>
                            <a:pt x="20510" y="21600"/>
                          </a:lnTo>
                          <a:lnTo>
                            <a:pt x="15140" y="677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9916" name="Line 40"/>
                    <p:cNvSpPr/>
                    <p:nvPr/>
                  </p:nvSpPr>
                  <p:spPr>
                    <a:xfrm>
                      <a:off x="975" y="1379"/>
                      <a:ext cx="45" cy="212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17" name="Line 41"/>
                    <p:cNvSpPr/>
                    <p:nvPr/>
                  </p:nvSpPr>
                  <p:spPr>
                    <a:xfrm>
                      <a:off x="1292" y="1737"/>
                      <a:ext cx="410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18" name="Arc 42"/>
                    <p:cNvSpPr/>
                    <p:nvPr/>
                  </p:nvSpPr>
                  <p:spPr>
                    <a:xfrm rot="5271687" flipH="1" flipV="1">
                      <a:off x="1626" y="1137"/>
                      <a:ext cx="519" cy="258"/>
                    </a:xfrm>
                    <a:custGeom>
                      <a:avLst/>
                      <a:gdLst/>
                      <a:ahLst/>
                      <a:cxnLst>
                        <a:cxn ang="0">
                          <a:pos x="187" y="4"/>
                        </a:cxn>
                        <a:cxn ang="0">
                          <a:pos x="0" y="169"/>
                        </a:cxn>
                        <a:cxn ang="0">
                          <a:pos x="253" y="129"/>
                        </a:cxn>
                      </a:cxnLst>
                      <a:pathLst>
                        <a:path w="42110" h="43200" fill="none">
                          <a:moveTo>
                            <a:pt x="15140" y="677"/>
                          </a:moveTo>
                          <a:cubicBezTo>
                            <a:pt x="16895" y="227"/>
                            <a:pt x="18698" y="-1"/>
                            <a:pt x="20510" y="0"/>
                          </a:cubicBezTo>
                          <a:cubicBezTo>
                            <a:pt x="32439" y="0"/>
                            <a:pt x="42110" y="9670"/>
                            <a:pt x="42110" y="21600"/>
                          </a:cubicBezTo>
                          <a:cubicBezTo>
                            <a:pt x="42110" y="33529"/>
                            <a:pt x="32439" y="43200"/>
                            <a:pt x="20510" y="43200"/>
                          </a:cubicBezTo>
                          <a:cubicBezTo>
                            <a:pt x="11191" y="43200"/>
                            <a:pt x="2922" y="37223"/>
                            <a:pt x="0" y="28374"/>
                          </a:cubicBezTo>
                        </a:path>
                        <a:path w="42110" h="43200" stroke="0">
                          <a:moveTo>
                            <a:pt x="15140" y="677"/>
                          </a:moveTo>
                          <a:cubicBezTo>
                            <a:pt x="16895" y="227"/>
                            <a:pt x="18698" y="-1"/>
                            <a:pt x="20510" y="0"/>
                          </a:cubicBezTo>
                          <a:cubicBezTo>
                            <a:pt x="32439" y="0"/>
                            <a:pt x="42110" y="9670"/>
                            <a:pt x="42110" y="21600"/>
                          </a:cubicBezTo>
                          <a:cubicBezTo>
                            <a:pt x="42110" y="33529"/>
                            <a:pt x="32439" y="43200"/>
                            <a:pt x="20510" y="43200"/>
                          </a:cubicBezTo>
                          <a:cubicBezTo>
                            <a:pt x="11191" y="43200"/>
                            <a:pt x="2922" y="37223"/>
                            <a:pt x="0" y="28374"/>
                          </a:cubicBezTo>
                          <a:lnTo>
                            <a:pt x="20510" y="21600"/>
                          </a:lnTo>
                          <a:lnTo>
                            <a:pt x="15140" y="677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9919" name="Line 43"/>
                    <p:cNvSpPr/>
                    <p:nvPr/>
                  </p:nvSpPr>
                  <p:spPr>
                    <a:xfrm>
                      <a:off x="1764" y="1377"/>
                      <a:ext cx="45" cy="212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20" name="Line 44"/>
                    <p:cNvSpPr/>
                    <p:nvPr/>
                  </p:nvSpPr>
                  <p:spPr>
                    <a:xfrm>
                      <a:off x="2063" y="1751"/>
                      <a:ext cx="453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21" name="Arc 45"/>
                    <p:cNvSpPr/>
                    <p:nvPr/>
                  </p:nvSpPr>
                  <p:spPr>
                    <a:xfrm rot="-5356410" flipV="1">
                      <a:off x="1384" y="530"/>
                      <a:ext cx="998" cy="1264"/>
                    </a:xfrm>
                    <a:custGeom>
                      <a:avLst/>
                      <a:gdLst/>
                      <a:ahLst/>
                      <a:cxnLst>
                        <a:cxn ang="0">
                          <a:pos x="513" y="0"/>
                        </a:cxn>
                        <a:cxn ang="0">
                          <a:pos x="88" y="1264"/>
                        </a:cxn>
                        <a:cxn ang="0">
                          <a:pos x="0" y="585"/>
                        </a:cxn>
                      </a:cxnLst>
                      <a:pathLst>
                        <a:path w="21600" h="40044" fill="none">
                          <a:moveTo>
                            <a:pt x="11104" y="0"/>
                          </a:moveTo>
                          <a:cubicBezTo>
                            <a:pt x="17615" y="3902"/>
                            <a:pt x="21600" y="10936"/>
                            <a:pt x="21600" y="18527"/>
                          </a:cubicBezTo>
                          <a:cubicBezTo>
                            <a:pt x="21600" y="29721"/>
                            <a:pt x="13047" y="39061"/>
                            <a:pt x="1895" y="40043"/>
                          </a:cubicBezTo>
                        </a:path>
                        <a:path w="21600" h="40044" stroke="0">
                          <a:moveTo>
                            <a:pt x="11104" y="0"/>
                          </a:moveTo>
                          <a:cubicBezTo>
                            <a:pt x="17615" y="3902"/>
                            <a:pt x="21600" y="10936"/>
                            <a:pt x="21600" y="18527"/>
                          </a:cubicBezTo>
                          <a:cubicBezTo>
                            <a:pt x="21600" y="29721"/>
                            <a:pt x="13047" y="39061"/>
                            <a:pt x="1895" y="40043"/>
                          </a:cubicBezTo>
                          <a:lnTo>
                            <a:pt x="0" y="18527"/>
                          </a:lnTo>
                          <a:lnTo>
                            <a:pt x="11104" y="0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79922" name="Line 46"/>
                    <p:cNvSpPr/>
                    <p:nvPr/>
                  </p:nvSpPr>
                  <p:spPr>
                    <a:xfrm>
                      <a:off x="2515" y="1163"/>
                      <a:ext cx="136" cy="43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23" name="Line 47"/>
                    <p:cNvSpPr/>
                    <p:nvPr/>
                  </p:nvSpPr>
                  <p:spPr>
                    <a:xfrm>
                      <a:off x="3652" y="1753"/>
                      <a:ext cx="45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24" name="Line 48"/>
                    <p:cNvSpPr/>
                    <p:nvPr/>
                  </p:nvSpPr>
                  <p:spPr>
                    <a:xfrm>
                      <a:off x="4469" y="1753"/>
                      <a:ext cx="453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grpSp>
                  <p:nvGrpSpPr>
                    <p:cNvPr id="79925" name="Group 49"/>
                    <p:cNvGrpSpPr/>
                    <p:nvPr/>
                  </p:nvGrpSpPr>
                  <p:grpSpPr>
                    <a:xfrm>
                      <a:off x="244" y="1807"/>
                      <a:ext cx="1011" cy="680"/>
                      <a:chOff x="243" y="2078"/>
                      <a:chExt cx="1011" cy="717"/>
                    </a:xfrm>
                  </p:grpSpPr>
                  <p:sp>
                    <p:nvSpPr>
                      <p:cNvPr id="79928" name="Arc 50"/>
                      <p:cNvSpPr/>
                      <p:nvPr/>
                    </p:nvSpPr>
                    <p:spPr>
                      <a:xfrm rot="10222416">
                        <a:off x="243" y="2078"/>
                        <a:ext cx="1011" cy="54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695" y="0"/>
                          </a:cxn>
                          <a:cxn ang="0">
                            <a:pos x="1011" y="543"/>
                          </a:cxn>
                          <a:cxn ang="0">
                            <a:pos x="0" y="543"/>
                          </a:cxn>
                        </a:cxnLst>
                        <a:pathLst>
                          <a:path w="21600" h="15685" fill="none">
                            <a:moveTo>
                              <a:pt x="14850" y="-1"/>
                            </a:moveTo>
                            <a:cubicBezTo>
                              <a:pt x="19159" y="4079"/>
                              <a:pt x="21600" y="9751"/>
                              <a:pt x="21600" y="15685"/>
                            </a:cubicBezTo>
                          </a:path>
                          <a:path w="21600" h="15685" stroke="0">
                            <a:moveTo>
                              <a:pt x="14850" y="-1"/>
                            </a:moveTo>
                            <a:cubicBezTo>
                              <a:pt x="19159" y="4079"/>
                              <a:pt x="21600" y="9751"/>
                              <a:pt x="21600" y="15685"/>
                            </a:cubicBezTo>
                            <a:lnTo>
                              <a:pt x="0" y="15685"/>
                            </a:lnTo>
                            <a:lnTo>
                              <a:pt x="14850" y="-1"/>
                            </a:lnTo>
                            <a:close/>
                          </a:path>
                        </a:pathLst>
                      </a:custGeom>
                      <a:noFill/>
                      <a:ln w="9525" cap="flat" cmpd="sng">
                        <a:solidFill>
                          <a:srgbClr val="000000">
                            <a:alpha val="10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79929" name="Line 51"/>
                      <p:cNvSpPr/>
                      <p:nvPr/>
                    </p:nvSpPr>
                    <p:spPr>
                      <a:xfrm>
                        <a:off x="612" y="2659"/>
                        <a:ext cx="317" cy="13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</p:grpSp>
                <p:sp>
                  <p:nvSpPr>
                    <p:cNvPr id="79926" name="Text Box 52"/>
                    <p:cNvSpPr txBox="1"/>
                    <p:nvPr/>
                  </p:nvSpPr>
                  <p:spPr>
                    <a:xfrm>
                      <a:off x="839" y="2070"/>
                      <a:ext cx="1220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Char char="v"/>
                        <a:defRPr sz="3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buChar char="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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5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  <a:latin typeface="宋体" pitchFamily="2" charset="-122"/>
                        </a:rPr>
                        <a:t>数字</a:t>
                      </a:r>
                      <a:endPara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endParaRPr>
                    </a:p>
                  </p:txBody>
                </p:sp>
                <p:sp>
                  <p:nvSpPr>
                    <p:cNvPr id="79927" name="Arc 53"/>
                    <p:cNvSpPr/>
                    <p:nvPr/>
                  </p:nvSpPr>
                  <p:spPr>
                    <a:xfrm rot="8413196">
                      <a:off x="2381" y="1028"/>
                      <a:ext cx="2070" cy="197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90"/>
                        </a:cxn>
                        <a:cxn ang="0">
                          <a:pos x="1992" y="1977"/>
                        </a:cxn>
                        <a:cxn ang="0">
                          <a:pos x="525" y="1505"/>
                        </a:cxn>
                      </a:cxnLst>
                      <a:pathLst>
                        <a:path w="28943" h="28370" fill="none">
                          <a:moveTo>
                            <a:pt x="0" y="1286"/>
                          </a:moveTo>
                          <a:cubicBezTo>
                            <a:pt x="2354" y="435"/>
                            <a:pt x="4839" y="-1"/>
                            <a:pt x="7343" y="0"/>
                          </a:cubicBezTo>
                          <a:cubicBezTo>
                            <a:pt x="19272" y="0"/>
                            <a:pt x="28943" y="9670"/>
                            <a:pt x="28943" y="21600"/>
                          </a:cubicBezTo>
                          <a:cubicBezTo>
                            <a:pt x="28943" y="23900"/>
                            <a:pt x="28575" y="26185"/>
                            <a:pt x="27854" y="28369"/>
                          </a:cubicBezTo>
                        </a:path>
                        <a:path w="28943" h="28370" stroke="0">
                          <a:moveTo>
                            <a:pt x="0" y="1286"/>
                          </a:moveTo>
                          <a:cubicBezTo>
                            <a:pt x="2354" y="435"/>
                            <a:pt x="4839" y="-1"/>
                            <a:pt x="7343" y="0"/>
                          </a:cubicBezTo>
                          <a:cubicBezTo>
                            <a:pt x="19272" y="0"/>
                            <a:pt x="28943" y="9670"/>
                            <a:pt x="28943" y="21600"/>
                          </a:cubicBezTo>
                          <a:cubicBezTo>
                            <a:pt x="28943" y="23900"/>
                            <a:pt x="28575" y="26185"/>
                            <a:pt x="27854" y="28369"/>
                          </a:cubicBezTo>
                          <a:lnTo>
                            <a:pt x="7343" y="21600"/>
                          </a:lnTo>
                          <a:lnTo>
                            <a:pt x="0" y="1286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9909" name="Text Box 54"/>
                  <p:cNvSpPr txBox="1"/>
                  <p:nvPr/>
                </p:nvSpPr>
                <p:spPr>
                  <a:xfrm>
                    <a:off x="2835" y="2568"/>
                    <a:ext cx="122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其他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79910" name="Text Box 55"/>
                  <p:cNvSpPr txBox="1"/>
                  <p:nvPr/>
                </p:nvSpPr>
                <p:spPr>
                  <a:xfrm>
                    <a:off x="2880" y="2023"/>
                    <a:ext cx="122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</p:grpSp>
          </p:grpSp>
        </p:grpSp>
      </p:grpSp>
      <p:grpSp>
        <p:nvGrpSpPr>
          <p:cNvPr id="101432" name="Group 56"/>
          <p:cNvGrpSpPr/>
          <p:nvPr/>
        </p:nvGrpSpPr>
        <p:grpSpPr>
          <a:xfrm>
            <a:off x="360363" y="692150"/>
            <a:ext cx="5003800" cy="596900"/>
            <a:chOff x="0" y="255"/>
            <a:chExt cx="2472" cy="408"/>
          </a:xfrm>
        </p:grpSpPr>
        <p:grpSp>
          <p:nvGrpSpPr>
            <p:cNvPr id="79877" name="Group 57"/>
            <p:cNvGrpSpPr/>
            <p:nvPr/>
          </p:nvGrpSpPr>
          <p:grpSpPr>
            <a:xfrm>
              <a:off x="0" y="255"/>
              <a:ext cx="2472" cy="408"/>
              <a:chOff x="720" y="480"/>
              <a:chExt cx="4224" cy="1390"/>
            </a:xfrm>
          </p:grpSpPr>
          <p:graphicFrame>
            <p:nvGraphicFramePr>
              <p:cNvPr id="79879" name="Object 58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2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3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9880" name="Object 59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3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3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9878" name="Text Box 60"/>
            <p:cNvSpPr txBox="1"/>
            <p:nvPr/>
          </p:nvSpPr>
          <p:spPr>
            <a:xfrm>
              <a:off x="22" y="346"/>
              <a:ext cx="241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3-6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：识别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FORTRAN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实型常数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的转换图：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1437" name="Text Box 61"/>
          <p:cNvSpPr txBox="1"/>
          <p:nvPr/>
        </p:nvSpPr>
        <p:spPr>
          <a:xfrm>
            <a:off x="6156325" y="981075"/>
            <a:ext cx="2736850" cy="16256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例如下列实型常数可以被以下转换图识别：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  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1.23E+4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   .56E-7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1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1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3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402" name="Group 2"/>
          <p:cNvGraphicFramePr>
            <a:graphicFrameLocks noGrp="1"/>
          </p:cNvGraphicFramePr>
          <p:nvPr>
            <p:ph idx="4294967295"/>
          </p:nvPr>
        </p:nvGraphicFramePr>
        <p:xfrm>
          <a:off x="396875" y="1376363"/>
          <a:ext cx="8351838" cy="5081588"/>
        </p:xfrm>
        <a:graphic>
          <a:graphicData uri="http://schemas.openxmlformats.org/drawingml/2006/table">
            <a:tbl>
              <a:tblPr/>
              <a:tblGrid>
                <a:gridCol w="2070100"/>
                <a:gridCol w="2055813"/>
                <a:gridCol w="2063750"/>
                <a:gridCol w="2162175"/>
              </a:tblGrid>
              <a:tr h="3657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单词符号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种别编码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助忆符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内码值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DIM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$DIM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IF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IF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DO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STOP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STOP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END 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END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标识符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ID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常数（整）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$INT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内部字符串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＝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ASSIGN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标准二进制形式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＋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PLUS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*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STAR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**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11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POWER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 , 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COMMA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6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(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13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LPAR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14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$ RPAR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>
                          <a:tab pos="2868295" algn="l"/>
                          <a:tab pos="4925695" algn="l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02484" name="Group 84"/>
          <p:cNvGrpSpPr/>
          <p:nvPr/>
        </p:nvGrpSpPr>
        <p:grpSpPr>
          <a:xfrm>
            <a:off x="179388" y="476250"/>
            <a:ext cx="8820150" cy="598488"/>
            <a:chOff x="0" y="255"/>
            <a:chExt cx="2472" cy="408"/>
          </a:xfrm>
        </p:grpSpPr>
        <p:grpSp>
          <p:nvGrpSpPr>
            <p:cNvPr id="80981" name="Group 85"/>
            <p:cNvGrpSpPr/>
            <p:nvPr/>
          </p:nvGrpSpPr>
          <p:grpSpPr>
            <a:xfrm>
              <a:off x="0" y="255"/>
              <a:ext cx="2472" cy="408"/>
              <a:chOff x="720" y="480"/>
              <a:chExt cx="4224" cy="1390"/>
            </a:xfrm>
          </p:grpSpPr>
          <p:graphicFrame>
            <p:nvGraphicFramePr>
              <p:cNvPr id="80983" name="Object 86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0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984" name="Object 87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1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0982" name="Text Box 88"/>
            <p:cNvSpPr txBox="1"/>
            <p:nvPr/>
          </p:nvSpPr>
          <p:spPr>
            <a:xfrm>
              <a:off x="22" y="346"/>
              <a:ext cx="2411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3-7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：综合实例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——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做出识别下表所示的小语言的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单词符号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的状态转换图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3426" name="Group 2"/>
          <p:cNvGrpSpPr/>
          <p:nvPr/>
        </p:nvGrpSpPr>
        <p:grpSpPr>
          <a:xfrm>
            <a:off x="3419475" y="404813"/>
            <a:ext cx="5329238" cy="6264275"/>
            <a:chOff x="2154" y="255"/>
            <a:chExt cx="3357" cy="3946"/>
          </a:xfrm>
        </p:grpSpPr>
        <p:sp>
          <p:nvSpPr>
            <p:cNvPr id="81928" name="Text Box 3"/>
            <p:cNvSpPr txBox="1"/>
            <p:nvPr/>
          </p:nvSpPr>
          <p:spPr>
            <a:xfrm>
              <a:off x="5239" y="219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endParaRPr lang="en-US" altLang="zh-CN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grpSp>
          <p:nvGrpSpPr>
            <p:cNvPr id="81929" name="Group 4"/>
            <p:cNvGrpSpPr/>
            <p:nvPr/>
          </p:nvGrpSpPr>
          <p:grpSpPr>
            <a:xfrm>
              <a:off x="2154" y="255"/>
              <a:ext cx="3357" cy="3946"/>
              <a:chOff x="385" y="210"/>
              <a:chExt cx="3357" cy="3946"/>
            </a:xfrm>
          </p:grpSpPr>
          <p:sp>
            <p:nvSpPr>
              <p:cNvPr id="81930" name="Line 5"/>
              <p:cNvSpPr/>
              <p:nvPr/>
            </p:nvSpPr>
            <p:spPr>
              <a:xfrm>
                <a:off x="748" y="3340"/>
                <a:ext cx="104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31" name="Line 6"/>
              <p:cNvSpPr/>
              <p:nvPr/>
            </p:nvSpPr>
            <p:spPr>
              <a:xfrm>
                <a:off x="748" y="1752"/>
                <a:ext cx="99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81932" name="Group 7"/>
              <p:cNvGrpSpPr/>
              <p:nvPr/>
            </p:nvGrpSpPr>
            <p:grpSpPr>
              <a:xfrm>
                <a:off x="385" y="210"/>
                <a:ext cx="3356" cy="699"/>
                <a:chOff x="295" y="436"/>
                <a:chExt cx="3356" cy="699"/>
              </a:xfrm>
            </p:grpSpPr>
            <p:sp>
              <p:nvSpPr>
                <p:cNvPr id="81973" name="Line 8"/>
                <p:cNvSpPr/>
                <p:nvPr/>
              </p:nvSpPr>
              <p:spPr>
                <a:xfrm>
                  <a:off x="1973" y="981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grpSp>
              <p:nvGrpSpPr>
                <p:cNvPr id="81974" name="Group 9"/>
                <p:cNvGrpSpPr/>
                <p:nvPr/>
              </p:nvGrpSpPr>
              <p:grpSpPr>
                <a:xfrm>
                  <a:off x="295" y="436"/>
                  <a:ext cx="3356" cy="699"/>
                  <a:chOff x="295" y="436"/>
                  <a:chExt cx="3356" cy="699"/>
                </a:xfrm>
              </p:grpSpPr>
              <p:sp>
                <p:nvSpPr>
                  <p:cNvPr id="81975" name="AutoShape 10"/>
                  <p:cNvSpPr/>
                  <p:nvPr/>
                </p:nvSpPr>
                <p:spPr>
                  <a:xfrm>
                    <a:off x="1610" y="799"/>
                    <a:ext cx="361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1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81976" name="AutoShape 11"/>
                  <p:cNvSpPr/>
                  <p:nvPr/>
                </p:nvSpPr>
                <p:spPr>
                  <a:xfrm>
                    <a:off x="3107" y="799"/>
                    <a:ext cx="361" cy="336"/>
                  </a:xfrm>
                  <a:custGeom>
                    <a:avLst/>
                    <a:gdLst>
                      <a:gd name="txL" fmla="*/ 0 w 21600"/>
                      <a:gd name="txT" fmla="*/ 0 h 21600"/>
                      <a:gd name="txR" fmla="*/ 21600 w 21600"/>
                      <a:gd name="txB" fmla="*/ 21600 h 2160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2925" y="10800"/>
                        </a:moveTo>
                        <a:cubicBezTo>
                          <a:pt x="2925" y="15149"/>
                          <a:pt x="6451" y="18675"/>
                          <a:pt x="10800" y="18675"/>
                        </a:cubicBezTo>
                        <a:cubicBezTo>
                          <a:pt x="15149" y="18675"/>
                          <a:pt x="18675" y="15149"/>
                          <a:pt x="18675" y="10800"/>
                        </a:cubicBezTo>
                        <a:cubicBezTo>
                          <a:pt x="18675" y="6451"/>
                          <a:pt x="15149" y="2925"/>
                          <a:pt x="10800" y="2925"/>
                        </a:cubicBezTo>
                        <a:cubicBezTo>
                          <a:pt x="6451" y="2925"/>
                          <a:pt x="2925" y="6451"/>
                          <a:pt x="2925" y="1080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2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81977" name="AutoShape 12"/>
                  <p:cNvSpPr/>
                  <p:nvPr/>
                </p:nvSpPr>
                <p:spPr>
                  <a:xfrm>
                    <a:off x="431" y="799"/>
                    <a:ext cx="361" cy="336"/>
                  </a:xfrm>
                  <a:prstGeom prst="flowChartConnector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0</a:t>
                    </a:r>
                    <a:endPara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81978" name="Line 13"/>
                  <p:cNvSpPr/>
                  <p:nvPr/>
                </p:nvSpPr>
                <p:spPr>
                  <a:xfrm>
                    <a:off x="793" y="981"/>
                    <a:ext cx="816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81979" name="Text Box 14"/>
                  <p:cNvSpPr txBox="1"/>
                  <p:nvPr/>
                </p:nvSpPr>
                <p:spPr>
                  <a:xfrm>
                    <a:off x="930" y="754"/>
                    <a:ext cx="589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字母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81980" name="Text Box 15"/>
                  <p:cNvSpPr txBox="1"/>
                  <p:nvPr/>
                </p:nvSpPr>
                <p:spPr>
                  <a:xfrm>
                    <a:off x="1837" y="754"/>
                    <a:ext cx="136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非字母与数字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81981" name="Text Box 16"/>
                  <p:cNvSpPr txBox="1"/>
                  <p:nvPr/>
                </p:nvSpPr>
                <p:spPr>
                  <a:xfrm>
                    <a:off x="1156" y="436"/>
                    <a:ext cx="1225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字母或数字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sp>
                <p:nvSpPr>
                  <p:cNvPr id="81982" name="Text Box 17"/>
                  <p:cNvSpPr txBox="1"/>
                  <p:nvPr/>
                </p:nvSpPr>
                <p:spPr>
                  <a:xfrm>
                    <a:off x="3379" y="618"/>
                    <a:ext cx="27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*</a:t>
                    </a:r>
                    <a:endParaRPr lang="en-US" altLang="zh-CN" sz="2400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  <p:grpSp>
                <p:nvGrpSpPr>
                  <p:cNvPr id="81983" name="Group 18"/>
                  <p:cNvGrpSpPr/>
                  <p:nvPr/>
                </p:nvGrpSpPr>
                <p:grpSpPr>
                  <a:xfrm>
                    <a:off x="1610" y="663"/>
                    <a:ext cx="311" cy="181"/>
                    <a:chOff x="1609" y="483"/>
                    <a:chExt cx="311" cy="316"/>
                  </a:xfrm>
                </p:grpSpPr>
                <p:sp>
                  <p:nvSpPr>
                    <p:cNvPr id="81988" name="Arc 19"/>
                    <p:cNvSpPr/>
                    <p:nvPr/>
                  </p:nvSpPr>
                  <p:spPr>
                    <a:xfrm rot="5271687" flipH="1" flipV="1">
                      <a:off x="1610" y="466"/>
                      <a:ext cx="293" cy="307"/>
                    </a:xfrm>
                    <a:custGeom>
                      <a:avLst/>
                      <a:gdLst/>
                      <a:ahLst/>
                      <a:cxnLst>
                        <a:cxn ang="0">
                          <a:pos x="81" y="5"/>
                        </a:cxn>
                        <a:cxn ang="0">
                          <a:pos x="0" y="260"/>
                        </a:cxn>
                        <a:cxn ang="0">
                          <a:pos x="123" y="154"/>
                        </a:cxn>
                      </a:cxnLst>
                      <a:pathLst>
                        <a:path w="37212" h="43200" fill="none">
                          <a:moveTo>
                            <a:pt x="10242" y="677"/>
                          </a:moveTo>
                          <a:cubicBezTo>
                            <a:pt x="11997" y="227"/>
                            <a:pt x="13800" y="-1"/>
                            <a:pt x="15612" y="0"/>
                          </a:cubicBezTo>
                          <a:cubicBezTo>
                            <a:pt x="27541" y="0"/>
                            <a:pt x="37212" y="9670"/>
                            <a:pt x="37212" y="21600"/>
                          </a:cubicBezTo>
                          <a:cubicBezTo>
                            <a:pt x="37212" y="33529"/>
                            <a:pt x="27541" y="43200"/>
                            <a:pt x="15612" y="43200"/>
                          </a:cubicBezTo>
                          <a:cubicBezTo>
                            <a:pt x="9715" y="43200"/>
                            <a:pt x="4074" y="40789"/>
                            <a:pt x="-1" y="36527"/>
                          </a:cubicBezTo>
                        </a:path>
                        <a:path w="37212" h="43200" stroke="0">
                          <a:moveTo>
                            <a:pt x="10242" y="677"/>
                          </a:moveTo>
                          <a:cubicBezTo>
                            <a:pt x="11997" y="227"/>
                            <a:pt x="13800" y="-1"/>
                            <a:pt x="15612" y="0"/>
                          </a:cubicBezTo>
                          <a:cubicBezTo>
                            <a:pt x="27541" y="0"/>
                            <a:pt x="37212" y="9670"/>
                            <a:pt x="37212" y="21600"/>
                          </a:cubicBezTo>
                          <a:cubicBezTo>
                            <a:pt x="37212" y="33529"/>
                            <a:pt x="27541" y="43200"/>
                            <a:pt x="15612" y="43200"/>
                          </a:cubicBezTo>
                          <a:cubicBezTo>
                            <a:pt x="9715" y="43200"/>
                            <a:pt x="4074" y="40789"/>
                            <a:pt x="-1" y="36527"/>
                          </a:cubicBezTo>
                          <a:lnTo>
                            <a:pt x="15612" y="21600"/>
                          </a:lnTo>
                          <a:lnTo>
                            <a:pt x="10242" y="677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81989" name="Line 20"/>
                    <p:cNvSpPr/>
                    <p:nvPr/>
                  </p:nvSpPr>
                  <p:spPr>
                    <a:xfrm>
                      <a:off x="1609" y="708"/>
                      <a:ext cx="91" cy="91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81984" name="Group 21"/>
                  <p:cNvGrpSpPr/>
                  <p:nvPr/>
                </p:nvGrpSpPr>
                <p:grpSpPr>
                  <a:xfrm>
                    <a:off x="431" y="663"/>
                    <a:ext cx="310" cy="180"/>
                    <a:chOff x="2381" y="2297"/>
                    <a:chExt cx="310" cy="316"/>
                  </a:xfrm>
                </p:grpSpPr>
                <p:sp>
                  <p:nvSpPr>
                    <p:cNvPr id="81986" name="Arc 22"/>
                    <p:cNvSpPr/>
                    <p:nvPr/>
                  </p:nvSpPr>
                  <p:spPr>
                    <a:xfrm rot="5271687" flipH="1" flipV="1">
                      <a:off x="2381" y="2280"/>
                      <a:ext cx="293" cy="307"/>
                    </a:xfrm>
                    <a:custGeom>
                      <a:avLst/>
                      <a:gdLst/>
                      <a:ahLst/>
                      <a:cxnLst>
                        <a:cxn ang="0">
                          <a:pos x="81" y="5"/>
                        </a:cxn>
                        <a:cxn ang="0">
                          <a:pos x="0" y="260"/>
                        </a:cxn>
                        <a:cxn ang="0">
                          <a:pos x="123" y="154"/>
                        </a:cxn>
                      </a:cxnLst>
                      <a:pathLst>
                        <a:path w="37212" h="43200" fill="none">
                          <a:moveTo>
                            <a:pt x="10242" y="677"/>
                          </a:moveTo>
                          <a:cubicBezTo>
                            <a:pt x="11997" y="227"/>
                            <a:pt x="13800" y="-1"/>
                            <a:pt x="15612" y="0"/>
                          </a:cubicBezTo>
                          <a:cubicBezTo>
                            <a:pt x="27541" y="0"/>
                            <a:pt x="37212" y="9670"/>
                            <a:pt x="37212" y="21600"/>
                          </a:cubicBezTo>
                          <a:cubicBezTo>
                            <a:pt x="37212" y="33529"/>
                            <a:pt x="27541" y="43200"/>
                            <a:pt x="15612" y="43200"/>
                          </a:cubicBezTo>
                          <a:cubicBezTo>
                            <a:pt x="9715" y="43200"/>
                            <a:pt x="4074" y="40789"/>
                            <a:pt x="-1" y="36527"/>
                          </a:cubicBezTo>
                        </a:path>
                        <a:path w="37212" h="43200" stroke="0">
                          <a:moveTo>
                            <a:pt x="10242" y="677"/>
                          </a:moveTo>
                          <a:cubicBezTo>
                            <a:pt x="11997" y="227"/>
                            <a:pt x="13800" y="-1"/>
                            <a:pt x="15612" y="0"/>
                          </a:cubicBezTo>
                          <a:cubicBezTo>
                            <a:pt x="27541" y="0"/>
                            <a:pt x="37212" y="9670"/>
                            <a:pt x="37212" y="21600"/>
                          </a:cubicBezTo>
                          <a:cubicBezTo>
                            <a:pt x="37212" y="33529"/>
                            <a:pt x="27541" y="43200"/>
                            <a:pt x="15612" y="43200"/>
                          </a:cubicBezTo>
                          <a:cubicBezTo>
                            <a:pt x="9715" y="43200"/>
                            <a:pt x="4074" y="40789"/>
                            <a:pt x="-1" y="36527"/>
                          </a:cubicBezTo>
                          <a:lnTo>
                            <a:pt x="15612" y="21600"/>
                          </a:lnTo>
                          <a:lnTo>
                            <a:pt x="10242" y="677"/>
                          </a:lnTo>
                          <a:close/>
                        </a:path>
                      </a:pathLst>
                    </a:custGeom>
                    <a:noFill/>
                    <a:ln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81987" name="Line 23"/>
                    <p:cNvSpPr/>
                    <p:nvPr/>
                  </p:nvSpPr>
                  <p:spPr>
                    <a:xfrm>
                      <a:off x="2381" y="2523"/>
                      <a:ext cx="90" cy="9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sp>
                <p:nvSpPr>
                  <p:cNvPr id="81985" name="Text Box 24"/>
                  <p:cNvSpPr txBox="1"/>
                  <p:nvPr/>
                </p:nvSpPr>
                <p:spPr>
                  <a:xfrm>
                    <a:off x="295" y="436"/>
                    <a:ext cx="59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solidFill>
                          <a:schemeClr val="tx2"/>
                        </a:solidFill>
                        <a:latin typeface="宋体" pitchFamily="2" charset="-122"/>
                      </a:rPr>
                      <a:t>空白</a:t>
                    </a:r>
                    <a:endPara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endParaRPr>
                  </a:p>
                </p:txBody>
              </p:sp>
            </p:grpSp>
          </p:grpSp>
          <p:sp>
            <p:nvSpPr>
              <p:cNvPr id="81933" name="Line 25"/>
              <p:cNvSpPr/>
              <p:nvPr/>
            </p:nvSpPr>
            <p:spPr>
              <a:xfrm>
                <a:off x="748" y="936"/>
                <a:ext cx="0" cy="303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34" name="AutoShape 26"/>
              <p:cNvSpPr/>
              <p:nvPr/>
            </p:nvSpPr>
            <p:spPr>
              <a:xfrm>
                <a:off x="1746" y="1571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5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grpSp>
            <p:nvGrpSpPr>
              <p:cNvPr id="81935" name="Group 27"/>
              <p:cNvGrpSpPr/>
              <p:nvPr/>
            </p:nvGrpSpPr>
            <p:grpSpPr>
              <a:xfrm>
                <a:off x="748" y="845"/>
                <a:ext cx="2994" cy="686"/>
                <a:chOff x="612" y="1307"/>
                <a:chExt cx="2994" cy="686"/>
              </a:xfrm>
            </p:grpSpPr>
            <p:sp>
              <p:nvSpPr>
                <p:cNvPr id="81962" name="Line 28"/>
                <p:cNvSpPr/>
                <p:nvPr/>
              </p:nvSpPr>
              <p:spPr>
                <a:xfrm>
                  <a:off x="1973" y="1851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81963" name="AutoShape 29"/>
                <p:cNvSpPr/>
                <p:nvPr/>
              </p:nvSpPr>
              <p:spPr>
                <a:xfrm>
                  <a:off x="3061" y="1648"/>
                  <a:ext cx="361" cy="336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925" y="10800"/>
                      </a:moveTo>
                      <a:cubicBezTo>
                        <a:pt x="2925" y="15149"/>
                        <a:pt x="6451" y="18675"/>
                        <a:pt x="10800" y="18675"/>
                      </a:cubicBezTo>
                      <a:cubicBezTo>
                        <a:pt x="15149" y="18675"/>
                        <a:pt x="18675" y="15149"/>
                        <a:pt x="18675" y="10800"/>
                      </a:cubicBezTo>
                      <a:cubicBezTo>
                        <a:pt x="18675" y="6451"/>
                        <a:pt x="15149" y="2925"/>
                        <a:pt x="10800" y="2925"/>
                      </a:cubicBezTo>
                      <a:cubicBezTo>
                        <a:pt x="6451" y="2925"/>
                        <a:pt x="2925" y="6451"/>
                        <a:pt x="2925" y="10800"/>
                      </a:cubicBezTo>
                      <a:close/>
                    </a:path>
                  </a:pathLst>
                </a:custGeom>
                <a:solidFill>
                  <a:srgbClr val="FFFFFF">
                    <a:alpha val="0"/>
                  </a:srgb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4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81964" name="AutoShape 30"/>
                <p:cNvSpPr/>
                <p:nvPr/>
              </p:nvSpPr>
              <p:spPr>
                <a:xfrm>
                  <a:off x="1610" y="1657"/>
                  <a:ext cx="361" cy="336"/>
                </a:xfrm>
                <a:prstGeom prst="flowChartConnector">
                  <a:avLst/>
                </a:prstGeom>
                <a:solidFill>
                  <a:srgbClr val="FFFFFF">
                    <a:alpha val="0"/>
                  </a:srgbClr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3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81965" name="Line 31"/>
                <p:cNvSpPr/>
                <p:nvPr/>
              </p:nvSpPr>
              <p:spPr>
                <a:xfrm>
                  <a:off x="612" y="1851"/>
                  <a:ext cx="99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grpSp>
              <p:nvGrpSpPr>
                <p:cNvPr id="81966" name="Group 32"/>
                <p:cNvGrpSpPr/>
                <p:nvPr/>
              </p:nvGrpSpPr>
              <p:grpSpPr>
                <a:xfrm>
                  <a:off x="1610" y="1534"/>
                  <a:ext cx="317" cy="158"/>
                  <a:chOff x="2381" y="2297"/>
                  <a:chExt cx="310" cy="316"/>
                </a:xfrm>
              </p:grpSpPr>
              <p:sp>
                <p:nvSpPr>
                  <p:cNvPr id="81971" name="Arc 33"/>
                  <p:cNvSpPr/>
                  <p:nvPr/>
                </p:nvSpPr>
                <p:spPr>
                  <a:xfrm rot="5271687" flipH="1" flipV="1">
                    <a:off x="2378" y="2280"/>
                    <a:ext cx="294" cy="307"/>
                  </a:xfrm>
                  <a:custGeom>
                    <a:avLst/>
                    <a:gdLst/>
                    <a:ahLst/>
                    <a:cxnLst>
                      <a:cxn ang="0">
                        <a:pos x="81" y="5"/>
                      </a:cxn>
                      <a:cxn ang="0">
                        <a:pos x="0" y="260"/>
                      </a:cxn>
                      <a:cxn ang="0">
                        <a:pos x="123" y="154"/>
                      </a:cxn>
                    </a:cxnLst>
                    <a:pathLst>
                      <a:path w="37212" h="43200" fill="none">
                        <a:moveTo>
                          <a:pt x="10242" y="677"/>
                        </a:moveTo>
                        <a:cubicBezTo>
                          <a:pt x="11997" y="227"/>
                          <a:pt x="13800" y="-1"/>
                          <a:pt x="15612" y="0"/>
                        </a:cubicBezTo>
                        <a:cubicBezTo>
                          <a:pt x="27541" y="0"/>
                          <a:pt x="37212" y="9670"/>
                          <a:pt x="37212" y="21600"/>
                        </a:cubicBezTo>
                        <a:cubicBezTo>
                          <a:pt x="37212" y="33529"/>
                          <a:pt x="27541" y="43200"/>
                          <a:pt x="15612" y="43200"/>
                        </a:cubicBezTo>
                        <a:cubicBezTo>
                          <a:pt x="9715" y="43200"/>
                          <a:pt x="4074" y="40789"/>
                          <a:pt x="-1" y="36527"/>
                        </a:cubicBezTo>
                      </a:path>
                      <a:path w="37212" h="43200" stroke="0">
                        <a:moveTo>
                          <a:pt x="10242" y="677"/>
                        </a:moveTo>
                        <a:cubicBezTo>
                          <a:pt x="11997" y="227"/>
                          <a:pt x="13800" y="-1"/>
                          <a:pt x="15612" y="0"/>
                        </a:cubicBezTo>
                        <a:cubicBezTo>
                          <a:pt x="27541" y="0"/>
                          <a:pt x="37212" y="9670"/>
                          <a:pt x="37212" y="21600"/>
                        </a:cubicBezTo>
                        <a:cubicBezTo>
                          <a:pt x="37212" y="33529"/>
                          <a:pt x="27541" y="43200"/>
                          <a:pt x="15612" y="43200"/>
                        </a:cubicBezTo>
                        <a:cubicBezTo>
                          <a:pt x="9715" y="43200"/>
                          <a:pt x="4074" y="40789"/>
                          <a:pt x="-1" y="36527"/>
                        </a:cubicBezTo>
                        <a:lnTo>
                          <a:pt x="15612" y="21600"/>
                        </a:lnTo>
                        <a:lnTo>
                          <a:pt x="10242" y="677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81972" name="Line 34"/>
                  <p:cNvSpPr/>
                  <p:nvPr/>
                </p:nvSpPr>
                <p:spPr>
                  <a:xfrm>
                    <a:off x="2381" y="2523"/>
                    <a:ext cx="90" cy="9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81967" name="Text Box 35"/>
                <p:cNvSpPr txBox="1"/>
                <p:nvPr/>
              </p:nvSpPr>
              <p:spPr>
                <a:xfrm>
                  <a:off x="930" y="1624"/>
                  <a:ext cx="49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数字</a:t>
                  </a:r>
                  <a:endParaRPr lang="zh-CN" altLang="en-US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81968" name="Text Box 36"/>
                <p:cNvSpPr txBox="1"/>
                <p:nvPr/>
              </p:nvSpPr>
              <p:spPr>
                <a:xfrm>
                  <a:off x="1519" y="1307"/>
                  <a:ext cx="49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数字</a:t>
                  </a:r>
                  <a:endParaRPr lang="zh-CN" altLang="en-US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81969" name="Text Box 37"/>
                <p:cNvSpPr txBox="1"/>
                <p:nvPr/>
              </p:nvSpPr>
              <p:spPr>
                <a:xfrm>
                  <a:off x="1791" y="1579"/>
                  <a:ext cx="136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非数字</a:t>
                  </a:r>
                  <a:endParaRPr lang="zh-CN" altLang="en-US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81970" name="Text Box 38"/>
                <p:cNvSpPr txBox="1"/>
                <p:nvPr/>
              </p:nvSpPr>
              <p:spPr>
                <a:xfrm>
                  <a:off x="3334" y="1479"/>
                  <a:ext cx="27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dirty="0">
                      <a:solidFill>
                        <a:schemeClr val="tx2"/>
                      </a:solidFill>
                      <a:latin typeface="宋体" pitchFamily="2" charset="-122"/>
                    </a:rPr>
                    <a:t>*</a:t>
                  </a:r>
                  <a:endParaRPr lang="en-US" altLang="zh-CN" sz="2400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</p:grpSp>
          <p:sp>
            <p:nvSpPr>
              <p:cNvPr id="81936" name="AutoShape 39"/>
              <p:cNvSpPr/>
              <p:nvPr/>
            </p:nvSpPr>
            <p:spPr>
              <a:xfrm>
                <a:off x="1746" y="1934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6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37" name="AutoShape 40"/>
              <p:cNvSpPr/>
              <p:nvPr/>
            </p:nvSpPr>
            <p:spPr>
              <a:xfrm>
                <a:off x="1791" y="2841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10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38" name="AutoShape 41"/>
              <p:cNvSpPr/>
              <p:nvPr/>
            </p:nvSpPr>
            <p:spPr>
              <a:xfrm>
                <a:off x="1791" y="3204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11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39" name="AutoShape 42"/>
              <p:cNvSpPr/>
              <p:nvPr/>
            </p:nvSpPr>
            <p:spPr>
              <a:xfrm>
                <a:off x="1791" y="3820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13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40" name="Line 43"/>
              <p:cNvSpPr/>
              <p:nvPr/>
            </p:nvSpPr>
            <p:spPr>
              <a:xfrm>
                <a:off x="1927" y="2659"/>
                <a:ext cx="0" cy="1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41" name="Line 44"/>
              <p:cNvSpPr/>
              <p:nvPr/>
            </p:nvSpPr>
            <p:spPr>
              <a:xfrm>
                <a:off x="748" y="3022"/>
                <a:ext cx="104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42" name="AutoShape 45"/>
              <p:cNvSpPr/>
              <p:nvPr/>
            </p:nvSpPr>
            <p:spPr>
              <a:xfrm>
                <a:off x="1791" y="3521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12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43" name="AutoShape 46"/>
              <p:cNvSpPr/>
              <p:nvPr/>
            </p:nvSpPr>
            <p:spPr>
              <a:xfrm>
                <a:off x="1746" y="2296"/>
                <a:ext cx="361" cy="336"/>
              </a:xfrm>
              <a:prstGeom prst="flowChartConnector">
                <a:avLst/>
              </a:pr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7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44" name="Text Box 47"/>
              <p:cNvSpPr txBox="1"/>
              <p:nvPr/>
            </p:nvSpPr>
            <p:spPr>
              <a:xfrm>
                <a:off x="1066" y="2206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chemeClr val="tx2"/>
                    </a:solidFill>
                    <a:latin typeface="宋体" pitchFamily="2" charset="-122"/>
                  </a:rPr>
                  <a:t>*</a:t>
                </a:r>
                <a:endParaRPr lang="en-US" altLang="zh-CN" sz="2400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45" name="AutoShape 48"/>
              <p:cNvSpPr/>
              <p:nvPr/>
            </p:nvSpPr>
            <p:spPr>
              <a:xfrm>
                <a:off x="3243" y="2296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8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46" name="AutoShape 49"/>
              <p:cNvSpPr/>
              <p:nvPr/>
            </p:nvSpPr>
            <p:spPr>
              <a:xfrm>
                <a:off x="3243" y="2659"/>
                <a:ext cx="361" cy="33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5" y="10800"/>
                    </a:moveTo>
                    <a:cubicBezTo>
                      <a:pt x="2925" y="15149"/>
                      <a:pt x="6451" y="18675"/>
                      <a:pt x="10800" y="18675"/>
                    </a:cubicBezTo>
                    <a:cubicBezTo>
                      <a:pt x="15149" y="18675"/>
                      <a:pt x="18675" y="15149"/>
                      <a:pt x="18675" y="10800"/>
                    </a:cubicBezTo>
                    <a:cubicBezTo>
                      <a:pt x="18675" y="6451"/>
                      <a:pt x="15149" y="2925"/>
                      <a:pt x="10800" y="2925"/>
                    </a:cubicBezTo>
                    <a:cubicBezTo>
                      <a:pt x="6451" y="2925"/>
                      <a:pt x="2925" y="6451"/>
                      <a:pt x="2925" y="10800"/>
                    </a:cubicBez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9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47" name="Line 50"/>
              <p:cNvSpPr/>
              <p:nvPr/>
            </p:nvSpPr>
            <p:spPr>
              <a:xfrm>
                <a:off x="748" y="2432"/>
                <a:ext cx="99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48" name="Line 51"/>
              <p:cNvSpPr/>
              <p:nvPr/>
            </p:nvSpPr>
            <p:spPr>
              <a:xfrm>
                <a:off x="2155" y="2478"/>
                <a:ext cx="108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49" name="Text Box 52"/>
              <p:cNvSpPr txBox="1"/>
              <p:nvPr/>
            </p:nvSpPr>
            <p:spPr>
              <a:xfrm>
                <a:off x="2517" y="2569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chemeClr val="tx2"/>
                    </a:solidFill>
                    <a:latin typeface="宋体" pitchFamily="2" charset="-122"/>
                  </a:rPr>
                  <a:t>*</a:t>
                </a:r>
                <a:endParaRPr lang="en-US" altLang="zh-CN" sz="2400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50" name="Line 53"/>
              <p:cNvSpPr/>
              <p:nvPr/>
            </p:nvSpPr>
            <p:spPr>
              <a:xfrm>
                <a:off x="1927" y="2795"/>
                <a:ext cx="1316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51" name="Text Box 54"/>
              <p:cNvSpPr txBox="1"/>
              <p:nvPr/>
            </p:nvSpPr>
            <p:spPr>
              <a:xfrm>
                <a:off x="2426" y="2206"/>
                <a:ext cx="5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chemeClr val="tx2"/>
                    </a:solidFill>
                    <a:latin typeface="宋体" pitchFamily="2" charset="-122"/>
                  </a:rPr>
                  <a:t>非*</a:t>
                </a:r>
                <a:endParaRPr lang="zh-CN" altLang="en-US" sz="2400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52" name="Line 55"/>
              <p:cNvSpPr/>
              <p:nvPr/>
            </p:nvSpPr>
            <p:spPr>
              <a:xfrm>
                <a:off x="748" y="2115"/>
                <a:ext cx="99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53" name="Line 56"/>
              <p:cNvSpPr/>
              <p:nvPr/>
            </p:nvSpPr>
            <p:spPr>
              <a:xfrm>
                <a:off x="748" y="3657"/>
                <a:ext cx="104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54" name="Line 57"/>
              <p:cNvSpPr/>
              <p:nvPr/>
            </p:nvSpPr>
            <p:spPr>
              <a:xfrm>
                <a:off x="748" y="3975"/>
                <a:ext cx="104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1955" name="Text Box 58"/>
              <p:cNvSpPr txBox="1"/>
              <p:nvPr/>
            </p:nvSpPr>
            <p:spPr>
              <a:xfrm>
                <a:off x="1066" y="2750"/>
                <a:ext cx="4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，</a:t>
                </a:r>
                <a:endParaRPr lang="zh-CN" altLang="en-US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56" name="Text Box 59"/>
              <p:cNvSpPr txBox="1"/>
              <p:nvPr/>
            </p:nvSpPr>
            <p:spPr>
              <a:xfrm>
                <a:off x="1066" y="3113"/>
                <a:ext cx="40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（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57" name="Text Box 60"/>
              <p:cNvSpPr txBox="1"/>
              <p:nvPr/>
            </p:nvSpPr>
            <p:spPr>
              <a:xfrm>
                <a:off x="1020" y="3430"/>
                <a:ext cx="45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）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58" name="Text Box 61"/>
              <p:cNvSpPr txBox="1"/>
              <p:nvPr/>
            </p:nvSpPr>
            <p:spPr>
              <a:xfrm>
                <a:off x="975" y="3748"/>
                <a:ext cx="54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其他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59" name="Text Box 62"/>
              <p:cNvSpPr txBox="1"/>
              <p:nvPr/>
            </p:nvSpPr>
            <p:spPr>
              <a:xfrm>
                <a:off x="1020" y="1525"/>
                <a:ext cx="22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＝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60" name="Text Box 63"/>
              <p:cNvSpPr txBox="1"/>
              <p:nvPr/>
            </p:nvSpPr>
            <p:spPr>
              <a:xfrm>
                <a:off x="1066" y="1888"/>
                <a:ext cx="3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＋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1961" name="Text Box 64"/>
              <p:cNvSpPr txBox="1"/>
              <p:nvPr/>
            </p:nvSpPr>
            <p:spPr>
              <a:xfrm>
                <a:off x="1003" y="2569"/>
                <a:ext cx="289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chemeClr val="tx2"/>
                    </a:solidFill>
                    <a:latin typeface="宋体" pitchFamily="2" charset="-122"/>
                  </a:rPr>
                  <a:t>。。</a:t>
                </a:r>
                <a:endParaRPr lang="zh-CN" altLang="en-US" sz="1800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</p:grpSp>
      </p:grpSp>
      <p:grpSp>
        <p:nvGrpSpPr>
          <p:cNvPr id="103489" name="Group 65"/>
          <p:cNvGrpSpPr/>
          <p:nvPr/>
        </p:nvGrpSpPr>
        <p:grpSpPr>
          <a:xfrm>
            <a:off x="323850" y="1412875"/>
            <a:ext cx="2808288" cy="1368425"/>
            <a:chOff x="204" y="572"/>
            <a:chExt cx="1769" cy="862"/>
          </a:xfrm>
        </p:grpSpPr>
        <p:grpSp>
          <p:nvGrpSpPr>
            <p:cNvPr id="81924" name="Group 66"/>
            <p:cNvGrpSpPr/>
            <p:nvPr/>
          </p:nvGrpSpPr>
          <p:grpSpPr>
            <a:xfrm>
              <a:off x="204" y="572"/>
              <a:ext cx="1769" cy="862"/>
              <a:chOff x="720" y="480"/>
              <a:chExt cx="4224" cy="1390"/>
            </a:xfrm>
          </p:grpSpPr>
          <p:graphicFrame>
            <p:nvGraphicFramePr>
              <p:cNvPr id="81926" name="Object 67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5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1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927" name="Object 68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6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1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1925" name="Text Box 69"/>
            <p:cNvSpPr txBox="1"/>
            <p:nvPr/>
          </p:nvSpPr>
          <p:spPr>
            <a:xfrm>
              <a:off x="262" y="663"/>
              <a:ext cx="1620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右图即为对上页所示的简单语言进行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词法分析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的状态转换图。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WordArt 2"/>
          <p:cNvSpPr>
            <a:spLocks noTextEdit="1"/>
          </p:cNvSpPr>
          <p:nvPr/>
        </p:nvSpPr>
        <p:spPr>
          <a:xfrm>
            <a:off x="2051050" y="523875"/>
            <a:ext cx="4800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effectLst>
                  <a:outerShdw dist="35921" dir="2699999" algn="ctr" rotWithShape="0">
                    <a:srgbClr val="808080">
                      <a:alpha val="79999"/>
                    </a:srgbClr>
                  </a:outerShdw>
                </a:effectLst>
                <a:latin typeface="宋体" charset="0"/>
                <a:ea typeface="宋体" charset="0"/>
              </a:rPr>
              <a:t>状态转换图的实现</a:t>
            </a:r>
            <a:endParaRPr lang="zh-CN" altLang="en-US" sz="3600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effectLst>
                <a:outerShdw dist="35921" dir="2699999" algn="ctr" rotWithShape="0">
                  <a:srgbClr val="808080">
                    <a:alpha val="79999"/>
                  </a:srgbClr>
                </a:outerShdw>
              </a:effectLst>
              <a:latin typeface="宋体" charset="0"/>
              <a:ea typeface="宋体" charset="0"/>
            </a:endParaRPr>
          </a:p>
        </p:txBody>
      </p:sp>
      <p:grpSp>
        <p:nvGrpSpPr>
          <p:cNvPr id="104451" name="Group 3"/>
          <p:cNvGrpSpPr/>
          <p:nvPr/>
        </p:nvGrpSpPr>
        <p:grpSpPr>
          <a:xfrm>
            <a:off x="107950" y="1222375"/>
            <a:ext cx="9036050" cy="5302250"/>
            <a:chOff x="68" y="663"/>
            <a:chExt cx="5692" cy="3340"/>
          </a:xfrm>
        </p:grpSpPr>
        <p:grpSp>
          <p:nvGrpSpPr>
            <p:cNvPr id="82948" name="Group 4"/>
            <p:cNvGrpSpPr/>
            <p:nvPr/>
          </p:nvGrpSpPr>
          <p:grpSpPr>
            <a:xfrm>
              <a:off x="68" y="663"/>
              <a:ext cx="5624" cy="3340"/>
              <a:chOff x="720" y="480"/>
              <a:chExt cx="4224" cy="1390"/>
            </a:xfrm>
          </p:grpSpPr>
          <p:graphicFrame>
            <p:nvGraphicFramePr>
              <p:cNvPr id="82950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1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51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8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1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949" name="Text Box 7"/>
            <p:cNvSpPr txBox="1"/>
            <p:nvPr/>
          </p:nvSpPr>
          <p:spPr>
            <a:xfrm>
              <a:off x="158" y="754"/>
              <a:ext cx="5602" cy="31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字符变量，存放最新读进的源程序字符。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TOKEN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字符数组，存放构成单词的字符串。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GETCHAR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过程，将下一输入字符读入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，搜索指示器前移一个字符。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4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GETBC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过程，检查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中的字符是否为空白。若是，则调用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GETCHAR</a:t>
              </a:r>
              <a:endParaRPr lang="en-US" altLang="zh-CN" sz="20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直至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中进入一个非空白字符。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5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CONCAT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过程，把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中的字符连接到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TOKEN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之后。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6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LETTER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布尔函数过程，它们分别判断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中的字符是数字或是字母，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DIGIT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从而给出真假值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TRUE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FALSE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7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RESERVE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整型函数过程，用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TOKEN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中的字符串查保留字表，若是一个保留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字则给予编码，否则回送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值（假定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不是保留字的编码）。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defTabSz="914400" eaLnBrk="1" hangingPunct="1">
                <a:spcBef>
                  <a:spcPct val="50000"/>
                </a:spcBef>
                <a:buNone/>
                <a:tabLst>
                  <a:tab pos="1517650" algn="l"/>
                  <a:tab pos="1787525" algn="l"/>
                </a:tabLst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8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RETRACT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过程，把搜索指示器回调一个字节，把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中的字符置为空白。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5474" name="Group 2"/>
          <p:cNvGrpSpPr/>
          <p:nvPr/>
        </p:nvGrpSpPr>
        <p:grpSpPr>
          <a:xfrm>
            <a:off x="250825" y="765175"/>
            <a:ext cx="8569325" cy="5472113"/>
            <a:chOff x="295" y="663"/>
            <a:chExt cx="5125" cy="2450"/>
          </a:xfrm>
        </p:grpSpPr>
        <p:grpSp>
          <p:nvGrpSpPr>
            <p:cNvPr id="83971" name="Group 3"/>
            <p:cNvGrpSpPr/>
            <p:nvPr/>
          </p:nvGrpSpPr>
          <p:grpSpPr>
            <a:xfrm>
              <a:off x="295" y="663"/>
              <a:ext cx="5125" cy="2450"/>
              <a:chOff x="720" y="480"/>
              <a:chExt cx="4224" cy="1390"/>
            </a:xfrm>
          </p:grpSpPr>
          <p:graphicFrame>
            <p:nvGraphicFramePr>
              <p:cNvPr id="83973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9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1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3974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0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3972" name="Text Box 6"/>
            <p:cNvSpPr txBox="1"/>
            <p:nvPr/>
          </p:nvSpPr>
          <p:spPr>
            <a:xfrm>
              <a:off x="385" y="799"/>
              <a:ext cx="4944" cy="21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以上函数和子程序过程都不难编制，使用它们能够方便的构造状态转换图的对应程序。一般，我们可以让每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一个状态结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对应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一个程序段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例如：我们可以让不含回路的分叉结，对应一个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CASE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语句，或者是一组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IF…THEN…ELSE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语句。具体见后面实例。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终态结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一般对应一个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RETURN(C,VAL)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语句。其中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C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为单词种别编码；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VAL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是字符数组的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TOKEN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，或者是一个整数值，或者无定义。具体见后面实例。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6498" name="Group 2"/>
          <p:cNvGrpSpPr/>
          <p:nvPr/>
        </p:nvGrpSpPr>
        <p:grpSpPr>
          <a:xfrm>
            <a:off x="323850" y="404813"/>
            <a:ext cx="8424863" cy="6164262"/>
            <a:chOff x="204" y="255"/>
            <a:chExt cx="5307" cy="3883"/>
          </a:xfrm>
        </p:grpSpPr>
        <p:grpSp>
          <p:nvGrpSpPr>
            <p:cNvPr id="84996" name="Group 3"/>
            <p:cNvGrpSpPr/>
            <p:nvPr/>
          </p:nvGrpSpPr>
          <p:grpSpPr>
            <a:xfrm>
              <a:off x="204" y="255"/>
              <a:ext cx="5307" cy="3883"/>
              <a:chOff x="720" y="480"/>
              <a:chExt cx="4224" cy="1390"/>
            </a:xfrm>
          </p:grpSpPr>
          <p:graphicFrame>
            <p:nvGraphicFramePr>
              <p:cNvPr id="84998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20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999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2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2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4997" name="Text Box 6"/>
            <p:cNvSpPr txBox="1"/>
            <p:nvPr/>
          </p:nvSpPr>
          <p:spPr>
            <a:xfrm>
              <a:off x="340" y="421"/>
              <a:ext cx="5080" cy="35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1246505" indent="-1246505" defTabSz="914400" eaLnBrk="1" hangingPunct="1">
                <a:spcBef>
                  <a:spcPct val="50000"/>
                </a:spcBef>
                <a:buNone/>
                <a:tabLst>
                  <a:tab pos="1244600" algn="l"/>
                </a:tabLst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为了把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状态转换图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转化成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程序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，每个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状态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要建立一段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defTabSz="914400" eaLnBrk="1" hangingPunct="1">
                <a:spcBef>
                  <a:spcPct val="50000"/>
                </a:spcBef>
                <a:buNone/>
                <a:tabLst>
                  <a:tab pos="1244600" algn="l"/>
                </a:tabLst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程序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，它要做的工作如下：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defTabSz="914400" eaLnBrk="1" hangingPunct="1">
                <a:spcBef>
                  <a:spcPct val="50000"/>
                </a:spcBef>
                <a:buNone/>
                <a:tabLst>
                  <a:tab pos="1244600" algn="l"/>
                </a:tabLst>
              </a:pPr>
              <a:r>
                <a:rPr lang="zh-CN" altLang="en-US" sz="2400" b="1" dirty="0">
                  <a:solidFill>
                    <a:srgbClr val="009900"/>
                  </a:solidFill>
                  <a:latin typeface="宋体" pitchFamily="2" charset="-122"/>
                </a:rPr>
                <a:t>第一步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：从输入缓冲区中取一个字符。为此，我们使用函数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GETCHAR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，每次调用它，推进先行指针，送回一个字符。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defTabSz="914400" eaLnBrk="1" hangingPunct="1">
                <a:spcBef>
                  <a:spcPct val="50000"/>
                </a:spcBef>
                <a:buNone/>
                <a:tabLst>
                  <a:tab pos="1244600" algn="l"/>
                </a:tabLst>
              </a:pPr>
              <a:r>
                <a:rPr lang="zh-CN" altLang="en-US" sz="2400" b="1" dirty="0">
                  <a:solidFill>
                    <a:srgbClr val="009900"/>
                  </a:solidFill>
                  <a:latin typeface="宋体" pitchFamily="2" charset="-122"/>
                </a:rPr>
                <a:t>第二步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：确定在本状态下，哪一条箭弧是用刚刚来的输入字符标识的。如果找到，控制就转到该弧所指向的状态；若找不到，那么寻找该单词的企图就失败了。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1246505" indent="-1246505" defTabSz="914400" eaLnBrk="1" hangingPunct="1">
                <a:spcBef>
                  <a:spcPct val="50000"/>
                </a:spcBef>
                <a:buNone/>
                <a:tabLst>
                  <a:tab pos="1244600" algn="l"/>
                </a:tabLst>
              </a:pPr>
              <a:r>
                <a:rPr lang="zh-CN" altLang="en-US" sz="2400" b="1" dirty="0">
                  <a:solidFill>
                    <a:srgbClr val="009900"/>
                  </a:solidFill>
                  <a:latin typeface="宋体" pitchFamily="2" charset="-122"/>
                </a:rPr>
                <a:t>失  败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：先行指针必须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重新回到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开始指针处，并用另一状态图来搜索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另一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单词。如果所有的状态转换图都试过之后，还没有匹配的，就表明这是一个词法错误，此时，调用错误校正程序。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6503" name="AutoShape 7"/>
          <p:cNvSpPr/>
          <p:nvPr/>
        </p:nvSpPr>
        <p:spPr>
          <a:xfrm>
            <a:off x="4643438" y="0"/>
            <a:ext cx="3816350" cy="1844675"/>
          </a:xfrm>
          <a:prstGeom prst="cloudCallout">
            <a:avLst>
              <a:gd name="adj1" fmla="val -101125"/>
              <a:gd name="adj2" fmla="val 75042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GETCHAR</a:t>
            </a:r>
            <a:r>
              <a:rPr lang="zh-CN" altLang="en-US" sz="2000" b="1" dirty="0">
                <a:solidFill>
                  <a:schemeClr val="tx2"/>
                </a:solidFill>
              </a:rPr>
              <a:t>是过程，将下一输入字符读入</a:t>
            </a:r>
            <a:r>
              <a:rPr lang="en-US" altLang="zh-CN" sz="2000" b="1" dirty="0">
                <a:solidFill>
                  <a:schemeClr val="hlink"/>
                </a:solidFill>
              </a:rPr>
              <a:t>CHAR</a:t>
            </a:r>
            <a:r>
              <a:rPr lang="zh-CN" altLang="en-US" sz="2000" b="1" dirty="0">
                <a:solidFill>
                  <a:schemeClr val="tx2"/>
                </a:solidFill>
              </a:rPr>
              <a:t>，搜索指示器前移一个字符。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0594" name="Group 2"/>
          <p:cNvGrpSpPr/>
          <p:nvPr/>
        </p:nvGrpSpPr>
        <p:grpSpPr>
          <a:xfrm>
            <a:off x="107950" y="1408113"/>
            <a:ext cx="5689600" cy="4037012"/>
            <a:chOff x="385" y="391"/>
            <a:chExt cx="3674" cy="2449"/>
          </a:xfrm>
        </p:grpSpPr>
        <p:grpSp>
          <p:nvGrpSpPr>
            <p:cNvPr id="86037" name="Group 3"/>
            <p:cNvGrpSpPr/>
            <p:nvPr/>
          </p:nvGrpSpPr>
          <p:grpSpPr>
            <a:xfrm>
              <a:off x="385" y="391"/>
              <a:ext cx="3674" cy="2449"/>
              <a:chOff x="720" y="480"/>
              <a:chExt cx="4224" cy="1390"/>
            </a:xfrm>
          </p:grpSpPr>
          <p:graphicFrame>
            <p:nvGraphicFramePr>
              <p:cNvPr id="86039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3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040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4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2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6038" name="Text Box 6"/>
            <p:cNvSpPr txBox="1"/>
            <p:nvPr/>
          </p:nvSpPr>
          <p:spPr>
            <a:xfrm>
              <a:off x="431" y="436"/>
              <a:ext cx="3538" cy="22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－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8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：以下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CASE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语句段对应的状态图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: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i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GETCHAR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CASE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CHAR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OF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‘A’..‘Z’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… state  j …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‘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0’..‘9’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… state  k …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‘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/’      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… state  l …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END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FAIL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10599" name="Group 7"/>
          <p:cNvGrpSpPr/>
          <p:nvPr/>
        </p:nvGrpSpPr>
        <p:grpSpPr>
          <a:xfrm>
            <a:off x="5867400" y="2349500"/>
            <a:ext cx="2808288" cy="2566988"/>
            <a:chOff x="385" y="1616"/>
            <a:chExt cx="1769" cy="1617"/>
          </a:xfrm>
        </p:grpSpPr>
        <p:sp>
          <p:nvSpPr>
            <p:cNvPr id="86022" name="Text Box 8"/>
            <p:cNvSpPr txBox="1"/>
            <p:nvPr/>
          </p:nvSpPr>
          <p:spPr>
            <a:xfrm>
              <a:off x="1020" y="2160"/>
              <a:ext cx="59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grpSp>
          <p:nvGrpSpPr>
            <p:cNvPr id="86023" name="Group 9"/>
            <p:cNvGrpSpPr/>
            <p:nvPr/>
          </p:nvGrpSpPr>
          <p:grpSpPr>
            <a:xfrm>
              <a:off x="385" y="1616"/>
              <a:ext cx="1769" cy="1617"/>
              <a:chOff x="385" y="1616"/>
              <a:chExt cx="1769" cy="1486"/>
            </a:xfrm>
          </p:grpSpPr>
          <p:sp>
            <p:nvSpPr>
              <p:cNvPr id="86024" name="AutoShape 10"/>
              <p:cNvSpPr/>
              <p:nvPr/>
            </p:nvSpPr>
            <p:spPr>
              <a:xfrm>
                <a:off x="385" y="2199"/>
                <a:ext cx="387" cy="358"/>
              </a:xfrm>
              <a:prstGeom prst="flowChartConnector">
                <a:avLst/>
              </a:pr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i</a:t>
                </a:r>
                <a:endParaRPr lang="en-US" altLang="zh-CN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6025" name="AutoShape 11"/>
              <p:cNvSpPr/>
              <p:nvPr/>
            </p:nvSpPr>
            <p:spPr>
              <a:xfrm>
                <a:off x="1746" y="1632"/>
                <a:ext cx="408" cy="358"/>
              </a:xfrm>
              <a:prstGeom prst="flowChartConnector">
                <a:avLst/>
              </a:pr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j</a:t>
                </a:r>
                <a:endParaRPr lang="en-US" altLang="zh-CN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6026" name="AutoShape 12"/>
              <p:cNvSpPr/>
              <p:nvPr/>
            </p:nvSpPr>
            <p:spPr>
              <a:xfrm>
                <a:off x="1746" y="2221"/>
                <a:ext cx="408" cy="358"/>
              </a:xfrm>
              <a:prstGeom prst="flowChartConnector">
                <a:avLst/>
              </a:pr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k</a:t>
                </a:r>
                <a:endParaRPr lang="en-US" altLang="zh-CN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6027" name="AutoShape 13"/>
              <p:cNvSpPr/>
              <p:nvPr/>
            </p:nvSpPr>
            <p:spPr>
              <a:xfrm>
                <a:off x="1746" y="2744"/>
                <a:ext cx="408" cy="358"/>
              </a:xfrm>
              <a:prstGeom prst="flowChartConnector">
                <a:avLst/>
              </a:prstGeom>
              <a:solidFill>
                <a:srgbClr val="FFFFFF">
                  <a:alpha val="0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l</a:t>
                </a:r>
                <a:endParaRPr lang="en-US" altLang="zh-CN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6028" name="Line 14"/>
              <p:cNvSpPr/>
              <p:nvPr/>
            </p:nvSpPr>
            <p:spPr>
              <a:xfrm>
                <a:off x="793" y="2365"/>
                <a:ext cx="95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86029" name="Group 15"/>
              <p:cNvGrpSpPr/>
              <p:nvPr/>
            </p:nvGrpSpPr>
            <p:grpSpPr>
              <a:xfrm>
                <a:off x="568" y="2593"/>
                <a:ext cx="1178" cy="316"/>
                <a:chOff x="568" y="2615"/>
                <a:chExt cx="1178" cy="361"/>
              </a:xfrm>
            </p:grpSpPr>
            <p:sp>
              <p:nvSpPr>
                <p:cNvPr id="86035" name="Arc 16"/>
                <p:cNvSpPr/>
                <p:nvPr/>
              </p:nvSpPr>
              <p:spPr>
                <a:xfrm rot="10800000">
                  <a:off x="568" y="2615"/>
                  <a:ext cx="499" cy="356"/>
                </a:xfrm>
                <a:custGeom>
                  <a:avLst/>
                  <a:gdLst/>
                  <a:ahLst/>
                  <a:cxnLst>
                    <a:cxn ang="0">
                      <a:pos x="89" y="0"/>
                    </a:cxn>
                    <a:cxn ang="0">
                      <a:pos x="499" y="356"/>
                    </a:cxn>
                    <a:cxn ang="0">
                      <a:pos x="0" y="356"/>
                    </a:cxn>
                  </a:cxnLst>
                  <a:pathLst>
                    <a:path w="21600" h="21250" fill="none">
                      <a:moveTo>
                        <a:pt x="3872" y="-1"/>
                      </a:moveTo>
                      <a:cubicBezTo>
                        <a:pt x="14138" y="1870"/>
                        <a:pt x="21600" y="10814"/>
                        <a:pt x="21600" y="21250"/>
                      </a:cubicBezTo>
                    </a:path>
                    <a:path w="21600" h="21250" stroke="0">
                      <a:moveTo>
                        <a:pt x="3872" y="-1"/>
                      </a:moveTo>
                      <a:cubicBezTo>
                        <a:pt x="14138" y="1870"/>
                        <a:pt x="21600" y="10814"/>
                        <a:pt x="21600" y="21250"/>
                      </a:cubicBezTo>
                      <a:lnTo>
                        <a:pt x="0" y="21250"/>
                      </a:lnTo>
                      <a:lnTo>
                        <a:pt x="3872" y="-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6036" name="Line 17"/>
                <p:cNvSpPr/>
                <p:nvPr/>
              </p:nvSpPr>
              <p:spPr>
                <a:xfrm>
                  <a:off x="975" y="2976"/>
                  <a:ext cx="771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6030" name="Group 18"/>
              <p:cNvGrpSpPr/>
              <p:nvPr/>
            </p:nvGrpSpPr>
            <p:grpSpPr>
              <a:xfrm>
                <a:off x="567" y="1842"/>
                <a:ext cx="1179" cy="364"/>
                <a:chOff x="567" y="1706"/>
                <a:chExt cx="1179" cy="500"/>
              </a:xfrm>
            </p:grpSpPr>
            <p:sp>
              <p:nvSpPr>
                <p:cNvPr id="86033" name="Arc 19"/>
                <p:cNvSpPr/>
                <p:nvPr/>
              </p:nvSpPr>
              <p:spPr>
                <a:xfrm flipH="1">
                  <a:off x="567" y="1712"/>
                  <a:ext cx="409" cy="494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409" y="494"/>
                    </a:cxn>
                    <a:cxn ang="0">
                      <a:pos x="0" y="494"/>
                    </a:cxn>
                  </a:cxnLst>
                  <a:pathLst>
                    <a:path w="21600" h="21388" fill="none">
                      <a:moveTo>
                        <a:pt x="3018" y="-1"/>
                      </a:moveTo>
                      <a:cubicBezTo>
                        <a:pt x="13675" y="1503"/>
                        <a:pt x="21600" y="10624"/>
                        <a:pt x="21600" y="21388"/>
                      </a:cubicBezTo>
                    </a:path>
                    <a:path w="21600" h="21388" stroke="0">
                      <a:moveTo>
                        <a:pt x="3018" y="-1"/>
                      </a:moveTo>
                      <a:cubicBezTo>
                        <a:pt x="13675" y="1503"/>
                        <a:pt x="21600" y="10624"/>
                        <a:pt x="21600" y="21388"/>
                      </a:cubicBezTo>
                      <a:lnTo>
                        <a:pt x="0" y="21388"/>
                      </a:lnTo>
                      <a:lnTo>
                        <a:pt x="3018" y="-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6034" name="Line 20"/>
                <p:cNvSpPr/>
                <p:nvPr/>
              </p:nvSpPr>
              <p:spPr>
                <a:xfrm>
                  <a:off x="930" y="1706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86031" name="Text Box 21"/>
              <p:cNvSpPr txBox="1"/>
              <p:nvPr/>
            </p:nvSpPr>
            <p:spPr>
              <a:xfrm>
                <a:off x="930" y="1616"/>
                <a:ext cx="681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字母 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86032" name="Text Box 22"/>
              <p:cNvSpPr txBox="1"/>
              <p:nvPr/>
            </p:nvSpPr>
            <p:spPr>
              <a:xfrm>
                <a:off x="975" y="2659"/>
                <a:ext cx="635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/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</p:grpSp>
      </p:grpSp>
      <p:sp>
        <p:nvSpPr>
          <p:cNvPr id="110615" name="AutoShape 23"/>
          <p:cNvSpPr/>
          <p:nvPr/>
        </p:nvSpPr>
        <p:spPr>
          <a:xfrm>
            <a:off x="2124075" y="5516563"/>
            <a:ext cx="3024188" cy="1008062"/>
          </a:xfrm>
          <a:prstGeom prst="wedgeRectCallout">
            <a:avLst>
              <a:gd name="adj1" fmla="val -37926"/>
              <a:gd name="adj2" fmla="val -331102"/>
            </a:avLst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字符变量，存放最新读进的源程序字符。</a:t>
            </a:r>
            <a:endParaRPr lang="zh-CN" altLang="en-US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10616" name="AutoShape 24"/>
          <p:cNvSpPr/>
          <p:nvPr/>
        </p:nvSpPr>
        <p:spPr>
          <a:xfrm>
            <a:off x="5651500" y="476250"/>
            <a:ext cx="3097213" cy="1223963"/>
          </a:xfrm>
          <a:prstGeom prst="wedgeRectCallout">
            <a:avLst>
              <a:gd name="adj1" fmla="val -159894"/>
              <a:gd name="adj2" fmla="val 78273"/>
            </a:avLst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过程，将下一输入字符读入</a:t>
            </a:r>
            <a:r>
              <a:rPr lang="en-US" altLang="zh-CN" sz="2400" b="1" dirty="0">
                <a:solidFill>
                  <a:schemeClr val="hlink"/>
                </a:solidFill>
                <a:latin typeface="宋体" pitchFamily="2" charset="-122"/>
              </a:rPr>
              <a:t>CHAR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，搜索指示器前移一个字符。</a:t>
            </a:r>
            <a:endParaRPr lang="zh-CN" altLang="en-US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xit" presetSubtype="2" fill="hold" grpId="1" nodeType="afterEffect">
                                  <p:stCondLst>
                                    <p:cond delay="20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xit" presetSubtype="4" fill="hold" grpId="1" nodeType="afterEffect">
                                  <p:stCondLst>
                                    <p:cond delay="20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5" grpId="0" animBg="1"/>
      <p:bldP spid="110615" grpId="1" animBg="1"/>
      <p:bldP spid="110616" grpId="0" animBg="1"/>
      <p:bldP spid="110616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7522" name="Group 2"/>
          <p:cNvGrpSpPr/>
          <p:nvPr/>
        </p:nvGrpSpPr>
        <p:grpSpPr>
          <a:xfrm>
            <a:off x="250825" y="3789363"/>
            <a:ext cx="7056438" cy="2447925"/>
            <a:chOff x="204" y="1480"/>
            <a:chExt cx="4445" cy="1542"/>
          </a:xfrm>
        </p:grpSpPr>
        <p:grpSp>
          <p:nvGrpSpPr>
            <p:cNvPr id="87062" name="Group 3"/>
            <p:cNvGrpSpPr/>
            <p:nvPr/>
          </p:nvGrpSpPr>
          <p:grpSpPr>
            <a:xfrm>
              <a:off x="204" y="1480"/>
              <a:ext cx="4264" cy="1542"/>
              <a:chOff x="720" y="480"/>
              <a:chExt cx="4224" cy="1390"/>
            </a:xfrm>
          </p:grpSpPr>
          <p:graphicFrame>
            <p:nvGraphicFramePr>
              <p:cNvPr id="87064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1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065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0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7063" name="Text Box 6"/>
            <p:cNvSpPr txBox="1"/>
            <p:nvPr/>
          </p:nvSpPr>
          <p:spPr>
            <a:xfrm>
              <a:off x="251" y="1604"/>
              <a:ext cx="4398" cy="11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对于如上的状态转换图，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状态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0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的代码如下所示：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0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C :=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GETCHAR </a:t>
              </a:r>
              <a:r>
                <a:rPr lang="en-US" altLang="zh-CN" sz="2000" b="1" dirty="0">
                  <a:solidFill>
                    <a:srgbClr val="000808"/>
                  </a:solidFill>
                  <a:latin typeface="宋体" pitchFamily="2" charset="-122"/>
                </a:rPr>
                <a:t>;</a:t>
              </a:r>
              <a:endParaRPr lang="en-US" altLang="zh-CN" sz="2000" b="1" dirty="0">
                <a:solidFill>
                  <a:srgbClr val="000808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if 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LETTER(C)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then goto state 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else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FAIL( )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</p:grpSp>
      <p:grpSp>
        <p:nvGrpSpPr>
          <p:cNvPr id="107527" name="Group 7"/>
          <p:cNvGrpSpPr/>
          <p:nvPr/>
        </p:nvGrpSpPr>
        <p:grpSpPr>
          <a:xfrm>
            <a:off x="617538" y="1628775"/>
            <a:ext cx="4025900" cy="1504950"/>
            <a:chOff x="92" y="2432"/>
            <a:chExt cx="2536" cy="948"/>
          </a:xfrm>
        </p:grpSpPr>
        <p:sp>
          <p:nvSpPr>
            <p:cNvPr id="87052" name="AutoShape 8"/>
            <p:cNvSpPr/>
            <p:nvPr/>
          </p:nvSpPr>
          <p:spPr>
            <a:xfrm>
              <a:off x="2322" y="3046"/>
              <a:ext cx="306" cy="334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5" y="10800"/>
                  </a:moveTo>
                  <a:cubicBezTo>
                    <a:pt x="2925" y="15149"/>
                    <a:pt x="6451" y="18675"/>
                    <a:pt x="10800" y="18675"/>
                  </a:cubicBezTo>
                  <a:cubicBezTo>
                    <a:pt x="15149" y="18675"/>
                    <a:pt x="18675" y="15149"/>
                    <a:pt x="18675" y="10800"/>
                  </a:cubicBezTo>
                  <a:cubicBezTo>
                    <a:pt x="18675" y="6451"/>
                    <a:pt x="15149" y="2925"/>
                    <a:pt x="10800" y="2925"/>
                  </a:cubicBezTo>
                  <a:cubicBezTo>
                    <a:pt x="6451" y="2925"/>
                    <a:pt x="2925" y="6451"/>
                    <a:pt x="2925" y="1080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7053" name="AutoShape 9"/>
            <p:cNvSpPr/>
            <p:nvPr/>
          </p:nvSpPr>
          <p:spPr>
            <a:xfrm>
              <a:off x="92" y="3046"/>
              <a:ext cx="310" cy="334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7054" name="AutoShape 10"/>
            <p:cNvSpPr/>
            <p:nvPr/>
          </p:nvSpPr>
          <p:spPr>
            <a:xfrm>
              <a:off x="1226" y="3046"/>
              <a:ext cx="309" cy="334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7055" name="Line 11"/>
            <p:cNvSpPr/>
            <p:nvPr/>
          </p:nvSpPr>
          <p:spPr>
            <a:xfrm>
              <a:off x="404" y="3222"/>
              <a:ext cx="8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56" name="Line 12"/>
            <p:cNvSpPr/>
            <p:nvPr/>
          </p:nvSpPr>
          <p:spPr>
            <a:xfrm>
              <a:off x="1538" y="3222"/>
              <a:ext cx="78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57" name="Arc 13"/>
            <p:cNvSpPr/>
            <p:nvPr/>
          </p:nvSpPr>
          <p:spPr>
            <a:xfrm rot="5271687" flipH="1" flipV="1">
              <a:off x="1187" y="2738"/>
              <a:ext cx="382" cy="224"/>
            </a:xfrm>
            <a:custGeom>
              <a:avLst/>
              <a:gdLst/>
              <a:ahLst/>
              <a:cxnLst>
                <a:cxn ang="0">
                  <a:pos x="137" y="4"/>
                </a:cxn>
                <a:cxn ang="0">
                  <a:pos x="0" y="147"/>
                </a:cxn>
                <a:cxn ang="0">
                  <a:pos x="186" y="112"/>
                </a:cxn>
              </a:cxnLst>
              <a:pathLst>
                <a:path w="42110" h="43200" fill="none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</a:path>
                <a:path w="42110" h="43200" stroke="0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  <a:lnTo>
                    <a:pt x="20510" y="21600"/>
                  </a:lnTo>
                  <a:lnTo>
                    <a:pt x="15140" y="67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8" name="Line 14"/>
            <p:cNvSpPr/>
            <p:nvPr/>
          </p:nvSpPr>
          <p:spPr>
            <a:xfrm>
              <a:off x="1265" y="2907"/>
              <a:ext cx="38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059" name="Text Box 15"/>
            <p:cNvSpPr txBox="1"/>
            <p:nvPr/>
          </p:nvSpPr>
          <p:spPr>
            <a:xfrm>
              <a:off x="521" y="2976"/>
              <a:ext cx="5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7060" name="Text Box 16"/>
            <p:cNvSpPr txBox="1"/>
            <p:nvPr/>
          </p:nvSpPr>
          <p:spPr>
            <a:xfrm>
              <a:off x="1655" y="2976"/>
              <a:ext cx="5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其他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7061" name="Text Box 17"/>
            <p:cNvSpPr txBox="1"/>
            <p:nvPr/>
          </p:nvSpPr>
          <p:spPr>
            <a:xfrm>
              <a:off x="873" y="2432"/>
              <a:ext cx="105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字母或数字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7538" name="AutoShape 18"/>
          <p:cNvSpPr/>
          <p:nvPr/>
        </p:nvSpPr>
        <p:spPr>
          <a:xfrm>
            <a:off x="5508625" y="1628775"/>
            <a:ext cx="3635375" cy="2233613"/>
          </a:xfrm>
          <a:prstGeom prst="cloudCallout">
            <a:avLst>
              <a:gd name="adj1" fmla="val -93102"/>
              <a:gd name="adj2" fmla="val 105435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LETTER( )</a:t>
            </a:r>
            <a:r>
              <a:rPr lang="zh-CN" altLang="en-US" sz="2000" b="1" dirty="0">
                <a:solidFill>
                  <a:schemeClr val="tx2"/>
                </a:solidFill>
              </a:rPr>
              <a:t>是布尔函数过程，当且仅当</a:t>
            </a:r>
            <a:r>
              <a:rPr lang="en-US" altLang="zh-CN" sz="2000" b="1" dirty="0">
                <a:solidFill>
                  <a:srgbClr val="FF0000"/>
                </a:solidFill>
              </a:rPr>
              <a:t>C</a:t>
            </a:r>
            <a:r>
              <a:rPr lang="zh-CN" altLang="en-US" sz="2000" b="1" dirty="0">
                <a:solidFill>
                  <a:schemeClr val="tx2"/>
                </a:solidFill>
              </a:rPr>
              <a:t>中的字符是字母，它返回真假值</a:t>
            </a:r>
            <a:r>
              <a:rPr lang="en-US" altLang="zh-CN" sz="2000" b="1" dirty="0">
                <a:solidFill>
                  <a:schemeClr val="hlink"/>
                </a:solidFill>
              </a:rPr>
              <a:t>TRUE</a:t>
            </a:r>
            <a:r>
              <a:rPr lang="zh-CN" altLang="en-US" sz="2000" b="1" dirty="0">
                <a:solidFill>
                  <a:schemeClr val="tx2"/>
                </a:solidFill>
              </a:rPr>
              <a:t>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  <p:sp>
        <p:nvSpPr>
          <p:cNvPr id="107539" name="AutoShape 19"/>
          <p:cNvSpPr/>
          <p:nvPr/>
        </p:nvSpPr>
        <p:spPr>
          <a:xfrm>
            <a:off x="5148263" y="1485900"/>
            <a:ext cx="3995737" cy="2592388"/>
          </a:xfrm>
          <a:prstGeom prst="cloudCallout">
            <a:avLst>
              <a:gd name="adj1" fmla="val -84644"/>
              <a:gd name="adj2" fmla="val 104319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FAIL( )</a:t>
            </a:r>
            <a:r>
              <a:rPr lang="zh-CN" altLang="en-US" sz="2000" b="1" dirty="0">
                <a:solidFill>
                  <a:schemeClr val="tx2"/>
                </a:solidFill>
              </a:rPr>
              <a:t>是例子程序，它移回</a:t>
            </a:r>
            <a:r>
              <a:rPr lang="zh-CN" altLang="en-US" sz="2000" b="1" dirty="0">
                <a:solidFill>
                  <a:schemeClr val="hlink"/>
                </a:solidFill>
              </a:rPr>
              <a:t>先行指针</a:t>
            </a:r>
            <a:r>
              <a:rPr lang="zh-CN" altLang="en-US" sz="2000" b="1" dirty="0">
                <a:solidFill>
                  <a:schemeClr val="tx2"/>
                </a:solidFill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</a:rPr>
              <a:t>lookahead pointer</a:t>
            </a:r>
            <a:r>
              <a:rPr lang="zh-CN" altLang="en-US" sz="2000" b="1" dirty="0">
                <a:solidFill>
                  <a:schemeClr val="tx2"/>
                </a:solidFill>
              </a:rPr>
              <a:t>）</a:t>
            </a:r>
            <a:r>
              <a:rPr lang="en-US" altLang="zh-CN" sz="2000" b="1" dirty="0">
                <a:solidFill>
                  <a:schemeClr val="tx2"/>
                </a:solidFill>
              </a:rPr>
              <a:t>, </a:t>
            </a:r>
            <a:r>
              <a:rPr lang="zh-CN" altLang="en-US" sz="2000" b="1" dirty="0">
                <a:solidFill>
                  <a:schemeClr val="tx2"/>
                </a:solidFill>
              </a:rPr>
              <a:t>开始下一状态转换图，或调用出错程序。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  <p:grpSp>
        <p:nvGrpSpPr>
          <p:cNvPr id="107540" name="Group 20"/>
          <p:cNvGrpSpPr/>
          <p:nvPr/>
        </p:nvGrpSpPr>
        <p:grpSpPr>
          <a:xfrm>
            <a:off x="250825" y="549275"/>
            <a:ext cx="5976938" cy="576263"/>
            <a:chOff x="249" y="890"/>
            <a:chExt cx="2812" cy="408"/>
          </a:xfrm>
        </p:grpSpPr>
        <p:grpSp>
          <p:nvGrpSpPr>
            <p:cNvPr id="87048" name="Group 21"/>
            <p:cNvGrpSpPr/>
            <p:nvPr/>
          </p:nvGrpSpPr>
          <p:grpSpPr>
            <a:xfrm>
              <a:off x="249" y="890"/>
              <a:ext cx="2812" cy="408"/>
              <a:chOff x="720" y="480"/>
              <a:chExt cx="4224" cy="1390"/>
            </a:xfrm>
          </p:grpSpPr>
          <p:graphicFrame>
            <p:nvGraphicFramePr>
              <p:cNvPr id="87050" name="Object 22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051" name="Object 23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7049" name="Text Box 24"/>
            <p:cNvSpPr txBox="1"/>
            <p:nvPr/>
          </p:nvSpPr>
          <p:spPr>
            <a:xfrm>
              <a:off x="340" y="936"/>
              <a:ext cx="2676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3-9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：示例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——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如何把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状态结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对应于一段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程序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7545" name="Text Box 25"/>
          <p:cNvSpPr txBox="1"/>
          <p:nvPr/>
        </p:nvSpPr>
        <p:spPr>
          <a:xfrm>
            <a:off x="4572000" y="2420938"/>
            <a:ext cx="3603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*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8" grpId="0" animBg="1"/>
      <p:bldP spid="107538" grpId="1" animBg="1"/>
      <p:bldP spid="107539" grpId="0" animBg="1"/>
      <p:bldP spid="107539" grpId="1" animBg="1"/>
      <p:bldP spid="10754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8546" name="Group 2"/>
          <p:cNvGrpSpPr/>
          <p:nvPr/>
        </p:nvGrpSpPr>
        <p:grpSpPr>
          <a:xfrm>
            <a:off x="323850" y="2663825"/>
            <a:ext cx="7161213" cy="3789363"/>
            <a:chOff x="0" y="1835"/>
            <a:chExt cx="4511" cy="2387"/>
          </a:xfrm>
        </p:grpSpPr>
        <p:grpSp>
          <p:nvGrpSpPr>
            <p:cNvPr id="88081" name="Group 3"/>
            <p:cNvGrpSpPr/>
            <p:nvPr/>
          </p:nvGrpSpPr>
          <p:grpSpPr>
            <a:xfrm>
              <a:off x="0" y="1835"/>
              <a:ext cx="4422" cy="2387"/>
              <a:chOff x="720" y="480"/>
              <a:chExt cx="4224" cy="1390"/>
            </a:xfrm>
          </p:grpSpPr>
          <p:graphicFrame>
            <p:nvGraphicFramePr>
              <p:cNvPr id="88083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0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3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084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9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8082" name="Text Box 6"/>
            <p:cNvSpPr txBox="1"/>
            <p:nvPr/>
          </p:nvSpPr>
          <p:spPr>
            <a:xfrm>
              <a:off x="113" y="2024"/>
              <a:ext cx="4398" cy="20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对于如上的状态转换图，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状态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的代码如下所示：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C :=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GETCHAR </a:t>
              </a:r>
              <a:r>
                <a:rPr lang="en-US" altLang="zh-CN" sz="2000" b="1" dirty="0">
                  <a:solidFill>
                    <a:srgbClr val="000808"/>
                  </a:solidFill>
                  <a:latin typeface="宋体" pitchFamily="2" charset="-122"/>
                </a:rPr>
                <a:t>;</a:t>
              </a:r>
              <a:endParaRPr lang="en-US" altLang="zh-CN" sz="2000" b="1" dirty="0">
                <a:solidFill>
                  <a:srgbClr val="000808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if 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LETTER( C)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or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DIGIT(C)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then goto state </a:t>
              </a:r>
              <a:r>
                <a:rPr lang="en-US" altLang="zh-CN" sz="2000" b="1" dirty="0">
                  <a:solidFill>
                    <a:srgbClr val="000808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rgbClr val="000808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else if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DELIMITER(C)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</a:t>
              </a:r>
              <a:r>
                <a:rPr lang="en-US" altLang="zh-CN" sz="1800" b="1" dirty="0">
                  <a:solidFill>
                    <a:schemeClr val="tx2"/>
                  </a:solidFill>
                </a:rPr>
                <a:t>then goto state 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else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FAIL( )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</p:grpSp>
      <p:grpSp>
        <p:nvGrpSpPr>
          <p:cNvPr id="108551" name="Group 7"/>
          <p:cNvGrpSpPr/>
          <p:nvPr/>
        </p:nvGrpSpPr>
        <p:grpSpPr>
          <a:xfrm>
            <a:off x="617538" y="908050"/>
            <a:ext cx="4025900" cy="1504950"/>
            <a:chOff x="92" y="2432"/>
            <a:chExt cx="2536" cy="948"/>
          </a:xfrm>
        </p:grpSpPr>
        <p:sp>
          <p:nvSpPr>
            <p:cNvPr id="88071" name="AutoShape 8"/>
            <p:cNvSpPr/>
            <p:nvPr/>
          </p:nvSpPr>
          <p:spPr>
            <a:xfrm>
              <a:off x="2322" y="3046"/>
              <a:ext cx="306" cy="334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5" y="10800"/>
                  </a:moveTo>
                  <a:cubicBezTo>
                    <a:pt x="2925" y="15149"/>
                    <a:pt x="6451" y="18675"/>
                    <a:pt x="10800" y="18675"/>
                  </a:cubicBezTo>
                  <a:cubicBezTo>
                    <a:pt x="15149" y="18675"/>
                    <a:pt x="18675" y="15149"/>
                    <a:pt x="18675" y="10800"/>
                  </a:cubicBezTo>
                  <a:cubicBezTo>
                    <a:pt x="18675" y="6451"/>
                    <a:pt x="15149" y="2925"/>
                    <a:pt x="10800" y="2925"/>
                  </a:cubicBezTo>
                  <a:cubicBezTo>
                    <a:pt x="6451" y="2925"/>
                    <a:pt x="2925" y="6451"/>
                    <a:pt x="2925" y="1080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8072" name="AutoShape 9"/>
            <p:cNvSpPr/>
            <p:nvPr/>
          </p:nvSpPr>
          <p:spPr>
            <a:xfrm>
              <a:off x="92" y="3046"/>
              <a:ext cx="310" cy="334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8073" name="AutoShape 10"/>
            <p:cNvSpPr/>
            <p:nvPr/>
          </p:nvSpPr>
          <p:spPr>
            <a:xfrm>
              <a:off x="1226" y="3046"/>
              <a:ext cx="309" cy="334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8074" name="Line 11"/>
            <p:cNvSpPr/>
            <p:nvPr/>
          </p:nvSpPr>
          <p:spPr>
            <a:xfrm>
              <a:off x="404" y="3222"/>
              <a:ext cx="8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8075" name="Line 12"/>
            <p:cNvSpPr/>
            <p:nvPr/>
          </p:nvSpPr>
          <p:spPr>
            <a:xfrm>
              <a:off x="1538" y="3222"/>
              <a:ext cx="78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8076" name="Arc 13"/>
            <p:cNvSpPr/>
            <p:nvPr/>
          </p:nvSpPr>
          <p:spPr>
            <a:xfrm rot="5271687" flipH="1" flipV="1">
              <a:off x="1187" y="2738"/>
              <a:ext cx="382" cy="224"/>
            </a:xfrm>
            <a:custGeom>
              <a:avLst/>
              <a:gdLst/>
              <a:ahLst/>
              <a:cxnLst>
                <a:cxn ang="0">
                  <a:pos x="137" y="4"/>
                </a:cxn>
                <a:cxn ang="0">
                  <a:pos x="0" y="147"/>
                </a:cxn>
                <a:cxn ang="0">
                  <a:pos x="186" y="112"/>
                </a:cxn>
              </a:cxnLst>
              <a:pathLst>
                <a:path w="42110" h="43200" fill="none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</a:path>
                <a:path w="42110" h="43200" stroke="0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  <a:lnTo>
                    <a:pt x="20510" y="21600"/>
                  </a:lnTo>
                  <a:lnTo>
                    <a:pt x="15140" y="67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77" name="Line 14"/>
            <p:cNvSpPr/>
            <p:nvPr/>
          </p:nvSpPr>
          <p:spPr>
            <a:xfrm>
              <a:off x="1265" y="2907"/>
              <a:ext cx="38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8078" name="Text Box 15"/>
            <p:cNvSpPr txBox="1"/>
            <p:nvPr/>
          </p:nvSpPr>
          <p:spPr>
            <a:xfrm>
              <a:off x="521" y="2976"/>
              <a:ext cx="5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8079" name="Text Box 16"/>
            <p:cNvSpPr txBox="1"/>
            <p:nvPr/>
          </p:nvSpPr>
          <p:spPr>
            <a:xfrm>
              <a:off x="1655" y="2976"/>
              <a:ext cx="5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其他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8080" name="Text Box 17"/>
            <p:cNvSpPr txBox="1"/>
            <p:nvPr/>
          </p:nvSpPr>
          <p:spPr>
            <a:xfrm>
              <a:off x="873" y="2432"/>
              <a:ext cx="105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字母或数字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8562" name="AutoShape 18"/>
          <p:cNvSpPr/>
          <p:nvPr/>
        </p:nvSpPr>
        <p:spPr>
          <a:xfrm>
            <a:off x="5076825" y="333375"/>
            <a:ext cx="3635375" cy="2233613"/>
          </a:xfrm>
          <a:prstGeom prst="cloudCallout">
            <a:avLst>
              <a:gd name="adj1" fmla="val -48296"/>
              <a:gd name="adj2" fmla="val 114606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DIGIT( )</a:t>
            </a:r>
            <a:r>
              <a:rPr lang="zh-CN" altLang="en-US" sz="2000" b="1" dirty="0">
                <a:solidFill>
                  <a:schemeClr val="tx2"/>
                </a:solidFill>
              </a:rPr>
              <a:t>是布尔函数过程，当且仅当</a:t>
            </a:r>
            <a:r>
              <a:rPr lang="en-US" altLang="zh-CN" sz="2000" b="1" dirty="0">
                <a:solidFill>
                  <a:srgbClr val="FF0000"/>
                </a:solidFill>
              </a:rPr>
              <a:t>C</a:t>
            </a:r>
            <a:r>
              <a:rPr lang="zh-CN" altLang="en-US" sz="2000" b="1" dirty="0">
                <a:solidFill>
                  <a:schemeClr val="tx2"/>
                </a:solidFill>
              </a:rPr>
              <a:t>中的字符是数字，它返回真假值</a:t>
            </a:r>
            <a:r>
              <a:rPr lang="en-US" altLang="zh-CN" sz="2000" b="1" dirty="0">
                <a:solidFill>
                  <a:schemeClr val="hlink"/>
                </a:solidFill>
              </a:rPr>
              <a:t>TRUE</a:t>
            </a:r>
            <a:r>
              <a:rPr lang="zh-CN" altLang="en-US" sz="2000" b="1" dirty="0">
                <a:solidFill>
                  <a:schemeClr val="tx2"/>
                </a:solidFill>
              </a:rPr>
              <a:t>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  <p:sp>
        <p:nvSpPr>
          <p:cNvPr id="108563" name="AutoShape 19"/>
          <p:cNvSpPr/>
          <p:nvPr/>
        </p:nvSpPr>
        <p:spPr>
          <a:xfrm>
            <a:off x="4859338" y="0"/>
            <a:ext cx="4284662" cy="3311525"/>
          </a:xfrm>
          <a:prstGeom prst="cloudCallout">
            <a:avLst>
              <a:gd name="adj1" fmla="val -62745"/>
              <a:gd name="adj2" fmla="val 98560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DELIMITER(C)</a:t>
            </a:r>
            <a:r>
              <a:rPr lang="zh-CN" altLang="en-US" sz="2000" b="1" dirty="0">
                <a:solidFill>
                  <a:schemeClr val="tx2"/>
                </a:solidFill>
              </a:rPr>
              <a:t>是过程，只要碰到标识符后的分界符，它返回</a:t>
            </a:r>
            <a:r>
              <a:rPr lang="en-US" altLang="zh-CN" sz="2000" b="1" dirty="0">
                <a:solidFill>
                  <a:srgbClr val="FF0000"/>
                </a:solidFill>
              </a:rPr>
              <a:t>TRUE</a:t>
            </a:r>
            <a:r>
              <a:rPr lang="zh-CN" altLang="en-US" sz="2000" b="1" dirty="0">
                <a:solidFill>
                  <a:schemeClr val="tx2"/>
                </a:solidFill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</a:rPr>
              <a:t>分界符</a:t>
            </a:r>
            <a:r>
              <a:rPr lang="zh-CN" altLang="en-US" sz="2000" b="1" dirty="0">
                <a:solidFill>
                  <a:schemeClr val="tx2"/>
                </a:solidFill>
              </a:rPr>
              <a:t>一般为：空格、算术、逻辑符号，括号、‘＝’、‘；’、‘</a:t>
            </a:r>
            <a:r>
              <a:rPr lang="en-US" altLang="zh-CN" sz="2000" b="1" dirty="0">
                <a:solidFill>
                  <a:schemeClr val="tx2"/>
                </a:solidFill>
              </a:rPr>
              <a:t>.’ </a:t>
            </a:r>
            <a:r>
              <a:rPr lang="zh-CN" altLang="en-US" sz="2000" b="1" dirty="0">
                <a:solidFill>
                  <a:schemeClr val="tx2"/>
                </a:solidFill>
              </a:rPr>
              <a:t>、‘，’。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  <p:sp>
        <p:nvSpPr>
          <p:cNvPr id="108564" name="Text Box 20"/>
          <p:cNvSpPr txBox="1"/>
          <p:nvPr/>
        </p:nvSpPr>
        <p:spPr>
          <a:xfrm>
            <a:off x="4500563" y="1628775"/>
            <a:ext cx="3603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*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62" grpId="0" animBg="1"/>
      <p:bldP spid="108562" grpId="1" animBg="1"/>
      <p:bldP spid="108563" grpId="0" animBg="1"/>
      <p:bldP spid="108563" grpId="1" animBg="1"/>
      <p:bldP spid="10856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9570" name="Group 2"/>
          <p:cNvGrpSpPr/>
          <p:nvPr/>
        </p:nvGrpSpPr>
        <p:grpSpPr>
          <a:xfrm>
            <a:off x="250825" y="3213100"/>
            <a:ext cx="6192838" cy="2305050"/>
            <a:chOff x="158" y="1933"/>
            <a:chExt cx="3901" cy="1452"/>
          </a:xfrm>
        </p:grpSpPr>
        <p:grpSp>
          <p:nvGrpSpPr>
            <p:cNvPr id="89112" name="Group 3"/>
            <p:cNvGrpSpPr/>
            <p:nvPr/>
          </p:nvGrpSpPr>
          <p:grpSpPr>
            <a:xfrm>
              <a:off x="158" y="1933"/>
              <a:ext cx="3901" cy="1452"/>
              <a:chOff x="720" y="480"/>
              <a:chExt cx="4224" cy="1390"/>
            </a:xfrm>
          </p:grpSpPr>
          <p:graphicFrame>
            <p:nvGraphicFramePr>
              <p:cNvPr id="89114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115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1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4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9113" name="Text Box 6"/>
            <p:cNvSpPr txBox="1"/>
            <p:nvPr/>
          </p:nvSpPr>
          <p:spPr>
            <a:xfrm>
              <a:off x="205" y="2057"/>
              <a:ext cx="3673" cy="10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对于如上的状态转换图，终态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——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状态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的代码如下所示：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  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RETRACT( )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;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RETURN($id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，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INSTALL( ) )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</p:grpSp>
      <p:grpSp>
        <p:nvGrpSpPr>
          <p:cNvPr id="109575" name="Group 7"/>
          <p:cNvGrpSpPr/>
          <p:nvPr/>
        </p:nvGrpSpPr>
        <p:grpSpPr>
          <a:xfrm>
            <a:off x="617538" y="1060450"/>
            <a:ext cx="4025900" cy="1504950"/>
            <a:chOff x="92" y="2432"/>
            <a:chExt cx="2536" cy="948"/>
          </a:xfrm>
        </p:grpSpPr>
        <p:sp>
          <p:nvSpPr>
            <p:cNvPr id="89102" name="AutoShape 8"/>
            <p:cNvSpPr/>
            <p:nvPr/>
          </p:nvSpPr>
          <p:spPr>
            <a:xfrm>
              <a:off x="2322" y="3046"/>
              <a:ext cx="306" cy="334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5" y="10800"/>
                  </a:moveTo>
                  <a:cubicBezTo>
                    <a:pt x="2925" y="15149"/>
                    <a:pt x="6451" y="18675"/>
                    <a:pt x="10800" y="18675"/>
                  </a:cubicBezTo>
                  <a:cubicBezTo>
                    <a:pt x="15149" y="18675"/>
                    <a:pt x="18675" y="15149"/>
                    <a:pt x="18675" y="10800"/>
                  </a:cubicBezTo>
                  <a:cubicBezTo>
                    <a:pt x="18675" y="6451"/>
                    <a:pt x="15149" y="2925"/>
                    <a:pt x="10800" y="2925"/>
                  </a:cubicBezTo>
                  <a:cubicBezTo>
                    <a:pt x="6451" y="2925"/>
                    <a:pt x="2925" y="6451"/>
                    <a:pt x="2925" y="1080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9103" name="AutoShape 9"/>
            <p:cNvSpPr/>
            <p:nvPr/>
          </p:nvSpPr>
          <p:spPr>
            <a:xfrm>
              <a:off x="92" y="3046"/>
              <a:ext cx="310" cy="334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9104" name="AutoShape 10"/>
            <p:cNvSpPr/>
            <p:nvPr/>
          </p:nvSpPr>
          <p:spPr>
            <a:xfrm>
              <a:off x="1226" y="3046"/>
              <a:ext cx="309" cy="334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9105" name="Line 11"/>
            <p:cNvSpPr/>
            <p:nvPr/>
          </p:nvSpPr>
          <p:spPr>
            <a:xfrm>
              <a:off x="404" y="3222"/>
              <a:ext cx="8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9106" name="Line 12"/>
            <p:cNvSpPr/>
            <p:nvPr/>
          </p:nvSpPr>
          <p:spPr>
            <a:xfrm>
              <a:off x="1538" y="3222"/>
              <a:ext cx="78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9107" name="Arc 13"/>
            <p:cNvSpPr/>
            <p:nvPr/>
          </p:nvSpPr>
          <p:spPr>
            <a:xfrm rot="5271687" flipH="1" flipV="1">
              <a:off x="1187" y="2738"/>
              <a:ext cx="382" cy="224"/>
            </a:xfrm>
            <a:custGeom>
              <a:avLst/>
              <a:gdLst/>
              <a:ahLst/>
              <a:cxnLst>
                <a:cxn ang="0">
                  <a:pos x="137" y="4"/>
                </a:cxn>
                <a:cxn ang="0">
                  <a:pos x="0" y="147"/>
                </a:cxn>
                <a:cxn ang="0">
                  <a:pos x="186" y="112"/>
                </a:cxn>
              </a:cxnLst>
              <a:pathLst>
                <a:path w="42110" h="43200" fill="none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</a:path>
                <a:path w="42110" h="43200" stroke="0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  <a:lnTo>
                    <a:pt x="20510" y="21600"/>
                  </a:lnTo>
                  <a:lnTo>
                    <a:pt x="15140" y="67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9108" name="Line 14"/>
            <p:cNvSpPr/>
            <p:nvPr/>
          </p:nvSpPr>
          <p:spPr>
            <a:xfrm>
              <a:off x="1265" y="2907"/>
              <a:ext cx="38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9109" name="Text Box 15"/>
            <p:cNvSpPr txBox="1"/>
            <p:nvPr/>
          </p:nvSpPr>
          <p:spPr>
            <a:xfrm>
              <a:off x="521" y="2976"/>
              <a:ext cx="5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9110" name="Text Box 16"/>
            <p:cNvSpPr txBox="1"/>
            <p:nvPr/>
          </p:nvSpPr>
          <p:spPr>
            <a:xfrm>
              <a:off x="1655" y="2976"/>
              <a:ext cx="5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其他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89111" name="Text Box 17"/>
            <p:cNvSpPr txBox="1"/>
            <p:nvPr/>
          </p:nvSpPr>
          <p:spPr>
            <a:xfrm>
              <a:off x="873" y="2432"/>
              <a:ext cx="105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字母或数字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9586" name="AutoShape 18"/>
          <p:cNvSpPr/>
          <p:nvPr/>
        </p:nvSpPr>
        <p:spPr>
          <a:xfrm>
            <a:off x="5508625" y="908050"/>
            <a:ext cx="3635375" cy="2233613"/>
          </a:xfrm>
          <a:prstGeom prst="cloudCallout">
            <a:avLst>
              <a:gd name="adj1" fmla="val -107949"/>
              <a:gd name="adj2" fmla="val 104514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RETRACT( )</a:t>
            </a:r>
            <a:r>
              <a:rPr lang="zh-CN" altLang="en-US" sz="2000" b="1" dirty="0">
                <a:solidFill>
                  <a:schemeClr val="tx2"/>
                </a:solidFill>
              </a:rPr>
              <a:t>是过程，由于分界符不属于标识符，所以我们要把先行指针</a:t>
            </a:r>
            <a:r>
              <a:rPr lang="zh-CN" altLang="en-US" sz="2000" b="1" dirty="0">
                <a:solidFill>
                  <a:srgbClr val="FF0000"/>
                </a:solidFill>
              </a:rPr>
              <a:t>回调</a:t>
            </a:r>
            <a:r>
              <a:rPr lang="zh-CN" altLang="en-US" sz="2000" b="1" dirty="0">
                <a:solidFill>
                  <a:schemeClr val="tx2"/>
                </a:solidFill>
              </a:rPr>
              <a:t>一个字符。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  <p:sp>
        <p:nvSpPr>
          <p:cNvPr id="109587" name="AutoShape 19"/>
          <p:cNvSpPr/>
          <p:nvPr/>
        </p:nvSpPr>
        <p:spPr>
          <a:xfrm>
            <a:off x="5148263" y="260350"/>
            <a:ext cx="3671887" cy="2881313"/>
          </a:xfrm>
          <a:prstGeom prst="cloudCallout">
            <a:avLst>
              <a:gd name="adj1" fmla="val -55449"/>
              <a:gd name="adj2" fmla="val 106968"/>
            </a:avLst>
          </a:prstGeom>
          <a:solidFill>
            <a:schemeClr val="accent1"/>
          </a:solidFill>
          <a:ln w="3810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INSTALL( )</a:t>
            </a:r>
            <a:r>
              <a:rPr lang="zh-CN" altLang="en-US" sz="2000" b="1" dirty="0">
                <a:solidFill>
                  <a:schemeClr val="tx2"/>
                </a:solidFill>
              </a:rPr>
              <a:t>是过程，如我们识别出的标识符不在符号表中，我们把它装入</a:t>
            </a:r>
            <a:r>
              <a:rPr lang="zh-CN" altLang="en-US" sz="2000" b="1" dirty="0">
                <a:solidFill>
                  <a:srgbClr val="FF0000"/>
                </a:solidFill>
              </a:rPr>
              <a:t>符号表</a:t>
            </a:r>
            <a:r>
              <a:rPr lang="zh-CN" altLang="en-US" sz="2000" b="1" dirty="0">
                <a:solidFill>
                  <a:schemeClr val="tx2"/>
                </a:solidFill>
              </a:rPr>
              <a:t>。我们还要给语法分析程序返回一个</a:t>
            </a:r>
            <a:r>
              <a:rPr lang="zh-CN" altLang="en-US" sz="2000" b="1" dirty="0">
                <a:solidFill>
                  <a:srgbClr val="FF0000"/>
                </a:solidFill>
              </a:rPr>
              <a:t>二元式</a:t>
            </a:r>
            <a:r>
              <a:rPr lang="zh-CN" altLang="en-US" sz="2000" b="1" dirty="0">
                <a:solidFill>
                  <a:schemeClr val="tx2"/>
                </a:solidFill>
              </a:rPr>
              <a:t>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  <p:sp>
        <p:nvSpPr>
          <p:cNvPr id="109588" name="Text Box 20"/>
          <p:cNvSpPr txBox="1"/>
          <p:nvPr/>
        </p:nvSpPr>
        <p:spPr>
          <a:xfrm>
            <a:off x="4572000" y="1844675"/>
            <a:ext cx="3603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*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109589" name="AutoShape 21"/>
          <p:cNvSpPr/>
          <p:nvPr/>
        </p:nvSpPr>
        <p:spPr>
          <a:xfrm>
            <a:off x="5292725" y="0"/>
            <a:ext cx="3527425" cy="3770313"/>
          </a:xfrm>
          <a:prstGeom prst="irregularSeal1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如果同时识别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</a:rPr>
              <a:t>标识符</a:t>
            </a:r>
            <a:r>
              <a:rPr lang="zh-CN" altLang="en-US" sz="2400" b="1" dirty="0">
                <a:solidFill>
                  <a:schemeClr val="tx2"/>
                </a:solidFill>
              </a:rPr>
              <a:t>和</a:t>
            </a:r>
            <a:r>
              <a:rPr lang="zh-CN" altLang="en-US" sz="2400" b="1" dirty="0">
                <a:solidFill>
                  <a:schemeClr val="hlink"/>
                </a:solidFill>
              </a:rPr>
              <a:t>定义符</a:t>
            </a:r>
            <a:r>
              <a:rPr lang="zh-CN" altLang="en-US" sz="2400" b="1" dirty="0">
                <a:solidFill>
                  <a:schemeClr val="tx2"/>
                </a:solidFill>
              </a:rPr>
              <a:t>，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则需要</a:t>
            </a:r>
            <a:r>
              <a:rPr lang="zh-CN" altLang="en-US" sz="2400" b="1" dirty="0">
                <a:solidFill>
                  <a:schemeClr val="hlink"/>
                </a:solidFill>
              </a:rPr>
              <a:t>修改</a:t>
            </a:r>
            <a:r>
              <a:rPr lang="zh-CN" altLang="en-US" sz="2400" b="1" dirty="0">
                <a:solidFill>
                  <a:schemeClr val="tx2"/>
                </a:solidFill>
              </a:rPr>
              <a:t>为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State2</a:t>
            </a:r>
            <a:r>
              <a:rPr lang="zh-CN" altLang="en-US" sz="2400" b="1" dirty="0">
                <a:solidFill>
                  <a:schemeClr val="tx2"/>
                </a:solidFill>
              </a:rPr>
              <a:t>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pSp>
        <p:nvGrpSpPr>
          <p:cNvPr id="109595" name="Group 27"/>
          <p:cNvGrpSpPr/>
          <p:nvPr/>
        </p:nvGrpSpPr>
        <p:grpSpPr>
          <a:xfrm>
            <a:off x="179388" y="3068638"/>
            <a:ext cx="7200900" cy="3384550"/>
            <a:chOff x="158" y="1933"/>
            <a:chExt cx="3901" cy="1452"/>
          </a:xfrm>
        </p:grpSpPr>
        <p:grpSp>
          <p:nvGrpSpPr>
            <p:cNvPr id="89098" name="Group 28"/>
            <p:cNvGrpSpPr/>
            <p:nvPr/>
          </p:nvGrpSpPr>
          <p:grpSpPr>
            <a:xfrm>
              <a:off x="158" y="1933"/>
              <a:ext cx="3901" cy="1452"/>
              <a:chOff x="720" y="480"/>
              <a:chExt cx="4224" cy="1390"/>
            </a:xfrm>
          </p:grpSpPr>
          <p:graphicFrame>
            <p:nvGraphicFramePr>
              <p:cNvPr id="89100" name="Object 2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9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0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101" name="Object 3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0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0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9099" name="Text Box 31"/>
            <p:cNvSpPr txBox="1"/>
            <p:nvPr/>
          </p:nvSpPr>
          <p:spPr>
            <a:xfrm>
              <a:off x="205" y="2057"/>
              <a:ext cx="3673" cy="11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修改之后，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状态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的代码如下所示：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  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RETRACT( )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;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c :=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RESERVE( );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if  c = 0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    then  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RETURN($id 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，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INSTALL )</a:t>
              </a:r>
              <a:endParaRPr lang="en-US" altLang="zh-CN" sz="1800" b="1" dirty="0">
                <a:solidFill>
                  <a:srgbClr val="FF0000"/>
                </a:solidFill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          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else 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RETURN(C , _ )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</p:grpSp>
      <p:sp>
        <p:nvSpPr>
          <p:cNvPr id="109600" name="AutoShape 32"/>
          <p:cNvSpPr/>
          <p:nvPr/>
        </p:nvSpPr>
        <p:spPr>
          <a:xfrm>
            <a:off x="5219700" y="404813"/>
            <a:ext cx="3924300" cy="2879725"/>
          </a:xfrm>
          <a:prstGeom prst="cloudCallout">
            <a:avLst>
              <a:gd name="adj1" fmla="val -80259"/>
              <a:gd name="adj2" fmla="val 89690"/>
            </a:avLst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RESERVE( )</a:t>
            </a:r>
            <a:r>
              <a:rPr lang="en-US" altLang="zh-CN" sz="1800" b="1" dirty="0">
                <a:solidFill>
                  <a:schemeClr val="tx2"/>
                </a:solidFill>
              </a:rPr>
              <a:t> </a:t>
            </a:r>
            <a:r>
              <a:rPr lang="zh-CN" altLang="en-US" sz="1800" b="1" dirty="0">
                <a:solidFill>
                  <a:schemeClr val="tx2"/>
                </a:solidFill>
              </a:rPr>
              <a:t>整型函数过程</a:t>
            </a:r>
            <a:r>
              <a:rPr lang="en-US" altLang="zh-CN" sz="1800" b="1" dirty="0">
                <a:solidFill>
                  <a:schemeClr val="tx2"/>
                </a:solidFill>
              </a:rPr>
              <a:t>,</a:t>
            </a:r>
            <a:r>
              <a:rPr lang="zh-CN" altLang="en-US" sz="1800" b="1" dirty="0">
                <a:solidFill>
                  <a:schemeClr val="tx2"/>
                </a:solidFill>
              </a:rPr>
              <a:t>针对</a:t>
            </a:r>
            <a:r>
              <a:rPr lang="en-US" altLang="zh-CN" sz="1800" b="1" dirty="0">
                <a:solidFill>
                  <a:srgbClr val="FF0000"/>
                </a:solidFill>
              </a:rPr>
              <a:t>TOKEN</a:t>
            </a:r>
            <a:r>
              <a:rPr lang="zh-CN" altLang="en-US" sz="1800" b="1" dirty="0">
                <a:solidFill>
                  <a:schemeClr val="tx2"/>
                </a:solidFill>
              </a:rPr>
              <a:t>中的字符串进行查找，看其是否是</a:t>
            </a:r>
            <a:r>
              <a:rPr lang="zh-CN" altLang="en-US" sz="1800" b="1" dirty="0">
                <a:solidFill>
                  <a:srgbClr val="FF0000"/>
                </a:solidFill>
              </a:rPr>
              <a:t>保留字</a:t>
            </a:r>
            <a:r>
              <a:rPr lang="zh-CN" altLang="en-US" sz="1800" b="1" dirty="0">
                <a:solidFill>
                  <a:schemeClr val="tx2"/>
                </a:solidFill>
              </a:rPr>
              <a:t>，是保留字给出它的编码，否则回送</a:t>
            </a:r>
            <a:r>
              <a:rPr lang="en-US" altLang="zh-CN" sz="1800" b="1" dirty="0">
                <a:solidFill>
                  <a:schemeClr val="tx2"/>
                </a:solidFill>
              </a:rPr>
              <a:t>0</a:t>
            </a:r>
            <a:r>
              <a:rPr lang="zh-CN" altLang="en-US" sz="1800" b="1" dirty="0">
                <a:solidFill>
                  <a:schemeClr val="tx2"/>
                </a:solidFill>
              </a:rPr>
              <a:t>（假定</a:t>
            </a:r>
            <a:r>
              <a:rPr lang="en-US" altLang="zh-CN" sz="1800" b="1" dirty="0">
                <a:solidFill>
                  <a:schemeClr val="tx2"/>
                </a:solidFill>
              </a:rPr>
              <a:t>0</a:t>
            </a:r>
            <a:r>
              <a:rPr lang="zh-CN" altLang="en-US" sz="1800" b="1" dirty="0">
                <a:solidFill>
                  <a:schemeClr val="tx2"/>
                </a:solidFill>
              </a:rPr>
              <a:t>不是保留字编码）。</a:t>
            </a:r>
            <a:endParaRPr lang="zh-CN" altLang="en-US" sz="1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0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1000"/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/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6" grpId="0" animBg="1"/>
      <p:bldP spid="109586" grpId="1" animBg="1"/>
      <p:bldP spid="109587" grpId="0" animBg="1"/>
      <p:bldP spid="109587" grpId="1" animBg="1"/>
      <p:bldP spid="109588" grpId="0"/>
      <p:bldP spid="109589" grpId="0" animBg="1"/>
      <p:bldP spid="109589" grpId="1" animBg="1"/>
      <p:bldP spid="10960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6738" name="Group 2"/>
          <p:cNvGrpSpPr/>
          <p:nvPr/>
        </p:nvGrpSpPr>
        <p:grpSpPr>
          <a:xfrm>
            <a:off x="250825" y="1773238"/>
            <a:ext cx="6481763" cy="2466975"/>
            <a:chOff x="204" y="346"/>
            <a:chExt cx="3946" cy="1360"/>
          </a:xfrm>
        </p:grpSpPr>
        <p:grpSp>
          <p:nvGrpSpPr>
            <p:cNvPr id="90125" name="Group 3"/>
            <p:cNvGrpSpPr/>
            <p:nvPr/>
          </p:nvGrpSpPr>
          <p:grpSpPr>
            <a:xfrm>
              <a:off x="204" y="346"/>
              <a:ext cx="3855" cy="1360"/>
              <a:chOff x="720" y="480"/>
              <a:chExt cx="4224" cy="1390"/>
            </a:xfrm>
          </p:grpSpPr>
          <p:graphicFrame>
            <p:nvGraphicFramePr>
              <p:cNvPr id="90127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6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0128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0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0126" name="Text Box 6"/>
            <p:cNvSpPr txBox="1"/>
            <p:nvPr/>
          </p:nvSpPr>
          <p:spPr>
            <a:xfrm>
              <a:off x="249" y="391"/>
              <a:ext cx="3901" cy="10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－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10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：以下程序段对应的状态图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i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GETCHAR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WHILE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LETTER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OR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DIGIT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DO 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GETCHAR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state j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…       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16743" name="AutoShape 7"/>
          <p:cNvSpPr/>
          <p:nvPr/>
        </p:nvSpPr>
        <p:spPr>
          <a:xfrm>
            <a:off x="5724525" y="476250"/>
            <a:ext cx="3024188" cy="1512888"/>
          </a:xfrm>
          <a:prstGeom prst="wedgeRectCallout">
            <a:avLst>
              <a:gd name="adj1" fmla="val -130995"/>
              <a:gd name="adj2" fmla="val 112435"/>
            </a:avLst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布尔函数过程，它们分别判断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CHAR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中的字符是数字或是字母，从而给出真假值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TRUE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FALSE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116744" name="Group 8"/>
          <p:cNvGrpSpPr/>
          <p:nvPr/>
        </p:nvGrpSpPr>
        <p:grpSpPr>
          <a:xfrm>
            <a:off x="1116013" y="4581525"/>
            <a:ext cx="3300412" cy="1512888"/>
            <a:chOff x="748" y="2840"/>
            <a:chExt cx="2079" cy="953"/>
          </a:xfrm>
        </p:grpSpPr>
        <p:sp>
          <p:nvSpPr>
            <p:cNvPr id="90117" name="AutoShape 9"/>
            <p:cNvSpPr/>
            <p:nvPr/>
          </p:nvSpPr>
          <p:spPr>
            <a:xfrm>
              <a:off x="1156" y="3385"/>
              <a:ext cx="401" cy="390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i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0118" name="AutoShape 10"/>
            <p:cNvSpPr/>
            <p:nvPr/>
          </p:nvSpPr>
          <p:spPr>
            <a:xfrm>
              <a:off x="2426" y="3403"/>
              <a:ext cx="401" cy="390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j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0119" name="Line 11"/>
            <p:cNvSpPr/>
            <p:nvPr/>
          </p:nvSpPr>
          <p:spPr>
            <a:xfrm>
              <a:off x="1565" y="3612"/>
              <a:ext cx="86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0120" name="Group 12"/>
            <p:cNvGrpSpPr/>
            <p:nvPr/>
          </p:nvGrpSpPr>
          <p:grpSpPr>
            <a:xfrm>
              <a:off x="1156" y="3068"/>
              <a:ext cx="350" cy="319"/>
              <a:chOff x="1156" y="3068"/>
              <a:chExt cx="350" cy="319"/>
            </a:xfrm>
          </p:grpSpPr>
          <p:sp>
            <p:nvSpPr>
              <p:cNvPr id="90123" name="Arc 13"/>
              <p:cNvSpPr/>
              <p:nvPr/>
            </p:nvSpPr>
            <p:spPr>
              <a:xfrm rot="-5400000">
                <a:off x="1162" y="3043"/>
                <a:ext cx="319" cy="349"/>
              </a:xfrm>
              <a:custGeom>
                <a:avLst/>
                <a:gdLst/>
                <a:ahLst/>
                <a:cxnLst>
                  <a:cxn ang="0">
                    <a:pos x="69" y="20"/>
                  </a:cxn>
                  <a:cxn ang="0">
                    <a:pos x="0" y="259"/>
                  </a:cxn>
                  <a:cxn ang="0">
                    <a:pos x="149" y="175"/>
                  </a:cxn>
                </a:cxnLst>
                <a:pathLst>
                  <a:path w="40511" h="43200" fill="none">
                    <a:moveTo>
                      <a:pt x="8799" y="2513"/>
                    </a:moveTo>
                    <a:cubicBezTo>
                      <a:pt x="11914" y="862"/>
                      <a:pt x="15385" y="-1"/>
                      <a:pt x="18911" y="0"/>
                    </a:cubicBezTo>
                    <a:cubicBezTo>
                      <a:pt x="30840" y="0"/>
                      <a:pt x="40511" y="9670"/>
                      <a:pt x="40511" y="21600"/>
                    </a:cubicBezTo>
                    <a:cubicBezTo>
                      <a:pt x="40511" y="33529"/>
                      <a:pt x="30840" y="43200"/>
                      <a:pt x="18911" y="43200"/>
                    </a:cubicBezTo>
                    <a:cubicBezTo>
                      <a:pt x="11044" y="43200"/>
                      <a:pt x="3800" y="38923"/>
                      <a:pt x="-1" y="32037"/>
                    </a:cubicBezTo>
                  </a:path>
                  <a:path w="40511" h="43200" stroke="0">
                    <a:moveTo>
                      <a:pt x="8799" y="2513"/>
                    </a:moveTo>
                    <a:cubicBezTo>
                      <a:pt x="11914" y="862"/>
                      <a:pt x="15385" y="-1"/>
                      <a:pt x="18911" y="0"/>
                    </a:cubicBezTo>
                    <a:cubicBezTo>
                      <a:pt x="30840" y="0"/>
                      <a:pt x="40511" y="9670"/>
                      <a:pt x="40511" y="21600"/>
                    </a:cubicBezTo>
                    <a:cubicBezTo>
                      <a:pt x="40511" y="33529"/>
                      <a:pt x="30840" y="43200"/>
                      <a:pt x="18911" y="43200"/>
                    </a:cubicBezTo>
                    <a:cubicBezTo>
                      <a:pt x="11044" y="43200"/>
                      <a:pt x="3800" y="38923"/>
                      <a:pt x="-1" y="32037"/>
                    </a:cubicBezTo>
                    <a:lnTo>
                      <a:pt x="18911" y="21600"/>
                    </a:lnTo>
                    <a:lnTo>
                      <a:pt x="8799" y="251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24" name="Line 14"/>
              <p:cNvSpPr/>
              <p:nvPr/>
            </p:nvSpPr>
            <p:spPr>
              <a:xfrm>
                <a:off x="1156" y="3294"/>
                <a:ext cx="91" cy="9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0121" name="Text Box 15"/>
            <p:cNvSpPr txBox="1"/>
            <p:nvPr/>
          </p:nvSpPr>
          <p:spPr>
            <a:xfrm>
              <a:off x="1701" y="3385"/>
              <a:ext cx="5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其它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0122" name="Text Box 16"/>
            <p:cNvSpPr txBox="1"/>
            <p:nvPr/>
          </p:nvSpPr>
          <p:spPr>
            <a:xfrm>
              <a:off x="748" y="2840"/>
              <a:ext cx="11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字母或数字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xit" presetSubtype="2" fill="hold" grpId="1" nodeType="afterEffect">
                                  <p:stCondLst>
                                    <p:cond delay="20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3" grpId="0" animBg="1"/>
      <p:bldP spid="116743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1618" name="Group 2"/>
          <p:cNvGrpSpPr/>
          <p:nvPr/>
        </p:nvGrpSpPr>
        <p:grpSpPr>
          <a:xfrm>
            <a:off x="252413" y="2563813"/>
            <a:ext cx="6264275" cy="3600450"/>
            <a:chOff x="158" y="1117"/>
            <a:chExt cx="3946" cy="2268"/>
          </a:xfrm>
        </p:grpSpPr>
        <p:grpSp>
          <p:nvGrpSpPr>
            <p:cNvPr id="91153" name="Group 3"/>
            <p:cNvGrpSpPr/>
            <p:nvPr/>
          </p:nvGrpSpPr>
          <p:grpSpPr>
            <a:xfrm>
              <a:off x="158" y="1117"/>
              <a:ext cx="3901" cy="2268"/>
              <a:chOff x="720" y="480"/>
              <a:chExt cx="4224" cy="1390"/>
            </a:xfrm>
          </p:grpSpPr>
          <p:graphicFrame>
            <p:nvGraphicFramePr>
              <p:cNvPr id="91155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56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1154" name="Text Box 6"/>
            <p:cNvSpPr txBox="1"/>
            <p:nvPr/>
          </p:nvSpPr>
          <p:spPr>
            <a:xfrm>
              <a:off x="203" y="1233"/>
              <a:ext cx="3901" cy="20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－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：以下程序段对应的状态图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‘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0’… ‘9’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BEGIN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WHILE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DIGIT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DO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  BEGIN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CONCAT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GETCHAR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END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RETRACT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    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RETURN($INT,DTB)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       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END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11623" name="Group 7"/>
          <p:cNvGrpSpPr/>
          <p:nvPr/>
        </p:nvGrpSpPr>
        <p:grpSpPr>
          <a:xfrm>
            <a:off x="468313" y="620713"/>
            <a:ext cx="4824412" cy="1582737"/>
            <a:chOff x="158" y="2931"/>
            <a:chExt cx="3039" cy="997"/>
          </a:xfrm>
        </p:grpSpPr>
        <p:sp>
          <p:nvSpPr>
            <p:cNvPr id="91142" name="AutoShape 8"/>
            <p:cNvSpPr/>
            <p:nvPr/>
          </p:nvSpPr>
          <p:spPr>
            <a:xfrm>
              <a:off x="1119" y="3470"/>
              <a:ext cx="399" cy="402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1143" name="Line 9"/>
            <p:cNvSpPr/>
            <p:nvPr/>
          </p:nvSpPr>
          <p:spPr>
            <a:xfrm>
              <a:off x="1527" y="3703"/>
              <a:ext cx="861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1144" name="Group 10"/>
            <p:cNvGrpSpPr/>
            <p:nvPr/>
          </p:nvGrpSpPr>
          <p:grpSpPr>
            <a:xfrm>
              <a:off x="1118" y="3159"/>
              <a:ext cx="350" cy="319"/>
              <a:chOff x="1156" y="3068"/>
              <a:chExt cx="350" cy="319"/>
            </a:xfrm>
          </p:grpSpPr>
          <p:sp>
            <p:nvSpPr>
              <p:cNvPr id="91151" name="Arc 11"/>
              <p:cNvSpPr/>
              <p:nvPr/>
            </p:nvSpPr>
            <p:spPr>
              <a:xfrm rot="-5400000">
                <a:off x="1162" y="3043"/>
                <a:ext cx="319" cy="349"/>
              </a:xfrm>
              <a:custGeom>
                <a:avLst/>
                <a:gdLst/>
                <a:ahLst/>
                <a:cxnLst>
                  <a:cxn ang="0">
                    <a:pos x="69" y="20"/>
                  </a:cxn>
                  <a:cxn ang="0">
                    <a:pos x="0" y="259"/>
                  </a:cxn>
                  <a:cxn ang="0">
                    <a:pos x="149" y="175"/>
                  </a:cxn>
                </a:cxnLst>
                <a:pathLst>
                  <a:path w="40511" h="43200" fill="none">
                    <a:moveTo>
                      <a:pt x="8799" y="2513"/>
                    </a:moveTo>
                    <a:cubicBezTo>
                      <a:pt x="11914" y="862"/>
                      <a:pt x="15385" y="-1"/>
                      <a:pt x="18911" y="0"/>
                    </a:cubicBezTo>
                    <a:cubicBezTo>
                      <a:pt x="30840" y="0"/>
                      <a:pt x="40511" y="9670"/>
                      <a:pt x="40511" y="21600"/>
                    </a:cubicBezTo>
                    <a:cubicBezTo>
                      <a:pt x="40511" y="33529"/>
                      <a:pt x="30840" y="43200"/>
                      <a:pt x="18911" y="43200"/>
                    </a:cubicBezTo>
                    <a:cubicBezTo>
                      <a:pt x="11044" y="43200"/>
                      <a:pt x="3800" y="38923"/>
                      <a:pt x="-1" y="32037"/>
                    </a:cubicBezTo>
                  </a:path>
                  <a:path w="40511" h="43200" stroke="0">
                    <a:moveTo>
                      <a:pt x="8799" y="2513"/>
                    </a:moveTo>
                    <a:cubicBezTo>
                      <a:pt x="11914" y="862"/>
                      <a:pt x="15385" y="-1"/>
                      <a:pt x="18911" y="0"/>
                    </a:cubicBezTo>
                    <a:cubicBezTo>
                      <a:pt x="30840" y="0"/>
                      <a:pt x="40511" y="9670"/>
                      <a:pt x="40511" y="21600"/>
                    </a:cubicBezTo>
                    <a:cubicBezTo>
                      <a:pt x="40511" y="33529"/>
                      <a:pt x="30840" y="43200"/>
                      <a:pt x="18911" y="43200"/>
                    </a:cubicBezTo>
                    <a:cubicBezTo>
                      <a:pt x="11044" y="43200"/>
                      <a:pt x="3800" y="38923"/>
                      <a:pt x="-1" y="32037"/>
                    </a:cubicBezTo>
                    <a:lnTo>
                      <a:pt x="18911" y="21600"/>
                    </a:lnTo>
                    <a:lnTo>
                      <a:pt x="8799" y="2513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1152" name="Line 12"/>
              <p:cNvSpPr/>
              <p:nvPr/>
            </p:nvSpPr>
            <p:spPr>
              <a:xfrm>
                <a:off x="1156" y="3294"/>
                <a:ext cx="91" cy="9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1145" name="Text Box 13"/>
            <p:cNvSpPr txBox="1"/>
            <p:nvPr/>
          </p:nvSpPr>
          <p:spPr>
            <a:xfrm>
              <a:off x="1663" y="3476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非数字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1146" name="Text Box 14"/>
            <p:cNvSpPr txBox="1"/>
            <p:nvPr/>
          </p:nvSpPr>
          <p:spPr>
            <a:xfrm>
              <a:off x="710" y="2931"/>
              <a:ext cx="11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1147" name="Line 15"/>
            <p:cNvSpPr/>
            <p:nvPr/>
          </p:nvSpPr>
          <p:spPr>
            <a:xfrm>
              <a:off x="158" y="3702"/>
              <a:ext cx="953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1148" name="Text Box 16"/>
            <p:cNvSpPr txBox="1"/>
            <p:nvPr/>
          </p:nvSpPr>
          <p:spPr>
            <a:xfrm>
              <a:off x="476" y="3475"/>
              <a:ext cx="5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数字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1149" name="AutoShape 17"/>
            <p:cNvSpPr/>
            <p:nvPr/>
          </p:nvSpPr>
          <p:spPr>
            <a:xfrm>
              <a:off x="2381" y="3475"/>
              <a:ext cx="454" cy="453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35" y="10800"/>
                  </a:moveTo>
                  <a:cubicBezTo>
                    <a:pt x="3035" y="15088"/>
                    <a:pt x="6512" y="18565"/>
                    <a:pt x="10800" y="18565"/>
                  </a:cubicBezTo>
                  <a:cubicBezTo>
                    <a:pt x="15088" y="18565"/>
                    <a:pt x="18565" y="15088"/>
                    <a:pt x="18565" y="10800"/>
                  </a:cubicBezTo>
                  <a:cubicBezTo>
                    <a:pt x="18565" y="6512"/>
                    <a:pt x="15088" y="3035"/>
                    <a:pt x="10800" y="3035"/>
                  </a:cubicBezTo>
                  <a:cubicBezTo>
                    <a:pt x="6512" y="3035"/>
                    <a:pt x="3035" y="6512"/>
                    <a:pt x="3035" y="10800"/>
                  </a:cubicBezTo>
                  <a:close/>
                </a:path>
              </a:pathLst>
            </a:custGeom>
            <a:solidFill>
              <a:srgbClr val="EBF7FF">
                <a:alpha val="0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4</a:t>
              </a: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1150" name="Text Box 18"/>
            <p:cNvSpPr txBox="1"/>
            <p:nvPr/>
          </p:nvSpPr>
          <p:spPr>
            <a:xfrm>
              <a:off x="2789" y="3339"/>
              <a:ext cx="4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2"/>
                  </a:solidFill>
                </a:rPr>
                <a:t>*</a:t>
              </a:r>
              <a:endParaRPr lang="en-US" altLang="zh-CN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11635" name="AutoShape 19"/>
          <p:cNvSpPr/>
          <p:nvPr/>
        </p:nvSpPr>
        <p:spPr>
          <a:xfrm>
            <a:off x="5724525" y="2492375"/>
            <a:ext cx="3024188" cy="2232025"/>
          </a:xfrm>
          <a:prstGeom prst="wedgeRectCallout">
            <a:avLst>
              <a:gd name="adj1" fmla="val -132310"/>
              <a:gd name="adj2" fmla="val 71551"/>
            </a:avLst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RETURN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语句，对应终态结，其中</a:t>
            </a:r>
            <a:r>
              <a:rPr lang="en-US" altLang="zh-CN" sz="2000" b="1" dirty="0">
                <a:solidFill>
                  <a:schemeClr val="hlink"/>
                </a:solidFill>
              </a:rPr>
              <a:t>$INT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为种别编码，</a:t>
            </a:r>
            <a:r>
              <a:rPr lang="en-US" altLang="zh-CN" sz="2000" b="1" dirty="0">
                <a:solidFill>
                  <a:schemeClr val="hlink"/>
                </a:solidFill>
              </a:rPr>
              <a:t>DTB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为一个把十进制转换到二进制的转换函数。它把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TOKEN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中的数字译成</a:t>
            </a:r>
            <a:r>
              <a:rPr lang="zh-CN" altLang="en-US" sz="2000" b="1" dirty="0">
                <a:solidFill>
                  <a:schemeClr val="hlink"/>
                </a:solidFill>
                <a:latin typeface="宋体" pitchFamily="2" charset="-122"/>
              </a:rPr>
              <a:t>标准二进制码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，并以此为函数值返回。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1141" name="文本框 1"/>
          <p:cNvSpPr txBox="1"/>
          <p:nvPr/>
        </p:nvSpPr>
        <p:spPr>
          <a:xfrm>
            <a:off x="5145088" y="750888"/>
            <a:ext cx="3954462" cy="954087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正规式：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0|1|2...|9)(0|1|2...|9)*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3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WordArt 2"/>
          <p:cNvSpPr>
            <a:spLocks noChangeArrowheads="1" noChangeShapeType="1" noTextEdit="1"/>
          </p:cNvSpPr>
          <p:nvPr/>
        </p:nvSpPr>
        <p:spPr bwMode="auto">
          <a:xfrm>
            <a:off x="1547813" y="981075"/>
            <a:ext cx="594360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确定有限自动机（</a:t>
            </a: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DFA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）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00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pSp>
        <p:nvGrpSpPr>
          <p:cNvPr id="57354" name="Group 10"/>
          <p:cNvGrpSpPr/>
          <p:nvPr/>
        </p:nvGrpSpPr>
        <p:grpSpPr>
          <a:xfrm>
            <a:off x="323850" y="1628775"/>
            <a:ext cx="8497888" cy="4608513"/>
            <a:chOff x="249" y="1026"/>
            <a:chExt cx="5353" cy="2903"/>
          </a:xfrm>
        </p:grpSpPr>
        <p:grpSp>
          <p:nvGrpSpPr>
            <p:cNvPr id="92165" name="Group 4"/>
            <p:cNvGrpSpPr/>
            <p:nvPr/>
          </p:nvGrpSpPr>
          <p:grpSpPr>
            <a:xfrm>
              <a:off x="249" y="1026"/>
              <a:ext cx="5353" cy="2903"/>
              <a:chOff x="249" y="890"/>
              <a:chExt cx="5353" cy="2903"/>
            </a:xfrm>
          </p:grpSpPr>
          <p:grpSp>
            <p:nvGrpSpPr>
              <p:cNvPr id="92167" name="Group 5"/>
              <p:cNvGrpSpPr/>
              <p:nvPr/>
            </p:nvGrpSpPr>
            <p:grpSpPr>
              <a:xfrm>
                <a:off x="249" y="890"/>
                <a:ext cx="5353" cy="2903"/>
                <a:chOff x="720" y="480"/>
                <a:chExt cx="4224" cy="1390"/>
              </a:xfrm>
            </p:grpSpPr>
            <p:graphicFrame>
              <p:nvGraphicFramePr>
                <p:cNvPr id="92169" name="Object 6"/>
                <p:cNvGraphicFramePr>
                  <a:graphicFrameLocks noChangeAspect="1"/>
                </p:cNvGraphicFramePr>
                <p:nvPr/>
              </p:nvGraphicFramePr>
              <p:xfrm>
                <a:off x="720" y="480"/>
                <a:ext cx="4224" cy="13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" name="" r:id="rId1" imgW="7581900" imgH="2768600" progId="Photoshop.Image.7">
                        <p:embed/>
                      </p:oleObj>
                    </mc:Choice>
                    <mc:Fallback>
                      <p:oleObj name="" r:id="rId1" imgW="7581900" imgH="2768600" progId="Photoshop.Image.7">
                        <p:embed/>
                        <p:pic>
                          <p:nvPicPr>
                            <p:cNvPr id="0" name="图片 3110"/>
                            <p:cNvPicPr/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20" y="480"/>
                              <a:ext cx="4224" cy="139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170" name="Object 7"/>
                <p:cNvGraphicFramePr>
                  <a:graphicFrameLocks noChangeAspect="1"/>
                </p:cNvGraphicFramePr>
                <p:nvPr/>
              </p:nvGraphicFramePr>
              <p:xfrm>
                <a:off x="2873" y="1028"/>
                <a:ext cx="157" cy="2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2" name="" r:id="rId3" imgW="114300" imgH="215900" progId="Equation.3">
                        <p:embed/>
                      </p:oleObj>
                    </mc:Choice>
                    <mc:Fallback>
                      <p:oleObj name="" r:id="rId3" imgW="114300" imgH="215900" progId="Equation.3">
                        <p:embed/>
                        <p:pic>
                          <p:nvPicPr>
                            <p:cNvPr id="0" name="图片 3111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73" y="1028"/>
                              <a:ext cx="157" cy="29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2168" name="Text Box 8"/>
              <p:cNvSpPr txBox="1"/>
              <p:nvPr/>
            </p:nvSpPr>
            <p:spPr>
              <a:xfrm>
                <a:off x="340" y="981"/>
                <a:ext cx="5171" cy="25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marL="536575" indent="-536575" eaLnBrk="1" hangingPunct="1">
                  <a:spcBef>
                    <a:spcPct val="50000"/>
                  </a:spcBef>
                  <a:buNone/>
                </a:pP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一个</a:t>
                </a:r>
                <a:r>
                  <a:rPr lang="zh-CN" altLang="en-US" sz="2400" b="1" dirty="0">
                    <a:solidFill>
                      <a:schemeClr val="hlink"/>
                    </a:solidFill>
                    <a:latin typeface="宋体" pitchFamily="2" charset="-122"/>
                  </a:rPr>
                  <a:t>确定有限自动机（</a:t>
                </a:r>
                <a:r>
                  <a:rPr lang="en-US" altLang="zh-CN" sz="2400" b="1" dirty="0">
                    <a:solidFill>
                      <a:schemeClr val="hlink"/>
                    </a:solidFill>
                    <a:latin typeface="宋体" pitchFamily="2" charset="-122"/>
                  </a:rPr>
                  <a:t>DFA</a:t>
                </a:r>
                <a:r>
                  <a:rPr lang="zh-CN" altLang="en-US" sz="2400" b="1" dirty="0">
                    <a:solidFill>
                      <a:schemeClr val="hlink"/>
                    </a:solidFill>
                    <a:latin typeface="宋体" pitchFamily="2" charset="-122"/>
                  </a:rPr>
                  <a:t>）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M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是一个五元式：</a:t>
                </a:r>
                <a:endParaRPr lang="zh-CN" altLang="en-US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  <a:p>
                <a:pPr marL="536575" indent="-536575"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    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M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＝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(S,∑,move,s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itchFamily="2" charset="-122"/>
                  </a:rPr>
                  <a:t>0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,F)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，其中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  <a:p>
                <a:pPr marL="536575" indent="-536575"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1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、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是一个有限集，它的每个元素称为一个</a:t>
                </a:r>
                <a:r>
                  <a:rPr lang="zh-CN" altLang="en-US" sz="2000" b="1" dirty="0">
                    <a:solidFill>
                      <a:srgbClr val="FF0066"/>
                    </a:solidFill>
                    <a:latin typeface="宋体" pitchFamily="2" charset="-122"/>
                  </a:rPr>
                  <a:t>状态</a:t>
                </a:r>
                <a:endParaRPr lang="zh-CN" altLang="en-US" sz="2000" b="1" dirty="0">
                  <a:solidFill>
                    <a:srgbClr val="FF0066"/>
                  </a:solidFill>
                  <a:latin typeface="宋体" pitchFamily="2" charset="-122"/>
                </a:endParaRPr>
              </a:p>
              <a:p>
                <a:pPr marL="536575" indent="-536575"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2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、∑是一个有穷</a:t>
                </a:r>
                <a:r>
                  <a:rPr lang="zh-CN" altLang="en-US" sz="2000" b="1" dirty="0">
                    <a:solidFill>
                      <a:srgbClr val="FF0066"/>
                    </a:solidFill>
                    <a:latin typeface="宋体" pitchFamily="2" charset="-122"/>
                  </a:rPr>
                  <a:t>字母表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，它的每个元素称为一个</a:t>
                </a:r>
                <a:r>
                  <a:rPr lang="zh-CN" altLang="en-US" sz="2000" b="1" dirty="0">
                    <a:solidFill>
                      <a:srgbClr val="FF0066"/>
                    </a:solidFill>
                    <a:latin typeface="宋体" pitchFamily="2" charset="-122"/>
                  </a:rPr>
                  <a:t>输入字符</a:t>
                </a:r>
                <a:endParaRPr lang="zh-CN" altLang="en-US" sz="2000" b="1" dirty="0">
                  <a:solidFill>
                    <a:srgbClr val="FF0066"/>
                  </a:solidFill>
                  <a:latin typeface="宋体" pitchFamily="2" charset="-122"/>
                </a:endParaRPr>
              </a:p>
              <a:p>
                <a:pPr marL="536575" indent="-536575" eaLnBrk="1" hangingPunct="1">
                  <a:lnSpc>
                    <a:spcPct val="130000"/>
                  </a:lnSpc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3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、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Arial" panose="020B0604020202090204" pitchFamily="34" charset="0"/>
                  </a:rPr>
                  <a:t>move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是一个从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S×∑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至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的单值部分映射。 </a:t>
                </a:r>
                <a:r>
                  <a:rPr lang="el-GR" altLang="zh-CN" sz="2000" b="1" dirty="0">
                    <a:solidFill>
                      <a:schemeClr val="tx2"/>
                    </a:solidFill>
                    <a:latin typeface="Arial" panose="020B0604020202090204" pitchFamily="34" charset="0"/>
                  </a:rPr>
                  <a:t>δ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(s,a)=s´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意味着：当现行状态为、输入字符为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a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时，将转换到下一状态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s´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。我们称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s´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为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的一个后继状态。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  <a:p>
                <a:pPr marL="536575" indent="-536575"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4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、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s</a:t>
                </a:r>
                <a:r>
                  <a:rPr lang="en-US" altLang="zh-CN" sz="2000" b="1" baseline="-25000" dirty="0">
                    <a:solidFill>
                      <a:schemeClr val="tx2"/>
                    </a:solidFill>
                    <a:latin typeface="宋体" pitchFamily="2" charset="-122"/>
                  </a:rPr>
                  <a:t>0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∈S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是唯一的</a:t>
                </a:r>
                <a:r>
                  <a:rPr lang="zh-CN" altLang="en-US" sz="2000" b="1" dirty="0">
                    <a:solidFill>
                      <a:srgbClr val="FF0066"/>
                    </a:solidFill>
                    <a:latin typeface="宋体" pitchFamily="2" charset="-122"/>
                  </a:rPr>
                  <a:t>初态</a:t>
                </a:r>
                <a:endParaRPr lang="zh-CN" altLang="en-US" sz="2000" b="1" dirty="0">
                  <a:solidFill>
                    <a:srgbClr val="FF0066"/>
                  </a:solidFill>
                  <a:latin typeface="宋体" pitchFamily="2" charset="-122"/>
                </a:endParaRPr>
              </a:p>
              <a:p>
                <a:pPr marL="536575" indent="-536575"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5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、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F   S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是一个</a:t>
                </a:r>
                <a:r>
                  <a:rPr lang="zh-CN" altLang="en-US" sz="2000" b="1" dirty="0">
                    <a:solidFill>
                      <a:srgbClr val="FF0066"/>
                    </a:solidFill>
                    <a:latin typeface="宋体" pitchFamily="2" charset="-122"/>
                  </a:rPr>
                  <a:t>终态集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（可空）。</a:t>
                </a:r>
                <a:endParaRPr lang="zh-CN" altLang="en-US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</p:grpSp>
        <p:pic>
          <p:nvPicPr>
            <p:cNvPr id="92166" name="Picture 9" descr="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6" y="3555"/>
              <a:ext cx="180" cy="10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7355" name="WordArt 11"/>
          <p:cNvSpPr>
            <a:spLocks noChangeArrowheads="1" noChangeShapeType="1" noTextEdit="1"/>
          </p:cNvSpPr>
          <p:nvPr/>
        </p:nvSpPr>
        <p:spPr bwMode="auto">
          <a:xfrm>
            <a:off x="2033588" y="476250"/>
            <a:ext cx="5076825" cy="504825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有限自动机（</a:t>
            </a:r>
            <a:r>
              <a:rPr kumimoji="0" lang="en-US" altLang="zh-CN" sz="40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FA</a:t>
            </a:r>
            <a:r>
              <a:rPr kumimoji="0" lang="zh-CN" altLang="en-US" sz="40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）</a:t>
            </a:r>
            <a:endParaRPr kumimoji="0" lang="zh-CN" altLang="en-US" sz="4000" b="0" i="0" u="none" strike="noStrike" kern="10" cap="none" spc="0" normalizeH="0" baseline="0" noProof="0">
              <a:ln w="9525">
                <a:solidFill>
                  <a:srgbClr val="00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8370" name="Group 2"/>
          <p:cNvGrpSpPr/>
          <p:nvPr/>
        </p:nvGrpSpPr>
        <p:grpSpPr>
          <a:xfrm>
            <a:off x="323850" y="836613"/>
            <a:ext cx="8424863" cy="1441450"/>
            <a:chOff x="204" y="436"/>
            <a:chExt cx="5307" cy="908"/>
          </a:xfrm>
        </p:grpSpPr>
        <p:grpSp>
          <p:nvGrpSpPr>
            <p:cNvPr id="93234" name="Group 3"/>
            <p:cNvGrpSpPr/>
            <p:nvPr/>
          </p:nvGrpSpPr>
          <p:grpSpPr>
            <a:xfrm>
              <a:off x="204" y="436"/>
              <a:ext cx="5307" cy="908"/>
              <a:chOff x="720" y="480"/>
              <a:chExt cx="4224" cy="1390"/>
            </a:xfrm>
          </p:grpSpPr>
          <p:graphicFrame>
            <p:nvGraphicFramePr>
              <p:cNvPr id="93236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3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237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1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3235" name="Text Box 6"/>
            <p:cNvSpPr txBox="1"/>
            <p:nvPr/>
          </p:nvSpPr>
          <p:spPr>
            <a:xfrm>
              <a:off x="249" y="527"/>
              <a:ext cx="5171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显然，一个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可用一个矩阵表示，该矩阵的行表示状态，列表示输入字符，矩阵元素表示</a:t>
              </a:r>
              <a:r>
                <a:rPr lang="el-GR" altLang="zh-CN" sz="2400" b="1" dirty="0">
                  <a:solidFill>
                    <a:srgbClr val="FF0000"/>
                  </a:solidFill>
                </a:rPr>
                <a:t>δ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(s,a)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的值。这个矩阵称为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状态转换矩阵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58375" name="Text Box 7"/>
          <p:cNvSpPr txBox="1"/>
          <p:nvPr/>
        </p:nvSpPr>
        <p:spPr>
          <a:xfrm>
            <a:off x="323850" y="3141663"/>
            <a:ext cx="4752975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例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2-12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：有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DFA</a:t>
            </a: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 </a:t>
            </a:r>
            <a:endParaRPr lang="en-US" altLang="zh-CN" sz="2000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宋体" pitchFamily="2" charset="-122"/>
              </a:rPr>
              <a:t>      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M = ({0,1,2,3},{a,b},</a:t>
            </a:r>
            <a:r>
              <a:rPr lang="el-GR" altLang="zh-CN" sz="2000" b="1" dirty="0">
                <a:solidFill>
                  <a:srgbClr val="FF0000"/>
                </a:solidFill>
              </a:rPr>
              <a:t>δ</a:t>
            </a:r>
            <a:r>
              <a:rPr lang="en-US" altLang="zh-CN" sz="2000" b="1" dirty="0">
                <a:solidFill>
                  <a:srgbClr val="FF0000"/>
                </a:solidFill>
                <a:latin typeface="宋体" pitchFamily="2" charset="-122"/>
              </a:rPr>
              <a:t>,0,{3})</a:t>
            </a:r>
            <a:endParaRPr lang="en-US" altLang="zh-CN" sz="2000" b="1" dirty="0">
              <a:solidFill>
                <a:srgbClr val="FF0000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其中</a:t>
            </a:r>
            <a:r>
              <a:rPr lang="el-GR" altLang="zh-CN" sz="2000" b="1" dirty="0">
                <a:solidFill>
                  <a:srgbClr val="FF0000"/>
                </a:solidFill>
              </a:rPr>
              <a:t>δ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: 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  <a:sym typeface="Wingdings" panose="05000000000000000000" pitchFamily="2" charset="2"/>
              </a:rPr>
              <a:t>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(0,a)=1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(0,b)=2 </a:t>
            </a:r>
            <a:endParaRPr lang="en-US" altLang="zh-CN" sz="2000" b="1" dirty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</a:rPr>
              <a:t>        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(1,a)=3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(1,b)=2</a:t>
            </a:r>
            <a:endParaRPr lang="en-US" altLang="zh-CN" sz="2000" b="1" dirty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</a:rPr>
              <a:t>        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(2,a)=1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(2,b)=3</a:t>
            </a:r>
            <a:endParaRPr lang="en-US" altLang="zh-CN" sz="2000" b="1" dirty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</a:rPr>
              <a:t>        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(3,a)=3            </a:t>
            </a:r>
            <a:r>
              <a:rPr lang="el-GR" altLang="zh-CN" sz="2000" b="1" dirty="0">
                <a:solidFill>
                  <a:schemeClr val="tx2"/>
                </a:solidFill>
              </a:rPr>
              <a:t>δ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(3,b)=3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        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aphicFrame>
        <p:nvGraphicFramePr>
          <p:cNvPr id="58376" name="Group 8"/>
          <p:cNvGraphicFramePr>
            <a:graphicFrameLocks noGrp="1"/>
          </p:cNvGraphicFramePr>
          <p:nvPr>
            <p:ph idx="4294967295"/>
          </p:nvPr>
        </p:nvGraphicFramePr>
        <p:xfrm>
          <a:off x="5292725" y="3573463"/>
          <a:ext cx="3455988" cy="2286000"/>
        </p:xfrm>
        <a:graphic>
          <a:graphicData uri="http://schemas.openxmlformats.org/drawingml/2006/table">
            <a:tbl>
              <a:tblPr/>
              <a:tblGrid>
                <a:gridCol w="1152525"/>
                <a:gridCol w="1150938"/>
                <a:gridCol w="1152525"/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状态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02" name="Rectangle 34"/>
          <p:cNvSpPr/>
          <p:nvPr/>
        </p:nvSpPr>
        <p:spPr>
          <a:xfrm>
            <a:off x="5235575" y="2936875"/>
            <a:ext cx="3495675" cy="4064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相应的状态转换矩阵如下表：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58413" name="Oval 45"/>
          <p:cNvSpPr/>
          <p:nvPr/>
        </p:nvSpPr>
        <p:spPr>
          <a:xfrm>
            <a:off x="1763713" y="4941888"/>
            <a:ext cx="1223962" cy="431800"/>
          </a:xfrm>
          <a:prstGeom prst="ellipse">
            <a:avLst/>
          </a:prstGeom>
          <a:solidFill>
            <a:srgbClr val="EBF7FF">
              <a:alpha val="0"/>
            </a:srgbClr>
          </a:solidFill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414" name="Oval 46"/>
          <p:cNvSpPr/>
          <p:nvPr/>
        </p:nvSpPr>
        <p:spPr>
          <a:xfrm>
            <a:off x="1763713" y="5445125"/>
            <a:ext cx="1223962" cy="431800"/>
          </a:xfrm>
          <a:prstGeom prst="ellipse">
            <a:avLst/>
          </a:prstGeom>
          <a:solidFill>
            <a:srgbClr val="EBF7FF">
              <a:alpha val="0"/>
            </a:srgbClr>
          </a:solidFill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415" name="Oval 47"/>
          <p:cNvSpPr/>
          <p:nvPr/>
        </p:nvSpPr>
        <p:spPr>
          <a:xfrm>
            <a:off x="3635375" y="4941888"/>
            <a:ext cx="1223963" cy="431800"/>
          </a:xfrm>
          <a:prstGeom prst="ellipse">
            <a:avLst/>
          </a:prstGeom>
          <a:solidFill>
            <a:srgbClr val="EBF7FF">
              <a:alpha val="0"/>
            </a:srgbClr>
          </a:solidFill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416" name="Oval 48"/>
          <p:cNvSpPr/>
          <p:nvPr/>
        </p:nvSpPr>
        <p:spPr>
          <a:xfrm>
            <a:off x="3635375" y="4437063"/>
            <a:ext cx="1223963" cy="431800"/>
          </a:xfrm>
          <a:prstGeom prst="ellipse">
            <a:avLst/>
          </a:prstGeom>
          <a:solidFill>
            <a:srgbClr val="EBF7FF">
              <a:alpha val="0"/>
            </a:srgbClr>
          </a:solidFill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417" name="Oval 49"/>
          <p:cNvSpPr/>
          <p:nvPr/>
        </p:nvSpPr>
        <p:spPr>
          <a:xfrm>
            <a:off x="3708400" y="5373688"/>
            <a:ext cx="1223963" cy="431800"/>
          </a:xfrm>
          <a:prstGeom prst="ellipse">
            <a:avLst/>
          </a:prstGeom>
          <a:solidFill>
            <a:srgbClr val="EBF7FF">
              <a:alpha val="0"/>
            </a:srgbClr>
          </a:solidFill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grpSp>
        <p:nvGrpSpPr>
          <p:cNvPr id="58420" name="Group 52"/>
          <p:cNvGrpSpPr/>
          <p:nvPr/>
        </p:nvGrpSpPr>
        <p:grpSpPr>
          <a:xfrm>
            <a:off x="1763713" y="4005263"/>
            <a:ext cx="5040312" cy="431800"/>
            <a:chOff x="1111" y="2523"/>
            <a:chExt cx="3175" cy="272"/>
          </a:xfrm>
        </p:grpSpPr>
        <p:sp>
          <p:nvSpPr>
            <p:cNvPr id="93232" name="Oval 43"/>
            <p:cNvSpPr/>
            <p:nvPr/>
          </p:nvSpPr>
          <p:spPr>
            <a:xfrm>
              <a:off x="1111" y="2523"/>
              <a:ext cx="771" cy="272"/>
            </a:xfrm>
            <a:prstGeom prst="ellipse">
              <a:avLst/>
            </a:prstGeom>
            <a:solidFill>
              <a:srgbClr val="EBF7FF">
                <a:alpha val="0"/>
              </a:srgbClr>
            </a:solidFill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3233" name="Line 51"/>
            <p:cNvSpPr/>
            <p:nvPr/>
          </p:nvSpPr>
          <p:spPr>
            <a:xfrm>
              <a:off x="1882" y="2659"/>
              <a:ext cx="2404" cy="0"/>
            </a:xfrm>
            <a:prstGeom prst="line">
              <a:avLst/>
            </a:prstGeom>
            <a:ln w="28575" cap="flat" cmpd="sng">
              <a:solidFill>
                <a:srgbClr val="FD00C6"/>
              </a:solidFill>
              <a:prstDash val="lgDashDotDot"/>
              <a:headEnd type="none" w="med" len="med"/>
              <a:tailEnd type="triangle" w="med" len="med"/>
            </a:ln>
          </p:spPr>
        </p:sp>
      </p:grpSp>
      <p:grpSp>
        <p:nvGrpSpPr>
          <p:cNvPr id="58422" name="Group 54"/>
          <p:cNvGrpSpPr/>
          <p:nvPr/>
        </p:nvGrpSpPr>
        <p:grpSpPr>
          <a:xfrm>
            <a:off x="3635375" y="4005263"/>
            <a:ext cx="4249738" cy="431800"/>
            <a:chOff x="2290" y="2523"/>
            <a:chExt cx="2677" cy="272"/>
          </a:xfrm>
        </p:grpSpPr>
        <p:sp>
          <p:nvSpPr>
            <p:cNvPr id="93230" name="Oval 50"/>
            <p:cNvSpPr/>
            <p:nvPr/>
          </p:nvSpPr>
          <p:spPr>
            <a:xfrm>
              <a:off x="2290" y="2523"/>
              <a:ext cx="771" cy="272"/>
            </a:xfrm>
            <a:prstGeom prst="ellipse">
              <a:avLst/>
            </a:prstGeom>
            <a:solidFill>
              <a:srgbClr val="EBF7FF">
                <a:alpha val="0"/>
              </a:srgbClr>
            </a:solidFill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3231" name="Line 53"/>
            <p:cNvSpPr/>
            <p:nvPr/>
          </p:nvSpPr>
          <p:spPr>
            <a:xfrm>
              <a:off x="3016" y="2659"/>
              <a:ext cx="1951" cy="0"/>
            </a:xfrm>
            <a:prstGeom prst="line">
              <a:avLst/>
            </a:prstGeom>
            <a:ln w="28575" cap="flat" cmpd="sng">
              <a:solidFill>
                <a:srgbClr val="FD00C6"/>
              </a:solidFill>
              <a:prstDash val="lgDashDotDot"/>
              <a:headEnd type="none" w="med" len="med"/>
              <a:tailEnd type="triangle" w="med" len="med"/>
            </a:ln>
          </p:spPr>
        </p:sp>
      </p:grpSp>
      <p:grpSp>
        <p:nvGrpSpPr>
          <p:cNvPr id="58424" name="Group 56"/>
          <p:cNvGrpSpPr/>
          <p:nvPr/>
        </p:nvGrpSpPr>
        <p:grpSpPr>
          <a:xfrm>
            <a:off x="1763713" y="4437063"/>
            <a:ext cx="4968875" cy="431800"/>
            <a:chOff x="1111" y="2795"/>
            <a:chExt cx="3130" cy="272"/>
          </a:xfrm>
        </p:grpSpPr>
        <p:sp>
          <p:nvSpPr>
            <p:cNvPr id="93228" name="Oval 44"/>
            <p:cNvSpPr/>
            <p:nvPr/>
          </p:nvSpPr>
          <p:spPr>
            <a:xfrm>
              <a:off x="1111" y="2795"/>
              <a:ext cx="771" cy="272"/>
            </a:xfrm>
            <a:prstGeom prst="ellipse">
              <a:avLst/>
            </a:prstGeom>
            <a:solidFill>
              <a:srgbClr val="EBF7FF">
                <a:alpha val="0"/>
              </a:srgbClr>
            </a:solidFill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3229" name="Line 55"/>
            <p:cNvSpPr/>
            <p:nvPr/>
          </p:nvSpPr>
          <p:spPr>
            <a:xfrm>
              <a:off x="1882" y="2931"/>
              <a:ext cx="2359" cy="0"/>
            </a:xfrm>
            <a:prstGeom prst="line">
              <a:avLst/>
            </a:prstGeom>
            <a:ln w="28575" cap="flat" cmpd="sng">
              <a:solidFill>
                <a:srgbClr val="FD00C6"/>
              </a:solidFill>
              <a:prstDash val="lgDashDotDot"/>
              <a:headEnd type="none" w="med" len="med"/>
              <a:tailEnd type="triangle" w="med" len="med"/>
            </a:ln>
          </p:spPr>
        </p:sp>
      </p:grpSp>
      <p:sp>
        <p:nvSpPr>
          <p:cNvPr id="58425" name="Line 57"/>
          <p:cNvSpPr/>
          <p:nvPr/>
        </p:nvSpPr>
        <p:spPr>
          <a:xfrm>
            <a:off x="4859338" y="4652963"/>
            <a:ext cx="3025775" cy="0"/>
          </a:xfrm>
          <a:prstGeom prst="line">
            <a:avLst/>
          </a:prstGeom>
          <a:ln w="28575" cap="flat" cmpd="sng">
            <a:solidFill>
              <a:srgbClr val="FD00C6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58426" name="Line 58"/>
          <p:cNvSpPr/>
          <p:nvPr/>
        </p:nvSpPr>
        <p:spPr>
          <a:xfrm>
            <a:off x="2987675" y="5157788"/>
            <a:ext cx="3744913" cy="0"/>
          </a:xfrm>
          <a:prstGeom prst="line">
            <a:avLst/>
          </a:prstGeom>
          <a:ln w="28575" cap="flat" cmpd="sng">
            <a:solidFill>
              <a:srgbClr val="FD00C6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58427" name="Line 59"/>
          <p:cNvSpPr/>
          <p:nvPr/>
        </p:nvSpPr>
        <p:spPr>
          <a:xfrm>
            <a:off x="4859338" y="5157788"/>
            <a:ext cx="2952750" cy="0"/>
          </a:xfrm>
          <a:prstGeom prst="line">
            <a:avLst/>
          </a:prstGeom>
          <a:ln w="28575" cap="flat" cmpd="sng">
            <a:solidFill>
              <a:srgbClr val="FD00C6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58428" name="Line 60"/>
          <p:cNvSpPr/>
          <p:nvPr/>
        </p:nvSpPr>
        <p:spPr>
          <a:xfrm>
            <a:off x="2987675" y="5661025"/>
            <a:ext cx="3744913" cy="0"/>
          </a:xfrm>
          <a:prstGeom prst="line">
            <a:avLst/>
          </a:prstGeom>
          <a:ln w="28575" cap="flat" cmpd="sng">
            <a:solidFill>
              <a:srgbClr val="FD00C6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58429" name="Line 61"/>
          <p:cNvSpPr/>
          <p:nvPr/>
        </p:nvSpPr>
        <p:spPr>
          <a:xfrm>
            <a:off x="4932363" y="5589588"/>
            <a:ext cx="2879725" cy="0"/>
          </a:xfrm>
          <a:prstGeom prst="line">
            <a:avLst/>
          </a:prstGeom>
          <a:ln w="28575" cap="flat" cmpd="sng">
            <a:solidFill>
              <a:srgbClr val="FD00C6"/>
            </a:solidFill>
            <a:prstDash val="lgDashDotDot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8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8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1000" fill="hold"/>
                                        <p:tgtEl>
                                          <p:spTgt spid="584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58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58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58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8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8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8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5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1000"/>
                            </p:stCondLst>
                            <p:childTnLst>
                              <p:par>
                                <p:cTn id="66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58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58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58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58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58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5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5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58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58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58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58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58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58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5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5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58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58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58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58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58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58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2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58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58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58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/>
                                        <p:tgtEl>
                                          <p:spTgt spid="58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1000"/>
                                        <p:tgtEl>
                                          <p:spTgt spid="58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0"/>
                                        <p:tgtEl>
                                          <p:spTgt spid="5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5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9000"/>
                            </p:stCondLst>
                            <p:childTnLst>
                              <p:par>
                                <p:cTn id="140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58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58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58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58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/>
                                        <p:tgtEl>
                                          <p:spTgt spid="58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58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/>
      <p:bldP spid="58402" grpId="0" animBg="1"/>
      <p:bldP spid="58402" grpId="1" animBg="1"/>
      <p:bldP spid="58413" grpId="0" animBg="1"/>
      <p:bldP spid="58413" grpId="1" animBg="1"/>
      <p:bldP spid="58414" grpId="0" animBg="1"/>
      <p:bldP spid="58414" grpId="1" animBg="1"/>
      <p:bldP spid="58415" grpId="0" animBg="1"/>
      <p:bldP spid="58415" grpId="1" animBg="1"/>
      <p:bldP spid="58416" grpId="0" animBg="1"/>
      <p:bldP spid="58416" grpId="1" animBg="1"/>
      <p:bldP spid="58417" grpId="0" animBg="1"/>
      <p:bldP spid="58417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9394" name="Group 2"/>
          <p:cNvGrpSpPr/>
          <p:nvPr/>
        </p:nvGrpSpPr>
        <p:grpSpPr>
          <a:xfrm>
            <a:off x="179388" y="692150"/>
            <a:ext cx="8785225" cy="1944688"/>
            <a:chOff x="68" y="527"/>
            <a:chExt cx="5534" cy="1225"/>
          </a:xfrm>
        </p:grpSpPr>
        <p:grpSp>
          <p:nvGrpSpPr>
            <p:cNvPr id="94277" name="Group 3"/>
            <p:cNvGrpSpPr/>
            <p:nvPr/>
          </p:nvGrpSpPr>
          <p:grpSpPr>
            <a:xfrm>
              <a:off x="68" y="527"/>
              <a:ext cx="5488" cy="1225"/>
              <a:chOff x="720" y="480"/>
              <a:chExt cx="4224" cy="1390"/>
            </a:xfrm>
          </p:grpSpPr>
          <p:graphicFrame>
            <p:nvGraphicFramePr>
              <p:cNvPr id="94279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4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280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4278" name="Text Box 6"/>
            <p:cNvSpPr txBox="1"/>
            <p:nvPr/>
          </p:nvSpPr>
          <p:spPr>
            <a:xfrm>
              <a:off x="113" y="589"/>
              <a:ext cx="5489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一个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也可用一张（确定的）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状态转换图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来表示。假定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 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含有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个状态和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n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个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输入字符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，那么，这个状态转换图含有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个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状态结点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，每个结点顶多有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n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条箭弧射出和别的结点相连接，整张图含有一个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初态结点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和若干个（可以为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）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终态结点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59399" name="AutoShape 7"/>
          <p:cNvSpPr/>
          <p:nvPr/>
        </p:nvSpPr>
        <p:spPr>
          <a:xfrm>
            <a:off x="7597775" y="3995738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00" name="AutoShape 8"/>
          <p:cNvSpPr/>
          <p:nvPr/>
        </p:nvSpPr>
        <p:spPr>
          <a:xfrm>
            <a:off x="4502150" y="3922713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01" name="AutoShape 9"/>
          <p:cNvSpPr/>
          <p:nvPr/>
        </p:nvSpPr>
        <p:spPr>
          <a:xfrm>
            <a:off x="6015038" y="2914650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59402" name="Group 10"/>
          <p:cNvGrpSpPr/>
          <p:nvPr/>
        </p:nvGrpSpPr>
        <p:grpSpPr>
          <a:xfrm rot="-5400000" flipV="1">
            <a:off x="8135938" y="4113213"/>
            <a:ext cx="361950" cy="288925"/>
            <a:chOff x="3606" y="620"/>
            <a:chExt cx="261" cy="588"/>
          </a:xfrm>
        </p:grpSpPr>
        <p:sp>
          <p:nvSpPr>
            <p:cNvPr id="94275" name="Arc 11"/>
            <p:cNvSpPr/>
            <p:nvPr/>
          </p:nvSpPr>
          <p:spPr>
            <a:xfrm rot="5271687" flipH="1" flipV="1">
              <a:off x="3447" y="759"/>
              <a:ext cx="556" cy="259"/>
            </a:xfrm>
            <a:custGeom>
              <a:avLst/>
              <a:gdLst/>
              <a:ahLst/>
              <a:cxnLst>
                <a:cxn ang="0">
                  <a:pos x="200" y="4"/>
                </a:cxn>
                <a:cxn ang="0">
                  <a:pos x="0" y="170"/>
                </a:cxn>
                <a:cxn ang="0">
                  <a:pos x="271" y="130"/>
                </a:cxn>
              </a:cxnLst>
              <a:pathLst>
                <a:path w="42110" h="43200" fill="none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</a:path>
                <a:path w="42110" h="43200" stroke="0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  <a:lnTo>
                    <a:pt x="20510" y="21600"/>
                  </a:lnTo>
                  <a:lnTo>
                    <a:pt x="15140" y="677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76" name="Line 12"/>
            <p:cNvSpPr/>
            <p:nvPr/>
          </p:nvSpPr>
          <p:spPr>
            <a:xfrm>
              <a:off x="3606" y="981"/>
              <a:ext cx="45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9405" name="Text Box 13"/>
          <p:cNvSpPr txBox="1"/>
          <p:nvPr/>
        </p:nvSpPr>
        <p:spPr>
          <a:xfrm>
            <a:off x="4500563" y="5876925"/>
            <a:ext cx="35290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图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3.5 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状态转换图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06" name="AutoShape 14"/>
          <p:cNvSpPr/>
          <p:nvPr/>
        </p:nvSpPr>
        <p:spPr>
          <a:xfrm>
            <a:off x="6013450" y="5156200"/>
            <a:ext cx="573088" cy="53340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59407" name="Group 15"/>
          <p:cNvGrpSpPr/>
          <p:nvPr/>
        </p:nvGrpSpPr>
        <p:grpSpPr>
          <a:xfrm>
            <a:off x="6084888" y="3355975"/>
            <a:ext cx="914400" cy="1965325"/>
            <a:chOff x="1474" y="2069"/>
            <a:chExt cx="576" cy="1238"/>
          </a:xfrm>
        </p:grpSpPr>
        <p:sp>
          <p:nvSpPr>
            <p:cNvPr id="94273" name="Arc 16"/>
            <p:cNvSpPr/>
            <p:nvPr/>
          </p:nvSpPr>
          <p:spPr>
            <a:xfrm rot="843092">
              <a:off x="1474" y="2296"/>
              <a:ext cx="576" cy="1011"/>
            </a:xfrm>
            <a:custGeom>
              <a:avLst/>
              <a:gdLst/>
              <a:ahLst/>
              <a:cxnLst>
                <a:cxn ang="0">
                  <a:pos x="360" y="0"/>
                </a:cxn>
                <a:cxn ang="0">
                  <a:pos x="440" y="1011"/>
                </a:cxn>
                <a:cxn ang="0">
                  <a:pos x="0" y="553"/>
                </a:cxn>
              </a:cxnLst>
              <a:pathLst>
                <a:path w="21600" h="30813" fill="none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</a:path>
                <a:path w="21600" h="30813" stroke="0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  <a:lnTo>
                    <a:pt x="0" y="16852"/>
                  </a:lnTo>
                  <a:lnTo>
                    <a:pt x="1351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74" name="Line 17"/>
            <p:cNvSpPr/>
            <p:nvPr/>
          </p:nvSpPr>
          <p:spPr>
            <a:xfrm flipH="1" flipV="1">
              <a:off x="1746" y="2069"/>
              <a:ext cx="227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9410" name="Group 18"/>
          <p:cNvGrpSpPr/>
          <p:nvPr/>
        </p:nvGrpSpPr>
        <p:grpSpPr>
          <a:xfrm>
            <a:off x="5580063" y="3355975"/>
            <a:ext cx="1008062" cy="2016125"/>
            <a:chOff x="1156" y="2069"/>
            <a:chExt cx="635" cy="1270"/>
          </a:xfrm>
        </p:grpSpPr>
        <p:sp>
          <p:nvSpPr>
            <p:cNvPr id="94271" name="Arc 19"/>
            <p:cNvSpPr/>
            <p:nvPr/>
          </p:nvSpPr>
          <p:spPr>
            <a:xfrm flipH="1">
              <a:off x="1156" y="2069"/>
              <a:ext cx="635" cy="1089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486" y="1089"/>
                </a:cxn>
                <a:cxn ang="0">
                  <a:pos x="0" y="622"/>
                </a:cxn>
              </a:cxnLst>
              <a:pathLst>
                <a:path w="21600" h="32374" fill="none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</a:path>
                <a:path w="21600" h="32374" stroke="0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  <a:lnTo>
                    <a:pt x="0" y="18489"/>
                  </a:lnTo>
                  <a:lnTo>
                    <a:pt x="1116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72" name="Line 20"/>
            <p:cNvSpPr/>
            <p:nvPr/>
          </p:nvSpPr>
          <p:spPr>
            <a:xfrm>
              <a:off x="1292" y="3158"/>
              <a:ext cx="137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9413" name="Group 21"/>
          <p:cNvGrpSpPr/>
          <p:nvPr/>
        </p:nvGrpSpPr>
        <p:grpSpPr>
          <a:xfrm>
            <a:off x="6588125" y="3213100"/>
            <a:ext cx="1152525" cy="863600"/>
            <a:chOff x="1791" y="1979"/>
            <a:chExt cx="726" cy="544"/>
          </a:xfrm>
        </p:grpSpPr>
        <p:sp>
          <p:nvSpPr>
            <p:cNvPr id="94269" name="Arc 22"/>
            <p:cNvSpPr/>
            <p:nvPr/>
          </p:nvSpPr>
          <p:spPr>
            <a:xfrm>
              <a:off x="1791" y="1979"/>
              <a:ext cx="570" cy="5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0" y="305"/>
                </a:cxn>
                <a:cxn ang="0">
                  <a:pos x="0" y="544"/>
                </a:cxn>
              </a:cxnLst>
              <a:pathLst>
                <a:path w="19398" h="21600" fill="none">
                  <a:moveTo>
                    <a:pt x="-1" y="0"/>
                  </a:moveTo>
                  <a:cubicBezTo>
                    <a:pt x="8245" y="0"/>
                    <a:pt x="15771" y="4694"/>
                    <a:pt x="19398" y="12098"/>
                  </a:cubicBezTo>
                </a:path>
                <a:path w="19398" h="21600" stroke="0">
                  <a:moveTo>
                    <a:pt x="-1" y="0"/>
                  </a:moveTo>
                  <a:cubicBezTo>
                    <a:pt x="8245" y="0"/>
                    <a:pt x="15771" y="4694"/>
                    <a:pt x="19398" y="1209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70" name="Line 23"/>
            <p:cNvSpPr/>
            <p:nvPr/>
          </p:nvSpPr>
          <p:spPr>
            <a:xfrm>
              <a:off x="2381" y="2296"/>
              <a:ext cx="136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9416" name="Group 24"/>
          <p:cNvGrpSpPr/>
          <p:nvPr/>
        </p:nvGrpSpPr>
        <p:grpSpPr>
          <a:xfrm>
            <a:off x="4787900" y="3213100"/>
            <a:ext cx="1225550" cy="719138"/>
            <a:chOff x="657" y="1979"/>
            <a:chExt cx="772" cy="453"/>
          </a:xfrm>
        </p:grpSpPr>
        <p:sp>
          <p:nvSpPr>
            <p:cNvPr id="94267" name="Arc 25"/>
            <p:cNvSpPr/>
            <p:nvPr/>
          </p:nvSpPr>
          <p:spPr>
            <a:xfrm flipH="1">
              <a:off x="657" y="2024"/>
              <a:ext cx="680" cy="408"/>
            </a:xfrm>
            <a:custGeom>
              <a:avLst/>
              <a:gdLst/>
              <a:ahLst/>
              <a:cxnLst>
                <a:cxn ang="0">
                  <a:pos x="225" y="0"/>
                </a:cxn>
                <a:cxn ang="0">
                  <a:pos x="680" y="408"/>
                </a:cxn>
                <a:cxn ang="0">
                  <a:pos x="0" y="408"/>
                </a:cxn>
              </a:cxnLst>
              <a:pathLst>
                <a:path w="21600" h="20378" fill="none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</a:path>
                <a:path w="21600" h="20378" stroke="0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  <a:lnTo>
                    <a:pt x="0" y="20378"/>
                  </a:lnTo>
                  <a:lnTo>
                    <a:pt x="7161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68" name="Line 26"/>
            <p:cNvSpPr/>
            <p:nvPr/>
          </p:nvSpPr>
          <p:spPr>
            <a:xfrm flipV="1">
              <a:off x="1111" y="1979"/>
              <a:ext cx="318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9419" name="Group 27"/>
          <p:cNvGrpSpPr/>
          <p:nvPr/>
        </p:nvGrpSpPr>
        <p:grpSpPr>
          <a:xfrm>
            <a:off x="4789488" y="4437063"/>
            <a:ext cx="1225550" cy="935037"/>
            <a:chOff x="658" y="2750"/>
            <a:chExt cx="772" cy="589"/>
          </a:xfrm>
        </p:grpSpPr>
        <p:sp>
          <p:nvSpPr>
            <p:cNvPr id="94265" name="Arc 28"/>
            <p:cNvSpPr/>
            <p:nvPr/>
          </p:nvSpPr>
          <p:spPr>
            <a:xfrm rot="10800000">
              <a:off x="658" y="2750"/>
              <a:ext cx="772" cy="553"/>
            </a:xfrm>
            <a:custGeom>
              <a:avLst/>
              <a:gdLst/>
              <a:ahLst/>
              <a:cxnLst>
                <a:cxn ang="0">
                  <a:pos x="269" y="0"/>
                </a:cxn>
                <a:cxn ang="0">
                  <a:pos x="772" y="553"/>
                </a:cxn>
                <a:cxn ang="0">
                  <a:pos x="0" y="553"/>
                </a:cxn>
              </a:cxnLst>
              <a:pathLst>
                <a:path w="21600" h="20245" fill="none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</a:path>
                <a:path w="21600" h="20245" stroke="0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  <a:lnTo>
                    <a:pt x="0" y="20245"/>
                  </a:lnTo>
                  <a:lnTo>
                    <a:pt x="7529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66" name="Line 29"/>
            <p:cNvSpPr/>
            <p:nvPr/>
          </p:nvSpPr>
          <p:spPr>
            <a:xfrm>
              <a:off x="1156" y="3294"/>
              <a:ext cx="273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9422" name="Group 30"/>
          <p:cNvGrpSpPr/>
          <p:nvPr/>
        </p:nvGrpSpPr>
        <p:grpSpPr>
          <a:xfrm>
            <a:off x="6588125" y="4292600"/>
            <a:ext cx="1223963" cy="1079500"/>
            <a:chOff x="1791" y="2659"/>
            <a:chExt cx="771" cy="680"/>
          </a:xfrm>
        </p:grpSpPr>
        <p:sp>
          <p:nvSpPr>
            <p:cNvPr id="94263" name="Arc 31"/>
            <p:cNvSpPr/>
            <p:nvPr/>
          </p:nvSpPr>
          <p:spPr>
            <a:xfrm rot="5400000">
              <a:off x="1775" y="2654"/>
              <a:ext cx="680" cy="669"/>
            </a:xfrm>
            <a:custGeom>
              <a:avLst/>
              <a:gdLst/>
              <a:ahLst/>
              <a:cxnLst>
                <a:cxn ang="0">
                  <a:pos x="337" y="0"/>
                </a:cxn>
                <a:cxn ang="0">
                  <a:pos x="680" y="669"/>
                </a:cxn>
                <a:cxn ang="0">
                  <a:pos x="0" y="669"/>
                </a:cxn>
              </a:cxnLst>
              <a:pathLst>
                <a:path w="21600" h="18753" fill="none">
                  <a:moveTo>
                    <a:pt x="10718" y="0"/>
                  </a:moveTo>
                  <a:cubicBezTo>
                    <a:pt x="17447" y="3846"/>
                    <a:pt x="21600" y="11002"/>
                    <a:pt x="21600" y="18753"/>
                  </a:cubicBezTo>
                </a:path>
                <a:path w="21600" h="18753" stroke="0">
                  <a:moveTo>
                    <a:pt x="10718" y="0"/>
                  </a:moveTo>
                  <a:cubicBezTo>
                    <a:pt x="17447" y="3846"/>
                    <a:pt x="21600" y="11002"/>
                    <a:pt x="21600" y="18753"/>
                  </a:cubicBezTo>
                  <a:lnTo>
                    <a:pt x="0" y="18753"/>
                  </a:lnTo>
                  <a:lnTo>
                    <a:pt x="1071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264" name="Line 32"/>
            <p:cNvSpPr/>
            <p:nvPr/>
          </p:nvSpPr>
          <p:spPr>
            <a:xfrm flipV="1">
              <a:off x="2472" y="2795"/>
              <a:ext cx="90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9425" name="Text Box 33"/>
          <p:cNvSpPr txBox="1"/>
          <p:nvPr/>
        </p:nvSpPr>
        <p:spPr>
          <a:xfrm>
            <a:off x="6948488" y="4076700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26" name="Text Box 34"/>
          <p:cNvSpPr txBox="1"/>
          <p:nvPr/>
        </p:nvSpPr>
        <p:spPr>
          <a:xfrm>
            <a:off x="4932363" y="3032125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27" name="Text Box 35"/>
          <p:cNvSpPr txBox="1"/>
          <p:nvPr/>
        </p:nvSpPr>
        <p:spPr>
          <a:xfrm>
            <a:off x="8388350" y="4005263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28" name="Text Box 36"/>
          <p:cNvSpPr txBox="1"/>
          <p:nvPr/>
        </p:nvSpPr>
        <p:spPr>
          <a:xfrm>
            <a:off x="7380288" y="3284538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29" name="Text Box 37"/>
          <p:cNvSpPr txBox="1"/>
          <p:nvPr/>
        </p:nvSpPr>
        <p:spPr>
          <a:xfrm>
            <a:off x="4932363" y="5013325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30" name="Text Box 38"/>
          <p:cNvSpPr txBox="1"/>
          <p:nvPr/>
        </p:nvSpPr>
        <p:spPr>
          <a:xfrm>
            <a:off x="7308850" y="5013325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59431" name="Text Box 39"/>
          <p:cNvSpPr txBox="1"/>
          <p:nvPr/>
        </p:nvSpPr>
        <p:spPr>
          <a:xfrm>
            <a:off x="5292725" y="4005263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aphicFrame>
        <p:nvGraphicFramePr>
          <p:cNvPr id="59432" name="Group 40"/>
          <p:cNvGraphicFramePr>
            <a:graphicFrameLocks noGrp="1"/>
          </p:cNvGraphicFramePr>
          <p:nvPr/>
        </p:nvGraphicFramePr>
        <p:xfrm>
          <a:off x="539750" y="4365625"/>
          <a:ext cx="2736850" cy="1981200"/>
        </p:xfrm>
        <a:graphic>
          <a:graphicData uri="http://schemas.openxmlformats.org/drawingml/2006/table">
            <a:tbl>
              <a:tblPr/>
              <a:tblGrid>
                <a:gridCol w="912813"/>
                <a:gridCol w="911225"/>
                <a:gridCol w="912812"/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状态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58" name="Rectangle 66"/>
          <p:cNvSpPr/>
          <p:nvPr/>
        </p:nvSpPr>
        <p:spPr>
          <a:xfrm>
            <a:off x="238125" y="3222625"/>
            <a:ext cx="3325813" cy="7112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如下表所示的状态转换矩阵对应的状态转换图如右图：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grpSp>
        <p:nvGrpSpPr>
          <p:cNvPr id="59459" name="Group 67"/>
          <p:cNvGrpSpPr/>
          <p:nvPr/>
        </p:nvGrpSpPr>
        <p:grpSpPr>
          <a:xfrm>
            <a:off x="3059113" y="1916113"/>
            <a:ext cx="1441450" cy="2233612"/>
            <a:chOff x="1927" y="1207"/>
            <a:chExt cx="908" cy="1407"/>
          </a:xfrm>
        </p:grpSpPr>
        <p:sp>
          <p:nvSpPr>
            <p:cNvPr id="94260" name="Line 68"/>
            <p:cNvSpPr/>
            <p:nvPr/>
          </p:nvSpPr>
          <p:spPr>
            <a:xfrm>
              <a:off x="2336" y="1525"/>
              <a:ext cx="0" cy="1089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94261" name="Rectangle 69"/>
            <p:cNvSpPr/>
            <p:nvPr/>
          </p:nvSpPr>
          <p:spPr>
            <a:xfrm>
              <a:off x="1927" y="1207"/>
              <a:ext cx="772" cy="3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4262" name="Line 70"/>
            <p:cNvSpPr/>
            <p:nvPr/>
          </p:nvSpPr>
          <p:spPr>
            <a:xfrm>
              <a:off x="2336" y="2614"/>
              <a:ext cx="499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lgDashDotDot"/>
              <a:headEnd type="none" w="med" len="med"/>
              <a:tailEnd type="triangle" w="med" len="med"/>
            </a:ln>
          </p:spPr>
        </p:sp>
      </p:grpSp>
      <p:sp>
        <p:nvSpPr>
          <p:cNvPr id="59463" name="Rectangle 71"/>
          <p:cNvSpPr/>
          <p:nvPr/>
        </p:nvSpPr>
        <p:spPr>
          <a:xfrm>
            <a:off x="7092950" y="1916113"/>
            <a:ext cx="1366838" cy="504825"/>
          </a:xfrm>
          <a:prstGeom prst="rect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9464" name="Line 72"/>
          <p:cNvSpPr/>
          <p:nvPr/>
        </p:nvSpPr>
        <p:spPr>
          <a:xfrm>
            <a:off x="7885113" y="2420938"/>
            <a:ext cx="0" cy="1512887"/>
          </a:xfrm>
          <a:prstGeom prst="line">
            <a:avLst/>
          </a:prstGeom>
          <a:ln w="28575" cap="flat" cmpd="sng">
            <a:solidFill>
              <a:srgbClr val="009900"/>
            </a:solidFill>
            <a:prstDash val="lgDashDotDot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1000" fill="hold"/>
                                        <p:tgtEl>
                                          <p:spTgt spid="594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55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59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9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9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CC00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55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5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5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1000"/>
                                        <p:tgtEl>
                                          <p:spTgt spid="59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500"/>
                            </p:stCondLst>
                            <p:childTnLst>
                              <p:par>
                                <p:cTn id="121" presetID="55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59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59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59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9" grpId="0" animBg="1"/>
      <p:bldP spid="59400" grpId="0" animBg="1"/>
      <p:bldP spid="59401" grpId="0" animBg="1"/>
      <p:bldP spid="59405" grpId="0"/>
      <p:bldP spid="59406" grpId="0" animBg="1"/>
      <p:bldP spid="59425" grpId="0" animBg="1"/>
      <p:bldP spid="59426" grpId="0" animBg="1"/>
      <p:bldP spid="59427" grpId="0" animBg="1"/>
      <p:bldP spid="59428" grpId="0" animBg="1"/>
      <p:bldP spid="59429" grpId="0" animBg="1"/>
      <p:bldP spid="59430" grpId="0" animBg="1"/>
      <p:bldP spid="59431" grpId="0" animBg="1"/>
      <p:bldP spid="59458" grpId="0" animBg="1"/>
      <p:bldP spid="59458" grpId="1" animBg="1"/>
      <p:bldP spid="59463" grpId="0" animBg="1"/>
      <p:bldP spid="59463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AutoShape 2"/>
          <p:cNvSpPr/>
          <p:nvPr/>
        </p:nvSpPr>
        <p:spPr>
          <a:xfrm>
            <a:off x="3784600" y="4429125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19" name="AutoShape 3"/>
          <p:cNvSpPr/>
          <p:nvPr/>
        </p:nvSpPr>
        <p:spPr>
          <a:xfrm>
            <a:off x="688975" y="4356100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20" name="AutoShape 4"/>
          <p:cNvSpPr/>
          <p:nvPr/>
        </p:nvSpPr>
        <p:spPr>
          <a:xfrm>
            <a:off x="2201863" y="3348038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21" name="AutoShape 5"/>
          <p:cNvSpPr/>
          <p:nvPr/>
        </p:nvSpPr>
        <p:spPr>
          <a:xfrm>
            <a:off x="2201863" y="558006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22" name="Arc 6"/>
          <p:cNvSpPr/>
          <p:nvPr/>
        </p:nvSpPr>
        <p:spPr>
          <a:xfrm rot="843092">
            <a:off x="2271713" y="4149725"/>
            <a:ext cx="914400" cy="1604963"/>
          </a:xfrm>
          <a:custGeom>
            <a:avLst/>
            <a:gdLst/>
            <a:ahLst/>
            <a:cxnLst>
              <a:cxn ang="0">
                <a:pos x="572008" y="0"/>
              </a:cxn>
              <a:cxn ang="0">
                <a:pos x="697738" y="1604963"/>
              </a:cxn>
              <a:cxn ang="0">
                <a:pos x="0" y="877774"/>
              </a:cxn>
            </a:cxnLst>
            <a:pathLst>
              <a:path w="21600" h="30813" fill="none">
                <a:moveTo>
                  <a:pt x="13511" y="0"/>
                </a:moveTo>
                <a:cubicBezTo>
                  <a:pt x="18624" y="4099"/>
                  <a:pt x="21600" y="10298"/>
                  <a:pt x="21600" y="16852"/>
                </a:cubicBezTo>
                <a:cubicBezTo>
                  <a:pt x="21600" y="21964"/>
                  <a:pt x="19786" y="26911"/>
                  <a:pt x="16481" y="30812"/>
                </a:cubicBezTo>
              </a:path>
              <a:path w="21600" h="30813" stroke="0">
                <a:moveTo>
                  <a:pt x="13511" y="0"/>
                </a:moveTo>
                <a:cubicBezTo>
                  <a:pt x="18624" y="4099"/>
                  <a:pt x="21600" y="10298"/>
                  <a:pt x="21600" y="16852"/>
                </a:cubicBezTo>
                <a:cubicBezTo>
                  <a:pt x="21600" y="21964"/>
                  <a:pt x="19786" y="26911"/>
                  <a:pt x="16481" y="30812"/>
                </a:cubicBezTo>
                <a:lnTo>
                  <a:pt x="0" y="16852"/>
                </a:lnTo>
                <a:lnTo>
                  <a:pt x="13511" y="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23" name="Line 7"/>
          <p:cNvSpPr/>
          <p:nvPr/>
        </p:nvSpPr>
        <p:spPr>
          <a:xfrm flipH="1" flipV="1">
            <a:off x="2703513" y="3789363"/>
            <a:ext cx="360362" cy="431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24" name="Arc 8"/>
          <p:cNvSpPr/>
          <p:nvPr/>
        </p:nvSpPr>
        <p:spPr>
          <a:xfrm flipH="1">
            <a:off x="1766888" y="3789363"/>
            <a:ext cx="1008062" cy="1728787"/>
          </a:xfrm>
          <a:custGeom>
            <a:avLst/>
            <a:gdLst/>
            <a:ahLst/>
            <a:cxnLst>
              <a:cxn ang="0">
                <a:pos x="521159" y="0"/>
              </a:cxn>
              <a:cxn ang="0">
                <a:pos x="772194" y="1728787"/>
              </a:cxn>
              <a:cxn ang="0">
                <a:pos x="0" y="987321"/>
              </a:cxn>
            </a:cxnLst>
            <a:pathLst>
              <a:path w="21600" h="32374" fill="none">
                <a:moveTo>
                  <a:pt x="11167" y="-1"/>
                </a:moveTo>
                <a:cubicBezTo>
                  <a:pt x="17642" y="3910"/>
                  <a:pt x="21600" y="10924"/>
                  <a:pt x="21600" y="18489"/>
                </a:cubicBezTo>
                <a:cubicBezTo>
                  <a:pt x="21600" y="23567"/>
                  <a:pt x="19810" y="28483"/>
                  <a:pt x="16545" y="32373"/>
                </a:cubicBezTo>
              </a:path>
              <a:path w="21600" h="32374" stroke="0">
                <a:moveTo>
                  <a:pt x="11167" y="-1"/>
                </a:moveTo>
                <a:cubicBezTo>
                  <a:pt x="17642" y="3910"/>
                  <a:pt x="21600" y="10924"/>
                  <a:pt x="21600" y="18489"/>
                </a:cubicBezTo>
                <a:cubicBezTo>
                  <a:pt x="21600" y="23567"/>
                  <a:pt x="19810" y="28483"/>
                  <a:pt x="16545" y="32373"/>
                </a:cubicBezTo>
                <a:lnTo>
                  <a:pt x="0" y="18489"/>
                </a:lnTo>
                <a:lnTo>
                  <a:pt x="11167" y="-1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25" name="Line 9"/>
          <p:cNvSpPr/>
          <p:nvPr/>
        </p:nvSpPr>
        <p:spPr>
          <a:xfrm>
            <a:off x="1982788" y="5518150"/>
            <a:ext cx="217487" cy="28733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26" name="Arc 10"/>
          <p:cNvSpPr/>
          <p:nvPr/>
        </p:nvSpPr>
        <p:spPr>
          <a:xfrm>
            <a:off x="2774950" y="3646488"/>
            <a:ext cx="904875" cy="863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04875" y="483736"/>
              </a:cxn>
              <a:cxn ang="0">
                <a:pos x="0" y="863600"/>
              </a:cxn>
            </a:cxnLst>
            <a:pathLst>
              <a:path w="19398" h="21600" fill="none">
                <a:moveTo>
                  <a:pt x="-1" y="0"/>
                </a:moveTo>
                <a:cubicBezTo>
                  <a:pt x="8245" y="0"/>
                  <a:pt x="15771" y="4694"/>
                  <a:pt x="19398" y="12098"/>
                </a:cubicBezTo>
              </a:path>
              <a:path w="19398" h="21600" stroke="0">
                <a:moveTo>
                  <a:pt x="-1" y="0"/>
                </a:moveTo>
                <a:cubicBezTo>
                  <a:pt x="8245" y="0"/>
                  <a:pt x="15771" y="4694"/>
                  <a:pt x="19398" y="1209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27" name="Line 11"/>
          <p:cNvSpPr/>
          <p:nvPr/>
        </p:nvSpPr>
        <p:spPr>
          <a:xfrm>
            <a:off x="3711575" y="4149725"/>
            <a:ext cx="215900" cy="360363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28" name="Arc 12"/>
          <p:cNvSpPr/>
          <p:nvPr/>
        </p:nvSpPr>
        <p:spPr>
          <a:xfrm flipH="1">
            <a:off x="974725" y="3717925"/>
            <a:ext cx="1079500" cy="647700"/>
          </a:xfrm>
          <a:custGeom>
            <a:avLst/>
            <a:gdLst/>
            <a:ahLst/>
            <a:cxnLst>
              <a:cxn ang="0">
                <a:pos x="357884" y="0"/>
              </a:cxn>
              <a:cxn ang="0">
                <a:pos x="1079500" y="647700"/>
              </a:cxn>
              <a:cxn ang="0">
                <a:pos x="0" y="647700"/>
              </a:cxn>
            </a:cxnLst>
            <a:pathLst>
              <a:path w="21600" h="20378" fill="none">
                <a:moveTo>
                  <a:pt x="7161" y="-1"/>
                </a:moveTo>
                <a:cubicBezTo>
                  <a:pt x="15811" y="3039"/>
                  <a:pt x="21600" y="11209"/>
                  <a:pt x="21600" y="20378"/>
                </a:cubicBezTo>
              </a:path>
              <a:path w="21600" h="20378" stroke="0">
                <a:moveTo>
                  <a:pt x="7161" y="-1"/>
                </a:moveTo>
                <a:cubicBezTo>
                  <a:pt x="15811" y="3039"/>
                  <a:pt x="21600" y="11209"/>
                  <a:pt x="21600" y="20378"/>
                </a:cubicBezTo>
                <a:lnTo>
                  <a:pt x="0" y="20378"/>
                </a:lnTo>
                <a:lnTo>
                  <a:pt x="7161" y="-1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29" name="Line 13"/>
          <p:cNvSpPr/>
          <p:nvPr/>
        </p:nvSpPr>
        <p:spPr>
          <a:xfrm flipV="1">
            <a:off x="1695450" y="3646488"/>
            <a:ext cx="504825" cy="71437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30" name="Arc 14"/>
          <p:cNvSpPr/>
          <p:nvPr/>
        </p:nvSpPr>
        <p:spPr>
          <a:xfrm rot="10800000">
            <a:off x="976313" y="4870450"/>
            <a:ext cx="1225550" cy="877888"/>
          </a:xfrm>
          <a:custGeom>
            <a:avLst/>
            <a:gdLst/>
            <a:ahLst/>
            <a:cxnLst>
              <a:cxn ang="0">
                <a:pos x="427240" y="0"/>
              </a:cxn>
              <a:cxn ang="0">
                <a:pos x="1225550" y="877888"/>
              </a:cxn>
              <a:cxn ang="0">
                <a:pos x="0" y="877888"/>
              </a:cxn>
            </a:cxnLst>
            <a:pathLst>
              <a:path w="21600" h="20245" fill="none">
                <a:moveTo>
                  <a:pt x="7529" y="0"/>
                </a:moveTo>
                <a:cubicBezTo>
                  <a:pt x="15988" y="3146"/>
                  <a:pt x="21600" y="11219"/>
                  <a:pt x="21600" y="20245"/>
                </a:cubicBezTo>
              </a:path>
              <a:path w="21600" h="20245" stroke="0">
                <a:moveTo>
                  <a:pt x="7529" y="0"/>
                </a:moveTo>
                <a:cubicBezTo>
                  <a:pt x="15988" y="3146"/>
                  <a:pt x="21600" y="11219"/>
                  <a:pt x="21600" y="20245"/>
                </a:cubicBezTo>
                <a:lnTo>
                  <a:pt x="0" y="20245"/>
                </a:lnTo>
                <a:lnTo>
                  <a:pt x="7529" y="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31" name="Line 15"/>
          <p:cNvSpPr/>
          <p:nvPr/>
        </p:nvSpPr>
        <p:spPr>
          <a:xfrm>
            <a:off x="1766888" y="5734050"/>
            <a:ext cx="433387" cy="7143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32" name="Arc 16"/>
          <p:cNvSpPr/>
          <p:nvPr/>
        </p:nvSpPr>
        <p:spPr>
          <a:xfrm rot="5400000">
            <a:off x="2765425" y="4733925"/>
            <a:ext cx="1079500" cy="1062038"/>
          </a:xfrm>
          <a:custGeom>
            <a:avLst/>
            <a:gdLst/>
            <a:ahLst/>
            <a:cxnLst>
              <a:cxn ang="0">
                <a:pos x="535702" y="0"/>
              </a:cxn>
              <a:cxn ang="0">
                <a:pos x="1079500" y="1062038"/>
              </a:cxn>
              <a:cxn ang="0">
                <a:pos x="0" y="1062038"/>
              </a:cxn>
            </a:cxnLst>
            <a:pathLst>
              <a:path w="21600" h="18753" fill="none">
                <a:moveTo>
                  <a:pt x="10718" y="0"/>
                </a:moveTo>
                <a:cubicBezTo>
                  <a:pt x="17447" y="3846"/>
                  <a:pt x="21600" y="11002"/>
                  <a:pt x="21600" y="18753"/>
                </a:cubicBezTo>
              </a:path>
              <a:path w="21600" h="18753" stroke="0">
                <a:moveTo>
                  <a:pt x="10718" y="0"/>
                </a:moveTo>
                <a:cubicBezTo>
                  <a:pt x="17447" y="3846"/>
                  <a:pt x="21600" y="11002"/>
                  <a:pt x="21600" y="18753"/>
                </a:cubicBezTo>
                <a:lnTo>
                  <a:pt x="0" y="18753"/>
                </a:lnTo>
                <a:lnTo>
                  <a:pt x="10718" y="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33" name="Line 17"/>
          <p:cNvSpPr/>
          <p:nvPr/>
        </p:nvSpPr>
        <p:spPr>
          <a:xfrm flipV="1">
            <a:off x="3856038" y="4941888"/>
            <a:ext cx="142875" cy="287337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34" name="Text Box 18"/>
          <p:cNvSpPr txBox="1"/>
          <p:nvPr/>
        </p:nvSpPr>
        <p:spPr>
          <a:xfrm>
            <a:off x="3135313" y="4510088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35" name="Text Box 19"/>
          <p:cNvSpPr txBox="1"/>
          <p:nvPr/>
        </p:nvSpPr>
        <p:spPr>
          <a:xfrm>
            <a:off x="1119188" y="3465513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36" name="Text Box 20"/>
          <p:cNvSpPr txBox="1"/>
          <p:nvPr/>
        </p:nvSpPr>
        <p:spPr>
          <a:xfrm>
            <a:off x="3567113" y="3717925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37" name="Text Box 21"/>
          <p:cNvSpPr txBox="1"/>
          <p:nvPr/>
        </p:nvSpPr>
        <p:spPr>
          <a:xfrm>
            <a:off x="1119188" y="5446713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38" name="Text Box 22"/>
          <p:cNvSpPr txBox="1"/>
          <p:nvPr/>
        </p:nvSpPr>
        <p:spPr>
          <a:xfrm>
            <a:off x="3495675" y="5446713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0439" name="Text Box 23"/>
          <p:cNvSpPr txBox="1"/>
          <p:nvPr/>
        </p:nvSpPr>
        <p:spPr>
          <a:xfrm>
            <a:off x="1479550" y="4438650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0440" name="Group 24"/>
          <p:cNvGrpSpPr/>
          <p:nvPr/>
        </p:nvGrpSpPr>
        <p:grpSpPr>
          <a:xfrm>
            <a:off x="323850" y="620713"/>
            <a:ext cx="6264275" cy="2089150"/>
            <a:chOff x="295" y="2069"/>
            <a:chExt cx="3946" cy="1316"/>
          </a:xfrm>
        </p:grpSpPr>
        <p:grpSp>
          <p:nvGrpSpPr>
            <p:cNvPr id="95264" name="Group 25"/>
            <p:cNvGrpSpPr/>
            <p:nvPr/>
          </p:nvGrpSpPr>
          <p:grpSpPr>
            <a:xfrm>
              <a:off x="295" y="2069"/>
              <a:ext cx="3946" cy="1316"/>
              <a:chOff x="720" y="480"/>
              <a:chExt cx="4224" cy="1390"/>
            </a:xfrm>
          </p:grpSpPr>
          <p:graphicFrame>
            <p:nvGraphicFramePr>
              <p:cNvPr id="95266" name="Object 26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2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5267" name="Object 27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5265" name="Text Box 28"/>
            <p:cNvSpPr txBox="1"/>
            <p:nvPr/>
          </p:nvSpPr>
          <p:spPr>
            <a:xfrm>
              <a:off x="340" y="2115"/>
              <a:ext cx="3765" cy="11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上图所示的状态转换图的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itchFamily="2" charset="-122"/>
                </a:rPr>
                <a:t>S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及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baseline="30000" dirty="0">
                  <a:solidFill>
                    <a:srgbClr val="FF0000"/>
                  </a:solidFill>
                  <a:latin typeface="宋体" pitchFamily="2" charset="-122"/>
                </a:rPr>
                <a:t>*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如下：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 = {0,1,2,3}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∑= {a,b}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∑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= {</a:t>
              </a:r>
              <a:r>
                <a:rPr lang="el-GR" altLang="zh-CN" sz="2000" b="1" dirty="0">
                  <a:solidFill>
                    <a:schemeClr val="tx2"/>
                  </a:solidFill>
                  <a:latin typeface="宋体" pitchFamily="2" charset="-122"/>
                </a:rPr>
                <a:t>α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| </a:t>
              </a:r>
              <a:r>
                <a:rPr lang="el-GR" altLang="zh-CN" sz="2000" b="1" dirty="0">
                  <a:solidFill>
                    <a:schemeClr val="tx2"/>
                  </a:solidFill>
                  <a:latin typeface="宋体" pitchFamily="2" charset="-122"/>
                </a:rPr>
                <a:t>α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为</a:t>
              </a:r>
              <a:r>
                <a:rPr lang="el-GR" altLang="zh-CN" sz="20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，或者</a:t>
              </a:r>
              <a:r>
                <a:rPr lang="el-GR" altLang="zh-CN" sz="2000" b="1" dirty="0">
                  <a:solidFill>
                    <a:schemeClr val="tx2"/>
                  </a:solidFill>
                </a:rPr>
                <a:t>α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为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a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、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b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的任意组合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0445" name="Rectangle 29"/>
          <p:cNvSpPr/>
          <p:nvPr/>
        </p:nvSpPr>
        <p:spPr>
          <a:xfrm>
            <a:off x="5580063" y="3213100"/>
            <a:ext cx="2520950" cy="19304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从初态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0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到终态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有如图所示的通路，箭弧上到标记符连接起来的字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aa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属于∑*，所以右图所示的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DFA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可以识别字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aa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60446" name="Line 30"/>
          <p:cNvSpPr/>
          <p:nvPr/>
        </p:nvSpPr>
        <p:spPr>
          <a:xfrm flipH="1">
            <a:off x="3708400" y="4076700"/>
            <a:ext cx="1871663" cy="0"/>
          </a:xfrm>
          <a:prstGeom prst="line">
            <a:avLst/>
          </a:prstGeom>
          <a:ln w="28575" cap="flat" cmpd="sng">
            <a:solidFill>
              <a:srgbClr val="FF0066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60447" name="Rectangle 31"/>
          <p:cNvSpPr/>
          <p:nvPr/>
        </p:nvSpPr>
        <p:spPr>
          <a:xfrm>
            <a:off x="5508625" y="3573463"/>
            <a:ext cx="2520950" cy="22352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同理：从初态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0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到终态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还有如图所示的通路，箭弧上到标记符连接起来的字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bba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属于∑*，所以右图所示的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DFA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可以识别字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bba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60448" name="Line 32"/>
          <p:cNvSpPr/>
          <p:nvPr/>
        </p:nvSpPr>
        <p:spPr>
          <a:xfrm flipH="1">
            <a:off x="3779838" y="5300663"/>
            <a:ext cx="1728787" cy="0"/>
          </a:xfrm>
          <a:prstGeom prst="line">
            <a:avLst/>
          </a:prstGeom>
          <a:ln w="28575" cap="flat" cmpd="sng">
            <a:solidFill>
              <a:srgbClr val="FF0066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60449" name="Arc 33"/>
          <p:cNvSpPr/>
          <p:nvPr/>
        </p:nvSpPr>
        <p:spPr>
          <a:xfrm rot="-10671687" flipH="1">
            <a:off x="4356100" y="4508500"/>
            <a:ext cx="273050" cy="358775"/>
          </a:xfrm>
          <a:custGeom>
            <a:avLst/>
            <a:gdLst/>
            <a:ahLst/>
            <a:cxnLst>
              <a:cxn ang="0">
                <a:pos x="98177" y="5631"/>
              </a:cxn>
              <a:cxn ang="0">
                <a:pos x="0" y="235654"/>
              </a:cxn>
              <a:cxn ang="0">
                <a:pos x="132991" y="179388"/>
              </a:cxn>
            </a:cxnLst>
            <a:pathLst>
              <a:path w="42110" h="43200" fill="none">
                <a:moveTo>
                  <a:pt x="15140" y="677"/>
                </a:moveTo>
                <a:cubicBezTo>
                  <a:pt x="16895" y="227"/>
                  <a:pt x="18698" y="-1"/>
                  <a:pt x="20510" y="0"/>
                </a:cubicBezTo>
                <a:cubicBezTo>
                  <a:pt x="32439" y="0"/>
                  <a:pt x="42110" y="9670"/>
                  <a:pt x="42110" y="21600"/>
                </a:cubicBezTo>
                <a:cubicBezTo>
                  <a:pt x="42110" y="33529"/>
                  <a:pt x="32439" y="43200"/>
                  <a:pt x="20510" y="43200"/>
                </a:cubicBezTo>
                <a:cubicBezTo>
                  <a:pt x="11191" y="43200"/>
                  <a:pt x="2922" y="37223"/>
                  <a:pt x="0" y="28374"/>
                </a:cubicBezTo>
              </a:path>
              <a:path w="42110" h="43200" stroke="0">
                <a:moveTo>
                  <a:pt x="15140" y="677"/>
                </a:moveTo>
                <a:cubicBezTo>
                  <a:pt x="16895" y="227"/>
                  <a:pt x="18698" y="-1"/>
                  <a:pt x="20510" y="0"/>
                </a:cubicBezTo>
                <a:cubicBezTo>
                  <a:pt x="32439" y="0"/>
                  <a:pt x="42110" y="9670"/>
                  <a:pt x="42110" y="21600"/>
                </a:cubicBezTo>
                <a:cubicBezTo>
                  <a:pt x="42110" y="33529"/>
                  <a:pt x="32439" y="43200"/>
                  <a:pt x="20510" y="43200"/>
                </a:cubicBezTo>
                <a:cubicBezTo>
                  <a:pt x="11191" y="43200"/>
                  <a:pt x="2922" y="37223"/>
                  <a:pt x="0" y="28374"/>
                </a:cubicBezTo>
                <a:lnTo>
                  <a:pt x="20510" y="21600"/>
                </a:lnTo>
                <a:lnTo>
                  <a:pt x="15140" y="677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50" name="Line 34"/>
          <p:cNvSpPr/>
          <p:nvPr/>
        </p:nvSpPr>
        <p:spPr>
          <a:xfrm rot="-5400000" flipV="1">
            <a:off x="4364038" y="4779963"/>
            <a:ext cx="60325" cy="1111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0451" name="Text Box 35"/>
          <p:cNvSpPr txBox="1"/>
          <p:nvPr/>
        </p:nvSpPr>
        <p:spPr>
          <a:xfrm>
            <a:off x="4572000" y="4437063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000"/>
                            </p:stCondLst>
                            <p:childTnLst>
                              <p:par>
                                <p:cTn id="9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000"/>
                            </p:stCondLst>
                            <p:childTnLst>
                              <p:par>
                                <p:cTn id="10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8000"/>
                            </p:stCondLst>
                            <p:childTnLst>
                              <p:par>
                                <p:cTn id="10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2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3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10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20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000"/>
                            </p:stCondLst>
                            <p:childTnLst>
                              <p:par>
                                <p:cTn id="14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20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6000"/>
                            </p:stCondLst>
                            <p:childTnLst>
                              <p:par>
                                <p:cTn id="15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20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2000" fill="hold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8000"/>
                            </p:stCondLst>
                            <p:childTnLst>
                              <p:par>
                                <p:cTn id="15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000" fill="hold"/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2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8" dur="2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 animBg="1"/>
      <p:bldP spid="60420" grpId="0" animBg="1"/>
      <p:bldP spid="60421" grpId="0" animBg="1"/>
      <p:bldP spid="60422" grpId="0" animBg="1"/>
      <p:bldP spid="60423" grpId="0" animBg="1"/>
      <p:bldP spid="60424" grpId="0" animBg="1"/>
      <p:bldP spid="60425" grpId="0" animBg="1"/>
      <p:bldP spid="60426" grpId="0" animBg="1"/>
      <p:bldP spid="60427" grpId="0" animBg="1"/>
      <p:bldP spid="60428" grpId="0" animBg="1"/>
      <p:bldP spid="60429" grpId="0" animBg="1"/>
      <p:bldP spid="60430" grpId="0" animBg="1"/>
      <p:bldP spid="60431" grpId="0" animBg="1"/>
      <p:bldP spid="60432" grpId="0" animBg="1"/>
      <p:bldP spid="60433" grpId="0" animBg="1"/>
      <p:bldP spid="60434" grpId="0" animBg="1"/>
      <p:bldP spid="60435" grpId="0" animBg="1"/>
      <p:bldP spid="60436" grpId="0" animBg="1"/>
      <p:bldP spid="60437" grpId="0" animBg="1"/>
      <p:bldP spid="60438" grpId="0" animBg="1"/>
      <p:bldP spid="60439" grpId="0" animBg="1"/>
      <p:bldP spid="60445" grpId="0" animBg="1"/>
      <p:bldP spid="60445" grpId="1" animBg="1"/>
      <p:bldP spid="60446" grpId="0" animBg="1"/>
      <p:bldP spid="60446" grpId="1" animBg="1"/>
      <p:bldP spid="60447" grpId="0" animBg="1"/>
      <p:bldP spid="60448" grpId="0" animBg="1"/>
      <p:bldP spid="60449" grpId="0" animBg="1"/>
      <p:bldP spid="60450" grpId="0" animBg="1"/>
      <p:bldP spid="6045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442" name="Group 2"/>
          <p:cNvGrpSpPr/>
          <p:nvPr/>
        </p:nvGrpSpPr>
        <p:grpSpPr>
          <a:xfrm>
            <a:off x="468313" y="549275"/>
            <a:ext cx="7559675" cy="2447925"/>
            <a:chOff x="720" y="480"/>
            <a:chExt cx="4224" cy="1390"/>
          </a:xfrm>
        </p:grpSpPr>
        <p:graphicFrame>
          <p:nvGraphicFramePr>
            <p:cNvPr id="96331" name="Object 3"/>
            <p:cNvGraphicFramePr>
              <a:graphicFrameLocks noChangeAspect="1"/>
            </p:cNvGraphicFramePr>
            <p:nvPr/>
          </p:nvGraphicFramePr>
          <p:xfrm>
            <a:off x="720" y="480"/>
            <a:ext cx="4224" cy="1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" imgW="7581900" imgH="2768600" progId="Photoshop.Image.7">
                    <p:embed/>
                  </p:oleObj>
                </mc:Choice>
                <mc:Fallback>
                  <p:oleObj name="" r:id="rId1" imgW="7581900" imgH="2768600" progId="Photoshop.Image.7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20" y="480"/>
                          <a:ext cx="4224" cy="1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332" name="Object 4"/>
            <p:cNvGraphicFramePr>
              <a:graphicFrameLocks noChangeAspect="1"/>
            </p:cNvGraphicFramePr>
            <p:nvPr/>
          </p:nvGraphicFramePr>
          <p:xfrm>
            <a:off x="2873" y="1028"/>
            <a:ext cx="15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3" imgW="114300" imgH="215900" progId="Equation.3">
                    <p:embed/>
                  </p:oleObj>
                </mc:Choice>
                <mc:Fallback>
                  <p:oleObj name="" r:id="rId3" imgW="114300" imgH="2159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73" y="1028"/>
                          <a:ext cx="157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45" name="Text Box 5"/>
          <p:cNvSpPr txBox="1"/>
          <p:nvPr/>
        </p:nvSpPr>
        <p:spPr>
          <a:xfrm>
            <a:off x="684213" y="765175"/>
            <a:ext cx="69834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例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4-13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：科学表示法中数字常量的</a:t>
            </a:r>
            <a:r>
              <a:rPr lang="zh-CN" altLang="en-US" sz="2000" b="1" dirty="0">
                <a:solidFill>
                  <a:schemeClr val="hlink"/>
                </a:solidFill>
                <a:latin typeface="宋体" pitchFamily="2" charset="-122"/>
              </a:rPr>
              <a:t>正则表达式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对应的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DFA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：   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1446" name="Group 6"/>
          <p:cNvGrpSpPr/>
          <p:nvPr/>
        </p:nvGrpSpPr>
        <p:grpSpPr>
          <a:xfrm>
            <a:off x="34925" y="4722813"/>
            <a:ext cx="3600450" cy="1370012"/>
            <a:chOff x="567" y="617"/>
            <a:chExt cx="2268" cy="863"/>
          </a:xfrm>
        </p:grpSpPr>
        <p:sp>
          <p:nvSpPr>
            <p:cNvPr id="96322" name="AutoShape 7"/>
            <p:cNvSpPr/>
            <p:nvPr/>
          </p:nvSpPr>
          <p:spPr>
            <a:xfrm>
              <a:off x="2381" y="1116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323" name="Line 8"/>
            <p:cNvSpPr/>
            <p:nvPr/>
          </p:nvSpPr>
          <p:spPr>
            <a:xfrm>
              <a:off x="567" y="1297"/>
              <a:ext cx="6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6324" name="Line 9"/>
            <p:cNvSpPr/>
            <p:nvPr/>
          </p:nvSpPr>
          <p:spPr>
            <a:xfrm>
              <a:off x="1565" y="1297"/>
              <a:ext cx="81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6325" name="Group 10"/>
            <p:cNvGrpSpPr/>
            <p:nvPr/>
          </p:nvGrpSpPr>
          <p:grpSpPr>
            <a:xfrm>
              <a:off x="2427" y="844"/>
              <a:ext cx="318" cy="315"/>
              <a:chOff x="1292" y="1890"/>
              <a:chExt cx="318" cy="315"/>
            </a:xfrm>
          </p:grpSpPr>
          <p:sp>
            <p:nvSpPr>
              <p:cNvPr id="96329" name="Arc 11"/>
              <p:cNvSpPr/>
              <p:nvPr/>
            </p:nvSpPr>
            <p:spPr>
              <a:xfrm>
                <a:off x="1292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30" name="Line 12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6326" name="Text Box 13"/>
            <p:cNvSpPr txBox="1"/>
            <p:nvPr/>
          </p:nvSpPr>
          <p:spPr>
            <a:xfrm>
              <a:off x="1565" y="1026"/>
              <a:ext cx="6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digit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6327" name="Text Box 14"/>
            <p:cNvSpPr txBox="1"/>
            <p:nvPr/>
          </p:nvSpPr>
          <p:spPr>
            <a:xfrm>
              <a:off x="2291" y="617"/>
              <a:ext cx="5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digit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6328" name="AutoShape 15"/>
            <p:cNvSpPr/>
            <p:nvPr/>
          </p:nvSpPr>
          <p:spPr>
            <a:xfrm>
              <a:off x="1202" y="1117"/>
              <a:ext cx="363" cy="363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sp>
        <p:nvSpPr>
          <p:cNvPr id="61456" name="Rectangle 16"/>
          <p:cNvSpPr/>
          <p:nvPr/>
        </p:nvSpPr>
        <p:spPr>
          <a:xfrm>
            <a:off x="560388" y="3789363"/>
            <a:ext cx="2498725" cy="406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nat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对应的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DFA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如下图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1457" name="Text Box 17"/>
          <p:cNvSpPr txBox="1"/>
          <p:nvPr/>
        </p:nvSpPr>
        <p:spPr>
          <a:xfrm>
            <a:off x="611188" y="1125538"/>
            <a:ext cx="6769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       digit = [0-9]  </a:t>
            </a:r>
            <a:endParaRPr lang="en-US" altLang="zh-CN" sz="2000" b="1" i="1" dirty="0">
              <a:solidFill>
                <a:srgbClr val="006600"/>
              </a:solidFill>
              <a:latin typeface="宋体" pitchFamily="2" charset="-122"/>
            </a:endParaRPr>
          </a:p>
        </p:txBody>
      </p:sp>
      <p:sp>
        <p:nvSpPr>
          <p:cNvPr id="61458" name="Text Box 18"/>
          <p:cNvSpPr txBox="1"/>
          <p:nvPr/>
        </p:nvSpPr>
        <p:spPr>
          <a:xfrm>
            <a:off x="973138" y="1519238"/>
            <a:ext cx="2951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nat = digit </a:t>
            </a:r>
            <a:r>
              <a:rPr lang="en-US" altLang="zh-CN" sz="2000" b="1" baseline="30000" dirty="0">
                <a:solidFill>
                  <a:schemeClr val="tx2"/>
                </a:solidFill>
                <a:latin typeface="宋体" pitchFamily="2" charset="-122"/>
              </a:rPr>
              <a:t>+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   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1459" name="Text Box 19"/>
          <p:cNvSpPr txBox="1"/>
          <p:nvPr/>
        </p:nvSpPr>
        <p:spPr>
          <a:xfrm>
            <a:off x="827088" y="1952625"/>
            <a:ext cx="6769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     signedNat = ( +|- )? nat</a:t>
            </a:r>
            <a:endParaRPr lang="en-US" altLang="zh-CN" sz="2000" b="1" i="1" dirty="0">
              <a:solidFill>
                <a:srgbClr val="006600"/>
              </a:solidFill>
              <a:latin typeface="宋体" pitchFamily="2" charset="-122"/>
            </a:endParaRPr>
          </a:p>
        </p:txBody>
      </p:sp>
      <p:sp>
        <p:nvSpPr>
          <p:cNvPr id="61460" name="Text Box 20"/>
          <p:cNvSpPr txBox="1"/>
          <p:nvPr/>
        </p:nvSpPr>
        <p:spPr>
          <a:xfrm>
            <a:off x="1476375" y="2384425"/>
            <a:ext cx="7416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number = signedNat(“·”nat)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？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1461" name="Rectangle 21"/>
          <p:cNvSpPr/>
          <p:nvPr/>
        </p:nvSpPr>
        <p:spPr>
          <a:xfrm>
            <a:off x="5076825" y="3789363"/>
            <a:ext cx="3270250" cy="406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signedNat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对应的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DFA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如下图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1462" name="Rectangle 22"/>
          <p:cNvSpPr/>
          <p:nvPr/>
        </p:nvSpPr>
        <p:spPr>
          <a:xfrm>
            <a:off x="142875" y="404813"/>
            <a:ext cx="9001125" cy="8636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加上可选的小数部分，</a:t>
            </a:r>
            <a:r>
              <a:rPr lang="zh-CN" altLang="en-US" sz="2000" b="1" dirty="0">
                <a:solidFill>
                  <a:schemeClr val="tx2"/>
                </a:solidFill>
              </a:rPr>
              <a:t>数字常量的</a:t>
            </a:r>
            <a:r>
              <a:rPr lang="zh-CN" altLang="en-US" sz="2000" b="1" dirty="0">
                <a:solidFill>
                  <a:schemeClr val="hlink"/>
                </a:solidFill>
              </a:rPr>
              <a:t>正则表达式</a:t>
            </a:r>
            <a:r>
              <a:rPr lang="en-US" altLang="zh-CN" sz="2000" b="1" dirty="0">
                <a:solidFill>
                  <a:schemeClr val="tx2"/>
                </a:solidFill>
              </a:rPr>
              <a:t>number = signedNat(“·”nat)</a:t>
            </a:r>
            <a:r>
              <a:rPr lang="zh-CN" altLang="en-US" sz="2000" b="1" dirty="0">
                <a:solidFill>
                  <a:schemeClr val="tx2"/>
                </a:solidFill>
              </a:rPr>
              <a:t>？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对应的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DFA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如下图：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96268" name="Line 26"/>
          <p:cNvSpPr/>
          <p:nvPr/>
        </p:nvSpPr>
        <p:spPr>
          <a:xfrm>
            <a:off x="3852863" y="5588000"/>
            <a:ext cx="10080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6269" name="Text Box 32"/>
          <p:cNvSpPr txBox="1"/>
          <p:nvPr/>
        </p:nvSpPr>
        <p:spPr>
          <a:xfrm>
            <a:off x="8245475" y="450850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digit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96270" name="Group 109"/>
          <p:cNvGrpSpPr/>
          <p:nvPr/>
        </p:nvGrpSpPr>
        <p:grpSpPr>
          <a:xfrm>
            <a:off x="4860925" y="4868863"/>
            <a:ext cx="4105275" cy="1406525"/>
            <a:chOff x="3062" y="3067"/>
            <a:chExt cx="2586" cy="886"/>
          </a:xfrm>
        </p:grpSpPr>
        <p:sp>
          <p:nvSpPr>
            <p:cNvPr id="96304" name="AutoShape 25"/>
            <p:cNvSpPr/>
            <p:nvPr/>
          </p:nvSpPr>
          <p:spPr>
            <a:xfrm>
              <a:off x="5284" y="3339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6305" name="Group 28"/>
            <p:cNvGrpSpPr/>
            <p:nvPr/>
          </p:nvGrpSpPr>
          <p:grpSpPr>
            <a:xfrm>
              <a:off x="5330" y="3067"/>
              <a:ext cx="318" cy="315"/>
              <a:chOff x="1292" y="1890"/>
              <a:chExt cx="318" cy="315"/>
            </a:xfrm>
          </p:grpSpPr>
          <p:sp>
            <p:nvSpPr>
              <p:cNvPr id="96320" name="Arc 29"/>
              <p:cNvSpPr/>
              <p:nvPr/>
            </p:nvSpPr>
            <p:spPr>
              <a:xfrm>
                <a:off x="1292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21" name="Line 30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6306" name="Group 108"/>
            <p:cNvGrpSpPr/>
            <p:nvPr/>
          </p:nvGrpSpPr>
          <p:grpSpPr>
            <a:xfrm>
              <a:off x="3062" y="3096"/>
              <a:ext cx="2313" cy="857"/>
              <a:chOff x="3062" y="3096"/>
              <a:chExt cx="2313" cy="857"/>
            </a:xfrm>
          </p:grpSpPr>
          <p:sp>
            <p:nvSpPr>
              <p:cNvPr id="96307" name="Text Box 24"/>
              <p:cNvSpPr txBox="1"/>
              <p:nvPr/>
            </p:nvSpPr>
            <p:spPr>
              <a:xfrm>
                <a:off x="3470" y="3112"/>
                <a:ext cx="58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+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96308" name="Line 27"/>
              <p:cNvSpPr/>
              <p:nvPr/>
            </p:nvSpPr>
            <p:spPr>
              <a:xfrm>
                <a:off x="4468" y="3520"/>
                <a:ext cx="816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6309" name="Text Box 31"/>
              <p:cNvSpPr txBox="1"/>
              <p:nvPr/>
            </p:nvSpPr>
            <p:spPr>
              <a:xfrm>
                <a:off x="4468" y="3249"/>
                <a:ext cx="6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digit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96310" name="AutoShape 33"/>
              <p:cNvSpPr/>
              <p:nvPr/>
            </p:nvSpPr>
            <p:spPr>
              <a:xfrm>
                <a:off x="4105" y="3340"/>
                <a:ext cx="363" cy="363"/>
              </a:xfrm>
              <a:prstGeom prst="flowChartConnector">
                <a:avLst/>
              </a:prstGeom>
              <a:solidFill>
                <a:schemeClr val="bg1">
                  <a:alpha val="0"/>
                </a:scheme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96311" name="AutoShape 34"/>
              <p:cNvSpPr/>
              <p:nvPr/>
            </p:nvSpPr>
            <p:spPr>
              <a:xfrm>
                <a:off x="3062" y="3339"/>
                <a:ext cx="363" cy="363"/>
              </a:xfrm>
              <a:prstGeom prst="flowChartConnector">
                <a:avLst/>
              </a:prstGeom>
              <a:solidFill>
                <a:schemeClr val="bg1">
                  <a:alpha val="0"/>
                </a:scheme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96312" name="Arc 35"/>
              <p:cNvSpPr/>
              <p:nvPr/>
            </p:nvSpPr>
            <p:spPr>
              <a:xfrm>
                <a:off x="3425" y="3339"/>
                <a:ext cx="544" cy="228"/>
              </a:xfrm>
              <a:custGeom>
                <a:avLst/>
                <a:gdLst/>
                <a:ahLst/>
                <a:cxnLst>
                  <a:cxn ang="0">
                    <a:pos x="0" y="107"/>
                  </a:cxn>
                  <a:cxn ang="0">
                    <a:pos x="544" y="35"/>
                  </a:cxn>
                  <a:cxn ang="0">
                    <a:pos x="335" y="228"/>
                  </a:cxn>
                </a:cxnLst>
                <a:pathLst>
                  <a:path w="29797" h="21600" fill="none">
                    <a:moveTo>
                      <a:pt x="-1" y="10173"/>
                    </a:moveTo>
                    <a:cubicBezTo>
                      <a:pt x="3944" y="3845"/>
                      <a:pt x="10873" y="-1"/>
                      <a:pt x="18330" y="0"/>
                    </a:cubicBezTo>
                    <a:cubicBezTo>
                      <a:pt x="22385" y="0"/>
                      <a:pt x="26359" y="1141"/>
                      <a:pt x="29796" y="3295"/>
                    </a:cubicBezTo>
                  </a:path>
                  <a:path w="29797" h="21600" stroke="0">
                    <a:moveTo>
                      <a:pt x="-1" y="10173"/>
                    </a:moveTo>
                    <a:cubicBezTo>
                      <a:pt x="3944" y="3845"/>
                      <a:pt x="10873" y="-1"/>
                      <a:pt x="18330" y="0"/>
                    </a:cubicBezTo>
                    <a:cubicBezTo>
                      <a:pt x="22385" y="0"/>
                      <a:pt x="26359" y="1141"/>
                      <a:pt x="29796" y="3295"/>
                    </a:cubicBezTo>
                    <a:lnTo>
                      <a:pt x="18330" y="21600"/>
                    </a:lnTo>
                    <a:lnTo>
                      <a:pt x="-1" y="101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13" name="Arc 36"/>
              <p:cNvSpPr/>
              <p:nvPr/>
            </p:nvSpPr>
            <p:spPr>
              <a:xfrm rot="10800000">
                <a:off x="3425" y="3477"/>
                <a:ext cx="592" cy="227"/>
              </a:xfrm>
              <a:custGeom>
                <a:avLst/>
                <a:gdLst/>
                <a:ahLst/>
                <a:cxnLst>
                  <a:cxn ang="0">
                    <a:pos x="0" y="45"/>
                  </a:cxn>
                  <a:cxn ang="0">
                    <a:pos x="592" y="106"/>
                  </a:cxn>
                  <a:cxn ang="0">
                    <a:pos x="244" y="227"/>
                  </a:cxn>
                </a:cxnLst>
                <a:pathLst>
                  <a:path w="31142" h="21600" fill="none">
                    <a:moveTo>
                      <a:pt x="0" y="4238"/>
                    </a:moveTo>
                    <a:cubicBezTo>
                      <a:pt x="3718" y="1485"/>
                      <a:pt x="8223" y="-1"/>
                      <a:pt x="12850" y="0"/>
                    </a:cubicBezTo>
                    <a:cubicBezTo>
                      <a:pt x="20281" y="0"/>
                      <a:pt x="27190" y="3819"/>
                      <a:pt x="31142" y="10112"/>
                    </a:cubicBezTo>
                  </a:path>
                  <a:path w="31142" h="21600" stroke="0">
                    <a:moveTo>
                      <a:pt x="0" y="4238"/>
                    </a:moveTo>
                    <a:cubicBezTo>
                      <a:pt x="3718" y="1485"/>
                      <a:pt x="8223" y="-1"/>
                      <a:pt x="12850" y="0"/>
                    </a:cubicBezTo>
                    <a:cubicBezTo>
                      <a:pt x="20281" y="0"/>
                      <a:pt x="27190" y="3819"/>
                      <a:pt x="31142" y="10112"/>
                    </a:cubicBezTo>
                    <a:lnTo>
                      <a:pt x="12850" y="21600"/>
                    </a:lnTo>
                    <a:lnTo>
                      <a:pt x="0" y="423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14" name="Text Box 37"/>
              <p:cNvSpPr txBox="1"/>
              <p:nvPr/>
            </p:nvSpPr>
            <p:spPr>
              <a:xfrm>
                <a:off x="4014" y="3679"/>
                <a:ext cx="58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digit</a:t>
                </a:r>
                <a:endParaRPr lang="en-US" altLang="zh-CN" sz="20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96315" name="Text Box 38"/>
              <p:cNvSpPr txBox="1"/>
              <p:nvPr/>
            </p:nvSpPr>
            <p:spPr>
              <a:xfrm>
                <a:off x="3516" y="3475"/>
                <a:ext cx="58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tx2"/>
                    </a:solidFill>
                    <a:latin typeface="宋体" pitchFamily="2" charset="-122"/>
                  </a:rPr>
                  <a:t>-</a:t>
                </a:r>
                <a:endParaRPr lang="en-US" altLang="zh-CN" sz="2000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  <p:sp>
            <p:nvSpPr>
              <p:cNvPr id="96316" name="Arc 39"/>
              <p:cNvSpPr/>
              <p:nvPr/>
            </p:nvSpPr>
            <p:spPr>
              <a:xfrm rot="10555304">
                <a:off x="3287" y="3096"/>
                <a:ext cx="1911" cy="857"/>
              </a:xfrm>
              <a:custGeom>
                <a:avLst/>
                <a:gdLst/>
                <a:ahLst/>
                <a:cxnLst>
                  <a:cxn ang="0">
                    <a:pos x="0" y="128"/>
                  </a:cxn>
                  <a:cxn ang="0">
                    <a:pos x="1911" y="330"/>
                  </a:cxn>
                  <a:cxn ang="0">
                    <a:pos x="764" y="857"/>
                  </a:cxn>
                </a:cxnLst>
                <a:pathLst>
                  <a:path w="28391" h="21600" fill="none">
                    <a:moveTo>
                      <a:pt x="0" y="3226"/>
                    </a:moveTo>
                    <a:cubicBezTo>
                      <a:pt x="3412" y="1117"/>
                      <a:pt x="7344" y="-1"/>
                      <a:pt x="11356" y="0"/>
                    </a:cubicBezTo>
                    <a:cubicBezTo>
                      <a:pt x="18013" y="0"/>
                      <a:pt x="24298" y="3069"/>
                      <a:pt x="28391" y="8319"/>
                    </a:cubicBezTo>
                  </a:path>
                  <a:path w="28391" h="21600" stroke="0">
                    <a:moveTo>
                      <a:pt x="0" y="3226"/>
                    </a:moveTo>
                    <a:cubicBezTo>
                      <a:pt x="3412" y="1117"/>
                      <a:pt x="7344" y="-1"/>
                      <a:pt x="11356" y="0"/>
                    </a:cubicBezTo>
                    <a:cubicBezTo>
                      <a:pt x="18013" y="0"/>
                      <a:pt x="24298" y="3069"/>
                      <a:pt x="28391" y="8319"/>
                    </a:cubicBezTo>
                    <a:lnTo>
                      <a:pt x="11356" y="21600"/>
                    </a:lnTo>
                    <a:lnTo>
                      <a:pt x="0" y="322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6317" name="Line 40"/>
              <p:cNvSpPr/>
              <p:nvPr/>
            </p:nvSpPr>
            <p:spPr>
              <a:xfrm flipV="1">
                <a:off x="5239" y="3702"/>
                <a:ext cx="136" cy="4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6318" name="Line 41"/>
              <p:cNvSpPr/>
              <p:nvPr/>
            </p:nvSpPr>
            <p:spPr>
              <a:xfrm flipV="1">
                <a:off x="4014" y="3611"/>
                <a:ext cx="136" cy="4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6319" name="Line 42"/>
              <p:cNvSpPr/>
              <p:nvPr/>
            </p:nvSpPr>
            <p:spPr>
              <a:xfrm>
                <a:off x="3969" y="3384"/>
                <a:ext cx="176" cy="9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61515" name="Group 75"/>
          <p:cNvGrpSpPr/>
          <p:nvPr/>
        </p:nvGrpSpPr>
        <p:grpSpPr>
          <a:xfrm>
            <a:off x="250825" y="1557338"/>
            <a:ext cx="8712200" cy="1766887"/>
            <a:chOff x="0" y="1525"/>
            <a:chExt cx="5488" cy="1113"/>
          </a:xfrm>
        </p:grpSpPr>
        <p:grpSp>
          <p:nvGrpSpPr>
            <p:cNvPr id="96272" name="Group 76"/>
            <p:cNvGrpSpPr/>
            <p:nvPr/>
          </p:nvGrpSpPr>
          <p:grpSpPr>
            <a:xfrm>
              <a:off x="0" y="1525"/>
              <a:ext cx="5488" cy="1113"/>
              <a:chOff x="204" y="2432"/>
              <a:chExt cx="5488" cy="1113"/>
            </a:xfrm>
          </p:grpSpPr>
          <p:grpSp>
            <p:nvGrpSpPr>
              <p:cNvPr id="96274" name="Group 77"/>
              <p:cNvGrpSpPr/>
              <p:nvPr/>
            </p:nvGrpSpPr>
            <p:grpSpPr>
              <a:xfrm>
                <a:off x="204" y="2432"/>
                <a:ext cx="3311" cy="1113"/>
                <a:chOff x="1066" y="1661"/>
                <a:chExt cx="3311" cy="1113"/>
              </a:xfrm>
            </p:grpSpPr>
            <p:sp>
              <p:nvSpPr>
                <p:cNvPr id="96285" name="Text Box 78"/>
                <p:cNvSpPr txBox="1"/>
                <p:nvPr/>
              </p:nvSpPr>
              <p:spPr>
                <a:xfrm>
                  <a:off x="2109" y="1933"/>
                  <a:ext cx="58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+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86" name="AutoShape 79"/>
                <p:cNvSpPr/>
                <p:nvPr/>
              </p:nvSpPr>
              <p:spPr>
                <a:xfrm>
                  <a:off x="3923" y="2160"/>
                  <a:ext cx="363" cy="36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3" y="6"/>
                    </a:cxn>
                    <a:cxn ang="0">
                      <a:pos x="0" y="3"/>
                    </a:cxn>
                    <a:cxn ang="0">
                      <a:pos x="1" y="3"/>
                    </a:cxn>
                    <a:cxn ang="0">
                      <a:pos x="3" y="5"/>
                    </a:cxn>
                    <a:cxn ang="0">
                      <a:pos x="5" y="3"/>
                    </a:cxn>
                    <a:cxn ang="0">
                      <a:pos x="3" y="1"/>
                    </a:cxn>
                    <a:cxn ang="0">
                      <a:pos x="1" y="3"/>
                    </a:cxn>
                  </a:cxnLst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753" y="10800"/>
                      </a:moveTo>
                      <a:cubicBezTo>
                        <a:pt x="2753" y="15244"/>
                        <a:pt x="6356" y="18847"/>
                        <a:pt x="10800" y="18847"/>
                      </a:cubicBezTo>
                      <a:cubicBezTo>
                        <a:pt x="15244" y="18847"/>
                        <a:pt x="18847" y="15244"/>
                        <a:pt x="18847" y="10800"/>
                      </a:cubicBezTo>
                      <a:cubicBezTo>
                        <a:pt x="18847" y="6356"/>
                        <a:pt x="15244" y="2753"/>
                        <a:pt x="10800" y="2753"/>
                      </a:cubicBezTo>
                      <a:cubicBezTo>
                        <a:pt x="6356" y="2753"/>
                        <a:pt x="2753" y="6356"/>
                        <a:pt x="2753" y="10800"/>
                      </a:cubicBez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6287" name="Line 80"/>
                <p:cNvSpPr/>
                <p:nvPr/>
              </p:nvSpPr>
              <p:spPr>
                <a:xfrm>
                  <a:off x="1066" y="2341"/>
                  <a:ext cx="635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6288" name="Line 81"/>
                <p:cNvSpPr/>
                <p:nvPr/>
              </p:nvSpPr>
              <p:spPr>
                <a:xfrm>
                  <a:off x="3107" y="2341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grpSp>
              <p:nvGrpSpPr>
                <p:cNvPr id="96289" name="Group 82"/>
                <p:cNvGrpSpPr/>
                <p:nvPr/>
              </p:nvGrpSpPr>
              <p:grpSpPr>
                <a:xfrm>
                  <a:off x="3969" y="1888"/>
                  <a:ext cx="318" cy="315"/>
                  <a:chOff x="1292" y="1890"/>
                  <a:chExt cx="318" cy="315"/>
                </a:xfrm>
              </p:grpSpPr>
              <p:sp>
                <p:nvSpPr>
                  <p:cNvPr id="96302" name="Arc 83"/>
                  <p:cNvSpPr/>
                  <p:nvPr/>
                </p:nvSpPr>
                <p:spPr>
                  <a:xfrm>
                    <a:off x="1292" y="1890"/>
                    <a:ext cx="318" cy="282"/>
                  </a:xfrm>
                  <a:custGeom>
                    <a:avLst/>
                    <a:gdLst/>
                    <a:ahLst/>
                    <a:cxnLst>
                      <a:cxn ang="0">
                        <a:pos x="23" y="282"/>
                      </a:cxn>
                      <a:cxn ang="0">
                        <a:pos x="318" y="193"/>
                      </a:cxn>
                      <a:cxn ang="0">
                        <a:pos x="159" y="186"/>
                      </a:cxn>
                    </a:cxnLst>
                    <a:pathLst>
                      <a:path w="43200" h="32751" fill="none">
                        <a:moveTo>
                          <a:pt x="3100" y="32751"/>
                        </a:moveTo>
                        <a:cubicBezTo>
                          <a:pt x="1072" y="29385"/>
                          <a:pt x="0" y="25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1880"/>
                          <a:pt x="43194" y="22160"/>
                          <a:pt x="43183" y="22440"/>
                        </a:cubicBezTo>
                      </a:path>
                      <a:path w="43200" h="32751" stroke="0">
                        <a:moveTo>
                          <a:pt x="3100" y="32751"/>
                        </a:moveTo>
                        <a:cubicBezTo>
                          <a:pt x="1072" y="29385"/>
                          <a:pt x="0" y="25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1880"/>
                          <a:pt x="43194" y="22160"/>
                          <a:pt x="43183" y="22440"/>
                        </a:cubicBezTo>
                        <a:lnTo>
                          <a:pt x="21600" y="21600"/>
                        </a:lnTo>
                        <a:lnTo>
                          <a:pt x="3100" y="32751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6303" name="Line 84"/>
                  <p:cNvSpPr/>
                  <p:nvPr/>
                </p:nvSpPr>
                <p:spPr>
                  <a:xfrm flipH="1">
                    <a:off x="1565" y="2069"/>
                    <a:ext cx="45" cy="13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96290" name="Text Box 85"/>
                <p:cNvSpPr txBox="1"/>
                <p:nvPr/>
              </p:nvSpPr>
              <p:spPr>
                <a:xfrm>
                  <a:off x="3107" y="2070"/>
                  <a:ext cx="68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digit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91" name="Text Box 86"/>
                <p:cNvSpPr txBox="1"/>
                <p:nvPr/>
              </p:nvSpPr>
              <p:spPr>
                <a:xfrm>
                  <a:off x="3833" y="1661"/>
                  <a:ext cx="54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digit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92" name="AutoShape 87"/>
                <p:cNvSpPr/>
                <p:nvPr/>
              </p:nvSpPr>
              <p:spPr>
                <a:xfrm>
                  <a:off x="2744" y="2161"/>
                  <a:ext cx="363" cy="363"/>
                </a:xfrm>
                <a:prstGeom prst="flowChartConnector">
                  <a:avLst/>
                </a:prstGeom>
                <a:solidFill>
                  <a:schemeClr val="bg1">
                    <a:alpha val="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96293" name="AutoShape 88"/>
                <p:cNvSpPr/>
                <p:nvPr/>
              </p:nvSpPr>
              <p:spPr>
                <a:xfrm>
                  <a:off x="1701" y="2160"/>
                  <a:ext cx="363" cy="363"/>
                </a:xfrm>
                <a:prstGeom prst="flowChartConnector">
                  <a:avLst/>
                </a:prstGeom>
                <a:solidFill>
                  <a:schemeClr val="bg1">
                    <a:alpha val="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96294" name="Arc 89"/>
                <p:cNvSpPr/>
                <p:nvPr/>
              </p:nvSpPr>
              <p:spPr>
                <a:xfrm>
                  <a:off x="2064" y="2160"/>
                  <a:ext cx="544" cy="228"/>
                </a:xfrm>
                <a:custGeom>
                  <a:avLst/>
                  <a:gdLst/>
                  <a:ahLst/>
                  <a:cxnLst>
                    <a:cxn ang="0">
                      <a:pos x="0" y="107"/>
                    </a:cxn>
                    <a:cxn ang="0">
                      <a:pos x="544" y="35"/>
                    </a:cxn>
                    <a:cxn ang="0">
                      <a:pos x="335" y="228"/>
                    </a:cxn>
                  </a:cxnLst>
                  <a:pathLst>
                    <a:path w="29797" h="21600" fill="none">
                      <a:moveTo>
                        <a:pt x="-1" y="10173"/>
                      </a:moveTo>
                      <a:cubicBezTo>
                        <a:pt x="3944" y="3845"/>
                        <a:pt x="10873" y="-1"/>
                        <a:pt x="18330" y="0"/>
                      </a:cubicBezTo>
                      <a:cubicBezTo>
                        <a:pt x="22385" y="0"/>
                        <a:pt x="26359" y="1141"/>
                        <a:pt x="29796" y="3295"/>
                      </a:cubicBezTo>
                    </a:path>
                    <a:path w="29797" h="21600" stroke="0">
                      <a:moveTo>
                        <a:pt x="-1" y="10173"/>
                      </a:moveTo>
                      <a:cubicBezTo>
                        <a:pt x="3944" y="3845"/>
                        <a:pt x="10873" y="-1"/>
                        <a:pt x="18330" y="0"/>
                      </a:cubicBezTo>
                      <a:cubicBezTo>
                        <a:pt x="22385" y="0"/>
                        <a:pt x="26359" y="1141"/>
                        <a:pt x="29796" y="3295"/>
                      </a:cubicBezTo>
                      <a:lnTo>
                        <a:pt x="18330" y="21600"/>
                      </a:lnTo>
                      <a:lnTo>
                        <a:pt x="-1" y="10173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6295" name="Arc 90"/>
                <p:cNvSpPr/>
                <p:nvPr/>
              </p:nvSpPr>
              <p:spPr>
                <a:xfrm rot="10800000">
                  <a:off x="2064" y="2298"/>
                  <a:ext cx="592" cy="227"/>
                </a:xfrm>
                <a:custGeom>
                  <a:avLst/>
                  <a:gdLst/>
                  <a:ahLst/>
                  <a:cxnLst>
                    <a:cxn ang="0">
                      <a:pos x="0" y="45"/>
                    </a:cxn>
                    <a:cxn ang="0">
                      <a:pos x="592" y="106"/>
                    </a:cxn>
                    <a:cxn ang="0">
                      <a:pos x="244" y="227"/>
                    </a:cxn>
                  </a:cxnLst>
                  <a:pathLst>
                    <a:path w="31142" h="21600" fill="none">
                      <a:moveTo>
                        <a:pt x="0" y="4238"/>
                      </a:moveTo>
                      <a:cubicBezTo>
                        <a:pt x="3718" y="1485"/>
                        <a:pt x="8223" y="-1"/>
                        <a:pt x="12850" y="0"/>
                      </a:cubicBezTo>
                      <a:cubicBezTo>
                        <a:pt x="20281" y="0"/>
                        <a:pt x="27190" y="3819"/>
                        <a:pt x="31142" y="10112"/>
                      </a:cubicBezTo>
                    </a:path>
                    <a:path w="31142" h="21600" stroke="0">
                      <a:moveTo>
                        <a:pt x="0" y="4238"/>
                      </a:moveTo>
                      <a:cubicBezTo>
                        <a:pt x="3718" y="1485"/>
                        <a:pt x="8223" y="-1"/>
                        <a:pt x="12850" y="0"/>
                      </a:cubicBezTo>
                      <a:cubicBezTo>
                        <a:pt x="20281" y="0"/>
                        <a:pt x="27190" y="3819"/>
                        <a:pt x="31142" y="10112"/>
                      </a:cubicBezTo>
                      <a:lnTo>
                        <a:pt x="12850" y="21600"/>
                      </a:lnTo>
                      <a:lnTo>
                        <a:pt x="0" y="4238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6296" name="Text Box 91"/>
                <p:cNvSpPr txBox="1"/>
                <p:nvPr/>
              </p:nvSpPr>
              <p:spPr>
                <a:xfrm>
                  <a:off x="2653" y="2500"/>
                  <a:ext cx="58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digit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97" name="Text Box 92"/>
                <p:cNvSpPr txBox="1"/>
                <p:nvPr/>
              </p:nvSpPr>
              <p:spPr>
                <a:xfrm>
                  <a:off x="2155" y="2296"/>
                  <a:ext cx="58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dirty="0">
                      <a:solidFill>
                        <a:schemeClr val="tx2"/>
                      </a:solidFill>
                      <a:latin typeface="宋体" pitchFamily="2" charset="-122"/>
                    </a:rPr>
                    <a:t>-</a:t>
                  </a:r>
                  <a:endParaRPr lang="en-US" altLang="zh-CN" sz="2000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98" name="Arc 93"/>
                <p:cNvSpPr/>
                <p:nvPr/>
              </p:nvSpPr>
              <p:spPr>
                <a:xfrm rot="10555304">
                  <a:off x="1926" y="1917"/>
                  <a:ext cx="1911" cy="857"/>
                </a:xfrm>
                <a:custGeom>
                  <a:avLst/>
                  <a:gdLst/>
                  <a:ahLst/>
                  <a:cxnLst>
                    <a:cxn ang="0">
                      <a:pos x="0" y="128"/>
                    </a:cxn>
                    <a:cxn ang="0">
                      <a:pos x="1911" y="330"/>
                    </a:cxn>
                    <a:cxn ang="0">
                      <a:pos x="764" y="857"/>
                    </a:cxn>
                  </a:cxnLst>
                  <a:pathLst>
                    <a:path w="28391" h="21600" fill="none">
                      <a:moveTo>
                        <a:pt x="0" y="3226"/>
                      </a:moveTo>
                      <a:cubicBezTo>
                        <a:pt x="3412" y="1117"/>
                        <a:pt x="7344" y="-1"/>
                        <a:pt x="11356" y="0"/>
                      </a:cubicBezTo>
                      <a:cubicBezTo>
                        <a:pt x="18013" y="0"/>
                        <a:pt x="24298" y="3069"/>
                        <a:pt x="28391" y="8319"/>
                      </a:cubicBezTo>
                    </a:path>
                    <a:path w="28391" h="21600" stroke="0">
                      <a:moveTo>
                        <a:pt x="0" y="3226"/>
                      </a:moveTo>
                      <a:cubicBezTo>
                        <a:pt x="3412" y="1117"/>
                        <a:pt x="7344" y="-1"/>
                        <a:pt x="11356" y="0"/>
                      </a:cubicBezTo>
                      <a:cubicBezTo>
                        <a:pt x="18013" y="0"/>
                        <a:pt x="24298" y="3069"/>
                        <a:pt x="28391" y="8319"/>
                      </a:cubicBezTo>
                      <a:lnTo>
                        <a:pt x="11356" y="21600"/>
                      </a:lnTo>
                      <a:lnTo>
                        <a:pt x="0" y="322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6299" name="Line 94"/>
                <p:cNvSpPr/>
                <p:nvPr/>
              </p:nvSpPr>
              <p:spPr>
                <a:xfrm flipV="1">
                  <a:off x="3878" y="2523"/>
                  <a:ext cx="136" cy="45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6300" name="Line 95"/>
                <p:cNvSpPr/>
                <p:nvPr/>
              </p:nvSpPr>
              <p:spPr>
                <a:xfrm flipV="1">
                  <a:off x="2653" y="2432"/>
                  <a:ext cx="136" cy="46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6301" name="Line 96"/>
                <p:cNvSpPr/>
                <p:nvPr/>
              </p:nvSpPr>
              <p:spPr>
                <a:xfrm>
                  <a:off x="2608" y="2205"/>
                  <a:ext cx="176" cy="9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6275" name="Group 97"/>
              <p:cNvGrpSpPr/>
              <p:nvPr/>
            </p:nvGrpSpPr>
            <p:grpSpPr>
              <a:xfrm>
                <a:off x="3424" y="2478"/>
                <a:ext cx="2268" cy="863"/>
                <a:chOff x="567" y="617"/>
                <a:chExt cx="2268" cy="863"/>
              </a:xfrm>
            </p:grpSpPr>
            <p:sp>
              <p:nvSpPr>
                <p:cNvPr id="96276" name="AutoShape 98"/>
                <p:cNvSpPr/>
                <p:nvPr/>
              </p:nvSpPr>
              <p:spPr>
                <a:xfrm>
                  <a:off x="2381" y="1116"/>
                  <a:ext cx="363" cy="36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3" y="6"/>
                    </a:cxn>
                    <a:cxn ang="0">
                      <a:pos x="0" y="3"/>
                    </a:cxn>
                    <a:cxn ang="0">
                      <a:pos x="1" y="3"/>
                    </a:cxn>
                    <a:cxn ang="0">
                      <a:pos x="3" y="5"/>
                    </a:cxn>
                    <a:cxn ang="0">
                      <a:pos x="5" y="3"/>
                    </a:cxn>
                    <a:cxn ang="0">
                      <a:pos x="3" y="1"/>
                    </a:cxn>
                    <a:cxn ang="0">
                      <a:pos x="1" y="3"/>
                    </a:cxn>
                  </a:cxnLst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753" y="10800"/>
                      </a:moveTo>
                      <a:cubicBezTo>
                        <a:pt x="2753" y="15244"/>
                        <a:pt x="6356" y="18847"/>
                        <a:pt x="10800" y="18847"/>
                      </a:cubicBezTo>
                      <a:cubicBezTo>
                        <a:pt x="15244" y="18847"/>
                        <a:pt x="18847" y="15244"/>
                        <a:pt x="18847" y="10800"/>
                      </a:cubicBezTo>
                      <a:cubicBezTo>
                        <a:pt x="18847" y="6356"/>
                        <a:pt x="15244" y="2753"/>
                        <a:pt x="10800" y="2753"/>
                      </a:cubicBezTo>
                      <a:cubicBezTo>
                        <a:pt x="6356" y="2753"/>
                        <a:pt x="2753" y="6356"/>
                        <a:pt x="2753" y="10800"/>
                      </a:cubicBez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6277" name="Line 99"/>
                <p:cNvSpPr/>
                <p:nvPr/>
              </p:nvSpPr>
              <p:spPr>
                <a:xfrm>
                  <a:off x="567" y="1297"/>
                  <a:ext cx="635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6278" name="Line 100"/>
                <p:cNvSpPr/>
                <p:nvPr/>
              </p:nvSpPr>
              <p:spPr>
                <a:xfrm>
                  <a:off x="1565" y="1297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grpSp>
              <p:nvGrpSpPr>
                <p:cNvPr id="96279" name="Group 101"/>
                <p:cNvGrpSpPr/>
                <p:nvPr/>
              </p:nvGrpSpPr>
              <p:grpSpPr>
                <a:xfrm>
                  <a:off x="2427" y="844"/>
                  <a:ext cx="318" cy="315"/>
                  <a:chOff x="1292" y="1890"/>
                  <a:chExt cx="318" cy="315"/>
                </a:xfrm>
              </p:grpSpPr>
              <p:sp>
                <p:nvSpPr>
                  <p:cNvPr id="96283" name="Arc 102"/>
                  <p:cNvSpPr/>
                  <p:nvPr/>
                </p:nvSpPr>
                <p:spPr>
                  <a:xfrm>
                    <a:off x="1292" y="1890"/>
                    <a:ext cx="318" cy="282"/>
                  </a:xfrm>
                  <a:custGeom>
                    <a:avLst/>
                    <a:gdLst/>
                    <a:ahLst/>
                    <a:cxnLst>
                      <a:cxn ang="0">
                        <a:pos x="23" y="282"/>
                      </a:cxn>
                      <a:cxn ang="0">
                        <a:pos x="318" y="193"/>
                      </a:cxn>
                      <a:cxn ang="0">
                        <a:pos x="159" y="186"/>
                      </a:cxn>
                    </a:cxnLst>
                    <a:pathLst>
                      <a:path w="43200" h="32751" fill="none">
                        <a:moveTo>
                          <a:pt x="3100" y="32751"/>
                        </a:moveTo>
                        <a:cubicBezTo>
                          <a:pt x="1072" y="29385"/>
                          <a:pt x="0" y="25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1880"/>
                          <a:pt x="43194" y="22160"/>
                          <a:pt x="43183" y="22440"/>
                        </a:cubicBezTo>
                      </a:path>
                      <a:path w="43200" h="32751" stroke="0">
                        <a:moveTo>
                          <a:pt x="3100" y="32751"/>
                        </a:moveTo>
                        <a:cubicBezTo>
                          <a:pt x="1072" y="29385"/>
                          <a:pt x="0" y="25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1880"/>
                          <a:pt x="43194" y="22160"/>
                          <a:pt x="43183" y="22440"/>
                        </a:cubicBezTo>
                        <a:lnTo>
                          <a:pt x="21600" y="21600"/>
                        </a:lnTo>
                        <a:lnTo>
                          <a:pt x="3100" y="32751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6284" name="Line 103"/>
                  <p:cNvSpPr/>
                  <p:nvPr/>
                </p:nvSpPr>
                <p:spPr>
                  <a:xfrm flipH="1">
                    <a:off x="1565" y="2069"/>
                    <a:ext cx="45" cy="13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96280" name="Text Box 104"/>
                <p:cNvSpPr txBox="1"/>
                <p:nvPr/>
              </p:nvSpPr>
              <p:spPr>
                <a:xfrm>
                  <a:off x="1565" y="1026"/>
                  <a:ext cx="68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digit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81" name="Text Box 105"/>
                <p:cNvSpPr txBox="1"/>
                <p:nvPr/>
              </p:nvSpPr>
              <p:spPr>
                <a:xfrm>
                  <a:off x="2291" y="617"/>
                  <a:ext cx="54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solidFill>
                        <a:schemeClr val="tx2"/>
                      </a:solidFill>
                      <a:latin typeface="宋体" pitchFamily="2" charset="-122"/>
                    </a:rPr>
                    <a:t>digit</a:t>
                  </a:r>
                  <a:endParaRPr lang="en-US" altLang="zh-CN" sz="2000" b="1" dirty="0">
                    <a:solidFill>
                      <a:schemeClr val="tx2"/>
                    </a:solidFill>
                    <a:latin typeface="宋体" pitchFamily="2" charset="-122"/>
                  </a:endParaRPr>
                </a:p>
              </p:txBody>
            </p:sp>
            <p:sp>
              <p:nvSpPr>
                <p:cNvPr id="96282" name="AutoShape 106"/>
                <p:cNvSpPr/>
                <p:nvPr/>
              </p:nvSpPr>
              <p:spPr>
                <a:xfrm>
                  <a:off x="1202" y="1117"/>
                  <a:ext cx="363" cy="363"/>
                </a:xfrm>
                <a:prstGeom prst="flowChartConnector">
                  <a:avLst/>
                </a:prstGeom>
                <a:solidFill>
                  <a:schemeClr val="bg1">
                    <a:alpha val="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/>
                </a:p>
              </p:txBody>
            </p:sp>
          </p:grpSp>
        </p:grpSp>
        <p:sp>
          <p:nvSpPr>
            <p:cNvPr id="96273" name="Text Box 107"/>
            <p:cNvSpPr txBox="1"/>
            <p:nvPr/>
          </p:nvSpPr>
          <p:spPr>
            <a:xfrm>
              <a:off x="3470" y="2069"/>
              <a:ext cx="31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</a:rPr>
                <a:t>•</a:t>
              </a:r>
              <a:endParaRPr lang="en-US" altLang="zh-CN" sz="1800" dirty="0">
                <a:solidFill>
                  <a:schemeClr val="tx2"/>
                </a:solidFill>
                <a:ea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autoRev="1" fill="hold"/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autoRev="1" fill="hold"/>
                                        <p:tgtEl>
                                          <p:spTgt spid="61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autoRev="1" fill="hold"/>
                                        <p:tgtEl>
                                          <p:spTgt spid="61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1" dur="500" autoRev="1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autoRev="1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autoRev="1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0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autoRev="1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autoRev="1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autoRev="1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6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00"/>
                            </p:stCondLst>
                            <p:childTnLst>
                              <p:par>
                                <p:cTn id="7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61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61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6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/>
      <p:bldP spid="61445" grpId="1"/>
      <p:bldP spid="61456" grpId="0" animBg="1"/>
      <p:bldP spid="61457" grpId="0"/>
      <p:bldP spid="61457" grpId="1"/>
      <p:bldP spid="61458" grpId="0"/>
      <p:bldP spid="61458" grpId="1"/>
      <p:bldP spid="61458" grpId="2"/>
      <p:bldP spid="61459" grpId="0"/>
      <p:bldP spid="61459" grpId="1"/>
      <p:bldP spid="61459" grpId="2"/>
      <p:bldP spid="61460" grpId="0"/>
      <p:bldP spid="61460" grpId="1"/>
      <p:bldP spid="61460" grpId="2"/>
      <p:bldP spid="61461" grpId="0" animBg="1"/>
      <p:bldP spid="6146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2466" name="Group 2"/>
          <p:cNvGrpSpPr/>
          <p:nvPr/>
        </p:nvGrpSpPr>
        <p:grpSpPr>
          <a:xfrm>
            <a:off x="2195513" y="3429000"/>
            <a:ext cx="3529012" cy="2087563"/>
            <a:chOff x="521" y="619"/>
            <a:chExt cx="2223" cy="1315"/>
          </a:xfrm>
        </p:grpSpPr>
        <p:sp>
          <p:nvSpPr>
            <p:cNvPr id="97288" name="AutoShape 3"/>
            <p:cNvSpPr/>
            <p:nvPr/>
          </p:nvSpPr>
          <p:spPr>
            <a:xfrm>
              <a:off x="2335" y="709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289" name="Line 4"/>
            <p:cNvSpPr/>
            <p:nvPr/>
          </p:nvSpPr>
          <p:spPr>
            <a:xfrm>
              <a:off x="521" y="890"/>
              <a:ext cx="6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290" name="Line 5"/>
            <p:cNvSpPr/>
            <p:nvPr/>
          </p:nvSpPr>
          <p:spPr>
            <a:xfrm>
              <a:off x="1519" y="890"/>
              <a:ext cx="81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7291" name="Group 6"/>
            <p:cNvGrpSpPr/>
            <p:nvPr/>
          </p:nvGrpSpPr>
          <p:grpSpPr>
            <a:xfrm rot="5400000">
              <a:off x="2052" y="1607"/>
              <a:ext cx="318" cy="315"/>
              <a:chOff x="1292" y="1890"/>
              <a:chExt cx="318" cy="315"/>
            </a:xfrm>
          </p:grpSpPr>
          <p:sp>
            <p:nvSpPr>
              <p:cNvPr id="97300" name="Arc 7"/>
              <p:cNvSpPr/>
              <p:nvPr/>
            </p:nvSpPr>
            <p:spPr>
              <a:xfrm>
                <a:off x="1296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7301" name="Line 8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7292" name="Text Box 9"/>
            <p:cNvSpPr txBox="1"/>
            <p:nvPr/>
          </p:nvSpPr>
          <p:spPr>
            <a:xfrm>
              <a:off x="1519" y="619"/>
              <a:ext cx="680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7293" name="Text Box 10"/>
            <p:cNvSpPr txBox="1"/>
            <p:nvPr/>
          </p:nvSpPr>
          <p:spPr>
            <a:xfrm>
              <a:off x="2109" y="1162"/>
              <a:ext cx="5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7294" name="AutoShape 11"/>
            <p:cNvSpPr/>
            <p:nvPr/>
          </p:nvSpPr>
          <p:spPr>
            <a:xfrm>
              <a:off x="1746" y="1570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295" name="AutoShape 12"/>
            <p:cNvSpPr/>
            <p:nvPr/>
          </p:nvSpPr>
          <p:spPr>
            <a:xfrm>
              <a:off x="1156" y="709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296" name="Line 13"/>
            <p:cNvSpPr/>
            <p:nvPr/>
          </p:nvSpPr>
          <p:spPr>
            <a:xfrm>
              <a:off x="1383" y="1071"/>
              <a:ext cx="408" cy="5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297" name="Line 14"/>
            <p:cNvSpPr/>
            <p:nvPr/>
          </p:nvSpPr>
          <p:spPr>
            <a:xfrm flipH="1">
              <a:off x="2018" y="1071"/>
              <a:ext cx="408" cy="5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298" name="Text Box 15"/>
            <p:cNvSpPr txBox="1"/>
            <p:nvPr/>
          </p:nvSpPr>
          <p:spPr>
            <a:xfrm>
              <a:off x="1156" y="1162"/>
              <a:ext cx="5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7299" name="Text Box 16"/>
            <p:cNvSpPr txBox="1"/>
            <p:nvPr/>
          </p:nvSpPr>
          <p:spPr>
            <a:xfrm>
              <a:off x="2200" y="1616"/>
              <a:ext cx="5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62481" name="Group 17"/>
          <p:cNvGrpSpPr/>
          <p:nvPr/>
        </p:nvGrpSpPr>
        <p:grpSpPr>
          <a:xfrm>
            <a:off x="1116013" y="1341438"/>
            <a:ext cx="6840537" cy="1081087"/>
            <a:chOff x="204" y="572"/>
            <a:chExt cx="4309" cy="681"/>
          </a:xfrm>
        </p:grpSpPr>
        <p:grpSp>
          <p:nvGrpSpPr>
            <p:cNvPr id="97284" name="Group 18"/>
            <p:cNvGrpSpPr/>
            <p:nvPr/>
          </p:nvGrpSpPr>
          <p:grpSpPr>
            <a:xfrm>
              <a:off x="204" y="572"/>
              <a:ext cx="3946" cy="590"/>
              <a:chOff x="720" y="480"/>
              <a:chExt cx="4224" cy="1390"/>
            </a:xfrm>
          </p:grpSpPr>
          <p:graphicFrame>
            <p:nvGraphicFramePr>
              <p:cNvPr id="97286" name="Object 1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8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287" name="Object 2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7285" name="Text Box 21"/>
            <p:cNvSpPr txBox="1"/>
            <p:nvPr/>
          </p:nvSpPr>
          <p:spPr>
            <a:xfrm>
              <a:off x="249" y="715"/>
              <a:ext cx="4264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接受与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正则式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ab+|ab*|b*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相同的语言的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DFA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如下所示：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i="1" dirty="0">
                <a:solidFill>
                  <a:srgbClr val="006600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3490" name="Group 2"/>
          <p:cNvGrpSpPr/>
          <p:nvPr/>
        </p:nvGrpSpPr>
        <p:grpSpPr>
          <a:xfrm>
            <a:off x="611188" y="549275"/>
            <a:ext cx="8532812" cy="719138"/>
            <a:chOff x="204" y="391"/>
            <a:chExt cx="5125" cy="430"/>
          </a:xfrm>
        </p:grpSpPr>
        <p:grpSp>
          <p:nvGrpSpPr>
            <p:cNvPr id="98349" name="Group 3"/>
            <p:cNvGrpSpPr/>
            <p:nvPr/>
          </p:nvGrpSpPr>
          <p:grpSpPr>
            <a:xfrm>
              <a:off x="204" y="391"/>
              <a:ext cx="4001" cy="430"/>
              <a:chOff x="720" y="480"/>
              <a:chExt cx="4224" cy="1390"/>
            </a:xfrm>
          </p:grpSpPr>
          <p:graphicFrame>
            <p:nvGraphicFramePr>
              <p:cNvPr id="98351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8352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1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9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8350" name="Text Box 6"/>
            <p:cNvSpPr txBox="1"/>
            <p:nvPr/>
          </p:nvSpPr>
          <p:spPr>
            <a:xfrm>
              <a:off x="249" y="436"/>
              <a:ext cx="508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3-14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：串中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只有一个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b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被如下所示的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接受</a:t>
              </a:r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4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3495" name="AutoShape 7"/>
          <p:cNvSpPr/>
          <p:nvPr/>
        </p:nvSpPr>
        <p:spPr>
          <a:xfrm>
            <a:off x="2916238" y="2492375"/>
            <a:ext cx="576262" cy="576263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grpSp>
        <p:nvGrpSpPr>
          <p:cNvPr id="63496" name="Group 8"/>
          <p:cNvGrpSpPr/>
          <p:nvPr/>
        </p:nvGrpSpPr>
        <p:grpSpPr>
          <a:xfrm>
            <a:off x="1908175" y="1628775"/>
            <a:ext cx="3600450" cy="1439863"/>
            <a:chOff x="1202" y="1026"/>
            <a:chExt cx="2268" cy="907"/>
          </a:xfrm>
        </p:grpSpPr>
        <p:sp>
          <p:nvSpPr>
            <p:cNvPr id="98337" name="AutoShape 9"/>
            <p:cNvSpPr/>
            <p:nvPr/>
          </p:nvSpPr>
          <p:spPr>
            <a:xfrm>
              <a:off x="3016" y="1570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8338" name="Line 10"/>
            <p:cNvSpPr/>
            <p:nvPr/>
          </p:nvSpPr>
          <p:spPr>
            <a:xfrm>
              <a:off x="1202" y="1751"/>
              <a:ext cx="635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39" name="Line 11"/>
            <p:cNvSpPr/>
            <p:nvPr/>
          </p:nvSpPr>
          <p:spPr>
            <a:xfrm>
              <a:off x="2200" y="1751"/>
              <a:ext cx="816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8340" name="Group 12"/>
            <p:cNvGrpSpPr/>
            <p:nvPr/>
          </p:nvGrpSpPr>
          <p:grpSpPr>
            <a:xfrm>
              <a:off x="1882" y="1300"/>
              <a:ext cx="318" cy="315"/>
              <a:chOff x="1292" y="1890"/>
              <a:chExt cx="318" cy="315"/>
            </a:xfrm>
          </p:grpSpPr>
          <p:sp>
            <p:nvSpPr>
              <p:cNvPr id="98347" name="Arc 13"/>
              <p:cNvSpPr/>
              <p:nvPr/>
            </p:nvSpPr>
            <p:spPr>
              <a:xfrm>
                <a:off x="1292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48" name="Line 14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8341" name="Group 15"/>
            <p:cNvGrpSpPr/>
            <p:nvPr/>
          </p:nvGrpSpPr>
          <p:grpSpPr>
            <a:xfrm>
              <a:off x="3062" y="1298"/>
              <a:ext cx="318" cy="315"/>
              <a:chOff x="1292" y="1890"/>
              <a:chExt cx="318" cy="315"/>
            </a:xfrm>
          </p:grpSpPr>
          <p:sp>
            <p:nvSpPr>
              <p:cNvPr id="98345" name="Arc 16"/>
              <p:cNvSpPr/>
              <p:nvPr/>
            </p:nvSpPr>
            <p:spPr>
              <a:xfrm>
                <a:off x="1292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46" name="Line 17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8342" name="Text Box 18"/>
            <p:cNvSpPr txBox="1"/>
            <p:nvPr/>
          </p:nvSpPr>
          <p:spPr>
            <a:xfrm>
              <a:off x="2427" y="1479"/>
              <a:ext cx="31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8343" name="Text Box 19"/>
            <p:cNvSpPr txBox="1"/>
            <p:nvPr/>
          </p:nvSpPr>
          <p:spPr>
            <a:xfrm>
              <a:off x="2926" y="1071"/>
              <a:ext cx="544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not 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8344" name="Text Box 20"/>
            <p:cNvSpPr txBox="1"/>
            <p:nvPr/>
          </p:nvSpPr>
          <p:spPr>
            <a:xfrm>
              <a:off x="1746" y="1026"/>
              <a:ext cx="589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not 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63509" name="Group 21"/>
          <p:cNvGrpSpPr/>
          <p:nvPr/>
        </p:nvGrpSpPr>
        <p:grpSpPr>
          <a:xfrm>
            <a:off x="611188" y="3573463"/>
            <a:ext cx="8532812" cy="719137"/>
            <a:chOff x="385" y="2341"/>
            <a:chExt cx="5125" cy="454"/>
          </a:xfrm>
        </p:grpSpPr>
        <p:grpSp>
          <p:nvGrpSpPr>
            <p:cNvPr id="98333" name="Group 22"/>
            <p:cNvGrpSpPr/>
            <p:nvPr/>
          </p:nvGrpSpPr>
          <p:grpSpPr>
            <a:xfrm>
              <a:off x="385" y="2341"/>
              <a:ext cx="4309" cy="454"/>
              <a:chOff x="720" y="480"/>
              <a:chExt cx="4224" cy="1390"/>
            </a:xfrm>
          </p:grpSpPr>
          <p:graphicFrame>
            <p:nvGraphicFramePr>
              <p:cNvPr id="98335" name="Object 23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2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8336" name="Object 24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3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8334" name="Text Box 25"/>
            <p:cNvSpPr txBox="1"/>
            <p:nvPr/>
          </p:nvSpPr>
          <p:spPr>
            <a:xfrm>
              <a:off x="430" y="2386"/>
              <a:ext cx="508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3-15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：包含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最多一个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b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的串被如下所示的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接受：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63514" name="Group 26"/>
          <p:cNvGrpSpPr/>
          <p:nvPr/>
        </p:nvGrpSpPr>
        <p:grpSpPr>
          <a:xfrm>
            <a:off x="1979613" y="4510088"/>
            <a:ext cx="3600450" cy="1439862"/>
            <a:chOff x="1247" y="2931"/>
            <a:chExt cx="2268" cy="907"/>
          </a:xfrm>
        </p:grpSpPr>
        <p:sp>
          <p:nvSpPr>
            <p:cNvPr id="98321" name="AutoShape 27"/>
            <p:cNvSpPr/>
            <p:nvPr/>
          </p:nvSpPr>
          <p:spPr>
            <a:xfrm>
              <a:off x="3061" y="3475"/>
              <a:ext cx="363" cy="3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1" y="3"/>
                </a:cxn>
              </a:cxnLst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8322" name="Line 28"/>
            <p:cNvSpPr/>
            <p:nvPr/>
          </p:nvSpPr>
          <p:spPr>
            <a:xfrm>
              <a:off x="1247" y="3656"/>
              <a:ext cx="635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23" name="Line 29"/>
            <p:cNvSpPr/>
            <p:nvPr/>
          </p:nvSpPr>
          <p:spPr>
            <a:xfrm>
              <a:off x="2245" y="3656"/>
              <a:ext cx="816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8324" name="Group 30"/>
            <p:cNvGrpSpPr/>
            <p:nvPr/>
          </p:nvGrpSpPr>
          <p:grpSpPr>
            <a:xfrm>
              <a:off x="1927" y="3205"/>
              <a:ext cx="318" cy="315"/>
              <a:chOff x="1292" y="1890"/>
              <a:chExt cx="318" cy="315"/>
            </a:xfrm>
          </p:grpSpPr>
          <p:sp>
            <p:nvSpPr>
              <p:cNvPr id="98331" name="Arc 31"/>
              <p:cNvSpPr/>
              <p:nvPr/>
            </p:nvSpPr>
            <p:spPr>
              <a:xfrm>
                <a:off x="1292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2" name="Line 32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8325" name="Group 33"/>
            <p:cNvGrpSpPr/>
            <p:nvPr/>
          </p:nvGrpSpPr>
          <p:grpSpPr>
            <a:xfrm>
              <a:off x="3107" y="3203"/>
              <a:ext cx="318" cy="315"/>
              <a:chOff x="1292" y="1890"/>
              <a:chExt cx="318" cy="315"/>
            </a:xfrm>
          </p:grpSpPr>
          <p:sp>
            <p:nvSpPr>
              <p:cNvPr id="98329" name="Arc 34"/>
              <p:cNvSpPr/>
              <p:nvPr/>
            </p:nvSpPr>
            <p:spPr>
              <a:xfrm>
                <a:off x="1292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30" name="Line 35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8326" name="Text Box 36"/>
            <p:cNvSpPr txBox="1"/>
            <p:nvPr/>
          </p:nvSpPr>
          <p:spPr>
            <a:xfrm>
              <a:off x="2472" y="3384"/>
              <a:ext cx="31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8327" name="Text Box 37"/>
            <p:cNvSpPr txBox="1"/>
            <p:nvPr/>
          </p:nvSpPr>
          <p:spPr>
            <a:xfrm>
              <a:off x="2971" y="2976"/>
              <a:ext cx="544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not 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98328" name="Text Box 38"/>
            <p:cNvSpPr txBox="1"/>
            <p:nvPr/>
          </p:nvSpPr>
          <p:spPr>
            <a:xfrm>
              <a:off x="1791" y="2931"/>
              <a:ext cx="589" cy="252"/>
            </a:xfrm>
            <a:prstGeom prst="rect">
              <a:avLst/>
            </a:prstGeom>
            <a:noFill/>
            <a:ln w="31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not 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3527" name="AutoShape 39"/>
          <p:cNvSpPr/>
          <p:nvPr/>
        </p:nvSpPr>
        <p:spPr>
          <a:xfrm>
            <a:off x="2987675" y="5373688"/>
            <a:ext cx="576263" cy="576262"/>
          </a:xfrm>
          <a:custGeom>
            <a:avLst/>
            <a:gdLst/>
            <a:ahLst/>
            <a:cxnLst>
              <a:cxn ang="0">
                <a:pos x="0" y="7686988"/>
              </a:cxn>
              <a:cxn ang="0">
                <a:pos x="7687028" y="0"/>
              </a:cxn>
              <a:cxn ang="0">
                <a:pos x="15374030" y="7686988"/>
              </a:cxn>
              <a:cxn ang="0">
                <a:pos x="7687028" y="15373977"/>
              </a:cxn>
              <a:cxn ang="0">
                <a:pos x="0" y="7686988"/>
              </a:cxn>
              <a:cxn ang="0">
                <a:pos x="1959481" y="7686988"/>
              </a:cxn>
              <a:cxn ang="0">
                <a:pos x="7687028" y="13414499"/>
              </a:cxn>
              <a:cxn ang="0">
                <a:pos x="13414549" y="7686988"/>
              </a:cxn>
              <a:cxn ang="0">
                <a:pos x="7687028" y="1959478"/>
              </a:cxn>
              <a:cxn ang="0">
                <a:pos x="1959481" y="7686988"/>
              </a:cxn>
            </a:cxnLst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753" y="10800"/>
                </a:moveTo>
                <a:cubicBezTo>
                  <a:pt x="2753" y="15244"/>
                  <a:pt x="6356" y="18847"/>
                  <a:pt x="10800" y="18847"/>
                </a:cubicBezTo>
                <a:cubicBezTo>
                  <a:pt x="15244" y="18847"/>
                  <a:pt x="18847" y="15244"/>
                  <a:pt x="18847" y="10800"/>
                </a:cubicBezTo>
                <a:cubicBezTo>
                  <a:pt x="18847" y="6356"/>
                  <a:pt x="15244" y="2753"/>
                  <a:pt x="10800" y="2753"/>
                </a:cubicBezTo>
                <a:cubicBezTo>
                  <a:pt x="6356" y="2753"/>
                  <a:pt x="2753" y="6356"/>
                  <a:pt x="2753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3528" name="AutoShape 40"/>
          <p:cNvSpPr/>
          <p:nvPr/>
        </p:nvSpPr>
        <p:spPr>
          <a:xfrm>
            <a:off x="7164388" y="1628775"/>
            <a:ext cx="1524000" cy="923925"/>
          </a:xfrm>
          <a:prstGeom prst="flowChartAlternateProcess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注意二者之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间的区别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grpSp>
        <p:nvGrpSpPr>
          <p:cNvPr id="63529" name="Group 41"/>
          <p:cNvGrpSpPr/>
          <p:nvPr/>
        </p:nvGrpSpPr>
        <p:grpSpPr>
          <a:xfrm>
            <a:off x="3203575" y="2565400"/>
            <a:ext cx="4248150" cy="792163"/>
            <a:chOff x="2018" y="1616"/>
            <a:chExt cx="2676" cy="499"/>
          </a:xfrm>
        </p:grpSpPr>
        <p:sp>
          <p:nvSpPr>
            <p:cNvPr id="98318" name="Line 42"/>
            <p:cNvSpPr/>
            <p:nvPr/>
          </p:nvSpPr>
          <p:spPr>
            <a:xfrm>
              <a:off x="2018" y="1934"/>
              <a:ext cx="0" cy="181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98319" name="Line 43"/>
            <p:cNvSpPr/>
            <p:nvPr/>
          </p:nvSpPr>
          <p:spPr>
            <a:xfrm>
              <a:off x="2018" y="2115"/>
              <a:ext cx="2676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98320" name="Line 44"/>
            <p:cNvSpPr/>
            <p:nvPr/>
          </p:nvSpPr>
          <p:spPr>
            <a:xfrm flipV="1">
              <a:off x="4694" y="1616"/>
              <a:ext cx="0" cy="499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DotDot"/>
              <a:headEnd type="none" w="med" len="med"/>
              <a:tailEnd type="triangle" w="med" len="med"/>
            </a:ln>
          </p:spPr>
        </p:sp>
      </p:grpSp>
      <p:grpSp>
        <p:nvGrpSpPr>
          <p:cNvPr id="63533" name="Group 45"/>
          <p:cNvGrpSpPr/>
          <p:nvPr/>
        </p:nvGrpSpPr>
        <p:grpSpPr>
          <a:xfrm>
            <a:off x="3276600" y="2565400"/>
            <a:ext cx="5111750" cy="3600450"/>
            <a:chOff x="2064" y="1616"/>
            <a:chExt cx="3220" cy="2268"/>
          </a:xfrm>
        </p:grpSpPr>
        <p:sp>
          <p:nvSpPr>
            <p:cNvPr id="98315" name="Line 46"/>
            <p:cNvSpPr/>
            <p:nvPr/>
          </p:nvSpPr>
          <p:spPr>
            <a:xfrm>
              <a:off x="2064" y="3748"/>
              <a:ext cx="0" cy="13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98316" name="Line 47"/>
            <p:cNvSpPr/>
            <p:nvPr/>
          </p:nvSpPr>
          <p:spPr>
            <a:xfrm>
              <a:off x="2064" y="3884"/>
              <a:ext cx="3220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98317" name="Line 48"/>
            <p:cNvSpPr/>
            <p:nvPr/>
          </p:nvSpPr>
          <p:spPr>
            <a:xfrm flipV="1">
              <a:off x="5284" y="1616"/>
              <a:ext cx="0" cy="226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lgDashDotDot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3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6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5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3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3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63495" grpId="1" animBg="1"/>
      <p:bldP spid="63527" grpId="0" animBg="1"/>
      <p:bldP spid="63527" grpId="1" animBg="1"/>
      <p:bldP spid="635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526" name="Group 14"/>
          <p:cNvGrpSpPr/>
          <p:nvPr/>
        </p:nvGrpSpPr>
        <p:grpSpPr>
          <a:xfrm>
            <a:off x="323850" y="836613"/>
            <a:ext cx="8353425" cy="1800225"/>
            <a:chOff x="249" y="527"/>
            <a:chExt cx="5262" cy="1134"/>
          </a:xfrm>
        </p:grpSpPr>
        <p:grpSp>
          <p:nvGrpSpPr>
            <p:cNvPr id="99336" name="Group 3"/>
            <p:cNvGrpSpPr/>
            <p:nvPr/>
          </p:nvGrpSpPr>
          <p:grpSpPr>
            <a:xfrm>
              <a:off x="249" y="527"/>
              <a:ext cx="5262" cy="1134"/>
              <a:chOff x="204" y="436"/>
              <a:chExt cx="5307" cy="908"/>
            </a:xfrm>
          </p:grpSpPr>
          <p:grpSp>
            <p:nvGrpSpPr>
              <p:cNvPr id="99338" name="Group 4"/>
              <p:cNvGrpSpPr/>
              <p:nvPr/>
            </p:nvGrpSpPr>
            <p:grpSpPr>
              <a:xfrm>
                <a:off x="204" y="436"/>
                <a:ext cx="5307" cy="908"/>
                <a:chOff x="720" y="480"/>
                <a:chExt cx="4224" cy="1390"/>
              </a:xfrm>
            </p:grpSpPr>
            <p:graphicFrame>
              <p:nvGraphicFramePr>
                <p:cNvPr id="99340" name="Object 5"/>
                <p:cNvGraphicFramePr>
                  <a:graphicFrameLocks noChangeAspect="1"/>
                </p:cNvGraphicFramePr>
                <p:nvPr/>
              </p:nvGraphicFramePr>
              <p:xfrm>
                <a:off x="720" y="480"/>
                <a:ext cx="4224" cy="13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94" name="" r:id="rId1" imgW="7581900" imgH="2768600" progId="Photoshop.Image.7">
                        <p:embed/>
                      </p:oleObj>
                    </mc:Choice>
                    <mc:Fallback>
                      <p:oleObj name="" r:id="rId1" imgW="7581900" imgH="2768600" progId="Photoshop.Image.7">
                        <p:embed/>
                        <p:pic>
                          <p:nvPicPr>
                            <p:cNvPr id="0" name="图片 3093"/>
                            <p:cNvPicPr/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20" y="480"/>
                              <a:ext cx="4224" cy="139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9341" name="Object 6"/>
                <p:cNvGraphicFramePr>
                  <a:graphicFrameLocks noChangeAspect="1"/>
                </p:cNvGraphicFramePr>
                <p:nvPr/>
              </p:nvGraphicFramePr>
              <p:xfrm>
                <a:off x="2873" y="1028"/>
                <a:ext cx="157" cy="2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95" name="" r:id="rId3" imgW="114300" imgH="215900" progId="Equation.3">
                        <p:embed/>
                      </p:oleObj>
                    </mc:Choice>
                    <mc:Fallback>
                      <p:oleObj name="" r:id="rId3" imgW="114300" imgH="215900" progId="Equation.3">
                        <p:embed/>
                        <p:pic>
                          <p:nvPicPr>
                            <p:cNvPr id="0" name="图片 309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73" y="1028"/>
                              <a:ext cx="157" cy="29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9339" name="Text Box 7"/>
              <p:cNvSpPr txBox="1"/>
              <p:nvPr/>
            </p:nvSpPr>
            <p:spPr>
              <a:xfrm>
                <a:off x="249" y="527"/>
                <a:ext cx="5171" cy="7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chemeClr val="tx2"/>
                    </a:solidFill>
                    <a:latin typeface="宋体" pitchFamily="2" charset="-122"/>
                  </a:rPr>
                  <a:t>   </a:t>
                </a:r>
                <a:r>
                  <a:rPr lang="zh-CN" altLang="en-US" sz="2400" b="1" dirty="0">
                    <a:solidFill>
                      <a:srgbClr val="FF0066"/>
                    </a:solidFill>
                    <a:latin typeface="宋体" pitchFamily="2" charset="-122"/>
                  </a:rPr>
                  <a:t>定理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：如果一个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DFA M 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的</a:t>
                </a:r>
                <a:r>
                  <a:rPr lang="zh-CN" altLang="en-US" sz="2400" b="1" dirty="0">
                    <a:solidFill>
                      <a:srgbClr val="FF0066"/>
                    </a:solidFill>
                    <a:latin typeface="宋体" pitchFamily="2" charset="-122"/>
                  </a:rPr>
                  <a:t>输入字母表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为</a:t>
                </a:r>
                <a:r>
                  <a:rPr lang="zh-CN" altLang="en-US" sz="2400" b="1" dirty="0">
                    <a:solidFill>
                      <a:srgbClr val="FF0066"/>
                    </a:solidFill>
                    <a:latin typeface="宋体" pitchFamily="2" charset="-122"/>
                  </a:rPr>
                  <a:t>∑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，则我们也称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M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是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∑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上的一个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DFA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。可以证明：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∑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上的一个字集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V 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宋体" pitchFamily="2" charset="-122"/>
                  </a:rPr>
                  <a:t>∑</a:t>
                </a:r>
                <a:r>
                  <a:rPr lang="en-US" altLang="zh-CN" sz="2000" b="1" baseline="30000" dirty="0">
                    <a:solidFill>
                      <a:schemeClr val="tx2"/>
                    </a:solidFill>
                    <a:latin typeface="宋体" pitchFamily="2" charset="-122"/>
                  </a:rPr>
                  <a:t>*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是正规的，当且仅当存在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宋体" pitchFamily="2" charset="-122"/>
                  </a:rPr>
                  <a:t>∑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上的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DFA M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，使得</a:t>
                </a:r>
                <a:r>
                  <a:rPr lang="en-US" altLang="zh-CN" sz="2400" b="1" dirty="0">
                    <a:solidFill>
                      <a:schemeClr val="tx2"/>
                    </a:solidFill>
                    <a:latin typeface="宋体" pitchFamily="2" charset="-122"/>
                  </a:rPr>
                  <a:t>V =L(M)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宋体" pitchFamily="2" charset="-122"/>
                  </a:rPr>
                  <a:t>。</a:t>
                </a:r>
                <a:endParaRPr lang="zh-CN" altLang="en-US" sz="2400" b="1" dirty="0">
                  <a:solidFill>
                    <a:schemeClr val="tx2"/>
                  </a:solidFill>
                  <a:latin typeface="宋体" pitchFamily="2" charset="-122"/>
                </a:endParaRPr>
              </a:p>
            </p:txBody>
          </p:sp>
        </p:grpSp>
        <p:pic>
          <p:nvPicPr>
            <p:cNvPr id="99337" name="Picture 8" descr="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0" y="1071"/>
              <a:ext cx="166" cy="9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4521" name="Group 9"/>
          <p:cNvGrpSpPr/>
          <p:nvPr/>
        </p:nvGrpSpPr>
        <p:grpSpPr>
          <a:xfrm>
            <a:off x="395288" y="2997200"/>
            <a:ext cx="8497887" cy="3168650"/>
            <a:chOff x="249" y="1661"/>
            <a:chExt cx="5262" cy="1905"/>
          </a:xfrm>
        </p:grpSpPr>
        <p:grpSp>
          <p:nvGrpSpPr>
            <p:cNvPr id="99332" name="Group 10"/>
            <p:cNvGrpSpPr/>
            <p:nvPr/>
          </p:nvGrpSpPr>
          <p:grpSpPr>
            <a:xfrm>
              <a:off x="249" y="1661"/>
              <a:ext cx="5262" cy="1905"/>
              <a:chOff x="720" y="480"/>
              <a:chExt cx="4224" cy="1390"/>
            </a:xfrm>
          </p:grpSpPr>
          <p:graphicFrame>
            <p:nvGraphicFramePr>
              <p:cNvPr id="99334" name="Object 11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6" name="" r:id="rId6" imgW="7581900" imgH="2768600" progId="Photoshop.Image.7">
                      <p:embed/>
                    </p:oleObj>
                  </mc:Choice>
                  <mc:Fallback>
                    <p:oleObj name="" r:id="rId6" imgW="7581900" imgH="2768600" progId="Photoshop.Image.7">
                      <p:embed/>
                      <p:pic>
                        <p:nvPicPr>
                          <p:cNvPr id="0" name="图片 309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35" name="Object 12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7" name="" r:id="rId7" imgW="114300" imgH="215900" progId="Equation.3">
                      <p:embed/>
                    </p:oleObj>
                  </mc:Choice>
                  <mc:Fallback>
                    <p:oleObj name="" r:id="rId7" imgW="114300" imgH="215900" progId="Equation.3">
                      <p:embed/>
                      <p:pic>
                        <p:nvPicPr>
                          <p:cNvPr id="0" name="图片 309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9333" name="Text Box 13"/>
            <p:cNvSpPr txBox="1"/>
            <p:nvPr/>
          </p:nvSpPr>
          <p:spPr>
            <a:xfrm>
              <a:off x="294" y="1752"/>
              <a:ext cx="5171" cy="1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DFA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</a:t>
              </a:r>
              <a:r>
                <a:rPr lang="zh-CN" altLang="en-US" sz="2400" b="1" dirty="0">
                  <a:solidFill>
                    <a:srgbClr val="FF0066"/>
                  </a:solidFill>
                  <a:latin typeface="宋体" pitchFamily="2" charset="-122"/>
                </a:rPr>
                <a:t>确定性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表现在映射</a:t>
              </a:r>
              <a:r>
                <a:rPr lang="el-GR" altLang="zh-CN" sz="2000" b="1" dirty="0">
                  <a:solidFill>
                    <a:schemeClr val="tx2"/>
                  </a:solidFill>
                </a:rPr>
                <a:t>δ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S×∑→S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是一个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单值函数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。即：对于任何状态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s∈S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和输入符号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∈∑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 </a:t>
              </a:r>
              <a:r>
                <a:rPr lang="el-GR" altLang="zh-CN" sz="2000" b="1" dirty="0">
                  <a:solidFill>
                    <a:schemeClr val="tx2"/>
                  </a:solidFill>
                </a:rPr>
                <a:t>δ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(s,a)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唯一确定了一个状态。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从转换图角度，我们也可以得到答案。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如果允许是一个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多值函数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，我们就得到下一节要讲到的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非确定自动机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的概念。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WordArt 2"/>
          <p:cNvSpPr>
            <a:spLocks noChangeArrowheads="1" noChangeShapeType="1" noTextEdit="1"/>
          </p:cNvSpPr>
          <p:nvPr/>
        </p:nvSpPr>
        <p:spPr bwMode="auto">
          <a:xfrm>
            <a:off x="1331913" y="1171575"/>
            <a:ext cx="640080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非确定有限自动机（</a:t>
            </a: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NFA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）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00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pSp>
        <p:nvGrpSpPr>
          <p:cNvPr id="100355" name="Group 16"/>
          <p:cNvGrpSpPr/>
          <p:nvPr/>
        </p:nvGrpSpPr>
        <p:grpSpPr>
          <a:xfrm>
            <a:off x="395288" y="2132013"/>
            <a:ext cx="8424862" cy="3889375"/>
            <a:chOff x="249" y="1343"/>
            <a:chExt cx="5307" cy="2450"/>
          </a:xfrm>
        </p:grpSpPr>
        <p:grpSp>
          <p:nvGrpSpPr>
            <p:cNvPr id="100356" name="Group 4"/>
            <p:cNvGrpSpPr/>
            <p:nvPr/>
          </p:nvGrpSpPr>
          <p:grpSpPr>
            <a:xfrm>
              <a:off x="249" y="1343"/>
              <a:ext cx="5307" cy="2450"/>
              <a:chOff x="720" y="480"/>
              <a:chExt cx="4224" cy="1390"/>
            </a:xfrm>
          </p:grpSpPr>
          <p:graphicFrame>
            <p:nvGraphicFramePr>
              <p:cNvPr id="100360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0361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0357" name="Text Box 7"/>
            <p:cNvSpPr txBox="1"/>
            <p:nvPr/>
          </p:nvSpPr>
          <p:spPr>
            <a:xfrm>
              <a:off x="339" y="1525"/>
              <a:ext cx="5127" cy="20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一个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非确定有限自动机（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NFA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）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是一个五元式：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zh-CN" altLang="en-US" sz="2000" dirty="0">
                  <a:solidFill>
                    <a:schemeClr val="tx2"/>
                  </a:solidFill>
                  <a:latin typeface="宋体" pitchFamily="2" charset="-122"/>
                </a:rPr>
                <a:t>    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M 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＝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(S,∑,move,S</a:t>
              </a:r>
              <a:r>
                <a:rPr lang="en-US" altLang="zh-CN" sz="2000" b="1" baseline="-25000" dirty="0">
                  <a:solidFill>
                    <a:schemeClr val="hlink"/>
                  </a:solidFill>
                  <a:latin typeface="宋体" pitchFamily="2" charset="-122"/>
                </a:rPr>
                <a:t>0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,F)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，其中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S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是一个有限集，它的每个元素称为一个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状态</a:t>
              </a:r>
              <a:endParaRPr lang="zh-CN" altLang="en-US" sz="2000" b="1" dirty="0">
                <a:solidFill>
                  <a:srgbClr val="FF0066"/>
                </a:solidFill>
                <a:latin typeface="宋体" pitchFamily="2" charset="-122"/>
              </a:endParaRPr>
            </a:p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∑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是一个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有穷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字母表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，它的每个元素称为一个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输入字符</a:t>
              </a:r>
              <a:endParaRPr lang="zh-CN" altLang="en-US" sz="2000" b="1" dirty="0">
                <a:solidFill>
                  <a:srgbClr val="FF0066"/>
                </a:solidFill>
                <a:latin typeface="宋体" pitchFamily="2" charset="-122"/>
              </a:endParaRPr>
            </a:p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</a:t>
              </a:r>
              <a:r>
                <a:rPr lang="en-US" altLang="zh-CN" sz="2000" b="1" dirty="0">
                  <a:solidFill>
                    <a:schemeClr val="hlink"/>
                  </a:solidFill>
                  <a:latin typeface="Arial" panose="020B0604020202090204" pitchFamily="34" charset="0"/>
                </a:rPr>
                <a:t>move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是一个从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S×∑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至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的子集的映射，即</a:t>
              </a:r>
              <a:r>
                <a:rPr lang="el-GR" altLang="zh-CN" sz="20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δ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S×∑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en-US" altLang="zh-CN" sz="2000" b="1" i="1" dirty="0">
                  <a:solidFill>
                    <a:srgbClr val="006600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→ 2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s</a:t>
              </a:r>
              <a:endParaRPr lang="en-US" altLang="zh-CN" sz="2000" b="1" baseline="30000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4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S</a:t>
              </a:r>
              <a:r>
                <a:rPr lang="en-US" altLang="zh-CN" sz="2000" b="1" baseline="-25000" dirty="0">
                  <a:solidFill>
                    <a:schemeClr val="hlink"/>
                  </a:solidFill>
                  <a:latin typeface="宋体" pitchFamily="2" charset="-122"/>
                </a:rPr>
                <a:t>0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是一个非空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初态集</a:t>
              </a:r>
              <a:endParaRPr lang="zh-CN" altLang="en-US" sz="2000" b="1" dirty="0">
                <a:solidFill>
                  <a:srgbClr val="FF0066"/>
                </a:solidFill>
                <a:latin typeface="宋体" pitchFamily="2" charset="-122"/>
              </a:endParaRPr>
            </a:p>
            <a:p>
              <a:pPr marL="536575" indent="-536575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5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 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F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S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是一个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终态集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（可空）。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pic>
          <p:nvPicPr>
            <p:cNvPr id="100358" name="Picture 8" descr="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" y="3373"/>
              <a:ext cx="180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0359" name="Picture 15" descr="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0" y="3113"/>
              <a:ext cx="180" cy="10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6562" name="Group 2"/>
          <p:cNvGrpSpPr/>
          <p:nvPr/>
        </p:nvGrpSpPr>
        <p:grpSpPr>
          <a:xfrm>
            <a:off x="250825" y="692150"/>
            <a:ext cx="8640763" cy="2640013"/>
            <a:chOff x="720" y="480"/>
            <a:chExt cx="4224" cy="1390"/>
          </a:xfrm>
        </p:grpSpPr>
        <p:graphicFrame>
          <p:nvGraphicFramePr>
            <p:cNvPr id="101421" name="Object 3"/>
            <p:cNvGraphicFramePr>
              <a:graphicFrameLocks noChangeAspect="1"/>
            </p:cNvGraphicFramePr>
            <p:nvPr/>
          </p:nvGraphicFramePr>
          <p:xfrm>
            <a:off x="720" y="480"/>
            <a:ext cx="4224" cy="1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7581900" imgH="2768600" progId="Photoshop.Image.7">
                    <p:embed/>
                  </p:oleObj>
                </mc:Choice>
                <mc:Fallback>
                  <p:oleObj name="" r:id="rId1" imgW="7581900" imgH="2768600" progId="Photoshop.Image.7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20" y="480"/>
                          <a:ext cx="4224" cy="1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22" name="Object 4"/>
            <p:cNvGraphicFramePr>
              <a:graphicFrameLocks noChangeAspect="1"/>
            </p:cNvGraphicFramePr>
            <p:nvPr/>
          </p:nvGraphicFramePr>
          <p:xfrm>
            <a:off x="2873" y="1028"/>
            <a:ext cx="15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114300" imgH="215900" progId="Equation.3">
                    <p:embed/>
                  </p:oleObj>
                </mc:Choice>
                <mc:Fallback>
                  <p:oleObj name="" r:id="rId3" imgW="114300" imgH="2159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73" y="1028"/>
                          <a:ext cx="157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5" name="Text Box 5"/>
          <p:cNvSpPr txBox="1"/>
          <p:nvPr/>
        </p:nvSpPr>
        <p:spPr>
          <a:xfrm>
            <a:off x="322263" y="825500"/>
            <a:ext cx="864235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一个含有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m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个状态和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个输入字符的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NFA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可用一张如下的</a:t>
            </a:r>
            <a:r>
              <a:rPr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状态转换图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来表示：该图含有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m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个状态结点，每个结点可以射出若干条弧与别的结点相连接，每条弧用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∑</a:t>
            </a:r>
            <a:r>
              <a:rPr lang="zh-CN" altLang="en-US" sz="2000" b="1" baseline="30000" dirty="0">
                <a:solidFill>
                  <a:schemeClr val="tx2"/>
                </a:solidFill>
                <a:latin typeface="宋体" pitchFamily="2" charset="-122"/>
              </a:rPr>
              <a:t>*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中的一个字（可以是不同的字，也可以是空字）做标记，整张图至少含有一个</a:t>
            </a:r>
            <a:r>
              <a:rPr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初态结点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和若干个（可以为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）</a:t>
            </a:r>
            <a:r>
              <a:rPr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终态结点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。某些结点既可以是初态结点也可以是终态结点。</a:t>
            </a:r>
            <a:endParaRPr lang="zh-CN" altLang="en-US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66" name="AutoShape 6"/>
          <p:cNvSpPr/>
          <p:nvPr/>
        </p:nvSpPr>
        <p:spPr>
          <a:xfrm>
            <a:off x="2773363" y="4217988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753" y="10800"/>
                </a:moveTo>
                <a:cubicBezTo>
                  <a:pt x="2753" y="15244"/>
                  <a:pt x="6356" y="18847"/>
                  <a:pt x="10800" y="18847"/>
                </a:cubicBezTo>
                <a:cubicBezTo>
                  <a:pt x="15244" y="18847"/>
                  <a:pt x="18847" y="15244"/>
                  <a:pt x="18847" y="10800"/>
                </a:cubicBezTo>
                <a:cubicBezTo>
                  <a:pt x="18847" y="6356"/>
                  <a:pt x="15244" y="2753"/>
                  <a:pt x="10800" y="2753"/>
                </a:cubicBezTo>
                <a:cubicBezTo>
                  <a:pt x="6356" y="2753"/>
                  <a:pt x="2753" y="6356"/>
                  <a:pt x="2753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67" name="Line 7"/>
          <p:cNvSpPr/>
          <p:nvPr/>
        </p:nvSpPr>
        <p:spPr>
          <a:xfrm>
            <a:off x="1979613" y="4506913"/>
            <a:ext cx="792162" cy="1587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6568" name="Group 8"/>
          <p:cNvGrpSpPr/>
          <p:nvPr/>
        </p:nvGrpSpPr>
        <p:grpSpPr>
          <a:xfrm rot="5400000">
            <a:off x="1889125" y="5646738"/>
            <a:ext cx="504825" cy="500062"/>
            <a:chOff x="1292" y="1890"/>
            <a:chExt cx="318" cy="315"/>
          </a:xfrm>
        </p:grpSpPr>
        <p:sp>
          <p:nvSpPr>
            <p:cNvPr id="101419" name="Arc 9"/>
            <p:cNvSpPr/>
            <p:nvPr/>
          </p:nvSpPr>
          <p:spPr>
            <a:xfrm>
              <a:off x="1292" y="1886"/>
              <a:ext cx="318" cy="282"/>
            </a:xfrm>
            <a:custGeom>
              <a:avLst/>
              <a:gdLst/>
              <a:ahLst/>
              <a:cxnLst>
                <a:cxn ang="0">
                  <a:pos x="23" y="282"/>
                </a:cxn>
                <a:cxn ang="0">
                  <a:pos x="318" y="193"/>
                </a:cxn>
                <a:cxn ang="0">
                  <a:pos x="159" y="186"/>
                </a:cxn>
              </a:cxnLst>
              <a:pathLst>
                <a:path w="43200" h="32751" fill="none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</a:path>
                <a:path w="43200" h="32751" stroke="0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  <a:lnTo>
                    <a:pt x="21600" y="21600"/>
                  </a:lnTo>
                  <a:lnTo>
                    <a:pt x="3100" y="3275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1420" name="Line 10"/>
            <p:cNvSpPr/>
            <p:nvPr/>
          </p:nvSpPr>
          <p:spPr>
            <a:xfrm flipH="1">
              <a:off x="1565" y="2069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6571" name="Text Box 11"/>
          <p:cNvSpPr txBox="1"/>
          <p:nvPr/>
        </p:nvSpPr>
        <p:spPr>
          <a:xfrm>
            <a:off x="1979613" y="4111625"/>
            <a:ext cx="936625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72" name="Text Box 12"/>
          <p:cNvSpPr txBox="1"/>
          <p:nvPr/>
        </p:nvSpPr>
        <p:spPr>
          <a:xfrm>
            <a:off x="323850" y="4221163"/>
            <a:ext cx="8636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a,b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73" name="AutoShape 13"/>
          <p:cNvSpPr/>
          <p:nvPr/>
        </p:nvSpPr>
        <p:spPr>
          <a:xfrm>
            <a:off x="1406525" y="5600700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753" y="10800"/>
                </a:moveTo>
                <a:cubicBezTo>
                  <a:pt x="2753" y="15244"/>
                  <a:pt x="6356" y="18847"/>
                  <a:pt x="10800" y="18847"/>
                </a:cubicBezTo>
                <a:cubicBezTo>
                  <a:pt x="15244" y="18847"/>
                  <a:pt x="18847" y="15244"/>
                  <a:pt x="18847" y="10800"/>
                </a:cubicBezTo>
                <a:cubicBezTo>
                  <a:pt x="18847" y="6356"/>
                  <a:pt x="15244" y="2753"/>
                  <a:pt x="10800" y="2753"/>
                </a:cubicBezTo>
                <a:cubicBezTo>
                  <a:pt x="6356" y="2753"/>
                  <a:pt x="2753" y="6356"/>
                  <a:pt x="2753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74" name="Text Box 14"/>
          <p:cNvSpPr txBox="1"/>
          <p:nvPr/>
        </p:nvSpPr>
        <p:spPr>
          <a:xfrm>
            <a:off x="1476375" y="4868863"/>
            <a:ext cx="8636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75" name="Text Box 15"/>
          <p:cNvSpPr txBox="1"/>
          <p:nvPr/>
        </p:nvSpPr>
        <p:spPr>
          <a:xfrm>
            <a:off x="2124075" y="5661025"/>
            <a:ext cx="8636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76" name="AutoShape 16"/>
          <p:cNvSpPr/>
          <p:nvPr/>
        </p:nvSpPr>
        <p:spPr>
          <a:xfrm>
            <a:off x="1403350" y="4211638"/>
            <a:ext cx="547688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6577" name="Group 17"/>
          <p:cNvGrpSpPr/>
          <p:nvPr/>
        </p:nvGrpSpPr>
        <p:grpSpPr>
          <a:xfrm rot="-4983352">
            <a:off x="1011238" y="4184650"/>
            <a:ext cx="431800" cy="504825"/>
            <a:chOff x="1292" y="1890"/>
            <a:chExt cx="318" cy="315"/>
          </a:xfrm>
        </p:grpSpPr>
        <p:sp>
          <p:nvSpPr>
            <p:cNvPr id="101417" name="Arc 18"/>
            <p:cNvSpPr/>
            <p:nvPr/>
          </p:nvSpPr>
          <p:spPr>
            <a:xfrm>
              <a:off x="1292" y="1890"/>
              <a:ext cx="318" cy="282"/>
            </a:xfrm>
            <a:custGeom>
              <a:avLst/>
              <a:gdLst/>
              <a:ahLst/>
              <a:cxnLst>
                <a:cxn ang="0">
                  <a:pos x="23" y="282"/>
                </a:cxn>
                <a:cxn ang="0">
                  <a:pos x="318" y="193"/>
                </a:cxn>
                <a:cxn ang="0">
                  <a:pos x="159" y="186"/>
                </a:cxn>
              </a:cxnLst>
              <a:pathLst>
                <a:path w="43200" h="32751" fill="none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</a:path>
                <a:path w="43200" h="32751" stroke="0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  <a:lnTo>
                    <a:pt x="21600" y="21600"/>
                  </a:lnTo>
                  <a:lnTo>
                    <a:pt x="3100" y="3275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1418" name="Line 19"/>
            <p:cNvSpPr/>
            <p:nvPr/>
          </p:nvSpPr>
          <p:spPr>
            <a:xfrm flipH="1">
              <a:off x="1565" y="2069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6580" name="Group 20"/>
          <p:cNvGrpSpPr/>
          <p:nvPr/>
        </p:nvGrpSpPr>
        <p:grpSpPr>
          <a:xfrm rot="5400000">
            <a:off x="3276600" y="4270375"/>
            <a:ext cx="428625" cy="431800"/>
            <a:chOff x="1292" y="1890"/>
            <a:chExt cx="318" cy="315"/>
          </a:xfrm>
        </p:grpSpPr>
        <p:sp>
          <p:nvSpPr>
            <p:cNvPr id="101415" name="Arc 21"/>
            <p:cNvSpPr/>
            <p:nvPr/>
          </p:nvSpPr>
          <p:spPr>
            <a:xfrm>
              <a:off x="1292" y="1890"/>
              <a:ext cx="318" cy="283"/>
            </a:xfrm>
            <a:custGeom>
              <a:avLst/>
              <a:gdLst/>
              <a:ahLst/>
              <a:cxnLst>
                <a:cxn ang="0">
                  <a:pos x="23" y="283"/>
                </a:cxn>
                <a:cxn ang="0">
                  <a:pos x="318" y="194"/>
                </a:cxn>
                <a:cxn ang="0">
                  <a:pos x="159" y="187"/>
                </a:cxn>
              </a:cxnLst>
              <a:pathLst>
                <a:path w="43200" h="32751" fill="none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</a:path>
                <a:path w="43200" h="32751" stroke="0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  <a:lnTo>
                    <a:pt x="21600" y="21600"/>
                  </a:lnTo>
                  <a:lnTo>
                    <a:pt x="3100" y="3275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1416" name="Line 22"/>
            <p:cNvSpPr/>
            <p:nvPr/>
          </p:nvSpPr>
          <p:spPr>
            <a:xfrm flipH="1">
              <a:off x="1565" y="2069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6583" name="Line 23"/>
          <p:cNvSpPr/>
          <p:nvPr/>
        </p:nvSpPr>
        <p:spPr>
          <a:xfrm>
            <a:off x="1692275" y="4795838"/>
            <a:ext cx="0" cy="792162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584" name="Text Box 24"/>
          <p:cNvSpPr txBox="1"/>
          <p:nvPr/>
        </p:nvSpPr>
        <p:spPr>
          <a:xfrm>
            <a:off x="3490913" y="4221163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a,b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85" name="AutoShape 25"/>
          <p:cNvSpPr/>
          <p:nvPr/>
        </p:nvSpPr>
        <p:spPr>
          <a:xfrm>
            <a:off x="5726113" y="5003800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753" y="10800"/>
                </a:moveTo>
                <a:cubicBezTo>
                  <a:pt x="2753" y="15244"/>
                  <a:pt x="6356" y="18847"/>
                  <a:pt x="10800" y="18847"/>
                </a:cubicBezTo>
                <a:cubicBezTo>
                  <a:pt x="15244" y="18847"/>
                  <a:pt x="18847" y="15244"/>
                  <a:pt x="18847" y="10800"/>
                </a:cubicBezTo>
                <a:cubicBezTo>
                  <a:pt x="18847" y="6356"/>
                  <a:pt x="15244" y="2753"/>
                  <a:pt x="10800" y="2753"/>
                </a:cubicBezTo>
                <a:cubicBezTo>
                  <a:pt x="6356" y="2753"/>
                  <a:pt x="2753" y="6356"/>
                  <a:pt x="2753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86" name="AutoShape 26"/>
          <p:cNvSpPr/>
          <p:nvPr/>
        </p:nvSpPr>
        <p:spPr>
          <a:xfrm>
            <a:off x="7237413" y="5003800"/>
            <a:ext cx="569912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87" name="Arc 27"/>
          <p:cNvSpPr/>
          <p:nvPr/>
        </p:nvSpPr>
        <p:spPr>
          <a:xfrm>
            <a:off x="6084888" y="4868863"/>
            <a:ext cx="1065212" cy="665162"/>
          </a:xfrm>
          <a:custGeom>
            <a:avLst/>
            <a:gdLst/>
            <a:ahLst/>
            <a:cxnLst>
              <a:cxn ang="0">
                <a:pos x="0" y="173989"/>
              </a:cxn>
              <a:cxn ang="0">
                <a:pos x="1065212" y="62482"/>
              </a:cxn>
              <a:cxn ang="0">
                <a:pos x="654513" y="665162"/>
              </a:cxn>
            </a:cxnLst>
            <a:pathLst>
              <a:path w="23706" h="21600" fill="none">
                <a:moveTo>
                  <a:pt x="0" y="5650"/>
                </a:moveTo>
                <a:cubicBezTo>
                  <a:pt x="3980" y="2015"/>
                  <a:pt x="9175" y="-1"/>
                  <a:pt x="14566" y="0"/>
                </a:cubicBezTo>
                <a:cubicBezTo>
                  <a:pt x="17724" y="0"/>
                  <a:pt x="20844" y="692"/>
                  <a:pt x="23705" y="2029"/>
                </a:cubicBezTo>
              </a:path>
              <a:path w="23706" h="21600" stroke="0">
                <a:moveTo>
                  <a:pt x="0" y="5650"/>
                </a:moveTo>
                <a:cubicBezTo>
                  <a:pt x="3980" y="2015"/>
                  <a:pt x="9175" y="-1"/>
                  <a:pt x="14566" y="0"/>
                </a:cubicBezTo>
                <a:cubicBezTo>
                  <a:pt x="17724" y="0"/>
                  <a:pt x="20844" y="692"/>
                  <a:pt x="23705" y="2029"/>
                </a:cubicBezTo>
                <a:lnTo>
                  <a:pt x="14566" y="21600"/>
                </a:lnTo>
                <a:lnTo>
                  <a:pt x="0" y="565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88" name="Arc 28"/>
          <p:cNvSpPr/>
          <p:nvPr/>
        </p:nvSpPr>
        <p:spPr>
          <a:xfrm rot="10800000">
            <a:off x="6300788" y="5013325"/>
            <a:ext cx="1065212" cy="665163"/>
          </a:xfrm>
          <a:custGeom>
            <a:avLst/>
            <a:gdLst/>
            <a:ahLst/>
            <a:cxnLst>
              <a:cxn ang="0">
                <a:pos x="0" y="173989"/>
              </a:cxn>
              <a:cxn ang="0">
                <a:pos x="1065212" y="62482"/>
              </a:cxn>
              <a:cxn ang="0">
                <a:pos x="654513" y="665163"/>
              </a:cxn>
            </a:cxnLst>
            <a:pathLst>
              <a:path w="23706" h="21600" fill="none">
                <a:moveTo>
                  <a:pt x="0" y="5650"/>
                </a:moveTo>
                <a:cubicBezTo>
                  <a:pt x="3980" y="2015"/>
                  <a:pt x="9175" y="-1"/>
                  <a:pt x="14566" y="0"/>
                </a:cubicBezTo>
                <a:cubicBezTo>
                  <a:pt x="17724" y="0"/>
                  <a:pt x="20844" y="692"/>
                  <a:pt x="23705" y="2029"/>
                </a:cubicBezTo>
              </a:path>
              <a:path w="23706" h="21600" stroke="0">
                <a:moveTo>
                  <a:pt x="0" y="5650"/>
                </a:moveTo>
                <a:cubicBezTo>
                  <a:pt x="3980" y="2015"/>
                  <a:pt x="9175" y="-1"/>
                  <a:pt x="14566" y="0"/>
                </a:cubicBezTo>
                <a:cubicBezTo>
                  <a:pt x="17724" y="0"/>
                  <a:pt x="20844" y="692"/>
                  <a:pt x="23705" y="2029"/>
                </a:cubicBezTo>
                <a:lnTo>
                  <a:pt x="14566" y="21600"/>
                </a:lnTo>
                <a:lnTo>
                  <a:pt x="0" y="565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89" name="Line 29"/>
          <p:cNvSpPr/>
          <p:nvPr/>
        </p:nvSpPr>
        <p:spPr>
          <a:xfrm>
            <a:off x="7164388" y="4941888"/>
            <a:ext cx="215900" cy="14287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590" name="Line 30"/>
          <p:cNvSpPr/>
          <p:nvPr/>
        </p:nvSpPr>
        <p:spPr>
          <a:xfrm flipH="1" flipV="1">
            <a:off x="6156325" y="5516563"/>
            <a:ext cx="144463" cy="730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6591" name="Group 31"/>
          <p:cNvGrpSpPr/>
          <p:nvPr/>
        </p:nvGrpSpPr>
        <p:grpSpPr>
          <a:xfrm rot="5400000">
            <a:off x="7848600" y="4976813"/>
            <a:ext cx="431800" cy="647700"/>
            <a:chOff x="1292" y="1890"/>
            <a:chExt cx="318" cy="315"/>
          </a:xfrm>
        </p:grpSpPr>
        <p:sp>
          <p:nvSpPr>
            <p:cNvPr id="101413" name="Arc 32"/>
            <p:cNvSpPr/>
            <p:nvPr/>
          </p:nvSpPr>
          <p:spPr>
            <a:xfrm>
              <a:off x="1292" y="1892"/>
              <a:ext cx="318" cy="283"/>
            </a:xfrm>
            <a:custGeom>
              <a:avLst/>
              <a:gdLst/>
              <a:ahLst/>
              <a:cxnLst>
                <a:cxn ang="0">
                  <a:pos x="23" y="283"/>
                </a:cxn>
                <a:cxn ang="0">
                  <a:pos x="318" y="194"/>
                </a:cxn>
                <a:cxn ang="0">
                  <a:pos x="159" y="187"/>
                </a:cxn>
              </a:cxnLst>
              <a:pathLst>
                <a:path w="43200" h="32751" fill="none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</a:path>
                <a:path w="43200" h="32751" stroke="0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  <a:lnTo>
                    <a:pt x="21600" y="21600"/>
                  </a:lnTo>
                  <a:lnTo>
                    <a:pt x="3100" y="3275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1414" name="Line 33"/>
            <p:cNvSpPr/>
            <p:nvPr/>
          </p:nvSpPr>
          <p:spPr>
            <a:xfrm flipH="1">
              <a:off x="1565" y="2069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6594" name="Group 34"/>
          <p:cNvGrpSpPr/>
          <p:nvPr/>
        </p:nvGrpSpPr>
        <p:grpSpPr>
          <a:xfrm rot="-5611272">
            <a:off x="5256213" y="4978400"/>
            <a:ext cx="431800" cy="649288"/>
            <a:chOff x="1292" y="1890"/>
            <a:chExt cx="318" cy="315"/>
          </a:xfrm>
        </p:grpSpPr>
        <p:sp>
          <p:nvSpPr>
            <p:cNvPr id="101411" name="Arc 35"/>
            <p:cNvSpPr/>
            <p:nvPr/>
          </p:nvSpPr>
          <p:spPr>
            <a:xfrm>
              <a:off x="1292" y="1890"/>
              <a:ext cx="318" cy="282"/>
            </a:xfrm>
            <a:custGeom>
              <a:avLst/>
              <a:gdLst/>
              <a:ahLst/>
              <a:cxnLst>
                <a:cxn ang="0">
                  <a:pos x="23" y="282"/>
                </a:cxn>
                <a:cxn ang="0">
                  <a:pos x="318" y="193"/>
                </a:cxn>
                <a:cxn ang="0">
                  <a:pos x="159" y="186"/>
                </a:cxn>
              </a:cxnLst>
              <a:pathLst>
                <a:path w="43200" h="32751" fill="none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</a:path>
                <a:path w="43200" h="32751" stroke="0">
                  <a:moveTo>
                    <a:pt x="3100" y="32751"/>
                  </a:moveTo>
                  <a:cubicBezTo>
                    <a:pt x="1072" y="29385"/>
                    <a:pt x="0" y="25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1880"/>
                    <a:pt x="43194" y="22160"/>
                    <a:pt x="43183" y="22440"/>
                  </a:cubicBezTo>
                  <a:lnTo>
                    <a:pt x="21600" y="21600"/>
                  </a:lnTo>
                  <a:lnTo>
                    <a:pt x="3100" y="3275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1412" name="Line 36"/>
            <p:cNvSpPr/>
            <p:nvPr/>
          </p:nvSpPr>
          <p:spPr>
            <a:xfrm flipH="1">
              <a:off x="1565" y="2069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6597" name="Text Box 37"/>
          <p:cNvSpPr txBox="1"/>
          <p:nvPr/>
        </p:nvSpPr>
        <p:spPr>
          <a:xfrm>
            <a:off x="6300788" y="429260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ab,ba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98" name="Text Box 38"/>
          <p:cNvSpPr txBox="1"/>
          <p:nvPr/>
        </p:nvSpPr>
        <p:spPr>
          <a:xfrm>
            <a:off x="4356100" y="5084763"/>
            <a:ext cx="8636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aa,bb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599" name="Text Box 39"/>
          <p:cNvSpPr txBox="1"/>
          <p:nvPr/>
        </p:nvSpPr>
        <p:spPr>
          <a:xfrm>
            <a:off x="6300788" y="5589588"/>
            <a:ext cx="935037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ab,ba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600" name="Text Box 40"/>
          <p:cNvSpPr txBox="1"/>
          <p:nvPr/>
        </p:nvSpPr>
        <p:spPr>
          <a:xfrm>
            <a:off x="8280400" y="5084763"/>
            <a:ext cx="8636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aa,bb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6601" name="Line 41"/>
          <p:cNvSpPr/>
          <p:nvPr/>
        </p:nvSpPr>
        <p:spPr>
          <a:xfrm flipV="1">
            <a:off x="827088" y="2349500"/>
            <a:ext cx="2881312" cy="1871663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02" name="Line 42"/>
          <p:cNvSpPr/>
          <p:nvPr/>
        </p:nvSpPr>
        <p:spPr>
          <a:xfrm>
            <a:off x="3779838" y="1916113"/>
            <a:ext cx="489585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6603" name="Line 43"/>
          <p:cNvSpPr/>
          <p:nvPr/>
        </p:nvSpPr>
        <p:spPr>
          <a:xfrm>
            <a:off x="395288" y="2276475"/>
            <a:ext cx="403225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6604" name="Line 44"/>
          <p:cNvSpPr/>
          <p:nvPr/>
        </p:nvSpPr>
        <p:spPr>
          <a:xfrm>
            <a:off x="4932363" y="2708275"/>
            <a:ext cx="381635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6605" name="Line 45"/>
          <p:cNvSpPr/>
          <p:nvPr/>
        </p:nvSpPr>
        <p:spPr>
          <a:xfrm>
            <a:off x="395288" y="3068638"/>
            <a:ext cx="208915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6606" name="Line 46"/>
          <p:cNvSpPr/>
          <p:nvPr/>
        </p:nvSpPr>
        <p:spPr>
          <a:xfrm flipV="1">
            <a:off x="6011863" y="2708275"/>
            <a:ext cx="504825" cy="2233613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6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6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6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6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6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6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6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6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6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55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66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66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66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66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66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7" dur="1000"/>
                                        <p:tgtEl>
                                          <p:spTgt spid="666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66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66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6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6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6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6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7000"/>
                            </p:stCondLst>
                            <p:childTnLst>
                              <p:par>
                                <p:cTn id="144" presetID="55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66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66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66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1000"/>
                                        <p:tgtEl>
                                          <p:spTgt spid="66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66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66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7" dur="1000"/>
                                        <p:tgtEl>
                                          <p:spTgt spid="66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/>
      <p:bldP spid="66566" grpId="0" animBg="1"/>
      <p:bldP spid="66571" grpId="0" animBg="1"/>
      <p:bldP spid="66572" grpId="0" animBg="1"/>
      <p:bldP spid="66573" grpId="0" animBg="1"/>
      <p:bldP spid="66574" grpId="0" animBg="1"/>
      <p:bldP spid="66575" grpId="0" animBg="1"/>
      <p:bldP spid="66576" grpId="0" animBg="1"/>
      <p:bldP spid="66584" grpId="0"/>
      <p:bldP spid="66585" grpId="0" animBg="1"/>
      <p:bldP spid="66586" grpId="0" animBg="1"/>
      <p:bldP spid="66597" grpId="0"/>
      <p:bldP spid="66598" grpId="0" animBg="1"/>
      <p:bldP spid="66599" grpId="0" animBg="1"/>
      <p:bldP spid="6660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Line 2"/>
          <p:cNvSpPr/>
          <p:nvPr/>
        </p:nvSpPr>
        <p:spPr>
          <a:xfrm flipV="1">
            <a:off x="3635375" y="4471988"/>
            <a:ext cx="647700" cy="431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587" name="AutoShape 3"/>
          <p:cNvSpPr/>
          <p:nvPr/>
        </p:nvSpPr>
        <p:spPr>
          <a:xfrm>
            <a:off x="8174038" y="4937125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y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88" name="AutoShape 4"/>
          <p:cNvSpPr/>
          <p:nvPr/>
        </p:nvSpPr>
        <p:spPr>
          <a:xfrm>
            <a:off x="325438" y="489426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x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89" name="AutoShape 5"/>
          <p:cNvSpPr/>
          <p:nvPr/>
        </p:nvSpPr>
        <p:spPr>
          <a:xfrm>
            <a:off x="3349625" y="4894263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0" name="AutoShape 6"/>
          <p:cNvSpPr/>
          <p:nvPr/>
        </p:nvSpPr>
        <p:spPr>
          <a:xfrm>
            <a:off x="1836738" y="489426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1" name="Text Box 7"/>
          <p:cNvSpPr txBox="1"/>
          <p:nvPr/>
        </p:nvSpPr>
        <p:spPr>
          <a:xfrm>
            <a:off x="6948488" y="4184650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2" name="Text Box 8"/>
          <p:cNvSpPr txBox="1"/>
          <p:nvPr/>
        </p:nvSpPr>
        <p:spPr>
          <a:xfrm>
            <a:off x="1906588" y="4111625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3" name="Text Box 9"/>
          <p:cNvSpPr txBox="1"/>
          <p:nvPr/>
        </p:nvSpPr>
        <p:spPr>
          <a:xfrm>
            <a:off x="5003800" y="4291013"/>
            <a:ext cx="4318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4" name="Text Box 10"/>
          <p:cNvSpPr txBox="1"/>
          <p:nvPr/>
        </p:nvSpPr>
        <p:spPr>
          <a:xfrm>
            <a:off x="3706813" y="4327525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5" name="Text Box 11"/>
          <p:cNvSpPr txBox="1"/>
          <p:nvPr/>
        </p:nvSpPr>
        <p:spPr>
          <a:xfrm>
            <a:off x="1979613" y="5767388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6" name="Text Box 12"/>
          <p:cNvSpPr txBox="1"/>
          <p:nvPr/>
        </p:nvSpPr>
        <p:spPr>
          <a:xfrm>
            <a:off x="2627313" y="4832350"/>
            <a:ext cx="360362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7" name="Text Box 13"/>
          <p:cNvSpPr txBox="1"/>
          <p:nvPr/>
        </p:nvSpPr>
        <p:spPr>
          <a:xfrm>
            <a:off x="3706813" y="5551488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8" name="AutoShape 14"/>
          <p:cNvSpPr/>
          <p:nvPr/>
        </p:nvSpPr>
        <p:spPr>
          <a:xfrm>
            <a:off x="4284663" y="5686425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599" name="AutoShape 15"/>
          <p:cNvSpPr/>
          <p:nvPr/>
        </p:nvSpPr>
        <p:spPr>
          <a:xfrm>
            <a:off x="4284663" y="4102100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00" name="AutoShape 16"/>
          <p:cNvSpPr/>
          <p:nvPr/>
        </p:nvSpPr>
        <p:spPr>
          <a:xfrm>
            <a:off x="5292725" y="4967288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01" name="AutoShape 17"/>
          <p:cNvSpPr/>
          <p:nvPr/>
        </p:nvSpPr>
        <p:spPr>
          <a:xfrm>
            <a:off x="6950075" y="4937125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02" name="Line 18"/>
          <p:cNvSpPr/>
          <p:nvPr/>
        </p:nvSpPr>
        <p:spPr>
          <a:xfrm>
            <a:off x="898525" y="5192713"/>
            <a:ext cx="9366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3" name="Line 19"/>
          <p:cNvSpPr/>
          <p:nvPr/>
        </p:nvSpPr>
        <p:spPr>
          <a:xfrm>
            <a:off x="2411413" y="5192713"/>
            <a:ext cx="9366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4" name="Line 20"/>
          <p:cNvSpPr/>
          <p:nvPr/>
        </p:nvSpPr>
        <p:spPr>
          <a:xfrm>
            <a:off x="4859338" y="4471988"/>
            <a:ext cx="720725" cy="5048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5" name="Line 21"/>
          <p:cNvSpPr/>
          <p:nvPr/>
        </p:nvSpPr>
        <p:spPr>
          <a:xfrm flipH="1">
            <a:off x="4859338" y="5480050"/>
            <a:ext cx="647700" cy="5048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6" name="Line 22"/>
          <p:cNvSpPr/>
          <p:nvPr/>
        </p:nvSpPr>
        <p:spPr>
          <a:xfrm flipH="1" flipV="1">
            <a:off x="3706813" y="5408613"/>
            <a:ext cx="576262" cy="431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7" name="Line 23"/>
          <p:cNvSpPr/>
          <p:nvPr/>
        </p:nvSpPr>
        <p:spPr>
          <a:xfrm>
            <a:off x="5867400" y="5264150"/>
            <a:ext cx="108108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8" name="Line 24"/>
          <p:cNvSpPr/>
          <p:nvPr/>
        </p:nvSpPr>
        <p:spPr>
          <a:xfrm>
            <a:off x="7523163" y="5264150"/>
            <a:ext cx="649287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7609" name="Group 25"/>
          <p:cNvGrpSpPr/>
          <p:nvPr/>
        </p:nvGrpSpPr>
        <p:grpSpPr>
          <a:xfrm>
            <a:off x="1906588" y="4471988"/>
            <a:ext cx="360362" cy="433387"/>
            <a:chOff x="1247" y="2115"/>
            <a:chExt cx="362" cy="363"/>
          </a:xfrm>
        </p:grpSpPr>
        <p:sp>
          <p:nvSpPr>
            <p:cNvPr id="102447" name="Arc 26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48" name="Line 27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7612" name="Group 28"/>
          <p:cNvGrpSpPr/>
          <p:nvPr/>
        </p:nvGrpSpPr>
        <p:grpSpPr>
          <a:xfrm>
            <a:off x="7019925" y="4543425"/>
            <a:ext cx="360363" cy="433388"/>
            <a:chOff x="1247" y="2115"/>
            <a:chExt cx="362" cy="363"/>
          </a:xfrm>
        </p:grpSpPr>
        <p:sp>
          <p:nvSpPr>
            <p:cNvPr id="102445" name="Arc 29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46" name="Line 30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7615" name="Group 31"/>
          <p:cNvGrpSpPr/>
          <p:nvPr/>
        </p:nvGrpSpPr>
        <p:grpSpPr>
          <a:xfrm flipV="1">
            <a:off x="1906588" y="5408613"/>
            <a:ext cx="433387" cy="431800"/>
            <a:chOff x="1247" y="2115"/>
            <a:chExt cx="362" cy="363"/>
          </a:xfrm>
        </p:grpSpPr>
        <p:sp>
          <p:nvSpPr>
            <p:cNvPr id="102443" name="Arc 32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44" name="Line 33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7618" name="Group 34"/>
          <p:cNvGrpSpPr/>
          <p:nvPr/>
        </p:nvGrpSpPr>
        <p:grpSpPr>
          <a:xfrm flipV="1">
            <a:off x="7019925" y="5480050"/>
            <a:ext cx="433388" cy="431800"/>
            <a:chOff x="1247" y="2115"/>
            <a:chExt cx="362" cy="363"/>
          </a:xfrm>
        </p:grpSpPr>
        <p:sp>
          <p:nvSpPr>
            <p:cNvPr id="102441" name="Arc 35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42" name="Line 36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7621" name="Text Box 37"/>
          <p:cNvSpPr txBox="1"/>
          <p:nvPr/>
        </p:nvSpPr>
        <p:spPr>
          <a:xfrm>
            <a:off x="7091363" y="5840413"/>
            <a:ext cx="360362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22" name="Text Box 38"/>
          <p:cNvSpPr txBox="1"/>
          <p:nvPr/>
        </p:nvSpPr>
        <p:spPr>
          <a:xfrm>
            <a:off x="5219700" y="5551488"/>
            <a:ext cx="360363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23" name="Text Box 39"/>
          <p:cNvSpPr txBox="1"/>
          <p:nvPr/>
        </p:nvSpPr>
        <p:spPr>
          <a:xfrm>
            <a:off x="1114425" y="4832350"/>
            <a:ext cx="360363" cy="485775"/>
          </a:xfrm>
          <a:prstGeom prst="rect">
            <a:avLst/>
          </a:prstGeom>
          <a:noFill/>
          <a:ln w="28575" cap="flat" cmpd="sng">
            <a:solidFill>
              <a:srgbClr val="FFFFFF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24" name="Text Box 40"/>
          <p:cNvSpPr txBox="1"/>
          <p:nvPr/>
        </p:nvSpPr>
        <p:spPr>
          <a:xfrm>
            <a:off x="6227763" y="4903788"/>
            <a:ext cx="360362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25" name="Text Box 41"/>
          <p:cNvSpPr txBox="1"/>
          <p:nvPr/>
        </p:nvSpPr>
        <p:spPr>
          <a:xfrm>
            <a:off x="7596188" y="4903788"/>
            <a:ext cx="360362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7626" name="Group 42"/>
          <p:cNvGrpSpPr/>
          <p:nvPr/>
        </p:nvGrpSpPr>
        <p:grpSpPr>
          <a:xfrm>
            <a:off x="323850" y="547688"/>
            <a:ext cx="6911975" cy="1944687"/>
            <a:chOff x="295" y="2069"/>
            <a:chExt cx="3946" cy="1316"/>
          </a:xfrm>
        </p:grpSpPr>
        <p:grpSp>
          <p:nvGrpSpPr>
            <p:cNvPr id="102437" name="Group 43"/>
            <p:cNvGrpSpPr/>
            <p:nvPr/>
          </p:nvGrpSpPr>
          <p:grpSpPr>
            <a:xfrm>
              <a:off x="295" y="2069"/>
              <a:ext cx="3946" cy="1316"/>
              <a:chOff x="720" y="480"/>
              <a:chExt cx="4224" cy="1390"/>
            </a:xfrm>
          </p:grpSpPr>
          <p:graphicFrame>
            <p:nvGraphicFramePr>
              <p:cNvPr id="102439" name="Object 4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1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90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40" name="Object 4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438" name="Text Box 46"/>
            <p:cNvSpPr txBox="1"/>
            <p:nvPr/>
          </p:nvSpPr>
          <p:spPr>
            <a:xfrm>
              <a:off x="340" y="2115"/>
              <a:ext cx="3765" cy="11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下图所示的状态转换图的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、∑及∑</a:t>
              </a:r>
              <a:r>
                <a:rPr lang="zh-CN" altLang="en-US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如下：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S = {0,1,2,3}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∑= {a,b}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    ∑</a:t>
              </a:r>
              <a:r>
                <a:rPr lang="en-US" altLang="zh-CN" sz="2000" b="1" baseline="30000" dirty="0">
                  <a:solidFill>
                    <a:schemeClr val="tx2"/>
                  </a:solidFill>
                  <a:latin typeface="宋体" pitchFamily="2" charset="-122"/>
                </a:rPr>
                <a:t>*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= {</a:t>
              </a:r>
              <a:r>
                <a:rPr lang="el-GR" altLang="zh-CN" sz="2000" b="1" dirty="0">
                  <a:solidFill>
                    <a:schemeClr val="tx2"/>
                  </a:solidFill>
                  <a:latin typeface="宋体" pitchFamily="2" charset="-122"/>
                </a:rPr>
                <a:t>α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| </a:t>
              </a:r>
              <a:r>
                <a:rPr lang="el-GR" altLang="zh-CN" sz="2000" b="1" dirty="0">
                  <a:solidFill>
                    <a:schemeClr val="tx2"/>
                  </a:solidFill>
                  <a:latin typeface="宋体" pitchFamily="2" charset="-122"/>
                </a:rPr>
                <a:t>α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为</a:t>
              </a:r>
              <a:r>
                <a:rPr lang="el-GR" altLang="zh-CN" sz="20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，或者</a:t>
              </a:r>
              <a:r>
                <a:rPr lang="el-GR" altLang="zh-CN" sz="2000" b="1" dirty="0">
                  <a:solidFill>
                    <a:schemeClr val="tx2"/>
                  </a:solidFill>
                </a:rPr>
                <a:t>α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为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a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、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b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的任意组合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}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7631" name="Rectangle 47"/>
          <p:cNvSpPr/>
          <p:nvPr/>
        </p:nvSpPr>
        <p:spPr>
          <a:xfrm>
            <a:off x="5400675" y="2627313"/>
            <a:ext cx="3419475" cy="180975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对于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∑</a:t>
            </a:r>
            <a:r>
              <a:rPr lang="zh-CN" altLang="en-US" sz="2000" b="1" baseline="30000" dirty="0">
                <a:solidFill>
                  <a:schemeClr val="accent2"/>
                </a:solidFill>
                <a:latin typeface="宋体" pitchFamily="2" charset="-122"/>
              </a:rPr>
              <a:t>*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中的任何一个字</a:t>
            </a:r>
            <a:r>
              <a:rPr lang="el-GR" altLang="zh-CN" sz="1800" b="1" dirty="0">
                <a:solidFill>
                  <a:schemeClr val="hlink"/>
                </a:solidFill>
                <a:latin typeface="宋体" pitchFamily="2" charset="-122"/>
              </a:rPr>
              <a:t>α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，若存在一条从某一初态结点到某一终态结点的通路，且这条通路上所有弧上的标记字依序连接成的字（忽略</a:t>
            </a:r>
            <a:r>
              <a:rPr lang="el-GR" altLang="zh-CN" sz="1800" b="1" dirty="0">
                <a:solidFill>
                  <a:schemeClr val="accent2"/>
                </a:solidFill>
                <a:latin typeface="宋体" pitchFamily="2" charset="-122"/>
              </a:rPr>
              <a:t>ε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）等于</a:t>
            </a:r>
            <a:r>
              <a:rPr lang="el-GR" altLang="zh-CN" sz="1800" b="1" dirty="0">
                <a:solidFill>
                  <a:schemeClr val="accent2"/>
                </a:solidFill>
                <a:latin typeface="宋体" pitchFamily="2" charset="-122"/>
              </a:rPr>
              <a:t>α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，则称</a:t>
            </a:r>
            <a:r>
              <a:rPr lang="el-GR" altLang="zh-CN" sz="2000" b="1" dirty="0">
                <a:solidFill>
                  <a:schemeClr val="accent2"/>
                </a:solidFill>
              </a:rPr>
              <a:t>α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可以为</a:t>
            </a:r>
            <a:r>
              <a:rPr lang="en-US" altLang="zh-CN" sz="1800" b="1" dirty="0">
                <a:solidFill>
                  <a:srgbClr val="FF0066"/>
                </a:solidFill>
                <a:latin typeface="宋体" pitchFamily="2" charset="-122"/>
              </a:rPr>
              <a:t>NFA M</a:t>
            </a:r>
            <a:r>
              <a:rPr lang="en-US" altLang="zh-CN" sz="18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sz="1800" b="1" dirty="0">
                <a:solidFill>
                  <a:schemeClr val="accent2"/>
                </a:solidFill>
                <a:latin typeface="宋体" pitchFamily="2" charset="-122"/>
              </a:rPr>
              <a:t>识别</a:t>
            </a:r>
            <a:r>
              <a:rPr lang="zh-CN" altLang="en-US" sz="1800" b="1" dirty="0">
                <a:solidFill>
                  <a:schemeClr val="tx2"/>
                </a:solidFill>
                <a:latin typeface="宋体" pitchFamily="2" charset="-122"/>
              </a:rPr>
              <a:t>。</a:t>
            </a:r>
            <a:endParaRPr lang="zh-CN" altLang="en-US" sz="18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7632" name="Text Box 48"/>
          <p:cNvSpPr txBox="1"/>
          <p:nvPr/>
        </p:nvSpPr>
        <p:spPr>
          <a:xfrm>
            <a:off x="395288" y="2997200"/>
            <a:ext cx="5976937" cy="10160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从初态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x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到终态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y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的连接通路弧上，有如下标记字： </a:t>
            </a:r>
            <a:r>
              <a:rPr lang="el-GR" altLang="zh-CN" sz="2000" b="1" dirty="0">
                <a:solidFill>
                  <a:schemeClr val="hlink"/>
                </a:solidFill>
              </a:rPr>
              <a:t>ε ε</a:t>
            </a:r>
            <a:r>
              <a:rPr lang="en-US" altLang="zh-CN" sz="2000" b="1" dirty="0">
                <a:solidFill>
                  <a:schemeClr val="hlink"/>
                </a:solidFill>
              </a:rPr>
              <a:t> a a </a:t>
            </a:r>
            <a:r>
              <a:rPr lang="el-GR" altLang="zh-CN" sz="2000" b="1" dirty="0">
                <a:solidFill>
                  <a:schemeClr val="hlink"/>
                </a:solidFill>
              </a:rPr>
              <a:t>ε ε</a:t>
            </a:r>
            <a:r>
              <a:rPr lang="zh-CN" altLang="en-US" sz="2000" b="1" dirty="0">
                <a:solidFill>
                  <a:schemeClr val="accent2"/>
                </a:solidFill>
              </a:rPr>
              <a:t>，去除</a:t>
            </a:r>
            <a:r>
              <a:rPr lang="el-GR" altLang="zh-CN" sz="2000" b="1" dirty="0">
                <a:solidFill>
                  <a:schemeClr val="hlink"/>
                </a:solidFill>
              </a:rPr>
              <a:t>ε</a:t>
            </a:r>
            <a:r>
              <a:rPr lang="zh-CN" altLang="en-US" sz="2000" b="1" dirty="0">
                <a:solidFill>
                  <a:schemeClr val="accent2"/>
                </a:solidFill>
              </a:rPr>
              <a:t>，为</a:t>
            </a:r>
            <a:r>
              <a:rPr lang="en-US" altLang="zh-CN" sz="2000" b="1" dirty="0">
                <a:solidFill>
                  <a:schemeClr val="hlink"/>
                </a:solidFill>
              </a:rPr>
              <a:t>aa</a:t>
            </a:r>
            <a:r>
              <a:rPr lang="zh-CN" altLang="en-US" sz="2000" b="1" dirty="0">
                <a:solidFill>
                  <a:schemeClr val="accent2"/>
                </a:solidFill>
              </a:rPr>
              <a:t>，所以字</a:t>
            </a:r>
            <a:r>
              <a:rPr lang="en-US" altLang="zh-CN" sz="2000" b="1" dirty="0">
                <a:solidFill>
                  <a:schemeClr val="accent2"/>
                </a:solidFill>
              </a:rPr>
              <a:t>aa</a:t>
            </a:r>
            <a:r>
              <a:rPr lang="zh-CN" altLang="en-US" sz="2000" b="1" dirty="0">
                <a:solidFill>
                  <a:schemeClr val="accent2"/>
                </a:solidFill>
              </a:rPr>
              <a:t>可为</a:t>
            </a:r>
            <a:r>
              <a:rPr lang="en-US" altLang="zh-CN" sz="2000" b="1" dirty="0">
                <a:solidFill>
                  <a:schemeClr val="accent2"/>
                </a:solidFill>
              </a:rPr>
              <a:t>NFA</a:t>
            </a:r>
            <a:r>
              <a:rPr lang="zh-CN" altLang="en-US" sz="2000" b="1" dirty="0">
                <a:solidFill>
                  <a:schemeClr val="accent2"/>
                </a:solidFill>
              </a:rPr>
              <a:t>接受。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6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6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6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6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6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6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7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7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4" dur="2000" fill="hold"/>
                                        <p:tgtEl>
                                          <p:spTgt spid="676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67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7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20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20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1" dur="20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2000" fill="hold"/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4" dur="2000" fill="hold"/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2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7" dur="2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2000" fill="hold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20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20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2000" fill="hold"/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20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5" dur="20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2000" fill="hold"/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8" dur="2000" fill="hold"/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0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67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67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nimBg="1"/>
      <p:bldP spid="67587" grpId="0" animBg="1"/>
      <p:bldP spid="67588" grpId="0" animBg="1"/>
      <p:bldP spid="67589" grpId="0" animBg="1"/>
      <p:bldP spid="67590" grpId="0" animBg="1"/>
      <p:bldP spid="67591" grpId="0" animBg="1"/>
      <p:bldP spid="67592" grpId="0" animBg="1"/>
      <p:bldP spid="67593" grpId="0" animBg="1"/>
      <p:bldP spid="67594" grpId="0" animBg="1"/>
      <p:bldP spid="67595" grpId="0" animBg="1"/>
      <p:bldP spid="67596" grpId="0" animBg="1"/>
      <p:bldP spid="67597" grpId="0" animBg="1"/>
      <p:bldP spid="67598" grpId="0" animBg="1"/>
      <p:bldP spid="67599" grpId="0" animBg="1"/>
      <p:bldP spid="67600" grpId="0" animBg="1"/>
      <p:bldP spid="67601" grpId="0" animBg="1"/>
      <p:bldP spid="67602" grpId="0" animBg="1"/>
      <p:bldP spid="67603" grpId="0" animBg="1"/>
      <p:bldP spid="67604" grpId="0" animBg="1"/>
      <p:bldP spid="67605" grpId="0" animBg="1"/>
      <p:bldP spid="67606" grpId="0" animBg="1"/>
      <p:bldP spid="67607" grpId="0" animBg="1"/>
      <p:bldP spid="67608" grpId="0" animBg="1"/>
      <p:bldP spid="67621" grpId="0" animBg="1"/>
      <p:bldP spid="67622" grpId="0" animBg="1"/>
      <p:bldP spid="67623" grpId="0" animBg="1"/>
      <p:bldP spid="67624" grpId="0" animBg="1"/>
      <p:bldP spid="67625" grpId="0" animBg="1"/>
      <p:bldP spid="67631" grpId="0" animBg="1"/>
      <p:bldP spid="67631" grpId="1" animBg="1"/>
      <p:bldP spid="67631" grpId="2" animBg="1"/>
      <p:bldP spid="6763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AutoShape 2"/>
          <p:cNvSpPr/>
          <p:nvPr/>
        </p:nvSpPr>
        <p:spPr>
          <a:xfrm>
            <a:off x="1550988" y="2216150"/>
            <a:ext cx="569912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11" name="AutoShape 3"/>
          <p:cNvSpPr/>
          <p:nvPr/>
        </p:nvSpPr>
        <p:spPr>
          <a:xfrm>
            <a:off x="4791075" y="2195513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753" y="10800"/>
                </a:moveTo>
                <a:cubicBezTo>
                  <a:pt x="2753" y="15244"/>
                  <a:pt x="6356" y="18847"/>
                  <a:pt x="10800" y="18847"/>
                </a:cubicBezTo>
                <a:cubicBezTo>
                  <a:pt x="15244" y="18847"/>
                  <a:pt x="18847" y="15244"/>
                  <a:pt x="18847" y="10800"/>
                </a:cubicBezTo>
                <a:cubicBezTo>
                  <a:pt x="18847" y="6356"/>
                  <a:pt x="15244" y="2753"/>
                  <a:pt x="10800" y="2753"/>
                </a:cubicBezTo>
                <a:cubicBezTo>
                  <a:pt x="6356" y="2753"/>
                  <a:pt x="2753" y="6356"/>
                  <a:pt x="2753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12" name="AutoShape 4"/>
          <p:cNvSpPr/>
          <p:nvPr/>
        </p:nvSpPr>
        <p:spPr>
          <a:xfrm>
            <a:off x="3135313" y="2195513"/>
            <a:ext cx="569912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13" name="Line 5"/>
          <p:cNvSpPr/>
          <p:nvPr/>
        </p:nvSpPr>
        <p:spPr>
          <a:xfrm>
            <a:off x="468313" y="2493963"/>
            <a:ext cx="10795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14" name="AutoShape 6"/>
          <p:cNvSpPr/>
          <p:nvPr/>
        </p:nvSpPr>
        <p:spPr>
          <a:xfrm>
            <a:off x="3063875" y="992188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15" name="Line 7"/>
          <p:cNvSpPr/>
          <p:nvPr/>
        </p:nvSpPr>
        <p:spPr>
          <a:xfrm>
            <a:off x="2124075" y="2473325"/>
            <a:ext cx="1008063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16" name="Line 8"/>
          <p:cNvSpPr/>
          <p:nvPr/>
        </p:nvSpPr>
        <p:spPr>
          <a:xfrm>
            <a:off x="3708400" y="2473325"/>
            <a:ext cx="10795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17" name="Line 9"/>
          <p:cNvSpPr/>
          <p:nvPr/>
        </p:nvSpPr>
        <p:spPr>
          <a:xfrm flipV="1">
            <a:off x="1836738" y="1268413"/>
            <a:ext cx="1223962" cy="9366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18" name="Line 10"/>
          <p:cNvSpPr/>
          <p:nvPr/>
        </p:nvSpPr>
        <p:spPr>
          <a:xfrm>
            <a:off x="3635375" y="1268413"/>
            <a:ext cx="1368425" cy="9366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19" name="Arc 11"/>
          <p:cNvSpPr/>
          <p:nvPr/>
        </p:nvSpPr>
        <p:spPr>
          <a:xfrm rot="10800000">
            <a:off x="1908175" y="1989138"/>
            <a:ext cx="2820988" cy="1368425"/>
          </a:xfrm>
          <a:custGeom>
            <a:avLst/>
            <a:gdLst/>
            <a:ahLst/>
            <a:cxnLst>
              <a:cxn ang="0">
                <a:pos x="0" y="268110"/>
              </a:cxn>
              <a:cxn ang="0">
                <a:pos x="2820988" y="611357"/>
              </a:cxn>
              <a:cxn ang="0">
                <a:pos x="1174832" y="1368425"/>
              </a:cxn>
            </a:cxnLst>
            <a:pathLst>
              <a:path w="30836" h="21600" fill="none">
                <a:moveTo>
                  <a:pt x="0" y="4232"/>
                </a:moveTo>
                <a:cubicBezTo>
                  <a:pt x="3717" y="1483"/>
                  <a:pt x="8218" y="-1"/>
                  <a:pt x="12842" y="0"/>
                </a:cubicBezTo>
                <a:cubicBezTo>
                  <a:pt x="20077" y="0"/>
                  <a:pt x="26832" y="3622"/>
                  <a:pt x="30835" y="9650"/>
                </a:cubicBezTo>
              </a:path>
              <a:path w="30836" h="21600" stroke="0">
                <a:moveTo>
                  <a:pt x="0" y="4232"/>
                </a:moveTo>
                <a:cubicBezTo>
                  <a:pt x="3717" y="1483"/>
                  <a:pt x="8218" y="-1"/>
                  <a:pt x="12842" y="0"/>
                </a:cubicBezTo>
                <a:cubicBezTo>
                  <a:pt x="20077" y="0"/>
                  <a:pt x="26832" y="3622"/>
                  <a:pt x="30835" y="9650"/>
                </a:cubicBezTo>
                <a:lnTo>
                  <a:pt x="12842" y="21600"/>
                </a:lnTo>
                <a:lnTo>
                  <a:pt x="0" y="4232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0" name="Line 12"/>
          <p:cNvSpPr/>
          <p:nvPr/>
        </p:nvSpPr>
        <p:spPr>
          <a:xfrm flipV="1">
            <a:off x="4672013" y="2824163"/>
            <a:ext cx="404812" cy="303212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21" name="Arc 13"/>
          <p:cNvSpPr/>
          <p:nvPr/>
        </p:nvSpPr>
        <p:spPr>
          <a:xfrm rot="1751364">
            <a:off x="3611563" y="1225550"/>
            <a:ext cx="1666875" cy="1141413"/>
          </a:xfrm>
          <a:custGeom>
            <a:avLst/>
            <a:gdLst/>
            <a:ahLst/>
            <a:cxnLst>
              <a:cxn ang="0">
                <a:pos x="0" y="223632"/>
              </a:cxn>
              <a:cxn ang="0">
                <a:pos x="1666875" y="509937"/>
              </a:cxn>
              <a:cxn ang="0">
                <a:pos x="694189" y="1141413"/>
              </a:cxn>
            </a:cxnLst>
            <a:pathLst>
              <a:path w="30836" h="21600" fill="none">
                <a:moveTo>
                  <a:pt x="0" y="4232"/>
                </a:moveTo>
                <a:cubicBezTo>
                  <a:pt x="3717" y="1483"/>
                  <a:pt x="8218" y="-1"/>
                  <a:pt x="12842" y="0"/>
                </a:cubicBezTo>
                <a:cubicBezTo>
                  <a:pt x="20077" y="0"/>
                  <a:pt x="26832" y="3622"/>
                  <a:pt x="30835" y="9650"/>
                </a:cubicBezTo>
              </a:path>
              <a:path w="30836" h="21600" stroke="0">
                <a:moveTo>
                  <a:pt x="0" y="4232"/>
                </a:moveTo>
                <a:cubicBezTo>
                  <a:pt x="3717" y="1483"/>
                  <a:pt x="8218" y="-1"/>
                  <a:pt x="12842" y="0"/>
                </a:cubicBezTo>
                <a:cubicBezTo>
                  <a:pt x="20077" y="0"/>
                  <a:pt x="26832" y="3622"/>
                  <a:pt x="30835" y="9650"/>
                </a:cubicBezTo>
                <a:lnTo>
                  <a:pt x="12842" y="21600"/>
                </a:lnTo>
                <a:lnTo>
                  <a:pt x="0" y="4232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2" name="Line 14"/>
          <p:cNvSpPr/>
          <p:nvPr/>
        </p:nvSpPr>
        <p:spPr>
          <a:xfrm rot="-9048636" flipV="1">
            <a:off x="3643313" y="1001713"/>
            <a:ext cx="239712" cy="252412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23" name="Text Box 15"/>
          <p:cNvSpPr txBox="1"/>
          <p:nvPr/>
        </p:nvSpPr>
        <p:spPr>
          <a:xfrm>
            <a:off x="2411413" y="2112963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24" name="Text Box 16"/>
          <p:cNvSpPr txBox="1"/>
          <p:nvPr/>
        </p:nvSpPr>
        <p:spPr>
          <a:xfrm>
            <a:off x="2052638" y="14859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25" name="Text Box 17"/>
          <p:cNvSpPr txBox="1"/>
          <p:nvPr/>
        </p:nvSpPr>
        <p:spPr>
          <a:xfrm>
            <a:off x="3995738" y="2112963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26" name="Text Box 18"/>
          <p:cNvSpPr txBox="1"/>
          <p:nvPr/>
        </p:nvSpPr>
        <p:spPr>
          <a:xfrm>
            <a:off x="4140200" y="1320800"/>
            <a:ext cx="431800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27" name="Text Box 19"/>
          <p:cNvSpPr txBox="1"/>
          <p:nvPr/>
        </p:nvSpPr>
        <p:spPr>
          <a:xfrm>
            <a:off x="3276600" y="2905125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8628" name="Text Box 20"/>
          <p:cNvSpPr txBox="1"/>
          <p:nvPr/>
        </p:nvSpPr>
        <p:spPr>
          <a:xfrm>
            <a:off x="4645025" y="1031875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8629" name="Group 21"/>
          <p:cNvGrpSpPr/>
          <p:nvPr/>
        </p:nvGrpSpPr>
        <p:grpSpPr>
          <a:xfrm>
            <a:off x="179388" y="3849688"/>
            <a:ext cx="8748712" cy="2243137"/>
            <a:chOff x="136" y="2523"/>
            <a:chExt cx="5511" cy="1413"/>
          </a:xfrm>
        </p:grpSpPr>
        <p:graphicFrame>
          <p:nvGraphicFramePr>
            <p:cNvPr id="103470" name="Object 22"/>
            <p:cNvGraphicFramePr>
              <a:graphicFrameLocks noChangeAspect="1"/>
            </p:cNvGraphicFramePr>
            <p:nvPr/>
          </p:nvGraphicFramePr>
          <p:xfrm>
            <a:off x="136" y="2523"/>
            <a:ext cx="5511" cy="1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" imgW="7581900" imgH="2768600" progId="Photoshop.Image.7">
                    <p:embed/>
                  </p:oleObj>
                </mc:Choice>
                <mc:Fallback>
                  <p:oleObj name="" r:id="rId1" imgW="7581900" imgH="2768600" progId="Photoshop.Image.7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6" y="2523"/>
                          <a:ext cx="5511" cy="14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71" name="Object 23"/>
            <p:cNvGraphicFramePr>
              <a:graphicFrameLocks noChangeAspect="1"/>
            </p:cNvGraphicFramePr>
            <p:nvPr/>
          </p:nvGraphicFramePr>
          <p:xfrm>
            <a:off x="179" y="3015"/>
            <a:ext cx="5374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3" imgW="3238500" imgH="457200" progId="Equation.3">
                    <p:embed/>
                  </p:oleObj>
                </mc:Choice>
                <mc:Fallback>
                  <p:oleObj name="" r:id="rId3" imgW="3238500" imgH="4572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9" y="3015"/>
                          <a:ext cx="5374" cy="6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72" name="Text Box 24"/>
            <p:cNvSpPr txBox="1"/>
            <p:nvPr/>
          </p:nvSpPr>
          <p:spPr>
            <a:xfrm>
              <a:off x="181" y="2704"/>
              <a:ext cx="52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3-16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：上图所示的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的以下两个转换序列都可以接受串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abb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8633" name="Rectangle 25"/>
          <p:cNvSpPr/>
          <p:nvPr/>
        </p:nvSpPr>
        <p:spPr>
          <a:xfrm>
            <a:off x="6948488" y="908050"/>
            <a:ext cx="1100137" cy="711200"/>
          </a:xfrm>
          <a:prstGeom prst="rect">
            <a:avLst/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允许接受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ab</a:t>
            </a:r>
            <a:endParaRPr lang="en-US" altLang="zh-CN" sz="2000" b="1" i="1" dirty="0">
              <a:solidFill>
                <a:srgbClr val="006600"/>
              </a:solidFill>
              <a:latin typeface="宋体" pitchFamily="2" charset="-122"/>
            </a:endParaRPr>
          </a:p>
        </p:txBody>
      </p:sp>
      <p:grpSp>
        <p:nvGrpSpPr>
          <p:cNvPr id="68634" name="Group 26"/>
          <p:cNvGrpSpPr/>
          <p:nvPr/>
        </p:nvGrpSpPr>
        <p:grpSpPr>
          <a:xfrm>
            <a:off x="5364163" y="1628775"/>
            <a:ext cx="2160587" cy="863600"/>
            <a:chOff x="3379" y="1026"/>
            <a:chExt cx="1361" cy="544"/>
          </a:xfrm>
        </p:grpSpPr>
        <p:sp>
          <p:nvSpPr>
            <p:cNvPr id="103468" name="Line 27"/>
            <p:cNvSpPr/>
            <p:nvPr/>
          </p:nvSpPr>
          <p:spPr>
            <a:xfrm>
              <a:off x="3379" y="1570"/>
              <a:ext cx="136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lgDashDotDot"/>
              <a:headEnd type="none" w="med" len="med"/>
              <a:tailEnd type="none" w="med" len="med"/>
            </a:ln>
          </p:spPr>
        </p:sp>
        <p:sp>
          <p:nvSpPr>
            <p:cNvPr id="103469" name="Line 28"/>
            <p:cNvSpPr/>
            <p:nvPr/>
          </p:nvSpPr>
          <p:spPr>
            <a:xfrm flipV="1">
              <a:off x="4740" y="1026"/>
              <a:ext cx="0" cy="54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lgDashDotDot"/>
              <a:headEnd type="none" w="med" len="med"/>
              <a:tailEnd type="triangle" w="med" len="med"/>
            </a:ln>
          </p:spPr>
        </p:sp>
      </p:grpSp>
      <p:grpSp>
        <p:nvGrpSpPr>
          <p:cNvPr id="68637" name="Group 29"/>
          <p:cNvGrpSpPr/>
          <p:nvPr/>
        </p:nvGrpSpPr>
        <p:grpSpPr>
          <a:xfrm>
            <a:off x="5364163" y="549275"/>
            <a:ext cx="2881312" cy="1943100"/>
            <a:chOff x="3651" y="1117"/>
            <a:chExt cx="1815" cy="1224"/>
          </a:xfrm>
        </p:grpSpPr>
        <p:grpSp>
          <p:nvGrpSpPr>
            <p:cNvPr id="103464" name="Group 30"/>
            <p:cNvGrpSpPr/>
            <p:nvPr/>
          </p:nvGrpSpPr>
          <p:grpSpPr>
            <a:xfrm>
              <a:off x="3651" y="1797"/>
              <a:ext cx="1361" cy="544"/>
              <a:chOff x="3379" y="1026"/>
              <a:chExt cx="1361" cy="544"/>
            </a:xfrm>
          </p:grpSpPr>
          <p:sp>
            <p:nvSpPr>
              <p:cNvPr id="103466" name="Line 31"/>
              <p:cNvSpPr/>
              <p:nvPr/>
            </p:nvSpPr>
            <p:spPr>
              <a:xfrm>
                <a:off x="3379" y="1570"/>
                <a:ext cx="1361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none" w="med" len="med"/>
              </a:ln>
            </p:spPr>
          </p:sp>
          <p:sp>
            <p:nvSpPr>
              <p:cNvPr id="103467" name="Line 32"/>
              <p:cNvSpPr/>
              <p:nvPr/>
            </p:nvSpPr>
            <p:spPr>
              <a:xfrm flipV="1">
                <a:off x="4740" y="1026"/>
                <a:ext cx="0" cy="54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triangle" w="med" len="med"/>
              </a:ln>
            </p:spPr>
          </p:sp>
        </p:grpSp>
        <p:sp>
          <p:nvSpPr>
            <p:cNvPr id="103465" name="Rectangle 33"/>
            <p:cNvSpPr/>
            <p:nvPr/>
          </p:nvSpPr>
          <p:spPr>
            <a:xfrm>
              <a:off x="4468" y="1117"/>
              <a:ext cx="998" cy="640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/>
                  </a:solidFill>
                  <a:latin typeface="宋体" pitchFamily="2" charset="-122"/>
                </a:rPr>
                <a:t>允许接受与</a:t>
              </a:r>
              <a:r>
                <a:rPr lang="en-US" altLang="zh-CN" sz="2000" b="1" dirty="0">
                  <a:solidFill>
                    <a:schemeClr val="accent2"/>
                  </a:solidFill>
                  <a:latin typeface="宋体" pitchFamily="2" charset="-122"/>
                </a:rPr>
                <a:t>ab*</a:t>
              </a:r>
              <a:r>
                <a:rPr lang="zh-CN" altLang="en-US" sz="2000" b="1" dirty="0">
                  <a:solidFill>
                    <a:schemeClr val="accent2"/>
                  </a:solidFill>
                  <a:latin typeface="宋体" pitchFamily="2" charset="-122"/>
                </a:rPr>
                <a:t>匹配的字符串</a:t>
              </a:r>
              <a:endParaRPr lang="zh-CN" altLang="en-US" sz="2000" b="1" i="1" dirty="0">
                <a:solidFill>
                  <a:srgbClr val="006600"/>
                </a:solidFill>
                <a:latin typeface="宋体" pitchFamily="2" charset="-122"/>
              </a:endParaRPr>
            </a:p>
          </p:txBody>
        </p:sp>
      </p:grpSp>
      <p:grpSp>
        <p:nvGrpSpPr>
          <p:cNvPr id="68642" name="Group 34"/>
          <p:cNvGrpSpPr/>
          <p:nvPr/>
        </p:nvGrpSpPr>
        <p:grpSpPr>
          <a:xfrm>
            <a:off x="5364163" y="549275"/>
            <a:ext cx="2881312" cy="1943100"/>
            <a:chOff x="3651" y="1117"/>
            <a:chExt cx="1815" cy="1224"/>
          </a:xfrm>
        </p:grpSpPr>
        <p:grpSp>
          <p:nvGrpSpPr>
            <p:cNvPr id="103460" name="Group 35"/>
            <p:cNvGrpSpPr/>
            <p:nvPr/>
          </p:nvGrpSpPr>
          <p:grpSpPr>
            <a:xfrm>
              <a:off x="3651" y="1797"/>
              <a:ext cx="1361" cy="544"/>
              <a:chOff x="3379" y="1026"/>
              <a:chExt cx="1361" cy="544"/>
            </a:xfrm>
          </p:grpSpPr>
          <p:sp>
            <p:nvSpPr>
              <p:cNvPr id="103462" name="Line 36"/>
              <p:cNvSpPr/>
              <p:nvPr/>
            </p:nvSpPr>
            <p:spPr>
              <a:xfrm>
                <a:off x="3379" y="1570"/>
                <a:ext cx="1361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none" w="med" len="med"/>
              </a:ln>
            </p:spPr>
          </p:sp>
          <p:sp>
            <p:nvSpPr>
              <p:cNvPr id="103463" name="Line 37"/>
              <p:cNvSpPr/>
              <p:nvPr/>
            </p:nvSpPr>
            <p:spPr>
              <a:xfrm flipV="1">
                <a:off x="4740" y="1026"/>
                <a:ext cx="0" cy="54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triangle" w="med" len="med"/>
              </a:ln>
            </p:spPr>
          </p:sp>
        </p:grpSp>
        <p:sp>
          <p:nvSpPr>
            <p:cNvPr id="103461" name="Rectangle 38"/>
            <p:cNvSpPr/>
            <p:nvPr/>
          </p:nvSpPr>
          <p:spPr>
            <a:xfrm>
              <a:off x="4468" y="1117"/>
              <a:ext cx="998" cy="640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/>
                  </a:solidFill>
                  <a:latin typeface="宋体" pitchFamily="2" charset="-122"/>
                </a:rPr>
                <a:t>允许接受与</a:t>
              </a:r>
              <a:r>
                <a:rPr lang="en-US" altLang="zh-CN" sz="2000" b="1" dirty="0">
                  <a:solidFill>
                    <a:schemeClr val="accent2"/>
                  </a:solidFill>
                  <a:latin typeface="宋体" pitchFamily="2" charset="-122"/>
                </a:rPr>
                <a:t>b*</a:t>
              </a:r>
              <a:r>
                <a:rPr lang="zh-CN" altLang="en-US" sz="2000" b="1" dirty="0">
                  <a:solidFill>
                    <a:schemeClr val="accent2"/>
                  </a:solidFill>
                  <a:latin typeface="宋体" pitchFamily="2" charset="-122"/>
                </a:rPr>
                <a:t>匹配的字符串</a:t>
              </a:r>
              <a:endParaRPr lang="zh-CN" altLang="en-US" sz="2000" b="1" i="1" dirty="0">
                <a:solidFill>
                  <a:srgbClr val="006600"/>
                </a:solidFill>
                <a:latin typeface="宋体" pitchFamily="2" charset="-122"/>
              </a:endParaRPr>
            </a:p>
          </p:txBody>
        </p:sp>
      </p:grpSp>
      <p:grpSp>
        <p:nvGrpSpPr>
          <p:cNvPr id="68647" name="Group 39"/>
          <p:cNvGrpSpPr/>
          <p:nvPr/>
        </p:nvGrpSpPr>
        <p:grpSpPr>
          <a:xfrm>
            <a:off x="5435600" y="549275"/>
            <a:ext cx="2881313" cy="1943100"/>
            <a:chOff x="3651" y="1117"/>
            <a:chExt cx="1815" cy="1224"/>
          </a:xfrm>
        </p:grpSpPr>
        <p:grpSp>
          <p:nvGrpSpPr>
            <p:cNvPr id="103456" name="Group 40"/>
            <p:cNvGrpSpPr/>
            <p:nvPr/>
          </p:nvGrpSpPr>
          <p:grpSpPr>
            <a:xfrm>
              <a:off x="3651" y="1797"/>
              <a:ext cx="1361" cy="544"/>
              <a:chOff x="3379" y="1026"/>
              <a:chExt cx="1361" cy="544"/>
            </a:xfrm>
          </p:grpSpPr>
          <p:sp>
            <p:nvSpPr>
              <p:cNvPr id="103458" name="Line 41"/>
              <p:cNvSpPr/>
              <p:nvPr/>
            </p:nvSpPr>
            <p:spPr>
              <a:xfrm>
                <a:off x="3379" y="1570"/>
                <a:ext cx="1361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none" w="med" len="med"/>
              </a:ln>
            </p:spPr>
          </p:sp>
          <p:sp>
            <p:nvSpPr>
              <p:cNvPr id="103459" name="Line 42"/>
              <p:cNvSpPr/>
              <p:nvPr/>
            </p:nvSpPr>
            <p:spPr>
              <a:xfrm flipV="1">
                <a:off x="4740" y="1026"/>
                <a:ext cx="0" cy="54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lgDashDotDot"/>
                <a:headEnd type="none" w="med" len="med"/>
                <a:tailEnd type="triangle" w="med" len="med"/>
              </a:ln>
            </p:spPr>
          </p:sp>
        </p:grpSp>
        <p:sp>
          <p:nvSpPr>
            <p:cNvPr id="103457" name="Rectangle 43"/>
            <p:cNvSpPr/>
            <p:nvPr/>
          </p:nvSpPr>
          <p:spPr>
            <a:xfrm>
              <a:off x="4468" y="1117"/>
              <a:ext cx="998" cy="640"/>
            </a:xfrm>
            <a:prstGeom prst="rect">
              <a:avLst/>
            </a:pr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/>
                  </a:solidFill>
                  <a:latin typeface="宋体" pitchFamily="2" charset="-122"/>
                </a:rPr>
                <a:t>允许接受与</a:t>
              </a:r>
              <a:r>
                <a:rPr lang="en-US" altLang="zh-CN" sz="2000" b="1" dirty="0">
                  <a:solidFill>
                    <a:schemeClr val="accent2"/>
                  </a:solidFill>
                  <a:latin typeface="宋体" pitchFamily="2" charset="-122"/>
                </a:rPr>
                <a:t>ab</a:t>
              </a:r>
              <a:r>
                <a:rPr lang="en-US" altLang="zh-CN" sz="2000" b="1" baseline="30000" dirty="0">
                  <a:solidFill>
                    <a:schemeClr val="accent2"/>
                  </a:solidFill>
                  <a:latin typeface="宋体" pitchFamily="2" charset="-122"/>
                </a:rPr>
                <a:t>+</a:t>
              </a:r>
              <a:r>
                <a:rPr lang="zh-CN" altLang="en-US" sz="2000" b="1" dirty="0">
                  <a:solidFill>
                    <a:schemeClr val="accent2"/>
                  </a:solidFill>
                  <a:latin typeface="宋体" pitchFamily="2" charset="-122"/>
                </a:rPr>
                <a:t>匹配的字符串</a:t>
              </a:r>
              <a:endParaRPr lang="zh-CN" altLang="en-US" sz="2000" b="1" i="1" dirty="0">
                <a:solidFill>
                  <a:srgbClr val="006600"/>
                </a:solidFill>
                <a:latin typeface="宋体" pitchFamily="2" charset="-122"/>
              </a:endParaRPr>
            </a:p>
          </p:txBody>
        </p:sp>
      </p:grpSp>
      <p:sp>
        <p:nvSpPr>
          <p:cNvPr id="68652" name="AutoShape 44"/>
          <p:cNvSpPr/>
          <p:nvPr/>
        </p:nvSpPr>
        <p:spPr>
          <a:xfrm>
            <a:off x="5940425" y="260350"/>
            <a:ext cx="2374900" cy="1655763"/>
          </a:xfrm>
          <a:prstGeom prst="wedgeRectCallout">
            <a:avLst>
              <a:gd name="adj1" fmla="val -79278"/>
              <a:gd name="adj2" fmla="val 66972"/>
            </a:avLst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由此，我们可以看出这个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NFA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接受与正则式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ab</a:t>
            </a:r>
            <a:r>
              <a:rPr lang="en-US" altLang="zh-CN" sz="2000" b="1" baseline="30000" dirty="0">
                <a:solidFill>
                  <a:schemeClr val="hlink"/>
                </a:solidFill>
                <a:latin typeface="宋体" pitchFamily="2" charset="-122"/>
              </a:rPr>
              <a:t>+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|ab</a:t>
            </a:r>
            <a:r>
              <a:rPr lang="en-US" altLang="zh-CN" sz="2000" b="1" baseline="30000" dirty="0">
                <a:solidFill>
                  <a:schemeClr val="hlink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|b</a:t>
            </a:r>
            <a:r>
              <a:rPr lang="en-US" altLang="zh-CN" sz="2000" b="1" baseline="30000" dirty="0">
                <a:solidFill>
                  <a:schemeClr val="hlink"/>
                </a:solidFill>
                <a:latin typeface="宋体" pitchFamily="2" charset="-122"/>
              </a:rPr>
              <a:t>*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相同的语言！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68653" name="Rectangle 45"/>
          <p:cNvSpPr/>
          <p:nvPr/>
        </p:nvSpPr>
        <p:spPr>
          <a:xfrm>
            <a:off x="250825" y="549275"/>
            <a:ext cx="962025" cy="406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endParaRPr lang="en-US" altLang="zh-CN" sz="2000" b="1" dirty="0">
              <a:solidFill>
                <a:srgbClr val="000C0C"/>
              </a:solidFill>
              <a:latin typeface="宋体" pitchFamily="2" charset="-122"/>
            </a:endParaRPr>
          </a:p>
        </p:txBody>
      </p:sp>
      <p:sp>
        <p:nvSpPr>
          <p:cNvPr id="68654" name="Rectangle 46"/>
          <p:cNvSpPr/>
          <p:nvPr/>
        </p:nvSpPr>
        <p:spPr>
          <a:xfrm>
            <a:off x="250825" y="549275"/>
            <a:ext cx="1127125" cy="8636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endParaRPr lang="en-US" altLang="zh-CN" sz="2000" b="1" dirty="0">
              <a:solidFill>
                <a:srgbClr val="000C0C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r>
              <a:rPr lang="zh-CN" altLang="en-US" sz="2000" b="1" baseline="30000" dirty="0">
                <a:solidFill>
                  <a:srgbClr val="000C0C"/>
                </a:solidFill>
                <a:latin typeface="宋体" pitchFamily="2" charset="-122"/>
              </a:rPr>
              <a:t>＋</a:t>
            </a:r>
            <a:endParaRPr lang="zh-CN" altLang="en-US" sz="2000" b="1" baseline="30000" dirty="0">
              <a:solidFill>
                <a:srgbClr val="000C0C"/>
              </a:solidFill>
              <a:latin typeface="宋体" pitchFamily="2" charset="-122"/>
            </a:endParaRPr>
          </a:p>
        </p:txBody>
      </p:sp>
      <p:sp>
        <p:nvSpPr>
          <p:cNvPr id="68655" name="Rectangle 47"/>
          <p:cNvSpPr/>
          <p:nvPr/>
        </p:nvSpPr>
        <p:spPr>
          <a:xfrm>
            <a:off x="179388" y="476250"/>
            <a:ext cx="1127125" cy="13208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endParaRPr lang="en-US" altLang="zh-CN" sz="2000" b="1" dirty="0">
              <a:solidFill>
                <a:srgbClr val="000C0C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r>
              <a:rPr lang="zh-CN" altLang="en-US" sz="2000" b="1" baseline="30000" dirty="0">
                <a:solidFill>
                  <a:srgbClr val="000C0C"/>
                </a:solidFill>
                <a:latin typeface="宋体" pitchFamily="2" charset="-122"/>
              </a:rPr>
              <a:t>＋</a:t>
            </a:r>
            <a:endParaRPr lang="zh-CN" altLang="en-US" sz="2000" b="1" baseline="30000" dirty="0">
              <a:solidFill>
                <a:srgbClr val="000C0C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r>
              <a:rPr lang="en-US" altLang="zh-CN" sz="2000" b="1" baseline="30000" dirty="0">
                <a:solidFill>
                  <a:srgbClr val="000C0C"/>
                </a:solidFill>
                <a:latin typeface="宋体" pitchFamily="2" charset="-122"/>
              </a:rPr>
              <a:t>*</a:t>
            </a:r>
            <a:endParaRPr lang="en-US" altLang="zh-CN" sz="2000" b="1" baseline="30000" dirty="0">
              <a:solidFill>
                <a:srgbClr val="000C0C"/>
              </a:solidFill>
              <a:latin typeface="宋体" pitchFamily="2" charset="-122"/>
            </a:endParaRPr>
          </a:p>
        </p:txBody>
      </p:sp>
      <p:sp>
        <p:nvSpPr>
          <p:cNvPr id="68656" name="Rectangle 48"/>
          <p:cNvSpPr/>
          <p:nvPr/>
        </p:nvSpPr>
        <p:spPr>
          <a:xfrm>
            <a:off x="179388" y="476250"/>
            <a:ext cx="1127125" cy="1778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endParaRPr lang="en-US" altLang="zh-CN" sz="2000" b="1" dirty="0">
              <a:solidFill>
                <a:srgbClr val="000C0C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r>
              <a:rPr lang="zh-CN" altLang="en-US" sz="2000" b="1" baseline="30000" dirty="0">
                <a:solidFill>
                  <a:srgbClr val="000C0C"/>
                </a:solidFill>
                <a:latin typeface="宋体" pitchFamily="2" charset="-122"/>
              </a:rPr>
              <a:t>＋</a:t>
            </a:r>
            <a:endParaRPr lang="zh-CN" altLang="en-US" sz="2000" b="1" baseline="30000" dirty="0">
              <a:solidFill>
                <a:srgbClr val="000C0C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ab</a:t>
            </a:r>
            <a:r>
              <a:rPr lang="en-US" altLang="zh-CN" sz="2000" b="1" baseline="30000" dirty="0">
                <a:solidFill>
                  <a:srgbClr val="000C0C"/>
                </a:solidFill>
                <a:latin typeface="宋体" pitchFamily="2" charset="-122"/>
              </a:rPr>
              <a:t>*</a:t>
            </a:r>
            <a:endParaRPr lang="en-US" altLang="zh-CN" sz="2000" b="1" baseline="30000" dirty="0">
              <a:solidFill>
                <a:srgbClr val="000C0C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C0C"/>
                </a:solidFill>
                <a:latin typeface="宋体" pitchFamily="2" charset="-122"/>
              </a:rPr>
              <a:t>接受</a:t>
            </a:r>
            <a:r>
              <a:rPr lang="en-US" altLang="zh-CN" sz="2000" b="1" dirty="0">
                <a:solidFill>
                  <a:srgbClr val="000C0C"/>
                </a:solidFill>
                <a:latin typeface="宋体" pitchFamily="2" charset="-122"/>
              </a:rPr>
              <a:t>b</a:t>
            </a:r>
            <a:r>
              <a:rPr lang="en-US" altLang="zh-CN" sz="2000" b="1" baseline="30000" dirty="0">
                <a:solidFill>
                  <a:srgbClr val="000C0C"/>
                </a:solidFill>
                <a:latin typeface="宋体" pitchFamily="2" charset="-122"/>
              </a:rPr>
              <a:t>*</a:t>
            </a:r>
            <a:endParaRPr lang="en-US" altLang="zh-CN" sz="2000" b="1" baseline="30000" dirty="0">
              <a:solidFill>
                <a:srgbClr val="000C0C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5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6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7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9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4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5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9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0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1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4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5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6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7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9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0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2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4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5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7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0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2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6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8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68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9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0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1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4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5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6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8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9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0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1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4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5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6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8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9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0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1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4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5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6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8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9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0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1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3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4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5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6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68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68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68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/>
                                        <p:tgtEl>
                                          <p:spTgt spid="68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7" dur="1000"/>
                                        <p:tgtEl>
                                          <p:spTgt spid="68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1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2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3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4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6" presetID="21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8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9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1" presetID="21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2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3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4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6" presetID="21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7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8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9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1" presetID="21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2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3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4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6" presetID="21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7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8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9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1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2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3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4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6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7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8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9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500"/>
                            </p:stCondLst>
                            <p:childTnLst>
                              <p:par>
                                <p:cTn id="216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7" dur="1000"/>
                                        <p:tgtEl>
                                          <p:spTgt spid="68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/>
                                        <p:tgtEl>
                                          <p:spTgt spid="68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1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2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9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0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2" presetID="21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3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4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5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7" presetID="21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8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9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0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2" presetID="21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3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4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5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7" presetID="21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8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9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0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2" presetID="21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3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4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5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56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7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8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9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0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2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3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4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5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"/>
                            </p:stCondLst>
                            <p:childTnLst>
                              <p:par>
                                <p:cTn id="268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9" dur="1000"/>
                                        <p:tgtEl>
                                          <p:spTgt spid="68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/>
                                        <p:tgtEl>
                                          <p:spTgt spid="68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1" dur="10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1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6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7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9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0" presetID="21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1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2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3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5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6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7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8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0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1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2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5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6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7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8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0" presetID="21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1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2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3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20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2500"/>
                            </p:stCondLst>
                            <p:childTnLst>
                              <p:par>
                                <p:cTn id="310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1" dur="1000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000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3500"/>
                            </p:stCondLst>
                            <p:childTnLst>
                              <p:par>
                                <p:cTn id="3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6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6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1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2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3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4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6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7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8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9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0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1" presetID="21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2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3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4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5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6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7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8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9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40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1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2" dur="5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3" dur="5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4" dur="5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45" dur="5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6" presetID="21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7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8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9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0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1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2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3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4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5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500"/>
                            </p:stCondLst>
                            <p:childTnLst>
                              <p:par>
                                <p:cTn id="357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8" dur="1000"/>
                                        <p:tgtEl>
                                          <p:spTgt spid="68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/>
                                        <p:tgtEl>
                                          <p:spTgt spid="68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0" dur="10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6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7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36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9" presetID="22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0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1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2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373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4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5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6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7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378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9" presetID="2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0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1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2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383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84" presetID="22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5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6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7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388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500"/>
                            </p:stCondLst>
                            <p:childTnLst>
                              <p:par>
                                <p:cTn id="3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2000"/>
                                        <p:tgtEl>
                                          <p:spTgt spid="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2500"/>
                            </p:stCondLst>
                            <p:childTnLst>
                              <p:par>
                                <p:cTn id="394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5" dur="1000"/>
                                        <p:tgtEl>
                                          <p:spTgt spid="6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/>
                                        <p:tgtEl>
                                          <p:spTgt spid="6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1" presetClass="emph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1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2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3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4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5" presetID="21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6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8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9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0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1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2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3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14" dur="500" fill="hold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5" presetID="21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6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7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8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19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20" presetID="21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1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2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3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24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500"/>
                            </p:stCondLst>
                            <p:childTnLst>
                              <p:par>
                                <p:cTn id="426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7" dur="1000"/>
                                        <p:tgtEl>
                                          <p:spTgt spid="68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1000"/>
                                        <p:tgtEl>
                                          <p:spTgt spid="68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9" dur="1000"/>
                                        <p:tgtEl>
                                          <p:spTgt spid="68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1" fill="hold">
                            <p:stCondLst>
                              <p:cond delay="1500"/>
                            </p:stCondLst>
                            <p:childTnLst>
                              <p:par>
                                <p:cTn id="4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1000" fill="hold"/>
                                        <p:tgtEl>
                                          <p:spTgt spid="68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1000" fill="hold"/>
                                        <p:tgtEl>
                                          <p:spTgt spid="68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0" dur="1000" fill="hold"/>
                                        <p:tgtEl>
                                          <p:spTgt spid="68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1000" fill="hold"/>
                                        <p:tgtEl>
                                          <p:spTgt spid="68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20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nimBg="1"/>
      <p:bldP spid="68610" grpId="1" animBg="1"/>
      <p:bldP spid="68610" grpId="2" animBg="1"/>
      <p:bldP spid="68610" grpId="3" animBg="1"/>
      <p:bldP spid="68610" grpId="4" animBg="1"/>
      <p:bldP spid="68610" grpId="5" animBg="1"/>
      <p:bldP spid="68610" grpId="6" animBg="1"/>
      <p:bldP spid="68610" grpId="7" animBg="1"/>
      <p:bldP spid="68610" grpId="8" animBg="1"/>
      <p:bldP spid="68611" grpId="0" animBg="1"/>
      <p:bldP spid="68611" grpId="1" animBg="1"/>
      <p:bldP spid="68611" grpId="2" animBg="1"/>
      <p:bldP spid="68611" grpId="3" animBg="1"/>
      <p:bldP spid="68611" grpId="4" animBg="1"/>
      <p:bldP spid="68611" grpId="5" animBg="1"/>
      <p:bldP spid="68611" grpId="6" animBg="1"/>
      <p:bldP spid="68611" grpId="7" animBg="1"/>
      <p:bldP spid="68611" grpId="8" animBg="1"/>
      <p:bldP spid="68612" grpId="0" animBg="1"/>
      <p:bldP spid="68612" grpId="1" animBg="1"/>
      <p:bldP spid="68612" grpId="2" animBg="1"/>
      <p:bldP spid="68613" grpId="0" animBg="1"/>
      <p:bldP spid="68613" grpId="1" animBg="1"/>
      <p:bldP spid="68613" grpId="2" animBg="1"/>
      <p:bldP spid="68613" grpId="3" animBg="1"/>
      <p:bldP spid="68613" grpId="4" animBg="1"/>
      <p:bldP spid="68613" grpId="5" animBg="1"/>
      <p:bldP spid="68613" grpId="6" animBg="1"/>
      <p:bldP spid="68613" grpId="7" animBg="1"/>
      <p:bldP spid="68613" grpId="8" animBg="1"/>
      <p:bldP spid="68614" grpId="0" animBg="1"/>
      <p:bldP spid="68614" grpId="1" animBg="1"/>
      <p:bldP spid="68614" grpId="2" animBg="1"/>
      <p:bldP spid="68614" grpId="3" animBg="1"/>
      <p:bldP spid="68614" grpId="4" animBg="1"/>
      <p:bldP spid="68615" grpId="0" animBg="1"/>
      <p:bldP spid="68615" grpId="1" animBg="1"/>
      <p:bldP spid="68615" grpId="2" animBg="1"/>
      <p:bldP spid="68616" grpId="0" animBg="1"/>
      <p:bldP spid="68616" grpId="1" animBg="1"/>
      <p:bldP spid="68616" grpId="2" animBg="1"/>
      <p:bldP spid="68617" grpId="0" animBg="1"/>
      <p:bldP spid="68617" grpId="1" animBg="1"/>
      <p:bldP spid="68617" grpId="2" animBg="1"/>
      <p:bldP spid="68617" grpId="3" animBg="1"/>
      <p:bldP spid="68617" grpId="4" animBg="1"/>
      <p:bldP spid="68618" grpId="0" animBg="1"/>
      <p:bldP spid="68618" grpId="1" animBg="1"/>
      <p:bldP spid="68618" grpId="2" animBg="1"/>
      <p:bldP spid="68618" grpId="3" animBg="1"/>
      <p:bldP spid="68618" grpId="4" animBg="1"/>
      <p:bldP spid="68619" grpId="0" animBg="1"/>
      <p:bldP spid="68619" grpId="1" animBg="1"/>
      <p:bldP spid="68619" grpId="2" animBg="1"/>
      <p:bldP spid="68620" grpId="0" animBg="1"/>
      <p:bldP spid="68620" grpId="1" animBg="1"/>
      <p:bldP spid="68620" grpId="2" animBg="1"/>
      <p:bldP spid="68621" grpId="0" animBg="1"/>
      <p:bldP spid="68621" grpId="1" animBg="1"/>
      <p:bldP spid="68621" grpId="2" animBg="1"/>
      <p:bldP spid="68622" grpId="0" animBg="1"/>
      <p:bldP spid="68622" grpId="1" animBg="1"/>
      <p:bldP spid="68622" grpId="2" animBg="1"/>
      <p:bldP spid="68623" grpId="0"/>
      <p:bldP spid="68624" grpId="0"/>
      <p:bldP spid="68624" grpId="1"/>
      <p:bldP spid="68624" grpId="2"/>
      <p:bldP spid="68625" grpId="0"/>
      <p:bldP spid="68625" grpId="1"/>
      <p:bldP spid="68626" grpId="0"/>
      <p:bldP spid="68626" grpId="1"/>
      <p:bldP spid="68626" grpId="2"/>
      <p:bldP spid="68627" grpId="0"/>
      <p:bldP spid="68628" grpId="0"/>
      <p:bldP spid="68633" grpId="0" animBg="1"/>
      <p:bldP spid="68633" grpId="1" animBg="1"/>
      <p:bldP spid="68652" grpId="0" animBg="1"/>
      <p:bldP spid="68653" grpId="0" animBg="1"/>
      <p:bldP spid="68653" grpId="1" animBg="1"/>
      <p:bldP spid="68654" grpId="0" animBg="1"/>
      <p:bldP spid="68654" grpId="1" animBg="1"/>
      <p:bldP spid="68655" grpId="0" animBg="1"/>
      <p:bldP spid="68655" grpId="1" animBg="1"/>
      <p:bldP spid="6865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9634" name="Group 2"/>
          <p:cNvGrpSpPr/>
          <p:nvPr/>
        </p:nvGrpSpPr>
        <p:grpSpPr>
          <a:xfrm>
            <a:off x="250825" y="476250"/>
            <a:ext cx="7777163" cy="863600"/>
            <a:chOff x="158" y="346"/>
            <a:chExt cx="4899" cy="544"/>
          </a:xfrm>
        </p:grpSpPr>
        <p:grpSp>
          <p:nvGrpSpPr>
            <p:cNvPr id="104493" name="Group 3"/>
            <p:cNvGrpSpPr/>
            <p:nvPr/>
          </p:nvGrpSpPr>
          <p:grpSpPr>
            <a:xfrm>
              <a:off x="158" y="346"/>
              <a:ext cx="4264" cy="544"/>
              <a:chOff x="720" y="480"/>
              <a:chExt cx="4224" cy="1390"/>
            </a:xfrm>
          </p:grpSpPr>
          <p:graphicFrame>
            <p:nvGraphicFramePr>
              <p:cNvPr id="104495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3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8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496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4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8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4494" name="Text Box 6"/>
            <p:cNvSpPr txBox="1"/>
            <p:nvPr/>
          </p:nvSpPr>
          <p:spPr>
            <a:xfrm>
              <a:off x="249" y="482"/>
              <a:ext cx="48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练习：考虑以下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NFA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通过怎样的转换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接受串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acab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69639" name="AutoShape 7"/>
          <p:cNvSpPr/>
          <p:nvPr/>
        </p:nvSpPr>
        <p:spPr>
          <a:xfrm>
            <a:off x="8247063" y="2967038"/>
            <a:ext cx="6461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753" y="10800"/>
                </a:moveTo>
                <a:cubicBezTo>
                  <a:pt x="2753" y="15244"/>
                  <a:pt x="6356" y="18847"/>
                  <a:pt x="10800" y="18847"/>
                </a:cubicBezTo>
                <a:cubicBezTo>
                  <a:pt x="15244" y="18847"/>
                  <a:pt x="18847" y="15244"/>
                  <a:pt x="18847" y="10800"/>
                </a:cubicBezTo>
                <a:cubicBezTo>
                  <a:pt x="18847" y="6356"/>
                  <a:pt x="15244" y="2753"/>
                  <a:pt x="10800" y="2753"/>
                </a:cubicBezTo>
                <a:cubicBezTo>
                  <a:pt x="6356" y="2753"/>
                  <a:pt x="2753" y="6356"/>
                  <a:pt x="2753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0" name="Text Box 8"/>
          <p:cNvSpPr txBox="1"/>
          <p:nvPr/>
        </p:nvSpPr>
        <p:spPr>
          <a:xfrm>
            <a:off x="3059113" y="2327275"/>
            <a:ext cx="10795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1" name="Text Box 9"/>
          <p:cNvSpPr txBox="1"/>
          <p:nvPr/>
        </p:nvSpPr>
        <p:spPr>
          <a:xfrm>
            <a:off x="1835150" y="2544763"/>
            <a:ext cx="863600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2" name="AutoShape 10"/>
          <p:cNvSpPr/>
          <p:nvPr/>
        </p:nvSpPr>
        <p:spPr>
          <a:xfrm>
            <a:off x="1550988" y="2987675"/>
            <a:ext cx="569912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3" name="AutoShape 11"/>
          <p:cNvSpPr/>
          <p:nvPr/>
        </p:nvSpPr>
        <p:spPr>
          <a:xfrm>
            <a:off x="471488" y="2987675"/>
            <a:ext cx="569912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4" name="Text Box 12"/>
          <p:cNvSpPr txBox="1"/>
          <p:nvPr/>
        </p:nvSpPr>
        <p:spPr>
          <a:xfrm>
            <a:off x="7524750" y="2903538"/>
            <a:ext cx="935038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5" name="AutoShape 13"/>
          <p:cNvSpPr/>
          <p:nvPr/>
        </p:nvSpPr>
        <p:spPr>
          <a:xfrm>
            <a:off x="2774950" y="2411413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6" name="AutoShape 14"/>
          <p:cNvSpPr/>
          <p:nvPr/>
        </p:nvSpPr>
        <p:spPr>
          <a:xfrm>
            <a:off x="5006975" y="2987675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7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7" name="AutoShape 15"/>
          <p:cNvSpPr/>
          <p:nvPr/>
        </p:nvSpPr>
        <p:spPr>
          <a:xfrm>
            <a:off x="2774950" y="3419475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8" name="AutoShape 16"/>
          <p:cNvSpPr/>
          <p:nvPr/>
        </p:nvSpPr>
        <p:spPr>
          <a:xfrm>
            <a:off x="3927475" y="3419475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49" name="AutoShape 17"/>
          <p:cNvSpPr/>
          <p:nvPr/>
        </p:nvSpPr>
        <p:spPr>
          <a:xfrm>
            <a:off x="3927475" y="2411413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50" name="AutoShape 18"/>
          <p:cNvSpPr/>
          <p:nvPr/>
        </p:nvSpPr>
        <p:spPr>
          <a:xfrm>
            <a:off x="6230938" y="2987675"/>
            <a:ext cx="569912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8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51" name="AutoShape 19"/>
          <p:cNvSpPr/>
          <p:nvPr/>
        </p:nvSpPr>
        <p:spPr>
          <a:xfrm>
            <a:off x="7239000" y="2987675"/>
            <a:ext cx="569913" cy="552450"/>
          </a:xfrm>
          <a:prstGeom prst="flowChartConnector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9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52" name="Line 20"/>
          <p:cNvSpPr/>
          <p:nvPr/>
        </p:nvSpPr>
        <p:spPr>
          <a:xfrm>
            <a:off x="0" y="3263900"/>
            <a:ext cx="468313" cy="158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3" name="Line 21"/>
          <p:cNvSpPr/>
          <p:nvPr/>
        </p:nvSpPr>
        <p:spPr>
          <a:xfrm>
            <a:off x="1042988" y="3263900"/>
            <a:ext cx="504825" cy="158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4" name="Line 22"/>
          <p:cNvSpPr/>
          <p:nvPr/>
        </p:nvSpPr>
        <p:spPr>
          <a:xfrm flipV="1">
            <a:off x="2051050" y="2687638"/>
            <a:ext cx="720725" cy="431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5" name="Line 23"/>
          <p:cNvSpPr/>
          <p:nvPr/>
        </p:nvSpPr>
        <p:spPr>
          <a:xfrm>
            <a:off x="2051050" y="3408363"/>
            <a:ext cx="720725" cy="360362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6" name="Line 24"/>
          <p:cNvSpPr/>
          <p:nvPr/>
        </p:nvSpPr>
        <p:spPr>
          <a:xfrm>
            <a:off x="3348038" y="2687638"/>
            <a:ext cx="576262" cy="1587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7" name="Line 25"/>
          <p:cNvSpPr/>
          <p:nvPr/>
        </p:nvSpPr>
        <p:spPr>
          <a:xfrm>
            <a:off x="3348038" y="3768725"/>
            <a:ext cx="576262" cy="158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8" name="Line 26"/>
          <p:cNvSpPr/>
          <p:nvPr/>
        </p:nvSpPr>
        <p:spPr>
          <a:xfrm>
            <a:off x="4500563" y="2687638"/>
            <a:ext cx="576262" cy="360362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9" name="Line 27"/>
          <p:cNvSpPr/>
          <p:nvPr/>
        </p:nvSpPr>
        <p:spPr>
          <a:xfrm flipV="1">
            <a:off x="4500563" y="3479800"/>
            <a:ext cx="576262" cy="2889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60" name="Line 28"/>
          <p:cNvSpPr/>
          <p:nvPr/>
        </p:nvSpPr>
        <p:spPr>
          <a:xfrm>
            <a:off x="5580063" y="3263900"/>
            <a:ext cx="647700" cy="158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61" name="Line 29"/>
          <p:cNvSpPr/>
          <p:nvPr/>
        </p:nvSpPr>
        <p:spPr>
          <a:xfrm>
            <a:off x="6804025" y="3263900"/>
            <a:ext cx="431800" cy="158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62" name="Line 30"/>
          <p:cNvSpPr/>
          <p:nvPr/>
        </p:nvSpPr>
        <p:spPr>
          <a:xfrm>
            <a:off x="7812088" y="3263900"/>
            <a:ext cx="431800" cy="158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63" name="Arc 31"/>
          <p:cNvSpPr/>
          <p:nvPr/>
        </p:nvSpPr>
        <p:spPr>
          <a:xfrm>
            <a:off x="1770063" y="2111375"/>
            <a:ext cx="3595687" cy="873125"/>
          </a:xfrm>
          <a:custGeom>
            <a:avLst/>
            <a:gdLst/>
            <a:ahLst/>
            <a:cxnLst>
              <a:cxn ang="0">
                <a:pos x="0" y="624689"/>
              </a:cxn>
              <a:cxn ang="0">
                <a:pos x="3595687" y="873125"/>
              </a:cxn>
              <a:cxn ang="0">
                <a:pos x="1759895" y="873125"/>
              </a:cxn>
            </a:cxnLst>
            <a:pathLst>
              <a:path w="42307" h="21600" fill="none">
                <a:moveTo>
                  <a:pt x="-1" y="15453"/>
                </a:moveTo>
                <a:cubicBezTo>
                  <a:pt x="2720" y="6287"/>
                  <a:pt x="11144" y="-1"/>
                  <a:pt x="20707" y="0"/>
                </a:cubicBezTo>
                <a:cubicBezTo>
                  <a:pt x="32636" y="0"/>
                  <a:pt x="42307" y="9670"/>
                  <a:pt x="42307" y="21600"/>
                </a:cubicBezTo>
              </a:path>
              <a:path w="42307" h="21600" stroke="0">
                <a:moveTo>
                  <a:pt x="-1" y="15453"/>
                </a:moveTo>
                <a:cubicBezTo>
                  <a:pt x="2720" y="6287"/>
                  <a:pt x="11144" y="-1"/>
                  <a:pt x="20707" y="0"/>
                </a:cubicBezTo>
                <a:cubicBezTo>
                  <a:pt x="32636" y="0"/>
                  <a:pt x="42307" y="9670"/>
                  <a:pt x="42307" y="21600"/>
                </a:cubicBezTo>
                <a:lnTo>
                  <a:pt x="20707" y="21600"/>
                </a:lnTo>
                <a:lnTo>
                  <a:pt x="-1" y="15453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664" name="Arc 32"/>
          <p:cNvSpPr/>
          <p:nvPr/>
        </p:nvSpPr>
        <p:spPr>
          <a:xfrm rot="10800000">
            <a:off x="755650" y="3589338"/>
            <a:ext cx="5475288" cy="1152525"/>
          </a:xfrm>
          <a:custGeom>
            <a:avLst/>
            <a:gdLst/>
            <a:ahLst/>
            <a:cxnLst>
              <a:cxn ang="0">
                <a:pos x="0" y="651443"/>
              </a:cxn>
              <a:cxn ang="0">
                <a:pos x="5475288" y="1152525"/>
              </a:cxn>
              <a:cxn ang="0">
                <a:pos x="2594400" y="1152525"/>
              </a:cxn>
            </a:cxnLst>
            <a:pathLst>
              <a:path w="41052" h="21600" fill="none">
                <a:moveTo>
                  <a:pt x="0" y="12209"/>
                </a:moveTo>
                <a:cubicBezTo>
                  <a:pt x="3604" y="4744"/>
                  <a:pt x="11162" y="-1"/>
                  <a:pt x="19452" y="0"/>
                </a:cubicBezTo>
                <a:cubicBezTo>
                  <a:pt x="31381" y="0"/>
                  <a:pt x="41052" y="9670"/>
                  <a:pt x="41052" y="21600"/>
                </a:cubicBezTo>
              </a:path>
              <a:path w="41052" h="21600" stroke="0">
                <a:moveTo>
                  <a:pt x="0" y="12209"/>
                </a:moveTo>
                <a:cubicBezTo>
                  <a:pt x="3604" y="4744"/>
                  <a:pt x="11162" y="-1"/>
                  <a:pt x="19452" y="0"/>
                </a:cubicBezTo>
                <a:cubicBezTo>
                  <a:pt x="31381" y="0"/>
                  <a:pt x="41052" y="9670"/>
                  <a:pt x="41052" y="21600"/>
                </a:cubicBezTo>
                <a:lnTo>
                  <a:pt x="19452" y="21600"/>
                </a:lnTo>
                <a:lnTo>
                  <a:pt x="0" y="12209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665" name="Line 33"/>
          <p:cNvSpPr/>
          <p:nvPr/>
        </p:nvSpPr>
        <p:spPr>
          <a:xfrm flipH="1">
            <a:off x="1619250" y="2760663"/>
            <a:ext cx="144463" cy="287337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66" name="Line 34"/>
          <p:cNvSpPr/>
          <p:nvPr/>
        </p:nvSpPr>
        <p:spPr>
          <a:xfrm flipV="1">
            <a:off x="6227763" y="3552825"/>
            <a:ext cx="360362" cy="57467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67" name="Text Box 35"/>
          <p:cNvSpPr txBox="1"/>
          <p:nvPr/>
        </p:nvSpPr>
        <p:spPr>
          <a:xfrm>
            <a:off x="1042988" y="2878138"/>
            <a:ext cx="288925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68" name="Text Box 36"/>
          <p:cNvSpPr txBox="1"/>
          <p:nvPr/>
        </p:nvSpPr>
        <p:spPr>
          <a:xfrm>
            <a:off x="1979613" y="3192463"/>
            <a:ext cx="863600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69" name="Text Box 37"/>
          <p:cNvSpPr txBox="1"/>
          <p:nvPr/>
        </p:nvSpPr>
        <p:spPr>
          <a:xfrm>
            <a:off x="4429125" y="2471738"/>
            <a:ext cx="863600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70" name="Text Box 38"/>
          <p:cNvSpPr txBox="1"/>
          <p:nvPr/>
        </p:nvSpPr>
        <p:spPr>
          <a:xfrm>
            <a:off x="4211638" y="3335338"/>
            <a:ext cx="863600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71" name="Text Box 39"/>
          <p:cNvSpPr txBox="1"/>
          <p:nvPr/>
        </p:nvSpPr>
        <p:spPr>
          <a:xfrm>
            <a:off x="3276600" y="4344988"/>
            <a:ext cx="863600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72" name="Text Box 40"/>
          <p:cNvSpPr txBox="1"/>
          <p:nvPr/>
        </p:nvSpPr>
        <p:spPr>
          <a:xfrm>
            <a:off x="6659563" y="2903538"/>
            <a:ext cx="433387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73" name="Text Box 41"/>
          <p:cNvSpPr txBox="1"/>
          <p:nvPr/>
        </p:nvSpPr>
        <p:spPr>
          <a:xfrm>
            <a:off x="5507038" y="2903538"/>
            <a:ext cx="504825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74" name="Text Box 42"/>
          <p:cNvSpPr txBox="1"/>
          <p:nvPr/>
        </p:nvSpPr>
        <p:spPr>
          <a:xfrm>
            <a:off x="3059113" y="1679575"/>
            <a:ext cx="863600" cy="485775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9675" name="Text Box 43"/>
          <p:cNvSpPr txBox="1"/>
          <p:nvPr/>
        </p:nvSpPr>
        <p:spPr>
          <a:xfrm>
            <a:off x="3348038" y="3335338"/>
            <a:ext cx="431800" cy="425450"/>
          </a:xfrm>
          <a:prstGeom prst="rect">
            <a:avLst/>
          </a:prstGeom>
          <a:noFill/>
          <a:ln w="28575" cap="flat" cmpd="sng">
            <a:solidFill>
              <a:srgbClr val="007A77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c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9676" name="Group 44"/>
          <p:cNvGrpSpPr/>
          <p:nvPr/>
        </p:nvGrpSpPr>
        <p:grpSpPr>
          <a:xfrm>
            <a:off x="250825" y="5013325"/>
            <a:ext cx="8604250" cy="1252538"/>
            <a:chOff x="158" y="3158"/>
            <a:chExt cx="5420" cy="789"/>
          </a:xfrm>
        </p:grpSpPr>
        <p:grpSp>
          <p:nvGrpSpPr>
            <p:cNvPr id="104489" name="Group 45"/>
            <p:cNvGrpSpPr/>
            <p:nvPr/>
          </p:nvGrpSpPr>
          <p:grpSpPr>
            <a:xfrm>
              <a:off x="158" y="3158"/>
              <a:ext cx="5420" cy="789"/>
              <a:chOff x="720" y="480"/>
              <a:chExt cx="4224" cy="1390"/>
            </a:xfrm>
          </p:grpSpPr>
          <p:graphicFrame>
            <p:nvGraphicFramePr>
              <p:cNvPr id="104491" name="Object 46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5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8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492" name="Object 47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8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4490" name="Object 48"/>
            <p:cNvGraphicFramePr>
              <a:graphicFrameLocks noChangeAspect="1"/>
            </p:cNvGraphicFramePr>
            <p:nvPr/>
          </p:nvGraphicFramePr>
          <p:xfrm>
            <a:off x="249" y="3252"/>
            <a:ext cx="5126" cy="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7" imgW="3810000" imgH="457200" progId="Equation.3">
                    <p:embed/>
                  </p:oleObj>
                </mc:Choice>
                <mc:Fallback>
                  <p:oleObj name="" r:id="rId7" imgW="3810000" imgH="4572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9" y="3252"/>
                          <a:ext cx="5126" cy="6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6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6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4" dur="500" fill="hold"/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5" dur="500" fill="hold"/>
                                        <p:tgtEl>
                                          <p:spTgt spid="696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6" dur="500" fill="hold"/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696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0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1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2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6" dur="500" fill="hold"/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7" dur="500" fill="hold"/>
                                        <p:tgtEl>
                                          <p:spTgt spid="696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8" dur="500" fill="hold"/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696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2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3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4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8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9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0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4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5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6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000"/>
                            </p:stCondLst>
                            <p:childTnLst>
                              <p:par>
                                <p:cTn id="159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0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1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2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500"/>
                            </p:stCondLst>
                            <p:childTnLst>
                              <p:par>
                                <p:cTn id="165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6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7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8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4000"/>
                            </p:stCondLst>
                            <p:childTnLst>
                              <p:par>
                                <p:cTn id="171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2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3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4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7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8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9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0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0"/>
                            </p:stCondLst>
                            <p:childTnLst>
                              <p:par>
                                <p:cTn id="183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4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5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6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500"/>
                            </p:stCondLst>
                            <p:childTnLst>
                              <p:par>
                                <p:cTn id="189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0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1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2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6000"/>
                            </p:stCondLst>
                            <p:childTnLst>
                              <p:par>
                                <p:cTn id="195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6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7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8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6500"/>
                            </p:stCondLst>
                            <p:childTnLst>
                              <p:par>
                                <p:cTn id="201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2" dur="500" fill="hold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3" dur="500" fill="hold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4" dur="500" fill="hold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7000"/>
                            </p:stCondLst>
                            <p:childTnLst>
                              <p:par>
                                <p:cTn id="207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8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9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0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7500"/>
                            </p:stCondLst>
                            <p:childTnLst>
                              <p:par>
                                <p:cTn id="213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4" dur="500" fill="hold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5" dur="500" fill="hold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6" dur="500" fill="hold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8000"/>
                            </p:stCondLst>
                            <p:childTnLst>
                              <p:par>
                                <p:cTn id="219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20" dur="5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1" dur="5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2" dur="5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25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26" dur="500" fill="hold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7" dur="500" fill="hold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8" dur="500" fill="hold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29" dur="500" fill="hold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9000"/>
                            </p:stCondLst>
                            <p:childTnLst>
                              <p:par>
                                <p:cTn id="231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2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3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4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9500"/>
                            </p:stCondLst>
                            <p:childTnLst>
                              <p:par>
                                <p:cTn id="237" presetID="21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8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9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0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43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4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5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6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0500"/>
                            </p:stCondLst>
                            <p:childTnLst>
                              <p:par>
                                <p:cTn id="249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0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1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2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53" dur="500" fill="hold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5" presetID="21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6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7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8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1500"/>
                            </p:stCondLst>
                            <p:childTnLst>
                              <p:par>
                                <p:cTn id="261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2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3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4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2000"/>
                            </p:stCondLst>
                            <p:childTnLst>
                              <p:par>
                                <p:cTn id="267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8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9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0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2500"/>
                            </p:stCondLst>
                            <p:childTnLst>
                              <p:par>
                                <p:cTn id="273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4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5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6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7" dur="5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79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0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1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2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3500"/>
                            </p:stCondLst>
                            <p:childTnLst>
                              <p:par>
                                <p:cTn id="285" presetID="21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6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7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8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14000"/>
                            </p:stCondLst>
                            <p:childTnLst>
                              <p:par>
                                <p:cTn id="291" presetID="21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2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3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4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5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14500"/>
                            </p:stCondLst>
                            <p:childTnLst>
                              <p:par>
                                <p:cTn id="297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8" dur="5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9" dur="5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0" dur="5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03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4" dur="500" fill="hold"/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5" dur="500" fill="hold"/>
                                        <p:tgtEl>
                                          <p:spTgt spid="696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6" dur="500" fill="hold"/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696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15500"/>
                            </p:stCondLst>
                            <p:childTnLst>
                              <p:par>
                                <p:cTn id="309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0" dur="500" fill="hold"/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1" dur="500" fill="hold"/>
                                        <p:tgtEl>
                                          <p:spTgt spid="696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2" dur="500" fill="hold"/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696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6000"/>
                            </p:stCondLst>
                            <p:childTnLst>
                              <p:par>
                                <p:cTn id="315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6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7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8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6500"/>
                            </p:stCondLst>
                            <p:childTnLst>
                              <p:par>
                                <p:cTn id="321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2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3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4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17000"/>
                            </p:stCondLst>
                            <p:childTnLst>
                              <p:par>
                                <p:cTn id="327" presetID="21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8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9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0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6" dur="2000"/>
                                        <p:tgtEl>
                                          <p:spTgt spid="69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9" grpId="0" animBg="1"/>
      <p:bldP spid="69639" grpId="1" animBg="1"/>
      <p:bldP spid="69640" grpId="0" animBg="1"/>
      <p:bldP spid="69641" grpId="0" animBg="1"/>
      <p:bldP spid="69642" grpId="0" animBg="1"/>
      <p:bldP spid="69642" grpId="1" animBg="1"/>
      <p:bldP spid="69642" grpId="2" animBg="1"/>
      <p:bldP spid="69642" grpId="3" animBg="1"/>
      <p:bldP spid="69643" grpId="0" animBg="1"/>
      <p:bldP spid="69643" grpId="1" animBg="1"/>
      <p:bldP spid="69644" grpId="0" animBg="1"/>
      <p:bldP spid="69645" grpId="0" animBg="1"/>
      <p:bldP spid="69645" grpId="1" animBg="1"/>
      <p:bldP spid="69645" grpId="2" animBg="1"/>
      <p:bldP spid="69646" grpId="0" animBg="1"/>
      <p:bldP spid="69646" grpId="1" animBg="1"/>
      <p:bldP spid="69646" grpId="2" animBg="1"/>
      <p:bldP spid="69646" grpId="3" animBg="1"/>
      <p:bldP spid="69646" grpId="4" animBg="1"/>
      <p:bldP spid="69647" grpId="0" animBg="1"/>
      <p:bldP spid="69647" grpId="1" animBg="1"/>
      <p:bldP spid="69648" grpId="0" animBg="1"/>
      <p:bldP spid="69648" grpId="1" animBg="1"/>
      <p:bldP spid="69649" grpId="0" animBg="1"/>
      <p:bldP spid="69649" grpId="1" animBg="1"/>
      <p:bldP spid="69649" grpId="2" animBg="1"/>
      <p:bldP spid="69650" grpId="0" animBg="1"/>
      <p:bldP spid="69650" grpId="1" animBg="1"/>
      <p:bldP spid="69651" grpId="0" animBg="1"/>
      <p:bldP spid="69651" grpId="1" animBg="1"/>
      <p:bldP spid="69652" grpId="0" animBg="1"/>
      <p:bldP spid="69652" grpId="1" animBg="1"/>
      <p:bldP spid="69653" grpId="0" animBg="1"/>
      <p:bldP spid="69653" grpId="1" animBg="1"/>
      <p:bldP spid="69654" grpId="0" animBg="1"/>
      <p:bldP spid="69654" grpId="1" animBg="1"/>
      <p:bldP spid="69654" grpId="2" animBg="1"/>
      <p:bldP spid="69655" grpId="0" animBg="1"/>
      <p:bldP spid="69655" grpId="1" animBg="1"/>
      <p:bldP spid="69656" grpId="0" animBg="1"/>
      <p:bldP spid="69656" grpId="1" animBg="1"/>
      <p:bldP spid="69656" grpId="2" animBg="1"/>
      <p:bldP spid="69657" grpId="0" animBg="1"/>
      <p:bldP spid="69657" grpId="1" animBg="1"/>
      <p:bldP spid="69658" grpId="0" animBg="1"/>
      <p:bldP spid="69658" grpId="1" animBg="1"/>
      <p:bldP spid="69658" grpId="2" animBg="1"/>
      <p:bldP spid="69659" grpId="0" animBg="1"/>
      <p:bldP spid="69659" grpId="1" animBg="1"/>
      <p:bldP spid="69660" grpId="0" animBg="1"/>
      <p:bldP spid="69660" grpId="1" animBg="1"/>
      <p:bldP spid="69661" grpId="0" animBg="1"/>
      <p:bldP spid="69661" grpId="1" animBg="1"/>
      <p:bldP spid="69662" grpId="0" animBg="1"/>
      <p:bldP spid="69662" grpId="1" animBg="1"/>
      <p:bldP spid="69663" grpId="0" animBg="1"/>
      <p:bldP spid="69663" grpId="1" animBg="1"/>
      <p:bldP spid="69663" grpId="2" animBg="1"/>
      <p:bldP spid="69664" grpId="0" animBg="1"/>
      <p:bldP spid="69665" grpId="0" animBg="1"/>
      <p:bldP spid="69665" grpId="1" animBg="1"/>
      <p:bldP spid="69665" grpId="2" animBg="1"/>
      <p:bldP spid="69666" grpId="0" animBg="1"/>
      <p:bldP spid="69667" grpId="0" animBg="1"/>
      <p:bldP spid="69668" grpId="0" animBg="1"/>
      <p:bldP spid="69669" grpId="0" animBg="1"/>
      <p:bldP spid="69670" grpId="0" animBg="1"/>
      <p:bldP spid="69671" grpId="0" animBg="1"/>
      <p:bldP spid="69672" grpId="0" animBg="1"/>
      <p:bldP spid="69673" grpId="0" animBg="1"/>
      <p:bldP spid="69674" grpId="0" animBg="1"/>
      <p:bldP spid="6967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0658" name="Group 2"/>
          <p:cNvGrpSpPr/>
          <p:nvPr/>
        </p:nvGrpSpPr>
        <p:grpSpPr>
          <a:xfrm>
            <a:off x="395288" y="1484313"/>
            <a:ext cx="7343775" cy="792162"/>
            <a:chOff x="204" y="659"/>
            <a:chExt cx="5307" cy="1183"/>
          </a:xfrm>
        </p:grpSpPr>
        <p:grpSp>
          <p:nvGrpSpPr>
            <p:cNvPr id="105497" name="Group 3"/>
            <p:cNvGrpSpPr/>
            <p:nvPr/>
          </p:nvGrpSpPr>
          <p:grpSpPr>
            <a:xfrm>
              <a:off x="204" y="662"/>
              <a:ext cx="5307" cy="1180"/>
              <a:chOff x="720" y="480"/>
              <a:chExt cx="4224" cy="1390"/>
            </a:xfrm>
          </p:grpSpPr>
          <p:graphicFrame>
            <p:nvGraphicFramePr>
              <p:cNvPr id="105499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6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7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500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7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5498" name="Text Box 6"/>
            <p:cNvSpPr txBox="1"/>
            <p:nvPr/>
          </p:nvSpPr>
          <p:spPr>
            <a:xfrm>
              <a:off x="249" y="659"/>
              <a:ext cx="5173" cy="9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  DFA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是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NFA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的特例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，可以采用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子集法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将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NFA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确定化。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70663" name="Group 7"/>
          <p:cNvGrpSpPr/>
          <p:nvPr/>
        </p:nvGrpSpPr>
        <p:grpSpPr>
          <a:xfrm>
            <a:off x="468313" y="2546350"/>
            <a:ext cx="5400675" cy="1387475"/>
            <a:chOff x="204" y="1797"/>
            <a:chExt cx="5307" cy="3529"/>
          </a:xfrm>
        </p:grpSpPr>
        <p:grpSp>
          <p:nvGrpSpPr>
            <p:cNvPr id="105493" name="Group 8"/>
            <p:cNvGrpSpPr/>
            <p:nvPr/>
          </p:nvGrpSpPr>
          <p:grpSpPr>
            <a:xfrm>
              <a:off x="204" y="1797"/>
              <a:ext cx="5307" cy="2268"/>
              <a:chOff x="720" y="480"/>
              <a:chExt cx="4224" cy="1390"/>
            </a:xfrm>
          </p:grpSpPr>
          <p:graphicFrame>
            <p:nvGraphicFramePr>
              <p:cNvPr id="105495" name="Object 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8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7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496" name="Object 1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9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7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5494" name="Text Box 11"/>
            <p:cNvSpPr txBox="1"/>
            <p:nvPr/>
          </p:nvSpPr>
          <p:spPr>
            <a:xfrm>
              <a:off x="294" y="1841"/>
              <a:ext cx="5171" cy="3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假定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I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NFA 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的状态集的一个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子集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  我们定义</a:t>
              </a:r>
              <a:r>
                <a:rPr lang="el-GR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ε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_CLOSURE(I)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70668" name="Group 12"/>
          <p:cNvGrpSpPr/>
          <p:nvPr/>
        </p:nvGrpSpPr>
        <p:grpSpPr>
          <a:xfrm>
            <a:off x="2051050" y="3563938"/>
            <a:ext cx="5183188" cy="1017587"/>
            <a:chOff x="204" y="1797"/>
            <a:chExt cx="5307" cy="3739"/>
          </a:xfrm>
        </p:grpSpPr>
        <p:grpSp>
          <p:nvGrpSpPr>
            <p:cNvPr id="105489" name="Group 13"/>
            <p:cNvGrpSpPr/>
            <p:nvPr/>
          </p:nvGrpSpPr>
          <p:grpSpPr>
            <a:xfrm>
              <a:off x="204" y="1797"/>
              <a:ext cx="5307" cy="2268"/>
              <a:chOff x="720" y="480"/>
              <a:chExt cx="4224" cy="1390"/>
            </a:xfrm>
          </p:grpSpPr>
          <p:graphicFrame>
            <p:nvGraphicFramePr>
              <p:cNvPr id="105491" name="Object 1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0" name="" r:id="rId7" imgW="7581900" imgH="2768600" progId="Photoshop.Image.7">
                      <p:embed/>
                    </p:oleObj>
                  </mc:Choice>
                  <mc:Fallback>
                    <p:oleObj name="" r:id="rId7" imgW="7581900" imgH="2768600" progId="Photoshop.Image.7">
                      <p:embed/>
                      <p:pic>
                        <p:nvPicPr>
                          <p:cNvPr id="0" name="图片 317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492" name="Object 1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1" name="" r:id="rId8" imgW="114300" imgH="215900" progId="Equation.3">
                      <p:embed/>
                    </p:oleObj>
                  </mc:Choice>
                  <mc:Fallback>
                    <p:oleObj name="" r:id="rId8" imgW="114300" imgH="215900" progId="Equation.3">
                      <p:embed/>
                      <p:pic>
                        <p:nvPicPr>
                          <p:cNvPr id="0" name="图片 318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5490" name="Text Box 16"/>
            <p:cNvSpPr txBox="1"/>
            <p:nvPr/>
          </p:nvSpPr>
          <p:spPr>
            <a:xfrm>
              <a:off x="295" y="1844"/>
              <a:ext cx="5170" cy="36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、若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s∈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I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则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s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∈ </a:t>
              </a:r>
              <a:r>
                <a:rPr lang="el-GR" altLang="zh-CN" sz="2000" b="1" dirty="0">
                  <a:solidFill>
                    <a:schemeClr val="tx2"/>
                  </a:solidFill>
                </a:rPr>
                <a:t>ε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_CLOSURE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(I)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；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70673" name="Group 17"/>
          <p:cNvGrpSpPr/>
          <p:nvPr/>
        </p:nvGrpSpPr>
        <p:grpSpPr>
          <a:xfrm>
            <a:off x="2051050" y="4292600"/>
            <a:ext cx="6624638" cy="1008063"/>
            <a:chOff x="204" y="1797"/>
            <a:chExt cx="5307" cy="2268"/>
          </a:xfrm>
        </p:grpSpPr>
        <p:grpSp>
          <p:nvGrpSpPr>
            <p:cNvPr id="105485" name="Group 18"/>
            <p:cNvGrpSpPr/>
            <p:nvPr/>
          </p:nvGrpSpPr>
          <p:grpSpPr>
            <a:xfrm>
              <a:off x="204" y="1797"/>
              <a:ext cx="5307" cy="2268"/>
              <a:chOff x="720" y="480"/>
              <a:chExt cx="4224" cy="1390"/>
            </a:xfrm>
          </p:grpSpPr>
          <p:graphicFrame>
            <p:nvGraphicFramePr>
              <p:cNvPr id="105487" name="Object 1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2" name="" r:id="rId9" imgW="7581900" imgH="2768600" progId="Photoshop.Image.7">
                      <p:embed/>
                    </p:oleObj>
                  </mc:Choice>
                  <mc:Fallback>
                    <p:oleObj name="" r:id="rId9" imgW="7581900" imgH="2768600" progId="Photoshop.Image.7">
                      <p:embed/>
                      <p:pic>
                        <p:nvPicPr>
                          <p:cNvPr id="0" name="图片 318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488" name="Object 2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8" name="" r:id="rId10" imgW="114300" imgH="215900" progId="Equation.3">
                      <p:embed/>
                    </p:oleObj>
                  </mc:Choice>
                  <mc:Fallback>
                    <p:oleObj name="" r:id="rId10" imgW="114300" imgH="215900" progId="Equation.3">
                      <p:embed/>
                      <p:pic>
                        <p:nvPicPr>
                          <p:cNvPr id="0" name="图片 318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5486" name="Text Box 21"/>
            <p:cNvSpPr txBox="1"/>
            <p:nvPr/>
          </p:nvSpPr>
          <p:spPr>
            <a:xfrm>
              <a:off x="296" y="1840"/>
              <a:ext cx="5171" cy="19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、若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s∈I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，那么从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s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出发经过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任意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条</a:t>
              </a:r>
              <a:r>
                <a:rPr lang="el-GR" altLang="zh-CN" sz="2800" b="1" dirty="0">
                  <a:solidFill>
                    <a:schemeClr val="hlink"/>
                  </a:solidFill>
                </a:rPr>
                <a:t>ε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弧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而能到达的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任何状态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s’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都属于</a:t>
              </a:r>
              <a:r>
                <a:rPr lang="el-GR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ε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_CLOSURE(I)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。</a:t>
              </a:r>
              <a:endParaRPr lang="zh-CN" altLang="en-US" sz="2000" b="1" dirty="0">
                <a:solidFill>
                  <a:schemeClr val="hlink"/>
                </a:solidFill>
                <a:latin typeface="宋体" pitchFamily="2" charset="-122"/>
              </a:endParaRPr>
            </a:p>
          </p:txBody>
        </p:sp>
      </p:grpSp>
      <p:grpSp>
        <p:nvGrpSpPr>
          <p:cNvPr id="70678" name="Group 22"/>
          <p:cNvGrpSpPr/>
          <p:nvPr/>
        </p:nvGrpSpPr>
        <p:grpSpPr>
          <a:xfrm>
            <a:off x="395288" y="5516563"/>
            <a:ext cx="5761037" cy="576262"/>
            <a:chOff x="204" y="1797"/>
            <a:chExt cx="5307" cy="2268"/>
          </a:xfrm>
        </p:grpSpPr>
        <p:grpSp>
          <p:nvGrpSpPr>
            <p:cNvPr id="105481" name="Group 23"/>
            <p:cNvGrpSpPr/>
            <p:nvPr/>
          </p:nvGrpSpPr>
          <p:grpSpPr>
            <a:xfrm>
              <a:off x="204" y="1797"/>
              <a:ext cx="5307" cy="2268"/>
              <a:chOff x="720" y="480"/>
              <a:chExt cx="4224" cy="1390"/>
            </a:xfrm>
          </p:grpSpPr>
          <p:graphicFrame>
            <p:nvGraphicFramePr>
              <p:cNvPr id="105483" name="Object 2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4" name="" r:id="rId11" imgW="7581900" imgH="2768600" progId="Photoshop.Image.7">
                      <p:embed/>
                    </p:oleObj>
                  </mc:Choice>
                  <mc:Fallback>
                    <p:oleObj name="" r:id="rId11" imgW="7581900" imgH="2768600" progId="Photoshop.Image.7">
                      <p:embed/>
                      <p:pic>
                        <p:nvPicPr>
                          <p:cNvPr id="0" name="图片 315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484" name="Object 2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5" name="" r:id="rId12" imgW="114300" imgH="215900" progId="Equation.3">
                      <p:embed/>
                    </p:oleObj>
                  </mc:Choice>
                  <mc:Fallback>
                    <p:oleObj name="" r:id="rId12" imgW="114300" imgH="215900" progId="Equation.3">
                      <p:embed/>
                      <p:pic>
                        <p:nvPicPr>
                          <p:cNvPr id="0" name="图片 315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5482" name="Text Box 26"/>
            <p:cNvSpPr txBox="1"/>
            <p:nvPr/>
          </p:nvSpPr>
          <p:spPr>
            <a:xfrm>
              <a:off x="295" y="1841"/>
              <a:ext cx="5171" cy="17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状态集</a:t>
              </a:r>
              <a:r>
                <a:rPr lang="el-GR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ε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_CLOSURE(I)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称为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I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</a:t>
              </a:r>
              <a:r>
                <a:rPr lang="el-GR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ε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_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闭包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70683" name="WordArt 27"/>
          <p:cNvSpPr>
            <a:spLocks noChangeArrowheads="1" noChangeShapeType="1" noTextEdit="1"/>
          </p:cNvSpPr>
          <p:nvPr/>
        </p:nvSpPr>
        <p:spPr bwMode="auto">
          <a:xfrm>
            <a:off x="539750" y="836613"/>
            <a:ext cx="409575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l-GR" altLang="zh-CN" sz="3600" b="0" i="0" u="none" strike="noStrike" kern="10" cap="none" spc="0" normalizeH="0" baseline="0" noProof="0">
                <a:ln w="9525">
                  <a:solidFill>
                    <a:srgbClr val="FF6600"/>
                  </a:solidFill>
                  <a:round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ε_</a:t>
            </a: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FF6600"/>
                  </a:solidFill>
                  <a:round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CLOSURE(I)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FF6600"/>
                  </a:solidFill>
                  <a:round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的定义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FF6600"/>
                </a:solidFill>
                <a:round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70684" name="WordArt 28"/>
          <p:cNvSpPr>
            <a:spLocks noChangeArrowheads="1" noChangeShapeType="1" noTextEdit="1"/>
          </p:cNvSpPr>
          <p:nvPr/>
        </p:nvSpPr>
        <p:spPr bwMode="auto">
          <a:xfrm>
            <a:off x="1619250" y="333375"/>
            <a:ext cx="640080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NFA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转换为等价的</a:t>
            </a: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00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DFA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00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682" name="Group 2"/>
          <p:cNvGrpSpPr/>
          <p:nvPr/>
        </p:nvGrpSpPr>
        <p:grpSpPr>
          <a:xfrm>
            <a:off x="468313" y="1557338"/>
            <a:ext cx="7127875" cy="576262"/>
            <a:chOff x="-68" y="210"/>
            <a:chExt cx="5738" cy="3946"/>
          </a:xfrm>
        </p:grpSpPr>
        <p:grpSp>
          <p:nvGrpSpPr>
            <p:cNvPr id="106510" name="Group 3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6512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6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5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6513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5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6511" name="Text Box 6"/>
            <p:cNvSpPr txBox="1"/>
            <p:nvPr/>
          </p:nvSpPr>
          <p:spPr>
            <a:xfrm>
              <a:off x="-68" y="253"/>
              <a:ext cx="5738" cy="31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976630" indent="-97663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假定 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I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NFA 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的状态集的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子集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a∈∑,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定义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71692" name="Group 12"/>
          <p:cNvGrpSpPr/>
          <p:nvPr/>
        </p:nvGrpSpPr>
        <p:grpSpPr>
          <a:xfrm>
            <a:off x="0" y="4292600"/>
            <a:ext cx="9144000" cy="1223963"/>
            <a:chOff x="-68" y="210"/>
            <a:chExt cx="5738" cy="3946"/>
          </a:xfrm>
        </p:grpSpPr>
        <p:grpSp>
          <p:nvGrpSpPr>
            <p:cNvPr id="106506" name="Group 13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6508" name="Object 1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8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5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6509" name="Object 1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9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5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6507" name="Text Box 16"/>
            <p:cNvSpPr txBox="1"/>
            <p:nvPr/>
          </p:nvSpPr>
          <p:spPr>
            <a:xfrm>
              <a:off x="-68" y="256"/>
              <a:ext cx="5738" cy="3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97663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其中，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J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是那些可从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I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中的某一状态结点出发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经过一条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弧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而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97663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到达的状态结点的全体。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71702" name="WordArt 22"/>
          <p:cNvSpPr>
            <a:spLocks noChangeArrowheads="1" noChangeShapeType="1" noTextEdit="1"/>
          </p:cNvSpPr>
          <p:nvPr/>
        </p:nvSpPr>
        <p:spPr bwMode="auto">
          <a:xfrm>
            <a:off x="823913" y="668338"/>
            <a:ext cx="2019300" cy="4572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0" cap="none" spc="0" normalizeH="0" baseline="0" noProof="0">
                <a:ln w="9525">
                  <a:solidFill>
                    <a:srgbClr val="FF6600"/>
                  </a:solidFill>
                  <a:round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Move</a:t>
            </a:r>
            <a:r>
              <a:rPr kumimoji="0" lang="zh-CN" altLang="en-US" sz="3600" b="0" i="0" u="none" strike="noStrike" kern="10" cap="none" spc="0" normalizeH="0" baseline="0" noProof="0">
                <a:ln w="9525">
                  <a:solidFill>
                    <a:srgbClr val="FF6600"/>
                  </a:solidFill>
                  <a:round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运算</a:t>
            </a:r>
            <a:endParaRPr kumimoji="0" lang="zh-CN" altLang="en-US" sz="3600" b="0" i="0" u="none" strike="noStrike" kern="10" cap="none" spc="0" normalizeH="0" baseline="0" noProof="0">
              <a:ln w="9525">
                <a:solidFill>
                  <a:srgbClr val="FF6600"/>
                </a:solidFill>
                <a:round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pSp>
        <p:nvGrpSpPr>
          <p:cNvPr id="20" name="Group 2"/>
          <p:cNvGrpSpPr/>
          <p:nvPr/>
        </p:nvGrpSpPr>
        <p:grpSpPr>
          <a:xfrm>
            <a:off x="2051050" y="2636838"/>
            <a:ext cx="4356100" cy="1223962"/>
            <a:chOff x="-68" y="210"/>
            <a:chExt cx="5738" cy="4890"/>
          </a:xfrm>
        </p:grpSpPr>
        <p:grpSp>
          <p:nvGrpSpPr>
            <p:cNvPr id="106502" name="Group 3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6504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0" name="" r:id="rId7" imgW="7581900" imgH="2768600" progId="Photoshop.Image.7">
                      <p:embed/>
                    </p:oleObj>
                  </mc:Choice>
                  <mc:Fallback>
                    <p:oleObj name="" r:id="rId7" imgW="7581900" imgH="2768600" progId="Photoshop.Image.7">
                      <p:embed/>
                      <p:pic>
                        <p:nvPicPr>
                          <p:cNvPr id="0" name="图片 315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6505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1" name="" r:id="rId8" imgW="114300" imgH="215900" progId="Equation.3">
                      <p:embed/>
                    </p:oleObj>
                  </mc:Choice>
                  <mc:Fallback>
                    <p:oleObj name="" r:id="rId8" imgW="114300" imgH="215900" progId="Equation.3">
                      <p:embed/>
                      <p:pic>
                        <p:nvPicPr>
                          <p:cNvPr id="0" name="图片 316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6503" name="Text Box 6"/>
            <p:cNvSpPr txBox="1"/>
            <p:nvPr/>
          </p:nvSpPr>
          <p:spPr>
            <a:xfrm>
              <a:off x="-68" y="254"/>
              <a:ext cx="5738" cy="48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976630" indent="-97663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en-US" altLang="zh-CN" sz="4000" b="1" dirty="0">
                  <a:solidFill>
                    <a:srgbClr val="FF0000"/>
                  </a:solidFill>
                  <a:latin typeface="宋体" pitchFamily="2" charset="-122"/>
                </a:rPr>
                <a:t>J=move(I)</a:t>
              </a:r>
              <a:endParaRPr lang="zh-CN" altLang="en-US" sz="40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5714" name="Group 2"/>
          <p:cNvGrpSpPr/>
          <p:nvPr/>
        </p:nvGrpSpPr>
        <p:grpSpPr>
          <a:xfrm>
            <a:off x="4572000" y="2349500"/>
            <a:ext cx="3816350" cy="3044825"/>
            <a:chOff x="-68" y="210"/>
            <a:chExt cx="5738" cy="4172"/>
          </a:xfrm>
        </p:grpSpPr>
        <p:grpSp>
          <p:nvGrpSpPr>
            <p:cNvPr id="107549" name="Group 3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7551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2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6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7552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3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6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7550" name="Text Box 6"/>
            <p:cNvSpPr txBox="1"/>
            <p:nvPr/>
          </p:nvSpPr>
          <p:spPr>
            <a:xfrm>
              <a:off x="-68" y="251"/>
              <a:ext cx="5738" cy="41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9750" indent="-539750" eaLnBrk="1" hangingPunct="1">
                <a:lnSpc>
                  <a:spcPct val="13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∑={ a1,a2,….ak }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。先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构造一张表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，该表每一行含有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k+1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列。置该表的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</a:rPr>
                <a:t>首行首列为</a:t>
              </a:r>
              <a:r>
                <a:rPr lang="el-GR" altLang="zh-CN" sz="2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ε</a:t>
              </a:r>
              <a:r>
                <a:rPr lang="en-US" altLang="zh-CN" sz="20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_CLOSURE(X)</a:t>
              </a:r>
              <a:r>
                <a:rPr lang="zh-CN" altLang="en-US" sz="20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。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90204" pitchFamily="34" charset="0"/>
              </a:endParaRPr>
            </a:p>
            <a:p>
              <a:pPr marL="539750" indent="-539750" eaLnBrk="1" hangingPunct="1">
                <a:lnSpc>
                  <a:spcPct val="130000"/>
                </a:lnSpc>
                <a:spcBef>
                  <a:spcPct val="50000"/>
                </a:spcBef>
                <a:buNone/>
              </a:pPr>
              <a:endParaRPr lang="en-US" altLang="zh-CN" sz="2000" b="1" dirty="0">
                <a:solidFill>
                  <a:srgbClr val="FF0000"/>
                </a:solidFill>
                <a:latin typeface="Arial" panose="020B0604020202090204" pitchFamily="34" charset="0"/>
              </a:endParaRPr>
            </a:p>
          </p:txBody>
        </p:sp>
      </p:grpSp>
      <p:grpSp>
        <p:nvGrpSpPr>
          <p:cNvPr id="115719" name="Group 7"/>
          <p:cNvGrpSpPr/>
          <p:nvPr/>
        </p:nvGrpSpPr>
        <p:grpSpPr>
          <a:xfrm>
            <a:off x="4356100" y="2852738"/>
            <a:ext cx="3419475" cy="2452687"/>
            <a:chOff x="-68" y="210"/>
            <a:chExt cx="5738" cy="3946"/>
          </a:xfrm>
        </p:grpSpPr>
        <p:grpSp>
          <p:nvGrpSpPr>
            <p:cNvPr id="107545" name="Group 8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7547" name="Object 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4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6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7548" name="Object 1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5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6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7546" name="Text Box 11"/>
            <p:cNvSpPr txBox="1"/>
            <p:nvPr/>
          </p:nvSpPr>
          <p:spPr>
            <a:xfrm>
              <a:off x="-68" y="251"/>
              <a:ext cx="5738" cy="30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975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重复上述过程，直至所有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第二列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和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第三列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子集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均已在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第一列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上出现了为止。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15724" name="Group 12"/>
          <p:cNvGrpSpPr/>
          <p:nvPr/>
        </p:nvGrpSpPr>
        <p:grpSpPr>
          <a:xfrm>
            <a:off x="4284663" y="1773238"/>
            <a:ext cx="4535487" cy="4103687"/>
            <a:chOff x="-68" y="210"/>
            <a:chExt cx="5738" cy="3946"/>
          </a:xfrm>
        </p:grpSpPr>
        <p:grpSp>
          <p:nvGrpSpPr>
            <p:cNvPr id="107541" name="Group 13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7543" name="Object 1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6" name="" r:id="rId7" imgW="7581900" imgH="2768600" progId="Photoshop.Image.7">
                      <p:embed/>
                    </p:oleObj>
                  </mc:Choice>
                  <mc:Fallback>
                    <p:oleObj name="" r:id="rId7" imgW="7581900" imgH="2768600" progId="Photoshop.Image.7">
                      <p:embed/>
                      <p:pic>
                        <p:nvPicPr>
                          <p:cNvPr id="0" name="图片 316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7544" name="Object 1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7" name="" r:id="rId8" imgW="114300" imgH="215900" progId="Equation.3">
                      <p:embed/>
                    </p:oleObj>
                  </mc:Choice>
                  <mc:Fallback>
                    <p:oleObj name="" r:id="rId8" imgW="114300" imgH="215900" progId="Equation.3">
                      <p:embed/>
                      <p:pic>
                        <p:nvPicPr>
                          <p:cNvPr id="0" name="图片 316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7542" name="Text Box 16"/>
            <p:cNvSpPr txBox="1"/>
            <p:nvPr/>
          </p:nvSpPr>
          <p:spPr>
            <a:xfrm>
              <a:off x="-68" y="254"/>
              <a:ext cx="5738" cy="34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9750" indent="0" eaLnBrk="1" hangingPunct="1">
                <a:lnSpc>
                  <a:spcPct val="13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如果某一行的第一列的状态子集已经确定，例如记为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I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,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那么，求出这一行的第二个和第三个子集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I</a:t>
              </a:r>
              <a:r>
                <a:rPr lang="en-US" altLang="zh-CN" sz="2400" b="1" baseline="-25000" dirty="0">
                  <a:solidFill>
                    <a:schemeClr val="hlink"/>
                  </a:solidFill>
                  <a:latin typeface="宋体" pitchFamily="2" charset="-122"/>
                </a:rPr>
                <a:t>a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和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I</a:t>
              </a:r>
              <a:r>
                <a:rPr lang="en-US" altLang="zh-CN" sz="2400" b="1" baseline="-25000" dirty="0">
                  <a:solidFill>
                    <a:schemeClr val="hlink"/>
                  </a:solidFill>
                  <a:latin typeface="宋体" pitchFamily="2" charset="-122"/>
                </a:rPr>
                <a:t>b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看它们是否已 在表的第一列出现，将未出现的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填入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到后面空行的第一列。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15729" name="Group 17"/>
          <p:cNvGrpSpPr/>
          <p:nvPr/>
        </p:nvGrpSpPr>
        <p:grpSpPr>
          <a:xfrm>
            <a:off x="468313" y="2420938"/>
            <a:ext cx="3311525" cy="576262"/>
            <a:chOff x="-68" y="210"/>
            <a:chExt cx="5738" cy="3946"/>
          </a:xfrm>
        </p:grpSpPr>
        <p:grpSp>
          <p:nvGrpSpPr>
            <p:cNvPr id="107537" name="Group 18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7539" name="Object 1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8" name="" r:id="rId9" imgW="7581900" imgH="2768600" progId="Photoshop.Image.7">
                      <p:embed/>
                    </p:oleObj>
                  </mc:Choice>
                  <mc:Fallback>
                    <p:oleObj name="" r:id="rId9" imgW="7581900" imgH="2768600" progId="Photoshop.Image.7">
                      <p:embed/>
                      <p:pic>
                        <p:nvPicPr>
                          <p:cNvPr id="0" name="图片 316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7540" name="Object 2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9" name="" r:id="rId10" imgW="114300" imgH="215900" progId="Equation.3">
                      <p:embed/>
                    </p:oleObj>
                  </mc:Choice>
                  <mc:Fallback>
                    <p:oleObj name="" r:id="rId10" imgW="114300" imgH="215900" progId="Equation.3">
                      <p:embed/>
                      <p:pic>
                        <p:nvPicPr>
                          <p:cNvPr id="0" name="图片 316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7538" name="Text Box 21"/>
            <p:cNvSpPr txBox="1"/>
            <p:nvPr/>
          </p:nvSpPr>
          <p:spPr>
            <a:xfrm>
              <a:off x="-68" y="253"/>
              <a:ext cx="5738" cy="31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9750" indent="-53975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   1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表的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初始化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构造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90204" pitchFamily="34" charset="0"/>
              </a:endParaRPr>
            </a:p>
          </p:txBody>
        </p:sp>
      </p:grpSp>
      <p:grpSp>
        <p:nvGrpSpPr>
          <p:cNvPr id="115744" name="Group 32"/>
          <p:cNvGrpSpPr/>
          <p:nvPr/>
        </p:nvGrpSpPr>
        <p:grpSpPr>
          <a:xfrm>
            <a:off x="468313" y="3429000"/>
            <a:ext cx="3384550" cy="576263"/>
            <a:chOff x="-68" y="210"/>
            <a:chExt cx="5738" cy="3946"/>
          </a:xfrm>
        </p:grpSpPr>
        <p:grpSp>
          <p:nvGrpSpPr>
            <p:cNvPr id="107533" name="Group 33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7535" name="Object 3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0" name="" r:id="rId11" imgW="7581900" imgH="2768600" progId="Photoshop.Image.7">
                      <p:embed/>
                    </p:oleObj>
                  </mc:Choice>
                  <mc:Fallback>
                    <p:oleObj name="" r:id="rId11" imgW="7581900" imgH="2768600" progId="Photoshop.Image.7">
                      <p:embed/>
                      <p:pic>
                        <p:nvPicPr>
                          <p:cNvPr id="0" name="图片 316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7536" name="Object 3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1" name="" r:id="rId12" imgW="114300" imgH="215900" progId="Equation.3">
                      <p:embed/>
                    </p:oleObj>
                  </mc:Choice>
                  <mc:Fallback>
                    <p:oleObj name="" r:id="rId12" imgW="114300" imgH="215900" progId="Equation.3">
                      <p:embed/>
                      <p:pic>
                        <p:nvPicPr>
                          <p:cNvPr id="0" name="图片 317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7534" name="Text Box 36"/>
            <p:cNvSpPr txBox="1"/>
            <p:nvPr/>
          </p:nvSpPr>
          <p:spPr>
            <a:xfrm>
              <a:off x="-68" y="253"/>
              <a:ext cx="5738" cy="31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975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2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处理表的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一行</a:t>
              </a:r>
              <a:endParaRPr lang="zh-CN" altLang="en-US" sz="2400" b="1" dirty="0">
                <a:solidFill>
                  <a:schemeClr val="hlink"/>
                </a:solidFill>
                <a:latin typeface="宋体" pitchFamily="2" charset="-122"/>
              </a:endParaRPr>
            </a:p>
          </p:txBody>
        </p:sp>
      </p:grpSp>
      <p:grpSp>
        <p:nvGrpSpPr>
          <p:cNvPr id="115749" name="Group 37"/>
          <p:cNvGrpSpPr/>
          <p:nvPr/>
        </p:nvGrpSpPr>
        <p:grpSpPr>
          <a:xfrm>
            <a:off x="539750" y="4652963"/>
            <a:ext cx="3384550" cy="576262"/>
            <a:chOff x="-68" y="210"/>
            <a:chExt cx="5738" cy="3946"/>
          </a:xfrm>
        </p:grpSpPr>
        <p:grpSp>
          <p:nvGrpSpPr>
            <p:cNvPr id="107529" name="Group 38"/>
            <p:cNvGrpSpPr/>
            <p:nvPr/>
          </p:nvGrpSpPr>
          <p:grpSpPr>
            <a:xfrm>
              <a:off x="204" y="210"/>
              <a:ext cx="5443" cy="3946"/>
              <a:chOff x="720" y="480"/>
              <a:chExt cx="4224" cy="1390"/>
            </a:xfrm>
          </p:grpSpPr>
          <p:graphicFrame>
            <p:nvGraphicFramePr>
              <p:cNvPr id="107531" name="Object 3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2" name="" r:id="rId13" imgW="7581900" imgH="2768600" progId="Photoshop.Image.7">
                      <p:embed/>
                    </p:oleObj>
                  </mc:Choice>
                  <mc:Fallback>
                    <p:oleObj name="" r:id="rId13" imgW="7581900" imgH="2768600" progId="Photoshop.Image.7">
                      <p:embed/>
                      <p:pic>
                        <p:nvPicPr>
                          <p:cNvPr id="0" name="图片 317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7532" name="Object 4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3" name="" r:id="rId14" imgW="114300" imgH="215900" progId="Equation.3">
                      <p:embed/>
                    </p:oleObj>
                  </mc:Choice>
                  <mc:Fallback>
                    <p:oleObj name="" r:id="rId14" imgW="114300" imgH="215900" progId="Equation.3">
                      <p:embed/>
                      <p:pic>
                        <p:nvPicPr>
                          <p:cNvPr id="0" name="图片 317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7530" name="Text Box 41"/>
            <p:cNvSpPr txBox="1"/>
            <p:nvPr/>
          </p:nvSpPr>
          <p:spPr>
            <a:xfrm>
              <a:off x="-68" y="253"/>
              <a:ext cx="5738" cy="31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53975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3 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重复处理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07528" name="WordArt 42"/>
          <p:cNvSpPr>
            <a:spLocks noTextEdit="1"/>
          </p:cNvSpPr>
          <p:nvPr/>
        </p:nvSpPr>
        <p:spPr>
          <a:xfrm>
            <a:off x="727075" y="955675"/>
            <a:ext cx="18288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宋体" charset="0"/>
                <a:ea typeface="宋体" charset="0"/>
              </a:rPr>
              <a:t>子集算法</a:t>
            </a:r>
            <a:endParaRPr lang="zh-CN" altLang="en-US" sz="3600">
              <a:ln w="9525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2706" name="Group 2"/>
          <p:cNvGrpSpPr/>
          <p:nvPr/>
        </p:nvGrpSpPr>
        <p:grpSpPr>
          <a:xfrm>
            <a:off x="250825" y="549275"/>
            <a:ext cx="4681538" cy="606425"/>
            <a:chOff x="249" y="890"/>
            <a:chExt cx="2812" cy="408"/>
          </a:xfrm>
        </p:grpSpPr>
        <p:grpSp>
          <p:nvGrpSpPr>
            <p:cNvPr id="108631" name="Group 3"/>
            <p:cNvGrpSpPr/>
            <p:nvPr/>
          </p:nvGrpSpPr>
          <p:grpSpPr>
            <a:xfrm>
              <a:off x="249" y="890"/>
              <a:ext cx="2812" cy="408"/>
              <a:chOff x="720" y="480"/>
              <a:chExt cx="4224" cy="1390"/>
            </a:xfrm>
          </p:grpSpPr>
          <p:graphicFrame>
            <p:nvGraphicFramePr>
              <p:cNvPr id="108633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4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7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8634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5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7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8632" name="Text Box 6"/>
            <p:cNvSpPr txBox="1"/>
            <p:nvPr/>
          </p:nvSpPr>
          <p:spPr>
            <a:xfrm>
              <a:off x="340" y="935"/>
              <a:ext cx="2678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3-17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：考虑下图所示</a:t>
              </a:r>
              <a:r>
                <a:rPr lang="en-US" altLang="zh-CN" sz="2000" b="1" dirty="0">
                  <a:solidFill>
                    <a:schemeClr val="hlink"/>
                  </a:solidFill>
                  <a:latin typeface="宋体" pitchFamily="2" charset="-122"/>
                </a:rPr>
                <a:t>NFA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</a:t>
              </a:r>
              <a:r>
                <a:rPr lang="zh-CN" altLang="en-US" sz="2000" b="1" dirty="0">
                  <a:solidFill>
                    <a:schemeClr val="hlink"/>
                  </a:solidFill>
                  <a:latin typeface="宋体" pitchFamily="2" charset="-122"/>
                </a:rPr>
                <a:t>确定化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72711" name="Line 7"/>
          <p:cNvSpPr/>
          <p:nvPr/>
        </p:nvSpPr>
        <p:spPr>
          <a:xfrm flipV="1">
            <a:off x="3635375" y="1665288"/>
            <a:ext cx="647700" cy="431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12" name="AutoShape 8"/>
          <p:cNvSpPr/>
          <p:nvPr/>
        </p:nvSpPr>
        <p:spPr>
          <a:xfrm>
            <a:off x="8174038" y="2130425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y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3" name="AutoShape 9"/>
          <p:cNvSpPr/>
          <p:nvPr/>
        </p:nvSpPr>
        <p:spPr>
          <a:xfrm>
            <a:off x="325438" y="208756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x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4" name="AutoShape 10"/>
          <p:cNvSpPr/>
          <p:nvPr/>
        </p:nvSpPr>
        <p:spPr>
          <a:xfrm>
            <a:off x="3349625" y="2087563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5" name="AutoShape 11"/>
          <p:cNvSpPr/>
          <p:nvPr/>
        </p:nvSpPr>
        <p:spPr>
          <a:xfrm>
            <a:off x="1836738" y="208756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6" name="Text Box 12"/>
          <p:cNvSpPr txBox="1"/>
          <p:nvPr/>
        </p:nvSpPr>
        <p:spPr>
          <a:xfrm>
            <a:off x="6948488" y="1377950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7" name="Text Box 13"/>
          <p:cNvSpPr txBox="1"/>
          <p:nvPr/>
        </p:nvSpPr>
        <p:spPr>
          <a:xfrm>
            <a:off x="1906588" y="1304925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8" name="Text Box 14"/>
          <p:cNvSpPr txBox="1"/>
          <p:nvPr/>
        </p:nvSpPr>
        <p:spPr>
          <a:xfrm>
            <a:off x="5003800" y="1484313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19" name="Text Box 15"/>
          <p:cNvSpPr txBox="1"/>
          <p:nvPr/>
        </p:nvSpPr>
        <p:spPr>
          <a:xfrm>
            <a:off x="3706813" y="1520825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0" name="Text Box 16"/>
          <p:cNvSpPr txBox="1"/>
          <p:nvPr/>
        </p:nvSpPr>
        <p:spPr>
          <a:xfrm>
            <a:off x="1979613" y="2960688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1" name="Text Box 17"/>
          <p:cNvSpPr txBox="1"/>
          <p:nvPr/>
        </p:nvSpPr>
        <p:spPr>
          <a:xfrm>
            <a:off x="2627313" y="2025650"/>
            <a:ext cx="3603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2" name="Text Box 18"/>
          <p:cNvSpPr txBox="1"/>
          <p:nvPr/>
        </p:nvSpPr>
        <p:spPr>
          <a:xfrm>
            <a:off x="3706813" y="2744788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3" name="AutoShape 19"/>
          <p:cNvSpPr/>
          <p:nvPr/>
        </p:nvSpPr>
        <p:spPr>
          <a:xfrm>
            <a:off x="4284663" y="2879725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4" name="AutoShape 20"/>
          <p:cNvSpPr/>
          <p:nvPr/>
        </p:nvSpPr>
        <p:spPr>
          <a:xfrm>
            <a:off x="4284663" y="1295400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5" name="AutoShape 21"/>
          <p:cNvSpPr/>
          <p:nvPr/>
        </p:nvSpPr>
        <p:spPr>
          <a:xfrm>
            <a:off x="5292725" y="2160588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6" name="AutoShape 22"/>
          <p:cNvSpPr/>
          <p:nvPr/>
        </p:nvSpPr>
        <p:spPr>
          <a:xfrm>
            <a:off x="6950075" y="2130425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27" name="Line 23"/>
          <p:cNvSpPr/>
          <p:nvPr/>
        </p:nvSpPr>
        <p:spPr>
          <a:xfrm>
            <a:off x="898525" y="2386013"/>
            <a:ext cx="9366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28" name="Line 24"/>
          <p:cNvSpPr/>
          <p:nvPr/>
        </p:nvSpPr>
        <p:spPr>
          <a:xfrm>
            <a:off x="2411413" y="2386013"/>
            <a:ext cx="9366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29" name="Line 25"/>
          <p:cNvSpPr/>
          <p:nvPr/>
        </p:nvSpPr>
        <p:spPr>
          <a:xfrm>
            <a:off x="4859338" y="1665288"/>
            <a:ext cx="720725" cy="5048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30" name="Line 26"/>
          <p:cNvSpPr/>
          <p:nvPr/>
        </p:nvSpPr>
        <p:spPr>
          <a:xfrm flipH="1">
            <a:off x="4859338" y="2673350"/>
            <a:ext cx="647700" cy="504825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31" name="Line 27"/>
          <p:cNvSpPr/>
          <p:nvPr/>
        </p:nvSpPr>
        <p:spPr>
          <a:xfrm flipH="1" flipV="1">
            <a:off x="3706813" y="2601913"/>
            <a:ext cx="576262" cy="431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32" name="Line 28"/>
          <p:cNvSpPr/>
          <p:nvPr/>
        </p:nvSpPr>
        <p:spPr>
          <a:xfrm>
            <a:off x="5867400" y="2457450"/>
            <a:ext cx="108108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33" name="Line 29"/>
          <p:cNvSpPr/>
          <p:nvPr/>
        </p:nvSpPr>
        <p:spPr>
          <a:xfrm>
            <a:off x="7523163" y="2457450"/>
            <a:ext cx="649287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34" name="Arc 30"/>
          <p:cNvSpPr/>
          <p:nvPr/>
        </p:nvSpPr>
        <p:spPr>
          <a:xfrm flipV="1">
            <a:off x="1906588" y="1665288"/>
            <a:ext cx="360362" cy="417512"/>
          </a:xfrm>
          <a:custGeom>
            <a:avLst/>
            <a:gdLst/>
            <a:ahLst/>
            <a:cxnLst>
              <a:cxn ang="0">
                <a:pos x="307017" y="0"/>
              </a:cxn>
              <a:cxn ang="0">
                <a:pos x="3011" y="128976"/>
              </a:cxn>
              <a:cxn ang="0">
                <a:pos x="180181" y="173393"/>
              </a:cxn>
            </a:cxnLst>
            <a:pathLst>
              <a:path w="43200" h="36942" fill="none">
                <a:moveTo>
                  <a:pt x="36804" y="0"/>
                </a:moveTo>
                <a:cubicBezTo>
                  <a:pt x="40897" y="4056"/>
                  <a:pt x="43200" y="9579"/>
                  <a:pt x="43200" y="15342"/>
                </a:cubicBezTo>
                <a:cubicBezTo>
                  <a:pt x="43200" y="27271"/>
                  <a:pt x="33529" y="36942"/>
                  <a:pt x="21600" y="36942"/>
                </a:cubicBezTo>
                <a:cubicBezTo>
                  <a:pt x="9670" y="36942"/>
                  <a:pt x="0" y="27271"/>
                  <a:pt x="0" y="15342"/>
                </a:cubicBezTo>
                <a:cubicBezTo>
                  <a:pt x="-1" y="14023"/>
                  <a:pt x="120" y="12708"/>
                  <a:pt x="360" y="11411"/>
                </a:cubicBezTo>
              </a:path>
              <a:path w="43200" h="36942" stroke="0">
                <a:moveTo>
                  <a:pt x="36804" y="0"/>
                </a:moveTo>
                <a:cubicBezTo>
                  <a:pt x="40897" y="4056"/>
                  <a:pt x="43200" y="9579"/>
                  <a:pt x="43200" y="15342"/>
                </a:cubicBezTo>
                <a:cubicBezTo>
                  <a:pt x="43200" y="27271"/>
                  <a:pt x="33529" y="36942"/>
                  <a:pt x="21600" y="36942"/>
                </a:cubicBezTo>
                <a:cubicBezTo>
                  <a:pt x="9670" y="36942"/>
                  <a:pt x="0" y="27271"/>
                  <a:pt x="0" y="15342"/>
                </a:cubicBezTo>
                <a:cubicBezTo>
                  <a:pt x="-1" y="14023"/>
                  <a:pt x="120" y="12708"/>
                  <a:pt x="360" y="11411"/>
                </a:cubicBezTo>
                <a:lnTo>
                  <a:pt x="21600" y="15342"/>
                </a:lnTo>
                <a:lnTo>
                  <a:pt x="36804" y="0"/>
                </a:lnTo>
                <a:close/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2735" name="Line 31"/>
          <p:cNvSpPr/>
          <p:nvPr/>
        </p:nvSpPr>
        <p:spPr>
          <a:xfrm>
            <a:off x="1906588" y="1935163"/>
            <a:ext cx="44450" cy="1635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2736" name="Group 32"/>
          <p:cNvGrpSpPr/>
          <p:nvPr/>
        </p:nvGrpSpPr>
        <p:grpSpPr>
          <a:xfrm>
            <a:off x="7019925" y="1736725"/>
            <a:ext cx="360363" cy="433388"/>
            <a:chOff x="1247" y="2115"/>
            <a:chExt cx="362" cy="363"/>
          </a:xfrm>
        </p:grpSpPr>
        <p:sp>
          <p:nvSpPr>
            <p:cNvPr id="108629" name="Arc 33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8630" name="Line 34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2739" name="Group 35"/>
          <p:cNvGrpSpPr/>
          <p:nvPr/>
        </p:nvGrpSpPr>
        <p:grpSpPr>
          <a:xfrm flipV="1">
            <a:off x="1906588" y="2601913"/>
            <a:ext cx="433387" cy="431800"/>
            <a:chOff x="1247" y="2115"/>
            <a:chExt cx="362" cy="363"/>
          </a:xfrm>
        </p:grpSpPr>
        <p:sp>
          <p:nvSpPr>
            <p:cNvPr id="108627" name="Arc 36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8628" name="Line 37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2742" name="Group 38"/>
          <p:cNvGrpSpPr/>
          <p:nvPr/>
        </p:nvGrpSpPr>
        <p:grpSpPr>
          <a:xfrm flipV="1">
            <a:off x="7019925" y="2673350"/>
            <a:ext cx="433388" cy="431800"/>
            <a:chOff x="1247" y="2115"/>
            <a:chExt cx="362" cy="363"/>
          </a:xfrm>
        </p:grpSpPr>
        <p:sp>
          <p:nvSpPr>
            <p:cNvPr id="108625" name="Arc 39"/>
            <p:cNvSpPr/>
            <p:nvPr/>
          </p:nvSpPr>
          <p:spPr>
            <a:xfrm flipV="1">
              <a:off x="1247" y="2115"/>
              <a:ext cx="362" cy="350"/>
            </a:xfrm>
            <a:custGeom>
              <a:avLst/>
              <a:gdLst/>
              <a:ahLst/>
              <a:cxnLst>
                <a:cxn ang="0">
                  <a:pos x="308" y="0"/>
                </a:cxn>
                <a:cxn ang="0">
                  <a:pos x="3" y="108"/>
                </a:cxn>
                <a:cxn ang="0">
                  <a:pos x="181" y="145"/>
                </a:cxn>
              </a:cxnLst>
              <a:pathLst>
                <a:path w="43200" h="36942" fill="none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</a:path>
                <a:path w="43200" h="36942" stroke="0">
                  <a:moveTo>
                    <a:pt x="36804" y="0"/>
                  </a:moveTo>
                  <a:cubicBezTo>
                    <a:pt x="40897" y="4056"/>
                    <a:pt x="43200" y="9579"/>
                    <a:pt x="43200" y="15342"/>
                  </a:cubicBezTo>
                  <a:cubicBezTo>
                    <a:pt x="43200" y="27271"/>
                    <a:pt x="33529" y="36942"/>
                    <a:pt x="21600" y="36942"/>
                  </a:cubicBezTo>
                  <a:cubicBezTo>
                    <a:pt x="9670" y="36942"/>
                    <a:pt x="0" y="27271"/>
                    <a:pt x="0" y="15342"/>
                  </a:cubicBezTo>
                  <a:cubicBezTo>
                    <a:pt x="-1" y="14023"/>
                    <a:pt x="120" y="12708"/>
                    <a:pt x="360" y="11411"/>
                  </a:cubicBezTo>
                  <a:lnTo>
                    <a:pt x="21600" y="15342"/>
                  </a:lnTo>
                  <a:lnTo>
                    <a:pt x="3680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8626" name="Line 40"/>
            <p:cNvSpPr/>
            <p:nvPr/>
          </p:nvSpPr>
          <p:spPr>
            <a:xfrm>
              <a:off x="1247" y="2341"/>
              <a:ext cx="45" cy="13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2745" name="Text Box 41"/>
          <p:cNvSpPr txBox="1"/>
          <p:nvPr/>
        </p:nvSpPr>
        <p:spPr>
          <a:xfrm>
            <a:off x="7091363" y="3033713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46" name="Text Box 42"/>
          <p:cNvSpPr txBox="1"/>
          <p:nvPr/>
        </p:nvSpPr>
        <p:spPr>
          <a:xfrm>
            <a:off x="5219700" y="2744788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47" name="Text Box 43"/>
          <p:cNvSpPr txBox="1"/>
          <p:nvPr/>
        </p:nvSpPr>
        <p:spPr>
          <a:xfrm>
            <a:off x="1114425" y="2025650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48" name="Text Box 44"/>
          <p:cNvSpPr txBox="1"/>
          <p:nvPr/>
        </p:nvSpPr>
        <p:spPr>
          <a:xfrm>
            <a:off x="6227763" y="2097088"/>
            <a:ext cx="3603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2749" name="Text Box 45"/>
          <p:cNvSpPr txBox="1"/>
          <p:nvPr/>
        </p:nvSpPr>
        <p:spPr>
          <a:xfrm>
            <a:off x="7596188" y="2097088"/>
            <a:ext cx="3603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endParaRPr lang="el-GR" altLang="zh-CN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aphicFrame>
        <p:nvGraphicFramePr>
          <p:cNvPr id="72750" name="Group 46"/>
          <p:cNvGraphicFramePr>
            <a:graphicFrameLocks noGrp="1"/>
          </p:cNvGraphicFramePr>
          <p:nvPr/>
        </p:nvGraphicFramePr>
        <p:xfrm>
          <a:off x="179388" y="3532188"/>
          <a:ext cx="5472113" cy="2925763"/>
        </p:xfrm>
        <a:graphic>
          <a:graphicData uri="http://schemas.openxmlformats.org/drawingml/2006/table">
            <a:tbl>
              <a:tblPr/>
              <a:tblGrid>
                <a:gridCol w="1822450"/>
                <a:gridCol w="1827212"/>
                <a:gridCol w="1822450"/>
              </a:tblGrid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Ia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Ib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{X,5,1}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88" name="Rectangle 84"/>
          <p:cNvSpPr/>
          <p:nvPr/>
        </p:nvSpPr>
        <p:spPr>
          <a:xfrm>
            <a:off x="6300788" y="3625850"/>
            <a:ext cx="2305050" cy="25400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I=</a:t>
            </a:r>
            <a:r>
              <a:rPr lang="el-GR" altLang="zh-CN" sz="20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_CLOSURE{X}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{X,5,1}</a:t>
            </a:r>
            <a:r>
              <a:rPr lang="zh-CN" altLang="en-US" sz="2000" b="1" dirty="0">
                <a:solidFill>
                  <a:schemeClr val="hlink"/>
                </a:solidFill>
                <a:latin typeface="宋体" pitchFamily="2" charset="-122"/>
              </a:rPr>
              <a:t>。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从状态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I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出发经过一条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弧而能到达的状态全体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J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{5,3},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而</a:t>
            </a:r>
            <a:r>
              <a:rPr lang="el-GR" altLang="zh-CN" sz="20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_CLOSURE(J)={5, 3,1}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。从而</a:t>
            </a: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Ia={5, 3,1}</a:t>
            </a:r>
            <a:r>
              <a:rPr lang="zh-CN" altLang="en-US" sz="2000" b="1" dirty="0">
                <a:solidFill>
                  <a:schemeClr val="hlink"/>
                </a:solidFill>
                <a:latin typeface="宋体" pitchFamily="2" charset="-122"/>
              </a:rPr>
              <a:t>。</a:t>
            </a:r>
            <a:endParaRPr lang="zh-CN" altLang="en-US" sz="2000" b="1" dirty="0">
              <a:solidFill>
                <a:schemeClr val="hlink"/>
              </a:solidFill>
              <a:latin typeface="宋体" pitchFamily="2" charset="-122"/>
            </a:endParaRPr>
          </a:p>
        </p:txBody>
      </p:sp>
      <p:sp>
        <p:nvSpPr>
          <p:cNvPr id="72789" name="AutoShape 85"/>
          <p:cNvSpPr/>
          <p:nvPr/>
        </p:nvSpPr>
        <p:spPr>
          <a:xfrm>
            <a:off x="6877050" y="260350"/>
            <a:ext cx="2266950" cy="1584325"/>
          </a:xfrm>
          <a:prstGeom prst="wedgeEllipseCallout">
            <a:avLst>
              <a:gd name="adj1" fmla="val -49019"/>
              <a:gd name="adj2" fmla="val 189079"/>
            </a:avLst>
          </a:prstGeom>
          <a:solidFill>
            <a:srgbClr val="00C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初态</a:t>
            </a:r>
            <a:r>
              <a:rPr lang="el-GR" altLang="zh-CN" sz="2000" b="1" dirty="0">
                <a:solidFill>
                  <a:schemeClr val="tx2"/>
                </a:solidFill>
                <a:latin typeface="宋体" pitchFamily="2" charset="-122"/>
              </a:rPr>
              <a:t>ε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闭包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{X,5,1}</a:t>
            </a:r>
            <a:endParaRPr lang="zh-CN" altLang="el-GR" sz="2000" b="1" dirty="0">
              <a:solidFill>
                <a:schemeClr val="hlink"/>
              </a:solidFill>
              <a:latin typeface="宋体" pitchFamily="2" charset="-122"/>
            </a:endParaRPr>
          </a:p>
        </p:txBody>
      </p:sp>
      <p:sp>
        <p:nvSpPr>
          <p:cNvPr id="72790" name="AutoShape 86"/>
          <p:cNvSpPr/>
          <p:nvPr/>
        </p:nvSpPr>
        <p:spPr>
          <a:xfrm>
            <a:off x="6877050" y="0"/>
            <a:ext cx="2266950" cy="1584325"/>
          </a:xfrm>
          <a:prstGeom prst="wedgeEllipseCallout">
            <a:avLst>
              <a:gd name="adj1" fmla="val -24648"/>
              <a:gd name="adj2" fmla="val 261722"/>
            </a:avLst>
          </a:prstGeom>
          <a:solidFill>
            <a:srgbClr val="00C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Ja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为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itchFamily="2" charset="-122"/>
              </a:rPr>
              <a:t>{5,3}</a:t>
            </a:r>
            <a:endParaRPr lang="zh-CN" altLang="el-GR" sz="2000" b="1" dirty="0">
              <a:solidFill>
                <a:schemeClr val="hlink"/>
              </a:solidFill>
              <a:latin typeface="宋体" pitchFamily="2" charset="-122"/>
            </a:endParaRPr>
          </a:p>
        </p:txBody>
      </p:sp>
      <p:sp>
        <p:nvSpPr>
          <p:cNvPr id="72791" name="AutoShape 87"/>
          <p:cNvSpPr/>
          <p:nvPr/>
        </p:nvSpPr>
        <p:spPr>
          <a:xfrm>
            <a:off x="4716463" y="981075"/>
            <a:ext cx="2592387" cy="1584325"/>
          </a:xfrm>
          <a:prstGeom prst="wedgeEllipseCallout">
            <a:avLst>
              <a:gd name="adj1" fmla="val 23241"/>
              <a:gd name="adj2" fmla="val 235773"/>
            </a:avLst>
          </a:prstGeom>
          <a:solidFill>
            <a:srgbClr val="00CC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1800" b="1" dirty="0">
                <a:solidFill>
                  <a:schemeClr val="tx2"/>
                </a:solidFill>
              </a:rPr>
              <a:t>ε</a:t>
            </a:r>
            <a:r>
              <a:rPr lang="en-US" altLang="zh-CN" sz="1800" b="1" dirty="0">
                <a:solidFill>
                  <a:schemeClr val="tx2"/>
                </a:solidFill>
              </a:rPr>
              <a:t>_CLOSURE(J)</a:t>
            </a:r>
            <a:r>
              <a:rPr lang="zh-CN" altLang="en-US" sz="1800" b="1" dirty="0">
                <a:solidFill>
                  <a:schemeClr val="tx2"/>
                </a:solidFill>
                <a:latin typeface="宋体" pitchFamily="2" charset="-122"/>
              </a:rPr>
              <a:t>为</a:t>
            </a:r>
            <a:r>
              <a:rPr lang="en-US" altLang="zh-CN" sz="1800" b="1" dirty="0">
                <a:solidFill>
                  <a:schemeClr val="hlink"/>
                </a:solidFill>
                <a:latin typeface="宋体" pitchFamily="2" charset="-122"/>
              </a:rPr>
              <a:t>{5,3</a:t>
            </a:r>
            <a:r>
              <a:rPr lang="zh-CN" altLang="en-US" sz="1800" b="1" dirty="0">
                <a:solidFill>
                  <a:schemeClr val="hlink"/>
                </a:solidFill>
                <a:latin typeface="宋体" pitchFamily="2" charset="-122"/>
              </a:rPr>
              <a:t>，</a:t>
            </a:r>
            <a:r>
              <a:rPr lang="en-US" altLang="zh-CN" sz="1800" b="1" dirty="0">
                <a:solidFill>
                  <a:schemeClr val="hlink"/>
                </a:solidFill>
                <a:latin typeface="宋体" pitchFamily="2" charset="-122"/>
              </a:rPr>
              <a:t>1}</a:t>
            </a:r>
            <a:r>
              <a:rPr lang="zh-CN" altLang="en-US" sz="2000" b="1" dirty="0">
                <a:solidFill>
                  <a:schemeClr val="tx2"/>
                </a:solidFill>
              </a:rPr>
              <a:t>（根据</a:t>
            </a:r>
            <a:r>
              <a:rPr lang="el-GR" altLang="zh-CN" sz="2000" b="1" dirty="0">
                <a:solidFill>
                  <a:schemeClr val="tx2"/>
                </a:solidFill>
              </a:rPr>
              <a:t>ε</a:t>
            </a:r>
            <a:r>
              <a:rPr lang="en-US" altLang="zh-CN" sz="2000" b="1" dirty="0">
                <a:solidFill>
                  <a:schemeClr val="tx2"/>
                </a:solidFill>
              </a:rPr>
              <a:t>_</a:t>
            </a:r>
            <a:r>
              <a:rPr lang="zh-CN" altLang="en-US" sz="2000" b="1" dirty="0">
                <a:solidFill>
                  <a:schemeClr val="tx2"/>
                </a:solidFill>
              </a:rPr>
              <a:t>闭包的定义）</a:t>
            </a:r>
            <a:endParaRPr lang="zh-CN" altLang="el-GR" sz="2000" b="1" dirty="0">
              <a:solidFill>
                <a:schemeClr val="tx2"/>
              </a:solidFill>
            </a:endParaRPr>
          </a:p>
        </p:txBody>
      </p:sp>
      <p:sp>
        <p:nvSpPr>
          <p:cNvPr id="72792" name="Oval 88"/>
          <p:cNvSpPr/>
          <p:nvPr/>
        </p:nvSpPr>
        <p:spPr>
          <a:xfrm>
            <a:off x="2195513" y="3644900"/>
            <a:ext cx="1368425" cy="647700"/>
          </a:xfrm>
          <a:prstGeom prst="ellipse">
            <a:avLst/>
          </a:prstGeom>
          <a:solidFill>
            <a:schemeClr val="bg1">
              <a:alpha val="0"/>
            </a:schemeClr>
          </a:solidFill>
          <a:ln w="28575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72793" name="Line 89"/>
          <p:cNvSpPr/>
          <p:nvPr/>
        </p:nvSpPr>
        <p:spPr>
          <a:xfrm flipH="1" flipV="1">
            <a:off x="3563938" y="4005263"/>
            <a:ext cx="4176712" cy="1584325"/>
          </a:xfrm>
          <a:prstGeom prst="line">
            <a:avLst/>
          </a:prstGeom>
          <a:ln w="28575" cap="flat" cmpd="sng">
            <a:solidFill>
              <a:srgbClr val="FF00FF"/>
            </a:solidFill>
            <a:prstDash val="lgDashDotDot"/>
            <a:headEnd type="none" w="med" len="med"/>
            <a:tailEnd type="triangle" w="med" len="med"/>
          </a:ln>
        </p:spPr>
      </p:sp>
      <p:sp>
        <p:nvSpPr>
          <p:cNvPr id="72794" name="Rectangle 90"/>
          <p:cNvSpPr/>
          <p:nvPr/>
        </p:nvSpPr>
        <p:spPr>
          <a:xfrm>
            <a:off x="6299200" y="4500563"/>
            <a:ext cx="2376488" cy="10160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根据此方法依次求出左边表中的状态转换矩阵即可。</a:t>
            </a:r>
            <a:endParaRPr lang="zh-CN" altLang="en-US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7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7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7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7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20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20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9" dur="20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20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2" dur="20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000"/>
                            </p:stCondLst>
                            <p:childTnLst>
                              <p:par>
                                <p:cTn id="134" presetID="7" presetClass="emph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20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C0C"/>
                                      </p:to>
                                    </p:animClr>
                                    <p:set>
                                      <p:cBhvr>
                                        <p:cTn id="136" dur="20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C0C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20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C0C"/>
                                      </p:to>
                                    </p:animClr>
                                    <p:set>
                                      <p:cBhvr>
                                        <p:cTn id="142" dur="20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7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/>
                                        <p:tgtEl>
                                          <p:spTgt spid="7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2000" fill="hold"/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33"/>
                                      </p:to>
                                    </p:animClr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2000" fill="hold"/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33"/>
                                      </p:to>
                                    </p:animClr>
                                    <p:set>
                                      <p:cBhvr>
                                        <p:cTn id="160" dur="2000" fill="hold"/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20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66FF33"/>
                                      </p:to>
                                    </p:animClr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000"/>
                            </p:stCondLst>
                            <p:childTnLst>
                              <p:par>
                                <p:cTn id="16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20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167" dur="20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2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20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173" dur="20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2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2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2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72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9" dur="1000"/>
                                        <p:tgtEl>
                                          <p:spTgt spid="7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/>
                                        <p:tgtEl>
                                          <p:spTgt spid="7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5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" dur="1000"/>
                                        <p:tgtEl>
                                          <p:spTgt spid="72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/>
                                        <p:tgtEl>
                                          <p:spTgt spid="72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6" dur="1000"/>
                                        <p:tgtEl>
                                          <p:spTgt spid="72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1000"/>
                                        <p:tgtEl>
                                          <p:spTgt spid="72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/>
                                        <p:tgtEl>
                                          <p:spTgt spid="72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1000"/>
                                        <p:tgtEl>
                                          <p:spTgt spid="72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1000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7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7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animBg="1"/>
      <p:bldP spid="72712" grpId="0" animBg="1"/>
      <p:bldP spid="72713" grpId="0" animBg="1"/>
      <p:bldP spid="72714" grpId="0" animBg="1"/>
      <p:bldP spid="72715" grpId="0" animBg="1"/>
      <p:bldP spid="72716" grpId="0"/>
      <p:bldP spid="72717" grpId="0"/>
      <p:bldP spid="72718" grpId="0"/>
      <p:bldP spid="72719" grpId="0"/>
      <p:bldP spid="72720" grpId="0"/>
      <p:bldP spid="72721" grpId="0"/>
      <p:bldP spid="72722" grpId="0"/>
      <p:bldP spid="72723" grpId="0" animBg="1"/>
      <p:bldP spid="72724" grpId="0" animBg="1"/>
      <p:bldP spid="72725" grpId="0" animBg="1"/>
      <p:bldP spid="72726" grpId="0" animBg="1"/>
      <p:bldP spid="72727" grpId="0" animBg="1"/>
      <p:bldP spid="72728" grpId="0" animBg="1"/>
      <p:bldP spid="72729" grpId="0" animBg="1"/>
      <p:bldP spid="72730" grpId="0" animBg="1"/>
      <p:bldP spid="72731" grpId="0" animBg="1"/>
      <p:bldP spid="72732" grpId="0" animBg="1"/>
      <p:bldP spid="72733" grpId="0" animBg="1"/>
      <p:bldP spid="72734" grpId="0" animBg="1"/>
      <p:bldP spid="72735" grpId="0" animBg="1"/>
      <p:bldP spid="72745" grpId="0"/>
      <p:bldP spid="72746" grpId="0"/>
      <p:bldP spid="72747" grpId="0"/>
      <p:bldP spid="72748" grpId="0"/>
      <p:bldP spid="72749" grpId="0"/>
      <p:bldP spid="72788" grpId="0" animBg="1"/>
      <p:bldP spid="72788" grpId="1" animBg="1"/>
      <p:bldP spid="72789" grpId="0" animBg="1"/>
      <p:bldP spid="72789" grpId="1" animBg="1"/>
      <p:bldP spid="72790" grpId="0" animBg="1"/>
      <p:bldP spid="72790" grpId="1" animBg="1"/>
      <p:bldP spid="72791" grpId="0" animBg="1"/>
      <p:bldP spid="72791" grpId="1" animBg="1"/>
      <p:bldP spid="72792" grpId="0" animBg="1"/>
      <p:bldP spid="72792" grpId="1" animBg="1"/>
      <p:bldP spid="72793" grpId="0" animBg="1"/>
      <p:bldP spid="72793" grpId="1" animBg="1"/>
      <p:bldP spid="7279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3730" name="Group 2"/>
          <p:cNvGrpSpPr/>
          <p:nvPr/>
        </p:nvGrpSpPr>
        <p:grpSpPr>
          <a:xfrm>
            <a:off x="466725" y="809625"/>
            <a:ext cx="7634288" cy="1035050"/>
            <a:chOff x="249" y="890"/>
            <a:chExt cx="2812" cy="408"/>
          </a:xfrm>
        </p:grpSpPr>
        <p:grpSp>
          <p:nvGrpSpPr>
            <p:cNvPr id="109705" name="Group 3"/>
            <p:cNvGrpSpPr/>
            <p:nvPr/>
          </p:nvGrpSpPr>
          <p:grpSpPr>
            <a:xfrm>
              <a:off x="249" y="890"/>
              <a:ext cx="2812" cy="408"/>
              <a:chOff x="720" y="480"/>
              <a:chExt cx="4224" cy="1390"/>
            </a:xfrm>
          </p:grpSpPr>
          <p:graphicFrame>
            <p:nvGraphicFramePr>
              <p:cNvPr id="109707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708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9706" name="Text Box 6"/>
            <p:cNvSpPr txBox="1"/>
            <p:nvPr/>
          </p:nvSpPr>
          <p:spPr>
            <a:xfrm>
              <a:off x="340" y="935"/>
              <a:ext cx="267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对右下图表中的所有</a:t>
              </a:r>
              <a:r>
                <a:rPr lang="zh-CN" altLang="en-US" sz="2000" b="1" dirty="0">
                  <a:solidFill>
                    <a:srgbClr val="FF0066"/>
                  </a:solidFill>
                  <a:latin typeface="宋体" pitchFamily="2" charset="-122"/>
                </a:rPr>
                <a:t>子集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重新命名，得到左图中的状态转换矩阵形成如下状态转换矩阵，从而得到相应的</a:t>
              </a:r>
              <a:r>
                <a:rPr lang="en-US" altLang="zh-CN" sz="2000" b="1" dirty="0">
                  <a:solidFill>
                    <a:srgbClr val="FF0066"/>
                  </a:solidFill>
                  <a:latin typeface="宋体" pitchFamily="2" charset="-122"/>
                </a:rPr>
                <a:t>DFA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。如图所示：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aphicFrame>
        <p:nvGraphicFramePr>
          <p:cNvPr id="73735" name="Group 7"/>
          <p:cNvGraphicFramePr>
            <a:graphicFrameLocks noGrp="1"/>
          </p:cNvGraphicFramePr>
          <p:nvPr>
            <p:ph sz="half" idx="4294967295"/>
          </p:nvPr>
        </p:nvGraphicFramePr>
        <p:xfrm>
          <a:off x="250825" y="2924175"/>
          <a:ext cx="1893888" cy="3240088"/>
        </p:xfrm>
        <a:graphic>
          <a:graphicData uri="http://schemas.openxmlformats.org/drawingml/2006/table">
            <a:tbl>
              <a:tblPr/>
              <a:tblGrid>
                <a:gridCol w="550863"/>
                <a:gridCol w="728662"/>
                <a:gridCol w="614363"/>
              </a:tblGrid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3773" name="AutoShape 45"/>
          <p:cNvSpPr/>
          <p:nvPr/>
        </p:nvSpPr>
        <p:spPr>
          <a:xfrm>
            <a:off x="5799138" y="2957513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74" name="AutoShape 46"/>
          <p:cNvSpPr/>
          <p:nvPr/>
        </p:nvSpPr>
        <p:spPr>
          <a:xfrm>
            <a:off x="2557463" y="392271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75" name="AutoShape 47"/>
          <p:cNvSpPr/>
          <p:nvPr/>
        </p:nvSpPr>
        <p:spPr>
          <a:xfrm>
            <a:off x="4070350" y="2914650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76" name="AutoShape 48"/>
          <p:cNvSpPr/>
          <p:nvPr/>
        </p:nvSpPr>
        <p:spPr>
          <a:xfrm>
            <a:off x="4070350" y="5146675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73777" name="Group 49"/>
          <p:cNvGrpSpPr/>
          <p:nvPr/>
        </p:nvGrpSpPr>
        <p:grpSpPr>
          <a:xfrm>
            <a:off x="4140200" y="3355975"/>
            <a:ext cx="914400" cy="1965325"/>
            <a:chOff x="1474" y="2069"/>
            <a:chExt cx="576" cy="1238"/>
          </a:xfrm>
        </p:grpSpPr>
        <p:sp>
          <p:nvSpPr>
            <p:cNvPr id="109703" name="Arc 50"/>
            <p:cNvSpPr/>
            <p:nvPr/>
          </p:nvSpPr>
          <p:spPr>
            <a:xfrm rot="843092">
              <a:off x="1474" y="2296"/>
              <a:ext cx="576" cy="1011"/>
            </a:xfrm>
            <a:custGeom>
              <a:avLst/>
              <a:gdLst/>
              <a:ahLst/>
              <a:cxnLst>
                <a:cxn ang="0">
                  <a:pos x="360" y="0"/>
                </a:cxn>
                <a:cxn ang="0">
                  <a:pos x="440" y="1011"/>
                </a:cxn>
                <a:cxn ang="0">
                  <a:pos x="0" y="553"/>
                </a:cxn>
              </a:cxnLst>
              <a:pathLst>
                <a:path w="21600" h="30813" fill="none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</a:path>
                <a:path w="21600" h="30813" stroke="0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  <a:lnTo>
                    <a:pt x="0" y="16852"/>
                  </a:lnTo>
                  <a:lnTo>
                    <a:pt x="1351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704" name="Line 51"/>
            <p:cNvSpPr/>
            <p:nvPr/>
          </p:nvSpPr>
          <p:spPr>
            <a:xfrm flipH="1" flipV="1">
              <a:off x="1746" y="2069"/>
              <a:ext cx="227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3780" name="Group 52"/>
          <p:cNvGrpSpPr/>
          <p:nvPr/>
        </p:nvGrpSpPr>
        <p:grpSpPr>
          <a:xfrm>
            <a:off x="3635375" y="3355975"/>
            <a:ext cx="1008063" cy="2016125"/>
            <a:chOff x="1156" y="2069"/>
            <a:chExt cx="635" cy="1270"/>
          </a:xfrm>
        </p:grpSpPr>
        <p:sp>
          <p:nvSpPr>
            <p:cNvPr id="109701" name="Arc 53"/>
            <p:cNvSpPr/>
            <p:nvPr/>
          </p:nvSpPr>
          <p:spPr>
            <a:xfrm flipH="1">
              <a:off x="1156" y="2069"/>
              <a:ext cx="635" cy="1089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486" y="1089"/>
                </a:cxn>
                <a:cxn ang="0">
                  <a:pos x="0" y="622"/>
                </a:cxn>
              </a:cxnLst>
              <a:pathLst>
                <a:path w="21600" h="32374" fill="none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</a:path>
                <a:path w="21600" h="32374" stroke="0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  <a:lnTo>
                    <a:pt x="0" y="18489"/>
                  </a:lnTo>
                  <a:lnTo>
                    <a:pt x="1116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702" name="Line 54"/>
            <p:cNvSpPr/>
            <p:nvPr/>
          </p:nvSpPr>
          <p:spPr>
            <a:xfrm>
              <a:off x="1292" y="3158"/>
              <a:ext cx="137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3783" name="Group 55"/>
          <p:cNvGrpSpPr/>
          <p:nvPr/>
        </p:nvGrpSpPr>
        <p:grpSpPr>
          <a:xfrm>
            <a:off x="6364288" y="3590925"/>
            <a:ext cx="1666875" cy="1709738"/>
            <a:chOff x="2557" y="1537"/>
            <a:chExt cx="1050" cy="1077"/>
          </a:xfrm>
        </p:grpSpPr>
        <p:sp>
          <p:nvSpPr>
            <p:cNvPr id="109699" name="Arc 56"/>
            <p:cNvSpPr/>
            <p:nvPr/>
          </p:nvSpPr>
          <p:spPr>
            <a:xfrm rot="5255360">
              <a:off x="2644" y="1429"/>
              <a:ext cx="855" cy="10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55" y="604"/>
                </a:cxn>
                <a:cxn ang="0">
                  <a:pos x="0" y="1050"/>
                </a:cxn>
              </a:cxnLst>
              <a:pathLst>
                <a:path w="19552" h="21600" fill="none">
                  <a:moveTo>
                    <a:pt x="-1" y="0"/>
                  </a:moveTo>
                  <a:cubicBezTo>
                    <a:pt x="8374" y="0"/>
                    <a:pt x="15993" y="4840"/>
                    <a:pt x="19552" y="12420"/>
                  </a:cubicBezTo>
                </a:path>
                <a:path w="19552" h="21600" stroke="0">
                  <a:moveTo>
                    <a:pt x="-1" y="0"/>
                  </a:moveTo>
                  <a:cubicBezTo>
                    <a:pt x="8374" y="0"/>
                    <a:pt x="15993" y="4840"/>
                    <a:pt x="19552" y="1242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700" name="Line 57"/>
            <p:cNvSpPr/>
            <p:nvPr/>
          </p:nvSpPr>
          <p:spPr>
            <a:xfrm rot="5255360">
              <a:off x="2697" y="2294"/>
              <a:ext cx="202" cy="43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3786" name="Group 58"/>
          <p:cNvGrpSpPr/>
          <p:nvPr/>
        </p:nvGrpSpPr>
        <p:grpSpPr>
          <a:xfrm>
            <a:off x="2843213" y="3213100"/>
            <a:ext cx="1225550" cy="719138"/>
            <a:chOff x="657" y="1979"/>
            <a:chExt cx="772" cy="453"/>
          </a:xfrm>
        </p:grpSpPr>
        <p:sp>
          <p:nvSpPr>
            <p:cNvPr id="109697" name="Arc 59"/>
            <p:cNvSpPr/>
            <p:nvPr/>
          </p:nvSpPr>
          <p:spPr>
            <a:xfrm flipH="1">
              <a:off x="657" y="2024"/>
              <a:ext cx="680" cy="408"/>
            </a:xfrm>
            <a:custGeom>
              <a:avLst/>
              <a:gdLst/>
              <a:ahLst/>
              <a:cxnLst>
                <a:cxn ang="0">
                  <a:pos x="225" y="0"/>
                </a:cxn>
                <a:cxn ang="0">
                  <a:pos x="680" y="408"/>
                </a:cxn>
                <a:cxn ang="0">
                  <a:pos x="0" y="408"/>
                </a:cxn>
              </a:cxnLst>
              <a:pathLst>
                <a:path w="21600" h="20378" fill="none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</a:path>
                <a:path w="21600" h="20378" stroke="0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  <a:lnTo>
                    <a:pt x="0" y="20378"/>
                  </a:lnTo>
                  <a:lnTo>
                    <a:pt x="7161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98" name="Line 60"/>
            <p:cNvSpPr/>
            <p:nvPr/>
          </p:nvSpPr>
          <p:spPr>
            <a:xfrm flipV="1">
              <a:off x="1111" y="1979"/>
              <a:ext cx="318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3789" name="Group 61"/>
          <p:cNvGrpSpPr/>
          <p:nvPr/>
        </p:nvGrpSpPr>
        <p:grpSpPr>
          <a:xfrm>
            <a:off x="2844800" y="4437063"/>
            <a:ext cx="1225550" cy="935037"/>
            <a:chOff x="658" y="2750"/>
            <a:chExt cx="772" cy="589"/>
          </a:xfrm>
        </p:grpSpPr>
        <p:sp>
          <p:nvSpPr>
            <p:cNvPr id="109695" name="Arc 62"/>
            <p:cNvSpPr/>
            <p:nvPr/>
          </p:nvSpPr>
          <p:spPr>
            <a:xfrm rot="10800000">
              <a:off x="658" y="2750"/>
              <a:ext cx="772" cy="553"/>
            </a:xfrm>
            <a:custGeom>
              <a:avLst/>
              <a:gdLst/>
              <a:ahLst/>
              <a:cxnLst>
                <a:cxn ang="0">
                  <a:pos x="269" y="0"/>
                </a:cxn>
                <a:cxn ang="0">
                  <a:pos x="772" y="553"/>
                </a:cxn>
                <a:cxn ang="0">
                  <a:pos x="0" y="553"/>
                </a:cxn>
              </a:cxnLst>
              <a:pathLst>
                <a:path w="21600" h="20245" fill="none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</a:path>
                <a:path w="21600" h="20245" stroke="0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  <a:lnTo>
                    <a:pt x="0" y="20245"/>
                  </a:lnTo>
                  <a:lnTo>
                    <a:pt x="7529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96" name="Line 63"/>
            <p:cNvSpPr/>
            <p:nvPr/>
          </p:nvSpPr>
          <p:spPr>
            <a:xfrm>
              <a:off x="1156" y="3294"/>
              <a:ext cx="273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3792" name="Group 64"/>
          <p:cNvGrpSpPr/>
          <p:nvPr/>
        </p:nvGrpSpPr>
        <p:grpSpPr>
          <a:xfrm>
            <a:off x="5940425" y="3425825"/>
            <a:ext cx="2016125" cy="1800225"/>
            <a:chOff x="2290" y="1433"/>
            <a:chExt cx="1270" cy="1134"/>
          </a:xfrm>
        </p:grpSpPr>
        <p:sp>
          <p:nvSpPr>
            <p:cNvPr id="109693" name="Arc 65"/>
            <p:cNvSpPr/>
            <p:nvPr/>
          </p:nvSpPr>
          <p:spPr>
            <a:xfrm>
              <a:off x="2290" y="1554"/>
              <a:ext cx="1270" cy="1013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1270" y="1013"/>
                </a:cxn>
                <a:cxn ang="0">
                  <a:pos x="0" y="1013"/>
                </a:cxn>
              </a:cxnLst>
              <a:pathLst>
                <a:path w="21600" h="19308" fill="none">
                  <a:moveTo>
                    <a:pt x="9682" y="-1"/>
                  </a:moveTo>
                  <a:cubicBezTo>
                    <a:pt x="16987" y="3662"/>
                    <a:pt x="21600" y="11135"/>
                    <a:pt x="21600" y="19308"/>
                  </a:cubicBezTo>
                </a:path>
                <a:path w="21600" h="19308" stroke="0">
                  <a:moveTo>
                    <a:pt x="9682" y="-1"/>
                  </a:moveTo>
                  <a:cubicBezTo>
                    <a:pt x="16987" y="3662"/>
                    <a:pt x="21600" y="11135"/>
                    <a:pt x="21600" y="19308"/>
                  </a:cubicBezTo>
                  <a:lnTo>
                    <a:pt x="0" y="19308"/>
                  </a:lnTo>
                  <a:lnTo>
                    <a:pt x="9682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94" name="Line 66"/>
            <p:cNvSpPr/>
            <p:nvPr/>
          </p:nvSpPr>
          <p:spPr>
            <a:xfrm rot="-5400000" flipV="1">
              <a:off x="2647" y="1330"/>
              <a:ext cx="132" cy="33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3795" name="Text Box 67"/>
          <p:cNvSpPr txBox="1"/>
          <p:nvPr/>
        </p:nvSpPr>
        <p:spPr>
          <a:xfrm>
            <a:off x="5003800" y="4076700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96" name="Text Box 68"/>
          <p:cNvSpPr txBox="1"/>
          <p:nvPr/>
        </p:nvSpPr>
        <p:spPr>
          <a:xfrm>
            <a:off x="2987675" y="3032125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97" name="Text Box 69"/>
          <p:cNvSpPr txBox="1"/>
          <p:nvPr/>
        </p:nvSpPr>
        <p:spPr>
          <a:xfrm>
            <a:off x="6948488" y="5084763"/>
            <a:ext cx="3619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98" name="Text Box 70"/>
          <p:cNvSpPr txBox="1"/>
          <p:nvPr/>
        </p:nvSpPr>
        <p:spPr>
          <a:xfrm>
            <a:off x="5076825" y="2851150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799" name="Text Box 71"/>
          <p:cNvSpPr txBox="1"/>
          <p:nvPr/>
        </p:nvSpPr>
        <p:spPr>
          <a:xfrm>
            <a:off x="2987675" y="5013325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00" name="Text Box 72"/>
          <p:cNvSpPr txBox="1"/>
          <p:nvPr/>
        </p:nvSpPr>
        <p:spPr>
          <a:xfrm>
            <a:off x="5076825" y="5084763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01" name="Text Box 73"/>
          <p:cNvSpPr txBox="1"/>
          <p:nvPr/>
        </p:nvSpPr>
        <p:spPr>
          <a:xfrm>
            <a:off x="3348038" y="4005263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02" name="Line 74"/>
          <p:cNvSpPr/>
          <p:nvPr/>
        </p:nvSpPr>
        <p:spPr>
          <a:xfrm>
            <a:off x="4645025" y="3211513"/>
            <a:ext cx="11525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3803" name="Group 75"/>
          <p:cNvGrpSpPr/>
          <p:nvPr/>
        </p:nvGrpSpPr>
        <p:grpSpPr>
          <a:xfrm>
            <a:off x="5799138" y="2492375"/>
            <a:ext cx="503237" cy="503238"/>
            <a:chOff x="2201" y="845"/>
            <a:chExt cx="317" cy="317"/>
          </a:xfrm>
        </p:grpSpPr>
        <p:sp>
          <p:nvSpPr>
            <p:cNvPr id="109691" name="Arc 76"/>
            <p:cNvSpPr/>
            <p:nvPr/>
          </p:nvSpPr>
          <p:spPr>
            <a:xfrm>
              <a:off x="2201" y="845"/>
              <a:ext cx="317" cy="288"/>
            </a:xfrm>
            <a:custGeom>
              <a:avLst/>
              <a:gdLst/>
              <a:ahLst/>
              <a:cxnLst>
                <a:cxn ang="0">
                  <a:pos x="95" y="288"/>
                </a:cxn>
                <a:cxn ang="0">
                  <a:pos x="312" y="189"/>
                </a:cxn>
                <a:cxn ang="0">
                  <a:pos x="159" y="150"/>
                </a:cxn>
              </a:cxnLst>
              <a:pathLst>
                <a:path w="43200" h="41398" fill="none">
                  <a:moveTo>
                    <a:pt x="12962" y="41398"/>
                  </a:moveTo>
                  <a:cubicBezTo>
                    <a:pt x="5089" y="37963"/>
                    <a:pt x="0" y="3018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463"/>
                    <a:pt x="42958" y="25320"/>
                    <a:pt x="42482" y="27122"/>
                  </a:cubicBezTo>
                </a:path>
                <a:path w="43200" h="41398" stroke="0">
                  <a:moveTo>
                    <a:pt x="12962" y="41398"/>
                  </a:moveTo>
                  <a:cubicBezTo>
                    <a:pt x="5089" y="37963"/>
                    <a:pt x="0" y="3018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463"/>
                    <a:pt x="42958" y="25320"/>
                    <a:pt x="42482" y="27122"/>
                  </a:cubicBezTo>
                  <a:lnTo>
                    <a:pt x="21600" y="21600"/>
                  </a:lnTo>
                  <a:lnTo>
                    <a:pt x="12962" y="41398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92" name="Line 77"/>
            <p:cNvSpPr/>
            <p:nvPr/>
          </p:nvSpPr>
          <p:spPr>
            <a:xfrm flipH="1">
              <a:off x="2472" y="1026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3806" name="AutoShape 78"/>
          <p:cNvSpPr/>
          <p:nvPr/>
        </p:nvSpPr>
        <p:spPr>
          <a:xfrm>
            <a:off x="5870575" y="5146675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07" name="Line 79"/>
          <p:cNvSpPr/>
          <p:nvPr/>
        </p:nvSpPr>
        <p:spPr>
          <a:xfrm>
            <a:off x="4645025" y="5443538"/>
            <a:ext cx="1223963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808" name="AutoShape 80"/>
          <p:cNvSpPr/>
          <p:nvPr/>
        </p:nvSpPr>
        <p:spPr>
          <a:xfrm>
            <a:off x="7815263" y="2957513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09" name="AutoShape 81"/>
          <p:cNvSpPr/>
          <p:nvPr/>
        </p:nvSpPr>
        <p:spPr>
          <a:xfrm>
            <a:off x="7815263" y="5146675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10" name="Line 82"/>
          <p:cNvSpPr/>
          <p:nvPr/>
        </p:nvSpPr>
        <p:spPr>
          <a:xfrm>
            <a:off x="6372225" y="3211513"/>
            <a:ext cx="144145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811" name="Line 83"/>
          <p:cNvSpPr/>
          <p:nvPr/>
        </p:nvSpPr>
        <p:spPr>
          <a:xfrm>
            <a:off x="6445250" y="5443538"/>
            <a:ext cx="13684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812" name="Text Box 84"/>
          <p:cNvSpPr txBox="1"/>
          <p:nvPr/>
        </p:nvSpPr>
        <p:spPr>
          <a:xfrm>
            <a:off x="7164388" y="3500438"/>
            <a:ext cx="3619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13" name="Text Box 85"/>
          <p:cNvSpPr txBox="1"/>
          <p:nvPr/>
        </p:nvSpPr>
        <p:spPr>
          <a:xfrm>
            <a:off x="6948488" y="2851150"/>
            <a:ext cx="361950" cy="39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14" name="Text Box 86"/>
          <p:cNvSpPr txBox="1"/>
          <p:nvPr/>
        </p:nvSpPr>
        <p:spPr>
          <a:xfrm>
            <a:off x="6805613" y="4579938"/>
            <a:ext cx="3619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73815" name="Group 87"/>
          <p:cNvGrpSpPr/>
          <p:nvPr/>
        </p:nvGrpSpPr>
        <p:grpSpPr>
          <a:xfrm>
            <a:off x="6013450" y="5659438"/>
            <a:ext cx="431800" cy="431800"/>
            <a:chOff x="2336" y="2795"/>
            <a:chExt cx="318" cy="375"/>
          </a:xfrm>
        </p:grpSpPr>
        <p:sp>
          <p:nvSpPr>
            <p:cNvPr id="109689" name="Arc 88"/>
            <p:cNvSpPr/>
            <p:nvPr/>
          </p:nvSpPr>
          <p:spPr>
            <a:xfrm flipH="1" flipV="1">
              <a:off x="2336" y="2795"/>
              <a:ext cx="318" cy="375"/>
            </a:xfrm>
            <a:custGeom>
              <a:avLst/>
              <a:gdLst/>
              <a:ahLst/>
              <a:cxnLst>
                <a:cxn ang="0">
                  <a:pos x="77" y="375"/>
                </a:cxn>
                <a:cxn ang="0">
                  <a:pos x="318" y="202"/>
                </a:cxn>
                <a:cxn ang="0">
                  <a:pos x="159" y="202"/>
                </a:cxn>
              </a:cxnLst>
              <a:pathLst>
                <a:path w="43200" h="40079" fill="none">
                  <a:moveTo>
                    <a:pt x="10415" y="40078"/>
                  </a:moveTo>
                  <a:cubicBezTo>
                    <a:pt x="3949" y="36165"/>
                    <a:pt x="0" y="2915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0079" stroke="0">
                  <a:moveTo>
                    <a:pt x="10415" y="40078"/>
                  </a:moveTo>
                  <a:cubicBezTo>
                    <a:pt x="3949" y="36165"/>
                    <a:pt x="0" y="2915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0415" y="40078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90" name="Line 89"/>
            <p:cNvSpPr/>
            <p:nvPr/>
          </p:nvSpPr>
          <p:spPr>
            <a:xfrm flipV="1">
              <a:off x="2336" y="2840"/>
              <a:ext cx="0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3818" name="Group 90"/>
          <p:cNvGrpSpPr/>
          <p:nvPr/>
        </p:nvGrpSpPr>
        <p:grpSpPr>
          <a:xfrm>
            <a:off x="7740650" y="3500438"/>
            <a:ext cx="790575" cy="1727200"/>
            <a:chOff x="3424" y="1480"/>
            <a:chExt cx="498" cy="1088"/>
          </a:xfrm>
        </p:grpSpPr>
        <p:sp>
          <p:nvSpPr>
            <p:cNvPr id="109687" name="Arc 91"/>
            <p:cNvSpPr/>
            <p:nvPr/>
          </p:nvSpPr>
          <p:spPr>
            <a:xfrm>
              <a:off x="3424" y="1480"/>
              <a:ext cx="498" cy="970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405" y="970"/>
                </a:cxn>
                <a:cxn ang="0">
                  <a:pos x="0" y="547"/>
                </a:cxn>
              </a:cxnLst>
              <a:pathLst>
                <a:path w="21600" h="28854" fill="none">
                  <a:moveTo>
                    <a:pt x="14222" y="-1"/>
                  </a:moveTo>
                  <a:cubicBezTo>
                    <a:pt x="18910" y="4101"/>
                    <a:pt x="21600" y="10027"/>
                    <a:pt x="21600" y="16257"/>
                  </a:cubicBezTo>
                  <a:cubicBezTo>
                    <a:pt x="21600" y="20776"/>
                    <a:pt x="20182" y="25182"/>
                    <a:pt x="17546" y="28854"/>
                  </a:cubicBezTo>
                </a:path>
                <a:path w="21600" h="28854" stroke="0">
                  <a:moveTo>
                    <a:pt x="14222" y="-1"/>
                  </a:moveTo>
                  <a:cubicBezTo>
                    <a:pt x="18910" y="4101"/>
                    <a:pt x="21600" y="10027"/>
                    <a:pt x="21600" y="16257"/>
                  </a:cubicBezTo>
                  <a:cubicBezTo>
                    <a:pt x="21600" y="20776"/>
                    <a:pt x="20182" y="25182"/>
                    <a:pt x="17546" y="28854"/>
                  </a:cubicBezTo>
                  <a:lnTo>
                    <a:pt x="0" y="16257"/>
                  </a:lnTo>
                  <a:lnTo>
                    <a:pt x="14222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88" name="Line 92"/>
            <p:cNvSpPr/>
            <p:nvPr/>
          </p:nvSpPr>
          <p:spPr>
            <a:xfrm flipH="1">
              <a:off x="3742" y="2432"/>
              <a:ext cx="91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3821" name="Text Box 93"/>
          <p:cNvSpPr txBox="1"/>
          <p:nvPr/>
        </p:nvSpPr>
        <p:spPr>
          <a:xfrm>
            <a:off x="8170863" y="4148138"/>
            <a:ext cx="3619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3822" name="Text Box 94"/>
          <p:cNvSpPr txBox="1"/>
          <p:nvPr/>
        </p:nvSpPr>
        <p:spPr>
          <a:xfrm>
            <a:off x="8602663" y="4149725"/>
            <a:ext cx="361950" cy="39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73823" name="Group 95"/>
          <p:cNvGrpSpPr/>
          <p:nvPr/>
        </p:nvGrpSpPr>
        <p:grpSpPr>
          <a:xfrm>
            <a:off x="7956550" y="3213100"/>
            <a:ext cx="1008063" cy="2200275"/>
            <a:chOff x="3560" y="1298"/>
            <a:chExt cx="635" cy="1386"/>
          </a:xfrm>
        </p:grpSpPr>
        <p:sp>
          <p:nvSpPr>
            <p:cNvPr id="109685" name="Arc 96"/>
            <p:cNvSpPr/>
            <p:nvPr/>
          </p:nvSpPr>
          <p:spPr>
            <a:xfrm flipV="1">
              <a:off x="3560" y="1528"/>
              <a:ext cx="635" cy="1156"/>
            </a:xfrm>
            <a:custGeom>
              <a:avLst/>
              <a:gdLst/>
              <a:ahLst/>
              <a:cxnLst>
                <a:cxn ang="0">
                  <a:pos x="299" y="0"/>
                </a:cxn>
                <a:cxn ang="0">
                  <a:pos x="500" y="1156"/>
                </a:cxn>
                <a:cxn ang="0">
                  <a:pos x="0" y="681"/>
                </a:cxn>
              </a:cxnLst>
              <a:pathLst>
                <a:path w="21600" h="32369" fill="none">
                  <a:moveTo>
                    <a:pt x="10166" y="-1"/>
                  </a:moveTo>
                  <a:cubicBezTo>
                    <a:pt x="17203" y="3754"/>
                    <a:pt x="21600" y="11081"/>
                    <a:pt x="21600" y="19058"/>
                  </a:cubicBezTo>
                  <a:cubicBezTo>
                    <a:pt x="21600" y="23883"/>
                    <a:pt x="19984" y="28569"/>
                    <a:pt x="17011" y="32369"/>
                  </a:cubicBezTo>
                </a:path>
                <a:path w="21600" h="32369" stroke="0">
                  <a:moveTo>
                    <a:pt x="10166" y="-1"/>
                  </a:moveTo>
                  <a:cubicBezTo>
                    <a:pt x="17203" y="3754"/>
                    <a:pt x="21600" y="11081"/>
                    <a:pt x="21600" y="19058"/>
                  </a:cubicBezTo>
                  <a:cubicBezTo>
                    <a:pt x="21600" y="23883"/>
                    <a:pt x="19984" y="28569"/>
                    <a:pt x="17011" y="32369"/>
                  </a:cubicBezTo>
                  <a:lnTo>
                    <a:pt x="0" y="19058"/>
                  </a:lnTo>
                  <a:lnTo>
                    <a:pt x="10166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686" name="Line 97"/>
            <p:cNvSpPr/>
            <p:nvPr/>
          </p:nvSpPr>
          <p:spPr>
            <a:xfrm flipH="1" flipV="1">
              <a:off x="3833" y="1298"/>
              <a:ext cx="226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73870" name="Group 142"/>
          <p:cNvGraphicFramePr>
            <a:graphicFrameLocks noGrp="1"/>
          </p:cNvGraphicFramePr>
          <p:nvPr>
            <p:ph sz="half" idx="4294967295"/>
          </p:nvPr>
        </p:nvGraphicFramePr>
        <p:xfrm>
          <a:off x="3276600" y="2636838"/>
          <a:ext cx="5111750" cy="3529013"/>
        </p:xfrm>
        <a:graphic>
          <a:graphicData uri="http://schemas.openxmlformats.org/drawingml/2006/table">
            <a:tbl>
              <a:tblPr/>
              <a:tblGrid>
                <a:gridCol w="1703388"/>
                <a:gridCol w="1704975"/>
                <a:gridCol w="1703387"/>
              </a:tblGrid>
              <a:tr h="5032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Ia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Ib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{X,5,1}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{5,3,1,2,6,Y}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{5,4,1,6,Y}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3864" name="AutoShape 136"/>
          <p:cNvSpPr/>
          <p:nvPr/>
        </p:nvSpPr>
        <p:spPr>
          <a:xfrm>
            <a:off x="2124075" y="1773238"/>
            <a:ext cx="1368425" cy="865187"/>
          </a:xfrm>
          <a:prstGeom prst="wedgeRoundRectCallout">
            <a:avLst>
              <a:gd name="adj1" fmla="val 87588"/>
              <a:gd name="adj2" fmla="val 107065"/>
              <a:gd name="adj3" fmla="val 16667"/>
            </a:avLst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66"/>
                </a:solidFill>
                <a:latin typeface="宋体" pitchFamily="2" charset="-122"/>
              </a:rPr>
              <a:t>重命名为状态</a:t>
            </a:r>
            <a:r>
              <a:rPr lang="en-US" altLang="zh-CN" sz="2000" b="1" dirty="0">
                <a:solidFill>
                  <a:srgbClr val="FF0066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rgbClr val="FF0066"/>
              </a:solidFill>
              <a:latin typeface="宋体" pitchFamily="2" charset="-122"/>
            </a:endParaRPr>
          </a:p>
        </p:txBody>
      </p:sp>
      <p:sp>
        <p:nvSpPr>
          <p:cNvPr id="73865" name="AutoShape 137"/>
          <p:cNvSpPr/>
          <p:nvPr/>
        </p:nvSpPr>
        <p:spPr>
          <a:xfrm>
            <a:off x="1979613" y="2420938"/>
            <a:ext cx="1368425" cy="865187"/>
          </a:xfrm>
          <a:prstGeom prst="wedgeRoundRectCallout">
            <a:avLst>
              <a:gd name="adj1" fmla="val 80394"/>
              <a:gd name="adj2" fmla="val 91102"/>
              <a:gd name="adj3" fmla="val 16667"/>
            </a:avLst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66"/>
                </a:solidFill>
                <a:latin typeface="宋体" pitchFamily="2" charset="-122"/>
              </a:rPr>
              <a:t>重命名为状态</a:t>
            </a:r>
            <a:r>
              <a:rPr lang="en-US" altLang="zh-CN" sz="2000" b="1" dirty="0">
                <a:solidFill>
                  <a:srgbClr val="FF0066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rgbClr val="FF0066"/>
              </a:solidFill>
              <a:latin typeface="宋体" pitchFamily="2" charset="-122"/>
            </a:endParaRPr>
          </a:p>
        </p:txBody>
      </p:sp>
      <p:sp>
        <p:nvSpPr>
          <p:cNvPr id="73866" name="AutoShape 138"/>
          <p:cNvSpPr/>
          <p:nvPr/>
        </p:nvSpPr>
        <p:spPr>
          <a:xfrm>
            <a:off x="71438" y="1773238"/>
            <a:ext cx="1331912" cy="1008062"/>
          </a:xfrm>
          <a:prstGeom prst="wedgeRoundRectCallout">
            <a:avLst>
              <a:gd name="adj1" fmla="val 39273"/>
              <a:gd name="adj2" fmla="val 112833"/>
              <a:gd name="adj3" fmla="val 16667"/>
            </a:avLst>
          </a:prstGeom>
          <a:solidFill>
            <a:srgbClr val="99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66"/>
                </a:solidFill>
                <a:latin typeface="宋体" pitchFamily="2" charset="-122"/>
              </a:rPr>
              <a:t>根据重命名的状态填写表格</a:t>
            </a:r>
            <a:endParaRPr lang="zh-CN" altLang="en-US" sz="2000" b="1" dirty="0">
              <a:solidFill>
                <a:srgbClr val="FF0066"/>
              </a:solidFill>
              <a:latin typeface="宋体" pitchFamily="2" charset="-122"/>
            </a:endParaRPr>
          </a:p>
        </p:txBody>
      </p:sp>
      <p:sp>
        <p:nvSpPr>
          <p:cNvPr id="73868" name="Text Box 140"/>
          <p:cNvSpPr txBox="1"/>
          <p:nvPr/>
        </p:nvSpPr>
        <p:spPr>
          <a:xfrm>
            <a:off x="6011863" y="2133600"/>
            <a:ext cx="574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</a:rPr>
              <a:t>a</a:t>
            </a:r>
            <a:endParaRPr lang="en-US" altLang="zh-CN" sz="2000" b="1" dirty="0">
              <a:solidFill>
                <a:schemeClr val="tx2"/>
              </a:solidFill>
            </a:endParaRPr>
          </a:p>
        </p:txBody>
      </p:sp>
      <p:sp>
        <p:nvSpPr>
          <p:cNvPr id="73869" name="Text Box 141"/>
          <p:cNvSpPr txBox="1"/>
          <p:nvPr/>
        </p:nvSpPr>
        <p:spPr>
          <a:xfrm>
            <a:off x="6300788" y="5949950"/>
            <a:ext cx="574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</a:rPr>
              <a:t>b</a:t>
            </a:r>
            <a:endParaRPr lang="en-US" altLang="zh-CN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73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73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38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5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73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73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738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7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5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73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73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738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73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73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738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7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7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7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7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7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7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7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7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7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7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7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7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7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7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7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7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7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7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0"/>
                                        <p:tgtEl>
                                          <p:spTgt spid="7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0"/>
                                        <p:tgtEl>
                                          <p:spTgt spid="7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0"/>
                                        <p:tgtEl>
                                          <p:spTgt spid="7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7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7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00"/>
                                        <p:tgtEl>
                                          <p:spTgt spid="7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7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7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7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000"/>
                                        <p:tgtEl>
                                          <p:spTgt spid="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000"/>
                                        <p:tgtEl>
                                          <p:spTgt spid="7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00"/>
                                        <p:tgtEl>
                                          <p:spTgt spid="7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00"/>
                                        <p:tgtEl>
                                          <p:spTgt spid="7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73" grpId="0" animBg="1"/>
      <p:bldP spid="73774" grpId="0" animBg="1"/>
      <p:bldP spid="73775" grpId="0" animBg="1"/>
      <p:bldP spid="73776" grpId="0" animBg="1"/>
      <p:bldP spid="73795" grpId="0"/>
      <p:bldP spid="73796" grpId="0"/>
      <p:bldP spid="73797" grpId="0"/>
      <p:bldP spid="73798" grpId="0"/>
      <p:bldP spid="73799" grpId="0"/>
      <p:bldP spid="73800" grpId="0"/>
      <p:bldP spid="73801" grpId="0"/>
      <p:bldP spid="73806" grpId="0" animBg="1"/>
      <p:bldP spid="73808" grpId="0" animBg="1"/>
      <p:bldP spid="73809" grpId="0" animBg="1"/>
      <p:bldP spid="73812" grpId="0"/>
      <p:bldP spid="73813" grpId="0"/>
      <p:bldP spid="73814" grpId="0"/>
      <p:bldP spid="73821" grpId="0"/>
      <p:bldP spid="73822" grpId="0"/>
      <p:bldP spid="73864" grpId="0" animBg="1"/>
      <p:bldP spid="73864" grpId="1" animBg="1"/>
      <p:bldP spid="73865" grpId="0" animBg="1"/>
      <p:bldP spid="73865" grpId="1" animBg="1"/>
      <p:bldP spid="73866" grpId="0" animBg="1"/>
      <p:bldP spid="73866" grpId="1" animBg="1"/>
      <p:bldP spid="73868" grpId="0"/>
      <p:bldP spid="7386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4754" name="Group 2"/>
          <p:cNvGrpSpPr/>
          <p:nvPr/>
        </p:nvGrpSpPr>
        <p:grpSpPr>
          <a:xfrm>
            <a:off x="250825" y="476250"/>
            <a:ext cx="4752975" cy="663575"/>
            <a:chOff x="249" y="890"/>
            <a:chExt cx="2812" cy="408"/>
          </a:xfrm>
        </p:grpSpPr>
        <p:grpSp>
          <p:nvGrpSpPr>
            <p:cNvPr id="110678" name="Group 3"/>
            <p:cNvGrpSpPr/>
            <p:nvPr/>
          </p:nvGrpSpPr>
          <p:grpSpPr>
            <a:xfrm>
              <a:off x="249" y="890"/>
              <a:ext cx="2812" cy="408"/>
              <a:chOff x="720" y="480"/>
              <a:chExt cx="4224" cy="1390"/>
            </a:xfrm>
          </p:grpSpPr>
          <p:graphicFrame>
            <p:nvGraphicFramePr>
              <p:cNvPr id="110680" name="Object 4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0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4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0681" name="Object 5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1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5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0679" name="Text Box 6"/>
            <p:cNvSpPr txBox="1"/>
            <p:nvPr/>
          </p:nvSpPr>
          <p:spPr>
            <a:xfrm>
              <a:off x="340" y="935"/>
              <a:ext cx="2676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3-18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：考虑下图所示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的确定化：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74759" name="Line 7"/>
          <p:cNvSpPr/>
          <p:nvPr/>
        </p:nvSpPr>
        <p:spPr>
          <a:xfrm>
            <a:off x="360363" y="5373688"/>
            <a:ext cx="7556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0" name="Oval 8"/>
          <p:cNvSpPr/>
          <p:nvPr/>
        </p:nvSpPr>
        <p:spPr>
          <a:xfrm>
            <a:off x="1116013" y="5078413"/>
            <a:ext cx="762000" cy="53340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{1}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74761" name="Group 9"/>
          <p:cNvGrpSpPr/>
          <p:nvPr/>
        </p:nvGrpSpPr>
        <p:grpSpPr>
          <a:xfrm>
            <a:off x="250825" y="3068638"/>
            <a:ext cx="4895850" cy="1160462"/>
            <a:chOff x="1837" y="2750"/>
            <a:chExt cx="3084" cy="731"/>
          </a:xfrm>
        </p:grpSpPr>
        <p:sp>
          <p:nvSpPr>
            <p:cNvPr id="110675" name="Text Box 10"/>
            <p:cNvSpPr txBox="1"/>
            <p:nvPr/>
          </p:nvSpPr>
          <p:spPr>
            <a:xfrm>
              <a:off x="1837" y="2750"/>
              <a:ext cx="3084" cy="731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在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itchFamily="2" charset="-122"/>
                </a:rPr>
                <a:t>letter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上有到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itchFamily="2" charset="-122"/>
                </a:rPr>
                <a:t>{2}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的转换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：</a:t>
              </a:r>
              <a:endParaRPr lang="zh-CN" altLang="en-US" sz="2800" dirty="0">
                <a:solidFill>
                  <a:srgbClr val="000000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{2}={2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3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4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5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7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10}</a:t>
              </a:r>
              <a:endParaRPr lang="en-US" altLang="zh-CN" sz="2800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10676" name="Line 11"/>
            <p:cNvSpPr/>
            <p:nvPr/>
          </p:nvSpPr>
          <p:spPr>
            <a:xfrm>
              <a:off x="3515" y="2795"/>
              <a:ext cx="20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677" name="Line 12"/>
            <p:cNvSpPr/>
            <p:nvPr/>
          </p:nvSpPr>
          <p:spPr>
            <a:xfrm>
              <a:off x="1927" y="3203"/>
              <a:ext cx="22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4765" name="Line 13"/>
          <p:cNvSpPr/>
          <p:nvPr/>
        </p:nvSpPr>
        <p:spPr>
          <a:xfrm>
            <a:off x="1908175" y="5373688"/>
            <a:ext cx="935038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6" name="AutoShape 14"/>
          <p:cNvSpPr/>
          <p:nvPr/>
        </p:nvSpPr>
        <p:spPr>
          <a:xfrm>
            <a:off x="2844800" y="4927600"/>
            <a:ext cx="1581150" cy="9652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02" y="10800"/>
                </a:moveTo>
                <a:cubicBezTo>
                  <a:pt x="3002" y="15107"/>
                  <a:pt x="6493" y="18598"/>
                  <a:pt x="10800" y="18598"/>
                </a:cubicBezTo>
                <a:cubicBezTo>
                  <a:pt x="15107" y="18598"/>
                  <a:pt x="18598" y="15107"/>
                  <a:pt x="18598" y="10800"/>
                </a:cubicBezTo>
                <a:cubicBezTo>
                  <a:pt x="18598" y="6493"/>
                  <a:pt x="15107" y="3002"/>
                  <a:pt x="10800" y="3002"/>
                </a:cubicBezTo>
                <a:cubicBezTo>
                  <a:pt x="6493" y="3002"/>
                  <a:pt x="3002" y="6493"/>
                  <a:pt x="3002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{2,3,4,5,7,10}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67" name="Text Box 15"/>
          <p:cNvSpPr txBox="1"/>
          <p:nvPr/>
        </p:nvSpPr>
        <p:spPr>
          <a:xfrm>
            <a:off x="1835150" y="4976813"/>
            <a:ext cx="10080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letter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74768" name="Group 16"/>
          <p:cNvGrpSpPr/>
          <p:nvPr/>
        </p:nvGrpSpPr>
        <p:grpSpPr>
          <a:xfrm>
            <a:off x="250825" y="3068638"/>
            <a:ext cx="4895850" cy="1160462"/>
            <a:chOff x="1837" y="2750"/>
            <a:chExt cx="3084" cy="731"/>
          </a:xfrm>
        </p:grpSpPr>
        <p:sp>
          <p:nvSpPr>
            <p:cNvPr id="110672" name="Text Box 17"/>
            <p:cNvSpPr txBox="1"/>
            <p:nvPr/>
          </p:nvSpPr>
          <p:spPr>
            <a:xfrm>
              <a:off x="1837" y="2750"/>
              <a:ext cx="3084" cy="731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在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itchFamily="2" charset="-122"/>
                </a:rPr>
                <a:t>letter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上有到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itchFamily="2" charset="-122"/>
                </a:rPr>
                <a:t>{6}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的转换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：</a:t>
              </a:r>
              <a:endParaRPr lang="zh-CN" altLang="en-US" sz="2800" dirty="0">
                <a:solidFill>
                  <a:srgbClr val="000000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{6}={4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5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6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7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9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10}</a:t>
              </a:r>
              <a:endParaRPr lang="en-US" altLang="zh-CN" sz="2800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10673" name="Line 18"/>
            <p:cNvSpPr/>
            <p:nvPr/>
          </p:nvSpPr>
          <p:spPr>
            <a:xfrm>
              <a:off x="3515" y="2795"/>
              <a:ext cx="20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674" name="Line 19"/>
            <p:cNvSpPr/>
            <p:nvPr/>
          </p:nvSpPr>
          <p:spPr>
            <a:xfrm>
              <a:off x="1927" y="3203"/>
              <a:ext cx="22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4772" name="Line 20"/>
          <p:cNvSpPr/>
          <p:nvPr/>
        </p:nvSpPr>
        <p:spPr>
          <a:xfrm flipV="1">
            <a:off x="4427538" y="4941888"/>
            <a:ext cx="720725" cy="3587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73" name="AutoShape 21"/>
          <p:cNvSpPr/>
          <p:nvPr/>
        </p:nvSpPr>
        <p:spPr>
          <a:xfrm>
            <a:off x="5149850" y="4616450"/>
            <a:ext cx="2951163" cy="5334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02" y="10800"/>
                </a:moveTo>
                <a:cubicBezTo>
                  <a:pt x="3002" y="15107"/>
                  <a:pt x="6493" y="18598"/>
                  <a:pt x="10800" y="18598"/>
                </a:cubicBezTo>
                <a:cubicBezTo>
                  <a:pt x="15107" y="18598"/>
                  <a:pt x="18598" y="15107"/>
                  <a:pt x="18598" y="10800"/>
                </a:cubicBezTo>
                <a:cubicBezTo>
                  <a:pt x="18598" y="6493"/>
                  <a:pt x="15107" y="3002"/>
                  <a:pt x="10800" y="3002"/>
                </a:cubicBezTo>
                <a:cubicBezTo>
                  <a:pt x="6493" y="3002"/>
                  <a:pt x="3002" y="6493"/>
                  <a:pt x="3002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{4,5,6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7,9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10}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74" name="Text Box 22"/>
          <p:cNvSpPr txBox="1"/>
          <p:nvPr/>
        </p:nvSpPr>
        <p:spPr>
          <a:xfrm>
            <a:off x="4140200" y="4652963"/>
            <a:ext cx="10080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letter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74775" name="Group 23"/>
          <p:cNvGrpSpPr/>
          <p:nvPr/>
        </p:nvGrpSpPr>
        <p:grpSpPr>
          <a:xfrm>
            <a:off x="250825" y="3068638"/>
            <a:ext cx="4895850" cy="1160462"/>
            <a:chOff x="1837" y="2750"/>
            <a:chExt cx="3084" cy="731"/>
          </a:xfrm>
        </p:grpSpPr>
        <p:sp>
          <p:nvSpPr>
            <p:cNvPr id="110669" name="Text Box 24"/>
            <p:cNvSpPr txBox="1"/>
            <p:nvPr/>
          </p:nvSpPr>
          <p:spPr>
            <a:xfrm>
              <a:off x="1837" y="2750"/>
              <a:ext cx="3084" cy="731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在 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itchFamily="2" charset="-122"/>
                </a:rPr>
                <a:t>digit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上有到</a:t>
              </a:r>
              <a:r>
                <a:rPr lang="en-US" altLang="zh-CN" sz="2800" b="1" dirty="0">
                  <a:solidFill>
                    <a:srgbClr val="000000"/>
                  </a:solidFill>
                  <a:latin typeface="宋体" pitchFamily="2" charset="-122"/>
                </a:rPr>
                <a:t>{8}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的转换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：</a:t>
              </a:r>
              <a:endParaRPr lang="zh-CN" altLang="en-US" sz="2800" dirty="0">
                <a:solidFill>
                  <a:srgbClr val="000000"/>
                </a:solidFill>
                <a:latin typeface="宋体" pitchFamily="2" charset="-122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{8}={4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5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7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8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9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，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10}</a:t>
              </a:r>
              <a:endParaRPr lang="en-US" altLang="zh-CN" sz="2800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10670" name="Line 25"/>
            <p:cNvSpPr/>
            <p:nvPr/>
          </p:nvSpPr>
          <p:spPr>
            <a:xfrm>
              <a:off x="3515" y="2795"/>
              <a:ext cx="20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671" name="Line 26"/>
            <p:cNvSpPr/>
            <p:nvPr/>
          </p:nvSpPr>
          <p:spPr>
            <a:xfrm>
              <a:off x="1927" y="3203"/>
              <a:ext cx="22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4779" name="Line 27"/>
          <p:cNvSpPr/>
          <p:nvPr/>
        </p:nvSpPr>
        <p:spPr>
          <a:xfrm>
            <a:off x="4356100" y="5661025"/>
            <a:ext cx="792163" cy="2889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80" name="AutoShape 28"/>
          <p:cNvSpPr/>
          <p:nvPr/>
        </p:nvSpPr>
        <p:spPr>
          <a:xfrm>
            <a:off x="5153025" y="5734050"/>
            <a:ext cx="2946400" cy="5334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02" y="10800"/>
                </a:moveTo>
                <a:cubicBezTo>
                  <a:pt x="3002" y="15107"/>
                  <a:pt x="6493" y="18598"/>
                  <a:pt x="10800" y="18598"/>
                </a:cubicBezTo>
                <a:cubicBezTo>
                  <a:pt x="15107" y="18598"/>
                  <a:pt x="18598" y="15107"/>
                  <a:pt x="18598" y="10800"/>
                </a:cubicBezTo>
                <a:cubicBezTo>
                  <a:pt x="18598" y="6493"/>
                  <a:pt x="15107" y="3002"/>
                  <a:pt x="10800" y="3002"/>
                </a:cubicBezTo>
                <a:cubicBezTo>
                  <a:pt x="6493" y="3002"/>
                  <a:pt x="3002" y="6493"/>
                  <a:pt x="3002" y="1080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{4,5,7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8,9</a:t>
            </a:r>
            <a:r>
              <a:rPr lang="zh-CN" altLang="en-US" sz="2000" b="1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10}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81" name="Text Box 29"/>
          <p:cNvSpPr txBox="1"/>
          <p:nvPr/>
        </p:nvSpPr>
        <p:spPr>
          <a:xfrm>
            <a:off x="4140200" y="5768975"/>
            <a:ext cx="10080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digit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82" name="Arc 30"/>
          <p:cNvSpPr/>
          <p:nvPr/>
        </p:nvSpPr>
        <p:spPr>
          <a:xfrm>
            <a:off x="7888288" y="4581525"/>
            <a:ext cx="646112" cy="360363"/>
          </a:xfrm>
          <a:custGeom>
            <a:avLst/>
            <a:gdLst/>
            <a:ahLst/>
            <a:cxnLst>
              <a:cxn ang="0">
                <a:pos x="0" y="178027"/>
              </a:cxn>
              <a:cxn ang="0">
                <a:pos x="522710" y="360363"/>
              </a:cxn>
              <a:cxn ang="0">
                <a:pos x="321923" y="201868"/>
              </a:cxn>
            </a:cxnLst>
            <a:pathLst>
              <a:path w="43049" h="38559" fill="none">
                <a:moveTo>
                  <a:pt x="0" y="19049"/>
                </a:moveTo>
                <a:cubicBezTo>
                  <a:pt x="1292" y="8182"/>
                  <a:pt x="10506" y="-1"/>
                  <a:pt x="21449" y="0"/>
                </a:cubicBezTo>
                <a:cubicBezTo>
                  <a:pt x="33378" y="0"/>
                  <a:pt x="43049" y="9670"/>
                  <a:pt x="43049" y="21600"/>
                </a:cubicBezTo>
                <a:cubicBezTo>
                  <a:pt x="43049" y="28213"/>
                  <a:pt x="40019" y="34462"/>
                  <a:pt x="34826" y="38558"/>
                </a:cubicBezTo>
              </a:path>
              <a:path w="43049" h="38559" stroke="0">
                <a:moveTo>
                  <a:pt x="0" y="19049"/>
                </a:moveTo>
                <a:cubicBezTo>
                  <a:pt x="1292" y="8182"/>
                  <a:pt x="10506" y="-1"/>
                  <a:pt x="21449" y="0"/>
                </a:cubicBezTo>
                <a:cubicBezTo>
                  <a:pt x="33378" y="0"/>
                  <a:pt x="43049" y="9670"/>
                  <a:pt x="43049" y="21600"/>
                </a:cubicBezTo>
                <a:cubicBezTo>
                  <a:pt x="43049" y="28213"/>
                  <a:pt x="40019" y="34462"/>
                  <a:pt x="34826" y="38558"/>
                </a:cubicBezTo>
                <a:lnTo>
                  <a:pt x="21449" y="21600"/>
                </a:lnTo>
                <a:lnTo>
                  <a:pt x="0" y="19049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4783" name="Line 31"/>
          <p:cNvSpPr/>
          <p:nvPr/>
        </p:nvSpPr>
        <p:spPr>
          <a:xfrm flipH="1">
            <a:off x="8099425" y="4941888"/>
            <a:ext cx="288925" cy="71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84" name="Arc 32"/>
          <p:cNvSpPr/>
          <p:nvPr/>
        </p:nvSpPr>
        <p:spPr>
          <a:xfrm>
            <a:off x="7812088" y="5661025"/>
            <a:ext cx="647700" cy="349250"/>
          </a:xfrm>
          <a:custGeom>
            <a:avLst/>
            <a:gdLst/>
            <a:ahLst/>
            <a:cxnLst>
              <a:cxn ang="0">
                <a:pos x="1274" y="213015"/>
              </a:cxn>
              <a:cxn ang="0">
                <a:pos x="524427" y="349250"/>
              </a:cxn>
              <a:cxn ang="0">
                <a:pos x="323850" y="195643"/>
              </a:cxn>
            </a:cxnLst>
            <a:pathLst>
              <a:path w="43200" h="38559" fill="none">
                <a:moveTo>
                  <a:pt x="85" y="23517"/>
                </a:moveTo>
                <a:cubicBezTo>
                  <a:pt x="28" y="22880"/>
                  <a:pt x="0" y="222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8213"/>
                  <a:pt x="40170" y="34462"/>
                  <a:pt x="34977" y="38558"/>
                </a:cubicBezTo>
              </a:path>
              <a:path w="43200" h="38559" stroke="0">
                <a:moveTo>
                  <a:pt x="85" y="23517"/>
                </a:moveTo>
                <a:cubicBezTo>
                  <a:pt x="28" y="22880"/>
                  <a:pt x="0" y="222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8213"/>
                  <a:pt x="40170" y="34462"/>
                  <a:pt x="34977" y="38558"/>
                </a:cubicBezTo>
                <a:lnTo>
                  <a:pt x="21600" y="21600"/>
                </a:lnTo>
                <a:lnTo>
                  <a:pt x="85" y="23517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4785" name="Line 33"/>
          <p:cNvSpPr/>
          <p:nvPr/>
        </p:nvSpPr>
        <p:spPr>
          <a:xfrm flipH="1">
            <a:off x="8027988" y="6021388"/>
            <a:ext cx="288925" cy="71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86" name="Text Box 34"/>
          <p:cNvSpPr txBox="1"/>
          <p:nvPr/>
        </p:nvSpPr>
        <p:spPr>
          <a:xfrm>
            <a:off x="7667625" y="4221163"/>
            <a:ext cx="1079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letter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87" name="Text Box 35"/>
          <p:cNvSpPr txBox="1"/>
          <p:nvPr/>
        </p:nvSpPr>
        <p:spPr>
          <a:xfrm>
            <a:off x="7885113" y="5300663"/>
            <a:ext cx="10080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digit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88" name="Arc 36"/>
          <p:cNvSpPr/>
          <p:nvPr/>
        </p:nvSpPr>
        <p:spPr>
          <a:xfrm rot="10800000">
            <a:off x="6156325" y="5157788"/>
            <a:ext cx="433388" cy="390525"/>
          </a:xfrm>
          <a:custGeom>
            <a:avLst/>
            <a:gdLst/>
            <a:ahLst/>
            <a:cxnLst>
              <a:cxn ang="0">
                <a:pos x="421831" y="0"/>
              </a:cxn>
              <a:cxn ang="0">
                <a:pos x="318480" y="390525"/>
              </a:cxn>
              <a:cxn ang="0">
                <a:pos x="0" y="98677"/>
              </a:cxn>
            </a:cxnLst>
            <a:pathLst>
              <a:path w="21600" h="19602" fill="none">
                <a:moveTo>
                  <a:pt x="21024" y="-1"/>
                </a:moveTo>
                <a:cubicBezTo>
                  <a:pt x="21406" y="1623"/>
                  <a:pt x="21600" y="3285"/>
                  <a:pt x="21600" y="4953"/>
                </a:cubicBezTo>
                <a:cubicBezTo>
                  <a:pt x="21600" y="10382"/>
                  <a:pt x="19555" y="15612"/>
                  <a:pt x="15873" y="19602"/>
                </a:cubicBezTo>
              </a:path>
              <a:path w="21600" h="19602" stroke="0">
                <a:moveTo>
                  <a:pt x="21024" y="-1"/>
                </a:moveTo>
                <a:cubicBezTo>
                  <a:pt x="21406" y="1623"/>
                  <a:pt x="21600" y="3285"/>
                  <a:pt x="21600" y="4953"/>
                </a:cubicBezTo>
                <a:cubicBezTo>
                  <a:pt x="21600" y="10382"/>
                  <a:pt x="19555" y="15612"/>
                  <a:pt x="15873" y="19602"/>
                </a:cubicBezTo>
                <a:lnTo>
                  <a:pt x="0" y="4953"/>
                </a:lnTo>
                <a:lnTo>
                  <a:pt x="21024" y="-1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4789" name="Arc 37"/>
          <p:cNvSpPr/>
          <p:nvPr/>
        </p:nvSpPr>
        <p:spPr>
          <a:xfrm>
            <a:off x="6516688" y="5300663"/>
            <a:ext cx="433387" cy="431800"/>
          </a:xfrm>
          <a:custGeom>
            <a:avLst/>
            <a:gdLst/>
            <a:ahLst/>
            <a:cxnLst>
              <a:cxn ang="0">
                <a:pos x="401605" y="0"/>
              </a:cxn>
              <a:cxn ang="0">
                <a:pos x="338744" y="431800"/>
              </a:cxn>
              <a:cxn ang="0">
                <a:pos x="0" y="162365"/>
              </a:cxn>
            </a:cxnLst>
            <a:pathLst>
              <a:path w="21600" h="21592" fill="none">
                <a:moveTo>
                  <a:pt x="20016" y="-1"/>
                </a:moveTo>
                <a:cubicBezTo>
                  <a:pt x="21062" y="2579"/>
                  <a:pt x="21600" y="5335"/>
                  <a:pt x="21600" y="8119"/>
                </a:cubicBezTo>
                <a:cubicBezTo>
                  <a:pt x="21600" y="13014"/>
                  <a:pt x="19936" y="17765"/>
                  <a:pt x="16883" y="21592"/>
                </a:cubicBezTo>
              </a:path>
              <a:path w="21600" h="21592" stroke="0">
                <a:moveTo>
                  <a:pt x="20016" y="-1"/>
                </a:moveTo>
                <a:cubicBezTo>
                  <a:pt x="21062" y="2579"/>
                  <a:pt x="21600" y="5335"/>
                  <a:pt x="21600" y="8119"/>
                </a:cubicBezTo>
                <a:cubicBezTo>
                  <a:pt x="21600" y="13014"/>
                  <a:pt x="19936" y="17765"/>
                  <a:pt x="16883" y="21592"/>
                </a:cubicBezTo>
                <a:lnTo>
                  <a:pt x="0" y="8119"/>
                </a:lnTo>
                <a:lnTo>
                  <a:pt x="20016" y="-1"/>
                </a:lnTo>
                <a:close/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4790" name="Line 38"/>
          <p:cNvSpPr/>
          <p:nvPr/>
        </p:nvSpPr>
        <p:spPr>
          <a:xfrm>
            <a:off x="6156325" y="5516563"/>
            <a:ext cx="71438" cy="2174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91" name="Line 39"/>
          <p:cNvSpPr/>
          <p:nvPr/>
        </p:nvSpPr>
        <p:spPr>
          <a:xfrm flipH="1" flipV="1">
            <a:off x="6804025" y="5157788"/>
            <a:ext cx="144463" cy="1428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92" name="Text Box 40"/>
          <p:cNvSpPr txBox="1"/>
          <p:nvPr/>
        </p:nvSpPr>
        <p:spPr>
          <a:xfrm>
            <a:off x="5148263" y="5229225"/>
            <a:ext cx="10080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digit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93" name="Text Box 41"/>
          <p:cNvSpPr txBox="1"/>
          <p:nvPr/>
        </p:nvSpPr>
        <p:spPr>
          <a:xfrm>
            <a:off x="6877050" y="5229225"/>
            <a:ext cx="10096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letter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74794" name="Text Box 42"/>
          <p:cNvSpPr txBox="1"/>
          <p:nvPr/>
        </p:nvSpPr>
        <p:spPr>
          <a:xfrm>
            <a:off x="252413" y="3130550"/>
            <a:ext cx="4895850" cy="946150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注意：所有这些状态都有在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letter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digit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上的转换。</a:t>
            </a:r>
            <a:endParaRPr lang="zh-CN" altLang="en-US" sz="2800" dirty="0">
              <a:solidFill>
                <a:srgbClr val="000000"/>
              </a:solidFill>
              <a:latin typeface="宋体" pitchFamily="2" charset="-122"/>
            </a:endParaRPr>
          </a:p>
        </p:txBody>
      </p:sp>
      <p:grpSp>
        <p:nvGrpSpPr>
          <p:cNvPr id="74795" name="Group 43"/>
          <p:cNvGrpSpPr/>
          <p:nvPr/>
        </p:nvGrpSpPr>
        <p:grpSpPr>
          <a:xfrm>
            <a:off x="323850" y="3644900"/>
            <a:ext cx="4752975" cy="542925"/>
            <a:chOff x="249" y="890"/>
            <a:chExt cx="2812" cy="408"/>
          </a:xfrm>
        </p:grpSpPr>
        <p:grpSp>
          <p:nvGrpSpPr>
            <p:cNvPr id="110665" name="Group 44"/>
            <p:cNvGrpSpPr/>
            <p:nvPr/>
          </p:nvGrpSpPr>
          <p:grpSpPr>
            <a:xfrm>
              <a:off x="249" y="890"/>
              <a:ext cx="2812" cy="408"/>
              <a:chOff x="720" y="480"/>
              <a:chExt cx="4224" cy="1390"/>
            </a:xfrm>
          </p:grpSpPr>
          <p:graphicFrame>
            <p:nvGraphicFramePr>
              <p:cNvPr id="110667" name="Object 4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2" name="" r:id="rId5" imgW="7581900" imgH="2768600" progId="Photoshop.Image.7">
                      <p:embed/>
                    </p:oleObj>
                  </mc:Choice>
                  <mc:Fallback>
                    <p:oleObj name="" r:id="rId5" imgW="7581900" imgH="2768600" progId="Photoshop.Image.7">
                      <p:embed/>
                      <p:pic>
                        <p:nvPicPr>
                          <p:cNvPr id="0" name="图片 315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0668" name="Object 4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3" name="" r:id="rId6" imgW="114300" imgH="215900" progId="Equation.3">
                      <p:embed/>
                    </p:oleObj>
                  </mc:Choice>
                  <mc:Fallback>
                    <p:oleObj name="" r:id="rId6" imgW="114300" imgH="215900" progId="Equation.3">
                      <p:embed/>
                      <p:pic>
                        <p:nvPicPr>
                          <p:cNvPr id="0" name="图片 315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0666" name="Text Box 47"/>
            <p:cNvSpPr txBox="1"/>
            <p:nvPr/>
          </p:nvSpPr>
          <p:spPr>
            <a:xfrm>
              <a:off x="340" y="935"/>
              <a:ext cx="2676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上图所示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NFA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的确定化后的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DFA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如下：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74800" name="Text Box 48"/>
          <p:cNvSpPr txBox="1"/>
          <p:nvPr/>
        </p:nvSpPr>
        <p:spPr>
          <a:xfrm>
            <a:off x="250825" y="3405188"/>
            <a:ext cx="2592388" cy="396875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子集构造过程如下：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grpSp>
        <p:nvGrpSpPr>
          <p:cNvPr id="74801" name="Group 49"/>
          <p:cNvGrpSpPr/>
          <p:nvPr/>
        </p:nvGrpSpPr>
        <p:grpSpPr>
          <a:xfrm>
            <a:off x="250825" y="3341688"/>
            <a:ext cx="3241675" cy="519112"/>
            <a:chOff x="158" y="2115"/>
            <a:chExt cx="2042" cy="327"/>
          </a:xfrm>
        </p:grpSpPr>
        <p:sp>
          <p:nvSpPr>
            <p:cNvPr id="110663" name="Text Box 50"/>
            <p:cNvSpPr txBox="1"/>
            <p:nvPr/>
          </p:nvSpPr>
          <p:spPr>
            <a:xfrm>
              <a:off x="158" y="2115"/>
              <a:ext cx="2042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itchFamily="2" charset="-122"/>
                </a:rPr>
                <a:t>初始状态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：</a:t>
              </a:r>
              <a:r>
                <a:rPr lang="en-US" altLang="zh-CN" sz="2800" dirty="0">
                  <a:solidFill>
                    <a:srgbClr val="000000"/>
                  </a:solidFill>
                  <a:latin typeface="宋体" pitchFamily="2" charset="-122"/>
                </a:rPr>
                <a:t>{1}={1}</a:t>
              </a:r>
              <a:endParaRPr lang="en-US" altLang="zh-CN" sz="2800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10664" name="Line 51"/>
            <p:cNvSpPr/>
            <p:nvPr/>
          </p:nvSpPr>
          <p:spPr>
            <a:xfrm>
              <a:off x="1406" y="2164"/>
              <a:ext cx="20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4804" name="Group 52"/>
          <p:cNvGrpSpPr/>
          <p:nvPr/>
        </p:nvGrpSpPr>
        <p:grpSpPr>
          <a:xfrm>
            <a:off x="107950" y="1125538"/>
            <a:ext cx="8963025" cy="2689225"/>
            <a:chOff x="0" y="754"/>
            <a:chExt cx="5646" cy="1694"/>
          </a:xfrm>
        </p:grpSpPr>
        <p:sp>
          <p:nvSpPr>
            <p:cNvPr id="110627" name="Line 53"/>
            <p:cNvSpPr/>
            <p:nvPr/>
          </p:nvSpPr>
          <p:spPr>
            <a:xfrm>
              <a:off x="0" y="1570"/>
              <a:ext cx="295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28" name="AutoShape 54"/>
            <p:cNvSpPr/>
            <p:nvPr/>
          </p:nvSpPr>
          <p:spPr>
            <a:xfrm>
              <a:off x="3109" y="1608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7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29" name="AutoShape 55"/>
            <p:cNvSpPr/>
            <p:nvPr/>
          </p:nvSpPr>
          <p:spPr>
            <a:xfrm>
              <a:off x="3835" y="1608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8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0" name="Text Box 56"/>
            <p:cNvSpPr txBox="1"/>
            <p:nvPr/>
          </p:nvSpPr>
          <p:spPr>
            <a:xfrm>
              <a:off x="4014" y="155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1" name="AutoShape 57"/>
            <p:cNvSpPr/>
            <p:nvPr/>
          </p:nvSpPr>
          <p:spPr>
            <a:xfrm>
              <a:off x="5284" y="1340"/>
              <a:ext cx="362" cy="321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2"/>
                  </a:solidFill>
                  <a:latin typeface="宋体" pitchFamily="2" charset="-122"/>
                </a:rPr>
                <a:t>10</a:t>
              </a:r>
              <a:endParaRPr lang="en-US" altLang="zh-CN" sz="1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2" name="Text Box 58"/>
            <p:cNvSpPr txBox="1"/>
            <p:nvPr/>
          </p:nvSpPr>
          <p:spPr>
            <a:xfrm>
              <a:off x="3334" y="845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2"/>
                  </a:solidFill>
                  <a:latin typeface="宋体" pitchFamily="2" charset="-122"/>
                </a:rPr>
                <a:t>letter</a:t>
              </a:r>
              <a:endParaRPr lang="en-US" altLang="zh-CN" sz="1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3" name="Text Box 59"/>
            <p:cNvSpPr txBox="1"/>
            <p:nvPr/>
          </p:nvSpPr>
          <p:spPr>
            <a:xfrm>
              <a:off x="2517" y="1027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4" name="AutoShape 60"/>
            <p:cNvSpPr/>
            <p:nvPr/>
          </p:nvSpPr>
          <p:spPr>
            <a:xfrm>
              <a:off x="2338" y="1306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4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5" name="AutoShape 61"/>
            <p:cNvSpPr/>
            <p:nvPr/>
          </p:nvSpPr>
          <p:spPr>
            <a:xfrm>
              <a:off x="1658" y="1306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6" name="Text Box 62"/>
            <p:cNvSpPr txBox="1"/>
            <p:nvPr/>
          </p:nvSpPr>
          <p:spPr>
            <a:xfrm>
              <a:off x="566" y="1208"/>
              <a:ext cx="59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2"/>
                  </a:solidFill>
                  <a:latin typeface="宋体" pitchFamily="2" charset="-122"/>
                </a:rPr>
                <a:t>letter</a:t>
              </a:r>
              <a:endParaRPr lang="en-US" altLang="zh-CN" sz="1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7" name="AutoShape 63"/>
            <p:cNvSpPr/>
            <p:nvPr/>
          </p:nvSpPr>
          <p:spPr>
            <a:xfrm>
              <a:off x="3109" y="943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5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8" name="AutoShape 64"/>
            <p:cNvSpPr/>
            <p:nvPr/>
          </p:nvSpPr>
          <p:spPr>
            <a:xfrm>
              <a:off x="4515" y="1306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9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39" name="AutoShape 65"/>
            <p:cNvSpPr/>
            <p:nvPr/>
          </p:nvSpPr>
          <p:spPr>
            <a:xfrm>
              <a:off x="3835" y="943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6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40" name="AutoShape 66"/>
            <p:cNvSpPr/>
            <p:nvPr/>
          </p:nvSpPr>
          <p:spPr>
            <a:xfrm>
              <a:off x="296" y="1338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41" name="AutoShape 67"/>
            <p:cNvSpPr/>
            <p:nvPr/>
          </p:nvSpPr>
          <p:spPr>
            <a:xfrm>
              <a:off x="1021" y="1338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42" name="Line 68"/>
            <p:cNvSpPr/>
            <p:nvPr/>
          </p:nvSpPr>
          <p:spPr>
            <a:xfrm>
              <a:off x="2018" y="1480"/>
              <a:ext cx="318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3" name="Line 69"/>
            <p:cNvSpPr/>
            <p:nvPr/>
          </p:nvSpPr>
          <p:spPr>
            <a:xfrm flipV="1">
              <a:off x="2653" y="1117"/>
              <a:ext cx="454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4" name="Line 70"/>
            <p:cNvSpPr/>
            <p:nvPr/>
          </p:nvSpPr>
          <p:spPr>
            <a:xfrm>
              <a:off x="2653" y="1571"/>
              <a:ext cx="454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5" name="Line 71"/>
            <p:cNvSpPr/>
            <p:nvPr/>
          </p:nvSpPr>
          <p:spPr>
            <a:xfrm>
              <a:off x="3470" y="1117"/>
              <a:ext cx="363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6" name="Line 72"/>
            <p:cNvSpPr/>
            <p:nvPr/>
          </p:nvSpPr>
          <p:spPr>
            <a:xfrm>
              <a:off x="3470" y="1798"/>
              <a:ext cx="363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7" name="Line 73"/>
            <p:cNvSpPr/>
            <p:nvPr/>
          </p:nvSpPr>
          <p:spPr>
            <a:xfrm>
              <a:off x="4196" y="1117"/>
              <a:ext cx="363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8" name="Line 74"/>
            <p:cNvSpPr/>
            <p:nvPr/>
          </p:nvSpPr>
          <p:spPr>
            <a:xfrm flipV="1">
              <a:off x="4196" y="1616"/>
              <a:ext cx="363" cy="18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9" name="Line 75"/>
            <p:cNvSpPr/>
            <p:nvPr/>
          </p:nvSpPr>
          <p:spPr>
            <a:xfrm>
              <a:off x="4876" y="1480"/>
              <a:ext cx="408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50" name="Line 76"/>
            <p:cNvSpPr/>
            <p:nvPr/>
          </p:nvSpPr>
          <p:spPr>
            <a:xfrm flipV="1">
              <a:off x="657" y="1513"/>
              <a:ext cx="362" cy="1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51" name="Line 77"/>
            <p:cNvSpPr/>
            <p:nvPr/>
          </p:nvSpPr>
          <p:spPr>
            <a:xfrm>
              <a:off x="1382" y="1512"/>
              <a:ext cx="27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52" name="Arc 78"/>
            <p:cNvSpPr/>
            <p:nvPr/>
          </p:nvSpPr>
          <p:spPr>
            <a:xfrm>
              <a:off x="2476" y="754"/>
              <a:ext cx="2265" cy="550"/>
            </a:xfrm>
            <a:custGeom>
              <a:avLst/>
              <a:gdLst/>
              <a:ahLst/>
              <a:cxnLst>
                <a:cxn ang="0">
                  <a:pos x="0" y="394"/>
                </a:cxn>
                <a:cxn ang="0">
                  <a:pos x="2265" y="550"/>
                </a:cxn>
                <a:cxn ang="0">
                  <a:pos x="1109" y="550"/>
                </a:cxn>
              </a:cxnLst>
              <a:pathLst>
                <a:path w="42307" h="21600" fill="none">
                  <a:moveTo>
                    <a:pt x="-1" y="15453"/>
                  </a:moveTo>
                  <a:cubicBezTo>
                    <a:pt x="2720" y="6287"/>
                    <a:pt x="11144" y="-1"/>
                    <a:pt x="20707" y="0"/>
                  </a:cubicBezTo>
                  <a:cubicBezTo>
                    <a:pt x="32636" y="0"/>
                    <a:pt x="42307" y="9670"/>
                    <a:pt x="42307" y="21600"/>
                  </a:cubicBezTo>
                </a:path>
                <a:path w="42307" h="21600" stroke="0">
                  <a:moveTo>
                    <a:pt x="-1" y="15453"/>
                  </a:moveTo>
                  <a:cubicBezTo>
                    <a:pt x="2720" y="6287"/>
                    <a:pt x="11144" y="-1"/>
                    <a:pt x="20707" y="0"/>
                  </a:cubicBezTo>
                  <a:cubicBezTo>
                    <a:pt x="32636" y="0"/>
                    <a:pt x="42307" y="9670"/>
                    <a:pt x="42307" y="21600"/>
                  </a:cubicBezTo>
                  <a:lnTo>
                    <a:pt x="20707" y="21600"/>
                  </a:lnTo>
                  <a:lnTo>
                    <a:pt x="-1" y="15453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53" name="Arc 79"/>
            <p:cNvSpPr/>
            <p:nvPr/>
          </p:nvSpPr>
          <p:spPr>
            <a:xfrm rot="10800000">
              <a:off x="1837" y="1685"/>
              <a:ext cx="3449" cy="726"/>
            </a:xfrm>
            <a:custGeom>
              <a:avLst/>
              <a:gdLst/>
              <a:ahLst/>
              <a:cxnLst>
                <a:cxn ang="0">
                  <a:pos x="0" y="410"/>
                </a:cxn>
                <a:cxn ang="0">
                  <a:pos x="3449" y="726"/>
                </a:cxn>
                <a:cxn ang="0">
                  <a:pos x="1634" y="726"/>
                </a:cxn>
              </a:cxnLst>
              <a:pathLst>
                <a:path w="41052" h="21600" fill="none">
                  <a:moveTo>
                    <a:pt x="0" y="12209"/>
                  </a:moveTo>
                  <a:cubicBezTo>
                    <a:pt x="3604" y="4744"/>
                    <a:pt x="11162" y="-1"/>
                    <a:pt x="19452" y="0"/>
                  </a:cubicBezTo>
                  <a:cubicBezTo>
                    <a:pt x="31381" y="0"/>
                    <a:pt x="41052" y="9670"/>
                    <a:pt x="41052" y="21600"/>
                  </a:cubicBezTo>
                </a:path>
                <a:path w="41052" h="21600" stroke="0">
                  <a:moveTo>
                    <a:pt x="0" y="12209"/>
                  </a:moveTo>
                  <a:cubicBezTo>
                    <a:pt x="3604" y="4744"/>
                    <a:pt x="11162" y="-1"/>
                    <a:pt x="19452" y="0"/>
                  </a:cubicBezTo>
                  <a:cubicBezTo>
                    <a:pt x="31381" y="0"/>
                    <a:pt x="41052" y="9670"/>
                    <a:pt x="41052" y="21600"/>
                  </a:cubicBezTo>
                  <a:lnTo>
                    <a:pt x="19452" y="21600"/>
                  </a:lnTo>
                  <a:lnTo>
                    <a:pt x="0" y="1220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654" name="Line 80"/>
            <p:cNvSpPr/>
            <p:nvPr/>
          </p:nvSpPr>
          <p:spPr>
            <a:xfrm flipH="1">
              <a:off x="2381" y="1163"/>
              <a:ext cx="91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55" name="Text Box 81"/>
            <p:cNvSpPr txBox="1"/>
            <p:nvPr/>
          </p:nvSpPr>
          <p:spPr>
            <a:xfrm>
              <a:off x="2018" y="1237"/>
              <a:ext cx="1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56" name="Text Box 82"/>
            <p:cNvSpPr txBox="1"/>
            <p:nvPr/>
          </p:nvSpPr>
          <p:spPr>
            <a:xfrm>
              <a:off x="2608" y="1435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57" name="Text Box 83"/>
            <p:cNvSpPr txBox="1"/>
            <p:nvPr/>
          </p:nvSpPr>
          <p:spPr>
            <a:xfrm>
              <a:off x="4151" y="981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58" name="Text Box 84"/>
            <p:cNvSpPr txBox="1"/>
            <p:nvPr/>
          </p:nvSpPr>
          <p:spPr>
            <a:xfrm>
              <a:off x="3424" y="2160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59" name="Text Box 85"/>
            <p:cNvSpPr txBox="1"/>
            <p:nvPr/>
          </p:nvSpPr>
          <p:spPr>
            <a:xfrm>
              <a:off x="1338" y="1253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60" name="Text Box 86"/>
            <p:cNvSpPr txBox="1"/>
            <p:nvPr/>
          </p:nvSpPr>
          <p:spPr>
            <a:xfrm>
              <a:off x="4830" y="1253"/>
              <a:ext cx="3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b="1" dirty="0">
                  <a:solidFill>
                    <a:schemeClr val="tx2"/>
                  </a:solidFill>
                  <a:latin typeface="宋体" pitchFamily="2" charset="-122"/>
                </a:rPr>
                <a:t>ε</a:t>
              </a:r>
              <a:endParaRPr lang="el-GR" altLang="zh-CN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61" name="Text Box 87"/>
            <p:cNvSpPr txBox="1"/>
            <p:nvPr/>
          </p:nvSpPr>
          <p:spPr>
            <a:xfrm>
              <a:off x="3379" y="1525"/>
              <a:ext cx="5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2"/>
                  </a:solidFill>
                  <a:latin typeface="宋体" pitchFamily="2" charset="-122"/>
                </a:rPr>
                <a:t>digit</a:t>
              </a:r>
              <a:endParaRPr lang="en-US" altLang="zh-CN" sz="18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0662" name="Line 88"/>
            <p:cNvSpPr/>
            <p:nvPr/>
          </p:nvSpPr>
          <p:spPr>
            <a:xfrm flipV="1">
              <a:off x="5284" y="1661"/>
              <a:ext cx="227" cy="363"/>
            </a:xfrm>
            <a:prstGeom prst="line">
              <a:avLst/>
            </a:prstGeom>
            <a:ln w="28575" cap="flat" cmpd="sng">
              <a:solidFill>
                <a:srgbClr val="000C0C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4841" name="Text Box 89"/>
          <p:cNvSpPr txBox="1"/>
          <p:nvPr/>
        </p:nvSpPr>
        <p:spPr>
          <a:xfrm>
            <a:off x="5651500" y="739775"/>
            <a:ext cx="649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zh-CN" sz="2400" b="1" dirty="0">
                <a:solidFill>
                  <a:schemeClr val="tx2"/>
                </a:solidFill>
              </a:rPr>
              <a:t>ε</a:t>
            </a:r>
            <a:endParaRPr lang="el-GR" altLang="zh-CN" sz="2400" b="1" dirty="0">
              <a:solidFill>
                <a:schemeClr val="tx2"/>
              </a:solidFill>
              <a:ea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4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" dur="1000" fill="hold"/>
                                        <p:tgtEl>
                                          <p:spTgt spid="748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74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74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4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4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74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74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7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4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7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7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74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7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74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7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7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7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7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74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7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7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0"/>
                                        <p:tgtEl>
                                          <p:spTgt spid="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00"/>
                                        <p:tgtEl>
                                          <p:spTgt spid="7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74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74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4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74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000"/>
                            </p:stCondLst>
                            <p:childTnLst>
                              <p:par>
                                <p:cTn id="16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20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20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72" dur="20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20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75" dur="20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2000" fill="hold"/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78" dur="2000" fill="hold"/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2000" fill="hold"/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81" dur="2000" fill="hold"/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20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84" dur="20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2000" fill="hold"/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87" dur="2000" fill="hold"/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2000" fill="hold"/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90" dur="2000" fill="hold"/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2000" fill="hold"/>
                                        <p:tgtEl>
                                          <p:spTgt spid="7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93" dur="2000" fill="hold"/>
                                        <p:tgtEl>
                                          <p:spTgt spid="7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2000" fill="hold"/>
                                        <p:tgtEl>
                                          <p:spTgt spid="747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96" dur="2000" fill="hold"/>
                                        <p:tgtEl>
                                          <p:spTgt spid="747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2000" fill="hold"/>
                                        <p:tgtEl>
                                          <p:spTgt spid="7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199" dur="2000" fill="hold"/>
                                        <p:tgtEl>
                                          <p:spTgt spid="7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2000" fill="hold"/>
                                        <p:tgtEl>
                                          <p:spTgt spid="747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202" dur="2000" fill="hold"/>
                                        <p:tgtEl>
                                          <p:spTgt spid="747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2000" fill="hold"/>
                                        <p:tgtEl>
                                          <p:spTgt spid="7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205" dur="2000" fill="hold"/>
                                        <p:tgtEl>
                                          <p:spTgt spid="7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2000" fill="hold"/>
                                        <p:tgtEl>
                                          <p:spTgt spid="747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747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000" fill="hold"/>
                                        <p:tgtEl>
                                          <p:spTgt spid="7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7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9" grpId="0" animBg="1"/>
      <p:bldP spid="74760" grpId="0" animBg="1"/>
      <p:bldP spid="74765" grpId="0" animBg="1"/>
      <p:bldP spid="74766" grpId="0" animBg="1"/>
      <p:bldP spid="74767" grpId="0"/>
      <p:bldP spid="74772" grpId="0" animBg="1"/>
      <p:bldP spid="74773" grpId="0" animBg="1"/>
      <p:bldP spid="74774" grpId="0"/>
      <p:bldP spid="74779" grpId="0" animBg="1"/>
      <p:bldP spid="74780" grpId="0" animBg="1"/>
      <p:bldP spid="74781" grpId="0"/>
      <p:bldP spid="74782" grpId="0" animBg="1"/>
      <p:bldP spid="74783" grpId="0" animBg="1"/>
      <p:bldP spid="74784" grpId="0" animBg="1"/>
      <p:bldP spid="74785" grpId="0" animBg="1"/>
      <p:bldP spid="74786" grpId="0"/>
      <p:bldP spid="74787" grpId="0"/>
      <p:bldP spid="74788" grpId="0" animBg="1"/>
      <p:bldP spid="74789" grpId="0" animBg="1"/>
      <p:bldP spid="74790" grpId="0" animBg="1"/>
      <p:bldP spid="74791" grpId="0" animBg="1"/>
      <p:bldP spid="74792" grpId="0"/>
      <p:bldP spid="74793" grpId="0"/>
      <p:bldP spid="74794" grpId="0" animBg="1"/>
      <p:bldP spid="74794" grpId="1" animBg="1"/>
      <p:bldP spid="74800" grpId="0" animBg="1"/>
      <p:bldP spid="74800" grpId="1" animBg="1"/>
      <p:bldP spid="74800" grpId="2" animBg="1"/>
      <p:bldP spid="7484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111619" name="标题 129025"/>
          <p:cNvSpPr>
            <a:spLocks noGrp="1"/>
          </p:cNvSpPr>
          <p:nvPr>
            <p:ph type="title"/>
          </p:nvPr>
        </p:nvSpPr>
        <p:spPr>
          <a:xfrm>
            <a:off x="241300" y="298450"/>
            <a:ext cx="8540750" cy="820738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zh-CN" sz="4000" dirty="0">
                <a:solidFill>
                  <a:schemeClr val="folHlink"/>
                </a:solidFill>
                <a:ea typeface="楷体_GB2312" pitchFamily="49" charset="-122"/>
              </a:rPr>
              <a:t>NFA</a:t>
            </a:r>
            <a:r>
              <a:rPr lang="en-US" altLang="zh-CN" dirty="0">
                <a:solidFill>
                  <a:schemeClr val="folHlink"/>
                </a:solidFill>
                <a:ea typeface="楷体_GB2312" pitchFamily="49" charset="-122"/>
                <a:sym typeface="Wingdings" panose="05000000000000000000" pitchFamily="2" charset="2"/>
              </a:rPr>
              <a:t></a:t>
            </a:r>
            <a:r>
              <a:rPr lang="en-US" altLang="zh-CN" sz="4000" dirty="0">
                <a:solidFill>
                  <a:schemeClr val="folHlink"/>
                </a:solidFill>
                <a:ea typeface="楷体_GB2312" pitchFamily="49" charset="-122"/>
              </a:rPr>
              <a:t>DFA</a:t>
            </a:r>
            <a:r>
              <a:rPr lang="zh-CN" altLang="en-US" sz="4000" dirty="0">
                <a:solidFill>
                  <a:schemeClr val="folHlink"/>
                </a:solidFill>
                <a:ea typeface="楷体_GB2312" pitchFamily="49" charset="-122"/>
              </a:rPr>
              <a:t>转换方法小结</a:t>
            </a:r>
            <a:endParaRPr lang="zh-CN" altLang="en-US" sz="4000" dirty="0">
              <a:solidFill>
                <a:schemeClr val="folHlink"/>
              </a:solidFill>
              <a:ea typeface="楷体_GB2312" pitchFamily="49" charset="-122"/>
            </a:endParaRPr>
          </a:p>
        </p:txBody>
      </p:sp>
      <p:sp>
        <p:nvSpPr>
          <p:cNvPr id="129027" name="内容占位符 129026"/>
          <p:cNvSpPr>
            <a:spLocks noGrp="1"/>
          </p:cNvSpPr>
          <p:nvPr>
            <p:ph idx="1"/>
          </p:nvPr>
        </p:nvSpPr>
        <p:spPr>
          <a:xfrm>
            <a:off x="241300" y="1119188"/>
            <a:ext cx="8820150" cy="5006975"/>
          </a:xfrm>
          <a:solidFill>
            <a:srgbClr val="F2F2F2">
              <a:alpha val="100000"/>
            </a:srgbClr>
          </a:solidFill>
          <a:ln/>
        </p:spPr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设</a:t>
            </a:r>
            <a:r>
              <a:rPr lang="en-US" altLang="zh-CN" sz="2400" dirty="0">
                <a:ea typeface="楷体_GB2312" pitchFamily="49" charset="-122"/>
              </a:rPr>
              <a:t>DFA M={</a:t>
            </a:r>
            <a:r>
              <a:rPr lang="en-US" altLang="zh-CN" sz="2400" dirty="0">
                <a:solidFill>
                  <a:schemeClr val="hlink"/>
                </a:solidFill>
                <a:ea typeface="楷体_GB2312" pitchFamily="49" charset="-122"/>
              </a:rPr>
              <a:t>S</a:t>
            </a:r>
            <a:r>
              <a:rPr lang="en-US" altLang="zh-CN" sz="2400" dirty="0">
                <a:ea typeface="楷体_GB2312" pitchFamily="49" charset="-122"/>
              </a:rPr>
              <a:t>,</a:t>
            </a:r>
            <a:r>
              <a:rPr lang="en-US" altLang="zh-CN" sz="2400" dirty="0">
                <a:solidFill>
                  <a:srgbClr val="996600"/>
                </a:solidFill>
                <a:ea typeface="楷体_GB2312" pitchFamily="49" charset="-122"/>
                <a:sym typeface="Symbol" pitchFamily="18" charset="2"/>
              </a:rPr>
              <a:t>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400" dirty="0">
                <a:solidFill>
                  <a:srgbClr val="FF33CC"/>
                </a:solidFill>
                <a:ea typeface="楷体_GB2312" pitchFamily="49" charset="-122"/>
                <a:sym typeface="Symbol" pitchFamily="18" charset="2"/>
              </a:rPr>
              <a:t>D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400" dirty="0">
                <a:solidFill>
                  <a:schemeClr val="folHlink"/>
                </a:solidFill>
                <a:ea typeface="楷体_GB2312" pitchFamily="49" charset="-122"/>
                <a:sym typeface="Symbol" pitchFamily="18" charset="2"/>
              </a:rPr>
              <a:t>S0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  <a:sym typeface="Symbol" pitchFamily="18" charset="2"/>
              </a:rPr>
              <a:t>St</a:t>
            </a:r>
            <a:r>
              <a:rPr lang="en-US" altLang="zh-CN" sz="2400" dirty="0">
                <a:ea typeface="楷体_GB2312" pitchFamily="49" charset="-122"/>
              </a:rPr>
              <a:t>}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NFA N={K,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,f,K0,Kt</a:t>
            </a:r>
            <a:r>
              <a:rPr lang="en-US" altLang="zh-CN" sz="2400" dirty="0">
                <a:ea typeface="楷体_GB2312" pitchFamily="49" charset="-122"/>
              </a:rPr>
              <a:t>}</a:t>
            </a:r>
            <a:endParaRPr lang="en-US" altLang="zh-CN" sz="2400" dirty="0">
              <a:ea typeface="楷体_GB2312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楷体_GB2312" pitchFamily="49" charset="-122"/>
              </a:rPr>
              <a:t>(1)   </a:t>
            </a:r>
            <a:r>
              <a:rPr lang="en-US" altLang="zh-CN" sz="2400" dirty="0">
                <a:solidFill>
                  <a:schemeClr val="hlink"/>
                </a:solidFill>
                <a:ea typeface="楷体_GB2312" pitchFamily="49" charset="-122"/>
              </a:rPr>
              <a:t>S</a:t>
            </a:r>
            <a:r>
              <a:rPr lang="zh-CN" altLang="en-US" sz="2400" dirty="0">
                <a:ea typeface="楷体_GB2312" pitchFamily="49" charset="-122"/>
              </a:rPr>
              <a:t>由上述的</a:t>
            </a:r>
            <a:r>
              <a:rPr lang="en-US" altLang="zh-CN" sz="2400" dirty="0">
                <a:ea typeface="楷体_GB2312" pitchFamily="49" charset="-122"/>
              </a:rPr>
              <a:t>C</a:t>
            </a:r>
            <a:r>
              <a:rPr lang="zh-CN" altLang="en-US" sz="2400" dirty="0">
                <a:ea typeface="楷体_GB2312" pitchFamily="49" charset="-122"/>
              </a:rPr>
              <a:t>组成</a:t>
            </a:r>
            <a:endParaRPr lang="zh-CN" altLang="en-US" sz="2400" dirty="0">
              <a:ea typeface="楷体_GB2312" pitchFamily="49" charset="-122"/>
            </a:endParaRPr>
          </a:p>
          <a:p>
            <a:pPr algn="just">
              <a:buNone/>
            </a:pPr>
            <a:r>
              <a:rPr lang="en-US" altLang="zh-CN" sz="2400" dirty="0">
                <a:ea typeface="楷体_GB2312" pitchFamily="49" charset="-122"/>
              </a:rPr>
              <a:t>(2)   M</a:t>
            </a:r>
            <a:r>
              <a:rPr lang="zh-CN" altLang="en-US" sz="2400" dirty="0">
                <a:ea typeface="楷体_GB2312" pitchFamily="49" charset="-122"/>
              </a:rPr>
              <a:t>和</a:t>
            </a:r>
            <a:r>
              <a:rPr lang="en-US" altLang="zh-CN" sz="2400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的输入字母表是相同的，即</a:t>
            </a:r>
            <a:r>
              <a:rPr lang="en-US" altLang="zh-CN" sz="2400" dirty="0">
                <a:solidFill>
                  <a:srgbClr val="996600"/>
                </a:solidFill>
                <a:ea typeface="楷体_GB2312" pitchFamily="49" charset="-122"/>
                <a:sym typeface="Symbol" pitchFamily="18" charset="2"/>
              </a:rPr>
              <a:t></a:t>
            </a:r>
            <a:endParaRPr lang="en-US" altLang="zh-CN" sz="2400" dirty="0">
              <a:solidFill>
                <a:srgbClr val="996600"/>
              </a:solidFill>
            </a:endParaRPr>
          </a:p>
          <a:p>
            <a:pPr algn="just">
              <a:buNone/>
            </a:pPr>
            <a:r>
              <a:rPr lang="en-US" altLang="zh-CN" sz="2400" dirty="0">
                <a:ea typeface="楷体_GB2312" pitchFamily="49" charset="-122"/>
              </a:rPr>
              <a:t>(3)   </a:t>
            </a:r>
            <a:r>
              <a:rPr lang="zh-CN" altLang="en-US" sz="2400" dirty="0">
                <a:ea typeface="楷体_GB2312" pitchFamily="49" charset="-122"/>
              </a:rPr>
              <a:t>转换函数</a:t>
            </a:r>
            <a:r>
              <a:rPr lang="en-US" altLang="zh-CN" sz="2400" dirty="0">
                <a:solidFill>
                  <a:srgbClr val="FF33CC"/>
                </a:solidFill>
                <a:ea typeface="楷体_GB2312" pitchFamily="49" charset="-122"/>
              </a:rPr>
              <a:t>D</a:t>
            </a:r>
            <a:r>
              <a:rPr lang="zh-CN" altLang="en-US" sz="2400" dirty="0">
                <a:ea typeface="楷体_GB2312" pitchFamily="49" charset="-122"/>
              </a:rPr>
              <a:t>是这样定义的：</a:t>
            </a:r>
            <a:endParaRPr lang="zh-CN" altLang="en-US" sz="2400" dirty="0"/>
          </a:p>
          <a:p>
            <a:pPr algn="just">
              <a:buNone/>
            </a:pPr>
            <a:r>
              <a:rPr lang="zh-CN" altLang="en-US" sz="2400" dirty="0">
                <a:ea typeface="楷体_GB2312" pitchFamily="49" charset="-122"/>
              </a:rPr>
              <a:t>   当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-</a:t>
            </a:r>
            <a:r>
              <a:rPr lang="en-US" altLang="zh-CN" sz="2400" dirty="0">
                <a:ea typeface="楷体_GB2312" pitchFamily="49" charset="-122"/>
              </a:rPr>
              <a:t>closure(move[S1,S2,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,Sj],a))=[R1,R2,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,Ri];</a:t>
            </a:r>
            <a:endParaRPr lang="en-US" altLang="zh-CN" sz="2400" dirty="0"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则定义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>
                <a:ea typeface="楷体_GB2312" pitchFamily="49" charset="-122"/>
              </a:rPr>
              <a:t>    </a:t>
            </a:r>
            <a:r>
              <a:rPr lang="en-US" altLang="zh-CN" sz="2400" dirty="0">
                <a:ea typeface="楷体_GB2312" pitchFamily="49" charset="-122"/>
              </a:rPr>
              <a:t>D([S1,S2,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,Sj],a)</a:t>
            </a:r>
            <a:endParaRPr lang="en-US" altLang="zh-CN" sz="2400" dirty="0"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dirty="0">
                <a:ea typeface="楷体_GB2312" pitchFamily="49" charset="-122"/>
              </a:rPr>
              <a:t>    =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-</a:t>
            </a:r>
            <a:r>
              <a:rPr lang="en-US" altLang="zh-CN" sz="2400" dirty="0">
                <a:ea typeface="楷体_GB2312" pitchFamily="49" charset="-122"/>
              </a:rPr>
              <a:t>closure(move[S1,S2,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,Sj],a))</a:t>
            </a:r>
            <a:endParaRPr lang="en-US" altLang="zh-CN" sz="2400" dirty="0"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dirty="0">
                <a:ea typeface="楷体_GB2312" pitchFamily="49" charset="-122"/>
              </a:rPr>
              <a:t>    =[R1,R2,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,Ri]</a:t>
            </a:r>
            <a:endParaRPr lang="en-US" altLang="zh-CN" sz="2400" dirty="0"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dirty="0">
                <a:ea typeface="楷体_GB2312" pitchFamily="49" charset="-122"/>
              </a:rPr>
              <a:t>(4)  </a:t>
            </a:r>
            <a:r>
              <a:rPr lang="en-US" altLang="zh-CN" sz="2400" dirty="0">
                <a:solidFill>
                  <a:schemeClr val="folHlink"/>
                </a:solidFill>
                <a:ea typeface="楷体_GB2312" pitchFamily="49" charset="-122"/>
              </a:rPr>
              <a:t>S0</a:t>
            </a:r>
            <a:r>
              <a:rPr lang="en-US" altLang="zh-CN" sz="2400" dirty="0">
                <a:ea typeface="楷体_GB2312" pitchFamily="49" charset="-122"/>
              </a:rPr>
              <a:t>=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--</a:t>
            </a:r>
            <a:r>
              <a:rPr lang="en-US" altLang="zh-CN" sz="2400" dirty="0">
                <a:ea typeface="楷体_GB2312" pitchFamily="49" charset="-122"/>
              </a:rPr>
              <a:t>closure(K0)</a:t>
            </a:r>
            <a:r>
              <a:rPr lang="zh-CN" altLang="en-US" sz="2400" dirty="0">
                <a:ea typeface="楷体_GB2312" pitchFamily="49" charset="-122"/>
              </a:rPr>
              <a:t>为</a:t>
            </a:r>
            <a:r>
              <a:rPr lang="en-US" altLang="zh-CN" sz="2400" dirty="0">
                <a:ea typeface="楷体_GB2312" pitchFamily="49" charset="-122"/>
              </a:rPr>
              <a:t>M</a:t>
            </a:r>
            <a:r>
              <a:rPr lang="zh-CN" altLang="en-US" sz="2400" dirty="0">
                <a:ea typeface="楷体_GB2312" pitchFamily="49" charset="-122"/>
              </a:rPr>
              <a:t>的开始状态；</a:t>
            </a:r>
            <a:endParaRPr lang="zh-CN" altLang="en-US" sz="2400" dirty="0"/>
          </a:p>
          <a:p>
            <a:pPr>
              <a:buNone/>
            </a:pPr>
            <a:r>
              <a:rPr lang="en-US" altLang="zh-CN" sz="2400" dirty="0">
                <a:ea typeface="楷体_GB2312" pitchFamily="49" charset="-122"/>
              </a:rPr>
              <a:t>(5)  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</a:rPr>
              <a:t>St</a:t>
            </a:r>
            <a:r>
              <a:rPr lang="en-US" altLang="zh-CN" sz="2400" dirty="0">
                <a:ea typeface="楷体_GB2312" pitchFamily="49" charset="-122"/>
              </a:rPr>
              <a:t>={[Sj,Sk,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,Se],</a:t>
            </a:r>
            <a:r>
              <a:rPr lang="zh-CN" altLang="en-US" sz="2400" dirty="0">
                <a:ea typeface="楷体_GB2312" pitchFamily="49" charset="-122"/>
              </a:rPr>
              <a:t>其中</a:t>
            </a:r>
            <a:r>
              <a:rPr lang="en-US" altLang="zh-CN" sz="2400" dirty="0">
                <a:ea typeface="楷体_GB2312" pitchFamily="49" charset="-122"/>
              </a:rPr>
              <a:t>[Sj,Sk,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,Se]∈S</a:t>
            </a:r>
            <a:r>
              <a:rPr lang="zh-CN" altLang="en-US" sz="2400" dirty="0">
                <a:ea typeface="楷体_GB2312" pitchFamily="49" charset="-122"/>
              </a:rPr>
              <a:t>且</a:t>
            </a:r>
            <a:r>
              <a:rPr lang="en-US" altLang="zh-CN" sz="2400" dirty="0">
                <a:ea typeface="楷体_GB2312" pitchFamily="49" charset="-122"/>
              </a:rPr>
              <a:t>{Sj,Sk,</a:t>
            </a:r>
            <a:r>
              <a:rPr lang="en-US" altLang="zh-CN" sz="2400" dirty="0">
                <a:latin typeface="Courier New" panose="02070409020205090404" pitchFamily="49" charset="0"/>
                <a:ea typeface="楷体_GB2312" pitchFamily="49" charset="-122"/>
              </a:rPr>
              <a:t>…</a:t>
            </a:r>
            <a:r>
              <a:rPr lang="en-US" altLang="zh-CN" sz="2400" dirty="0">
                <a:ea typeface="楷体_GB2312" pitchFamily="49" charset="-122"/>
              </a:rPr>
              <a:t>,Se}∩Kt≠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}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41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charRg st="41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5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charRg st="56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9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charRg st="98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14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9027">
                                            <p:txEl>
                                              <p:charRg st="147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154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9027">
                                            <p:txEl>
                                              <p:charRg st="154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176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9027">
                                            <p:txEl>
                                              <p:charRg st="176" end="2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212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9027">
                                            <p:txEl>
                                              <p:charRg st="212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230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9027">
                                            <p:txEl>
                                              <p:charRg st="230" end="2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charRg st="261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9027">
                                            <p:txEl>
                                              <p:charRg st="261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WordArt 2"/>
          <p:cNvSpPr>
            <a:spLocks noTextEdit="1"/>
          </p:cNvSpPr>
          <p:nvPr/>
        </p:nvSpPr>
        <p:spPr>
          <a:xfrm>
            <a:off x="971550" y="955675"/>
            <a:ext cx="6840538" cy="5286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宋体" charset="0"/>
                <a:ea typeface="宋体" charset="0"/>
              </a:rPr>
              <a:t>确定有限自动机的化简</a:t>
            </a:r>
            <a:endParaRPr lang="zh-CN" altLang="en-US" sz="3600" b="1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latin typeface="宋体" charset="0"/>
              <a:ea typeface="宋体" charset="0"/>
            </a:endParaRPr>
          </a:p>
        </p:txBody>
      </p:sp>
      <p:grpSp>
        <p:nvGrpSpPr>
          <p:cNvPr id="129027" name="Group 3"/>
          <p:cNvGrpSpPr/>
          <p:nvPr/>
        </p:nvGrpSpPr>
        <p:grpSpPr>
          <a:xfrm>
            <a:off x="395288" y="1916113"/>
            <a:ext cx="8497887" cy="4176712"/>
            <a:chOff x="249" y="1162"/>
            <a:chExt cx="5353" cy="2903"/>
          </a:xfrm>
        </p:grpSpPr>
        <p:grpSp>
          <p:nvGrpSpPr>
            <p:cNvPr id="112644" name="Group 4"/>
            <p:cNvGrpSpPr/>
            <p:nvPr/>
          </p:nvGrpSpPr>
          <p:grpSpPr>
            <a:xfrm>
              <a:off x="249" y="1162"/>
              <a:ext cx="5353" cy="2903"/>
              <a:chOff x="720" y="480"/>
              <a:chExt cx="4224" cy="1390"/>
            </a:xfrm>
          </p:grpSpPr>
          <p:graphicFrame>
            <p:nvGraphicFramePr>
              <p:cNvPr id="112646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6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4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647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7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4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645" name="Text Box 7"/>
            <p:cNvSpPr txBox="1"/>
            <p:nvPr/>
          </p:nvSpPr>
          <p:spPr>
            <a:xfrm>
              <a:off x="340" y="1365"/>
              <a:ext cx="5171" cy="23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一个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确定有限自动机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的化简是指：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寻找一个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状态数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比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少的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 M’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，使得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L(M)=L(M’)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    一个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DFA 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状态最少化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过程旨在将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的状态集分割成一些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不相交的子集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，使得任何不同的两个子集中的状态都是可区别的，而同一子集中的任何两个状态都是等价的。最后，在每个子集中选出一个代表，同时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消去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其它等价状态。</a:t>
              </a:r>
              <a:endParaRPr lang="zh-CN" altLang="en-US" sz="2400" b="1" dirty="0">
                <a:solidFill>
                  <a:schemeClr val="hlink"/>
                </a:solidFill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AutoShape 2"/>
          <p:cNvSpPr/>
          <p:nvPr/>
        </p:nvSpPr>
        <p:spPr>
          <a:xfrm>
            <a:off x="3349625" y="3425825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3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51" name="AutoShape 3"/>
          <p:cNvSpPr/>
          <p:nvPr/>
        </p:nvSpPr>
        <p:spPr>
          <a:xfrm>
            <a:off x="107950" y="4391025"/>
            <a:ext cx="569913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0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52" name="AutoShape 4"/>
          <p:cNvSpPr/>
          <p:nvPr/>
        </p:nvSpPr>
        <p:spPr>
          <a:xfrm>
            <a:off x="1620838" y="3382963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53" name="AutoShape 5"/>
          <p:cNvSpPr/>
          <p:nvPr/>
        </p:nvSpPr>
        <p:spPr>
          <a:xfrm>
            <a:off x="1620838" y="5614988"/>
            <a:ext cx="569912" cy="552450"/>
          </a:xfrm>
          <a:prstGeom prst="flowChartConnector">
            <a:avLst/>
          </a:pr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2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130054" name="Group 6"/>
          <p:cNvGrpSpPr/>
          <p:nvPr/>
        </p:nvGrpSpPr>
        <p:grpSpPr>
          <a:xfrm>
            <a:off x="1690688" y="3824288"/>
            <a:ext cx="914400" cy="1965325"/>
            <a:chOff x="1474" y="2069"/>
            <a:chExt cx="576" cy="1238"/>
          </a:xfrm>
        </p:grpSpPr>
        <p:sp>
          <p:nvSpPr>
            <p:cNvPr id="113760" name="Arc 7"/>
            <p:cNvSpPr/>
            <p:nvPr/>
          </p:nvSpPr>
          <p:spPr>
            <a:xfrm rot="843092">
              <a:off x="1474" y="2296"/>
              <a:ext cx="576" cy="1011"/>
            </a:xfrm>
            <a:custGeom>
              <a:avLst/>
              <a:gdLst/>
              <a:ahLst/>
              <a:cxnLst>
                <a:cxn ang="0">
                  <a:pos x="360" y="0"/>
                </a:cxn>
                <a:cxn ang="0">
                  <a:pos x="440" y="1011"/>
                </a:cxn>
                <a:cxn ang="0">
                  <a:pos x="0" y="553"/>
                </a:cxn>
              </a:cxnLst>
              <a:pathLst>
                <a:path w="21600" h="30813" fill="none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</a:path>
                <a:path w="21600" h="30813" stroke="0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  <a:lnTo>
                    <a:pt x="0" y="16852"/>
                  </a:lnTo>
                  <a:lnTo>
                    <a:pt x="1351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61" name="Line 8"/>
            <p:cNvSpPr/>
            <p:nvPr/>
          </p:nvSpPr>
          <p:spPr>
            <a:xfrm flipH="1" flipV="1">
              <a:off x="1746" y="2069"/>
              <a:ext cx="227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057" name="Group 9"/>
          <p:cNvGrpSpPr/>
          <p:nvPr/>
        </p:nvGrpSpPr>
        <p:grpSpPr>
          <a:xfrm>
            <a:off x="1185863" y="3824288"/>
            <a:ext cx="1008062" cy="2016125"/>
            <a:chOff x="1156" y="2069"/>
            <a:chExt cx="635" cy="1270"/>
          </a:xfrm>
        </p:grpSpPr>
        <p:sp>
          <p:nvSpPr>
            <p:cNvPr id="113758" name="Arc 10"/>
            <p:cNvSpPr/>
            <p:nvPr/>
          </p:nvSpPr>
          <p:spPr>
            <a:xfrm flipH="1">
              <a:off x="1156" y="2069"/>
              <a:ext cx="635" cy="1089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486" y="1089"/>
                </a:cxn>
                <a:cxn ang="0">
                  <a:pos x="0" y="622"/>
                </a:cxn>
              </a:cxnLst>
              <a:pathLst>
                <a:path w="21600" h="32374" fill="none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</a:path>
                <a:path w="21600" h="32374" stroke="0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  <a:lnTo>
                    <a:pt x="0" y="18489"/>
                  </a:lnTo>
                  <a:lnTo>
                    <a:pt x="1116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59" name="Line 11"/>
            <p:cNvSpPr/>
            <p:nvPr/>
          </p:nvSpPr>
          <p:spPr>
            <a:xfrm>
              <a:off x="1292" y="3158"/>
              <a:ext cx="137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060" name="Group 12"/>
          <p:cNvGrpSpPr/>
          <p:nvPr/>
        </p:nvGrpSpPr>
        <p:grpSpPr>
          <a:xfrm>
            <a:off x="3914775" y="4059238"/>
            <a:ext cx="1666875" cy="1709737"/>
            <a:chOff x="2557" y="1537"/>
            <a:chExt cx="1050" cy="1077"/>
          </a:xfrm>
        </p:grpSpPr>
        <p:sp>
          <p:nvSpPr>
            <p:cNvPr id="113756" name="Arc 13"/>
            <p:cNvSpPr/>
            <p:nvPr/>
          </p:nvSpPr>
          <p:spPr>
            <a:xfrm rot="5255360">
              <a:off x="2648" y="1425"/>
              <a:ext cx="855" cy="10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55" y="604"/>
                </a:cxn>
                <a:cxn ang="0">
                  <a:pos x="0" y="1050"/>
                </a:cxn>
              </a:cxnLst>
              <a:pathLst>
                <a:path w="19552" h="21600" fill="none">
                  <a:moveTo>
                    <a:pt x="-1" y="0"/>
                  </a:moveTo>
                  <a:cubicBezTo>
                    <a:pt x="8374" y="0"/>
                    <a:pt x="15993" y="4840"/>
                    <a:pt x="19552" y="12420"/>
                  </a:cubicBezTo>
                </a:path>
                <a:path w="19552" h="21600" stroke="0">
                  <a:moveTo>
                    <a:pt x="-1" y="0"/>
                  </a:moveTo>
                  <a:cubicBezTo>
                    <a:pt x="8374" y="0"/>
                    <a:pt x="15993" y="4840"/>
                    <a:pt x="19552" y="1242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57" name="Line 14"/>
            <p:cNvSpPr/>
            <p:nvPr/>
          </p:nvSpPr>
          <p:spPr>
            <a:xfrm rot="5255360">
              <a:off x="2697" y="2294"/>
              <a:ext cx="202" cy="43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063" name="Group 15"/>
          <p:cNvGrpSpPr/>
          <p:nvPr/>
        </p:nvGrpSpPr>
        <p:grpSpPr>
          <a:xfrm>
            <a:off x="393700" y="3681413"/>
            <a:ext cx="1225550" cy="719137"/>
            <a:chOff x="657" y="1979"/>
            <a:chExt cx="772" cy="453"/>
          </a:xfrm>
        </p:grpSpPr>
        <p:sp>
          <p:nvSpPr>
            <p:cNvPr id="113754" name="Arc 16"/>
            <p:cNvSpPr/>
            <p:nvPr/>
          </p:nvSpPr>
          <p:spPr>
            <a:xfrm flipH="1">
              <a:off x="657" y="2024"/>
              <a:ext cx="680" cy="408"/>
            </a:xfrm>
            <a:custGeom>
              <a:avLst/>
              <a:gdLst/>
              <a:ahLst/>
              <a:cxnLst>
                <a:cxn ang="0">
                  <a:pos x="225" y="0"/>
                </a:cxn>
                <a:cxn ang="0">
                  <a:pos x="680" y="408"/>
                </a:cxn>
                <a:cxn ang="0">
                  <a:pos x="0" y="408"/>
                </a:cxn>
              </a:cxnLst>
              <a:pathLst>
                <a:path w="21600" h="20378" fill="none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</a:path>
                <a:path w="21600" h="20378" stroke="0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  <a:lnTo>
                    <a:pt x="0" y="20378"/>
                  </a:lnTo>
                  <a:lnTo>
                    <a:pt x="7161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55" name="Line 17"/>
            <p:cNvSpPr/>
            <p:nvPr/>
          </p:nvSpPr>
          <p:spPr>
            <a:xfrm flipV="1">
              <a:off x="1111" y="1979"/>
              <a:ext cx="318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066" name="Group 18"/>
          <p:cNvGrpSpPr/>
          <p:nvPr/>
        </p:nvGrpSpPr>
        <p:grpSpPr>
          <a:xfrm>
            <a:off x="395288" y="4905375"/>
            <a:ext cx="1225550" cy="935038"/>
            <a:chOff x="658" y="2750"/>
            <a:chExt cx="772" cy="589"/>
          </a:xfrm>
        </p:grpSpPr>
        <p:sp>
          <p:nvSpPr>
            <p:cNvPr id="113752" name="Arc 19"/>
            <p:cNvSpPr/>
            <p:nvPr/>
          </p:nvSpPr>
          <p:spPr>
            <a:xfrm rot="10800000">
              <a:off x="658" y="2750"/>
              <a:ext cx="772" cy="553"/>
            </a:xfrm>
            <a:custGeom>
              <a:avLst/>
              <a:gdLst/>
              <a:ahLst/>
              <a:cxnLst>
                <a:cxn ang="0">
                  <a:pos x="269" y="0"/>
                </a:cxn>
                <a:cxn ang="0">
                  <a:pos x="772" y="553"/>
                </a:cxn>
                <a:cxn ang="0">
                  <a:pos x="0" y="553"/>
                </a:cxn>
              </a:cxnLst>
              <a:pathLst>
                <a:path w="21600" h="20245" fill="none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</a:path>
                <a:path w="21600" h="20245" stroke="0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  <a:lnTo>
                    <a:pt x="0" y="20245"/>
                  </a:lnTo>
                  <a:lnTo>
                    <a:pt x="7529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53" name="Line 20"/>
            <p:cNvSpPr/>
            <p:nvPr/>
          </p:nvSpPr>
          <p:spPr>
            <a:xfrm>
              <a:off x="1156" y="3294"/>
              <a:ext cx="273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069" name="Group 21"/>
          <p:cNvGrpSpPr/>
          <p:nvPr/>
        </p:nvGrpSpPr>
        <p:grpSpPr>
          <a:xfrm>
            <a:off x="3490913" y="3894138"/>
            <a:ext cx="2016125" cy="1800225"/>
            <a:chOff x="2290" y="1433"/>
            <a:chExt cx="1270" cy="1134"/>
          </a:xfrm>
        </p:grpSpPr>
        <p:sp>
          <p:nvSpPr>
            <p:cNvPr id="113750" name="Arc 22"/>
            <p:cNvSpPr/>
            <p:nvPr/>
          </p:nvSpPr>
          <p:spPr>
            <a:xfrm>
              <a:off x="2290" y="1554"/>
              <a:ext cx="1270" cy="1013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1270" y="1013"/>
                </a:cxn>
                <a:cxn ang="0">
                  <a:pos x="0" y="1013"/>
                </a:cxn>
              </a:cxnLst>
              <a:pathLst>
                <a:path w="21600" h="19308" fill="none">
                  <a:moveTo>
                    <a:pt x="9682" y="-1"/>
                  </a:moveTo>
                  <a:cubicBezTo>
                    <a:pt x="16987" y="3662"/>
                    <a:pt x="21600" y="11135"/>
                    <a:pt x="21600" y="19308"/>
                  </a:cubicBezTo>
                </a:path>
                <a:path w="21600" h="19308" stroke="0">
                  <a:moveTo>
                    <a:pt x="9682" y="-1"/>
                  </a:moveTo>
                  <a:cubicBezTo>
                    <a:pt x="16987" y="3662"/>
                    <a:pt x="21600" y="11135"/>
                    <a:pt x="21600" y="19308"/>
                  </a:cubicBezTo>
                  <a:lnTo>
                    <a:pt x="0" y="19308"/>
                  </a:lnTo>
                  <a:lnTo>
                    <a:pt x="9682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51" name="Line 23"/>
            <p:cNvSpPr/>
            <p:nvPr/>
          </p:nvSpPr>
          <p:spPr>
            <a:xfrm rot="-5400000" flipV="1">
              <a:off x="2647" y="1330"/>
              <a:ext cx="132" cy="33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30072" name="Text Box 24"/>
          <p:cNvSpPr txBox="1"/>
          <p:nvPr/>
        </p:nvSpPr>
        <p:spPr>
          <a:xfrm>
            <a:off x="2554288" y="4545013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3" name="Text Box 25"/>
          <p:cNvSpPr txBox="1"/>
          <p:nvPr/>
        </p:nvSpPr>
        <p:spPr>
          <a:xfrm>
            <a:off x="538163" y="3500438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4" name="Text Box 26"/>
          <p:cNvSpPr txBox="1"/>
          <p:nvPr/>
        </p:nvSpPr>
        <p:spPr>
          <a:xfrm>
            <a:off x="4498975" y="5553075"/>
            <a:ext cx="361950" cy="39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5" name="Text Box 27"/>
          <p:cNvSpPr txBox="1"/>
          <p:nvPr/>
        </p:nvSpPr>
        <p:spPr>
          <a:xfrm>
            <a:off x="2627313" y="3319463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6" name="Text Box 28"/>
          <p:cNvSpPr txBox="1"/>
          <p:nvPr/>
        </p:nvSpPr>
        <p:spPr>
          <a:xfrm>
            <a:off x="538163" y="5481638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7" name="Text Box 29"/>
          <p:cNvSpPr txBox="1"/>
          <p:nvPr/>
        </p:nvSpPr>
        <p:spPr>
          <a:xfrm>
            <a:off x="2627313" y="5553075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8" name="Text Box 30"/>
          <p:cNvSpPr txBox="1"/>
          <p:nvPr/>
        </p:nvSpPr>
        <p:spPr>
          <a:xfrm>
            <a:off x="898525" y="4473575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79" name="Line 31"/>
          <p:cNvSpPr/>
          <p:nvPr/>
        </p:nvSpPr>
        <p:spPr>
          <a:xfrm>
            <a:off x="2195513" y="3679825"/>
            <a:ext cx="11525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30080" name="Group 32"/>
          <p:cNvGrpSpPr/>
          <p:nvPr/>
        </p:nvGrpSpPr>
        <p:grpSpPr>
          <a:xfrm>
            <a:off x="3349625" y="2960688"/>
            <a:ext cx="503238" cy="503237"/>
            <a:chOff x="2201" y="845"/>
            <a:chExt cx="317" cy="317"/>
          </a:xfrm>
        </p:grpSpPr>
        <p:sp>
          <p:nvSpPr>
            <p:cNvPr id="113748" name="Arc 33"/>
            <p:cNvSpPr/>
            <p:nvPr/>
          </p:nvSpPr>
          <p:spPr>
            <a:xfrm>
              <a:off x="2201" y="845"/>
              <a:ext cx="317" cy="288"/>
            </a:xfrm>
            <a:custGeom>
              <a:avLst/>
              <a:gdLst/>
              <a:ahLst/>
              <a:cxnLst>
                <a:cxn ang="0">
                  <a:pos x="95" y="288"/>
                </a:cxn>
                <a:cxn ang="0">
                  <a:pos x="312" y="189"/>
                </a:cxn>
                <a:cxn ang="0">
                  <a:pos x="159" y="150"/>
                </a:cxn>
              </a:cxnLst>
              <a:pathLst>
                <a:path w="43200" h="41398" fill="none">
                  <a:moveTo>
                    <a:pt x="12962" y="41398"/>
                  </a:moveTo>
                  <a:cubicBezTo>
                    <a:pt x="5089" y="37963"/>
                    <a:pt x="0" y="3018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463"/>
                    <a:pt x="42958" y="25320"/>
                    <a:pt x="42482" y="27122"/>
                  </a:cubicBezTo>
                </a:path>
                <a:path w="43200" h="41398" stroke="0">
                  <a:moveTo>
                    <a:pt x="12962" y="41398"/>
                  </a:moveTo>
                  <a:cubicBezTo>
                    <a:pt x="5089" y="37963"/>
                    <a:pt x="0" y="3018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463"/>
                    <a:pt x="42958" y="25320"/>
                    <a:pt x="42482" y="27122"/>
                  </a:cubicBezTo>
                  <a:lnTo>
                    <a:pt x="21600" y="21600"/>
                  </a:lnTo>
                  <a:lnTo>
                    <a:pt x="12962" y="41398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49" name="Line 34"/>
            <p:cNvSpPr/>
            <p:nvPr/>
          </p:nvSpPr>
          <p:spPr>
            <a:xfrm flipH="1">
              <a:off x="2472" y="1026"/>
              <a:ext cx="45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30083" name="AutoShape 35"/>
          <p:cNvSpPr/>
          <p:nvPr/>
        </p:nvSpPr>
        <p:spPr>
          <a:xfrm>
            <a:off x="3421063" y="5614988"/>
            <a:ext cx="569912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84" name="Line 36"/>
          <p:cNvSpPr/>
          <p:nvPr/>
        </p:nvSpPr>
        <p:spPr>
          <a:xfrm>
            <a:off x="2195513" y="5911850"/>
            <a:ext cx="1223962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0085" name="AutoShape 37"/>
          <p:cNvSpPr/>
          <p:nvPr/>
        </p:nvSpPr>
        <p:spPr>
          <a:xfrm>
            <a:off x="5365750" y="3425825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86" name="AutoShape 38"/>
          <p:cNvSpPr/>
          <p:nvPr/>
        </p:nvSpPr>
        <p:spPr>
          <a:xfrm>
            <a:off x="5365750" y="5614988"/>
            <a:ext cx="569913" cy="5524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925" y="10800"/>
                </a:moveTo>
                <a:cubicBezTo>
                  <a:pt x="2925" y="15149"/>
                  <a:pt x="6451" y="18675"/>
                  <a:pt x="10800" y="18675"/>
                </a:cubicBezTo>
                <a:cubicBezTo>
                  <a:pt x="15149" y="18675"/>
                  <a:pt x="18675" y="15149"/>
                  <a:pt x="18675" y="10800"/>
                </a:cubicBezTo>
                <a:cubicBezTo>
                  <a:pt x="18675" y="6451"/>
                  <a:pt x="15149" y="2925"/>
                  <a:pt x="10800" y="2925"/>
                </a:cubicBezTo>
                <a:cubicBezTo>
                  <a:pt x="6451" y="2925"/>
                  <a:pt x="2925" y="6451"/>
                  <a:pt x="2925" y="1080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6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87" name="Line 39"/>
          <p:cNvSpPr/>
          <p:nvPr/>
        </p:nvSpPr>
        <p:spPr>
          <a:xfrm>
            <a:off x="3922713" y="3679825"/>
            <a:ext cx="144145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0088" name="Line 40"/>
          <p:cNvSpPr/>
          <p:nvPr/>
        </p:nvSpPr>
        <p:spPr>
          <a:xfrm>
            <a:off x="3995738" y="5911850"/>
            <a:ext cx="13684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0089" name="Text Box 41"/>
          <p:cNvSpPr txBox="1"/>
          <p:nvPr/>
        </p:nvSpPr>
        <p:spPr>
          <a:xfrm>
            <a:off x="4714875" y="3968750"/>
            <a:ext cx="361950" cy="39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90" name="Text Box 42"/>
          <p:cNvSpPr txBox="1"/>
          <p:nvPr/>
        </p:nvSpPr>
        <p:spPr>
          <a:xfrm>
            <a:off x="4498975" y="3319463"/>
            <a:ext cx="3619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91" name="Text Box 43"/>
          <p:cNvSpPr txBox="1"/>
          <p:nvPr/>
        </p:nvSpPr>
        <p:spPr>
          <a:xfrm>
            <a:off x="4356100" y="5048250"/>
            <a:ext cx="361950" cy="39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130092" name="Group 44"/>
          <p:cNvGrpSpPr/>
          <p:nvPr/>
        </p:nvGrpSpPr>
        <p:grpSpPr>
          <a:xfrm>
            <a:off x="3563938" y="6127750"/>
            <a:ext cx="431800" cy="431800"/>
            <a:chOff x="2336" y="2795"/>
            <a:chExt cx="318" cy="375"/>
          </a:xfrm>
        </p:grpSpPr>
        <p:sp>
          <p:nvSpPr>
            <p:cNvPr id="113746" name="Arc 45"/>
            <p:cNvSpPr/>
            <p:nvPr/>
          </p:nvSpPr>
          <p:spPr>
            <a:xfrm flipH="1" flipV="1">
              <a:off x="2336" y="2795"/>
              <a:ext cx="318" cy="375"/>
            </a:xfrm>
            <a:custGeom>
              <a:avLst/>
              <a:gdLst/>
              <a:ahLst/>
              <a:cxnLst>
                <a:cxn ang="0">
                  <a:pos x="77" y="375"/>
                </a:cxn>
                <a:cxn ang="0">
                  <a:pos x="318" y="202"/>
                </a:cxn>
                <a:cxn ang="0">
                  <a:pos x="159" y="202"/>
                </a:cxn>
              </a:cxnLst>
              <a:pathLst>
                <a:path w="43200" h="40079" fill="none">
                  <a:moveTo>
                    <a:pt x="10415" y="40078"/>
                  </a:moveTo>
                  <a:cubicBezTo>
                    <a:pt x="3949" y="36165"/>
                    <a:pt x="0" y="2915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0079" stroke="0">
                  <a:moveTo>
                    <a:pt x="10415" y="40078"/>
                  </a:moveTo>
                  <a:cubicBezTo>
                    <a:pt x="3949" y="36165"/>
                    <a:pt x="0" y="2915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0415" y="40078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47" name="Line 46"/>
            <p:cNvSpPr/>
            <p:nvPr/>
          </p:nvSpPr>
          <p:spPr>
            <a:xfrm flipV="1">
              <a:off x="2336" y="2840"/>
              <a:ext cx="0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0095" name="Group 47"/>
          <p:cNvGrpSpPr/>
          <p:nvPr/>
        </p:nvGrpSpPr>
        <p:grpSpPr>
          <a:xfrm>
            <a:off x="5291138" y="3968750"/>
            <a:ext cx="790575" cy="1727200"/>
            <a:chOff x="3424" y="1480"/>
            <a:chExt cx="498" cy="1088"/>
          </a:xfrm>
        </p:grpSpPr>
        <p:sp>
          <p:nvSpPr>
            <p:cNvPr id="113744" name="Arc 48"/>
            <p:cNvSpPr/>
            <p:nvPr/>
          </p:nvSpPr>
          <p:spPr>
            <a:xfrm>
              <a:off x="3424" y="1480"/>
              <a:ext cx="498" cy="970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405" y="970"/>
                </a:cxn>
                <a:cxn ang="0">
                  <a:pos x="0" y="547"/>
                </a:cxn>
              </a:cxnLst>
              <a:pathLst>
                <a:path w="21600" h="28854" fill="none">
                  <a:moveTo>
                    <a:pt x="14222" y="-1"/>
                  </a:moveTo>
                  <a:cubicBezTo>
                    <a:pt x="18910" y="4101"/>
                    <a:pt x="21600" y="10027"/>
                    <a:pt x="21600" y="16257"/>
                  </a:cubicBezTo>
                  <a:cubicBezTo>
                    <a:pt x="21600" y="20776"/>
                    <a:pt x="20182" y="25182"/>
                    <a:pt x="17546" y="28854"/>
                  </a:cubicBezTo>
                </a:path>
                <a:path w="21600" h="28854" stroke="0">
                  <a:moveTo>
                    <a:pt x="14222" y="-1"/>
                  </a:moveTo>
                  <a:cubicBezTo>
                    <a:pt x="18910" y="4101"/>
                    <a:pt x="21600" y="10027"/>
                    <a:pt x="21600" y="16257"/>
                  </a:cubicBezTo>
                  <a:cubicBezTo>
                    <a:pt x="21600" y="20776"/>
                    <a:pt x="20182" y="25182"/>
                    <a:pt x="17546" y="28854"/>
                  </a:cubicBezTo>
                  <a:lnTo>
                    <a:pt x="0" y="16257"/>
                  </a:lnTo>
                  <a:lnTo>
                    <a:pt x="14222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45" name="Line 49"/>
            <p:cNvSpPr/>
            <p:nvPr/>
          </p:nvSpPr>
          <p:spPr>
            <a:xfrm flipH="1">
              <a:off x="3742" y="2432"/>
              <a:ext cx="91" cy="1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30098" name="Text Box 50"/>
          <p:cNvSpPr txBox="1"/>
          <p:nvPr/>
        </p:nvSpPr>
        <p:spPr>
          <a:xfrm>
            <a:off x="5721350" y="4616450"/>
            <a:ext cx="361950" cy="39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099" name="Text Box 51"/>
          <p:cNvSpPr txBox="1"/>
          <p:nvPr/>
        </p:nvSpPr>
        <p:spPr>
          <a:xfrm>
            <a:off x="6153150" y="4618038"/>
            <a:ext cx="3619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130100" name="Group 52"/>
          <p:cNvGrpSpPr/>
          <p:nvPr/>
        </p:nvGrpSpPr>
        <p:grpSpPr>
          <a:xfrm>
            <a:off x="5507038" y="3681413"/>
            <a:ext cx="1008062" cy="2200275"/>
            <a:chOff x="3560" y="1298"/>
            <a:chExt cx="635" cy="1386"/>
          </a:xfrm>
        </p:grpSpPr>
        <p:sp>
          <p:nvSpPr>
            <p:cNvPr id="113742" name="Arc 53"/>
            <p:cNvSpPr/>
            <p:nvPr/>
          </p:nvSpPr>
          <p:spPr>
            <a:xfrm flipV="1">
              <a:off x="3560" y="1528"/>
              <a:ext cx="635" cy="1156"/>
            </a:xfrm>
            <a:custGeom>
              <a:avLst/>
              <a:gdLst/>
              <a:ahLst/>
              <a:cxnLst>
                <a:cxn ang="0">
                  <a:pos x="299" y="0"/>
                </a:cxn>
                <a:cxn ang="0">
                  <a:pos x="500" y="1156"/>
                </a:cxn>
                <a:cxn ang="0">
                  <a:pos x="0" y="681"/>
                </a:cxn>
              </a:cxnLst>
              <a:pathLst>
                <a:path w="21600" h="32369" fill="none">
                  <a:moveTo>
                    <a:pt x="10166" y="-1"/>
                  </a:moveTo>
                  <a:cubicBezTo>
                    <a:pt x="17203" y="3754"/>
                    <a:pt x="21600" y="11081"/>
                    <a:pt x="21600" y="19058"/>
                  </a:cubicBezTo>
                  <a:cubicBezTo>
                    <a:pt x="21600" y="23883"/>
                    <a:pt x="19984" y="28569"/>
                    <a:pt x="17011" y="32369"/>
                  </a:cubicBezTo>
                </a:path>
                <a:path w="21600" h="32369" stroke="0">
                  <a:moveTo>
                    <a:pt x="10166" y="-1"/>
                  </a:moveTo>
                  <a:cubicBezTo>
                    <a:pt x="17203" y="3754"/>
                    <a:pt x="21600" y="11081"/>
                    <a:pt x="21600" y="19058"/>
                  </a:cubicBezTo>
                  <a:cubicBezTo>
                    <a:pt x="21600" y="23883"/>
                    <a:pt x="19984" y="28569"/>
                    <a:pt x="17011" y="32369"/>
                  </a:cubicBezTo>
                  <a:lnTo>
                    <a:pt x="0" y="19058"/>
                  </a:lnTo>
                  <a:lnTo>
                    <a:pt x="10166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43" name="Line 54"/>
            <p:cNvSpPr/>
            <p:nvPr/>
          </p:nvSpPr>
          <p:spPr>
            <a:xfrm flipH="1" flipV="1">
              <a:off x="3833" y="1298"/>
              <a:ext cx="226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30103" name="Text Box 55"/>
          <p:cNvSpPr txBox="1"/>
          <p:nvPr/>
        </p:nvSpPr>
        <p:spPr>
          <a:xfrm>
            <a:off x="3922713" y="2708275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30104" name="Text Box 56"/>
          <p:cNvSpPr txBox="1"/>
          <p:nvPr/>
        </p:nvSpPr>
        <p:spPr>
          <a:xfrm>
            <a:off x="3922713" y="6273800"/>
            <a:ext cx="43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itchFamily="2" charset="-122"/>
              </a:rPr>
              <a:t>b</a:t>
            </a:r>
            <a:endParaRPr lang="en-US" altLang="zh-CN" sz="20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130105" name="Group 57"/>
          <p:cNvGrpSpPr/>
          <p:nvPr/>
        </p:nvGrpSpPr>
        <p:grpSpPr>
          <a:xfrm>
            <a:off x="250825" y="476250"/>
            <a:ext cx="4752975" cy="663575"/>
            <a:chOff x="249" y="890"/>
            <a:chExt cx="2812" cy="408"/>
          </a:xfrm>
        </p:grpSpPr>
        <p:grpSp>
          <p:nvGrpSpPr>
            <p:cNvPr id="113738" name="Group 58"/>
            <p:cNvGrpSpPr/>
            <p:nvPr/>
          </p:nvGrpSpPr>
          <p:grpSpPr>
            <a:xfrm>
              <a:off x="249" y="890"/>
              <a:ext cx="2812" cy="408"/>
              <a:chOff x="720" y="480"/>
              <a:chExt cx="4224" cy="1390"/>
            </a:xfrm>
          </p:grpSpPr>
          <p:graphicFrame>
            <p:nvGraphicFramePr>
              <p:cNvPr id="113740" name="Object 59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8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4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741" name="Object 60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4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3739" name="Text Box 61"/>
            <p:cNvSpPr txBox="1"/>
            <p:nvPr/>
          </p:nvSpPr>
          <p:spPr>
            <a:xfrm>
              <a:off x="340" y="935"/>
              <a:ext cx="2676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例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3-19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：考虑下图所示</a:t>
              </a: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DFA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pitchFamily="2" charset="-122"/>
                </a:rPr>
                <a:t>的化简：</a:t>
              </a: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13702" name="Text Box 62"/>
          <p:cNvSpPr txBox="1"/>
          <p:nvPr/>
        </p:nvSpPr>
        <p:spPr>
          <a:xfrm>
            <a:off x="6804025" y="908050"/>
            <a:ext cx="20891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/>
          </a:p>
        </p:txBody>
      </p:sp>
      <p:sp>
        <p:nvSpPr>
          <p:cNvPr id="130111" name="Text Box 63"/>
          <p:cNvSpPr txBox="1"/>
          <p:nvPr/>
        </p:nvSpPr>
        <p:spPr>
          <a:xfrm>
            <a:off x="5292725" y="614363"/>
            <a:ext cx="3816350" cy="779462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首先：把</a:t>
            </a:r>
            <a:r>
              <a:rPr lang="en-US" altLang="zh-CN" sz="1800" b="1" dirty="0">
                <a:solidFill>
                  <a:schemeClr val="tx2"/>
                </a:solidFill>
              </a:rPr>
              <a:t>M</a:t>
            </a:r>
            <a:r>
              <a:rPr lang="zh-CN" altLang="en-US" sz="1800" b="1" dirty="0">
                <a:solidFill>
                  <a:schemeClr val="tx2"/>
                </a:solidFill>
              </a:rPr>
              <a:t>的状态分为</a:t>
            </a:r>
            <a:r>
              <a:rPr lang="en-US" altLang="zh-CN" sz="1800" b="1" dirty="0">
                <a:solidFill>
                  <a:schemeClr val="tx2"/>
                </a:solidFill>
              </a:rPr>
              <a:t>2</a:t>
            </a:r>
            <a:r>
              <a:rPr lang="zh-CN" altLang="en-US" sz="1800" b="1" dirty="0">
                <a:solidFill>
                  <a:schemeClr val="tx2"/>
                </a:solidFill>
              </a:rPr>
              <a:t>组：</a:t>
            </a:r>
            <a:endParaRPr lang="zh-CN" altLang="en-US" sz="18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终态组</a:t>
            </a:r>
            <a:r>
              <a:rPr lang="en-US" altLang="zh-CN" sz="1800" b="1" dirty="0">
                <a:solidFill>
                  <a:schemeClr val="tx2"/>
                </a:solidFill>
              </a:rPr>
              <a:t>{3,4,5,6},</a:t>
            </a:r>
            <a:r>
              <a:rPr lang="zh-CN" altLang="en-US" sz="1800" b="1" dirty="0">
                <a:solidFill>
                  <a:schemeClr val="tx2"/>
                </a:solidFill>
              </a:rPr>
              <a:t>非终态组</a:t>
            </a:r>
            <a:r>
              <a:rPr lang="en-US" altLang="zh-CN" sz="1800" b="1" dirty="0">
                <a:solidFill>
                  <a:schemeClr val="tx2"/>
                </a:solidFill>
              </a:rPr>
              <a:t>{0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1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2}</a:t>
            </a:r>
            <a:endParaRPr lang="en-US" altLang="zh-CN" sz="1800" b="1" dirty="0">
              <a:solidFill>
                <a:schemeClr val="tx2"/>
              </a:solidFill>
            </a:endParaRPr>
          </a:p>
        </p:txBody>
      </p:sp>
      <p:sp>
        <p:nvSpPr>
          <p:cNvPr id="130112" name="Text Box 64"/>
          <p:cNvSpPr txBox="1"/>
          <p:nvPr/>
        </p:nvSpPr>
        <p:spPr>
          <a:xfrm>
            <a:off x="5148263" y="549275"/>
            <a:ext cx="3600450" cy="976313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</a:rPr>
              <a:t>其次：考察</a:t>
            </a:r>
            <a:r>
              <a:rPr lang="en-US" altLang="zh-CN" sz="2000" b="1" dirty="0">
                <a:solidFill>
                  <a:schemeClr val="tx2"/>
                </a:solidFill>
              </a:rPr>
              <a:t>{3,4,5,6},</a:t>
            </a:r>
            <a:r>
              <a:rPr lang="zh-CN" altLang="en-US" sz="2000" b="1" dirty="0">
                <a:solidFill>
                  <a:schemeClr val="tx2"/>
                </a:solidFill>
              </a:rPr>
              <a:t>由于</a:t>
            </a:r>
            <a:r>
              <a:rPr lang="en-US" altLang="zh-CN" sz="2000" b="1" dirty="0">
                <a:solidFill>
                  <a:schemeClr val="tx2"/>
                </a:solidFill>
              </a:rPr>
              <a:t>{</a:t>
            </a:r>
            <a:r>
              <a:rPr lang="en-US" altLang="zh-CN" sz="1800" b="1" dirty="0">
                <a:solidFill>
                  <a:schemeClr val="tx2"/>
                </a:solidFill>
              </a:rPr>
              <a:t>3,4,5,6}a</a:t>
            </a:r>
            <a:r>
              <a:rPr lang="zh-CN" altLang="en-US" sz="1800" b="1" dirty="0">
                <a:solidFill>
                  <a:schemeClr val="tx2"/>
                </a:solidFill>
              </a:rPr>
              <a:t>和</a:t>
            </a:r>
            <a:r>
              <a:rPr lang="en-US" altLang="zh-CN" sz="1800" b="1" dirty="0">
                <a:solidFill>
                  <a:schemeClr val="tx2"/>
                </a:solidFill>
              </a:rPr>
              <a:t>{ 3,4,5,6}b </a:t>
            </a:r>
            <a:r>
              <a:rPr lang="zh-CN" altLang="en-US" sz="1800" b="1" dirty="0">
                <a:solidFill>
                  <a:schemeClr val="tx2"/>
                </a:solidFill>
              </a:rPr>
              <a:t>都包含于</a:t>
            </a:r>
            <a:r>
              <a:rPr lang="en-US" altLang="zh-CN" sz="1800" b="1" dirty="0">
                <a:solidFill>
                  <a:schemeClr val="tx2"/>
                </a:solidFill>
              </a:rPr>
              <a:t>{3,4,5,6},</a:t>
            </a:r>
            <a:r>
              <a:rPr lang="zh-CN" altLang="en-US" sz="1800" b="1" dirty="0">
                <a:solidFill>
                  <a:schemeClr val="tx2"/>
                </a:solidFill>
              </a:rPr>
              <a:t>所以它不能在划分。</a:t>
            </a:r>
            <a:endParaRPr lang="zh-CN" altLang="en-US" sz="1800" b="1" dirty="0">
              <a:solidFill>
                <a:schemeClr val="tx2"/>
              </a:solidFill>
            </a:endParaRPr>
          </a:p>
        </p:txBody>
      </p:sp>
      <p:sp>
        <p:nvSpPr>
          <p:cNvPr id="130113" name="Text Box 65"/>
          <p:cNvSpPr txBox="1"/>
          <p:nvPr/>
        </p:nvSpPr>
        <p:spPr>
          <a:xfrm>
            <a:off x="5040313" y="404813"/>
            <a:ext cx="3924300" cy="1770062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</a:rPr>
              <a:t>再考察</a:t>
            </a:r>
            <a:r>
              <a:rPr lang="en-US" altLang="zh-CN" sz="2000" b="1" dirty="0">
                <a:solidFill>
                  <a:schemeClr val="tx2"/>
                </a:solidFill>
              </a:rPr>
              <a:t>{0</a:t>
            </a:r>
            <a:r>
              <a:rPr lang="zh-CN" altLang="en-US" sz="2000" b="1" dirty="0">
                <a:solidFill>
                  <a:schemeClr val="tx2"/>
                </a:solidFill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</a:rPr>
              <a:t>1</a:t>
            </a:r>
            <a:r>
              <a:rPr lang="zh-CN" altLang="en-US" sz="2000" b="1" dirty="0">
                <a:solidFill>
                  <a:schemeClr val="tx2"/>
                </a:solidFill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</a:rPr>
              <a:t>2},</a:t>
            </a:r>
            <a:r>
              <a:rPr lang="zh-CN" altLang="en-US" sz="2000" b="1" dirty="0">
                <a:solidFill>
                  <a:schemeClr val="tx2"/>
                </a:solidFill>
              </a:rPr>
              <a:t>由于</a:t>
            </a:r>
            <a:r>
              <a:rPr lang="en-US" altLang="zh-CN" sz="1800" b="1" dirty="0">
                <a:solidFill>
                  <a:schemeClr val="tx2"/>
                </a:solidFill>
              </a:rPr>
              <a:t>{0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1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2}a</a:t>
            </a:r>
            <a:r>
              <a:rPr lang="zh-CN" altLang="en-US" sz="1800" b="1" dirty="0">
                <a:solidFill>
                  <a:schemeClr val="tx2"/>
                </a:solidFill>
              </a:rPr>
              <a:t>＝</a:t>
            </a:r>
            <a:r>
              <a:rPr lang="en-US" altLang="zh-CN" sz="1800" b="1" dirty="0">
                <a:solidFill>
                  <a:schemeClr val="tx2"/>
                </a:solidFill>
              </a:rPr>
              <a:t>{ 1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3}</a:t>
            </a:r>
            <a:r>
              <a:rPr lang="zh-CN" altLang="en-US" sz="1800" b="1" dirty="0">
                <a:solidFill>
                  <a:schemeClr val="tx2"/>
                </a:solidFill>
              </a:rPr>
              <a:t>，它既不包含于</a:t>
            </a:r>
            <a:r>
              <a:rPr lang="en-US" altLang="zh-CN" sz="1800" b="1" dirty="0">
                <a:solidFill>
                  <a:schemeClr val="tx2"/>
                </a:solidFill>
              </a:rPr>
              <a:t>{3,4,5,6},</a:t>
            </a:r>
            <a:r>
              <a:rPr lang="zh-CN" altLang="en-US" sz="1800" b="1" dirty="0">
                <a:solidFill>
                  <a:schemeClr val="tx2"/>
                </a:solidFill>
              </a:rPr>
              <a:t>也不包含在</a:t>
            </a:r>
            <a:r>
              <a:rPr lang="en-US" altLang="zh-CN" sz="1800" b="1" dirty="0">
                <a:solidFill>
                  <a:schemeClr val="tx2"/>
                </a:solidFill>
              </a:rPr>
              <a:t>{0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1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2}</a:t>
            </a:r>
            <a:r>
              <a:rPr lang="zh-CN" altLang="en-US" sz="1800" b="1" dirty="0">
                <a:solidFill>
                  <a:schemeClr val="tx2"/>
                </a:solidFill>
              </a:rPr>
              <a:t>中，因此，它要划分，由于状态</a:t>
            </a:r>
            <a:r>
              <a:rPr lang="en-US" altLang="zh-CN" sz="1800" b="1" dirty="0">
                <a:solidFill>
                  <a:schemeClr val="tx2"/>
                </a:solidFill>
              </a:rPr>
              <a:t>1</a:t>
            </a:r>
            <a:r>
              <a:rPr lang="zh-CN" altLang="en-US" sz="1800" b="1" dirty="0">
                <a:solidFill>
                  <a:schemeClr val="tx2"/>
                </a:solidFill>
              </a:rPr>
              <a:t>经</a:t>
            </a:r>
            <a:r>
              <a:rPr lang="en-US" altLang="zh-CN" sz="1800" b="1" dirty="0">
                <a:solidFill>
                  <a:schemeClr val="tx2"/>
                </a:solidFill>
              </a:rPr>
              <a:t>a</a:t>
            </a:r>
            <a:r>
              <a:rPr lang="zh-CN" altLang="en-US" sz="1800" b="1" dirty="0">
                <a:solidFill>
                  <a:schemeClr val="tx2"/>
                </a:solidFill>
              </a:rPr>
              <a:t>弧到达状态</a:t>
            </a:r>
            <a:r>
              <a:rPr lang="en-US" altLang="zh-CN" sz="1800" b="1" dirty="0">
                <a:solidFill>
                  <a:schemeClr val="tx2"/>
                </a:solidFill>
              </a:rPr>
              <a:t>3</a:t>
            </a:r>
            <a:r>
              <a:rPr lang="zh-CN" altLang="en-US" sz="1800" b="1" dirty="0">
                <a:solidFill>
                  <a:schemeClr val="tx2"/>
                </a:solidFill>
              </a:rPr>
              <a:t>，而状态</a:t>
            </a:r>
            <a:r>
              <a:rPr lang="en-US" altLang="zh-CN" sz="1800" b="1" dirty="0">
                <a:solidFill>
                  <a:schemeClr val="tx2"/>
                </a:solidFill>
              </a:rPr>
              <a:t>0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2</a:t>
            </a:r>
            <a:r>
              <a:rPr lang="zh-CN" altLang="en-US" sz="1800" b="1" dirty="0">
                <a:solidFill>
                  <a:schemeClr val="tx2"/>
                </a:solidFill>
              </a:rPr>
              <a:t>经</a:t>
            </a:r>
            <a:r>
              <a:rPr lang="en-US" altLang="zh-CN" sz="1800" b="1" dirty="0">
                <a:solidFill>
                  <a:schemeClr val="tx2"/>
                </a:solidFill>
              </a:rPr>
              <a:t>a</a:t>
            </a:r>
            <a:r>
              <a:rPr lang="zh-CN" altLang="en-US" sz="1800" b="1" dirty="0">
                <a:solidFill>
                  <a:schemeClr val="tx2"/>
                </a:solidFill>
              </a:rPr>
              <a:t>弧到达状态</a:t>
            </a:r>
            <a:r>
              <a:rPr lang="en-US" altLang="zh-CN" sz="1800" b="1" dirty="0">
                <a:solidFill>
                  <a:schemeClr val="tx2"/>
                </a:solidFill>
              </a:rPr>
              <a:t>1</a:t>
            </a:r>
            <a:r>
              <a:rPr lang="zh-CN" altLang="en-US" sz="1800" b="1" dirty="0">
                <a:solidFill>
                  <a:schemeClr val="tx2"/>
                </a:solidFill>
              </a:rPr>
              <a:t>，因此，应该把</a:t>
            </a:r>
            <a:r>
              <a:rPr lang="en-US" altLang="zh-CN" sz="1800" b="1" dirty="0">
                <a:solidFill>
                  <a:schemeClr val="tx2"/>
                </a:solidFill>
              </a:rPr>
              <a:t>1</a:t>
            </a:r>
            <a:r>
              <a:rPr lang="zh-CN" altLang="en-US" sz="1800" b="1" dirty="0">
                <a:solidFill>
                  <a:schemeClr val="tx2"/>
                </a:solidFill>
              </a:rPr>
              <a:t>分出来，形成</a:t>
            </a:r>
            <a:r>
              <a:rPr lang="en-US" altLang="zh-CN" sz="1800" b="1" dirty="0">
                <a:solidFill>
                  <a:schemeClr val="tx2"/>
                </a:solidFill>
              </a:rPr>
              <a:t>{1}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{0,2}</a:t>
            </a:r>
            <a:r>
              <a:rPr lang="zh-CN" altLang="en-US" sz="1800" b="1" dirty="0">
                <a:solidFill>
                  <a:schemeClr val="tx2"/>
                </a:solidFill>
              </a:rPr>
              <a:t>。</a:t>
            </a:r>
            <a:endParaRPr lang="zh-CN" altLang="en-US" sz="1800" b="1" dirty="0">
              <a:solidFill>
                <a:schemeClr val="tx2"/>
              </a:solidFill>
            </a:endParaRPr>
          </a:p>
        </p:txBody>
      </p:sp>
      <p:sp>
        <p:nvSpPr>
          <p:cNvPr id="130114" name="Text Box 66"/>
          <p:cNvSpPr txBox="1"/>
          <p:nvPr/>
        </p:nvSpPr>
        <p:spPr>
          <a:xfrm>
            <a:off x="5148263" y="538163"/>
            <a:ext cx="3924300" cy="946150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</a:rPr>
              <a:t>再考察</a:t>
            </a:r>
            <a:r>
              <a:rPr lang="en-US" altLang="zh-CN" sz="2000" b="1" dirty="0">
                <a:solidFill>
                  <a:schemeClr val="tx2"/>
                </a:solidFill>
              </a:rPr>
              <a:t>{0</a:t>
            </a:r>
            <a:r>
              <a:rPr lang="zh-CN" altLang="en-US" sz="2000" b="1" dirty="0">
                <a:solidFill>
                  <a:schemeClr val="tx2"/>
                </a:solidFill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</a:rPr>
              <a:t>2},</a:t>
            </a:r>
            <a:r>
              <a:rPr lang="zh-CN" altLang="en-US" sz="2000" b="1" dirty="0">
                <a:solidFill>
                  <a:schemeClr val="tx2"/>
                </a:solidFill>
              </a:rPr>
              <a:t>由于</a:t>
            </a:r>
            <a:r>
              <a:rPr lang="en-US" altLang="zh-CN" sz="1800" b="1" dirty="0">
                <a:solidFill>
                  <a:schemeClr val="tx2"/>
                </a:solidFill>
              </a:rPr>
              <a:t>{0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2}b</a:t>
            </a:r>
            <a:r>
              <a:rPr lang="zh-CN" altLang="en-US" sz="1800" b="1" dirty="0">
                <a:solidFill>
                  <a:schemeClr val="tx2"/>
                </a:solidFill>
              </a:rPr>
              <a:t>＝</a:t>
            </a:r>
            <a:r>
              <a:rPr lang="en-US" altLang="zh-CN" sz="1800" b="1" dirty="0">
                <a:solidFill>
                  <a:schemeClr val="tx2"/>
                </a:solidFill>
              </a:rPr>
              <a:t>{ 2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5}</a:t>
            </a:r>
            <a:r>
              <a:rPr lang="zh-CN" altLang="en-US" sz="1800" b="1" dirty="0">
                <a:solidFill>
                  <a:schemeClr val="tx2"/>
                </a:solidFill>
              </a:rPr>
              <a:t>，它没有包括在上述三组中，因此，它要划分，形成</a:t>
            </a:r>
            <a:r>
              <a:rPr lang="en-US" altLang="zh-CN" sz="1800" b="1" dirty="0">
                <a:solidFill>
                  <a:schemeClr val="tx2"/>
                </a:solidFill>
              </a:rPr>
              <a:t>{0}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{2}</a:t>
            </a:r>
            <a:r>
              <a:rPr lang="zh-CN" altLang="en-US" sz="1800" b="1" dirty="0">
                <a:solidFill>
                  <a:schemeClr val="tx2"/>
                </a:solidFill>
              </a:rPr>
              <a:t>。</a:t>
            </a:r>
            <a:endParaRPr lang="zh-CN" altLang="en-US" sz="1800" b="1" dirty="0">
              <a:solidFill>
                <a:schemeClr val="tx2"/>
              </a:solidFill>
            </a:endParaRPr>
          </a:p>
        </p:txBody>
      </p:sp>
      <p:sp>
        <p:nvSpPr>
          <p:cNvPr id="130115" name="Text Box 67"/>
          <p:cNvSpPr txBox="1"/>
          <p:nvPr/>
        </p:nvSpPr>
        <p:spPr>
          <a:xfrm>
            <a:off x="395288" y="1628775"/>
            <a:ext cx="3889375" cy="396875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</a:rPr>
              <a:t>划分的组为：</a:t>
            </a:r>
            <a:r>
              <a:rPr lang="en-US" altLang="zh-CN" sz="2000" b="1" dirty="0">
                <a:solidFill>
                  <a:schemeClr val="tx2"/>
                </a:solidFill>
              </a:rPr>
              <a:t>{3,4,5,6}, {0</a:t>
            </a:r>
            <a:r>
              <a:rPr lang="zh-CN" altLang="en-US" sz="2000" b="1" dirty="0">
                <a:solidFill>
                  <a:schemeClr val="tx2"/>
                </a:solidFill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</a:rPr>
              <a:t>1</a:t>
            </a:r>
            <a:r>
              <a:rPr lang="zh-CN" altLang="en-US" sz="2000" b="1" dirty="0">
                <a:solidFill>
                  <a:schemeClr val="tx2"/>
                </a:solidFill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</a:rPr>
              <a:t>2}</a:t>
            </a:r>
            <a:endParaRPr lang="en-US" altLang="zh-CN" sz="2000" dirty="0"/>
          </a:p>
        </p:txBody>
      </p:sp>
      <p:sp>
        <p:nvSpPr>
          <p:cNvPr id="113708" name="Text Box 68"/>
          <p:cNvSpPr txBox="1"/>
          <p:nvPr/>
        </p:nvSpPr>
        <p:spPr>
          <a:xfrm>
            <a:off x="539750" y="2276475"/>
            <a:ext cx="3816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/>
          </a:p>
        </p:txBody>
      </p:sp>
      <p:sp>
        <p:nvSpPr>
          <p:cNvPr id="130117" name="Text Box 69"/>
          <p:cNvSpPr txBox="1"/>
          <p:nvPr/>
        </p:nvSpPr>
        <p:spPr>
          <a:xfrm>
            <a:off x="395288" y="1700213"/>
            <a:ext cx="3816350" cy="366712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划分的组为：</a:t>
            </a:r>
            <a:r>
              <a:rPr lang="en-US" altLang="zh-CN" sz="1800" b="1" dirty="0">
                <a:solidFill>
                  <a:schemeClr val="tx2"/>
                </a:solidFill>
              </a:rPr>
              <a:t>{3,4,5,6}, {1}, {0,2}</a:t>
            </a:r>
            <a:endParaRPr lang="en-US" altLang="zh-CN" sz="1800" b="1" dirty="0">
              <a:solidFill>
                <a:schemeClr val="tx2"/>
              </a:solidFill>
            </a:endParaRPr>
          </a:p>
        </p:txBody>
      </p:sp>
      <p:sp>
        <p:nvSpPr>
          <p:cNvPr id="130118" name="Text Box 70"/>
          <p:cNvSpPr txBox="1"/>
          <p:nvPr/>
        </p:nvSpPr>
        <p:spPr>
          <a:xfrm>
            <a:off x="395288" y="1628775"/>
            <a:ext cx="3816350" cy="366713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划分的组为：</a:t>
            </a:r>
            <a:r>
              <a:rPr lang="en-US" altLang="zh-CN" sz="1800" b="1" dirty="0">
                <a:solidFill>
                  <a:schemeClr val="tx2"/>
                </a:solidFill>
              </a:rPr>
              <a:t>{3,4,5,6}, {1}, {0},{2}</a:t>
            </a:r>
            <a:endParaRPr lang="en-US" altLang="zh-CN" sz="1800" b="1" dirty="0">
              <a:solidFill>
                <a:schemeClr val="tx2"/>
              </a:solidFill>
            </a:endParaRPr>
          </a:p>
        </p:txBody>
      </p:sp>
      <p:sp>
        <p:nvSpPr>
          <p:cNvPr id="130119" name="Text Box 71"/>
          <p:cNvSpPr txBox="1"/>
          <p:nvPr/>
        </p:nvSpPr>
        <p:spPr>
          <a:xfrm>
            <a:off x="5148263" y="404813"/>
            <a:ext cx="3673475" cy="1739900"/>
          </a:xfrm>
          <a:prstGeom prst="rect">
            <a:avLst/>
          </a:prstGeom>
          <a:solidFill>
            <a:srgbClr val="99CC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至此，整个划分有</a:t>
            </a:r>
            <a:r>
              <a:rPr lang="en-US" altLang="zh-CN" sz="1800" b="1" dirty="0">
                <a:solidFill>
                  <a:schemeClr val="tx2"/>
                </a:solidFill>
              </a:rPr>
              <a:t>4</a:t>
            </a:r>
            <a:r>
              <a:rPr lang="zh-CN" altLang="en-US" sz="1800" b="1" dirty="0">
                <a:solidFill>
                  <a:schemeClr val="tx2"/>
                </a:solidFill>
              </a:rPr>
              <a:t>组：</a:t>
            </a:r>
            <a:r>
              <a:rPr lang="zh-CN" altLang="en-US" sz="1800" dirty="0"/>
              <a:t> </a:t>
            </a:r>
            <a:r>
              <a:rPr lang="en-US" altLang="zh-CN" sz="1800" b="1" dirty="0">
                <a:solidFill>
                  <a:schemeClr val="tx2"/>
                </a:solidFill>
              </a:rPr>
              <a:t>{3,4,5,6}, {1}, {0},{2}</a:t>
            </a:r>
            <a:r>
              <a:rPr lang="zh-CN" altLang="en-US" sz="1800" b="1" dirty="0">
                <a:solidFill>
                  <a:schemeClr val="tx2"/>
                </a:solidFill>
              </a:rPr>
              <a:t>。每个组都不可再划分。最后令状态</a:t>
            </a:r>
            <a:r>
              <a:rPr lang="en-US" altLang="zh-CN" sz="1800" b="1" dirty="0">
                <a:solidFill>
                  <a:schemeClr val="tx2"/>
                </a:solidFill>
              </a:rPr>
              <a:t>3</a:t>
            </a:r>
            <a:r>
              <a:rPr lang="zh-CN" altLang="en-US" sz="1800" b="1" dirty="0">
                <a:solidFill>
                  <a:schemeClr val="hlink"/>
                </a:solidFill>
              </a:rPr>
              <a:t>代表</a:t>
            </a:r>
            <a:r>
              <a:rPr lang="en-US" altLang="zh-CN" sz="1800" b="1" dirty="0">
                <a:solidFill>
                  <a:schemeClr val="tx2"/>
                </a:solidFill>
              </a:rPr>
              <a:t>{3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4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5</a:t>
            </a:r>
            <a:r>
              <a:rPr lang="zh-CN" altLang="en-US" sz="1800" b="1" dirty="0">
                <a:solidFill>
                  <a:schemeClr val="tx2"/>
                </a:solidFill>
              </a:rPr>
              <a:t>，</a:t>
            </a:r>
            <a:r>
              <a:rPr lang="en-US" altLang="zh-CN" sz="1800" b="1" dirty="0">
                <a:solidFill>
                  <a:schemeClr val="tx2"/>
                </a:solidFill>
              </a:rPr>
              <a:t>6}</a:t>
            </a:r>
            <a:br>
              <a:rPr lang="en-US" altLang="zh-CN" sz="1800" b="1" dirty="0">
                <a:solidFill>
                  <a:schemeClr val="tx2"/>
                </a:solidFill>
              </a:rPr>
            </a:br>
            <a:r>
              <a:rPr lang="zh-CN" altLang="en-US" sz="1800" b="1" dirty="0">
                <a:solidFill>
                  <a:schemeClr val="tx2"/>
                </a:solidFill>
              </a:rPr>
              <a:t>，把原来到达</a:t>
            </a:r>
            <a:r>
              <a:rPr lang="en-US" altLang="zh-CN" sz="1800" b="1" dirty="0">
                <a:solidFill>
                  <a:schemeClr val="tx2"/>
                </a:solidFill>
              </a:rPr>
              <a:t>4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5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6</a:t>
            </a:r>
            <a:r>
              <a:rPr lang="zh-CN" altLang="en-US" sz="1800" b="1" dirty="0">
                <a:solidFill>
                  <a:schemeClr val="tx2"/>
                </a:solidFill>
              </a:rPr>
              <a:t>状态得弧都导入</a:t>
            </a:r>
            <a:r>
              <a:rPr lang="en-US" altLang="zh-CN" sz="1800" b="1" dirty="0">
                <a:solidFill>
                  <a:schemeClr val="tx2"/>
                </a:solidFill>
              </a:rPr>
              <a:t>3</a:t>
            </a:r>
            <a:r>
              <a:rPr lang="zh-CN" altLang="en-US" sz="1800" b="1" dirty="0">
                <a:solidFill>
                  <a:schemeClr val="tx2"/>
                </a:solidFill>
              </a:rPr>
              <a:t>，并删除</a:t>
            </a:r>
            <a:r>
              <a:rPr lang="en-US" altLang="zh-CN" sz="1800" b="1" dirty="0">
                <a:solidFill>
                  <a:schemeClr val="tx2"/>
                </a:solidFill>
              </a:rPr>
              <a:t>4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5</a:t>
            </a:r>
            <a:r>
              <a:rPr lang="zh-CN" altLang="en-US" sz="1800" b="1" dirty="0">
                <a:solidFill>
                  <a:schemeClr val="tx2"/>
                </a:solidFill>
              </a:rPr>
              <a:t>、</a:t>
            </a:r>
            <a:r>
              <a:rPr lang="en-US" altLang="zh-CN" sz="1800" b="1" dirty="0">
                <a:solidFill>
                  <a:schemeClr val="tx2"/>
                </a:solidFill>
              </a:rPr>
              <a:t>6</a:t>
            </a:r>
            <a:r>
              <a:rPr lang="zh-CN" altLang="en-US" sz="1800" b="1" dirty="0">
                <a:solidFill>
                  <a:schemeClr val="tx2"/>
                </a:solidFill>
              </a:rPr>
              <a:t>，这样就得到了下图</a:t>
            </a:r>
            <a:r>
              <a:rPr lang="en-US" altLang="zh-CN" sz="1800" b="1" dirty="0">
                <a:solidFill>
                  <a:schemeClr val="tx2"/>
                </a:solidFill>
              </a:rPr>
              <a:t>——</a:t>
            </a:r>
            <a:r>
              <a:rPr lang="zh-CN" altLang="en-US" sz="1800" b="1" dirty="0">
                <a:solidFill>
                  <a:schemeClr val="hlink"/>
                </a:solidFill>
              </a:rPr>
              <a:t>化简以后的</a:t>
            </a:r>
            <a:r>
              <a:rPr lang="en-US" altLang="zh-CN" sz="1800" b="1" dirty="0">
                <a:solidFill>
                  <a:schemeClr val="hlink"/>
                </a:solidFill>
              </a:rPr>
              <a:t>DFA</a:t>
            </a:r>
            <a:r>
              <a:rPr lang="zh-CN" altLang="en-US" sz="1800" b="1" dirty="0">
                <a:solidFill>
                  <a:schemeClr val="tx2"/>
                </a:solidFill>
              </a:rPr>
              <a:t>：</a:t>
            </a:r>
            <a:endParaRPr lang="zh-CN" altLang="en-US" sz="1800" b="1" dirty="0">
              <a:solidFill>
                <a:schemeClr val="tx2"/>
              </a:solidFill>
            </a:endParaRPr>
          </a:p>
        </p:txBody>
      </p:sp>
      <p:grpSp>
        <p:nvGrpSpPr>
          <p:cNvPr id="130120" name="Group 72"/>
          <p:cNvGrpSpPr/>
          <p:nvPr/>
        </p:nvGrpSpPr>
        <p:grpSpPr>
          <a:xfrm>
            <a:off x="1619250" y="3284538"/>
            <a:ext cx="4243388" cy="2784475"/>
            <a:chOff x="434" y="2109"/>
            <a:chExt cx="2673" cy="1754"/>
          </a:xfrm>
        </p:grpSpPr>
        <p:sp>
          <p:nvSpPr>
            <p:cNvPr id="113713" name="AutoShape 73"/>
            <p:cNvSpPr/>
            <p:nvPr/>
          </p:nvSpPr>
          <p:spPr>
            <a:xfrm>
              <a:off x="2384" y="2790"/>
              <a:ext cx="359" cy="348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5" y="10800"/>
                  </a:moveTo>
                  <a:cubicBezTo>
                    <a:pt x="2925" y="15149"/>
                    <a:pt x="6451" y="18675"/>
                    <a:pt x="10800" y="18675"/>
                  </a:cubicBezTo>
                  <a:cubicBezTo>
                    <a:pt x="15149" y="18675"/>
                    <a:pt x="18675" y="15149"/>
                    <a:pt x="18675" y="10800"/>
                  </a:cubicBezTo>
                  <a:cubicBezTo>
                    <a:pt x="18675" y="6451"/>
                    <a:pt x="15149" y="2925"/>
                    <a:pt x="10800" y="2925"/>
                  </a:cubicBezTo>
                  <a:cubicBezTo>
                    <a:pt x="6451" y="2925"/>
                    <a:pt x="2925" y="6451"/>
                    <a:pt x="2925" y="1080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14" name="AutoShape 74"/>
            <p:cNvSpPr/>
            <p:nvPr/>
          </p:nvSpPr>
          <p:spPr>
            <a:xfrm>
              <a:off x="434" y="2744"/>
              <a:ext cx="359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0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15" name="AutoShape 75"/>
            <p:cNvSpPr/>
            <p:nvPr/>
          </p:nvSpPr>
          <p:spPr>
            <a:xfrm>
              <a:off x="1387" y="2109"/>
              <a:ext cx="359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16" name="AutoShape 76"/>
            <p:cNvSpPr/>
            <p:nvPr/>
          </p:nvSpPr>
          <p:spPr>
            <a:xfrm>
              <a:off x="1387" y="3515"/>
              <a:ext cx="359" cy="348"/>
            </a:xfrm>
            <a:prstGeom prst="flowChartConnector">
              <a:avLst/>
            </a:prstGeom>
            <a:solidFill>
              <a:srgbClr val="FFFFFF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17" name="Arc 77"/>
            <p:cNvSpPr/>
            <p:nvPr/>
          </p:nvSpPr>
          <p:spPr>
            <a:xfrm rot="843092">
              <a:off x="1431" y="2614"/>
              <a:ext cx="576" cy="1011"/>
            </a:xfrm>
            <a:custGeom>
              <a:avLst/>
              <a:gdLst/>
              <a:ahLst/>
              <a:cxnLst>
                <a:cxn ang="0">
                  <a:pos x="360" y="0"/>
                </a:cxn>
                <a:cxn ang="0">
                  <a:pos x="440" y="1011"/>
                </a:cxn>
                <a:cxn ang="0">
                  <a:pos x="0" y="553"/>
                </a:cxn>
              </a:cxnLst>
              <a:pathLst>
                <a:path w="21600" h="30813" fill="none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</a:path>
                <a:path w="21600" h="30813" stroke="0">
                  <a:moveTo>
                    <a:pt x="13511" y="0"/>
                  </a:moveTo>
                  <a:cubicBezTo>
                    <a:pt x="18624" y="4099"/>
                    <a:pt x="21600" y="10298"/>
                    <a:pt x="21600" y="16852"/>
                  </a:cubicBezTo>
                  <a:cubicBezTo>
                    <a:pt x="21600" y="21964"/>
                    <a:pt x="19786" y="26911"/>
                    <a:pt x="16481" y="30812"/>
                  </a:cubicBezTo>
                  <a:lnTo>
                    <a:pt x="0" y="16852"/>
                  </a:lnTo>
                  <a:lnTo>
                    <a:pt x="1351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18" name="Line 78"/>
            <p:cNvSpPr/>
            <p:nvPr/>
          </p:nvSpPr>
          <p:spPr>
            <a:xfrm flipH="1" flipV="1">
              <a:off x="1703" y="2387"/>
              <a:ext cx="227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19" name="Arc 79"/>
            <p:cNvSpPr/>
            <p:nvPr/>
          </p:nvSpPr>
          <p:spPr>
            <a:xfrm flipH="1">
              <a:off x="1113" y="2387"/>
              <a:ext cx="635" cy="1089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486" y="1089"/>
                </a:cxn>
                <a:cxn ang="0">
                  <a:pos x="0" y="622"/>
                </a:cxn>
              </a:cxnLst>
              <a:pathLst>
                <a:path w="21600" h="32374" fill="none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</a:path>
                <a:path w="21600" h="32374" stroke="0">
                  <a:moveTo>
                    <a:pt x="11167" y="-1"/>
                  </a:moveTo>
                  <a:cubicBezTo>
                    <a:pt x="17642" y="3910"/>
                    <a:pt x="21600" y="10924"/>
                    <a:pt x="21600" y="18489"/>
                  </a:cubicBezTo>
                  <a:cubicBezTo>
                    <a:pt x="21600" y="23567"/>
                    <a:pt x="19810" y="28483"/>
                    <a:pt x="16545" y="32373"/>
                  </a:cubicBezTo>
                  <a:lnTo>
                    <a:pt x="0" y="18489"/>
                  </a:lnTo>
                  <a:lnTo>
                    <a:pt x="1116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20" name="Line 80"/>
            <p:cNvSpPr/>
            <p:nvPr/>
          </p:nvSpPr>
          <p:spPr>
            <a:xfrm>
              <a:off x="1249" y="3476"/>
              <a:ext cx="137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21" name="Arc 81"/>
            <p:cNvSpPr/>
            <p:nvPr/>
          </p:nvSpPr>
          <p:spPr>
            <a:xfrm>
              <a:off x="1748" y="2297"/>
              <a:ext cx="570" cy="5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0" y="305"/>
                </a:cxn>
                <a:cxn ang="0">
                  <a:pos x="0" y="544"/>
                </a:cxn>
              </a:cxnLst>
              <a:pathLst>
                <a:path w="19398" h="21600" fill="none">
                  <a:moveTo>
                    <a:pt x="-1" y="0"/>
                  </a:moveTo>
                  <a:cubicBezTo>
                    <a:pt x="8245" y="0"/>
                    <a:pt x="15771" y="4694"/>
                    <a:pt x="19398" y="12098"/>
                  </a:cubicBezTo>
                </a:path>
                <a:path w="19398" h="21600" stroke="0">
                  <a:moveTo>
                    <a:pt x="-1" y="0"/>
                  </a:moveTo>
                  <a:cubicBezTo>
                    <a:pt x="8245" y="0"/>
                    <a:pt x="15771" y="4694"/>
                    <a:pt x="19398" y="1209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22" name="Line 82"/>
            <p:cNvSpPr/>
            <p:nvPr/>
          </p:nvSpPr>
          <p:spPr>
            <a:xfrm>
              <a:off x="2338" y="2614"/>
              <a:ext cx="136" cy="22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23" name="Arc 83"/>
            <p:cNvSpPr/>
            <p:nvPr/>
          </p:nvSpPr>
          <p:spPr>
            <a:xfrm flipH="1">
              <a:off x="614" y="2342"/>
              <a:ext cx="680" cy="408"/>
            </a:xfrm>
            <a:custGeom>
              <a:avLst/>
              <a:gdLst/>
              <a:ahLst/>
              <a:cxnLst>
                <a:cxn ang="0">
                  <a:pos x="225" y="0"/>
                </a:cxn>
                <a:cxn ang="0">
                  <a:pos x="680" y="408"/>
                </a:cxn>
                <a:cxn ang="0">
                  <a:pos x="0" y="408"/>
                </a:cxn>
              </a:cxnLst>
              <a:pathLst>
                <a:path w="21600" h="20378" fill="none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</a:path>
                <a:path w="21600" h="20378" stroke="0">
                  <a:moveTo>
                    <a:pt x="7161" y="-1"/>
                  </a:moveTo>
                  <a:cubicBezTo>
                    <a:pt x="15811" y="3039"/>
                    <a:pt x="21600" y="11209"/>
                    <a:pt x="21600" y="20378"/>
                  </a:cubicBezTo>
                  <a:lnTo>
                    <a:pt x="0" y="20378"/>
                  </a:lnTo>
                  <a:lnTo>
                    <a:pt x="7161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24" name="Line 84"/>
            <p:cNvSpPr/>
            <p:nvPr/>
          </p:nvSpPr>
          <p:spPr>
            <a:xfrm flipV="1">
              <a:off x="1068" y="2297"/>
              <a:ext cx="318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25" name="Arc 85"/>
            <p:cNvSpPr/>
            <p:nvPr/>
          </p:nvSpPr>
          <p:spPr>
            <a:xfrm rot="10800000">
              <a:off x="615" y="3068"/>
              <a:ext cx="772" cy="553"/>
            </a:xfrm>
            <a:custGeom>
              <a:avLst/>
              <a:gdLst/>
              <a:ahLst/>
              <a:cxnLst>
                <a:cxn ang="0">
                  <a:pos x="269" y="0"/>
                </a:cxn>
                <a:cxn ang="0">
                  <a:pos x="772" y="553"/>
                </a:cxn>
                <a:cxn ang="0">
                  <a:pos x="0" y="553"/>
                </a:cxn>
              </a:cxnLst>
              <a:pathLst>
                <a:path w="21600" h="20245" fill="none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</a:path>
                <a:path w="21600" h="20245" stroke="0">
                  <a:moveTo>
                    <a:pt x="7529" y="0"/>
                  </a:moveTo>
                  <a:cubicBezTo>
                    <a:pt x="15988" y="3146"/>
                    <a:pt x="21600" y="11219"/>
                    <a:pt x="21600" y="20245"/>
                  </a:cubicBezTo>
                  <a:lnTo>
                    <a:pt x="0" y="20245"/>
                  </a:lnTo>
                  <a:lnTo>
                    <a:pt x="7529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26" name="Line 86"/>
            <p:cNvSpPr/>
            <p:nvPr/>
          </p:nvSpPr>
          <p:spPr>
            <a:xfrm>
              <a:off x="1113" y="3612"/>
              <a:ext cx="273" cy="4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27" name="Arc 87"/>
            <p:cNvSpPr/>
            <p:nvPr/>
          </p:nvSpPr>
          <p:spPr>
            <a:xfrm rot="5400000">
              <a:off x="1731" y="2972"/>
              <a:ext cx="680" cy="669"/>
            </a:xfrm>
            <a:custGeom>
              <a:avLst/>
              <a:gdLst/>
              <a:ahLst/>
              <a:cxnLst>
                <a:cxn ang="0">
                  <a:pos x="337" y="0"/>
                </a:cxn>
                <a:cxn ang="0">
                  <a:pos x="680" y="669"/>
                </a:cxn>
                <a:cxn ang="0">
                  <a:pos x="0" y="669"/>
                </a:cxn>
              </a:cxnLst>
              <a:pathLst>
                <a:path w="21600" h="18753" fill="none">
                  <a:moveTo>
                    <a:pt x="10718" y="0"/>
                  </a:moveTo>
                  <a:cubicBezTo>
                    <a:pt x="17447" y="3846"/>
                    <a:pt x="21600" y="11002"/>
                    <a:pt x="21600" y="18753"/>
                  </a:cubicBezTo>
                </a:path>
                <a:path w="21600" h="18753" stroke="0">
                  <a:moveTo>
                    <a:pt x="10718" y="0"/>
                  </a:moveTo>
                  <a:cubicBezTo>
                    <a:pt x="17447" y="3846"/>
                    <a:pt x="21600" y="11002"/>
                    <a:pt x="21600" y="18753"/>
                  </a:cubicBezTo>
                  <a:lnTo>
                    <a:pt x="0" y="18753"/>
                  </a:lnTo>
                  <a:lnTo>
                    <a:pt x="1071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28" name="Line 88"/>
            <p:cNvSpPr/>
            <p:nvPr/>
          </p:nvSpPr>
          <p:spPr>
            <a:xfrm flipV="1">
              <a:off x="2429" y="3113"/>
              <a:ext cx="90" cy="18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29" name="Text Box 89"/>
            <p:cNvSpPr txBox="1"/>
            <p:nvPr/>
          </p:nvSpPr>
          <p:spPr>
            <a:xfrm>
              <a:off x="1975" y="2841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30" name="Text Box 90"/>
            <p:cNvSpPr txBox="1"/>
            <p:nvPr/>
          </p:nvSpPr>
          <p:spPr>
            <a:xfrm>
              <a:off x="705" y="2183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31" name="Text Box 91"/>
            <p:cNvSpPr txBox="1"/>
            <p:nvPr/>
          </p:nvSpPr>
          <p:spPr>
            <a:xfrm>
              <a:off x="2247" y="2342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32" name="Text Box 92"/>
            <p:cNvSpPr txBox="1"/>
            <p:nvPr/>
          </p:nvSpPr>
          <p:spPr>
            <a:xfrm>
              <a:off x="705" y="3431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33" name="Text Box 93"/>
            <p:cNvSpPr txBox="1"/>
            <p:nvPr/>
          </p:nvSpPr>
          <p:spPr>
            <a:xfrm>
              <a:off x="2202" y="3431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34" name="Text Box 94"/>
            <p:cNvSpPr txBox="1"/>
            <p:nvPr/>
          </p:nvSpPr>
          <p:spPr>
            <a:xfrm>
              <a:off x="932" y="2796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3735" name="Arc 95"/>
            <p:cNvSpPr/>
            <p:nvPr/>
          </p:nvSpPr>
          <p:spPr>
            <a:xfrm rot="-10671687" flipH="1">
              <a:off x="2744" y="2840"/>
              <a:ext cx="172" cy="226"/>
            </a:xfrm>
            <a:custGeom>
              <a:avLst/>
              <a:gdLst/>
              <a:ahLst/>
              <a:cxnLst>
                <a:cxn ang="0">
                  <a:pos x="62" y="4"/>
                </a:cxn>
                <a:cxn ang="0">
                  <a:pos x="0" y="148"/>
                </a:cxn>
                <a:cxn ang="0">
                  <a:pos x="84" y="113"/>
                </a:cxn>
              </a:cxnLst>
              <a:pathLst>
                <a:path w="42110" h="43200" fill="none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</a:path>
                <a:path w="42110" h="43200" stroke="0">
                  <a:moveTo>
                    <a:pt x="15140" y="677"/>
                  </a:moveTo>
                  <a:cubicBezTo>
                    <a:pt x="16895" y="227"/>
                    <a:pt x="18698" y="-1"/>
                    <a:pt x="20510" y="0"/>
                  </a:cubicBezTo>
                  <a:cubicBezTo>
                    <a:pt x="32439" y="0"/>
                    <a:pt x="42110" y="9670"/>
                    <a:pt x="42110" y="21600"/>
                  </a:cubicBezTo>
                  <a:cubicBezTo>
                    <a:pt x="42110" y="33529"/>
                    <a:pt x="32439" y="43200"/>
                    <a:pt x="20510" y="43200"/>
                  </a:cubicBezTo>
                  <a:cubicBezTo>
                    <a:pt x="11191" y="43200"/>
                    <a:pt x="2922" y="37223"/>
                    <a:pt x="0" y="28374"/>
                  </a:cubicBezTo>
                  <a:lnTo>
                    <a:pt x="20510" y="21600"/>
                  </a:lnTo>
                  <a:lnTo>
                    <a:pt x="15140" y="677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736" name="Line 96"/>
            <p:cNvSpPr/>
            <p:nvPr/>
          </p:nvSpPr>
          <p:spPr>
            <a:xfrm rot="-5400000" flipV="1">
              <a:off x="2739" y="3001"/>
              <a:ext cx="39" cy="7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3737" name="Text Box 97"/>
            <p:cNvSpPr txBox="1"/>
            <p:nvPr/>
          </p:nvSpPr>
          <p:spPr>
            <a:xfrm>
              <a:off x="2880" y="2795"/>
              <a:ext cx="227" cy="268"/>
            </a:xfrm>
            <a:prstGeom prst="rect">
              <a:avLst/>
            </a:prstGeom>
            <a:noFill/>
            <a:ln w="28575" cap="flat" cmpd="sng">
              <a:solidFill>
                <a:srgbClr val="007A77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3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1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1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1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13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1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13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13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13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3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13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1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2000"/>
                                        <p:tgtEl>
                                          <p:spTgt spid="130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13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2000"/>
                                        <p:tgtEl>
                                          <p:spTgt spid="130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13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0"/>
                            </p:stCondLst>
                            <p:childTnLst>
                              <p:par>
                                <p:cTn id="1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30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60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1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30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13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000"/>
                            </p:stCondLst>
                            <p:childTnLst>
                              <p:par>
                                <p:cTn id="1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2000"/>
                                        <p:tgtEl>
                                          <p:spTgt spid="130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0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000"/>
                                        <p:tgtEl>
                                          <p:spTgt spid="13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2000"/>
                                        <p:tgtEl>
                                          <p:spTgt spid="130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0"/>
                                        <p:tgtEl>
                                          <p:spTgt spid="1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4000"/>
                            </p:stCondLst>
                            <p:childTnLst>
                              <p:par>
                                <p:cTn id="17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2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20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20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20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20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20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20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2000"/>
                                        <p:tgtEl>
                                          <p:spTgt spid="130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2000"/>
                                        <p:tgtEl>
                                          <p:spTgt spid="1300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20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20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2000"/>
                                        <p:tgtEl>
                                          <p:spTgt spid="1300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20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2000"/>
                                        <p:tgtEl>
                                          <p:spTgt spid="130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2000"/>
                                        <p:tgtEl>
                                          <p:spTgt spid="130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2000"/>
                                        <p:tgtEl>
                                          <p:spTgt spid="130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2000"/>
                                        <p:tgtEl>
                                          <p:spTgt spid="1300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2000"/>
                                        <p:tgtEl>
                                          <p:spTgt spid="130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2000"/>
                                        <p:tgtEl>
                                          <p:spTgt spid="1300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20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2000"/>
                                        <p:tgtEl>
                                          <p:spTgt spid="130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20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2000"/>
                                        <p:tgtEl>
                                          <p:spTgt spid="130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2000"/>
                                        <p:tgtEl>
                                          <p:spTgt spid="130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2000"/>
                                        <p:tgtEl>
                                          <p:spTgt spid="130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2000"/>
                                        <p:tgtEl>
                                          <p:spTgt spid="130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2000"/>
                                        <p:tgtEl>
                                          <p:spTgt spid="130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60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000"/>
                                        <p:tgtEl>
                                          <p:spTgt spid="13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nimBg="1"/>
      <p:bldP spid="130050" grpId="1" animBg="1"/>
      <p:bldP spid="130051" grpId="0" animBg="1"/>
      <p:bldP spid="130051" grpId="1" animBg="1"/>
      <p:bldP spid="130052" grpId="0" animBg="1"/>
      <p:bldP spid="130052" grpId="1" animBg="1"/>
      <p:bldP spid="130053" grpId="0" animBg="1"/>
      <p:bldP spid="130053" grpId="1" animBg="1"/>
      <p:bldP spid="130072" grpId="0"/>
      <p:bldP spid="130072" grpId="1"/>
      <p:bldP spid="130073" grpId="0"/>
      <p:bldP spid="130073" grpId="1"/>
      <p:bldP spid="130074" grpId="0"/>
      <p:bldP spid="130074" grpId="1"/>
      <p:bldP spid="130075" grpId="0"/>
      <p:bldP spid="130075" grpId="1"/>
      <p:bldP spid="130076" grpId="0"/>
      <p:bldP spid="130076" grpId="1"/>
      <p:bldP spid="130077" grpId="0"/>
      <p:bldP spid="130077" grpId="1"/>
      <p:bldP spid="130078" grpId="0"/>
      <p:bldP spid="130078" grpId="1"/>
      <p:bldP spid="130083" grpId="0" animBg="1"/>
      <p:bldP spid="130083" grpId="1" animBg="1"/>
      <p:bldP spid="130085" grpId="0" animBg="1"/>
      <p:bldP spid="130085" grpId="1" animBg="1"/>
      <p:bldP spid="130086" grpId="0" animBg="1"/>
      <p:bldP spid="130086" grpId="1" animBg="1"/>
      <p:bldP spid="130089" grpId="0"/>
      <p:bldP spid="130089" grpId="1"/>
      <p:bldP spid="130090" grpId="0"/>
      <p:bldP spid="130090" grpId="1"/>
      <p:bldP spid="130091" grpId="0"/>
      <p:bldP spid="130091" grpId="1"/>
      <p:bldP spid="130098" grpId="0"/>
      <p:bldP spid="130098" grpId="1"/>
      <p:bldP spid="130099" grpId="0"/>
      <p:bldP spid="130099" grpId="1"/>
      <p:bldP spid="130103" grpId="0"/>
      <p:bldP spid="130103" grpId="1"/>
      <p:bldP spid="130104" grpId="0"/>
      <p:bldP spid="130104" grpId="1"/>
      <p:bldP spid="130111" grpId="0" animBg="1"/>
      <p:bldP spid="130111" grpId="1" animBg="1"/>
      <p:bldP spid="130112" grpId="0" animBg="1"/>
      <p:bldP spid="130112" grpId="1" animBg="1"/>
      <p:bldP spid="130113" grpId="0" animBg="1"/>
      <p:bldP spid="130113" grpId="1" animBg="1"/>
      <p:bldP spid="130114" grpId="0" animBg="1"/>
      <p:bldP spid="130114" grpId="1" animBg="1"/>
      <p:bldP spid="130115" grpId="0" animBg="1"/>
      <p:bldP spid="130115" grpId="1" animBg="1"/>
      <p:bldP spid="130117" grpId="0" animBg="1"/>
      <p:bldP spid="130118" grpId="0" animBg="1"/>
      <p:bldP spid="130118" grpId="1" animBg="1"/>
      <p:bldP spid="1301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WordArt 2"/>
          <p:cNvSpPr>
            <a:spLocks noTextEdit="1"/>
          </p:cNvSpPr>
          <p:nvPr/>
        </p:nvSpPr>
        <p:spPr>
          <a:xfrm>
            <a:off x="611188" y="1027113"/>
            <a:ext cx="772477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宋体" charset="0"/>
                <a:ea typeface="宋体" charset="0"/>
              </a:rPr>
              <a:t>正规式与有限自动机的等价性</a:t>
            </a:r>
            <a:endParaRPr lang="zh-CN" altLang="en-US" sz="3600" b="1"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  <a:solidFill>
                <a:srgbClr val="FFFFFF"/>
              </a:solidFill>
              <a:latin typeface="宋体" charset="0"/>
              <a:ea typeface="宋体" charset="0"/>
            </a:endParaRPr>
          </a:p>
        </p:txBody>
      </p:sp>
      <p:grpSp>
        <p:nvGrpSpPr>
          <p:cNvPr id="119811" name="Group 3"/>
          <p:cNvGrpSpPr/>
          <p:nvPr/>
        </p:nvGrpSpPr>
        <p:grpSpPr>
          <a:xfrm>
            <a:off x="684213" y="2062163"/>
            <a:ext cx="7632700" cy="3887787"/>
            <a:chOff x="249" y="1162"/>
            <a:chExt cx="5353" cy="2903"/>
          </a:xfrm>
        </p:grpSpPr>
        <p:grpSp>
          <p:nvGrpSpPr>
            <p:cNvPr id="114692" name="Group 4"/>
            <p:cNvGrpSpPr/>
            <p:nvPr/>
          </p:nvGrpSpPr>
          <p:grpSpPr>
            <a:xfrm>
              <a:off x="249" y="1162"/>
              <a:ext cx="5353" cy="2903"/>
              <a:chOff x="720" y="480"/>
              <a:chExt cx="4224" cy="1390"/>
            </a:xfrm>
          </p:grpSpPr>
          <p:graphicFrame>
            <p:nvGraphicFramePr>
              <p:cNvPr id="114694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2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4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4695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4693" name="Text Box 7"/>
            <p:cNvSpPr txBox="1"/>
            <p:nvPr/>
          </p:nvSpPr>
          <p:spPr>
            <a:xfrm>
              <a:off x="340" y="1365"/>
              <a:ext cx="5168" cy="2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457200" indent="-45720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关于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正规式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和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有限自动机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的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等价性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，有以下结论：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  <a:p>
              <a:pPr marL="457200" indent="-457200" eaLnBrk="1" hangingPunct="1">
                <a:lnSpc>
                  <a:spcPct val="15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、对于任何有限自动机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，都存在一个正规式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r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，使得</a:t>
              </a:r>
              <a:r>
                <a:rPr lang="en-US" altLang="zh-CN" sz="2400" b="1" dirty="0">
                  <a:solidFill>
                    <a:schemeClr val="hlink"/>
                  </a:solidFill>
                  <a:latin typeface="宋体" pitchFamily="2" charset="-122"/>
                </a:rPr>
                <a:t>L(r) = L(G)</a:t>
              </a: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。</a:t>
              </a:r>
              <a:endParaRPr lang="zh-CN" altLang="en-US" sz="2400" b="1" dirty="0">
                <a:solidFill>
                  <a:schemeClr val="hlink"/>
                </a:solidFill>
                <a:latin typeface="宋体" pitchFamily="2" charset="-122"/>
              </a:endParaRPr>
            </a:p>
            <a:p>
              <a:pPr marL="457200" indent="-457200" eaLnBrk="1" hangingPunct="1">
                <a:lnSpc>
                  <a:spcPct val="15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、对于任何</a:t>
              </a:r>
              <a:r>
                <a:rPr lang="zh-CN" altLang="en-US" sz="24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正规式</a:t>
              </a:r>
              <a:r>
                <a:rPr lang="en-US" altLang="zh-CN" sz="24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r,</a:t>
              </a:r>
              <a:r>
                <a:rPr lang="zh-CN" altLang="en-US" sz="24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都存在一个有限自动机</a:t>
              </a:r>
              <a:r>
                <a:rPr lang="en-US" altLang="zh-CN" sz="24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M,</a:t>
              </a:r>
              <a:r>
                <a:rPr lang="zh-CN" altLang="en-US" sz="2400" b="1" dirty="0">
                  <a:solidFill>
                    <a:schemeClr val="tx2"/>
                  </a:solidFill>
                  <a:latin typeface="Arial" panose="020B0604020202090204" pitchFamily="34" charset="0"/>
                </a:rPr>
                <a:t>使得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90204" pitchFamily="34" charset="0"/>
                </a:rPr>
                <a:t>L(M) = L(r)</a:t>
              </a:r>
              <a:r>
                <a:rPr lang="zh-CN" altLang="en-US" sz="2400" b="1" dirty="0">
                  <a:solidFill>
                    <a:schemeClr val="hlink"/>
                  </a:solidFill>
                  <a:latin typeface="Arial" panose="020B0604020202090204" pitchFamily="34" charset="0"/>
                </a:rPr>
                <a:t>。</a:t>
              </a:r>
              <a:endParaRPr lang="zh-CN" altLang="en-US" sz="2400" b="1" dirty="0">
                <a:solidFill>
                  <a:schemeClr val="hlink"/>
                </a:solidFill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1859" name="Group 3"/>
          <p:cNvGrpSpPr/>
          <p:nvPr/>
        </p:nvGrpSpPr>
        <p:grpSpPr>
          <a:xfrm>
            <a:off x="755650" y="692150"/>
            <a:ext cx="7704138" cy="1008063"/>
            <a:chOff x="249" y="1162"/>
            <a:chExt cx="5353" cy="2903"/>
          </a:xfrm>
        </p:grpSpPr>
        <p:grpSp>
          <p:nvGrpSpPr>
            <p:cNvPr id="115759" name="Group 4"/>
            <p:cNvGrpSpPr/>
            <p:nvPr/>
          </p:nvGrpSpPr>
          <p:grpSpPr>
            <a:xfrm>
              <a:off x="249" y="1162"/>
              <a:ext cx="5353" cy="2903"/>
              <a:chOff x="720" y="480"/>
              <a:chExt cx="4224" cy="1390"/>
            </a:xfrm>
          </p:grpSpPr>
          <p:graphicFrame>
            <p:nvGraphicFramePr>
              <p:cNvPr id="115761" name="Object 5"/>
              <p:cNvGraphicFramePr>
                <a:graphicFrameLocks noChangeAspect="1"/>
              </p:cNvGraphicFramePr>
              <p:nvPr/>
            </p:nvGraphicFramePr>
            <p:xfrm>
              <a:off x="720" y="480"/>
              <a:ext cx="4224" cy="1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4" name="" r:id="rId1" imgW="7581900" imgH="2768600" progId="Photoshop.Image.7">
                      <p:embed/>
                    </p:oleObj>
                  </mc:Choice>
                  <mc:Fallback>
                    <p:oleObj name="" r:id="rId1" imgW="7581900" imgH="2768600" progId="Photoshop.Image.7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480"/>
                            <a:ext cx="4224" cy="13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5762" name="Object 6"/>
              <p:cNvGraphicFramePr>
                <a:graphicFrameLocks noChangeAspect="1"/>
              </p:cNvGraphicFramePr>
              <p:nvPr/>
            </p:nvGraphicFramePr>
            <p:xfrm>
              <a:off x="2873" y="1028"/>
              <a:ext cx="1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5" name="" r:id="rId3" imgW="114300" imgH="215900" progId="Equation.3">
                      <p:embed/>
                    </p:oleObj>
                  </mc:Choice>
                  <mc:Fallback>
                    <p:oleObj name="" r:id="rId3" imgW="114300" imgH="2159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873" y="1028"/>
                            <a:ext cx="15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5760" name="Text Box 7"/>
            <p:cNvSpPr txBox="1"/>
            <p:nvPr/>
          </p:nvSpPr>
          <p:spPr>
            <a:xfrm>
              <a:off x="341" y="1368"/>
              <a:ext cx="5170" cy="2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1517650" indent="-151765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宋体" pitchFamily="2" charset="-122"/>
                </a:rPr>
                <a:t>替换规则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：用于证明结论：对于任何有限自动机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M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，都存在一个正规式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r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，使得</a:t>
              </a:r>
              <a:r>
                <a:rPr lang="en-US" altLang="zh-CN" sz="2400" b="1" dirty="0">
                  <a:solidFill>
                    <a:schemeClr val="tx2"/>
                  </a:solidFill>
                  <a:latin typeface="宋体" pitchFamily="2" charset="-122"/>
                </a:rPr>
                <a:t>L(r) = L(G</a:t>
              </a:r>
              <a:r>
                <a:rPr lang="zh-CN" altLang="en-US" sz="2400" b="1" dirty="0">
                  <a:solidFill>
                    <a:schemeClr val="tx2"/>
                  </a:solidFill>
                  <a:latin typeface="宋体" pitchFamily="2" charset="-122"/>
                </a:rPr>
                <a:t>）。</a:t>
              </a: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121912" name="Group 56"/>
          <p:cNvGrpSpPr/>
          <p:nvPr/>
        </p:nvGrpSpPr>
        <p:grpSpPr>
          <a:xfrm>
            <a:off x="684213" y="2095500"/>
            <a:ext cx="7488237" cy="685800"/>
            <a:chOff x="431" y="1320"/>
            <a:chExt cx="4717" cy="432"/>
          </a:xfrm>
        </p:grpSpPr>
        <p:sp>
          <p:nvSpPr>
            <p:cNvPr id="115747" name="AutoShape 22"/>
            <p:cNvSpPr/>
            <p:nvPr/>
          </p:nvSpPr>
          <p:spPr>
            <a:xfrm>
              <a:off x="2018" y="1389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48" name="AutoShape 23"/>
            <p:cNvSpPr/>
            <p:nvPr/>
          </p:nvSpPr>
          <p:spPr>
            <a:xfrm>
              <a:off x="1247" y="1389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49" name="AutoShape 24"/>
            <p:cNvSpPr/>
            <p:nvPr/>
          </p:nvSpPr>
          <p:spPr>
            <a:xfrm>
              <a:off x="431" y="1404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50" name="Line 25"/>
            <p:cNvSpPr/>
            <p:nvPr/>
          </p:nvSpPr>
          <p:spPr>
            <a:xfrm>
              <a:off x="793" y="1570"/>
              <a:ext cx="454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51" name="Line 26"/>
            <p:cNvSpPr/>
            <p:nvPr/>
          </p:nvSpPr>
          <p:spPr>
            <a:xfrm>
              <a:off x="1610" y="1570"/>
              <a:ext cx="408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52" name="Text Box 27"/>
            <p:cNvSpPr txBox="1"/>
            <p:nvPr/>
          </p:nvSpPr>
          <p:spPr>
            <a:xfrm>
              <a:off x="839" y="1320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1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53" name="Text Box 28"/>
            <p:cNvSpPr txBox="1"/>
            <p:nvPr/>
          </p:nvSpPr>
          <p:spPr>
            <a:xfrm>
              <a:off x="1701" y="1320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2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54" name="AutoShape 29"/>
            <p:cNvSpPr/>
            <p:nvPr/>
          </p:nvSpPr>
          <p:spPr>
            <a:xfrm>
              <a:off x="4789" y="1367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55" name="AutoShape 30"/>
            <p:cNvSpPr/>
            <p:nvPr/>
          </p:nvSpPr>
          <p:spPr>
            <a:xfrm>
              <a:off x="3697" y="1382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56" name="Text Box 32"/>
            <p:cNvSpPr txBox="1"/>
            <p:nvPr/>
          </p:nvSpPr>
          <p:spPr>
            <a:xfrm>
              <a:off x="4196" y="1320"/>
              <a:ext cx="6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1 </a:t>
              </a:r>
              <a:r>
                <a:rPr lang="en-US" altLang="zh-CN" sz="18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1800" b="1" baseline="-25000" dirty="0">
                  <a:solidFill>
                    <a:schemeClr val="tx2"/>
                  </a:solidFill>
                </a:rPr>
                <a:t>2</a:t>
              </a:r>
              <a:endParaRPr lang="en-US" altLang="zh-CN" sz="18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57" name="Line 33"/>
            <p:cNvSpPr/>
            <p:nvPr/>
          </p:nvSpPr>
          <p:spPr>
            <a:xfrm>
              <a:off x="4059" y="1570"/>
              <a:ext cx="726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58" name="Text Box 34"/>
            <p:cNvSpPr txBox="1"/>
            <p:nvPr/>
          </p:nvSpPr>
          <p:spPr>
            <a:xfrm>
              <a:off x="2472" y="1434"/>
              <a:ext cx="11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代之以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21913" name="Group 57"/>
          <p:cNvGrpSpPr/>
          <p:nvPr/>
        </p:nvGrpSpPr>
        <p:grpSpPr>
          <a:xfrm>
            <a:off x="1116013" y="3486150"/>
            <a:ext cx="7127875" cy="901700"/>
            <a:chOff x="703" y="2205"/>
            <a:chExt cx="4490" cy="568"/>
          </a:xfrm>
        </p:grpSpPr>
        <p:sp>
          <p:nvSpPr>
            <p:cNvPr id="115734" name="AutoShape 9"/>
            <p:cNvSpPr/>
            <p:nvPr/>
          </p:nvSpPr>
          <p:spPr>
            <a:xfrm>
              <a:off x="1742" y="2325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35" name="Arc 10"/>
            <p:cNvSpPr/>
            <p:nvPr/>
          </p:nvSpPr>
          <p:spPr>
            <a:xfrm>
              <a:off x="1016" y="2240"/>
              <a:ext cx="671" cy="419"/>
            </a:xfrm>
            <a:custGeom>
              <a:avLst/>
              <a:gdLst/>
              <a:ahLst/>
              <a:cxnLst>
                <a:cxn ang="0">
                  <a:pos x="0" y="110"/>
                </a:cxn>
                <a:cxn ang="0">
                  <a:pos x="671" y="39"/>
                </a:cxn>
                <a:cxn ang="0">
                  <a:pos x="412" y="419"/>
                </a:cxn>
              </a:cxnLst>
              <a:pathLst>
                <a:path w="23706" h="21600" fill="none">
                  <a:moveTo>
                    <a:pt x="0" y="5650"/>
                  </a:moveTo>
                  <a:cubicBezTo>
                    <a:pt x="3980" y="2015"/>
                    <a:pt x="9175" y="-1"/>
                    <a:pt x="14566" y="0"/>
                  </a:cubicBezTo>
                  <a:cubicBezTo>
                    <a:pt x="17724" y="0"/>
                    <a:pt x="20844" y="692"/>
                    <a:pt x="23705" y="2029"/>
                  </a:cubicBezTo>
                </a:path>
                <a:path w="23706" h="21600" stroke="0">
                  <a:moveTo>
                    <a:pt x="0" y="5650"/>
                  </a:moveTo>
                  <a:cubicBezTo>
                    <a:pt x="3980" y="2015"/>
                    <a:pt x="9175" y="-1"/>
                    <a:pt x="14566" y="0"/>
                  </a:cubicBezTo>
                  <a:cubicBezTo>
                    <a:pt x="17724" y="0"/>
                    <a:pt x="20844" y="692"/>
                    <a:pt x="23705" y="2029"/>
                  </a:cubicBezTo>
                  <a:lnTo>
                    <a:pt x="14566" y="21600"/>
                  </a:lnTo>
                  <a:lnTo>
                    <a:pt x="0" y="565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5736" name="Arc 11"/>
            <p:cNvSpPr/>
            <p:nvPr/>
          </p:nvSpPr>
          <p:spPr>
            <a:xfrm rot="10800000">
              <a:off x="1152" y="2331"/>
              <a:ext cx="671" cy="419"/>
            </a:xfrm>
            <a:custGeom>
              <a:avLst/>
              <a:gdLst/>
              <a:ahLst/>
              <a:cxnLst>
                <a:cxn ang="0">
                  <a:pos x="0" y="110"/>
                </a:cxn>
                <a:cxn ang="0">
                  <a:pos x="671" y="39"/>
                </a:cxn>
                <a:cxn ang="0">
                  <a:pos x="412" y="419"/>
                </a:cxn>
              </a:cxnLst>
              <a:pathLst>
                <a:path w="23706" h="21600" fill="none">
                  <a:moveTo>
                    <a:pt x="0" y="5650"/>
                  </a:moveTo>
                  <a:cubicBezTo>
                    <a:pt x="3980" y="2015"/>
                    <a:pt x="9175" y="-1"/>
                    <a:pt x="14566" y="0"/>
                  </a:cubicBezTo>
                  <a:cubicBezTo>
                    <a:pt x="17724" y="0"/>
                    <a:pt x="20844" y="692"/>
                    <a:pt x="23705" y="2029"/>
                  </a:cubicBezTo>
                </a:path>
                <a:path w="23706" h="21600" stroke="0">
                  <a:moveTo>
                    <a:pt x="0" y="5650"/>
                  </a:moveTo>
                  <a:cubicBezTo>
                    <a:pt x="3980" y="2015"/>
                    <a:pt x="9175" y="-1"/>
                    <a:pt x="14566" y="0"/>
                  </a:cubicBezTo>
                  <a:cubicBezTo>
                    <a:pt x="17724" y="0"/>
                    <a:pt x="20844" y="692"/>
                    <a:pt x="23705" y="2029"/>
                  </a:cubicBezTo>
                  <a:lnTo>
                    <a:pt x="14566" y="21600"/>
                  </a:lnTo>
                  <a:lnTo>
                    <a:pt x="0" y="565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5737" name="Line 12"/>
            <p:cNvSpPr/>
            <p:nvPr/>
          </p:nvSpPr>
          <p:spPr>
            <a:xfrm>
              <a:off x="1696" y="2286"/>
              <a:ext cx="136" cy="9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38" name="Line 13"/>
            <p:cNvSpPr/>
            <p:nvPr/>
          </p:nvSpPr>
          <p:spPr>
            <a:xfrm flipH="1" flipV="1">
              <a:off x="1061" y="2648"/>
              <a:ext cx="91" cy="4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39" name="AutoShape 35"/>
            <p:cNvSpPr/>
            <p:nvPr/>
          </p:nvSpPr>
          <p:spPr>
            <a:xfrm>
              <a:off x="703" y="2340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40" name="Text Box 36"/>
            <p:cNvSpPr txBox="1"/>
            <p:nvPr/>
          </p:nvSpPr>
          <p:spPr>
            <a:xfrm>
              <a:off x="1338" y="2205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1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41" name="Text Box 37"/>
            <p:cNvSpPr txBox="1"/>
            <p:nvPr/>
          </p:nvSpPr>
          <p:spPr>
            <a:xfrm>
              <a:off x="1338" y="2523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2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42" name="AutoShape 38"/>
            <p:cNvSpPr/>
            <p:nvPr/>
          </p:nvSpPr>
          <p:spPr>
            <a:xfrm>
              <a:off x="4834" y="2341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43" name="AutoShape 39"/>
            <p:cNvSpPr/>
            <p:nvPr/>
          </p:nvSpPr>
          <p:spPr>
            <a:xfrm>
              <a:off x="3742" y="2356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44" name="Text Box 40"/>
            <p:cNvSpPr txBox="1"/>
            <p:nvPr/>
          </p:nvSpPr>
          <p:spPr>
            <a:xfrm>
              <a:off x="4241" y="2294"/>
              <a:ext cx="6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1 </a:t>
              </a:r>
              <a:r>
                <a:rPr lang="en-US" altLang="zh-CN" sz="2000" b="1" dirty="0">
                  <a:solidFill>
                    <a:schemeClr val="tx2"/>
                  </a:solidFill>
                </a:rPr>
                <a:t>| </a:t>
              </a:r>
              <a:r>
                <a:rPr lang="en-US" altLang="zh-CN" sz="18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1800" b="1" baseline="-25000" dirty="0">
                  <a:solidFill>
                    <a:schemeClr val="tx2"/>
                  </a:solidFill>
                </a:rPr>
                <a:t>2</a:t>
              </a:r>
              <a:endParaRPr lang="en-US" altLang="zh-CN" sz="18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45" name="Line 41"/>
            <p:cNvSpPr/>
            <p:nvPr/>
          </p:nvSpPr>
          <p:spPr>
            <a:xfrm>
              <a:off x="4104" y="2544"/>
              <a:ext cx="726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46" name="Text Box 42"/>
            <p:cNvSpPr txBox="1"/>
            <p:nvPr/>
          </p:nvSpPr>
          <p:spPr>
            <a:xfrm>
              <a:off x="2517" y="2408"/>
              <a:ext cx="11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代之以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21914" name="Group 58"/>
          <p:cNvGrpSpPr/>
          <p:nvPr/>
        </p:nvGrpSpPr>
        <p:grpSpPr>
          <a:xfrm>
            <a:off x="757238" y="4787900"/>
            <a:ext cx="7559675" cy="1152525"/>
            <a:chOff x="476" y="3022"/>
            <a:chExt cx="4762" cy="726"/>
          </a:xfrm>
        </p:grpSpPr>
        <p:grpSp>
          <p:nvGrpSpPr>
            <p:cNvPr id="115718" name="Group 17"/>
            <p:cNvGrpSpPr/>
            <p:nvPr/>
          </p:nvGrpSpPr>
          <p:grpSpPr>
            <a:xfrm rot="-102795" flipH="1">
              <a:off x="1292" y="3249"/>
              <a:ext cx="339" cy="190"/>
              <a:chOff x="1292" y="1890"/>
              <a:chExt cx="318" cy="315"/>
            </a:xfrm>
          </p:grpSpPr>
          <p:sp>
            <p:nvSpPr>
              <p:cNvPr id="115732" name="Arc 18"/>
              <p:cNvSpPr/>
              <p:nvPr/>
            </p:nvSpPr>
            <p:spPr>
              <a:xfrm>
                <a:off x="1295" y="1890"/>
                <a:ext cx="318" cy="282"/>
              </a:xfrm>
              <a:custGeom>
                <a:avLst/>
                <a:gdLst/>
                <a:ahLst/>
                <a:cxnLst>
                  <a:cxn ang="0">
                    <a:pos x="23" y="282"/>
                  </a:cxn>
                  <a:cxn ang="0">
                    <a:pos x="318" y="193"/>
                  </a:cxn>
                  <a:cxn ang="0">
                    <a:pos x="159" y="186"/>
                  </a:cxn>
                </a:cxnLst>
                <a:pathLst>
                  <a:path w="43200" h="32751" fill="none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</a:path>
                  <a:path w="43200" h="32751" stroke="0">
                    <a:moveTo>
                      <a:pt x="3100" y="32751"/>
                    </a:moveTo>
                    <a:cubicBezTo>
                      <a:pt x="1072" y="29385"/>
                      <a:pt x="0" y="25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880"/>
                      <a:pt x="43194" y="22160"/>
                      <a:pt x="43183" y="22440"/>
                    </a:cubicBezTo>
                    <a:lnTo>
                      <a:pt x="21600" y="21600"/>
                    </a:lnTo>
                    <a:lnTo>
                      <a:pt x="3100" y="32751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5733" name="Line 19"/>
              <p:cNvSpPr/>
              <p:nvPr/>
            </p:nvSpPr>
            <p:spPr>
              <a:xfrm flipH="1">
                <a:off x="1565" y="2069"/>
                <a:ext cx="45" cy="136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15719" name="AutoShape 43"/>
            <p:cNvSpPr/>
            <p:nvPr/>
          </p:nvSpPr>
          <p:spPr>
            <a:xfrm>
              <a:off x="2063" y="3385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3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20" name="AutoShape 44"/>
            <p:cNvSpPr/>
            <p:nvPr/>
          </p:nvSpPr>
          <p:spPr>
            <a:xfrm>
              <a:off x="1292" y="3385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21" name="AutoShape 45"/>
            <p:cNvSpPr/>
            <p:nvPr/>
          </p:nvSpPr>
          <p:spPr>
            <a:xfrm>
              <a:off x="476" y="3400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22" name="Line 46"/>
            <p:cNvSpPr/>
            <p:nvPr/>
          </p:nvSpPr>
          <p:spPr>
            <a:xfrm>
              <a:off x="838" y="3566"/>
              <a:ext cx="454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23" name="Line 47"/>
            <p:cNvSpPr/>
            <p:nvPr/>
          </p:nvSpPr>
          <p:spPr>
            <a:xfrm>
              <a:off x="1655" y="3566"/>
              <a:ext cx="408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24" name="Text Box 48"/>
            <p:cNvSpPr txBox="1"/>
            <p:nvPr/>
          </p:nvSpPr>
          <p:spPr>
            <a:xfrm>
              <a:off x="884" y="3316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1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25" name="Text Box 49"/>
            <p:cNvSpPr txBox="1"/>
            <p:nvPr/>
          </p:nvSpPr>
          <p:spPr>
            <a:xfrm>
              <a:off x="1746" y="3316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3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26" name="Text Box 50"/>
            <p:cNvSpPr txBox="1"/>
            <p:nvPr/>
          </p:nvSpPr>
          <p:spPr>
            <a:xfrm>
              <a:off x="1338" y="3022"/>
              <a:ext cx="3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2</a:t>
              </a:r>
              <a:endParaRPr lang="en-US" altLang="zh-CN" sz="20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27" name="AutoShape 51"/>
            <p:cNvSpPr/>
            <p:nvPr/>
          </p:nvSpPr>
          <p:spPr>
            <a:xfrm>
              <a:off x="4879" y="3339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2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28" name="AutoShape 52"/>
            <p:cNvSpPr/>
            <p:nvPr/>
          </p:nvSpPr>
          <p:spPr>
            <a:xfrm>
              <a:off x="3787" y="3354"/>
              <a:ext cx="359" cy="348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1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5729" name="Text Box 53"/>
            <p:cNvSpPr txBox="1"/>
            <p:nvPr/>
          </p:nvSpPr>
          <p:spPr>
            <a:xfrm>
              <a:off x="4151" y="3271"/>
              <a:ext cx="8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2000" b="1" baseline="-25000" dirty="0">
                  <a:solidFill>
                    <a:schemeClr val="tx2"/>
                  </a:solidFill>
                </a:rPr>
                <a:t>1 </a:t>
              </a:r>
              <a:r>
                <a:rPr lang="en-US" altLang="zh-CN" sz="18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1800" b="1" baseline="-25000" dirty="0">
                  <a:solidFill>
                    <a:schemeClr val="tx2"/>
                  </a:solidFill>
                </a:rPr>
                <a:t>2</a:t>
              </a:r>
              <a:r>
                <a:rPr lang="en-US" altLang="zh-CN" sz="2400" b="1" baseline="30000" dirty="0">
                  <a:solidFill>
                    <a:schemeClr val="tx2"/>
                  </a:solidFill>
                  <a:latin typeface="宋体" pitchFamily="2" charset="-122"/>
                </a:rPr>
                <a:t>* </a:t>
              </a:r>
              <a:r>
                <a:rPr lang="en-US" altLang="zh-CN" sz="1800" b="1" dirty="0">
                  <a:solidFill>
                    <a:schemeClr val="tx2"/>
                  </a:solidFill>
                </a:rPr>
                <a:t>V</a:t>
              </a:r>
              <a:r>
                <a:rPr lang="en-US" altLang="zh-CN" sz="1800" b="1" baseline="-25000" dirty="0">
                  <a:solidFill>
                    <a:schemeClr val="tx2"/>
                  </a:solidFill>
                </a:rPr>
                <a:t>3</a:t>
              </a:r>
              <a:endParaRPr lang="en-US" altLang="zh-CN" sz="1800" b="1" baseline="-25000" dirty="0">
                <a:solidFill>
                  <a:schemeClr val="tx2"/>
                </a:solidFill>
              </a:endParaRPr>
            </a:p>
          </p:txBody>
        </p:sp>
        <p:sp>
          <p:nvSpPr>
            <p:cNvPr id="115730" name="Line 54"/>
            <p:cNvSpPr/>
            <p:nvPr/>
          </p:nvSpPr>
          <p:spPr>
            <a:xfrm>
              <a:off x="4149" y="3542"/>
              <a:ext cx="726" cy="0"/>
            </a:xfrm>
            <a:prstGeom prst="line">
              <a:avLst/>
            </a:prstGeom>
            <a:ln w="28575" cap="flat" cmpd="sng">
              <a:solidFill>
                <a:srgbClr val="000808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5731" name="Text Box 55"/>
            <p:cNvSpPr txBox="1"/>
            <p:nvPr/>
          </p:nvSpPr>
          <p:spPr>
            <a:xfrm>
              <a:off x="2562" y="3406"/>
              <a:ext cx="11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代之以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2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2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文本框 3"/>
          <p:cNvSpPr txBox="1"/>
          <p:nvPr/>
        </p:nvSpPr>
        <p:spPr>
          <a:xfrm>
            <a:off x="527050" y="669925"/>
            <a:ext cx="4765675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/>
              <a:t> NFA</a:t>
            </a:r>
            <a:r>
              <a:rPr lang="zh-CN" altLang="en-US" dirty="0"/>
              <a:t>转换为正规式</a:t>
            </a:r>
            <a:r>
              <a:rPr lang="zh-CN" altLang="en-US" sz="1800" dirty="0"/>
              <a:t>：</a:t>
            </a:r>
            <a:endParaRPr lang="zh-CN" altLang="en-US" sz="1800" dirty="0"/>
          </a:p>
        </p:txBody>
      </p:sp>
      <p:cxnSp>
        <p:nvCxnSpPr>
          <p:cNvPr id="9" name="直接箭头连接符 8"/>
          <p:cNvCxnSpPr>
            <a:stCxn id="6" idx="6"/>
          </p:cNvCxnSpPr>
          <p:nvPr/>
        </p:nvCxnSpPr>
        <p:spPr>
          <a:xfrm flipV="1">
            <a:off x="1144588" y="2295525"/>
            <a:ext cx="681038" cy="14288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6740" name="组合 24"/>
          <p:cNvGrpSpPr/>
          <p:nvPr/>
        </p:nvGrpSpPr>
        <p:grpSpPr>
          <a:xfrm>
            <a:off x="168275" y="1276350"/>
            <a:ext cx="4100513" cy="3008313"/>
            <a:chOff x="808" y="2371"/>
            <a:chExt cx="6457" cy="4737"/>
          </a:xfrm>
        </p:grpSpPr>
        <p:sp>
          <p:nvSpPr>
            <p:cNvPr id="5" name="右箭头 4"/>
            <p:cNvSpPr/>
            <p:nvPr/>
          </p:nvSpPr>
          <p:spPr>
            <a:xfrm>
              <a:off x="808" y="3751"/>
              <a:ext cx="455" cy="34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63" y="3471"/>
              <a:ext cx="1080" cy="10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rgbClr val="000808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0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" name="曲线连接符 6"/>
            <p:cNvCxnSpPr>
              <a:stCxn id="6" idx="1"/>
              <a:endCxn id="6" idx="7"/>
            </p:cNvCxnSpPr>
            <p:nvPr/>
          </p:nvCxnSpPr>
          <p:spPr>
            <a:xfrm rot="16200000">
              <a:off x="1798" y="3238"/>
              <a:ext cx="5" cy="765"/>
            </a:xfrm>
            <a:prstGeom prst="curvedConnector3">
              <a:avLst>
                <a:gd name="adj1" fmla="val 10630000"/>
              </a:avLst>
            </a:prstGeom>
            <a:ln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16747" name="文本框 7"/>
            <p:cNvSpPr txBox="1"/>
            <p:nvPr/>
          </p:nvSpPr>
          <p:spPr>
            <a:xfrm>
              <a:off x="1488" y="2371"/>
              <a:ext cx="1083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a,b</a:t>
              </a:r>
              <a:endParaRPr lang="en-US" altLang="zh-CN" sz="1800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3478" y="3476"/>
              <a:ext cx="1082" cy="10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rgbClr val="000808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3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1" name="直接箭头连接符 10"/>
            <p:cNvCxnSpPr>
              <a:stCxn id="10" idx="6"/>
              <a:endCxn id="6" idx="7"/>
            </p:cNvCxnSpPr>
            <p:nvPr/>
          </p:nvCxnSpPr>
          <p:spPr>
            <a:xfrm flipV="1">
              <a:off x="4560" y="3991"/>
              <a:ext cx="1185" cy="1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3573" y="5256"/>
              <a:ext cx="1082" cy="10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rgbClr val="000808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同心圆 12"/>
            <p:cNvSpPr/>
            <p:nvPr/>
          </p:nvSpPr>
          <p:spPr>
            <a:xfrm>
              <a:off x="5823" y="3486"/>
              <a:ext cx="1042" cy="1112"/>
            </a:xfrm>
            <a:prstGeom prst="don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4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同心圆 13"/>
            <p:cNvSpPr/>
            <p:nvPr/>
          </p:nvSpPr>
          <p:spPr>
            <a:xfrm>
              <a:off x="5865" y="5178"/>
              <a:ext cx="1040" cy="1112"/>
            </a:xfrm>
            <a:prstGeom prst="don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5" name="直接箭头连接符 14"/>
            <p:cNvCxnSpPr>
              <a:stCxn id="6" idx="4"/>
              <a:endCxn id="12" idx="2"/>
            </p:cNvCxnSpPr>
            <p:nvPr/>
          </p:nvCxnSpPr>
          <p:spPr>
            <a:xfrm>
              <a:off x="1803" y="4521"/>
              <a:ext cx="1770" cy="126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2" idx="6"/>
              <a:endCxn id="14" idx="2"/>
            </p:cNvCxnSpPr>
            <p:nvPr/>
          </p:nvCxnSpPr>
          <p:spPr>
            <a:xfrm flipV="1">
              <a:off x="4655" y="5736"/>
              <a:ext cx="1210" cy="4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16755" name="文本框 16"/>
            <p:cNvSpPr txBox="1"/>
            <p:nvPr/>
          </p:nvSpPr>
          <p:spPr>
            <a:xfrm>
              <a:off x="2321" y="5073"/>
              <a:ext cx="1136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b</a:t>
              </a:r>
              <a:endParaRPr lang="en-US" altLang="zh-CN" sz="1800" dirty="0"/>
            </a:p>
          </p:txBody>
        </p:sp>
        <p:sp>
          <p:nvSpPr>
            <p:cNvPr id="116756" name="文本框 17"/>
            <p:cNvSpPr txBox="1"/>
            <p:nvPr/>
          </p:nvSpPr>
          <p:spPr>
            <a:xfrm>
              <a:off x="2649" y="3418"/>
              <a:ext cx="669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a</a:t>
              </a:r>
              <a:endParaRPr lang="en-US" altLang="zh-CN" sz="1800" dirty="0"/>
            </a:p>
          </p:txBody>
        </p:sp>
        <p:sp>
          <p:nvSpPr>
            <p:cNvPr id="116757" name="文本框 18"/>
            <p:cNvSpPr txBox="1"/>
            <p:nvPr/>
          </p:nvSpPr>
          <p:spPr>
            <a:xfrm>
              <a:off x="4758" y="3526"/>
              <a:ext cx="669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a</a:t>
              </a:r>
              <a:endParaRPr lang="en-US" altLang="zh-CN" sz="1800" dirty="0"/>
            </a:p>
          </p:txBody>
        </p:sp>
        <p:sp>
          <p:nvSpPr>
            <p:cNvPr id="116758" name="文本框 19"/>
            <p:cNvSpPr txBox="1"/>
            <p:nvPr/>
          </p:nvSpPr>
          <p:spPr>
            <a:xfrm>
              <a:off x="4789" y="5256"/>
              <a:ext cx="669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b</a:t>
              </a:r>
              <a:endParaRPr lang="en-US" altLang="zh-CN" sz="1800" dirty="0"/>
            </a:p>
          </p:txBody>
        </p:sp>
        <p:cxnSp>
          <p:nvCxnSpPr>
            <p:cNvPr id="21" name="曲线连接符 20"/>
            <p:cNvCxnSpPr>
              <a:stCxn id="12" idx="6"/>
              <a:endCxn id="14" idx="2"/>
            </p:cNvCxnSpPr>
            <p:nvPr/>
          </p:nvCxnSpPr>
          <p:spPr>
            <a:xfrm rot="16200000">
              <a:off x="6353" y="3266"/>
              <a:ext cx="5" cy="765"/>
            </a:xfrm>
            <a:prstGeom prst="curvedConnector3">
              <a:avLst>
                <a:gd name="adj1" fmla="val 10630000"/>
              </a:avLst>
            </a:prstGeom>
            <a:ln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曲线连接符 21"/>
            <p:cNvCxnSpPr>
              <a:stCxn id="12" idx="6"/>
              <a:endCxn id="14" idx="2"/>
            </p:cNvCxnSpPr>
            <p:nvPr/>
          </p:nvCxnSpPr>
          <p:spPr>
            <a:xfrm rot="16200000">
              <a:off x="6353" y="5768"/>
              <a:ext cx="5" cy="765"/>
            </a:xfrm>
            <a:prstGeom prst="curvedConnector3">
              <a:avLst>
                <a:gd name="adj1" fmla="val -10470000"/>
              </a:avLst>
            </a:prstGeom>
            <a:ln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16761" name="文本框 22"/>
            <p:cNvSpPr txBox="1"/>
            <p:nvPr/>
          </p:nvSpPr>
          <p:spPr>
            <a:xfrm>
              <a:off x="5798" y="2587"/>
              <a:ext cx="1083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a,b</a:t>
              </a:r>
              <a:endParaRPr lang="en-US" altLang="zh-CN" sz="1800" dirty="0"/>
            </a:p>
          </p:txBody>
        </p:sp>
        <p:sp>
          <p:nvSpPr>
            <p:cNvPr id="116762" name="文本框 23"/>
            <p:cNvSpPr txBox="1"/>
            <p:nvPr/>
          </p:nvSpPr>
          <p:spPr>
            <a:xfrm>
              <a:off x="6183" y="6528"/>
              <a:ext cx="1083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a,b</a:t>
              </a:r>
              <a:endParaRPr lang="en-US" altLang="zh-CN" sz="1800" dirty="0"/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375" y="3413125"/>
            <a:ext cx="4795838" cy="774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4284663"/>
            <a:ext cx="4727575" cy="900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8" y="5278438"/>
            <a:ext cx="5492750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文本框 2"/>
          <p:cNvSpPr txBox="1"/>
          <p:nvPr/>
        </p:nvSpPr>
        <p:spPr>
          <a:xfrm>
            <a:off x="501650" y="895350"/>
            <a:ext cx="3978275" cy="1568450"/>
          </a:xfrm>
          <a:prstGeom prst="rect">
            <a:avLst/>
          </a:prstGeom>
          <a:solidFill>
            <a:srgbClr val="B1FFFD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正规式：</a:t>
            </a:r>
            <a:r>
              <a:rPr lang="en-US" altLang="zh-CN" dirty="0">
                <a:solidFill>
                  <a:srgbClr val="FF0000"/>
                </a:solidFill>
              </a:rPr>
              <a:t>r=a(a|0)*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转换为</a:t>
            </a:r>
            <a:r>
              <a:rPr lang="en-US" altLang="zh-CN" dirty="0">
                <a:solidFill>
                  <a:srgbClr val="FF0000"/>
                </a:solidFill>
              </a:rPr>
              <a:t>NFA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 Box 4"/>
          <p:cNvSpPr txBox="1"/>
          <p:nvPr/>
        </p:nvSpPr>
        <p:spPr>
          <a:xfrm>
            <a:off x="0" y="620713"/>
            <a:ext cx="8748713" cy="1735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808"/>
                </a:solidFill>
              </a:rPr>
              <a:t>练习：</a:t>
            </a:r>
            <a:endParaRPr lang="zh-CN" altLang="en-US" sz="2400" b="1" dirty="0">
              <a:solidFill>
                <a:srgbClr val="000808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808"/>
                </a:solidFill>
              </a:rPr>
              <a:t>1</a:t>
            </a:r>
            <a:r>
              <a:rPr lang="zh-CN" altLang="en-US" sz="2400" b="1" dirty="0">
                <a:solidFill>
                  <a:srgbClr val="000808"/>
                </a:solidFill>
              </a:rPr>
              <a:t>、将下列非确定有限自动机</a:t>
            </a:r>
            <a:r>
              <a:rPr lang="en-US" altLang="zh-CN" sz="2400" b="1" dirty="0">
                <a:solidFill>
                  <a:srgbClr val="000808"/>
                </a:solidFill>
              </a:rPr>
              <a:t>NFA</a:t>
            </a:r>
            <a:r>
              <a:rPr lang="zh-CN" altLang="en-US" sz="2400" b="1" dirty="0">
                <a:solidFill>
                  <a:srgbClr val="000808"/>
                </a:solidFill>
              </a:rPr>
              <a:t>转换为确定有限自动机</a:t>
            </a:r>
            <a:r>
              <a:rPr lang="en-US" altLang="zh-CN" sz="2400" b="1" dirty="0">
                <a:solidFill>
                  <a:srgbClr val="000808"/>
                </a:solidFill>
              </a:rPr>
              <a:t>DFA</a:t>
            </a:r>
            <a:r>
              <a:rPr lang="zh-CN" altLang="en-US" sz="2400" b="1" dirty="0">
                <a:solidFill>
                  <a:srgbClr val="000808"/>
                </a:solidFill>
              </a:rPr>
              <a:t>，并构造一个正则文法，使得它的句子正是该自动机接受的字符串。</a:t>
            </a:r>
            <a:endParaRPr lang="zh-CN" altLang="en-US" sz="2400" b="1" dirty="0">
              <a:solidFill>
                <a:srgbClr val="000808"/>
              </a:solidFill>
            </a:endParaRPr>
          </a:p>
        </p:txBody>
      </p:sp>
      <p:grpSp>
        <p:nvGrpSpPr>
          <p:cNvPr id="118787" name="Group 65"/>
          <p:cNvGrpSpPr/>
          <p:nvPr/>
        </p:nvGrpSpPr>
        <p:grpSpPr>
          <a:xfrm>
            <a:off x="4211638" y="2114550"/>
            <a:ext cx="4537075" cy="1836738"/>
            <a:chOff x="204" y="1026"/>
            <a:chExt cx="2858" cy="1157"/>
          </a:xfrm>
        </p:grpSpPr>
        <p:sp>
          <p:nvSpPr>
            <p:cNvPr id="118800" name="AutoShape 5"/>
            <p:cNvSpPr/>
            <p:nvPr/>
          </p:nvSpPr>
          <p:spPr>
            <a:xfrm>
              <a:off x="204" y="1525"/>
              <a:ext cx="363" cy="181"/>
            </a:xfrm>
            <a:prstGeom prst="rightArrow">
              <a:avLst>
                <a:gd name="adj1" fmla="val 50000"/>
                <a:gd name="adj2" fmla="val 50045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18801" name="Oval 6"/>
            <p:cNvSpPr/>
            <p:nvPr/>
          </p:nvSpPr>
          <p:spPr>
            <a:xfrm>
              <a:off x="567" y="1434"/>
              <a:ext cx="363" cy="363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0808"/>
                  </a:solidFill>
                </a:rPr>
                <a:t>1</a:t>
              </a:r>
              <a:endParaRPr lang="en-US" altLang="zh-CN" sz="1800" dirty="0">
                <a:solidFill>
                  <a:srgbClr val="000808"/>
                </a:solidFill>
              </a:endParaRPr>
            </a:p>
          </p:txBody>
        </p:sp>
        <p:sp>
          <p:nvSpPr>
            <p:cNvPr id="118802" name="Line 7"/>
            <p:cNvSpPr/>
            <p:nvPr/>
          </p:nvSpPr>
          <p:spPr>
            <a:xfrm>
              <a:off x="930" y="1616"/>
              <a:ext cx="6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8803" name="Line 9"/>
            <p:cNvSpPr/>
            <p:nvPr/>
          </p:nvSpPr>
          <p:spPr>
            <a:xfrm>
              <a:off x="1973" y="1616"/>
              <a:ext cx="72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8804" name="AutoShape 11"/>
            <p:cNvSpPr/>
            <p:nvPr/>
          </p:nvSpPr>
          <p:spPr>
            <a:xfrm>
              <a:off x="1701" y="1207"/>
              <a:ext cx="272" cy="273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3"/>
                </a:cxn>
                <a:cxn ang="0">
                  <a:pos x="3" y="4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</a:cxnLst>
              <a:pathLst>
                <a:path w="21600" h="21600">
                  <a:moveTo>
                    <a:pt x="15748" y="20399"/>
                  </a:moveTo>
                  <a:cubicBezTo>
                    <a:pt x="19342" y="18546"/>
                    <a:pt x="21600" y="14842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3203"/>
                    <a:pt x="801" y="15538"/>
                    <a:pt x="2278" y="17435"/>
                  </a:cubicBezTo>
                  <a:cubicBezTo>
                    <a:pt x="801" y="15538"/>
                    <a:pt x="0" y="13203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4842"/>
                    <a:pt x="19342" y="18546"/>
                    <a:pt x="15748" y="20399"/>
                  </a:cubicBezTo>
                  <a:lnTo>
                    <a:pt x="16986" y="22799"/>
                  </a:lnTo>
                  <a:lnTo>
                    <a:pt x="13348" y="21636"/>
                  </a:lnTo>
                  <a:lnTo>
                    <a:pt x="14511" y="17999"/>
                  </a:lnTo>
                  <a:lnTo>
                    <a:pt x="15748" y="203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8805" name="AutoShape 51"/>
            <p:cNvSpPr/>
            <p:nvPr/>
          </p:nvSpPr>
          <p:spPr>
            <a:xfrm>
              <a:off x="2700" y="1461"/>
              <a:ext cx="362" cy="309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0808"/>
                  </a:solidFill>
                </a:rPr>
                <a:t>3</a:t>
              </a:r>
              <a:endParaRPr lang="en-US" altLang="zh-CN" sz="1800" dirty="0">
                <a:solidFill>
                  <a:srgbClr val="000808"/>
                </a:solidFill>
              </a:endParaRPr>
            </a:p>
          </p:txBody>
        </p:sp>
        <p:sp>
          <p:nvSpPr>
            <p:cNvPr id="118806" name="Oval 52"/>
            <p:cNvSpPr/>
            <p:nvPr/>
          </p:nvSpPr>
          <p:spPr>
            <a:xfrm>
              <a:off x="1610" y="1434"/>
              <a:ext cx="363" cy="363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0808"/>
                  </a:solidFill>
                </a:rPr>
                <a:t>2</a:t>
              </a:r>
              <a:endParaRPr lang="en-US" altLang="zh-CN" sz="1800" dirty="0">
                <a:solidFill>
                  <a:srgbClr val="000808"/>
                </a:solidFill>
              </a:endParaRPr>
            </a:p>
          </p:txBody>
        </p:sp>
        <p:sp>
          <p:nvSpPr>
            <p:cNvPr id="118807" name="Arc 56"/>
            <p:cNvSpPr/>
            <p:nvPr/>
          </p:nvSpPr>
          <p:spPr>
            <a:xfrm rot="10555304">
              <a:off x="1790" y="1210"/>
              <a:ext cx="862" cy="721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862" y="172"/>
                </a:cxn>
                <a:cxn ang="0">
                  <a:pos x="386" y="721"/>
                </a:cxn>
              </a:cxnLst>
              <a:pathLst>
                <a:path w="25372" h="21600" fill="none">
                  <a:moveTo>
                    <a:pt x="0" y="3226"/>
                  </a:moveTo>
                  <a:cubicBezTo>
                    <a:pt x="3412" y="1117"/>
                    <a:pt x="7344" y="-1"/>
                    <a:pt x="11356" y="0"/>
                  </a:cubicBezTo>
                  <a:cubicBezTo>
                    <a:pt x="16493" y="0"/>
                    <a:pt x="21462" y="1831"/>
                    <a:pt x="25372" y="5164"/>
                  </a:cubicBezTo>
                </a:path>
                <a:path w="25372" h="21600" stroke="0">
                  <a:moveTo>
                    <a:pt x="0" y="3226"/>
                  </a:moveTo>
                  <a:cubicBezTo>
                    <a:pt x="3412" y="1117"/>
                    <a:pt x="7344" y="-1"/>
                    <a:pt x="11356" y="0"/>
                  </a:cubicBezTo>
                  <a:cubicBezTo>
                    <a:pt x="16493" y="0"/>
                    <a:pt x="21462" y="1831"/>
                    <a:pt x="25372" y="5164"/>
                  </a:cubicBezTo>
                  <a:lnTo>
                    <a:pt x="11356" y="21600"/>
                  </a:lnTo>
                  <a:lnTo>
                    <a:pt x="0" y="3226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8808" name="Line 57"/>
            <p:cNvSpPr/>
            <p:nvPr/>
          </p:nvSpPr>
          <p:spPr>
            <a:xfrm flipV="1">
              <a:off x="2653" y="1752"/>
              <a:ext cx="136" cy="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8809" name="Arc 58"/>
            <p:cNvSpPr/>
            <p:nvPr/>
          </p:nvSpPr>
          <p:spPr>
            <a:xfrm rot="10498970" flipH="1">
              <a:off x="792" y="1516"/>
              <a:ext cx="2094" cy="635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2094" y="261"/>
                </a:cxn>
                <a:cxn ang="0">
                  <a:pos x="1009" y="635"/>
                </a:cxn>
              </a:cxnLst>
              <a:pathLst>
                <a:path w="33688" h="21600" fill="none">
                  <a:moveTo>
                    <a:pt x="0" y="7348"/>
                  </a:moveTo>
                  <a:cubicBezTo>
                    <a:pt x="4101" y="2677"/>
                    <a:pt x="10015" y="-1"/>
                    <a:pt x="16231" y="0"/>
                  </a:cubicBezTo>
                  <a:cubicBezTo>
                    <a:pt x="23134" y="0"/>
                    <a:pt x="29622" y="3299"/>
                    <a:pt x="33687" y="8879"/>
                  </a:cubicBezTo>
                </a:path>
                <a:path w="33688" h="21600" stroke="0">
                  <a:moveTo>
                    <a:pt x="0" y="7348"/>
                  </a:moveTo>
                  <a:cubicBezTo>
                    <a:pt x="4101" y="2677"/>
                    <a:pt x="10015" y="-1"/>
                    <a:pt x="16231" y="0"/>
                  </a:cubicBezTo>
                  <a:cubicBezTo>
                    <a:pt x="23134" y="0"/>
                    <a:pt x="29622" y="3299"/>
                    <a:pt x="33687" y="8879"/>
                  </a:cubicBezTo>
                  <a:lnTo>
                    <a:pt x="16231" y="21600"/>
                  </a:lnTo>
                  <a:lnTo>
                    <a:pt x="0" y="734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8810" name="Line 59"/>
            <p:cNvSpPr/>
            <p:nvPr/>
          </p:nvSpPr>
          <p:spPr>
            <a:xfrm flipH="1" flipV="1">
              <a:off x="703" y="1797"/>
              <a:ext cx="90" cy="2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8811" name="Text Box 60"/>
            <p:cNvSpPr txBox="1"/>
            <p:nvPr/>
          </p:nvSpPr>
          <p:spPr>
            <a:xfrm>
              <a:off x="930" y="1298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8812" name="Text Box 61"/>
            <p:cNvSpPr txBox="1"/>
            <p:nvPr/>
          </p:nvSpPr>
          <p:spPr>
            <a:xfrm>
              <a:off x="2018" y="1344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8813" name="Text Box 62"/>
            <p:cNvSpPr txBox="1"/>
            <p:nvPr/>
          </p:nvSpPr>
          <p:spPr>
            <a:xfrm>
              <a:off x="1565" y="1026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8814" name="Text Box 63"/>
            <p:cNvSpPr txBox="1"/>
            <p:nvPr/>
          </p:nvSpPr>
          <p:spPr>
            <a:xfrm>
              <a:off x="1973" y="1706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18815" name="Text Box 64"/>
            <p:cNvSpPr txBox="1"/>
            <p:nvPr/>
          </p:nvSpPr>
          <p:spPr>
            <a:xfrm>
              <a:off x="1338" y="1933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0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2" name="右箭头 1"/>
          <p:cNvSpPr/>
          <p:nvPr/>
        </p:nvSpPr>
        <p:spPr>
          <a:xfrm>
            <a:off x="323850" y="4652963"/>
            <a:ext cx="647700" cy="288925"/>
          </a:xfrm>
          <a:prstGeom prst="rightArrow">
            <a:avLst/>
          </a:prstGeom>
          <a:noFill/>
          <a:ln>
            <a:solidFill>
              <a:srgbClr val="00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71550" y="4365625"/>
            <a:ext cx="708025" cy="795338"/>
          </a:xfrm>
          <a:prstGeom prst="ellipse">
            <a:avLst/>
          </a:prstGeom>
          <a:noFill/>
          <a:ln>
            <a:solidFill>
              <a:srgbClr val="00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箭头连接符 4"/>
          <p:cNvCxnSpPr>
            <a:stCxn id="3" idx="5"/>
            <a:endCxn id="32" idx="1"/>
          </p:cNvCxnSpPr>
          <p:nvPr/>
        </p:nvCxnSpPr>
        <p:spPr>
          <a:xfrm>
            <a:off x="1574800" y="5045075"/>
            <a:ext cx="220663" cy="604838"/>
          </a:xfrm>
          <a:prstGeom prst="straightConnector1">
            <a:avLst/>
          </a:prstGeom>
          <a:ln>
            <a:solidFill>
              <a:srgbClr val="00080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91" name="文本框 5"/>
          <p:cNvSpPr txBox="1"/>
          <p:nvPr/>
        </p:nvSpPr>
        <p:spPr>
          <a:xfrm>
            <a:off x="1323975" y="5162550"/>
            <a:ext cx="685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808"/>
                </a:solidFill>
              </a:rPr>
              <a:t>b</a:t>
            </a:r>
            <a:endParaRPr lang="en-US" altLang="zh-CN" sz="1800" dirty="0">
              <a:solidFill>
                <a:srgbClr val="000808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555875" y="4373563"/>
            <a:ext cx="792163" cy="846138"/>
          </a:xfrm>
          <a:prstGeom prst="donut">
            <a:avLst/>
          </a:prstGeom>
          <a:noFill/>
          <a:ln>
            <a:solidFill>
              <a:srgbClr val="00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" name="曲线连接符 7"/>
          <p:cNvCxnSpPr>
            <a:stCxn id="3" idx="0"/>
            <a:endCxn id="7" idx="0"/>
          </p:cNvCxnSpPr>
          <p:nvPr/>
        </p:nvCxnSpPr>
        <p:spPr>
          <a:xfrm rot="16200000" flipH="1">
            <a:off x="2135188" y="3556000"/>
            <a:ext cx="7938" cy="1627188"/>
          </a:xfrm>
          <a:prstGeom prst="curvedConnector3">
            <a:avLst>
              <a:gd name="adj1" fmla="val -2682143"/>
            </a:avLst>
          </a:prstGeom>
          <a:ln>
            <a:solidFill>
              <a:srgbClr val="00080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94" name="文本框 8"/>
          <p:cNvSpPr txBox="1"/>
          <p:nvPr/>
        </p:nvSpPr>
        <p:spPr>
          <a:xfrm>
            <a:off x="2470150" y="5426075"/>
            <a:ext cx="635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808"/>
                </a:solidFill>
              </a:rPr>
              <a:t>b</a:t>
            </a:r>
            <a:endParaRPr lang="en-US" altLang="zh-CN" sz="1800" dirty="0">
              <a:solidFill>
                <a:srgbClr val="000808"/>
              </a:solidFill>
            </a:endParaRPr>
          </a:p>
        </p:txBody>
      </p:sp>
      <p:sp>
        <p:nvSpPr>
          <p:cNvPr id="118795" name="文本框 13"/>
          <p:cNvSpPr txBox="1"/>
          <p:nvPr/>
        </p:nvSpPr>
        <p:spPr>
          <a:xfrm>
            <a:off x="1905000" y="3771900"/>
            <a:ext cx="6334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808"/>
                </a:solidFill>
              </a:rPr>
              <a:t>a</a:t>
            </a:r>
            <a:endParaRPr lang="en-US" altLang="zh-CN" sz="1800" dirty="0">
              <a:solidFill>
                <a:srgbClr val="000808"/>
              </a:solidFill>
            </a:endParaRPr>
          </a:p>
        </p:txBody>
      </p:sp>
      <p:cxnSp>
        <p:nvCxnSpPr>
          <p:cNvPr id="15" name="曲线连接符 14"/>
          <p:cNvCxnSpPr>
            <a:stCxn id="7" idx="7"/>
            <a:endCxn id="7" idx="6"/>
          </p:cNvCxnSpPr>
          <p:nvPr/>
        </p:nvCxnSpPr>
        <p:spPr>
          <a:xfrm rot="16200000" flipH="1">
            <a:off x="3140075" y="4589463"/>
            <a:ext cx="300038" cy="115888"/>
          </a:xfrm>
          <a:prstGeom prst="curvedConnector4">
            <a:avLst>
              <a:gd name="adj1" fmla="val -120869"/>
              <a:gd name="adj2" fmla="val 304645"/>
            </a:avLst>
          </a:prstGeom>
          <a:ln>
            <a:solidFill>
              <a:srgbClr val="00080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97" name="文本框 15"/>
          <p:cNvSpPr txBox="1"/>
          <p:nvPr/>
        </p:nvSpPr>
        <p:spPr>
          <a:xfrm>
            <a:off x="3492500" y="4014788"/>
            <a:ext cx="6334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808"/>
                </a:solidFill>
              </a:rPr>
              <a:t>a,b</a:t>
            </a:r>
            <a:endParaRPr lang="en-US" altLang="zh-CN" sz="1800" dirty="0">
              <a:solidFill>
                <a:srgbClr val="000808"/>
              </a:solidFill>
            </a:endParaRPr>
          </a:p>
        </p:txBody>
      </p:sp>
      <p:sp>
        <p:nvSpPr>
          <p:cNvPr id="32" name="同心圆 31"/>
          <p:cNvSpPr/>
          <p:nvPr/>
        </p:nvSpPr>
        <p:spPr>
          <a:xfrm>
            <a:off x="1679575" y="5526088"/>
            <a:ext cx="790575" cy="846138"/>
          </a:xfrm>
          <a:prstGeom prst="donut">
            <a:avLst/>
          </a:prstGeom>
          <a:noFill/>
          <a:ln>
            <a:solidFill>
              <a:srgbClr val="00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00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rgbClr val="00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3" name="直接箭头连接符 32"/>
          <p:cNvCxnSpPr>
            <a:stCxn id="32" idx="7"/>
            <a:endCxn id="7" idx="4"/>
          </p:cNvCxnSpPr>
          <p:nvPr/>
        </p:nvCxnSpPr>
        <p:spPr>
          <a:xfrm flipV="1">
            <a:off x="2354263" y="5219700"/>
            <a:ext cx="598488" cy="430213"/>
          </a:xfrm>
          <a:prstGeom prst="straightConnector1">
            <a:avLst/>
          </a:prstGeom>
          <a:ln>
            <a:solidFill>
              <a:srgbClr val="00080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4579" name="Rectangle 3"/>
          <p:cNvSpPr>
            <a:spLocks noGrp="1" noRot="1"/>
          </p:cNvSpPr>
          <p:nvPr>
            <p:ph idx="1"/>
          </p:nvPr>
        </p:nvSpPr>
        <p:spPr>
          <a:xfrm>
            <a:off x="323850" y="1600200"/>
            <a:ext cx="8569325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</a:pPr>
            <a:r>
              <a:rPr lang="zh-CN" altLang="en-US" b="1" dirty="0"/>
              <a:t>词法分析器的作用和接口，用高级语言编写词法分析器等内容</a:t>
            </a:r>
            <a:endParaRPr lang="zh-CN" altLang="en-US" b="1" dirty="0"/>
          </a:p>
          <a:p>
            <a:pPr algn="just" eaLnBrk="1" hangingPunct="1">
              <a:spcBef>
                <a:spcPct val="0"/>
              </a:spcBef>
            </a:pPr>
            <a:endParaRPr lang="zh-CN" altLang="en-US" b="1" dirty="0"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</a:pPr>
            <a:r>
              <a:rPr lang="zh-CN" altLang="en-US" b="1" dirty="0"/>
              <a:t>掌握下面涉及的一些概念，它们之间转换的技巧、方法或算法</a:t>
            </a:r>
            <a:endParaRPr lang="zh-CN" altLang="en-US" b="1" dirty="0">
              <a:latin typeface="宋体" pitchFamily="2" charset="-122"/>
            </a:endParaRPr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b="1" dirty="0"/>
              <a:t>非形式描述的语言 </a:t>
            </a:r>
            <a:r>
              <a:rPr lang="zh-CN" altLang="en-US" b="1" dirty="0">
                <a:sym typeface="Symbol" pitchFamily="18" charset="2"/>
              </a:rPr>
              <a:t></a:t>
            </a:r>
            <a:r>
              <a:rPr lang="zh-CN" altLang="en-US" b="1" dirty="0"/>
              <a:t> 正规式</a:t>
            </a:r>
            <a:endParaRPr lang="zh-CN" altLang="en-US" b="1" dirty="0"/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b="1" dirty="0"/>
              <a:t>正规式 </a:t>
            </a:r>
            <a:r>
              <a:rPr lang="zh-CN" altLang="en-US" b="1" dirty="0">
                <a:sym typeface="Symbol" pitchFamily="18" charset="2"/>
              </a:rPr>
              <a:t></a:t>
            </a:r>
            <a:r>
              <a:rPr lang="zh-CN" altLang="en-US" b="1" dirty="0"/>
              <a:t> </a:t>
            </a:r>
            <a:r>
              <a:rPr lang="en-US" altLang="zh-CN" b="1" dirty="0"/>
              <a:t>NFA</a:t>
            </a:r>
            <a:endParaRPr lang="zh-CN" altLang="en-US" b="1" dirty="0"/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b="1" dirty="0"/>
              <a:t>非形式描述的语言 </a:t>
            </a:r>
            <a:r>
              <a:rPr lang="zh-CN" altLang="en-US" b="1" dirty="0">
                <a:sym typeface="Symbol" pitchFamily="18" charset="2"/>
              </a:rPr>
              <a:t></a:t>
            </a:r>
            <a:r>
              <a:rPr lang="zh-CN" altLang="en-US" b="1" dirty="0"/>
              <a:t> </a:t>
            </a:r>
            <a:r>
              <a:rPr lang="en-US" altLang="zh-CN" b="1" dirty="0"/>
              <a:t>NFA</a:t>
            </a:r>
            <a:endParaRPr lang="en-US" altLang="zh-CN" b="1" dirty="0"/>
          </a:p>
          <a:p>
            <a:pPr lvl="1" algn="just" eaLnBrk="1" hangingPunct="1">
              <a:spcBef>
                <a:spcPct val="0"/>
              </a:spcBef>
            </a:pPr>
            <a:r>
              <a:rPr lang="en-US" altLang="zh-CN" b="1" dirty="0"/>
              <a:t>NFA </a:t>
            </a:r>
            <a:r>
              <a:rPr lang="en-US" altLang="zh-CN" b="1" dirty="0">
                <a:sym typeface="Symbol" pitchFamily="18" charset="2"/>
              </a:rPr>
              <a:t></a:t>
            </a:r>
            <a:r>
              <a:rPr lang="en-US" altLang="zh-CN" b="1" dirty="0"/>
              <a:t> DFA</a:t>
            </a:r>
            <a:endParaRPr lang="zh-CN" altLang="en-US" b="1" dirty="0"/>
          </a:p>
          <a:p>
            <a:pPr lvl="1" algn="just" eaLnBrk="1" hangingPunct="1">
              <a:spcBef>
                <a:spcPct val="0"/>
              </a:spcBef>
            </a:pPr>
            <a:r>
              <a:rPr lang="en-US" altLang="zh-CN" b="1" dirty="0"/>
              <a:t>DFA </a:t>
            </a:r>
            <a:r>
              <a:rPr lang="en-US" altLang="zh-CN" b="1" dirty="0">
                <a:sym typeface="Symbol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zh-CN" altLang="en-US" b="1" dirty="0"/>
              <a:t>最简</a:t>
            </a:r>
            <a:r>
              <a:rPr lang="en-US" altLang="zh-CN" b="1" dirty="0"/>
              <a:t>DFA</a:t>
            </a:r>
            <a:endParaRPr lang="en-US" altLang="zh-CN" b="1" dirty="0"/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b="1" dirty="0"/>
              <a:t>非形式描述的语言 </a:t>
            </a:r>
            <a:r>
              <a:rPr lang="zh-CN" altLang="en-US" b="1" dirty="0">
                <a:sym typeface="Symbol" pitchFamily="18" charset="2"/>
              </a:rPr>
              <a:t></a:t>
            </a:r>
            <a:r>
              <a:rPr lang="zh-CN" altLang="en-US" b="1" dirty="0"/>
              <a:t> </a:t>
            </a:r>
            <a:r>
              <a:rPr lang="en-US" altLang="zh-CN" b="1" dirty="0"/>
              <a:t>DFA（</a:t>
            </a:r>
            <a:r>
              <a:rPr lang="zh-CN" altLang="en-US" b="1" dirty="0"/>
              <a:t>或最简</a:t>
            </a:r>
            <a:r>
              <a:rPr lang="en-US" altLang="zh-CN" b="1" dirty="0"/>
              <a:t>DFA）</a:t>
            </a:r>
            <a:endParaRPr lang="en-US" altLang="zh-CN" b="1" dirty="0"/>
          </a:p>
        </p:txBody>
      </p:sp>
      <p:sp>
        <p:nvSpPr>
          <p:cNvPr id="119811" name="Rectangle 5"/>
          <p:cNvSpPr/>
          <p:nvPr/>
        </p:nvSpPr>
        <p:spPr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本  章  要  点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29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4579">
                                            <p:txEl>
                                              <p:charRg st="29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5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64579">
                                            <p:txEl>
                                              <p:charRg st="57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7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64579">
                                            <p:txEl>
                                              <p:charRg st="72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82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64579">
                                            <p:txEl>
                                              <p:charRg st="82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9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64579">
                                            <p:txEl>
                                              <p:charRg st="97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107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64579">
                                            <p:txEl>
                                              <p:charRg st="107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charRg st="119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64579">
                                            <p:txEl>
                                              <p:charRg st="119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5859" name="Rectangle 3"/>
          <p:cNvSpPr>
            <a:spLocks noGrp="1" noRot="1"/>
          </p:cNvSpPr>
          <p:nvPr>
            <p:ph idx="1"/>
          </p:nvPr>
        </p:nvSpPr>
        <p:spPr>
          <a:xfrm>
            <a:off x="323850" y="1600200"/>
            <a:ext cx="8569325" cy="4851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</a:pPr>
            <a:r>
              <a:rPr lang="zh-CN" altLang="en-US" b="1" dirty="0">
                <a:latin typeface="宋体" pitchFamily="2" charset="-122"/>
              </a:rPr>
              <a:t>叙述下面的正规式描述的语言，并画出接受该语言的最简</a:t>
            </a:r>
            <a:r>
              <a:rPr lang="en-US" altLang="zh-CN" b="1" dirty="0"/>
              <a:t>DFA</a:t>
            </a:r>
            <a:r>
              <a:rPr lang="zh-CN" altLang="en-US" b="1" dirty="0">
                <a:latin typeface="宋体" pitchFamily="2" charset="-122"/>
              </a:rPr>
              <a:t>的状态转换图</a:t>
            </a:r>
            <a:endParaRPr lang="zh-CN" altLang="en-US" b="1" dirty="0"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宋体" pitchFamily="2" charset="-122"/>
              </a:rPr>
              <a:t>			</a:t>
            </a:r>
            <a:r>
              <a:rPr lang="zh-CN" altLang="en-US" b="1" dirty="0"/>
              <a:t>(1|01)* 0*</a:t>
            </a:r>
            <a:endParaRPr lang="zh-CN" altLang="en-US" b="1" dirty="0">
              <a:latin typeface="宋体" pitchFamily="2" charset="-122"/>
            </a:endParaRP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"/>
            </a:pPr>
            <a:r>
              <a:rPr lang="zh-CN" altLang="en-US" b="1" dirty="0">
                <a:latin typeface="宋体" pitchFamily="2" charset="-122"/>
              </a:rPr>
              <a:t>描述的语言是，所有不含子串</a:t>
            </a:r>
            <a:r>
              <a:rPr lang="zh-CN" altLang="en-US" b="1" dirty="0"/>
              <a:t>001</a:t>
            </a:r>
            <a:r>
              <a:rPr lang="zh-CN" altLang="en-US" b="1" dirty="0">
                <a:latin typeface="宋体" pitchFamily="2" charset="-122"/>
              </a:rPr>
              <a:t>的</a:t>
            </a:r>
            <a:r>
              <a:rPr lang="zh-CN" altLang="en-US" b="1" dirty="0"/>
              <a:t>0和1</a:t>
            </a:r>
            <a:r>
              <a:rPr lang="zh-CN" altLang="en-US" b="1" dirty="0">
                <a:latin typeface="宋体" pitchFamily="2" charset="-122"/>
              </a:rPr>
              <a:t>的串</a:t>
            </a:r>
            <a:endParaRPr lang="zh-CN" altLang="en-US" b="1" dirty="0"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itchFamily="2" charset="-122"/>
              </a:rPr>
              <a:t> </a:t>
            </a:r>
            <a:endParaRPr lang="en-US" altLang="zh-CN" sz="2800" b="1" dirty="0">
              <a:latin typeface="宋体" pitchFamily="2" charset="-122"/>
            </a:endParaRPr>
          </a:p>
        </p:txBody>
      </p:sp>
      <p:grpSp>
        <p:nvGrpSpPr>
          <p:cNvPr id="505887" name="Group 31"/>
          <p:cNvGrpSpPr/>
          <p:nvPr/>
        </p:nvGrpSpPr>
        <p:grpSpPr>
          <a:xfrm>
            <a:off x="755650" y="3716338"/>
            <a:ext cx="8064500" cy="2835275"/>
            <a:chOff x="476" y="2341"/>
            <a:chExt cx="5080" cy="1786"/>
          </a:xfrm>
        </p:grpSpPr>
        <p:grpSp>
          <p:nvGrpSpPr>
            <p:cNvPr id="121861" name="Group 4"/>
            <p:cNvGrpSpPr/>
            <p:nvPr/>
          </p:nvGrpSpPr>
          <p:grpSpPr>
            <a:xfrm>
              <a:off x="720" y="2341"/>
              <a:ext cx="4464" cy="1200"/>
              <a:chOff x="720" y="2448"/>
              <a:chExt cx="4464" cy="1200"/>
            </a:xfrm>
          </p:grpSpPr>
          <p:grpSp>
            <p:nvGrpSpPr>
              <p:cNvPr id="121865" name="Group 5"/>
              <p:cNvGrpSpPr/>
              <p:nvPr/>
            </p:nvGrpSpPr>
            <p:grpSpPr>
              <a:xfrm>
                <a:off x="4400" y="3177"/>
                <a:ext cx="418" cy="455"/>
                <a:chOff x="5949" y="10436"/>
                <a:chExt cx="454" cy="454"/>
              </a:xfrm>
            </p:grpSpPr>
            <p:sp>
              <p:nvSpPr>
                <p:cNvPr id="121885" name="Oval 6"/>
                <p:cNvSpPr/>
                <p:nvPr/>
              </p:nvSpPr>
              <p:spPr>
                <a:xfrm flipH="1">
                  <a:off x="5949" y="10436"/>
                  <a:ext cx="454" cy="45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tIns="28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000" b="1" dirty="0"/>
                </a:p>
              </p:txBody>
            </p:sp>
            <p:sp>
              <p:nvSpPr>
                <p:cNvPr id="121886" name="Oval 7"/>
                <p:cNvSpPr>
                  <a:spLocks noChangeAspect="1"/>
                </p:cNvSpPr>
                <p:nvPr/>
              </p:nvSpPr>
              <p:spPr>
                <a:xfrm>
                  <a:off x="6006" y="10495"/>
                  <a:ext cx="340" cy="34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54000" tIns="0" rIns="36000" bIns="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b="1" dirty="0"/>
                    <a:t>3</a:t>
                  </a:r>
                  <a:endParaRPr lang="zh-CN" altLang="en-US" sz="2800" b="1" dirty="0"/>
                </a:p>
              </p:txBody>
            </p:sp>
          </p:grpSp>
          <p:sp>
            <p:nvSpPr>
              <p:cNvPr id="121866" name="Line 8"/>
              <p:cNvSpPr/>
              <p:nvPr/>
            </p:nvSpPr>
            <p:spPr>
              <a:xfrm>
                <a:off x="742" y="3407"/>
                <a:ext cx="49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21867" name="Rectangle 9"/>
              <p:cNvSpPr/>
              <p:nvPr/>
            </p:nvSpPr>
            <p:spPr>
              <a:xfrm>
                <a:off x="720" y="3120"/>
                <a:ext cx="624" cy="2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/>
                  <a:t>start</a:t>
                </a:r>
                <a:endParaRPr lang="en-US" altLang="zh-CN" sz="2800" b="1" dirty="0"/>
              </a:p>
            </p:txBody>
          </p:sp>
          <p:sp>
            <p:nvSpPr>
              <p:cNvPr id="121868" name="Line 10"/>
              <p:cNvSpPr/>
              <p:nvPr/>
            </p:nvSpPr>
            <p:spPr>
              <a:xfrm>
                <a:off x="1706" y="3407"/>
                <a:ext cx="109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21869" name="Line 11"/>
              <p:cNvSpPr/>
              <p:nvPr/>
            </p:nvSpPr>
            <p:spPr>
              <a:xfrm>
                <a:off x="3309" y="3413"/>
                <a:ext cx="1082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21870" name="Rectangle 12"/>
              <p:cNvSpPr/>
              <p:nvPr/>
            </p:nvSpPr>
            <p:spPr>
              <a:xfrm>
                <a:off x="2112" y="3120"/>
                <a:ext cx="497" cy="31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/>
                  <a:t>0</a:t>
                </a:r>
                <a:endParaRPr lang="zh-CN" altLang="en-US" sz="2800" b="1" dirty="0"/>
              </a:p>
            </p:txBody>
          </p:sp>
          <p:sp>
            <p:nvSpPr>
              <p:cNvPr id="121871" name="Rectangle 13"/>
              <p:cNvSpPr/>
              <p:nvPr/>
            </p:nvSpPr>
            <p:spPr>
              <a:xfrm>
                <a:off x="3558" y="3163"/>
                <a:ext cx="498" cy="31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/>
                  <a:t>0</a:t>
                </a:r>
                <a:endParaRPr lang="zh-CN" altLang="en-US" sz="2800" b="1" dirty="0"/>
              </a:p>
            </p:txBody>
          </p:sp>
          <p:sp>
            <p:nvSpPr>
              <p:cNvPr id="121872" name="Freeform 14"/>
              <p:cNvSpPr/>
              <p:nvPr/>
            </p:nvSpPr>
            <p:spPr>
              <a:xfrm>
                <a:off x="4602" y="2744"/>
                <a:ext cx="439" cy="511"/>
              </a:xfrm>
              <a:custGeom>
                <a:avLst/>
                <a:gdLst/>
                <a:ahLst/>
                <a:cxnLst>
                  <a:cxn ang="0">
                    <a:pos x="190" y="511"/>
                  </a:cxn>
                  <a:cxn ang="0">
                    <a:pos x="370" y="406"/>
                  </a:cxn>
                  <a:cxn ang="0">
                    <a:pos x="439" y="225"/>
                  </a:cxn>
                  <a:cxn ang="0">
                    <a:pos x="425" y="90"/>
                  </a:cxn>
                  <a:cxn ang="0">
                    <a:pos x="301" y="0"/>
                  </a:cxn>
                  <a:cxn ang="0">
                    <a:pos x="111" y="21"/>
                  </a:cxn>
                  <a:cxn ang="0">
                    <a:pos x="16" y="230"/>
                  </a:cxn>
                  <a:cxn ang="0">
                    <a:pos x="24" y="421"/>
                  </a:cxn>
                </a:cxnLst>
                <a:pathLst>
                  <a:path w="439" h="511">
                    <a:moveTo>
                      <a:pt x="190" y="511"/>
                    </a:moveTo>
                    <a:cubicBezTo>
                      <a:pt x="268" y="490"/>
                      <a:pt x="312" y="469"/>
                      <a:pt x="370" y="406"/>
                    </a:cubicBezTo>
                    <a:cubicBezTo>
                      <a:pt x="412" y="358"/>
                      <a:pt x="430" y="278"/>
                      <a:pt x="439" y="225"/>
                    </a:cubicBezTo>
                    <a:cubicBezTo>
                      <a:pt x="434" y="180"/>
                      <a:pt x="439" y="133"/>
                      <a:pt x="425" y="90"/>
                    </a:cubicBezTo>
                    <a:cubicBezTo>
                      <a:pt x="402" y="52"/>
                      <a:pt x="345" y="10"/>
                      <a:pt x="301" y="0"/>
                    </a:cubicBezTo>
                    <a:cubicBezTo>
                      <a:pt x="296" y="1"/>
                      <a:pt x="127" y="4"/>
                      <a:pt x="111" y="21"/>
                    </a:cubicBezTo>
                    <a:cubicBezTo>
                      <a:pt x="53" y="84"/>
                      <a:pt x="40" y="149"/>
                      <a:pt x="16" y="230"/>
                    </a:cubicBezTo>
                    <a:cubicBezTo>
                      <a:pt x="0" y="281"/>
                      <a:pt x="24" y="367"/>
                      <a:pt x="24" y="421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1873" name="Rectangle 15"/>
              <p:cNvSpPr/>
              <p:nvPr/>
            </p:nvSpPr>
            <p:spPr>
              <a:xfrm>
                <a:off x="2084" y="2604"/>
                <a:ext cx="497" cy="31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/>
                  <a:t>1</a:t>
                </a:r>
                <a:endParaRPr lang="zh-CN" altLang="en-US" sz="2800" b="1" dirty="0"/>
              </a:p>
            </p:txBody>
          </p:sp>
          <p:sp>
            <p:nvSpPr>
              <p:cNvPr id="121874" name="Rectangle 16"/>
              <p:cNvSpPr/>
              <p:nvPr/>
            </p:nvSpPr>
            <p:spPr>
              <a:xfrm>
                <a:off x="3838" y="2797"/>
                <a:ext cx="498" cy="31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000" b="1" dirty="0"/>
                  <a:t>.</a:t>
                </a:r>
                <a:endParaRPr lang="zh-CN" altLang="en-US" sz="1000" b="1" dirty="0"/>
              </a:p>
            </p:txBody>
          </p:sp>
          <p:sp>
            <p:nvSpPr>
              <p:cNvPr id="121875" name="Rectangle 17"/>
              <p:cNvSpPr/>
              <p:nvPr/>
            </p:nvSpPr>
            <p:spPr>
              <a:xfrm>
                <a:off x="1392" y="2448"/>
                <a:ext cx="498" cy="31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/>
                  <a:t>1</a:t>
                </a:r>
                <a:endParaRPr lang="zh-CN" altLang="en-US" sz="2800" b="1" dirty="0"/>
              </a:p>
            </p:txBody>
          </p:sp>
          <p:sp>
            <p:nvSpPr>
              <p:cNvPr id="121876" name="Rectangle 18"/>
              <p:cNvSpPr/>
              <p:nvPr/>
            </p:nvSpPr>
            <p:spPr>
              <a:xfrm>
                <a:off x="4686" y="2448"/>
                <a:ext cx="498" cy="313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tIns="72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/>
                  <a:t>0</a:t>
                </a:r>
                <a:endParaRPr lang="zh-CN" altLang="en-US" sz="2800" b="1" dirty="0"/>
              </a:p>
            </p:txBody>
          </p:sp>
          <p:grpSp>
            <p:nvGrpSpPr>
              <p:cNvPr id="121877" name="Group 19"/>
              <p:cNvGrpSpPr/>
              <p:nvPr/>
            </p:nvGrpSpPr>
            <p:grpSpPr>
              <a:xfrm>
                <a:off x="1286" y="3178"/>
                <a:ext cx="418" cy="455"/>
                <a:chOff x="3680" y="10437"/>
                <a:chExt cx="454" cy="454"/>
              </a:xfrm>
            </p:grpSpPr>
            <p:sp>
              <p:nvSpPr>
                <p:cNvPr id="121883" name="Oval 20"/>
                <p:cNvSpPr/>
                <p:nvPr/>
              </p:nvSpPr>
              <p:spPr>
                <a:xfrm flipH="1">
                  <a:off x="3680" y="10437"/>
                  <a:ext cx="454" cy="45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tIns="28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000" b="1" dirty="0"/>
                </a:p>
              </p:txBody>
            </p:sp>
            <p:sp>
              <p:nvSpPr>
                <p:cNvPr id="121884" name="Oval 21"/>
                <p:cNvSpPr>
                  <a:spLocks noChangeAspect="1"/>
                </p:cNvSpPr>
                <p:nvPr/>
              </p:nvSpPr>
              <p:spPr>
                <a:xfrm>
                  <a:off x="3738" y="10495"/>
                  <a:ext cx="340" cy="34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54000" tIns="0" rIns="36000" bIns="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b="1" dirty="0"/>
                    <a:t>1</a:t>
                  </a:r>
                  <a:endParaRPr lang="zh-CN" altLang="en-US" sz="2800" b="1" dirty="0"/>
                </a:p>
              </p:txBody>
            </p:sp>
          </p:grpSp>
          <p:grpSp>
            <p:nvGrpSpPr>
              <p:cNvPr id="121878" name="Group 22"/>
              <p:cNvGrpSpPr/>
              <p:nvPr/>
            </p:nvGrpSpPr>
            <p:grpSpPr>
              <a:xfrm>
                <a:off x="2838" y="3193"/>
                <a:ext cx="418" cy="455"/>
                <a:chOff x="5949" y="10436"/>
                <a:chExt cx="454" cy="454"/>
              </a:xfrm>
            </p:grpSpPr>
            <p:sp>
              <p:nvSpPr>
                <p:cNvPr id="121881" name="Oval 23"/>
                <p:cNvSpPr/>
                <p:nvPr/>
              </p:nvSpPr>
              <p:spPr>
                <a:xfrm flipH="1">
                  <a:off x="5949" y="10436"/>
                  <a:ext cx="454" cy="45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tIns="28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000" b="1" dirty="0"/>
                </a:p>
              </p:txBody>
            </p:sp>
            <p:sp>
              <p:nvSpPr>
                <p:cNvPr id="121882" name="Oval 24"/>
                <p:cNvSpPr>
                  <a:spLocks noChangeAspect="1"/>
                </p:cNvSpPr>
                <p:nvPr/>
              </p:nvSpPr>
              <p:spPr>
                <a:xfrm>
                  <a:off x="6006" y="10495"/>
                  <a:ext cx="340" cy="34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54000" tIns="0" rIns="36000" bIns="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b="1" dirty="0"/>
                    <a:t>2</a:t>
                  </a:r>
                  <a:endParaRPr lang="zh-CN" altLang="en-US" sz="2800" b="1" dirty="0"/>
                </a:p>
              </p:txBody>
            </p:sp>
          </p:grpSp>
          <p:sp>
            <p:nvSpPr>
              <p:cNvPr id="121879" name="Freeform 25"/>
              <p:cNvSpPr/>
              <p:nvPr/>
            </p:nvSpPr>
            <p:spPr>
              <a:xfrm>
                <a:off x="1663" y="2876"/>
                <a:ext cx="1327" cy="377"/>
              </a:xfrm>
              <a:custGeom>
                <a:avLst/>
                <a:gdLst/>
                <a:ahLst/>
                <a:cxnLst>
                  <a:cxn ang="0">
                    <a:pos x="1223" y="332"/>
                  </a:cxn>
                  <a:cxn ang="0">
                    <a:pos x="1030" y="167"/>
                  </a:cxn>
                  <a:cxn ang="0">
                    <a:pos x="597" y="2"/>
                  </a:cxn>
                  <a:cxn ang="0">
                    <a:pos x="202" y="182"/>
                  </a:cxn>
                  <a:cxn ang="0">
                    <a:pos x="0" y="377"/>
                  </a:cxn>
                </a:cxnLst>
                <a:pathLst>
                  <a:path w="1440" h="377">
                    <a:moveTo>
                      <a:pt x="1440" y="332"/>
                    </a:moveTo>
                    <a:cubicBezTo>
                      <a:pt x="1402" y="305"/>
                      <a:pt x="1336" y="222"/>
                      <a:pt x="1213" y="167"/>
                    </a:cubicBezTo>
                    <a:cubicBezTo>
                      <a:pt x="1090" y="112"/>
                      <a:pt x="865" y="0"/>
                      <a:pt x="703" y="2"/>
                    </a:cubicBezTo>
                    <a:cubicBezTo>
                      <a:pt x="541" y="4"/>
                      <a:pt x="355" y="120"/>
                      <a:pt x="238" y="182"/>
                    </a:cubicBezTo>
                    <a:cubicBezTo>
                      <a:pt x="121" y="244"/>
                      <a:pt x="50" y="336"/>
                      <a:pt x="0" y="377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lg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1880" name="Freeform 26"/>
              <p:cNvSpPr/>
              <p:nvPr/>
            </p:nvSpPr>
            <p:spPr>
              <a:xfrm>
                <a:off x="1344" y="2688"/>
                <a:ext cx="414" cy="480"/>
              </a:xfrm>
              <a:custGeom>
                <a:avLst/>
                <a:gdLst/>
                <a:ahLst/>
                <a:cxnLst>
                  <a:cxn ang="0">
                    <a:pos x="226" y="480"/>
                  </a:cxn>
                  <a:cxn ang="0">
                    <a:pos x="362" y="366"/>
                  </a:cxn>
                  <a:cxn ang="0">
                    <a:pos x="414" y="251"/>
                  </a:cxn>
                  <a:cxn ang="0">
                    <a:pos x="372" y="73"/>
                  </a:cxn>
                  <a:cxn ang="0">
                    <a:pos x="257" y="0"/>
                  </a:cxn>
                  <a:cxn ang="0">
                    <a:pos x="79" y="52"/>
                  </a:cxn>
                  <a:cxn ang="0">
                    <a:pos x="16" y="251"/>
                  </a:cxn>
                  <a:cxn ang="0">
                    <a:pos x="47" y="471"/>
                  </a:cxn>
                </a:cxnLst>
                <a:pathLst>
                  <a:path w="414" h="480">
                    <a:moveTo>
                      <a:pt x="226" y="480"/>
                    </a:moveTo>
                    <a:cubicBezTo>
                      <a:pt x="304" y="459"/>
                      <a:pt x="304" y="429"/>
                      <a:pt x="362" y="366"/>
                    </a:cubicBezTo>
                    <a:cubicBezTo>
                      <a:pt x="404" y="318"/>
                      <a:pt x="405" y="304"/>
                      <a:pt x="414" y="251"/>
                    </a:cubicBezTo>
                    <a:cubicBezTo>
                      <a:pt x="409" y="206"/>
                      <a:pt x="386" y="116"/>
                      <a:pt x="372" y="73"/>
                    </a:cubicBezTo>
                    <a:cubicBezTo>
                      <a:pt x="349" y="35"/>
                      <a:pt x="301" y="10"/>
                      <a:pt x="257" y="0"/>
                    </a:cubicBezTo>
                    <a:cubicBezTo>
                      <a:pt x="252" y="1"/>
                      <a:pt x="95" y="35"/>
                      <a:pt x="79" y="52"/>
                    </a:cubicBezTo>
                    <a:cubicBezTo>
                      <a:pt x="21" y="115"/>
                      <a:pt x="40" y="170"/>
                      <a:pt x="16" y="251"/>
                    </a:cubicBezTo>
                    <a:cubicBezTo>
                      <a:pt x="0" y="302"/>
                      <a:pt x="47" y="417"/>
                      <a:pt x="47" y="471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21862" name="Rectangle 27"/>
            <p:cNvSpPr/>
            <p:nvPr/>
          </p:nvSpPr>
          <p:spPr>
            <a:xfrm>
              <a:off x="476" y="3595"/>
              <a:ext cx="1497" cy="31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4000" tIns="28800" rIns="54000" bIns="28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刚读过的不是</a:t>
              </a:r>
              <a:r>
                <a:rPr lang="en-US" altLang="zh-CN" sz="2800" b="1" dirty="0"/>
                <a:t>0</a:t>
              </a:r>
              <a:endParaRPr lang="en-US" altLang="zh-CN" sz="2800" b="1" dirty="0"/>
            </a:p>
          </p:txBody>
        </p:sp>
        <p:sp>
          <p:nvSpPr>
            <p:cNvPr id="121863" name="Rectangle 28"/>
            <p:cNvSpPr/>
            <p:nvPr/>
          </p:nvSpPr>
          <p:spPr>
            <a:xfrm>
              <a:off x="2290" y="3612"/>
              <a:ext cx="1497" cy="31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4000" tIns="28800" rIns="54000" bIns="28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连续读过一个</a:t>
              </a:r>
              <a:r>
                <a:rPr lang="en-US" altLang="zh-CN" sz="2800" b="1" dirty="0"/>
                <a:t>0</a:t>
              </a:r>
              <a:endParaRPr lang="en-US" altLang="zh-CN" sz="2800" b="1" dirty="0"/>
            </a:p>
          </p:txBody>
        </p:sp>
        <p:sp>
          <p:nvSpPr>
            <p:cNvPr id="121864" name="Rectangle 29"/>
            <p:cNvSpPr/>
            <p:nvPr/>
          </p:nvSpPr>
          <p:spPr>
            <a:xfrm>
              <a:off x="4105" y="3612"/>
              <a:ext cx="1451" cy="51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4000" tIns="28800" rIns="54000" bIns="28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连续读过</a:t>
              </a:r>
              <a:endParaRPr lang="zh-CN" altLang="en-US" sz="2800" b="1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不少于两个</a:t>
              </a:r>
              <a:r>
                <a:rPr lang="en-US" altLang="zh-CN" sz="2800" b="1" dirty="0"/>
                <a:t>0</a:t>
              </a:r>
              <a:endParaRPr lang="zh-CN" altLang="en-US" sz="2800" b="1" dirty="0"/>
            </a:p>
          </p:txBody>
        </p:sp>
      </p:grpSp>
      <p:sp>
        <p:nvSpPr>
          <p:cNvPr id="121860" name="Rectangle 33"/>
          <p:cNvSpPr/>
          <p:nvPr/>
        </p:nvSpPr>
        <p:spPr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例  题  1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charRg st="4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5859">
                                            <p:txEl>
                                              <p:charRg st="49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9956" name="Group 4"/>
          <p:cNvGrpSpPr/>
          <p:nvPr/>
        </p:nvGrpSpPr>
        <p:grpSpPr>
          <a:xfrm>
            <a:off x="228600" y="1844675"/>
            <a:ext cx="8591550" cy="4968875"/>
            <a:chOff x="144" y="1162"/>
            <a:chExt cx="5412" cy="3130"/>
          </a:xfrm>
        </p:grpSpPr>
        <p:sp>
          <p:nvSpPr>
            <p:cNvPr id="123910" name="Oval 5"/>
            <p:cNvSpPr/>
            <p:nvPr/>
          </p:nvSpPr>
          <p:spPr>
            <a:xfrm flipH="1">
              <a:off x="656" y="2478"/>
              <a:ext cx="600" cy="46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18000" tIns="36000" rIns="18000" bIns="36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bbb</a:t>
              </a:r>
              <a:endParaRPr lang="en-US" altLang="zh-CN" sz="2800" b="1" dirty="0"/>
            </a:p>
          </p:txBody>
        </p:sp>
        <p:sp>
          <p:nvSpPr>
            <p:cNvPr id="123911" name="Line 6"/>
            <p:cNvSpPr/>
            <p:nvPr/>
          </p:nvSpPr>
          <p:spPr>
            <a:xfrm flipV="1">
              <a:off x="196" y="2710"/>
              <a:ext cx="471" cy="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2" name="Line 7"/>
            <p:cNvSpPr/>
            <p:nvPr/>
          </p:nvSpPr>
          <p:spPr>
            <a:xfrm>
              <a:off x="1292" y="2750"/>
              <a:ext cx="40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3" name="Line 8"/>
            <p:cNvSpPr/>
            <p:nvPr/>
          </p:nvSpPr>
          <p:spPr>
            <a:xfrm flipV="1">
              <a:off x="2226" y="1933"/>
              <a:ext cx="835" cy="60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4" name="Line 9"/>
            <p:cNvSpPr/>
            <p:nvPr/>
          </p:nvSpPr>
          <p:spPr>
            <a:xfrm>
              <a:off x="2245" y="2931"/>
              <a:ext cx="754" cy="51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5" name="Freeform 10"/>
            <p:cNvSpPr/>
            <p:nvPr/>
          </p:nvSpPr>
          <p:spPr>
            <a:xfrm>
              <a:off x="3560" y="2024"/>
              <a:ext cx="734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0" y="224"/>
                </a:cxn>
              </a:cxnLst>
              <a:pathLst>
                <a:path w="945" h="365">
                  <a:moveTo>
                    <a:pt x="0" y="0"/>
                  </a:moveTo>
                  <a:lnTo>
                    <a:pt x="945" y="365"/>
                  </a:ln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916" name="Line 11"/>
            <p:cNvSpPr/>
            <p:nvPr/>
          </p:nvSpPr>
          <p:spPr>
            <a:xfrm flipV="1">
              <a:off x="3560" y="1445"/>
              <a:ext cx="730" cy="26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7" name="Line 12"/>
            <p:cNvSpPr/>
            <p:nvPr/>
          </p:nvSpPr>
          <p:spPr>
            <a:xfrm flipV="1">
              <a:off x="3560" y="3182"/>
              <a:ext cx="748" cy="24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8" name="Line 13"/>
            <p:cNvSpPr/>
            <p:nvPr/>
          </p:nvSpPr>
          <p:spPr>
            <a:xfrm>
              <a:off x="3560" y="3702"/>
              <a:ext cx="780" cy="38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19" name="Rectangle 14"/>
            <p:cNvSpPr/>
            <p:nvPr/>
          </p:nvSpPr>
          <p:spPr>
            <a:xfrm>
              <a:off x="1338" y="2432"/>
              <a:ext cx="363" cy="259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20" name="Rectangle 15"/>
            <p:cNvSpPr/>
            <p:nvPr/>
          </p:nvSpPr>
          <p:spPr>
            <a:xfrm>
              <a:off x="2464" y="1954"/>
              <a:ext cx="469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21" name="Rectangle 16"/>
            <p:cNvSpPr/>
            <p:nvPr/>
          </p:nvSpPr>
          <p:spPr>
            <a:xfrm>
              <a:off x="2567" y="2911"/>
              <a:ext cx="309" cy="259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22" name="Rectangle 17"/>
            <p:cNvSpPr/>
            <p:nvPr/>
          </p:nvSpPr>
          <p:spPr>
            <a:xfrm>
              <a:off x="1066" y="2024"/>
              <a:ext cx="413" cy="257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23" name="Rectangle 18"/>
            <p:cNvSpPr/>
            <p:nvPr/>
          </p:nvSpPr>
          <p:spPr>
            <a:xfrm>
              <a:off x="3631" y="1346"/>
              <a:ext cx="469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24" name="Rectangle 19"/>
            <p:cNvSpPr/>
            <p:nvPr/>
          </p:nvSpPr>
          <p:spPr>
            <a:xfrm>
              <a:off x="3701" y="3012"/>
              <a:ext cx="469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25" name="Rectangle 20"/>
            <p:cNvSpPr/>
            <p:nvPr/>
          </p:nvSpPr>
          <p:spPr>
            <a:xfrm>
              <a:off x="3804" y="1853"/>
              <a:ext cx="361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26" name="Rectangle 21"/>
            <p:cNvSpPr/>
            <p:nvPr/>
          </p:nvSpPr>
          <p:spPr>
            <a:xfrm>
              <a:off x="3833" y="3612"/>
              <a:ext cx="325" cy="257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27" name="Rectangle 22"/>
            <p:cNvSpPr/>
            <p:nvPr/>
          </p:nvSpPr>
          <p:spPr>
            <a:xfrm>
              <a:off x="144" y="2407"/>
              <a:ext cx="567" cy="259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start</a:t>
              </a:r>
              <a:endParaRPr lang="en-US" altLang="zh-CN" sz="2800" b="1" dirty="0"/>
            </a:p>
          </p:txBody>
        </p:sp>
        <p:grpSp>
          <p:nvGrpSpPr>
            <p:cNvPr id="123928" name="Group 23"/>
            <p:cNvGrpSpPr/>
            <p:nvPr/>
          </p:nvGrpSpPr>
          <p:grpSpPr>
            <a:xfrm>
              <a:off x="4332" y="3748"/>
              <a:ext cx="679" cy="544"/>
              <a:chOff x="613" y="2432"/>
              <a:chExt cx="679" cy="544"/>
            </a:xfrm>
          </p:grpSpPr>
          <p:sp>
            <p:nvSpPr>
              <p:cNvPr id="123958" name="Oval 24"/>
              <p:cNvSpPr/>
              <p:nvPr/>
            </p:nvSpPr>
            <p:spPr>
              <a:xfrm flipH="1">
                <a:off x="657" y="2478"/>
                <a:ext cx="600" cy="46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18000" tIns="36000" rIns="18000" bIns="360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/>
                  <a:t>abb</a:t>
                </a:r>
                <a:endParaRPr lang="en-US" altLang="zh-CN" sz="2800" b="1" dirty="0"/>
              </a:p>
            </p:txBody>
          </p:sp>
          <p:sp>
            <p:nvSpPr>
              <p:cNvPr id="123959" name="Oval 25"/>
              <p:cNvSpPr/>
              <p:nvPr/>
            </p:nvSpPr>
            <p:spPr>
              <a:xfrm flipH="1">
                <a:off x="613" y="2432"/>
                <a:ext cx="679" cy="54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tIns="288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000" b="1" dirty="0"/>
              </a:p>
            </p:txBody>
          </p:sp>
        </p:grpSp>
        <p:grpSp>
          <p:nvGrpSpPr>
            <p:cNvPr id="123929" name="Group 26"/>
            <p:cNvGrpSpPr/>
            <p:nvPr/>
          </p:nvGrpSpPr>
          <p:grpSpPr>
            <a:xfrm>
              <a:off x="4332" y="1162"/>
              <a:ext cx="679" cy="544"/>
              <a:chOff x="613" y="2432"/>
              <a:chExt cx="679" cy="544"/>
            </a:xfrm>
          </p:grpSpPr>
          <p:sp>
            <p:nvSpPr>
              <p:cNvPr id="123956" name="Oval 27"/>
              <p:cNvSpPr/>
              <p:nvPr/>
            </p:nvSpPr>
            <p:spPr>
              <a:xfrm flipH="1">
                <a:off x="657" y="2478"/>
                <a:ext cx="600" cy="46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18000" tIns="36000" rIns="18000" bIns="360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/>
                  <a:t>aaa</a:t>
                </a:r>
                <a:endParaRPr lang="en-US" altLang="zh-CN" sz="2800" b="1" dirty="0"/>
              </a:p>
            </p:txBody>
          </p:sp>
          <p:sp>
            <p:nvSpPr>
              <p:cNvPr id="123957" name="Oval 28"/>
              <p:cNvSpPr/>
              <p:nvPr/>
            </p:nvSpPr>
            <p:spPr>
              <a:xfrm flipH="1">
                <a:off x="613" y="2432"/>
                <a:ext cx="679" cy="54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tIns="288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000" b="1" dirty="0"/>
              </a:p>
            </p:txBody>
          </p:sp>
        </p:grpSp>
        <p:grpSp>
          <p:nvGrpSpPr>
            <p:cNvPr id="123930" name="Group 29"/>
            <p:cNvGrpSpPr/>
            <p:nvPr/>
          </p:nvGrpSpPr>
          <p:grpSpPr>
            <a:xfrm>
              <a:off x="4332" y="2024"/>
              <a:ext cx="679" cy="544"/>
              <a:chOff x="613" y="2432"/>
              <a:chExt cx="679" cy="544"/>
            </a:xfrm>
          </p:grpSpPr>
          <p:sp>
            <p:nvSpPr>
              <p:cNvPr id="123954" name="Oval 30"/>
              <p:cNvSpPr/>
              <p:nvPr/>
            </p:nvSpPr>
            <p:spPr>
              <a:xfrm flipH="1">
                <a:off x="657" y="2478"/>
                <a:ext cx="600" cy="46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18000" tIns="36000" rIns="18000" bIns="360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/>
                  <a:t>aab</a:t>
                </a:r>
                <a:endParaRPr lang="en-US" altLang="zh-CN" sz="2800" b="1" dirty="0"/>
              </a:p>
            </p:txBody>
          </p:sp>
          <p:sp>
            <p:nvSpPr>
              <p:cNvPr id="123955" name="Oval 31"/>
              <p:cNvSpPr/>
              <p:nvPr/>
            </p:nvSpPr>
            <p:spPr>
              <a:xfrm flipH="1">
                <a:off x="613" y="2432"/>
                <a:ext cx="679" cy="54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tIns="288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000" b="1" dirty="0"/>
              </a:p>
            </p:txBody>
          </p:sp>
        </p:grpSp>
        <p:grpSp>
          <p:nvGrpSpPr>
            <p:cNvPr id="123931" name="Group 32"/>
            <p:cNvGrpSpPr/>
            <p:nvPr/>
          </p:nvGrpSpPr>
          <p:grpSpPr>
            <a:xfrm>
              <a:off x="4332" y="2886"/>
              <a:ext cx="679" cy="544"/>
              <a:chOff x="613" y="2432"/>
              <a:chExt cx="679" cy="544"/>
            </a:xfrm>
          </p:grpSpPr>
          <p:sp>
            <p:nvSpPr>
              <p:cNvPr id="123952" name="Oval 33"/>
              <p:cNvSpPr/>
              <p:nvPr/>
            </p:nvSpPr>
            <p:spPr>
              <a:xfrm flipH="1">
                <a:off x="657" y="2478"/>
                <a:ext cx="600" cy="46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18000" tIns="36000" rIns="18000" bIns="360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/>
                  <a:t>aba</a:t>
                </a:r>
                <a:endParaRPr lang="en-US" altLang="zh-CN" sz="2800" b="1" dirty="0"/>
              </a:p>
            </p:txBody>
          </p:sp>
          <p:sp>
            <p:nvSpPr>
              <p:cNvPr id="123953" name="Oval 34"/>
              <p:cNvSpPr/>
              <p:nvPr/>
            </p:nvSpPr>
            <p:spPr>
              <a:xfrm flipH="1">
                <a:off x="613" y="2432"/>
                <a:ext cx="679" cy="54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tIns="288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000" b="1" dirty="0"/>
              </a:p>
            </p:txBody>
          </p:sp>
        </p:grpSp>
        <p:sp>
          <p:nvSpPr>
            <p:cNvPr id="123932" name="Oval 35"/>
            <p:cNvSpPr/>
            <p:nvPr/>
          </p:nvSpPr>
          <p:spPr>
            <a:xfrm flipH="1">
              <a:off x="1746" y="2523"/>
              <a:ext cx="600" cy="46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18000" tIns="36000" rIns="18000" bIns="36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bba</a:t>
              </a:r>
              <a:endParaRPr lang="en-US" altLang="zh-CN" sz="2800" b="1" dirty="0"/>
            </a:p>
          </p:txBody>
        </p:sp>
        <p:sp>
          <p:nvSpPr>
            <p:cNvPr id="123933" name="Oval 36"/>
            <p:cNvSpPr/>
            <p:nvPr/>
          </p:nvSpPr>
          <p:spPr>
            <a:xfrm flipH="1">
              <a:off x="3016" y="1616"/>
              <a:ext cx="600" cy="46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18000" tIns="36000" rIns="18000" bIns="36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baa</a:t>
              </a:r>
              <a:endParaRPr lang="en-US" altLang="zh-CN" sz="2800" b="1" dirty="0"/>
            </a:p>
          </p:txBody>
        </p:sp>
        <p:sp>
          <p:nvSpPr>
            <p:cNvPr id="123934" name="Oval 37"/>
            <p:cNvSpPr/>
            <p:nvPr/>
          </p:nvSpPr>
          <p:spPr>
            <a:xfrm flipH="1">
              <a:off x="2971" y="3339"/>
              <a:ext cx="600" cy="46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18000" tIns="36000" rIns="18000" bIns="36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bab</a:t>
              </a:r>
              <a:endParaRPr lang="en-US" altLang="zh-CN" sz="2800" b="1" dirty="0"/>
            </a:p>
          </p:txBody>
        </p:sp>
        <p:sp>
          <p:nvSpPr>
            <p:cNvPr id="123935" name="Line 38"/>
            <p:cNvSpPr/>
            <p:nvPr/>
          </p:nvSpPr>
          <p:spPr>
            <a:xfrm>
              <a:off x="4649" y="1706"/>
              <a:ext cx="0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36" name="Line 39"/>
            <p:cNvSpPr/>
            <p:nvPr/>
          </p:nvSpPr>
          <p:spPr>
            <a:xfrm>
              <a:off x="4649" y="2568"/>
              <a:ext cx="0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37" name="Freeform 40"/>
            <p:cNvSpPr/>
            <p:nvPr/>
          </p:nvSpPr>
          <p:spPr>
            <a:xfrm>
              <a:off x="5012" y="1207"/>
              <a:ext cx="466" cy="447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111" y="0"/>
                </a:cxn>
                <a:cxn ang="0">
                  <a:pos x="332" y="52"/>
                </a:cxn>
                <a:cxn ang="0">
                  <a:pos x="494" y="256"/>
                </a:cxn>
                <a:cxn ang="0">
                  <a:pos x="373" y="442"/>
                </a:cxn>
                <a:cxn ang="0">
                  <a:pos x="166" y="423"/>
                </a:cxn>
                <a:cxn ang="0">
                  <a:pos x="0" y="317"/>
                </a:cxn>
              </a:cxnLst>
              <a:pathLst>
                <a:path w="434" h="426">
                  <a:moveTo>
                    <a:pt x="0" y="48"/>
                  </a:moveTo>
                  <a:cubicBezTo>
                    <a:pt x="24" y="24"/>
                    <a:pt x="48" y="0"/>
                    <a:pt x="96" y="0"/>
                  </a:cubicBezTo>
                  <a:cubicBezTo>
                    <a:pt x="144" y="0"/>
                    <a:pt x="233" y="9"/>
                    <a:pt x="288" y="48"/>
                  </a:cubicBezTo>
                  <a:cubicBezTo>
                    <a:pt x="343" y="87"/>
                    <a:pt x="422" y="174"/>
                    <a:pt x="428" y="233"/>
                  </a:cubicBezTo>
                  <a:cubicBezTo>
                    <a:pt x="434" y="292"/>
                    <a:pt x="370" y="376"/>
                    <a:pt x="323" y="401"/>
                  </a:cubicBezTo>
                  <a:cubicBezTo>
                    <a:pt x="276" y="426"/>
                    <a:pt x="198" y="403"/>
                    <a:pt x="144" y="384"/>
                  </a:cubicBezTo>
                  <a:cubicBezTo>
                    <a:pt x="90" y="365"/>
                    <a:pt x="24" y="304"/>
                    <a:pt x="0" y="288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938" name="Rectangle 41"/>
            <p:cNvSpPr/>
            <p:nvPr/>
          </p:nvSpPr>
          <p:spPr>
            <a:xfrm>
              <a:off x="5329" y="1570"/>
              <a:ext cx="227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39" name="Freeform 42"/>
            <p:cNvSpPr/>
            <p:nvPr/>
          </p:nvSpPr>
          <p:spPr>
            <a:xfrm rot="5400000" flipH="1">
              <a:off x="670" y="2082"/>
              <a:ext cx="409" cy="363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85" y="0"/>
                </a:cxn>
                <a:cxn ang="0">
                  <a:pos x="255" y="35"/>
                </a:cxn>
                <a:cxn ang="0">
                  <a:pos x="380" y="170"/>
                </a:cxn>
                <a:cxn ang="0">
                  <a:pos x="286" y="291"/>
                </a:cxn>
                <a:cxn ang="0">
                  <a:pos x="128" y="279"/>
                </a:cxn>
                <a:cxn ang="0">
                  <a:pos x="0" y="209"/>
                </a:cxn>
              </a:cxnLst>
              <a:pathLst>
                <a:path w="434" h="426">
                  <a:moveTo>
                    <a:pt x="0" y="48"/>
                  </a:moveTo>
                  <a:cubicBezTo>
                    <a:pt x="24" y="24"/>
                    <a:pt x="48" y="0"/>
                    <a:pt x="96" y="0"/>
                  </a:cubicBezTo>
                  <a:cubicBezTo>
                    <a:pt x="144" y="0"/>
                    <a:pt x="233" y="9"/>
                    <a:pt x="288" y="48"/>
                  </a:cubicBezTo>
                  <a:cubicBezTo>
                    <a:pt x="343" y="87"/>
                    <a:pt x="422" y="174"/>
                    <a:pt x="428" y="233"/>
                  </a:cubicBezTo>
                  <a:cubicBezTo>
                    <a:pt x="434" y="292"/>
                    <a:pt x="370" y="376"/>
                    <a:pt x="323" y="401"/>
                  </a:cubicBezTo>
                  <a:cubicBezTo>
                    <a:pt x="276" y="426"/>
                    <a:pt x="198" y="403"/>
                    <a:pt x="144" y="384"/>
                  </a:cubicBezTo>
                  <a:cubicBezTo>
                    <a:pt x="90" y="365"/>
                    <a:pt x="24" y="304"/>
                    <a:pt x="0" y="288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940" name="Rectangle 43"/>
            <p:cNvSpPr/>
            <p:nvPr/>
          </p:nvSpPr>
          <p:spPr>
            <a:xfrm>
              <a:off x="4694" y="1752"/>
              <a:ext cx="317" cy="257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41" name="Rectangle 44"/>
            <p:cNvSpPr/>
            <p:nvPr/>
          </p:nvSpPr>
          <p:spPr>
            <a:xfrm>
              <a:off x="4694" y="2568"/>
              <a:ext cx="227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42" name="Freeform 45"/>
            <p:cNvSpPr/>
            <p:nvPr/>
          </p:nvSpPr>
          <p:spPr>
            <a:xfrm>
              <a:off x="5012" y="2296"/>
              <a:ext cx="516" cy="17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3" y="319"/>
                </a:cxn>
                <a:cxn ang="0">
                  <a:pos x="383" y="924"/>
                </a:cxn>
                <a:cxn ang="0">
                  <a:pos x="0" y="1419"/>
                </a:cxn>
              </a:cxnLst>
              <a:pathLst>
                <a:path w="595" h="2073">
                  <a:moveTo>
                    <a:pt x="0" y="0"/>
                  </a:moveTo>
                  <a:cubicBezTo>
                    <a:pt x="85" y="77"/>
                    <a:pt x="425" y="240"/>
                    <a:pt x="510" y="465"/>
                  </a:cubicBezTo>
                  <a:cubicBezTo>
                    <a:pt x="595" y="690"/>
                    <a:pt x="595" y="1082"/>
                    <a:pt x="510" y="1350"/>
                  </a:cubicBezTo>
                  <a:cubicBezTo>
                    <a:pt x="425" y="1618"/>
                    <a:pt x="85" y="1953"/>
                    <a:pt x="0" y="2073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943" name="Rectangle 46"/>
            <p:cNvSpPr/>
            <p:nvPr/>
          </p:nvSpPr>
          <p:spPr>
            <a:xfrm>
              <a:off x="5239" y="2840"/>
              <a:ext cx="317" cy="257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44" name="Line 47"/>
            <p:cNvSpPr/>
            <p:nvPr/>
          </p:nvSpPr>
          <p:spPr>
            <a:xfrm flipH="1" flipV="1">
              <a:off x="3406" y="2041"/>
              <a:ext cx="936" cy="10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45" name="Rectangle 48"/>
            <p:cNvSpPr/>
            <p:nvPr/>
          </p:nvSpPr>
          <p:spPr>
            <a:xfrm>
              <a:off x="3606" y="2387"/>
              <a:ext cx="227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46" name="Line 49"/>
            <p:cNvSpPr/>
            <p:nvPr/>
          </p:nvSpPr>
          <p:spPr>
            <a:xfrm flipH="1">
              <a:off x="3606" y="3339"/>
              <a:ext cx="726" cy="22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47" name="Rectangle 50"/>
            <p:cNvSpPr/>
            <p:nvPr/>
          </p:nvSpPr>
          <p:spPr>
            <a:xfrm>
              <a:off x="4014" y="3385"/>
              <a:ext cx="317" cy="257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  <p:sp>
          <p:nvSpPr>
            <p:cNvPr id="123948" name="Freeform 51"/>
            <p:cNvSpPr/>
            <p:nvPr/>
          </p:nvSpPr>
          <p:spPr>
            <a:xfrm>
              <a:off x="2018" y="2976"/>
              <a:ext cx="2328" cy="1217"/>
            </a:xfrm>
            <a:custGeom>
              <a:avLst/>
              <a:gdLst/>
              <a:ahLst/>
              <a:cxnLst>
                <a:cxn ang="0">
                  <a:pos x="2018" y="946"/>
                </a:cxn>
                <a:cxn ang="0">
                  <a:pos x="1511" y="927"/>
                </a:cxn>
                <a:cxn ang="0">
                  <a:pos x="1038" y="814"/>
                </a:cxn>
                <a:cxn ang="0">
                  <a:pos x="755" y="712"/>
                </a:cxn>
                <a:cxn ang="0">
                  <a:pos x="575" y="619"/>
                </a:cxn>
                <a:cxn ang="0">
                  <a:pos x="90" y="327"/>
                </a:cxn>
                <a:cxn ang="0">
                  <a:pos x="0" y="0"/>
                </a:cxn>
              </a:cxnLst>
              <a:pathLst>
                <a:path w="2685" h="1542">
                  <a:moveTo>
                    <a:pt x="2685" y="1518"/>
                  </a:moveTo>
                  <a:cubicBezTo>
                    <a:pt x="2464" y="1533"/>
                    <a:pt x="2228" y="1542"/>
                    <a:pt x="2010" y="1488"/>
                  </a:cubicBezTo>
                  <a:cubicBezTo>
                    <a:pt x="1793" y="1453"/>
                    <a:pt x="1540" y="1360"/>
                    <a:pt x="1380" y="1308"/>
                  </a:cubicBezTo>
                  <a:cubicBezTo>
                    <a:pt x="1213" y="1251"/>
                    <a:pt x="1107" y="1195"/>
                    <a:pt x="1005" y="1143"/>
                  </a:cubicBezTo>
                  <a:cubicBezTo>
                    <a:pt x="923" y="1096"/>
                    <a:pt x="844" y="1046"/>
                    <a:pt x="765" y="993"/>
                  </a:cubicBezTo>
                  <a:cubicBezTo>
                    <a:pt x="665" y="918"/>
                    <a:pt x="240" y="685"/>
                    <a:pt x="120" y="525"/>
                  </a:cubicBezTo>
                  <a:cubicBezTo>
                    <a:pt x="0" y="365"/>
                    <a:pt x="62" y="128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949" name="Rectangle 52"/>
            <p:cNvSpPr/>
            <p:nvPr/>
          </p:nvSpPr>
          <p:spPr>
            <a:xfrm>
              <a:off x="2472" y="3385"/>
              <a:ext cx="227" cy="258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a</a:t>
              </a:r>
              <a:endParaRPr lang="en-US" altLang="zh-CN" sz="2800" b="1" dirty="0"/>
            </a:p>
          </p:txBody>
        </p:sp>
        <p:sp>
          <p:nvSpPr>
            <p:cNvPr id="123950" name="Freeform 53"/>
            <p:cNvSpPr/>
            <p:nvPr/>
          </p:nvSpPr>
          <p:spPr>
            <a:xfrm>
              <a:off x="975" y="2931"/>
              <a:ext cx="3411" cy="1341"/>
            </a:xfrm>
            <a:custGeom>
              <a:avLst/>
              <a:gdLst/>
              <a:ahLst/>
              <a:cxnLst>
                <a:cxn ang="0">
                  <a:pos x="2972" y="1006"/>
                </a:cxn>
                <a:cxn ang="0">
                  <a:pos x="2630" y="1042"/>
                </a:cxn>
                <a:cxn ang="0">
                  <a:pos x="1890" y="1006"/>
                </a:cxn>
                <a:cxn ang="0">
                  <a:pos x="1287" y="934"/>
                </a:cxn>
                <a:cxn ang="0">
                  <a:pos x="786" y="753"/>
                </a:cxn>
                <a:cxn ang="0">
                  <a:pos x="398" y="517"/>
                </a:cxn>
                <a:cxn ang="0">
                  <a:pos x="159" y="290"/>
                </a:cxn>
                <a:cxn ang="0">
                  <a:pos x="0" y="0"/>
                </a:cxn>
              </a:cxnLst>
              <a:pathLst>
                <a:path w="3915" h="1725">
                  <a:moveTo>
                    <a:pt x="3915" y="1665"/>
                  </a:moveTo>
                  <a:cubicBezTo>
                    <a:pt x="3766" y="1702"/>
                    <a:pt x="3618" y="1710"/>
                    <a:pt x="3465" y="1725"/>
                  </a:cubicBezTo>
                  <a:cubicBezTo>
                    <a:pt x="3141" y="1702"/>
                    <a:pt x="2812" y="1705"/>
                    <a:pt x="2490" y="1665"/>
                  </a:cubicBezTo>
                  <a:cubicBezTo>
                    <a:pt x="2223" y="1632"/>
                    <a:pt x="1960" y="1589"/>
                    <a:pt x="1695" y="1545"/>
                  </a:cubicBezTo>
                  <a:cubicBezTo>
                    <a:pt x="1453" y="1475"/>
                    <a:pt x="1170" y="1312"/>
                    <a:pt x="1035" y="1245"/>
                  </a:cubicBezTo>
                  <a:cubicBezTo>
                    <a:pt x="840" y="1130"/>
                    <a:pt x="663" y="983"/>
                    <a:pt x="525" y="855"/>
                  </a:cubicBezTo>
                  <a:cubicBezTo>
                    <a:pt x="434" y="718"/>
                    <a:pt x="310" y="609"/>
                    <a:pt x="210" y="480"/>
                  </a:cubicBezTo>
                  <a:cubicBezTo>
                    <a:pt x="123" y="337"/>
                    <a:pt x="35" y="80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951" name="Rectangle 54"/>
            <p:cNvSpPr/>
            <p:nvPr/>
          </p:nvSpPr>
          <p:spPr>
            <a:xfrm>
              <a:off x="1610" y="3475"/>
              <a:ext cx="317" cy="257"/>
            </a:xfrm>
            <a:prstGeom prst="rect">
              <a:avLst/>
            </a:prstGeom>
            <a:noFill/>
            <a:ln w="25400">
              <a:noFill/>
            </a:ln>
          </p:spPr>
          <p:txBody>
            <a:bodyPr tIns="72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/>
                <a:t>b</a:t>
              </a:r>
              <a:endParaRPr lang="en-US" altLang="zh-CN" sz="2800" b="1" dirty="0"/>
            </a:p>
          </p:txBody>
        </p:sp>
      </p:grpSp>
      <p:sp>
        <p:nvSpPr>
          <p:cNvPr id="510007" name="Rectangle 55"/>
          <p:cNvSpPr/>
          <p:nvPr/>
        </p:nvSpPr>
        <p:spPr>
          <a:xfrm>
            <a:off x="323850" y="5805488"/>
            <a:ext cx="220980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b="1" dirty="0"/>
              <a:t>bb</a:t>
            </a:r>
            <a:r>
              <a:rPr lang="en-US" altLang="zh-CN" b="1" dirty="0">
                <a:solidFill>
                  <a:srgbClr val="00FF00"/>
                </a:solidFill>
              </a:rPr>
              <a:t>a</a:t>
            </a:r>
            <a:r>
              <a:rPr lang="en-US" altLang="zh-CN" b="1" dirty="0"/>
              <a:t>b</a:t>
            </a:r>
            <a:r>
              <a:rPr lang="en-US" altLang="zh-CN" b="1" dirty="0">
                <a:solidFill>
                  <a:srgbClr val="00FF00"/>
                </a:solidFill>
              </a:rPr>
              <a:t>aa</a:t>
            </a:r>
            <a:r>
              <a:rPr lang="en-US" altLang="zh-CN" b="1" dirty="0"/>
              <a:t>bb</a:t>
            </a:r>
            <a:endParaRPr lang="en-US" altLang="zh-CN" b="1" dirty="0"/>
          </a:p>
        </p:txBody>
      </p:sp>
      <p:sp>
        <p:nvSpPr>
          <p:cNvPr id="123908" name="Rectangle 57"/>
          <p:cNvSpPr/>
          <p:nvPr/>
        </p:nvSpPr>
        <p:spPr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例  题  </a:t>
            </a:r>
            <a:r>
              <a:rPr lang="en-US" altLang="zh-CN" sz="4400" b="1" dirty="0">
                <a:solidFill>
                  <a:schemeClr val="tx2"/>
                </a:solidFill>
              </a:rPr>
              <a:t>2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  <p:sp>
        <p:nvSpPr>
          <p:cNvPr id="123909" name="Rectangle 59"/>
          <p:cNvSpPr>
            <a:spLocks noGrp="1" noRot="1"/>
          </p:cNvSpPr>
          <p:nvPr>
            <p:ph idx="1"/>
          </p:nvPr>
        </p:nvSpPr>
        <p:spPr>
          <a:xfrm>
            <a:off x="323850" y="1600200"/>
            <a:ext cx="8569325" cy="4851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zh-CN" altLang="en-US" b="1" dirty="0"/>
              <a:t>用状态转换图表示接受</a:t>
            </a:r>
            <a:endParaRPr lang="zh-CN" altLang="en-US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	(</a:t>
            </a:r>
            <a:r>
              <a:rPr lang="en-US" altLang="zh-CN" b="1" dirty="0"/>
              <a:t>a|b)</a:t>
            </a:r>
            <a:r>
              <a:rPr lang="en-US" altLang="zh-CN" b="1" baseline="30000" dirty="0">
                <a:sym typeface="Symbol" pitchFamily="18" charset="2"/>
              </a:rPr>
              <a:t></a:t>
            </a:r>
            <a:r>
              <a:rPr lang="en-US" altLang="zh-CN" b="1" dirty="0"/>
              <a:t>a(a|b)(a|b)</a:t>
            </a:r>
            <a:r>
              <a:rPr lang="zh-CN" altLang="en-US" b="1" dirty="0"/>
              <a:t>的</a:t>
            </a:r>
            <a:r>
              <a:rPr lang="en-US" altLang="zh-CN" b="1" dirty="0"/>
              <a:t>DFA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007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0723" name="Rectangle 3"/>
          <p:cNvSpPr>
            <a:spLocks noGrp="1" noRot="1"/>
          </p:cNvSpPr>
          <p:nvPr>
            <p:ph idx="1"/>
          </p:nvPr>
        </p:nvSpPr>
        <p:spPr>
          <a:xfrm>
            <a:off x="323850" y="1600200"/>
            <a:ext cx="8569325" cy="4851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b="1" dirty="0">
                <a:latin typeface="宋体" pitchFamily="2" charset="-122"/>
              </a:rPr>
              <a:t>写出语言</a:t>
            </a:r>
            <a:r>
              <a:rPr lang="zh-CN" altLang="en-US" b="1" dirty="0">
                <a:latin typeface="Times New Roman" panose="02020503050405090304" pitchFamily="18" charset="0"/>
              </a:rPr>
              <a:t>“</a:t>
            </a:r>
            <a:r>
              <a:rPr lang="zh-CN" altLang="en-US" b="1" dirty="0">
                <a:latin typeface="宋体" pitchFamily="2" charset="-122"/>
              </a:rPr>
              <a:t>所有相邻数字都不相同的非空数字串</a:t>
            </a:r>
            <a:r>
              <a:rPr lang="zh-CN" altLang="en-US" b="1" dirty="0">
                <a:latin typeface="Times New Roman" panose="02020503050405090304" pitchFamily="18" charset="0"/>
              </a:rPr>
              <a:t>”</a:t>
            </a:r>
            <a:r>
              <a:rPr lang="zh-CN" altLang="en-US" b="1" dirty="0">
                <a:latin typeface="宋体" pitchFamily="2" charset="-122"/>
              </a:rPr>
              <a:t>的正规定义</a:t>
            </a:r>
            <a:endParaRPr lang="zh-CN" altLang="en-US" b="1" dirty="0"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宋体" pitchFamily="2" charset="-122"/>
              </a:rPr>
              <a:t>		</a:t>
            </a:r>
            <a:r>
              <a:rPr lang="en-US" altLang="zh-CN" b="1" dirty="0">
                <a:solidFill>
                  <a:srgbClr val="00FF00"/>
                </a:solidFill>
              </a:rPr>
              <a:t>123</a:t>
            </a:r>
            <a:r>
              <a:rPr lang="en-US" altLang="zh-CN" b="1" dirty="0"/>
              <a:t>0</a:t>
            </a:r>
            <a:r>
              <a:rPr lang="en-US" altLang="zh-CN" b="1" dirty="0">
                <a:solidFill>
                  <a:srgbClr val="00FF00"/>
                </a:solidFill>
              </a:rPr>
              <a:t>313571</a:t>
            </a:r>
            <a:r>
              <a:rPr lang="en-US" altLang="zh-CN" b="1" dirty="0"/>
              <a:t>0</a:t>
            </a:r>
            <a:r>
              <a:rPr lang="en-US" altLang="zh-CN" b="1" dirty="0">
                <a:solidFill>
                  <a:srgbClr val="00FF00"/>
                </a:solidFill>
              </a:rPr>
              <a:t>6798</a:t>
            </a:r>
            <a:r>
              <a:rPr lang="en-US" altLang="zh-CN" b="1" dirty="0"/>
              <a:t>0</a:t>
            </a:r>
            <a:r>
              <a:rPr lang="en-US" altLang="zh-CN" b="1" dirty="0">
                <a:solidFill>
                  <a:srgbClr val="00FF00"/>
                </a:solidFill>
              </a:rPr>
              <a:t>3579</a:t>
            </a:r>
            <a:r>
              <a:rPr lang="en-US" altLang="zh-CN" b="1" dirty="0"/>
              <a:t>0</a:t>
            </a:r>
            <a:r>
              <a:rPr lang="en-US" altLang="zh-CN" b="1" dirty="0">
                <a:solidFill>
                  <a:srgbClr val="00FF00"/>
                </a:solidFill>
              </a:rPr>
              <a:t>123</a:t>
            </a:r>
            <a:endParaRPr lang="en-US" altLang="zh-CN" b="1" dirty="0">
              <a:solidFill>
                <a:srgbClr val="00FF00"/>
              </a:solidFill>
            </a:endParaRP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endParaRPr lang="en-US" altLang="zh-CN" sz="2800" b="1" dirty="0">
              <a:latin typeface="宋体" pitchFamily="2" charset="-122"/>
            </a:endParaRPr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answer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b="1" dirty="0"/>
              <a:t> (0  |  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  </a:t>
            </a:r>
            <a:r>
              <a:rPr lang="en-US" altLang="zh-CN" sz="2800" b="1" dirty="0"/>
              <a:t>0 ) (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  </a:t>
            </a:r>
            <a:r>
              <a:rPr lang="en-US" altLang="zh-CN" sz="2800" b="1" dirty="0"/>
              <a:t>0 )</a:t>
            </a:r>
            <a:r>
              <a:rPr lang="en-US" altLang="zh-CN" sz="2800" b="1" baseline="30000" dirty="0">
                <a:sym typeface="Symbol" pitchFamily="18" charset="2"/>
              </a:rPr>
              <a:t></a:t>
            </a:r>
            <a:r>
              <a:rPr lang="en-US" altLang="zh-CN" sz="2800" b="1" dirty="0"/>
              <a:t> (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  | </a:t>
            </a:r>
            <a:r>
              <a:rPr lang="en-US" altLang="zh-CN" sz="2800" b="1" dirty="0">
                <a:sym typeface="Symbol" pitchFamily="18" charset="2"/>
              </a:rPr>
              <a:t>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)  |  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b="1" dirty="0"/>
              <a:t> (1 | 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1 </a:t>
            </a:r>
            <a:r>
              <a:rPr lang="en-US" altLang="zh-CN" sz="2800" b="1" dirty="0"/>
              <a:t>1 ) (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1 </a:t>
            </a:r>
            <a:r>
              <a:rPr lang="en-US" altLang="zh-CN" sz="2800" b="1" dirty="0"/>
              <a:t>1 )</a:t>
            </a:r>
            <a:r>
              <a:rPr lang="en-US" altLang="zh-CN" sz="2800" b="1" baseline="30000" dirty="0">
                <a:sym typeface="Symbol" pitchFamily="18" charset="2"/>
              </a:rPr>
              <a:t></a:t>
            </a:r>
            <a:r>
              <a:rPr lang="en-US" altLang="zh-CN" sz="2800" b="1" dirty="0"/>
              <a:t> (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1</a:t>
            </a:r>
            <a:r>
              <a:rPr lang="en-US" altLang="zh-CN" sz="2800" b="1" dirty="0"/>
              <a:t> | </a:t>
            </a:r>
            <a:r>
              <a:rPr lang="en-US" altLang="zh-CN" sz="2800" b="1" dirty="0">
                <a:sym typeface="Symbol" pitchFamily="18" charset="2"/>
              </a:rPr>
              <a:t>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) | </a:t>
            </a: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1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. . .</a:t>
            </a:r>
            <a:endParaRPr lang="en-US" altLang="zh-CN" sz="2800" b="1" dirty="0"/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no</a:t>
            </a:r>
            <a:r>
              <a:rPr lang="en-US" altLang="zh-CN" sz="2800" b="1" dirty="0"/>
              <a:t>_</a:t>
            </a:r>
            <a:r>
              <a:rPr lang="en-US" altLang="zh-CN" sz="2800" b="1" i="1" dirty="0"/>
              <a:t>0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8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b="1" dirty="0"/>
              <a:t> 9 </a:t>
            </a:r>
            <a:endParaRPr lang="en-US" altLang="zh-CN" sz="2800" b="1" dirty="0"/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endParaRPr lang="en-US" altLang="zh-CN" sz="2800" b="1" dirty="0"/>
          </a:p>
          <a:p>
            <a:pPr algn="just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zh-CN" altLang="en-US" b="1" dirty="0"/>
              <a:t>将这些正规定义逆序排列就是答案</a:t>
            </a:r>
            <a:endParaRPr lang="zh-CN" altLang="en-US" b="1" dirty="0"/>
          </a:p>
        </p:txBody>
      </p:sp>
      <p:sp>
        <p:nvSpPr>
          <p:cNvPr id="125955" name="Rectangle 5"/>
          <p:cNvSpPr/>
          <p:nvPr/>
        </p:nvSpPr>
        <p:spPr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例  题  </a:t>
            </a:r>
            <a:r>
              <a:rPr lang="en-US" altLang="zh-CN" sz="4400" b="1" dirty="0">
                <a:solidFill>
                  <a:schemeClr val="tx2"/>
                </a:solidFill>
              </a:rPr>
              <a:t>3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7072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charRg st="57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70723">
                                            <p:txEl>
                                              <p:charRg st="57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charRg st="118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70723">
                                            <p:txEl>
                                              <p:charRg st="118" end="1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charRg st="17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70723">
                                            <p:txEl>
                                              <p:charRg st="178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charRg st="18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70723">
                                            <p:txEl>
                                              <p:charRg st="186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charRg st="199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70723">
                                            <p:txEl>
                                              <p:charRg st="199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3"/>
          <p:cNvSpPr>
            <a:spLocks noGrp="1" noRot="1"/>
          </p:cNvSpPr>
          <p:nvPr>
            <p:ph idx="1"/>
          </p:nvPr>
        </p:nvSpPr>
        <p:spPr>
          <a:xfrm>
            <a:off x="323850" y="1600200"/>
            <a:ext cx="8569325" cy="5138738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FontTx/>
              <a:buNone/>
            </a:pPr>
            <a:r>
              <a:rPr lang="zh-CN" altLang="en-US" b="1" dirty="0"/>
              <a:t>	下面</a:t>
            </a:r>
            <a:r>
              <a:rPr lang="en-US" altLang="zh-CN" b="1" dirty="0"/>
              <a:t>C</a:t>
            </a:r>
            <a:r>
              <a:rPr lang="zh-CN" altLang="en-US" b="1" dirty="0"/>
              <a:t>语言编译器编译下面的函数时，报告</a:t>
            </a:r>
            <a:endParaRPr lang="zh-CN" altLang="en-US" b="1" dirty="0"/>
          </a:p>
          <a:p>
            <a:pPr algn="just" eaLnBrk="1" hangingPunct="1">
              <a:buFontTx/>
              <a:buNone/>
            </a:pPr>
            <a:r>
              <a:rPr lang="en-US" altLang="zh-CN" b="1" dirty="0"/>
              <a:t>		parse error before ‘else’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long gcd(p,q)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long p,q;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{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 if (p%q == 0)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rgbClr val="00FF00"/>
                </a:solidFill>
              </a:rPr>
              <a:t>/*</a:t>
            </a:r>
            <a:r>
              <a:rPr lang="en-US" altLang="zh-CN" sz="2800" b="1" dirty="0"/>
              <a:t> then part </a:t>
            </a:r>
            <a:r>
              <a:rPr lang="en-US" altLang="zh-CN" sz="2800" b="1" dirty="0">
                <a:solidFill>
                  <a:srgbClr val="00FF00"/>
                </a:solidFill>
              </a:rPr>
              <a:t>*/</a:t>
            </a:r>
            <a:endParaRPr lang="en-US" altLang="zh-CN" sz="2800" b="1" dirty="0">
              <a:solidFill>
                <a:srgbClr val="00FF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return q		</a:t>
            </a:r>
            <a:r>
              <a:rPr lang="zh-CN" altLang="en-US" sz="2800" b="1" dirty="0">
                <a:solidFill>
                  <a:srgbClr val="00FF00"/>
                </a:solidFill>
              </a:rPr>
              <a:t>此处遗漏分号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else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rgbClr val="00FF00"/>
                </a:solidFill>
              </a:rPr>
              <a:t>/* </a:t>
            </a:r>
            <a:r>
              <a:rPr lang="en-US" altLang="zh-CN" sz="2800" b="1" dirty="0"/>
              <a:t>else part</a:t>
            </a:r>
            <a:r>
              <a:rPr lang="en-US" altLang="zh-CN" sz="2800" b="1" dirty="0">
                <a:solidFill>
                  <a:srgbClr val="00FF00"/>
                </a:solidFill>
              </a:rPr>
              <a:t> */</a:t>
            </a:r>
            <a:endParaRPr lang="en-US" altLang="zh-CN" sz="2800" b="1" dirty="0">
              <a:solidFill>
                <a:srgbClr val="00FF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return gcd(q, p%q);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}</a:t>
            </a:r>
            <a:endParaRPr lang="zh-CN" altLang="en-US" sz="2800" b="1" dirty="0"/>
          </a:p>
        </p:txBody>
      </p:sp>
      <p:sp>
        <p:nvSpPr>
          <p:cNvPr id="128003" name="Rectangle 5"/>
          <p:cNvSpPr/>
          <p:nvPr/>
        </p:nvSpPr>
        <p:spPr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例  题  </a:t>
            </a:r>
            <a:r>
              <a:rPr lang="en-US" altLang="zh-CN" sz="4400" b="1" dirty="0">
                <a:solidFill>
                  <a:schemeClr val="tx2"/>
                </a:solidFill>
              </a:rPr>
              <a:t>4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3"/>
          <p:cNvSpPr>
            <a:spLocks noGrp="1" noRot="1"/>
          </p:cNvSpPr>
          <p:nvPr>
            <p:ph idx="1"/>
          </p:nvPr>
        </p:nvSpPr>
        <p:spPr>
          <a:xfrm>
            <a:off x="323850" y="1600200"/>
            <a:ext cx="8569325" cy="5138738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FontTx/>
              <a:buNone/>
            </a:pPr>
            <a:r>
              <a:rPr lang="zh-CN" altLang="en-US" b="1" dirty="0"/>
              <a:t>	现在少了第一个注释的结束符号后，反而不</a:t>
            </a:r>
            <a:endParaRPr lang="zh-CN" altLang="en-US" b="1" dirty="0"/>
          </a:p>
          <a:p>
            <a:pPr algn="just" eaLnBrk="1" hangingPunct="1">
              <a:buFontTx/>
              <a:buNone/>
            </a:pPr>
            <a:r>
              <a:rPr lang="zh-CN" altLang="en-US" b="1" dirty="0"/>
              <a:t>报错了</a:t>
            </a:r>
            <a:endParaRPr lang="zh-CN" altLang="en-US" b="1" dirty="0"/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long gcd(p,q)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long p,q;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{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    if (p%q == 0)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rgbClr val="00FF00"/>
                </a:solidFill>
              </a:rPr>
              <a:t>/*</a:t>
            </a:r>
            <a:r>
              <a:rPr lang="en-US" altLang="zh-CN" sz="2800" b="1" dirty="0"/>
              <a:t> then part 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return q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else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rgbClr val="00FF00"/>
                </a:solidFill>
              </a:rPr>
              <a:t>/*</a:t>
            </a:r>
            <a:r>
              <a:rPr lang="en-US" altLang="zh-CN" sz="2800" b="1" dirty="0"/>
              <a:t> else part </a:t>
            </a:r>
            <a:r>
              <a:rPr lang="en-US" altLang="zh-CN" sz="2800" b="1" dirty="0">
                <a:solidFill>
                  <a:srgbClr val="00FF00"/>
                </a:solidFill>
              </a:rPr>
              <a:t>*/</a:t>
            </a:r>
            <a:endParaRPr lang="en-US" altLang="zh-CN" sz="2800" b="1" dirty="0">
              <a:solidFill>
                <a:srgbClr val="00FF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		return gcd(q, p%q);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}</a:t>
            </a:r>
            <a:endParaRPr lang="zh-CN" altLang="en-US" sz="2800" b="1" dirty="0"/>
          </a:p>
        </p:txBody>
      </p:sp>
      <p:sp>
        <p:nvSpPr>
          <p:cNvPr id="130051" name="Rectangle 5"/>
          <p:cNvSpPr/>
          <p:nvPr/>
        </p:nvSpPr>
        <p:spPr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例  题  </a:t>
            </a:r>
            <a:r>
              <a:rPr lang="en-US" altLang="zh-CN" sz="4400" b="1" dirty="0">
                <a:solidFill>
                  <a:schemeClr val="tx2"/>
                </a:solidFill>
              </a:rPr>
              <a:t>4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yModel">
  <a:themeElements>
    <a:clrScheme name="byModel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byMod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5000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660033"/>
            </a:solidFill>
            <a:effectLst/>
            <a:latin typeface="华文新魏" pitchFamily="2" charset="-122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5000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660033"/>
            </a:solidFill>
            <a:effectLst/>
            <a:latin typeface="华文新魏" pitchFamily="2" charset="-122"/>
            <a:ea typeface="华文新魏" pitchFamily="2" charset="-122"/>
          </a:defRPr>
        </a:defPPr>
      </a:lstStyle>
    </a:lnDef>
  </a:objectDefaults>
  <a:extraClrSchemeLst>
    <a:extraClrScheme>
      <a:clrScheme name="byModel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byModel">
  <a:themeElements>
    <a:clrScheme name="byModel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byMod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5000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660033"/>
            </a:solidFill>
            <a:effectLst/>
            <a:latin typeface="华文新魏" pitchFamily="2" charset="-122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1"/>
            </a:gs>
            <a:gs pos="5000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660033"/>
            </a:solidFill>
            <a:effectLst/>
            <a:latin typeface="华文新魏" pitchFamily="2" charset="-122"/>
            <a:ea typeface="华文新魏" pitchFamily="2" charset="-122"/>
          </a:defRPr>
        </a:defPPr>
      </a:lstStyle>
    </a:lnDef>
  </a:objectDefaults>
  <a:extraClrSchemeLst>
    <a:extraClrScheme>
      <a:clrScheme name="byModel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yModel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19327</Words>
  <Application>WPS 演示</Application>
  <PresentationFormat>全屏显示(4:3)</PresentationFormat>
  <Paragraphs>2458</Paragraphs>
  <Slides>111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162</vt:i4>
      </vt:variant>
      <vt:variant>
        <vt:lpstr>幻灯片标题</vt:lpstr>
      </vt:variant>
      <vt:variant>
        <vt:i4>111</vt:i4>
      </vt:variant>
    </vt:vector>
  </HeadingPairs>
  <TitlesOfParts>
    <vt:vector size="303" baseType="lpstr">
      <vt:lpstr>Arial</vt:lpstr>
      <vt:lpstr>宋体</vt:lpstr>
      <vt:lpstr>Wingdings</vt:lpstr>
      <vt:lpstr>汉仪书宋二KW</vt:lpstr>
      <vt:lpstr>Calibri</vt:lpstr>
      <vt:lpstr>Helvetica Neue</vt:lpstr>
      <vt:lpstr>楷体</vt:lpstr>
      <vt:lpstr>汉仪楷体KW</vt:lpstr>
      <vt:lpstr>华文新魏</vt:lpstr>
      <vt:lpstr>宋体-简</vt:lpstr>
      <vt:lpstr>Times New Roman</vt:lpstr>
      <vt:lpstr>方正姚体</vt:lpstr>
      <vt:lpstr>隶书</vt:lpstr>
      <vt:lpstr>Symbol</vt:lpstr>
      <vt:lpstr>Kingsoft Sign</vt:lpstr>
      <vt:lpstr>微软雅黑</vt:lpstr>
      <vt:lpstr>汉仪旗黑</vt:lpstr>
      <vt:lpstr>+mn-ea</vt:lpstr>
      <vt:lpstr>Thonburi</vt:lpstr>
      <vt:lpstr>楷体_GB2312</vt:lpstr>
      <vt:lpstr>汉仪楷体简</vt:lpstr>
      <vt:lpstr>Courier New</vt:lpstr>
      <vt:lpstr>宋体</vt:lpstr>
      <vt:lpstr>Arial Unicode MS</vt:lpstr>
      <vt:lpstr>Arial</vt:lpstr>
      <vt:lpstr>宋体</vt:lpstr>
      <vt:lpstr>诗情画意</vt:lpstr>
      <vt:lpstr>1_诗情画意</vt:lpstr>
      <vt:lpstr>byModel</vt:lpstr>
      <vt:lpstr>2_byModel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Photoshop.Image.7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ctec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caobo</dc:creator>
  <cp:lastModifiedBy>louvre</cp:lastModifiedBy>
  <cp:revision>725</cp:revision>
  <dcterms:created xsi:type="dcterms:W3CDTF">2023-11-04T04:40:55Z</dcterms:created>
  <dcterms:modified xsi:type="dcterms:W3CDTF">2023-11-04T04:40:55Z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2052-6.2.2.8394</vt:lpwstr>
  </property>
  <property fmtid="{D5CDD505-2E9C-101B-9397-08002B2CF9AE}" pid="3" name="ICV">
    <vt:lpwstr>60D9C9C5C12C893556CB45652D5CCA35_43</vt:lpwstr>
  </property>
</Properties>
</file>