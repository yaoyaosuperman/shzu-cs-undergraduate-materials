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7" r:id="rId2"/>
    <p:sldId id="288" r:id="rId3"/>
    <p:sldId id="289" r:id="rId4"/>
    <p:sldId id="290" r:id="rId5"/>
    <p:sldId id="291" r:id="rId6"/>
    <p:sldId id="292" r:id="rId7"/>
    <p:sldId id="293" r:id="rId8"/>
    <p:sldId id="294" r:id="rId9"/>
    <p:sldId id="295" r:id="rId10"/>
    <p:sldId id="274" r:id="rId11"/>
    <p:sldId id="275" r:id="rId12"/>
    <p:sldId id="276" r:id="rId13"/>
    <p:sldId id="277" r:id="rId14"/>
    <p:sldId id="278" r:id="rId15"/>
    <p:sldId id="281" r:id="rId16"/>
    <p:sldId id="282" r:id="rId17"/>
    <p:sldId id="283" r:id="rId18"/>
    <p:sldId id="286" r:id="rId19"/>
  </p:sldIdLst>
  <p:sldSz cx="12192000" cy="6858000"/>
  <p:notesSz cx="6858000" cy="9144000"/>
  <p:custDataLst>
    <p:tags r:id="rId2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2" userDrawn="1">
          <p15:clr>
            <a:srgbClr val="A4A3A4"/>
          </p15:clr>
        </p15:guide>
        <p15:guide id="2" pos="28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5" autoAdjust="0"/>
    <p:restoredTop sz="94624" autoAdjust="0"/>
  </p:normalViewPr>
  <p:slideViewPr>
    <p:cSldViewPr showGuides="1">
      <p:cViewPr varScale="1">
        <p:scale>
          <a:sx n="111" d="100"/>
          <a:sy n="111" d="100"/>
        </p:scale>
        <p:origin x="632" y="200"/>
      </p:cViewPr>
      <p:guideLst>
        <p:guide orient="horz" pos="2162"/>
        <p:guide pos="287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7/3/24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7/3/24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7/3/24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7/3/24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image" Target="../media/image3.jpe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2.jpeg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13.xml"/><Relationship Id="rId13" Type="http://schemas.openxmlformats.org/officeDocument/2006/relationships/slideLayout" Target="../slideLayouts/slideLayout7.xml"/><Relationship Id="rId3" Type="http://schemas.openxmlformats.org/officeDocument/2006/relationships/tags" Target="../tags/tag8.xml"/><Relationship Id="rId7" Type="http://schemas.openxmlformats.org/officeDocument/2006/relationships/tags" Target="../tags/tag12.xml"/><Relationship Id="rId12" Type="http://schemas.openxmlformats.org/officeDocument/2006/relationships/tags" Target="../tags/tag17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11" Type="http://schemas.openxmlformats.org/officeDocument/2006/relationships/tags" Target="../tags/tag16.xml"/><Relationship Id="rId5" Type="http://schemas.openxmlformats.org/officeDocument/2006/relationships/tags" Target="../tags/tag10.xml"/><Relationship Id="rId10" Type="http://schemas.openxmlformats.org/officeDocument/2006/relationships/tags" Target="../tags/tag15.xml"/><Relationship Id="rId4" Type="http://schemas.openxmlformats.org/officeDocument/2006/relationships/tags" Target="../tags/tag9.xml"/><Relationship Id="rId9" Type="http://schemas.openxmlformats.org/officeDocument/2006/relationships/tags" Target="../tags/tag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slideLayout" Target="../slideLayouts/slideLayout7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0" Type="http://schemas.openxmlformats.org/officeDocument/2006/relationships/tags" Target="../tags/tag27.xml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37.xml"/><Relationship Id="rId13" Type="http://schemas.openxmlformats.org/officeDocument/2006/relationships/tags" Target="../tags/tag42.xml"/><Relationship Id="rId18" Type="http://schemas.openxmlformats.org/officeDocument/2006/relationships/tags" Target="../tags/tag47.xml"/><Relationship Id="rId3" Type="http://schemas.openxmlformats.org/officeDocument/2006/relationships/tags" Target="../tags/tag32.xml"/><Relationship Id="rId7" Type="http://schemas.openxmlformats.org/officeDocument/2006/relationships/tags" Target="../tags/tag36.xml"/><Relationship Id="rId12" Type="http://schemas.openxmlformats.org/officeDocument/2006/relationships/tags" Target="../tags/tag41.xml"/><Relationship Id="rId17" Type="http://schemas.openxmlformats.org/officeDocument/2006/relationships/tags" Target="../tags/tag46.xml"/><Relationship Id="rId2" Type="http://schemas.openxmlformats.org/officeDocument/2006/relationships/tags" Target="../tags/tag31.xml"/><Relationship Id="rId16" Type="http://schemas.openxmlformats.org/officeDocument/2006/relationships/tags" Target="../tags/tag45.xml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11" Type="http://schemas.openxmlformats.org/officeDocument/2006/relationships/tags" Target="../tags/tag40.xml"/><Relationship Id="rId5" Type="http://schemas.openxmlformats.org/officeDocument/2006/relationships/tags" Target="../tags/tag34.xml"/><Relationship Id="rId15" Type="http://schemas.openxmlformats.org/officeDocument/2006/relationships/tags" Target="../tags/tag44.xml"/><Relationship Id="rId10" Type="http://schemas.openxmlformats.org/officeDocument/2006/relationships/tags" Target="../tags/tag39.xml"/><Relationship Id="rId19" Type="http://schemas.openxmlformats.org/officeDocument/2006/relationships/slideLayout" Target="../slideLayouts/slideLayout7.xml"/><Relationship Id="rId4" Type="http://schemas.openxmlformats.org/officeDocument/2006/relationships/tags" Target="../tags/tag33.xml"/><Relationship Id="rId9" Type="http://schemas.openxmlformats.org/officeDocument/2006/relationships/tags" Target="../tags/tag38.xml"/><Relationship Id="rId14" Type="http://schemas.openxmlformats.org/officeDocument/2006/relationships/tags" Target="../tags/tag4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55.xml"/><Relationship Id="rId13" Type="http://schemas.openxmlformats.org/officeDocument/2006/relationships/tags" Target="../tags/tag60.xml"/><Relationship Id="rId18" Type="http://schemas.openxmlformats.org/officeDocument/2006/relationships/tags" Target="../tags/tag65.xml"/><Relationship Id="rId3" Type="http://schemas.openxmlformats.org/officeDocument/2006/relationships/tags" Target="../tags/tag50.xml"/><Relationship Id="rId21" Type="http://schemas.openxmlformats.org/officeDocument/2006/relationships/slideLayout" Target="../slideLayouts/slideLayout7.xml"/><Relationship Id="rId7" Type="http://schemas.openxmlformats.org/officeDocument/2006/relationships/tags" Target="../tags/tag54.xml"/><Relationship Id="rId12" Type="http://schemas.openxmlformats.org/officeDocument/2006/relationships/tags" Target="../tags/tag59.xml"/><Relationship Id="rId17" Type="http://schemas.openxmlformats.org/officeDocument/2006/relationships/tags" Target="../tags/tag64.xml"/><Relationship Id="rId2" Type="http://schemas.openxmlformats.org/officeDocument/2006/relationships/tags" Target="../tags/tag49.xml"/><Relationship Id="rId16" Type="http://schemas.openxmlformats.org/officeDocument/2006/relationships/tags" Target="../tags/tag63.xml"/><Relationship Id="rId20" Type="http://schemas.openxmlformats.org/officeDocument/2006/relationships/tags" Target="../tags/tag67.xml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11" Type="http://schemas.openxmlformats.org/officeDocument/2006/relationships/tags" Target="../tags/tag58.xml"/><Relationship Id="rId5" Type="http://schemas.openxmlformats.org/officeDocument/2006/relationships/tags" Target="../tags/tag52.xml"/><Relationship Id="rId15" Type="http://schemas.openxmlformats.org/officeDocument/2006/relationships/tags" Target="../tags/tag62.xml"/><Relationship Id="rId10" Type="http://schemas.openxmlformats.org/officeDocument/2006/relationships/tags" Target="../tags/tag57.xml"/><Relationship Id="rId19" Type="http://schemas.openxmlformats.org/officeDocument/2006/relationships/tags" Target="../tags/tag66.xml"/><Relationship Id="rId4" Type="http://schemas.openxmlformats.org/officeDocument/2006/relationships/tags" Target="../tags/tag51.xml"/><Relationship Id="rId9" Type="http://schemas.openxmlformats.org/officeDocument/2006/relationships/tags" Target="../tags/tag56.xml"/><Relationship Id="rId14" Type="http://schemas.openxmlformats.org/officeDocument/2006/relationships/tags" Target="../tags/tag61.xml"/><Relationship Id="rId22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75.xml"/><Relationship Id="rId13" Type="http://schemas.openxmlformats.org/officeDocument/2006/relationships/tags" Target="../tags/tag80.xml"/><Relationship Id="rId18" Type="http://schemas.openxmlformats.org/officeDocument/2006/relationships/image" Target="../media/image7.png"/><Relationship Id="rId3" Type="http://schemas.openxmlformats.org/officeDocument/2006/relationships/tags" Target="../tags/tag70.xml"/><Relationship Id="rId7" Type="http://schemas.openxmlformats.org/officeDocument/2006/relationships/tags" Target="../tags/tag74.xml"/><Relationship Id="rId12" Type="http://schemas.openxmlformats.org/officeDocument/2006/relationships/tags" Target="../tags/tag79.xml"/><Relationship Id="rId17" Type="http://schemas.openxmlformats.org/officeDocument/2006/relationships/image" Target="../media/image6.png"/><Relationship Id="rId2" Type="http://schemas.openxmlformats.org/officeDocument/2006/relationships/tags" Target="../tags/tag69.xml"/><Relationship Id="rId16" Type="http://schemas.openxmlformats.org/officeDocument/2006/relationships/slideLayout" Target="../slideLayouts/slideLayout7.xml"/><Relationship Id="rId1" Type="http://schemas.openxmlformats.org/officeDocument/2006/relationships/tags" Target="../tags/tag68.xml"/><Relationship Id="rId6" Type="http://schemas.openxmlformats.org/officeDocument/2006/relationships/tags" Target="../tags/tag73.xml"/><Relationship Id="rId11" Type="http://schemas.openxmlformats.org/officeDocument/2006/relationships/tags" Target="../tags/tag78.xml"/><Relationship Id="rId5" Type="http://schemas.openxmlformats.org/officeDocument/2006/relationships/tags" Target="../tags/tag72.xml"/><Relationship Id="rId15" Type="http://schemas.openxmlformats.org/officeDocument/2006/relationships/tags" Target="../tags/tag82.xml"/><Relationship Id="rId10" Type="http://schemas.openxmlformats.org/officeDocument/2006/relationships/tags" Target="../tags/tag77.xml"/><Relationship Id="rId4" Type="http://schemas.openxmlformats.org/officeDocument/2006/relationships/tags" Target="../tags/tag71.xml"/><Relationship Id="rId9" Type="http://schemas.openxmlformats.org/officeDocument/2006/relationships/tags" Target="../tags/tag76.xml"/><Relationship Id="rId14" Type="http://schemas.openxmlformats.org/officeDocument/2006/relationships/tags" Target="../tags/tag8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90.xml"/><Relationship Id="rId13" Type="http://schemas.openxmlformats.org/officeDocument/2006/relationships/tags" Target="../tags/tag95.xml"/><Relationship Id="rId18" Type="http://schemas.openxmlformats.org/officeDocument/2006/relationships/image" Target="../media/image6.png"/><Relationship Id="rId3" Type="http://schemas.openxmlformats.org/officeDocument/2006/relationships/tags" Target="../tags/tag85.xml"/><Relationship Id="rId7" Type="http://schemas.openxmlformats.org/officeDocument/2006/relationships/tags" Target="../tags/tag89.xml"/><Relationship Id="rId12" Type="http://schemas.openxmlformats.org/officeDocument/2006/relationships/tags" Target="../tags/tag94.xml"/><Relationship Id="rId17" Type="http://schemas.openxmlformats.org/officeDocument/2006/relationships/slideLayout" Target="../slideLayouts/slideLayout7.xml"/><Relationship Id="rId2" Type="http://schemas.openxmlformats.org/officeDocument/2006/relationships/tags" Target="../tags/tag84.xml"/><Relationship Id="rId16" Type="http://schemas.openxmlformats.org/officeDocument/2006/relationships/tags" Target="../tags/tag98.xml"/><Relationship Id="rId1" Type="http://schemas.openxmlformats.org/officeDocument/2006/relationships/tags" Target="../tags/tag83.xml"/><Relationship Id="rId6" Type="http://schemas.openxmlformats.org/officeDocument/2006/relationships/tags" Target="../tags/tag88.xml"/><Relationship Id="rId11" Type="http://schemas.openxmlformats.org/officeDocument/2006/relationships/tags" Target="../tags/tag93.xml"/><Relationship Id="rId5" Type="http://schemas.openxmlformats.org/officeDocument/2006/relationships/tags" Target="../tags/tag87.xml"/><Relationship Id="rId15" Type="http://schemas.openxmlformats.org/officeDocument/2006/relationships/tags" Target="../tags/tag97.xml"/><Relationship Id="rId10" Type="http://schemas.openxmlformats.org/officeDocument/2006/relationships/tags" Target="../tags/tag92.xml"/><Relationship Id="rId4" Type="http://schemas.openxmlformats.org/officeDocument/2006/relationships/tags" Target="../tags/tag86.xml"/><Relationship Id="rId9" Type="http://schemas.openxmlformats.org/officeDocument/2006/relationships/tags" Target="../tags/tag91.xml"/><Relationship Id="rId14" Type="http://schemas.openxmlformats.org/officeDocument/2006/relationships/tags" Target="../tags/tag9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93684" y="2559207"/>
            <a:ext cx="6318985" cy="701040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3600" b="1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未找到bdjson</a:t>
            </a:r>
          </a:p>
        </p:txBody>
      </p:sp>
      <p:sp>
        <p:nvSpPr>
          <p:cNvPr id="3" name="AutoShape 3"/>
          <p:cNvSpPr/>
          <p:nvPr/>
        </p:nvSpPr>
        <p:spPr>
          <a:xfrm>
            <a:off x="2400158" y="3871817"/>
            <a:ext cx="7673640" cy="504845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TextBox 4"/>
          <p:cNvSpPr txBox="1"/>
          <p:nvPr/>
        </p:nvSpPr>
        <p:spPr>
          <a:xfrm>
            <a:off x="2115571" y="1418214"/>
            <a:ext cx="8242813" cy="2101569"/>
          </a:xfrm>
          <a:prstGeom prst="rect">
            <a:avLst/>
          </a:prstGeom>
        </p:spPr>
        <p:txBody>
          <a:bodyPr vert="horz" wrap="square" lIns="91440" tIns="45720" rIns="91440" bIns="45720" rtlCol="0" anchor="b" anchorCtr="1">
            <a:normAutofit/>
          </a:bodyPr>
          <a:lstStyle/>
          <a:p>
            <a:pPr algn="ctr">
              <a:lnSpc>
                <a:spcPct val="112000"/>
              </a:lnSpc>
              <a:spcBef>
                <a:spcPts val="375"/>
              </a:spcBef>
            </a:pPr>
            <a:r>
              <a:rPr lang="en-US" sz="5400" b="1" dirty="0" err="1">
                <a:solidFill>
                  <a:srgbClr val="FBFDF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基于SpringBoot的权限管理系统</a:t>
            </a:r>
            <a:endParaRPr lang="en-US" sz="5400" b="1" dirty="0">
              <a:solidFill>
                <a:srgbClr val="FBFDFD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3507564" y="3865291"/>
            <a:ext cx="5380722" cy="523435"/>
            <a:chOff x="3507564" y="3865291"/>
            <a:chExt cx="5380722" cy="523435"/>
          </a:xfrm>
        </p:grpSpPr>
        <p:sp>
          <p:nvSpPr>
            <p:cNvPr id="6" name="TextBox 6"/>
            <p:cNvSpPr txBox="1"/>
            <p:nvPr/>
          </p:nvSpPr>
          <p:spPr>
            <a:xfrm>
              <a:off x="3507564" y="3865291"/>
              <a:ext cx="2227456" cy="517896"/>
            </a:xfrm>
            <a:prstGeom prst="rect">
              <a:avLst/>
            </a:prstGeom>
          </p:spPr>
          <p:txBody>
            <a:bodyPr vert="horz" wrap="square" lIns="91440" tIns="45720" rIns="91440" bIns="45720" rtlCol="0" anchor="ctr" anchorCtr="1">
              <a:normAutofit/>
            </a:bodyPr>
            <a:lstStyle/>
            <a:p>
              <a:pPr algn="ctr">
                <a:lnSpc>
                  <a:spcPct val="120000"/>
                </a:lnSpc>
                <a:spcBef>
                  <a:spcPts val="375"/>
                </a:spcBef>
              </a:pPr>
              <a:r>
                <a:rPr lang="en-US" sz="2025">
                  <a:solidFill>
                    <a:srgbClr val="FBFDFD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汇报人：</a:t>
              </a:r>
              <a:r>
                <a:rPr lang="zh-CN" altLang="en-US" sz="2025">
                  <a:solidFill>
                    <a:srgbClr val="FBFDFD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卢瑶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29096" y="3886423"/>
              <a:ext cx="2259190" cy="502303"/>
            </a:xfrm>
            <a:prstGeom prst="rect">
              <a:avLst/>
            </a:prstGeom>
          </p:spPr>
          <p:txBody>
            <a:bodyPr vert="horz" wrap="square" lIns="91440" tIns="45720" rIns="91440" bIns="45720" rtlCol="0" anchor="ctr" anchorCtr="1">
              <a:normAutofit/>
            </a:bodyPr>
            <a:lstStyle/>
            <a:p>
              <a:pPr algn="ctr">
                <a:lnSpc>
                  <a:spcPct val="120000"/>
                </a:lnSpc>
                <a:spcBef>
                  <a:spcPts val="375"/>
                </a:spcBef>
              </a:pPr>
              <a:r>
                <a:rPr lang="en-US" sz="2025">
                  <a:solidFill>
                    <a:srgbClr val="FBFDFD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2024-07-03</a:t>
              </a:r>
            </a:p>
          </p:txBody>
        </p:sp>
      </p:grpSp>
      <p:sp>
        <p:nvSpPr>
          <p:cNvPr id="8" name="AutoShape 8"/>
          <p:cNvSpPr/>
          <p:nvPr/>
        </p:nvSpPr>
        <p:spPr>
          <a:xfrm>
            <a:off x="10073798" y="474213"/>
            <a:ext cx="185110" cy="185110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AutoShape 9"/>
          <p:cNvSpPr/>
          <p:nvPr/>
        </p:nvSpPr>
        <p:spPr>
          <a:xfrm>
            <a:off x="10380707" y="474213"/>
            <a:ext cx="185110" cy="185110"/>
          </a:xfrm>
          <a:prstGeom prst="ellipse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AutoShape 10"/>
          <p:cNvSpPr/>
          <p:nvPr/>
        </p:nvSpPr>
        <p:spPr>
          <a:xfrm>
            <a:off x="10687616" y="474213"/>
            <a:ext cx="185110" cy="185110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1" name="AutoShape 11"/>
          <p:cNvSpPr/>
          <p:nvPr/>
        </p:nvSpPr>
        <p:spPr>
          <a:xfrm>
            <a:off x="10994525" y="474213"/>
            <a:ext cx="185110" cy="185110"/>
          </a:xfrm>
          <a:prstGeom prst="ellipse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AutoShape 13"/>
          <p:cNvSpPr/>
          <p:nvPr/>
        </p:nvSpPr>
        <p:spPr>
          <a:xfrm>
            <a:off x="512345" y="474978"/>
            <a:ext cx="183581" cy="183581"/>
          </a:xfrm>
          <a:prstGeom prst="chevron">
            <a:avLst/>
          </a:prstGeom>
          <a:solidFill>
            <a:schemeClr val="accent1">
              <a:alpha val="10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4" name="AutoShape 14"/>
          <p:cNvSpPr/>
          <p:nvPr/>
        </p:nvSpPr>
        <p:spPr>
          <a:xfrm>
            <a:off x="702845" y="474978"/>
            <a:ext cx="183581" cy="183581"/>
          </a:xfrm>
          <a:prstGeom prst="chevron">
            <a:avLst/>
          </a:prstGeom>
          <a:solidFill>
            <a:schemeClr val="accent1">
              <a:alpha val="10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5" name="AutoShape 15"/>
          <p:cNvSpPr/>
          <p:nvPr/>
        </p:nvSpPr>
        <p:spPr>
          <a:xfrm>
            <a:off x="893345" y="474978"/>
            <a:ext cx="183581" cy="183581"/>
          </a:xfrm>
          <a:prstGeom prst="chevron">
            <a:avLst/>
          </a:prstGeom>
          <a:solidFill>
            <a:schemeClr val="accent1">
              <a:alpha val="10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7" name="TextBox 6"/>
          <p:cNvSpPr txBox="1"/>
          <p:nvPr/>
        </p:nvSpPr>
        <p:spPr>
          <a:xfrm>
            <a:off x="2971800" y="4495800"/>
            <a:ext cx="4967605" cy="518160"/>
          </a:xfrm>
          <a:prstGeom prst="rect">
            <a:avLst/>
          </a:prstGeom>
        </p:spPr>
        <p:txBody>
          <a:bodyPr vert="horz" wrap="square" lIns="91440" tIns="45720" rIns="91440" bIns="45720" rtlCol="0" anchor="ctr" anchorCtr="1">
            <a:norm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zh-CN" altLang="en-US" sz="2025">
                <a:solidFill>
                  <a:srgbClr val="FBFDF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成员</a:t>
            </a:r>
            <a:r>
              <a:rPr lang="en-US" sz="2025">
                <a:solidFill>
                  <a:srgbClr val="FBFDF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altLang="en-US" sz="2025">
                <a:solidFill>
                  <a:srgbClr val="FBFDF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李敬琪</a:t>
            </a:r>
            <a:r>
              <a:rPr lang="en-US" altLang="zh-CN" sz="2025">
                <a:solidFill>
                  <a:srgbClr val="FBFDF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25">
                <a:solidFill>
                  <a:srgbClr val="FBFDF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林亚旋</a:t>
            </a:r>
            <a:r>
              <a:rPr lang="en-US" altLang="zh-CN" sz="2025">
                <a:solidFill>
                  <a:srgbClr val="FBFDF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25">
                <a:solidFill>
                  <a:srgbClr val="FBFDF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朱映雪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0" y="2268"/>
            <a:ext cx="3341688" cy="6858000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TextBox 4"/>
          <p:cNvSpPr txBox="1"/>
          <p:nvPr/>
        </p:nvSpPr>
        <p:spPr>
          <a:xfrm>
            <a:off x="1308802" y="1087299"/>
            <a:ext cx="2136058" cy="1356941"/>
          </a:xfrm>
          <a:prstGeom prst="rect">
            <a:avLst/>
          </a:prstGeom>
        </p:spPr>
        <p:txBody>
          <a:bodyPr vert="horz" wrap="square" lIns="91440" tIns="45720" rIns="91440" bIns="45720" rtlCol="0" anchor="ctr" anchorCtr="1">
            <a:norm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sz="6000" b="1" dirty="0" err="1">
                <a:solidFill>
                  <a:srgbClr val="FBFDF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目录</a:t>
            </a:r>
            <a:endParaRPr lang="en-US" sz="6000" b="1" dirty="0">
              <a:solidFill>
                <a:srgbClr val="FBFDFD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748555" y="296333"/>
            <a:ext cx="2593133" cy="1064357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pPr algn="r">
              <a:lnSpc>
                <a:spcPct val="120000"/>
              </a:lnSpc>
              <a:spcBef>
                <a:spcPct val="0"/>
              </a:spcBef>
            </a:pPr>
            <a:r>
              <a:rPr lang="en-US" sz="3675" b="1">
                <a:solidFill>
                  <a:schemeClr val="accent3">
                    <a:lumMod val="50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41688" y="296333"/>
            <a:ext cx="2593133" cy="1064357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pPr algn="l">
              <a:lnSpc>
                <a:spcPct val="120000"/>
              </a:lnSpc>
              <a:spcBef>
                <a:spcPct val="0"/>
              </a:spcBef>
            </a:pPr>
            <a:r>
              <a:rPr lang="en-US" sz="3675" b="1">
                <a:solidFill>
                  <a:srgbClr val="FBFDF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847996" y="1302921"/>
            <a:ext cx="6898005" cy="469201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marL="203200" lvl="0" indent="-203200">
              <a:lnSpc>
                <a:spcPct val="140000"/>
              </a:lnSpc>
              <a:buFont typeface="Arial" panose="020B0604020202020204"/>
              <a:buChar char="•"/>
            </a:pPr>
            <a:r>
              <a:rPr lang="en-US" sz="2400" b="1" dirty="0" err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权限管理系统概述</a:t>
            </a:r>
            <a:endParaRPr lang="en-US" sz="2400" b="1" dirty="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03200" lvl="0" indent="-203200">
              <a:lnSpc>
                <a:spcPct val="140000"/>
              </a:lnSpc>
              <a:buFont typeface="Arial" panose="020B0604020202020204"/>
              <a:buChar char="•"/>
            </a:pPr>
            <a:r>
              <a:rPr lang="en-US" sz="2400" b="1" dirty="0" err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权限管理</a:t>
            </a:r>
            <a:r>
              <a:rPr lang="zh-CN" altLang="en-US" sz="2400" b="1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核心要素</a:t>
            </a:r>
            <a:endParaRPr lang="en-US" sz="2400" b="1" dirty="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03200" lvl="0" indent="-203200">
              <a:lnSpc>
                <a:spcPct val="140000"/>
              </a:lnSpc>
              <a:buFont typeface="Arial" panose="020B0604020202020204"/>
              <a:buChar char="•"/>
            </a:pPr>
            <a:r>
              <a:rPr lang="en-US" sz="2400" b="1" dirty="0" err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权限管理系统架构设计</a:t>
            </a:r>
            <a:endParaRPr lang="en-US" sz="2400" b="1" dirty="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03200" lvl="0" indent="-203200">
              <a:lnSpc>
                <a:spcPct val="140000"/>
              </a:lnSpc>
              <a:buFont typeface="Arial" panose="020B0604020202020204"/>
              <a:buChar char="•"/>
            </a:pPr>
            <a:r>
              <a:rPr lang="en-US" sz="2400" b="1" dirty="0" err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权限管理系统的实现技术</a:t>
            </a:r>
            <a:endParaRPr lang="en-US" sz="2400" b="1" dirty="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03200" lvl="0" indent="-203200">
              <a:lnSpc>
                <a:spcPct val="140000"/>
              </a:lnSpc>
              <a:buFont typeface="Arial" panose="020B0604020202020204"/>
              <a:buChar char="•"/>
            </a:pPr>
            <a:r>
              <a:rPr lang="en-US" sz="2400" b="1" dirty="0" err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权限管理系统的部署</a:t>
            </a:r>
            <a:endParaRPr lang="en-US" sz="2400" b="1" dirty="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03200" lvl="0" indent="-203200">
              <a:lnSpc>
                <a:spcPct val="140000"/>
              </a:lnSpc>
              <a:buFont typeface="Arial" panose="020B0604020202020204"/>
              <a:buChar char="•"/>
            </a:pPr>
            <a:r>
              <a:rPr lang="en-US" sz="2400" b="1" dirty="0" err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权限管理系统的维护与升级</a:t>
            </a:r>
            <a:endParaRPr lang="en-US" sz="2400" b="1" dirty="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191015" y="3921593"/>
            <a:ext cx="9809970" cy="1559744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1517472" y="4119595"/>
            <a:ext cx="9157056" cy="1163741"/>
          </a:xfrm>
          <a:prstGeom prst="rect">
            <a:avLst/>
          </a:prstGeom>
        </p:spPr>
        <p:txBody>
          <a:bodyPr vert="horz" wrap="square" lIns="91440" tIns="45720" rIns="91440" bIns="45720" rtlCol="0" anchor="ctr" anchorCtr="1">
            <a:norm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sz="495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权限管理系统概述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489235" y="1331454"/>
            <a:ext cx="3213530" cy="1775887"/>
          </a:xfrm>
          <a:prstGeom prst="rect">
            <a:avLst/>
          </a:prstGeom>
        </p:spPr>
        <p:txBody>
          <a:bodyPr vert="horz" wrap="square" lIns="91440" tIns="45720" rIns="91440" bIns="45720" rtlCol="0" anchor="ctr" anchorCtr="1">
            <a:norm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sz="84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</a:p>
        </p:txBody>
      </p:sp>
      <p:grpSp>
        <p:nvGrpSpPr>
          <p:cNvPr id="5" name="Group 5"/>
          <p:cNvGrpSpPr/>
          <p:nvPr/>
        </p:nvGrpSpPr>
        <p:grpSpPr>
          <a:xfrm rot="-10800000">
            <a:off x="7752111" y="1331454"/>
            <a:ext cx="451710" cy="665399"/>
            <a:chOff x="7752111" y="1331454"/>
            <a:chExt cx="451710" cy="665399"/>
          </a:xfrm>
          <a:solidFill>
            <a:schemeClr val="accent1">
              <a:alpha val="100000"/>
            </a:schemeClr>
          </a:solidFill>
        </p:grpSpPr>
        <p:sp>
          <p:nvSpPr>
            <p:cNvPr id="6" name="AutoShape 6"/>
            <p:cNvSpPr/>
            <p:nvPr/>
          </p:nvSpPr>
          <p:spPr>
            <a:xfrm>
              <a:off x="7752111" y="1331454"/>
              <a:ext cx="260686" cy="530495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AutoShape 7"/>
            <p:cNvSpPr/>
            <p:nvPr/>
          </p:nvSpPr>
          <p:spPr>
            <a:xfrm rot="5400000">
              <a:off x="7943135" y="1466358"/>
              <a:ext cx="260686" cy="530495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" name="AutoShape 8"/>
          <p:cNvSpPr/>
          <p:nvPr/>
        </p:nvSpPr>
        <p:spPr>
          <a:xfrm>
            <a:off x="3853275" y="2549673"/>
            <a:ext cx="260686" cy="530495"/>
          </a:xfrm>
          <a:prstGeom prst="rect">
            <a:avLst/>
          </a:prstGeom>
          <a:grpFill/>
        </p:spPr>
        <p:txBody>
          <a:bodyPr/>
          <a:lstStyle/>
          <a:p>
            <a:endParaRPr lang="zh-CN" altLang="en-US"/>
          </a:p>
        </p:txBody>
      </p:sp>
      <p:sp>
        <p:nvSpPr>
          <p:cNvPr id="9" name="AutoShape 9"/>
          <p:cNvSpPr/>
          <p:nvPr/>
        </p:nvSpPr>
        <p:spPr>
          <a:xfrm rot="5400000">
            <a:off x="4044298" y="2684577"/>
            <a:ext cx="260686" cy="530495"/>
          </a:xfrm>
          <a:prstGeom prst="rect">
            <a:avLst/>
          </a:prstGeom>
          <a:grpFill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6"/>
          <a:srcRect l="28183" r="28183"/>
          <a:stretch>
            <a:fillRect/>
          </a:stretch>
        </p:blipFill>
        <p:spPr>
          <a:xfrm>
            <a:off x="2438224" y="1981131"/>
            <a:ext cx="2050689" cy="391643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7"/>
          <a:srcRect l="35273" r="35273"/>
          <a:stretch>
            <a:fillRect/>
          </a:stretch>
        </p:blipFill>
        <p:spPr>
          <a:xfrm>
            <a:off x="152137" y="1518929"/>
            <a:ext cx="2050689" cy="3916435"/>
          </a:xfrm>
          <a:prstGeom prst="rect">
            <a:avLst/>
          </a:prstGeom>
        </p:spPr>
      </p:pic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5118100" y="1729105"/>
            <a:ext cx="5364480" cy="159702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40000"/>
              </a:lnSpc>
              <a:defRPr/>
            </a:pPr>
            <a:r>
              <a:rPr lang="en-US" sz="2000" dirty="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权限管理系统是一种用于控制和管理用户对资源访问权限的系统，旨在确保只有经过</a:t>
            </a:r>
            <a:r>
              <a:rPr lang="en-US" sz="2000" b="1" dirty="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授权</a:t>
            </a:r>
            <a:r>
              <a:rPr lang="en-US" sz="2000" dirty="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的用户才能访问特定资源，从而保护数据安全和系统完整性。</a:t>
            </a:r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5118323" y="1036115"/>
            <a:ext cx="3928508" cy="62724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pPr algn="l">
              <a:lnSpc>
                <a:spcPct val="120000"/>
              </a:lnSpc>
              <a:defRPr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3"/>
            </p:custDataLst>
          </p:nvPr>
        </p:nvSpPr>
        <p:spPr>
          <a:xfrm>
            <a:off x="5156835" y="4304665"/>
            <a:ext cx="5407025" cy="15817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40000"/>
              </a:lnSpc>
              <a:defRPr/>
            </a:pPr>
            <a:r>
              <a:rPr lang="en-US" sz="2000" dirty="0" err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权限管理系统主要提供</a:t>
            </a:r>
            <a:r>
              <a:rPr lang="zh-CN" altLang="en-US" sz="2000" dirty="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管理员</a:t>
            </a:r>
            <a:r>
              <a:rPr lang="en-US" sz="2000" dirty="0" err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身份验证</a:t>
            </a:r>
            <a:r>
              <a:rPr lang="en-US" sz="2000" dirty="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zh-CN" altLang="en-US" sz="2000" dirty="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用户管理</a:t>
            </a:r>
            <a:r>
              <a:rPr lang="en-US" sz="2000" dirty="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zh-CN" altLang="en-US" sz="2000" dirty="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角色管理、菜单管理、部门管理、字典管理</a:t>
            </a:r>
            <a:r>
              <a:rPr lang="en-US" sz="2000" dirty="0" err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及日志记录功能，以确保系统的安全性和可追溯性</a:t>
            </a:r>
            <a:r>
              <a:rPr lang="en-US" sz="2000" dirty="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sz="2000" dirty="0"/>
          </a:p>
        </p:txBody>
      </p:sp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>
            <a:off x="5157058" y="3466249"/>
            <a:ext cx="3928687" cy="69796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 anchorCtr="0">
            <a:noAutofit/>
          </a:bodyPr>
          <a:lstStyle/>
          <a:p>
            <a:pPr algn="l">
              <a:lnSpc>
                <a:spcPct val="120000"/>
              </a:lnSpc>
              <a:defRPr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定义与功能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191015" y="3921593"/>
            <a:ext cx="9809970" cy="1559744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1517472" y="4119595"/>
            <a:ext cx="9157056" cy="1163741"/>
          </a:xfrm>
          <a:prstGeom prst="rect">
            <a:avLst/>
          </a:prstGeom>
        </p:spPr>
        <p:txBody>
          <a:bodyPr vert="horz" wrap="square" lIns="91440" tIns="45720" rIns="91440" bIns="45720" rtlCol="0" anchor="ctr" anchorCtr="1">
            <a:norm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sz="495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权限管理</a:t>
            </a:r>
            <a:r>
              <a:rPr lang="zh-CN" altLang="en-US" sz="495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核心要素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489235" y="1331454"/>
            <a:ext cx="3213530" cy="1775887"/>
          </a:xfrm>
          <a:prstGeom prst="rect">
            <a:avLst/>
          </a:prstGeom>
        </p:spPr>
        <p:txBody>
          <a:bodyPr vert="horz" wrap="square" lIns="91440" tIns="45720" rIns="91440" bIns="45720" rtlCol="0" anchor="ctr" anchorCtr="1">
            <a:norm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sz="84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</a:p>
        </p:txBody>
      </p:sp>
      <p:grpSp>
        <p:nvGrpSpPr>
          <p:cNvPr id="5" name="Group 5"/>
          <p:cNvGrpSpPr/>
          <p:nvPr/>
        </p:nvGrpSpPr>
        <p:grpSpPr>
          <a:xfrm rot="-10800000">
            <a:off x="7752111" y="1331454"/>
            <a:ext cx="451710" cy="665399"/>
            <a:chOff x="7752111" y="1331454"/>
            <a:chExt cx="451710" cy="665399"/>
          </a:xfrm>
          <a:solidFill>
            <a:schemeClr val="accent1">
              <a:alpha val="100000"/>
            </a:schemeClr>
          </a:solidFill>
        </p:grpSpPr>
        <p:sp>
          <p:nvSpPr>
            <p:cNvPr id="6" name="AutoShape 6"/>
            <p:cNvSpPr/>
            <p:nvPr/>
          </p:nvSpPr>
          <p:spPr>
            <a:xfrm>
              <a:off x="7752111" y="1331454"/>
              <a:ext cx="260686" cy="530495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AutoShape 7"/>
            <p:cNvSpPr/>
            <p:nvPr/>
          </p:nvSpPr>
          <p:spPr>
            <a:xfrm rot="5400000">
              <a:off x="7943135" y="1466358"/>
              <a:ext cx="260686" cy="530495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" name="AutoShape 8"/>
          <p:cNvSpPr/>
          <p:nvPr/>
        </p:nvSpPr>
        <p:spPr>
          <a:xfrm>
            <a:off x="3853275" y="2549673"/>
            <a:ext cx="260686" cy="530495"/>
          </a:xfrm>
          <a:prstGeom prst="rect">
            <a:avLst/>
          </a:prstGeom>
          <a:grpFill/>
        </p:spPr>
        <p:txBody>
          <a:bodyPr/>
          <a:lstStyle/>
          <a:p>
            <a:endParaRPr lang="zh-CN" altLang="en-US"/>
          </a:p>
        </p:txBody>
      </p:sp>
      <p:sp>
        <p:nvSpPr>
          <p:cNvPr id="9" name="AutoShape 9"/>
          <p:cNvSpPr/>
          <p:nvPr/>
        </p:nvSpPr>
        <p:spPr>
          <a:xfrm rot="5400000">
            <a:off x="4044298" y="2684577"/>
            <a:ext cx="260686" cy="530495"/>
          </a:xfrm>
          <a:prstGeom prst="rect">
            <a:avLst/>
          </a:prstGeom>
          <a:grpFill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31349" y="1310570"/>
            <a:ext cx="3000375" cy="490334"/>
          </a:xfrm>
          <a:prstGeom prst="rect">
            <a:avLst/>
          </a:prstGeom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r">
              <a:lnSpc>
                <a:spcPct val="150000"/>
              </a:lnSpc>
            </a:pPr>
            <a:r>
              <a:rPr lang="en-US" sz="2000" b="1" dirty="0" err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管理员</a:t>
            </a:r>
            <a:endParaRPr lang="en-US" sz="2000" b="1" dirty="0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3"/>
          <p:cNvSpPr txBox="1"/>
          <p:nvPr>
            <p:custDataLst>
              <p:tags r:id="rId1"/>
            </p:custDataLst>
          </p:nvPr>
        </p:nvSpPr>
        <p:spPr>
          <a:xfrm>
            <a:off x="1017379" y="1862548"/>
            <a:ext cx="3000375" cy="1552257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r">
              <a:lnSpc>
                <a:spcPct val="140000"/>
              </a:lnSpc>
            </a:pPr>
            <a:r>
              <a:rPr lang="en-US" sz="1600" dirty="0" err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指使用系统的个体或实体，是权限管理的对象。每个用户都被分配了一个唯一的身份标识，以便系统进行身份认证和权限验证</a:t>
            </a:r>
            <a:r>
              <a:rPr lang="en-US" sz="1400" dirty="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</a:p>
        </p:txBody>
      </p:sp>
      <p:sp>
        <p:nvSpPr>
          <p:cNvPr id="4" name="TextBox 4"/>
          <p:cNvSpPr txBox="1"/>
          <p:nvPr>
            <p:custDataLst>
              <p:tags r:id="rId2"/>
            </p:custDataLst>
          </p:nvPr>
        </p:nvSpPr>
        <p:spPr>
          <a:xfrm>
            <a:off x="1017379" y="3971456"/>
            <a:ext cx="3000375" cy="490334"/>
          </a:xfrm>
          <a:prstGeom prst="rect">
            <a:avLst/>
          </a:prstGeom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r">
              <a:lnSpc>
                <a:spcPct val="150000"/>
              </a:lnSpc>
            </a:pPr>
            <a:r>
              <a:rPr lang="en-US" sz="2000" b="1" dirty="0" err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权限规则</a:t>
            </a:r>
            <a:endParaRPr lang="en-US" sz="2000" b="1" dirty="0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5"/>
          <p:cNvSpPr txBox="1"/>
          <p:nvPr>
            <p:custDataLst>
              <p:tags r:id="rId3"/>
            </p:custDataLst>
          </p:nvPr>
        </p:nvSpPr>
        <p:spPr>
          <a:xfrm>
            <a:off x="1031160" y="4491823"/>
            <a:ext cx="3000375" cy="1552257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r">
              <a:lnSpc>
                <a:spcPct val="140000"/>
              </a:lnSpc>
            </a:pPr>
            <a:r>
              <a:rPr lang="en-US" sz="1600" dirty="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指定义如何授予或拒绝用户对资源的访问权限的规则。权限规则可以根据业务需求、用户角色、时间等因素来制定，以确保系统的安全性和灵活性。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111880" y="1310570"/>
            <a:ext cx="3000749" cy="490334"/>
          </a:xfrm>
          <a:prstGeom prst="rect">
            <a:avLst/>
          </a:prstGeom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2000" b="1" dirty="0" err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资源</a:t>
            </a:r>
            <a:endParaRPr lang="en-US" sz="2000" b="1" dirty="0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7"/>
          <p:cNvSpPr txBox="1"/>
          <p:nvPr>
            <p:custDataLst>
              <p:tags r:id="rId4"/>
            </p:custDataLst>
          </p:nvPr>
        </p:nvSpPr>
        <p:spPr>
          <a:xfrm>
            <a:off x="8080375" y="1862455"/>
            <a:ext cx="3276600" cy="1551940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600" dirty="0" err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指系统中需要保护的对象，如文件、数据库、应用程序等。资源通常与特定的权限相关联，以控制用户对其的访问和操作</a:t>
            </a:r>
            <a:r>
              <a:rPr lang="en-US" sz="1600" dirty="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</a:p>
        </p:txBody>
      </p:sp>
      <p:sp>
        <p:nvSpPr>
          <p:cNvPr id="8" name="TextBox 8"/>
          <p:cNvSpPr txBox="1"/>
          <p:nvPr>
            <p:custDataLst>
              <p:tags r:id="rId5"/>
            </p:custDataLst>
          </p:nvPr>
        </p:nvSpPr>
        <p:spPr>
          <a:xfrm>
            <a:off x="8125215" y="3958756"/>
            <a:ext cx="3000749" cy="490334"/>
          </a:xfrm>
          <a:prstGeom prst="rect">
            <a:avLst/>
          </a:prstGeom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2000" b="1" dirty="0" err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权限验证</a:t>
            </a:r>
            <a:endParaRPr lang="en-US" sz="2000" b="1" dirty="0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9"/>
          <p:cNvSpPr txBox="1"/>
          <p:nvPr>
            <p:custDataLst>
              <p:tags r:id="rId6"/>
            </p:custDataLst>
          </p:nvPr>
        </p:nvSpPr>
        <p:spPr>
          <a:xfrm>
            <a:off x="8125460" y="4461510"/>
            <a:ext cx="3231515" cy="1551940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指在系统运行时对用户进行身份验证和权限验证的过程。通过验证用户的身份和检查其所拥有的权限，系统可以决定是否允许用户执行特定的操作或访问受保护的资源。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 dirty="0" err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权限管理的核心要素</a:t>
            </a:r>
            <a:endParaRPr lang="en-US" sz="3000" b="1" dirty="0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1" name="Group 11"/>
          <p:cNvGrpSpPr/>
          <p:nvPr>
            <p:custDataLst>
              <p:tags r:id="rId7"/>
            </p:custDataLst>
          </p:nvPr>
        </p:nvGrpSpPr>
        <p:grpSpPr>
          <a:xfrm>
            <a:off x="3384650" y="914605"/>
            <a:ext cx="5406235" cy="5406235"/>
            <a:chOff x="3381475" y="1147015"/>
            <a:chExt cx="5406235" cy="5406235"/>
          </a:xfrm>
        </p:grpSpPr>
        <p:sp>
          <p:nvSpPr>
            <p:cNvPr id="12" name="AutoShape 12"/>
            <p:cNvSpPr/>
            <p:nvPr>
              <p:custDataLst>
                <p:tags r:id="rId9"/>
              </p:custDataLst>
            </p:nvPr>
          </p:nvSpPr>
          <p:spPr>
            <a:xfrm>
              <a:off x="3384818" y="3851804"/>
              <a:ext cx="2701446" cy="2701446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254032">
              <a:solidFill>
                <a:schemeClr val="accent1">
                  <a:alpha val="30000"/>
                </a:scheme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AutoShape 13"/>
            <p:cNvSpPr/>
            <p:nvPr>
              <p:custDataLst>
                <p:tags r:id="rId10"/>
              </p:custDataLst>
            </p:nvPr>
          </p:nvSpPr>
          <p:spPr>
            <a:xfrm flipH="1">
              <a:off x="6086264" y="3851804"/>
              <a:ext cx="2701446" cy="2701446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254032">
              <a:solidFill>
                <a:schemeClr val="accent1">
                  <a:alpha val="100000"/>
                </a:scheme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AutoShape 14"/>
            <p:cNvSpPr/>
            <p:nvPr>
              <p:custDataLst>
                <p:tags r:id="rId11"/>
              </p:custDataLst>
            </p:nvPr>
          </p:nvSpPr>
          <p:spPr>
            <a:xfrm flipV="1">
              <a:off x="3381475" y="1147015"/>
              <a:ext cx="2701446" cy="2701446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254032">
              <a:solidFill>
                <a:schemeClr val="accent1">
                  <a:alpha val="100000"/>
                </a:scheme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AutoShape 15"/>
            <p:cNvSpPr/>
            <p:nvPr>
              <p:custDataLst>
                <p:tags r:id="rId12"/>
              </p:custDataLst>
            </p:nvPr>
          </p:nvSpPr>
          <p:spPr>
            <a:xfrm flipH="1" flipV="1">
              <a:off x="6082921" y="1147015"/>
              <a:ext cx="2701446" cy="2701446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254032">
              <a:solidFill>
                <a:schemeClr val="accent1">
                  <a:alpha val="30000"/>
                </a:scheme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6" name="Freeform 16"/>
          <p:cNvSpPr/>
          <p:nvPr>
            <p:custDataLst>
              <p:tags r:id="rId8"/>
            </p:custDataLst>
          </p:nvPr>
        </p:nvSpPr>
        <p:spPr>
          <a:xfrm>
            <a:off x="5882044" y="3331972"/>
            <a:ext cx="433809" cy="433809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67640" y="0"/>
                </a:moveTo>
                <a:lnTo>
                  <a:pt x="182880" y="0"/>
                </a:lnTo>
                <a:lnTo>
                  <a:pt x="182880" y="45720"/>
                </a:lnTo>
                <a:lnTo>
                  <a:pt x="228600" y="152400"/>
                </a:lnTo>
                <a:lnTo>
                  <a:pt x="228600" y="274320"/>
                </a:lnTo>
                <a:cubicBezTo>
                  <a:pt x="228600" y="291151"/>
                  <a:pt x="214951" y="304800"/>
                  <a:pt x="198120" y="304800"/>
                </a:cubicBezTo>
                <a:lnTo>
                  <a:pt x="198120" y="304800"/>
                </a:lnTo>
                <a:lnTo>
                  <a:pt x="76200" y="304800"/>
                </a:lnTo>
                <a:cubicBezTo>
                  <a:pt x="59436" y="304800"/>
                  <a:pt x="40996" y="291998"/>
                  <a:pt x="35052" y="276149"/>
                </a:cubicBezTo>
                <a:lnTo>
                  <a:pt x="0" y="182880"/>
                </a:lnTo>
                <a:lnTo>
                  <a:pt x="0" y="152400"/>
                </a:lnTo>
                <a:cubicBezTo>
                  <a:pt x="0" y="135569"/>
                  <a:pt x="13649" y="121920"/>
                  <a:pt x="30480" y="121920"/>
                </a:cubicBezTo>
                <a:lnTo>
                  <a:pt x="30480" y="121920"/>
                </a:lnTo>
                <a:lnTo>
                  <a:pt x="137160" y="121920"/>
                </a:lnTo>
                <a:lnTo>
                  <a:pt x="137160" y="30480"/>
                </a:lnTo>
                <a:cubicBezTo>
                  <a:pt x="137160" y="13649"/>
                  <a:pt x="150809" y="0"/>
                  <a:pt x="167640" y="0"/>
                </a:cubicBezTo>
                <a:lnTo>
                  <a:pt x="167640" y="0"/>
                </a:lnTo>
                <a:close/>
                <a:moveTo>
                  <a:pt x="259080" y="152400"/>
                </a:moveTo>
                <a:lnTo>
                  <a:pt x="304800" y="152400"/>
                </a:lnTo>
                <a:lnTo>
                  <a:pt x="304800" y="304800"/>
                </a:lnTo>
                <a:lnTo>
                  <a:pt x="259080" y="304800"/>
                </a:lnTo>
                <a:lnTo>
                  <a:pt x="259080" y="152400"/>
                </a:lnTo>
                <a:close/>
              </a:path>
            </a:pathLst>
          </a:custGeom>
          <a:solidFill>
            <a:schemeClr val="accent1">
              <a:alpha val="100000"/>
            </a:schemeClr>
          </a:solidFill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191015" y="3921593"/>
            <a:ext cx="9809970" cy="1559744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1517472" y="4119595"/>
            <a:ext cx="9157056" cy="1163741"/>
          </a:xfrm>
          <a:prstGeom prst="rect">
            <a:avLst/>
          </a:prstGeom>
        </p:spPr>
        <p:txBody>
          <a:bodyPr vert="horz" wrap="square" lIns="91440" tIns="45720" rIns="91440" bIns="45720" rtlCol="0" anchor="ctr" anchorCtr="1">
            <a:norm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sz="4950" b="1" dirty="0" err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权限管理系统架构设计</a:t>
            </a:r>
            <a:endParaRPr lang="en-US" sz="4950" b="1" dirty="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4489235" y="1331454"/>
            <a:ext cx="3213530" cy="1775887"/>
          </a:xfrm>
          <a:prstGeom prst="rect">
            <a:avLst/>
          </a:prstGeom>
        </p:spPr>
        <p:txBody>
          <a:bodyPr vert="horz" wrap="square" lIns="91440" tIns="45720" rIns="91440" bIns="45720" rtlCol="0" anchor="ctr" anchorCtr="1">
            <a:norm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sz="84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</a:p>
        </p:txBody>
      </p:sp>
      <p:grpSp>
        <p:nvGrpSpPr>
          <p:cNvPr id="5" name="Group 5"/>
          <p:cNvGrpSpPr/>
          <p:nvPr/>
        </p:nvGrpSpPr>
        <p:grpSpPr>
          <a:xfrm rot="-10800000">
            <a:off x="7752111" y="1331454"/>
            <a:ext cx="451710" cy="665399"/>
            <a:chOff x="7752111" y="1331454"/>
            <a:chExt cx="451710" cy="665399"/>
          </a:xfrm>
          <a:solidFill>
            <a:schemeClr val="accent1">
              <a:alpha val="100000"/>
            </a:schemeClr>
          </a:solidFill>
        </p:grpSpPr>
        <p:sp>
          <p:nvSpPr>
            <p:cNvPr id="6" name="AutoShape 6"/>
            <p:cNvSpPr/>
            <p:nvPr/>
          </p:nvSpPr>
          <p:spPr>
            <a:xfrm>
              <a:off x="7752111" y="1331454"/>
              <a:ext cx="260686" cy="530495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AutoShape 7"/>
            <p:cNvSpPr/>
            <p:nvPr/>
          </p:nvSpPr>
          <p:spPr>
            <a:xfrm rot="5400000">
              <a:off x="7943135" y="1466358"/>
              <a:ext cx="260686" cy="530495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" name="AutoShape 8"/>
          <p:cNvSpPr/>
          <p:nvPr/>
        </p:nvSpPr>
        <p:spPr>
          <a:xfrm>
            <a:off x="3853275" y="2549673"/>
            <a:ext cx="260686" cy="530495"/>
          </a:xfrm>
          <a:prstGeom prst="rect">
            <a:avLst/>
          </a:prstGeom>
          <a:grpFill/>
        </p:spPr>
        <p:txBody>
          <a:bodyPr/>
          <a:lstStyle/>
          <a:p>
            <a:endParaRPr lang="zh-CN" altLang="en-US"/>
          </a:p>
        </p:txBody>
      </p:sp>
      <p:sp>
        <p:nvSpPr>
          <p:cNvPr id="9" name="AutoShape 9"/>
          <p:cNvSpPr/>
          <p:nvPr/>
        </p:nvSpPr>
        <p:spPr>
          <a:xfrm rot="5400000">
            <a:off x="4044298" y="2684577"/>
            <a:ext cx="260686" cy="530495"/>
          </a:xfrm>
          <a:prstGeom prst="rect">
            <a:avLst/>
          </a:prstGeom>
          <a:grpFill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4">
            <a:alphaModFix/>
          </a:blip>
          <a:srcRect/>
          <a:stretch>
            <a:fillRect/>
          </a:stretch>
        </p:blipFill>
        <p:spPr>
          <a:xfrm>
            <a:off x="425795" y="2384018"/>
            <a:ext cx="3415971" cy="3415971"/>
          </a:xfrm>
          <a:prstGeom prst="ellipse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整体架构设计思路</a:t>
            </a:r>
          </a:p>
        </p:txBody>
      </p:sp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4113475" y="1643082"/>
            <a:ext cx="3657600" cy="2219857"/>
          </a:xfrm>
          <a:prstGeom prst="roundRect">
            <a:avLst>
              <a:gd name="adj" fmla="val 16667"/>
            </a:avLst>
          </a:prstGeom>
          <a:solidFill>
            <a:schemeClr val="lt2">
              <a:alpha val="10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5"/>
          <p:cNvSpPr txBox="1"/>
          <p:nvPr>
            <p:custDataLst>
              <p:tags r:id="rId2"/>
            </p:custDataLst>
          </p:nvPr>
        </p:nvSpPr>
        <p:spPr>
          <a:xfrm>
            <a:off x="4330996" y="1752714"/>
            <a:ext cx="3251104" cy="490334"/>
          </a:xfrm>
          <a:prstGeom prst="rect">
            <a:avLst/>
          </a:prstGeom>
        </p:spPr>
        <p:txBody>
          <a:bodyPr vert="horz" wrap="square" lIns="66008" tIns="33052" rIns="66008" bIns="33052" rtlCol="0" anchor="ctr" anchorCtr="1">
            <a:no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000" b="1" dirty="0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用户界面层</a:t>
            </a:r>
          </a:p>
        </p:txBody>
      </p:sp>
      <p:sp>
        <p:nvSpPr>
          <p:cNvPr id="6" name="TextBox 6"/>
          <p:cNvSpPr txBox="1"/>
          <p:nvPr>
            <p:custDataLst>
              <p:tags r:id="rId3"/>
            </p:custDataLst>
          </p:nvPr>
        </p:nvSpPr>
        <p:spPr>
          <a:xfrm>
            <a:off x="4343696" y="2209202"/>
            <a:ext cx="3251104" cy="1055857"/>
          </a:xfrm>
          <a:prstGeom prst="rect">
            <a:avLst/>
          </a:prstGeom>
        </p:spPr>
        <p:txBody>
          <a:bodyPr vert="horz" wrap="square" lIns="66008" tIns="33052" rIns="66008" bIns="33052" rtlCol="0" anchor="t" anchorCtr="1">
            <a:noAutofit/>
          </a:bodyPr>
          <a:lstStyle/>
          <a:p>
            <a:pPr algn="l">
              <a:lnSpc>
                <a:spcPct val="140000"/>
              </a:lnSpc>
            </a:pPr>
            <a:r>
              <a:rPr lang="zh-CN" altLang="en-US" sz="160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用户界面层是权限管理系统的最上层，负责提供用户界面和交互功能。例如提供登录页面，用于验证用户的身份和权限。</a:t>
            </a:r>
          </a:p>
        </p:txBody>
      </p:sp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8070842" y="1650556"/>
            <a:ext cx="3657600" cy="2219857"/>
          </a:xfrm>
          <a:prstGeom prst="roundRect">
            <a:avLst>
              <a:gd name="adj" fmla="val 16667"/>
            </a:avLst>
          </a:prstGeom>
          <a:solidFill>
            <a:schemeClr val="lt2">
              <a:alpha val="10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TextBox 8"/>
          <p:cNvSpPr txBox="1"/>
          <p:nvPr>
            <p:custDataLst>
              <p:tags r:id="rId5"/>
            </p:custDataLst>
          </p:nvPr>
        </p:nvSpPr>
        <p:spPr>
          <a:xfrm>
            <a:off x="8304873" y="1752569"/>
            <a:ext cx="3251104" cy="490334"/>
          </a:xfrm>
          <a:prstGeom prst="rect">
            <a:avLst/>
          </a:prstGeom>
        </p:spPr>
        <p:txBody>
          <a:bodyPr vert="horz" wrap="square" lIns="66008" tIns="33052" rIns="66008" bIns="33052" rtlCol="0" anchor="ctr" anchorCtr="1">
            <a:no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000" b="1" dirty="0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应用层</a:t>
            </a:r>
          </a:p>
        </p:txBody>
      </p:sp>
      <p:sp>
        <p:nvSpPr>
          <p:cNvPr id="9" name="TextBox 9"/>
          <p:cNvSpPr txBox="1"/>
          <p:nvPr>
            <p:custDataLst>
              <p:tags r:id="rId6"/>
            </p:custDataLst>
          </p:nvPr>
        </p:nvSpPr>
        <p:spPr>
          <a:xfrm>
            <a:off x="8277225" y="2212975"/>
            <a:ext cx="3392170" cy="1056005"/>
          </a:xfrm>
          <a:prstGeom prst="rect">
            <a:avLst/>
          </a:prstGeom>
        </p:spPr>
        <p:txBody>
          <a:bodyPr vert="horz" wrap="square" lIns="66008" tIns="33052" rIns="66008" bIns="33052" rtlCol="0" anchor="t" anchorCtr="1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600" dirty="0" err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应用层是权限管理系统的核心部分，负责处理业务逻辑和权限相关的操作</a:t>
            </a:r>
            <a:r>
              <a:rPr lang="zh-CN" altLang="en-US" sz="1600" dirty="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。例如管理用户的权限和权限相关的配置，包括权限的添加、删除、修改和查看。</a:t>
            </a:r>
          </a:p>
        </p:txBody>
      </p:sp>
      <p:sp>
        <p:nvSpPr>
          <p:cNvPr id="10" name="AutoShape 10"/>
          <p:cNvSpPr/>
          <p:nvPr>
            <p:custDataLst>
              <p:tags r:id="rId7"/>
            </p:custDataLst>
          </p:nvPr>
        </p:nvSpPr>
        <p:spPr>
          <a:xfrm>
            <a:off x="4120950" y="4294709"/>
            <a:ext cx="3657600" cy="2219857"/>
          </a:xfrm>
          <a:prstGeom prst="roundRect">
            <a:avLst>
              <a:gd name="adj" fmla="val 16667"/>
            </a:avLst>
          </a:prstGeom>
          <a:solidFill>
            <a:schemeClr val="lt2">
              <a:alpha val="10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1" name="TextBox 11"/>
          <p:cNvSpPr txBox="1"/>
          <p:nvPr>
            <p:custDataLst>
              <p:tags r:id="rId8"/>
            </p:custDataLst>
          </p:nvPr>
        </p:nvSpPr>
        <p:spPr>
          <a:xfrm>
            <a:off x="4320056" y="4419582"/>
            <a:ext cx="3251104" cy="490334"/>
          </a:xfrm>
          <a:prstGeom prst="rect">
            <a:avLst/>
          </a:prstGeom>
        </p:spPr>
        <p:txBody>
          <a:bodyPr vert="horz" wrap="square" lIns="66008" tIns="33052" rIns="66008" bIns="33052" rtlCol="0" anchor="ctr" anchorCtr="1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000" b="1" dirty="0" err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数据访问层</a:t>
            </a:r>
            <a:endParaRPr lang="en-US" sz="2000" b="1" dirty="0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2"/>
          <p:cNvSpPr txBox="1"/>
          <p:nvPr>
            <p:custDataLst>
              <p:tags r:id="rId9"/>
            </p:custDataLst>
          </p:nvPr>
        </p:nvSpPr>
        <p:spPr>
          <a:xfrm>
            <a:off x="4334661" y="4909725"/>
            <a:ext cx="3251104" cy="1055857"/>
          </a:xfrm>
          <a:prstGeom prst="rect">
            <a:avLst/>
          </a:prstGeom>
        </p:spPr>
        <p:txBody>
          <a:bodyPr vert="horz" wrap="square" lIns="66008" tIns="33052" rIns="66008" bIns="33052" rtlCol="0" anchor="t" anchorCtr="1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600" dirty="0" err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数据访问层负责访问和管理权限相关的数据</a:t>
            </a:r>
            <a:r>
              <a:rPr lang="zh-CN" altLang="en-US" sz="1600" dirty="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。例如访问和管理用户的信息和权限，包括用户的添加、删除、修改和查看。</a:t>
            </a:r>
          </a:p>
        </p:txBody>
      </p:sp>
      <p:sp>
        <p:nvSpPr>
          <p:cNvPr id="13" name="AutoShape 13"/>
          <p:cNvSpPr/>
          <p:nvPr>
            <p:custDataLst>
              <p:tags r:id="rId10"/>
            </p:custDataLst>
          </p:nvPr>
        </p:nvSpPr>
        <p:spPr>
          <a:xfrm>
            <a:off x="8078316" y="4302184"/>
            <a:ext cx="3657600" cy="2219857"/>
          </a:xfrm>
          <a:prstGeom prst="roundRect">
            <a:avLst>
              <a:gd name="adj" fmla="val 16667"/>
            </a:avLst>
          </a:prstGeom>
          <a:solidFill>
            <a:schemeClr val="lt2">
              <a:alpha val="10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4"/>
          <p:cNvSpPr txBox="1"/>
          <p:nvPr>
            <p:custDataLst>
              <p:tags r:id="rId11"/>
            </p:custDataLst>
          </p:nvPr>
        </p:nvSpPr>
        <p:spPr>
          <a:xfrm>
            <a:off x="8276788" y="4419437"/>
            <a:ext cx="3251104" cy="490334"/>
          </a:xfrm>
          <a:prstGeom prst="rect">
            <a:avLst/>
          </a:prstGeom>
        </p:spPr>
        <p:txBody>
          <a:bodyPr vert="horz" wrap="square" lIns="66008" tIns="33052" rIns="66008" bIns="33052" rtlCol="0" anchor="ctr" anchorCtr="1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000" b="1" dirty="0" err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基础设施层</a:t>
            </a:r>
            <a:endParaRPr lang="en-US" sz="2000" b="1" dirty="0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5"/>
          <p:cNvSpPr txBox="1"/>
          <p:nvPr>
            <p:custDataLst>
              <p:tags r:id="rId12"/>
            </p:custDataLst>
          </p:nvPr>
        </p:nvSpPr>
        <p:spPr>
          <a:xfrm>
            <a:off x="8276788" y="4909580"/>
            <a:ext cx="3251104" cy="1055857"/>
          </a:xfrm>
          <a:prstGeom prst="rect">
            <a:avLst/>
          </a:prstGeom>
        </p:spPr>
        <p:txBody>
          <a:bodyPr vert="horz" wrap="square" lIns="66008" tIns="33052" rIns="66008" bIns="33052" rtlCol="0" anchor="t" anchorCtr="1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600" dirty="0" err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基础设施层是权限管理系统的最底层，负责提供基础设施和服务，例如数据库等</a:t>
            </a:r>
            <a:endParaRPr lang="en-US" sz="1600" dirty="0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custDataLst>
              <p:tags r:id="rId1"/>
            </p:custDataLst>
          </p:nvPr>
        </p:nvSpPr>
        <p:spPr>
          <a:xfrm>
            <a:off x="4489734" y="4197309"/>
            <a:ext cx="3273285" cy="690150"/>
          </a:xfrm>
          <a:prstGeom prst="roundRect">
            <a:avLst>
              <a:gd name="adj" fmla="val 28095"/>
            </a:avLst>
          </a:prstGeom>
          <a:solidFill>
            <a:schemeClr val="accent1">
              <a:alpha val="10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AutoShape 3"/>
          <p:cNvSpPr/>
          <p:nvPr>
            <p:custDataLst>
              <p:tags r:id="rId2"/>
            </p:custDataLst>
          </p:nvPr>
        </p:nvSpPr>
        <p:spPr>
          <a:xfrm>
            <a:off x="650433" y="4197309"/>
            <a:ext cx="3273285" cy="690150"/>
          </a:xfrm>
          <a:prstGeom prst="roundRect">
            <a:avLst>
              <a:gd name="adj" fmla="val 28095"/>
            </a:avLst>
          </a:prstGeom>
          <a:solidFill>
            <a:schemeClr val="accent1">
              <a:alpha val="10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AutoShape 4"/>
          <p:cNvSpPr/>
          <p:nvPr>
            <p:custDataLst>
              <p:tags r:id="rId3"/>
            </p:custDataLst>
          </p:nvPr>
        </p:nvSpPr>
        <p:spPr>
          <a:xfrm>
            <a:off x="4489734" y="1474577"/>
            <a:ext cx="3273285" cy="690150"/>
          </a:xfrm>
          <a:prstGeom prst="roundRect">
            <a:avLst>
              <a:gd name="adj" fmla="val 28095"/>
            </a:avLst>
          </a:prstGeom>
          <a:solidFill>
            <a:schemeClr val="accent1">
              <a:alpha val="10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AutoShape 5"/>
          <p:cNvSpPr/>
          <p:nvPr>
            <p:custDataLst>
              <p:tags r:id="rId4"/>
            </p:custDataLst>
          </p:nvPr>
        </p:nvSpPr>
        <p:spPr>
          <a:xfrm>
            <a:off x="650433" y="1474577"/>
            <a:ext cx="3273285" cy="690150"/>
          </a:xfrm>
          <a:prstGeom prst="roundRect">
            <a:avLst>
              <a:gd name="adj" fmla="val 28095"/>
            </a:avLst>
          </a:prstGeom>
          <a:solidFill>
            <a:schemeClr val="accent1">
              <a:alpha val="10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7"/>
          <p:cNvSpPr txBox="1"/>
          <p:nvPr>
            <p:custDataLst>
              <p:tags r:id="rId5"/>
            </p:custDataLst>
          </p:nvPr>
        </p:nvSpPr>
        <p:spPr>
          <a:xfrm>
            <a:off x="570176" y="2177640"/>
            <a:ext cx="3433799" cy="1259772"/>
          </a:xfrm>
          <a:prstGeom prst="rect">
            <a:avLst/>
          </a:prstGeom>
        </p:spPr>
        <p:txBody>
          <a:bodyPr vert="horz" wrap="square" lIns="123825" tIns="123825" rIns="57150" bIns="123825" rtlCol="0" anchor="t" anchorCtr="1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负责用户的注册、登录、信息修改等功能，是权限管理的基础。</a:t>
            </a:r>
          </a:p>
        </p:txBody>
      </p:sp>
      <p:sp>
        <p:nvSpPr>
          <p:cNvPr id="8" name="TextBox 8"/>
          <p:cNvSpPr txBox="1"/>
          <p:nvPr>
            <p:custDataLst>
              <p:tags r:id="rId6"/>
            </p:custDataLst>
          </p:nvPr>
        </p:nvSpPr>
        <p:spPr>
          <a:xfrm>
            <a:off x="4409477" y="2177640"/>
            <a:ext cx="3433799" cy="1259772"/>
          </a:xfrm>
          <a:prstGeom prst="rect">
            <a:avLst/>
          </a:prstGeom>
        </p:spPr>
        <p:txBody>
          <a:bodyPr vert="horz" wrap="square" lIns="123825" tIns="123825" rIns="57150" bIns="123825" rtlCol="0" anchor="t" anchorCtr="1">
            <a:noAutofit/>
          </a:bodyPr>
          <a:lstStyle/>
          <a:p>
            <a:pPr algn="ctr">
              <a:lnSpc>
                <a:spcPct val="140000"/>
              </a:lnSpc>
            </a:pPr>
            <a:r>
              <a:rPr lang="zh-CN" altLang="en-US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创建和编辑</a:t>
            </a:r>
            <a:r>
              <a:rPr lang="en-US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不同的角色，并为每个角色分配相应的权限，实现基于角色的访问控制。</a:t>
            </a:r>
          </a:p>
        </p:txBody>
      </p:sp>
      <p:sp>
        <p:nvSpPr>
          <p:cNvPr id="9" name="TextBox 9"/>
          <p:cNvSpPr txBox="1"/>
          <p:nvPr>
            <p:custDataLst>
              <p:tags r:id="rId7"/>
            </p:custDataLst>
          </p:nvPr>
        </p:nvSpPr>
        <p:spPr>
          <a:xfrm>
            <a:off x="570176" y="4915720"/>
            <a:ext cx="3433799" cy="1262987"/>
          </a:xfrm>
          <a:prstGeom prst="rect">
            <a:avLst/>
          </a:prstGeom>
        </p:spPr>
        <p:txBody>
          <a:bodyPr vert="horz" wrap="square" lIns="123825" tIns="123825" rIns="57150" bIns="123825" rtlCol="0" anchor="t" anchorCtr="1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定义和维护系统中使用的字典数据。包括字典项的创建、编辑和删除，以及字典数据的查询和展示。</a:t>
            </a:r>
          </a:p>
        </p:txBody>
      </p:sp>
      <p:sp>
        <p:nvSpPr>
          <p:cNvPr id="10" name="TextBox 10"/>
          <p:cNvSpPr txBox="1"/>
          <p:nvPr>
            <p:custDataLst>
              <p:tags r:id="rId8"/>
            </p:custDataLst>
          </p:nvPr>
        </p:nvSpPr>
        <p:spPr>
          <a:xfrm>
            <a:off x="4407114" y="4915720"/>
            <a:ext cx="3438525" cy="1262987"/>
          </a:xfrm>
          <a:prstGeom prst="rect">
            <a:avLst/>
          </a:prstGeom>
        </p:spPr>
        <p:txBody>
          <a:bodyPr vert="horz" wrap="square" lIns="123825" tIns="123825" rIns="57150" bIns="123825" rtlCol="0" anchor="t" anchorCtr="1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记录所有系统操作的日志信息，包括用户登录、用户操作、数据访问、权限更改等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76023" y="265328"/>
            <a:ext cx="11239500" cy="89344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关键模块</a:t>
            </a:r>
          </a:p>
        </p:txBody>
      </p:sp>
      <p:sp>
        <p:nvSpPr>
          <p:cNvPr id="12" name="TextBox 12"/>
          <p:cNvSpPr txBox="1"/>
          <p:nvPr>
            <p:custDataLst>
              <p:tags r:id="rId9"/>
            </p:custDataLst>
          </p:nvPr>
        </p:nvSpPr>
        <p:spPr>
          <a:xfrm>
            <a:off x="838067" y="1502085"/>
            <a:ext cx="2898018" cy="635136"/>
          </a:xfrm>
          <a:prstGeom prst="rect">
            <a:avLst/>
          </a:prstGeom>
        </p:spPr>
        <p:txBody>
          <a:bodyPr vert="horz" wrap="square" lIns="123825" tIns="123825" rIns="57150" bIns="123825" rtlCol="0" anchor="ctr" anchorCtr="1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用户管理模块</a:t>
            </a:r>
          </a:p>
        </p:txBody>
      </p:sp>
      <p:sp>
        <p:nvSpPr>
          <p:cNvPr id="13" name="TextBox 13"/>
          <p:cNvSpPr txBox="1"/>
          <p:nvPr>
            <p:custDataLst>
              <p:tags r:id="rId10"/>
            </p:custDataLst>
          </p:nvPr>
        </p:nvSpPr>
        <p:spPr>
          <a:xfrm>
            <a:off x="4677367" y="1502085"/>
            <a:ext cx="2898018" cy="635136"/>
          </a:xfrm>
          <a:prstGeom prst="rect">
            <a:avLst/>
          </a:prstGeom>
        </p:spPr>
        <p:txBody>
          <a:bodyPr vert="horz" wrap="square" lIns="123825" tIns="123825" rIns="57150" bIns="123825" rtlCol="0" anchor="ctr" anchorCtr="1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角色管理模块</a:t>
            </a:r>
          </a:p>
        </p:txBody>
      </p:sp>
      <p:sp>
        <p:nvSpPr>
          <p:cNvPr id="14" name="TextBox 14"/>
          <p:cNvSpPr txBox="1"/>
          <p:nvPr>
            <p:custDataLst>
              <p:tags r:id="rId11"/>
            </p:custDataLst>
          </p:nvPr>
        </p:nvSpPr>
        <p:spPr>
          <a:xfrm>
            <a:off x="838067" y="4224817"/>
            <a:ext cx="2898018" cy="635136"/>
          </a:xfrm>
          <a:prstGeom prst="rect">
            <a:avLst/>
          </a:prstGeom>
        </p:spPr>
        <p:txBody>
          <a:bodyPr vert="horz" wrap="square" lIns="123825" tIns="123825" rIns="57150" bIns="123825" rtlCol="0" anchor="ctr" anchorCtr="1">
            <a:no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4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字典</a:t>
            </a:r>
            <a:r>
              <a:rPr lang="en-US" sz="24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管理模块</a:t>
            </a:r>
          </a:p>
        </p:txBody>
      </p:sp>
      <p:sp>
        <p:nvSpPr>
          <p:cNvPr id="15" name="TextBox 15"/>
          <p:cNvSpPr txBox="1"/>
          <p:nvPr>
            <p:custDataLst>
              <p:tags r:id="rId12"/>
            </p:custDataLst>
          </p:nvPr>
        </p:nvSpPr>
        <p:spPr>
          <a:xfrm>
            <a:off x="4677367" y="4224817"/>
            <a:ext cx="2898018" cy="635136"/>
          </a:xfrm>
          <a:prstGeom prst="rect">
            <a:avLst/>
          </a:prstGeom>
        </p:spPr>
        <p:txBody>
          <a:bodyPr vert="horz" wrap="square" lIns="123825" tIns="123825" rIns="57150" bIns="123825" rtlCol="0" anchor="ctr" anchorCtr="1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日志记录模块</a:t>
            </a:r>
          </a:p>
        </p:txBody>
      </p:sp>
      <p:sp>
        <p:nvSpPr>
          <p:cNvPr id="16" name="AutoShape 3"/>
          <p:cNvSpPr/>
          <p:nvPr>
            <p:custDataLst>
              <p:tags r:id="rId13"/>
            </p:custDataLst>
          </p:nvPr>
        </p:nvSpPr>
        <p:spPr>
          <a:xfrm>
            <a:off x="8499033" y="1475064"/>
            <a:ext cx="3273285" cy="690150"/>
          </a:xfrm>
          <a:prstGeom prst="roundRect">
            <a:avLst>
              <a:gd name="adj" fmla="val 28095"/>
            </a:avLst>
          </a:prstGeom>
          <a:solidFill>
            <a:schemeClr val="accent1">
              <a:alpha val="10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7" name="TextBox 14"/>
          <p:cNvSpPr txBox="1"/>
          <p:nvPr>
            <p:custDataLst>
              <p:tags r:id="rId14"/>
            </p:custDataLst>
          </p:nvPr>
        </p:nvSpPr>
        <p:spPr>
          <a:xfrm>
            <a:off x="8686667" y="1502572"/>
            <a:ext cx="2898018" cy="635136"/>
          </a:xfrm>
          <a:prstGeom prst="rect">
            <a:avLst/>
          </a:prstGeom>
        </p:spPr>
        <p:txBody>
          <a:bodyPr vert="horz" wrap="square" lIns="123825" tIns="123825" rIns="57150" bIns="123825" rtlCol="0" anchor="ctr" anchorCtr="1">
            <a:no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4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菜单</a:t>
            </a:r>
            <a:r>
              <a:rPr lang="en-US" sz="24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管理模块</a:t>
            </a:r>
          </a:p>
        </p:txBody>
      </p:sp>
      <p:sp>
        <p:nvSpPr>
          <p:cNvPr id="18" name="AutoShape 3"/>
          <p:cNvSpPr/>
          <p:nvPr>
            <p:custDataLst>
              <p:tags r:id="rId15"/>
            </p:custDataLst>
          </p:nvPr>
        </p:nvSpPr>
        <p:spPr>
          <a:xfrm>
            <a:off x="8499033" y="4197309"/>
            <a:ext cx="3273285" cy="690150"/>
          </a:xfrm>
          <a:prstGeom prst="roundRect">
            <a:avLst>
              <a:gd name="adj" fmla="val 28095"/>
            </a:avLst>
          </a:prstGeom>
          <a:solidFill>
            <a:schemeClr val="accent1">
              <a:alpha val="10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9" name="TextBox 14"/>
          <p:cNvSpPr txBox="1"/>
          <p:nvPr>
            <p:custDataLst>
              <p:tags r:id="rId16"/>
            </p:custDataLst>
          </p:nvPr>
        </p:nvSpPr>
        <p:spPr>
          <a:xfrm>
            <a:off x="8686667" y="4224817"/>
            <a:ext cx="2898018" cy="635136"/>
          </a:xfrm>
          <a:prstGeom prst="rect">
            <a:avLst/>
          </a:prstGeom>
        </p:spPr>
        <p:txBody>
          <a:bodyPr vert="horz" wrap="square" lIns="123825" tIns="123825" rIns="57150" bIns="123825" rtlCol="0" anchor="ctr" anchorCtr="1">
            <a:no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4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部门</a:t>
            </a:r>
            <a:r>
              <a:rPr lang="en-US" sz="24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管理模块</a:t>
            </a:r>
          </a:p>
        </p:txBody>
      </p:sp>
      <p:sp>
        <p:nvSpPr>
          <p:cNvPr id="6" name="TextBox 8"/>
          <p:cNvSpPr txBox="1"/>
          <p:nvPr>
            <p:custDataLst>
              <p:tags r:id="rId17"/>
            </p:custDataLst>
          </p:nvPr>
        </p:nvSpPr>
        <p:spPr>
          <a:xfrm>
            <a:off x="8418867" y="2177640"/>
            <a:ext cx="3433799" cy="1259772"/>
          </a:xfrm>
          <a:prstGeom prst="rect">
            <a:avLst/>
          </a:prstGeom>
        </p:spPr>
        <p:txBody>
          <a:bodyPr vert="horz" wrap="square" lIns="123825" tIns="123825" rIns="57150" bIns="123825" rtlCol="0" anchor="t" anchorCtr="1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定义和配置系统中的菜单结构，分配菜单访问权限给用户角色或用户组，并动态控制菜单的显示与操作权限。</a:t>
            </a:r>
          </a:p>
        </p:txBody>
      </p:sp>
      <p:sp>
        <p:nvSpPr>
          <p:cNvPr id="21" name="TextBox 8"/>
          <p:cNvSpPr txBox="1"/>
          <p:nvPr>
            <p:custDataLst>
              <p:tags r:id="rId18"/>
            </p:custDataLst>
          </p:nvPr>
        </p:nvSpPr>
        <p:spPr>
          <a:xfrm>
            <a:off x="8418867" y="4887820"/>
            <a:ext cx="3433799" cy="1259772"/>
          </a:xfrm>
          <a:prstGeom prst="rect">
            <a:avLst/>
          </a:prstGeom>
        </p:spPr>
        <p:txBody>
          <a:bodyPr vert="horz" wrap="square" lIns="123825" tIns="123825" rIns="57150" bIns="123825" rtlCol="0" anchor="t" anchorCtr="1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负责创建、编辑</a:t>
            </a:r>
            <a:r>
              <a:rPr lang="zh-CN" altLang="en-US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删除</a:t>
            </a:r>
            <a:r>
              <a:rPr lang="zh-CN" altLang="en-US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和添加</a:t>
            </a:r>
            <a:r>
              <a:rPr lang="en-US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部门的信息，包括部门名</a:t>
            </a:r>
            <a:r>
              <a:rPr lang="zh-CN" altLang="en-US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称</a:t>
            </a:r>
            <a:r>
              <a:rPr lang="en-US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191015" y="3921593"/>
            <a:ext cx="9809970" cy="1559744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1517472" y="4119595"/>
            <a:ext cx="9157056" cy="1163741"/>
          </a:xfrm>
          <a:prstGeom prst="rect">
            <a:avLst/>
          </a:prstGeom>
        </p:spPr>
        <p:txBody>
          <a:bodyPr vert="horz" wrap="square" lIns="91440" tIns="45720" rIns="91440" bIns="45720" rtlCol="0" anchor="ctr" anchorCtr="1">
            <a:norm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sz="495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权限管理系统的实现技术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489235" y="1331454"/>
            <a:ext cx="3213530" cy="1775887"/>
          </a:xfrm>
          <a:prstGeom prst="rect">
            <a:avLst/>
          </a:prstGeom>
        </p:spPr>
        <p:txBody>
          <a:bodyPr vert="horz" wrap="square" lIns="91440" tIns="45720" rIns="91440" bIns="45720" rtlCol="0" anchor="ctr" anchorCtr="1">
            <a:norm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sz="84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</a:p>
        </p:txBody>
      </p:sp>
      <p:grpSp>
        <p:nvGrpSpPr>
          <p:cNvPr id="5" name="Group 5"/>
          <p:cNvGrpSpPr/>
          <p:nvPr/>
        </p:nvGrpSpPr>
        <p:grpSpPr>
          <a:xfrm rot="-10800000">
            <a:off x="7752111" y="1331454"/>
            <a:ext cx="451710" cy="665399"/>
            <a:chOff x="7752111" y="1331454"/>
            <a:chExt cx="451710" cy="665399"/>
          </a:xfrm>
          <a:solidFill>
            <a:schemeClr val="accent1">
              <a:alpha val="100000"/>
            </a:schemeClr>
          </a:solidFill>
        </p:grpSpPr>
        <p:sp>
          <p:nvSpPr>
            <p:cNvPr id="6" name="AutoShape 6"/>
            <p:cNvSpPr/>
            <p:nvPr/>
          </p:nvSpPr>
          <p:spPr>
            <a:xfrm>
              <a:off x="7752111" y="1331454"/>
              <a:ext cx="260686" cy="530495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AutoShape 7"/>
            <p:cNvSpPr/>
            <p:nvPr/>
          </p:nvSpPr>
          <p:spPr>
            <a:xfrm rot="5400000">
              <a:off x="7943135" y="1466358"/>
              <a:ext cx="260686" cy="530495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" name="AutoShape 8"/>
          <p:cNvSpPr/>
          <p:nvPr/>
        </p:nvSpPr>
        <p:spPr>
          <a:xfrm>
            <a:off x="3853275" y="2549673"/>
            <a:ext cx="260686" cy="530495"/>
          </a:xfrm>
          <a:prstGeom prst="rect">
            <a:avLst/>
          </a:prstGeom>
          <a:grpFill/>
        </p:spPr>
        <p:txBody>
          <a:bodyPr/>
          <a:lstStyle/>
          <a:p>
            <a:endParaRPr lang="zh-CN" altLang="en-US"/>
          </a:p>
        </p:txBody>
      </p:sp>
      <p:sp>
        <p:nvSpPr>
          <p:cNvPr id="9" name="AutoShape 9"/>
          <p:cNvSpPr/>
          <p:nvPr/>
        </p:nvSpPr>
        <p:spPr>
          <a:xfrm rot="5400000">
            <a:off x="4044298" y="2684577"/>
            <a:ext cx="260686" cy="530495"/>
          </a:xfrm>
          <a:prstGeom prst="rect">
            <a:avLst/>
          </a:prstGeom>
          <a:grpFill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712180" y="1405914"/>
            <a:ext cx="1909992" cy="1909992"/>
          </a:xfrm>
          <a:prstGeom prst="ellipse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Freeform 3"/>
          <p:cNvSpPr/>
          <p:nvPr/>
        </p:nvSpPr>
        <p:spPr>
          <a:xfrm>
            <a:off x="6363028" y="2056762"/>
            <a:ext cx="608297" cy="608297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67640" y="0"/>
                </a:moveTo>
                <a:lnTo>
                  <a:pt x="182880" y="0"/>
                </a:lnTo>
                <a:lnTo>
                  <a:pt x="182880" y="45720"/>
                </a:lnTo>
                <a:lnTo>
                  <a:pt x="228600" y="152400"/>
                </a:lnTo>
                <a:lnTo>
                  <a:pt x="228600" y="274320"/>
                </a:lnTo>
                <a:cubicBezTo>
                  <a:pt x="228600" y="291151"/>
                  <a:pt x="214951" y="304800"/>
                  <a:pt x="198120" y="304800"/>
                </a:cubicBezTo>
                <a:lnTo>
                  <a:pt x="198120" y="304800"/>
                </a:lnTo>
                <a:lnTo>
                  <a:pt x="76200" y="304800"/>
                </a:lnTo>
                <a:cubicBezTo>
                  <a:pt x="59436" y="304800"/>
                  <a:pt x="40996" y="291998"/>
                  <a:pt x="35052" y="276149"/>
                </a:cubicBezTo>
                <a:lnTo>
                  <a:pt x="0" y="182880"/>
                </a:lnTo>
                <a:lnTo>
                  <a:pt x="0" y="152400"/>
                </a:lnTo>
                <a:cubicBezTo>
                  <a:pt x="0" y="135569"/>
                  <a:pt x="13649" y="121920"/>
                  <a:pt x="30480" y="121920"/>
                </a:cubicBezTo>
                <a:lnTo>
                  <a:pt x="30480" y="121920"/>
                </a:lnTo>
                <a:lnTo>
                  <a:pt x="137160" y="121920"/>
                </a:lnTo>
                <a:lnTo>
                  <a:pt x="137160" y="30480"/>
                </a:lnTo>
                <a:cubicBezTo>
                  <a:pt x="137160" y="13649"/>
                  <a:pt x="150809" y="0"/>
                  <a:pt x="167640" y="0"/>
                </a:cubicBezTo>
                <a:lnTo>
                  <a:pt x="167640" y="0"/>
                </a:lnTo>
                <a:close/>
                <a:moveTo>
                  <a:pt x="259080" y="152400"/>
                </a:moveTo>
                <a:lnTo>
                  <a:pt x="304800" y="152400"/>
                </a:lnTo>
                <a:lnTo>
                  <a:pt x="304800" y="304800"/>
                </a:lnTo>
                <a:lnTo>
                  <a:pt x="259080" y="304800"/>
                </a:lnTo>
                <a:lnTo>
                  <a:pt x="259080" y="152400"/>
                </a:lnTo>
                <a:close/>
              </a:path>
            </a:pathLst>
          </a:custGeom>
          <a:solidFill>
            <a:schemeClr val="accent1">
              <a:alpha val="10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AutoShape 4"/>
          <p:cNvSpPr/>
          <p:nvPr/>
        </p:nvSpPr>
        <p:spPr>
          <a:xfrm>
            <a:off x="4569827" y="2926474"/>
            <a:ext cx="1504713" cy="1504713"/>
          </a:xfrm>
          <a:prstGeom prst="ellipse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Freeform 5"/>
          <p:cNvSpPr/>
          <p:nvPr/>
        </p:nvSpPr>
        <p:spPr>
          <a:xfrm>
            <a:off x="5021542" y="3432130"/>
            <a:ext cx="620334" cy="51245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06680" y="0"/>
                </a:moveTo>
                <a:lnTo>
                  <a:pt x="91440" y="0"/>
                </a:lnTo>
                <a:lnTo>
                  <a:pt x="0" y="45720"/>
                </a:lnTo>
                <a:lnTo>
                  <a:pt x="0" y="137160"/>
                </a:lnTo>
                <a:lnTo>
                  <a:pt x="60960" y="121920"/>
                </a:lnTo>
                <a:lnTo>
                  <a:pt x="60960" y="304800"/>
                </a:lnTo>
                <a:lnTo>
                  <a:pt x="243840" y="304800"/>
                </a:lnTo>
                <a:lnTo>
                  <a:pt x="243840" y="121920"/>
                </a:lnTo>
                <a:lnTo>
                  <a:pt x="304800" y="137160"/>
                </a:lnTo>
                <a:lnTo>
                  <a:pt x="304800" y="45720"/>
                </a:lnTo>
                <a:lnTo>
                  <a:pt x="213360" y="0"/>
                </a:lnTo>
                <a:lnTo>
                  <a:pt x="198120" y="0"/>
                </a:lnTo>
                <a:cubicBezTo>
                  <a:pt x="198120" y="25251"/>
                  <a:pt x="177651" y="45720"/>
                  <a:pt x="152400" y="45720"/>
                </a:cubicBezTo>
                <a:cubicBezTo>
                  <a:pt x="127149" y="45720"/>
                  <a:pt x="106680" y="25251"/>
                  <a:pt x="106680" y="0"/>
                </a:cubicBezTo>
                <a:lnTo>
                  <a:pt x="106680" y="0"/>
                </a:lnTo>
                <a:close/>
              </a:path>
            </a:pathLst>
          </a:custGeom>
          <a:solidFill>
            <a:schemeClr val="accent1">
              <a:alpha val="10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AutoShape 6"/>
          <p:cNvSpPr/>
          <p:nvPr/>
        </p:nvSpPr>
        <p:spPr>
          <a:xfrm>
            <a:off x="6138031" y="3713197"/>
            <a:ext cx="1249180" cy="1249180"/>
          </a:xfrm>
          <a:prstGeom prst="ellipse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Freeform 7"/>
          <p:cNvSpPr/>
          <p:nvPr/>
        </p:nvSpPr>
        <p:spPr>
          <a:xfrm>
            <a:off x="6457220" y="4048460"/>
            <a:ext cx="610801" cy="578654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800" y="79486"/>
                </a:moveTo>
                <a:cubicBezTo>
                  <a:pt x="152800" y="79486"/>
                  <a:pt x="133750" y="38891"/>
                  <a:pt x="90888" y="38891"/>
                </a:cubicBezTo>
                <a:cubicBezTo>
                  <a:pt x="44053" y="38891"/>
                  <a:pt x="19450" y="78581"/>
                  <a:pt x="19450" y="118262"/>
                </a:cubicBezTo>
                <a:cubicBezTo>
                  <a:pt x="19450" y="184147"/>
                  <a:pt x="152800" y="265900"/>
                  <a:pt x="152800" y="265900"/>
                </a:cubicBezTo>
                <a:cubicBezTo>
                  <a:pt x="152800" y="265900"/>
                  <a:pt x="285350" y="184937"/>
                  <a:pt x="285350" y="118262"/>
                </a:cubicBezTo>
                <a:cubicBezTo>
                  <a:pt x="285350" y="77781"/>
                  <a:pt x="259956" y="38891"/>
                  <a:pt x="214713" y="38891"/>
                </a:cubicBezTo>
                <a:cubicBezTo>
                  <a:pt x="169469" y="38891"/>
                  <a:pt x="152800" y="79486"/>
                  <a:pt x="152800" y="79486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AutoShape 8"/>
          <p:cNvSpPr/>
          <p:nvPr/>
        </p:nvSpPr>
        <p:spPr>
          <a:xfrm>
            <a:off x="5029819" y="4649151"/>
            <a:ext cx="1158613" cy="1158613"/>
          </a:xfrm>
          <a:prstGeom prst="ellipse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Box 9"/>
          <p:cNvSpPr txBox="1"/>
          <p:nvPr/>
        </p:nvSpPr>
        <p:spPr>
          <a:xfrm>
            <a:off x="7803536" y="1066810"/>
            <a:ext cx="3302539" cy="628650"/>
          </a:xfrm>
          <a:prstGeom prst="rect">
            <a:avLst/>
          </a:prstGeom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原因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827010" y="1600200"/>
            <a:ext cx="4321175" cy="2555240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Vue.js是一个渐进式JavaScript框架，易于上手且功能强大。它允许开发者以声明式的方式将数据渲染进DOM的系统，同时提供组件化的开发模式，便于维护和扩展。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924519" y="3124390"/>
            <a:ext cx="3302539" cy="628650"/>
          </a:xfrm>
          <a:prstGeom prst="rect">
            <a:avLst/>
          </a:prstGeom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原因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66745" y="3048152"/>
            <a:ext cx="3304258" cy="628650"/>
          </a:xfrm>
          <a:prstGeom prst="rect">
            <a:avLst/>
          </a:prstGeom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 algn="r">
              <a:lnSpc>
                <a:spcPct val="120000"/>
              </a:lnSpc>
            </a:pPr>
            <a:r>
              <a:rPr lang="en-US" sz="2400" b="1" dirty="0" err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后端技术选型</a:t>
            </a:r>
            <a:endParaRPr lang="en-US" sz="2400" b="1" dirty="0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540385" y="3688080"/>
            <a:ext cx="3916680" cy="680720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 algn="r">
              <a:lnSpc>
                <a:spcPct val="140000"/>
              </a:lnSpc>
            </a:pPr>
            <a:r>
              <a:rPr lang="en-US" sz="1500" dirty="0" err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SpringBoot</a:t>
            </a:r>
            <a:r>
              <a:rPr lang="zh-CN" altLang="en-US" sz="1500" dirty="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500" dirty="0" err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MyBatis</a:t>
            </a:r>
            <a:r>
              <a:rPr lang="en-US" sz="1500" dirty="0" err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等成熟的Web框架</a:t>
            </a:r>
            <a:r>
              <a:rPr lang="en-US" sz="1500" dirty="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062357" y="1428219"/>
            <a:ext cx="3300709" cy="628650"/>
          </a:xfrm>
          <a:prstGeom prst="rect">
            <a:avLst/>
          </a:prstGeom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 algn="r">
              <a:lnSpc>
                <a:spcPct val="120000"/>
              </a:lnSpc>
            </a:pPr>
            <a:r>
              <a:rPr lang="en-US" sz="2400" b="1" dirty="0" err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前端技术选型</a:t>
            </a:r>
            <a:endParaRPr lang="en-US" sz="2400" b="1" dirty="0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33730" y="1991995"/>
            <a:ext cx="5008245" cy="100266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 algn="r">
              <a:lnSpc>
                <a:spcPct val="140000"/>
              </a:lnSpc>
            </a:pPr>
            <a:r>
              <a:rPr lang="en-US" sz="1500" dirty="0" err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Vue现代前端框架，提供丰富的组件库和高效的性能优化手段</a:t>
            </a:r>
            <a:r>
              <a:rPr lang="en-US" sz="1500" dirty="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前后端技术选型及原因</a:t>
            </a:r>
          </a:p>
        </p:txBody>
      </p:sp>
      <p:sp>
        <p:nvSpPr>
          <p:cNvPr id="18" name="Freeform 18"/>
          <p:cNvSpPr/>
          <p:nvPr/>
        </p:nvSpPr>
        <p:spPr>
          <a:xfrm>
            <a:off x="5363413" y="4982745"/>
            <a:ext cx="491425" cy="491425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95545" y="304800"/>
                </a:moveTo>
                <a:cubicBezTo>
                  <a:pt x="75228" y="262528"/>
                  <a:pt x="86049" y="238306"/>
                  <a:pt x="101660" y="215494"/>
                </a:cubicBezTo>
                <a:cubicBezTo>
                  <a:pt x="118758" y="190500"/>
                  <a:pt x="123168" y="165764"/>
                  <a:pt x="123168" y="165764"/>
                </a:cubicBezTo>
                <a:cubicBezTo>
                  <a:pt x="123168" y="165764"/>
                  <a:pt x="136608" y="183232"/>
                  <a:pt x="131235" y="210560"/>
                </a:cubicBezTo>
                <a:cubicBezTo>
                  <a:pt x="154981" y="184128"/>
                  <a:pt x="159458" y="142018"/>
                  <a:pt x="155877" y="125892"/>
                </a:cubicBezTo>
                <a:cubicBezTo>
                  <a:pt x="209550" y="163401"/>
                  <a:pt x="232486" y="244612"/>
                  <a:pt x="201578" y="304800"/>
                </a:cubicBezTo>
                <a:cubicBezTo>
                  <a:pt x="365998" y="211769"/>
                  <a:pt x="242478" y="72581"/>
                  <a:pt x="220970" y="56893"/>
                </a:cubicBezTo>
                <a:cubicBezTo>
                  <a:pt x="228143" y="72571"/>
                  <a:pt x="229495" y="99117"/>
                  <a:pt x="215017" y="111995"/>
                </a:cubicBezTo>
                <a:cubicBezTo>
                  <a:pt x="190510" y="19040"/>
                  <a:pt x="129892" y="-10"/>
                  <a:pt x="129892" y="-10"/>
                </a:cubicBezTo>
                <a:cubicBezTo>
                  <a:pt x="137065" y="47930"/>
                  <a:pt x="103908" y="100346"/>
                  <a:pt x="71942" y="139513"/>
                </a:cubicBezTo>
                <a:cubicBezTo>
                  <a:pt x="70818" y="120396"/>
                  <a:pt x="69628" y="107204"/>
                  <a:pt x="59579" y="88916"/>
                </a:cubicBezTo>
                <a:cubicBezTo>
                  <a:pt x="57321" y="123644"/>
                  <a:pt x="30785" y="151943"/>
                  <a:pt x="23603" y="186738"/>
                </a:cubicBezTo>
                <a:cubicBezTo>
                  <a:pt x="13868" y="233848"/>
                  <a:pt x="30890" y="268348"/>
                  <a:pt x="95564" y="304790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9" name="TextBox 12"/>
          <p:cNvSpPr txBox="1"/>
          <p:nvPr/>
        </p:nvSpPr>
        <p:spPr>
          <a:xfrm>
            <a:off x="7848600" y="3733800"/>
            <a:ext cx="4147820" cy="302323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Spring </a:t>
            </a:r>
            <a:r>
              <a:rPr lang="en-US" sz="1500" dirty="0" err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Boot是Spring框架的扩展，它简化了基于Spring的应用开发。Spring</a:t>
            </a:r>
            <a:r>
              <a:rPr lang="en-US" sz="1500" dirty="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Boot</a:t>
            </a:r>
            <a:r>
              <a:rPr lang="zh-CN" altLang="en-US" sz="1500" dirty="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</a:t>
            </a:r>
            <a:r>
              <a:rPr lang="en-US" sz="1500" dirty="0" err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自动配置、起步依赖和命令行界面</a:t>
            </a:r>
            <a:r>
              <a:rPr lang="zh-CN" altLang="en-US" sz="1500" dirty="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r>
              <a:rPr lang="en-US" sz="1500" dirty="0" err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在权限管理系统中，Spring</a:t>
            </a:r>
            <a:r>
              <a:rPr lang="en-US" sz="1500" dirty="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sz="1500" dirty="0" err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Boot提供了丰富的安全框架（如Spring</a:t>
            </a:r>
            <a:r>
              <a:rPr lang="en-US" sz="1500" dirty="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sz="1500" dirty="0" err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Security）和持久层框架（如Spring</a:t>
            </a:r>
            <a:r>
              <a:rPr lang="en-US" sz="1500" dirty="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Data </a:t>
            </a:r>
            <a:r>
              <a:rPr lang="en-US" sz="1500" dirty="0" err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JPA、MyBatis等</a:t>
            </a:r>
            <a:r>
              <a:rPr lang="en-US" sz="1500" dirty="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），</a:t>
            </a:r>
            <a:r>
              <a:rPr lang="en-US" sz="1500" dirty="0" err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能够满足系统对安全性和数据持久化的需求</a:t>
            </a:r>
            <a:r>
              <a:rPr lang="en-US" sz="1500" dirty="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</a:p>
        </p:txBody>
      </p:sp>
      <p:sp>
        <p:nvSpPr>
          <p:cNvPr id="20" name="TextBox 13"/>
          <p:cNvSpPr txBox="1"/>
          <p:nvPr/>
        </p:nvSpPr>
        <p:spPr>
          <a:xfrm>
            <a:off x="1600145" y="4450867"/>
            <a:ext cx="3304258" cy="628650"/>
          </a:xfrm>
          <a:prstGeom prst="rect">
            <a:avLst/>
          </a:prstGeom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24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其他</a:t>
            </a: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技术选型</a:t>
            </a:r>
          </a:p>
        </p:txBody>
      </p:sp>
      <p:sp>
        <p:nvSpPr>
          <p:cNvPr id="21" name="TextBox 14"/>
          <p:cNvSpPr txBox="1"/>
          <p:nvPr/>
        </p:nvSpPr>
        <p:spPr>
          <a:xfrm>
            <a:off x="527685" y="4953000"/>
            <a:ext cx="4349750" cy="1341120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 algn="r">
              <a:lnSpc>
                <a:spcPct val="140000"/>
              </a:lnSpc>
            </a:pPr>
            <a:r>
              <a:rPr sz="1500" dirty="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Redis支持多种类型的数据结构，如字符串、哈希表、列表、集合等。在权限管理系统中，Redis用于缓存频繁访问的数据（如用户权限信息），</a:t>
            </a:r>
            <a:r>
              <a:rPr sz="1500" dirty="0" err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以减少数据库的访问压力，提高系统的响应速度</a:t>
            </a:r>
            <a:r>
              <a:rPr sz="1500" dirty="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custDataLst>
              <p:tags r:id="rId1"/>
            </p:custDataLst>
          </p:nvPr>
        </p:nvSpPr>
        <p:spPr>
          <a:xfrm>
            <a:off x="6450950" y="4194684"/>
            <a:ext cx="4905851" cy="1828800"/>
          </a:xfrm>
          <a:prstGeom prst="roundRect">
            <a:avLst>
              <a:gd name="adj" fmla="val 9524"/>
            </a:avLst>
          </a:prstGeom>
          <a:solidFill>
            <a:schemeClr val="lt2">
              <a:alpha val="8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AutoShape 3"/>
          <p:cNvSpPr/>
          <p:nvPr>
            <p:custDataLst>
              <p:tags r:id="rId2"/>
            </p:custDataLst>
          </p:nvPr>
        </p:nvSpPr>
        <p:spPr>
          <a:xfrm>
            <a:off x="839819" y="4194684"/>
            <a:ext cx="4905851" cy="1828800"/>
          </a:xfrm>
          <a:prstGeom prst="roundRect">
            <a:avLst>
              <a:gd name="adj" fmla="val 9524"/>
            </a:avLst>
          </a:prstGeom>
          <a:solidFill>
            <a:schemeClr val="lt2">
              <a:alpha val="8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AutoShape 4"/>
          <p:cNvSpPr/>
          <p:nvPr>
            <p:custDataLst>
              <p:tags r:id="rId3"/>
            </p:custDataLst>
          </p:nvPr>
        </p:nvSpPr>
        <p:spPr>
          <a:xfrm>
            <a:off x="6450950" y="2007203"/>
            <a:ext cx="4905851" cy="1828800"/>
          </a:xfrm>
          <a:prstGeom prst="roundRect">
            <a:avLst>
              <a:gd name="adj" fmla="val 9524"/>
            </a:avLst>
          </a:prstGeom>
          <a:solidFill>
            <a:schemeClr val="lt2">
              <a:alpha val="8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5"/>
          <p:cNvSpPr txBox="1"/>
          <p:nvPr>
            <p:custDataLst>
              <p:tags r:id="rId4"/>
            </p:custDataLst>
          </p:nvPr>
        </p:nvSpPr>
        <p:spPr>
          <a:xfrm>
            <a:off x="7624141" y="4724019"/>
            <a:ext cx="3467465" cy="115101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600" dirty="0" err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包括使用分区表、建立合适的索引、优化查询语句、使用缓存技术等手段，提高系统性能和响应速度</a:t>
            </a:r>
            <a:r>
              <a:rPr lang="en-US" sz="1600" dirty="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</a:p>
        </p:txBody>
      </p:sp>
      <p:sp>
        <p:nvSpPr>
          <p:cNvPr id="6" name="AutoShape 6"/>
          <p:cNvSpPr/>
          <p:nvPr>
            <p:custDataLst>
              <p:tags r:id="rId5"/>
            </p:custDataLst>
          </p:nvPr>
        </p:nvSpPr>
        <p:spPr>
          <a:xfrm>
            <a:off x="839819" y="2007203"/>
            <a:ext cx="4905851" cy="1828800"/>
          </a:xfrm>
          <a:prstGeom prst="roundRect">
            <a:avLst>
              <a:gd name="adj" fmla="val 9524"/>
            </a:avLst>
          </a:prstGeom>
          <a:solidFill>
            <a:schemeClr val="lt2">
              <a:alpha val="8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" name="AutoShape 7"/>
          <p:cNvSpPr/>
          <p:nvPr>
            <p:custDataLst>
              <p:tags r:id="rId6"/>
            </p:custDataLst>
          </p:nvPr>
        </p:nvSpPr>
        <p:spPr>
          <a:xfrm>
            <a:off x="1115568" y="1773936"/>
            <a:ext cx="2498503" cy="584740"/>
          </a:xfrm>
          <a:prstGeom prst="roundRect">
            <a:avLst>
              <a:gd name="adj" fmla="val 25304"/>
            </a:avLst>
          </a:prstGeom>
          <a:solidFill>
            <a:schemeClr val="accent1">
              <a:alpha val="10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6720840" y="1773936"/>
            <a:ext cx="2498503" cy="584740"/>
          </a:xfrm>
          <a:prstGeom prst="roundRect">
            <a:avLst>
              <a:gd name="adj" fmla="val 25304"/>
            </a:avLst>
          </a:prstGeom>
          <a:solidFill>
            <a:schemeClr val="accent1">
              <a:alpha val="10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1115568" y="4002786"/>
            <a:ext cx="2498503" cy="584740"/>
          </a:xfrm>
          <a:prstGeom prst="roundRect">
            <a:avLst>
              <a:gd name="adj" fmla="val 25304"/>
            </a:avLst>
          </a:prstGeom>
          <a:solidFill>
            <a:schemeClr val="accent1">
              <a:alpha val="10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" name="AutoShape 10"/>
          <p:cNvSpPr/>
          <p:nvPr>
            <p:custDataLst>
              <p:tags r:id="rId9"/>
            </p:custDataLst>
          </p:nvPr>
        </p:nvSpPr>
        <p:spPr>
          <a:xfrm>
            <a:off x="6720840" y="4002786"/>
            <a:ext cx="2498503" cy="584740"/>
          </a:xfrm>
          <a:prstGeom prst="roundRect">
            <a:avLst>
              <a:gd name="adj" fmla="val 25304"/>
            </a:avLst>
          </a:prstGeom>
          <a:solidFill>
            <a:schemeClr val="accent1">
              <a:alpha val="10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1" name="TextBox 11"/>
          <p:cNvSpPr txBox="1"/>
          <p:nvPr>
            <p:custDataLst>
              <p:tags r:id="rId10"/>
            </p:custDataLst>
          </p:nvPr>
        </p:nvSpPr>
        <p:spPr>
          <a:xfrm>
            <a:off x="1115568" y="1866916"/>
            <a:ext cx="2454885" cy="39878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1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000" b="1" dirty="0" err="1">
                <a:solidFill>
                  <a:srgbClr val="FFFDF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数据库设计</a:t>
            </a:r>
            <a:endParaRPr lang="en-US" sz="2000" b="1" dirty="0">
              <a:solidFill>
                <a:srgbClr val="FFFDFD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2"/>
          <p:cNvSpPr txBox="1"/>
          <p:nvPr>
            <p:custDataLst>
              <p:tags r:id="rId11"/>
            </p:custDataLst>
          </p:nvPr>
        </p:nvSpPr>
        <p:spPr>
          <a:xfrm>
            <a:off x="2005852" y="2514824"/>
            <a:ext cx="3632948" cy="115101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600" dirty="0" err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采用关系型数据库如MySQL，设计合理的表结构来存储用户、角色、权限等信息</a:t>
            </a:r>
            <a:r>
              <a:rPr lang="en-US" sz="1600" dirty="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r>
              <a:rPr lang="zh-CN" altLang="en-US" sz="1600" dirty="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（是数据库满足第三范式）</a:t>
            </a:r>
            <a:endParaRPr lang="en-US" sz="1600" dirty="0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3"/>
          <p:cNvSpPr txBox="1"/>
          <p:nvPr>
            <p:custDataLst>
              <p:tags r:id="rId12"/>
            </p:custDataLst>
          </p:nvPr>
        </p:nvSpPr>
        <p:spPr>
          <a:xfrm>
            <a:off x="6720840" y="1866916"/>
            <a:ext cx="2454885" cy="39878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1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000" b="1">
                <a:solidFill>
                  <a:srgbClr val="FFFDF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策略</a:t>
            </a:r>
          </a:p>
        </p:txBody>
      </p:sp>
      <p:sp>
        <p:nvSpPr>
          <p:cNvPr id="14" name="TextBox 14"/>
          <p:cNvSpPr txBox="1"/>
          <p:nvPr>
            <p:custDataLst>
              <p:tags r:id="rId13"/>
            </p:custDataLst>
          </p:nvPr>
        </p:nvSpPr>
        <p:spPr>
          <a:xfrm>
            <a:off x="7546036" y="2362442"/>
            <a:ext cx="3467465" cy="115101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600" dirty="0" err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通过合理设计数据库表结构、索引和约束，确保数据的完整性和查询效率。采用规范化理论来设计数据库，以减少数据冗余和提高数据一致性</a:t>
            </a:r>
            <a:r>
              <a:rPr lang="en-US" sz="1600" dirty="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</a:p>
        </p:txBody>
      </p:sp>
      <p:sp>
        <p:nvSpPr>
          <p:cNvPr id="15" name="TextBox 15"/>
          <p:cNvSpPr txBox="1"/>
          <p:nvPr>
            <p:custDataLst>
              <p:tags r:id="rId14"/>
            </p:custDataLst>
          </p:nvPr>
        </p:nvSpPr>
        <p:spPr>
          <a:xfrm>
            <a:off x="1115568" y="4095766"/>
            <a:ext cx="2454885" cy="39878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1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000" b="1" dirty="0" err="1">
                <a:solidFill>
                  <a:srgbClr val="FFFDF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数据库优化</a:t>
            </a:r>
            <a:endParaRPr lang="en-US" sz="2000" b="1" dirty="0">
              <a:solidFill>
                <a:srgbClr val="FFFDFD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6"/>
          <p:cNvSpPr txBox="1"/>
          <p:nvPr>
            <p:custDataLst>
              <p:tags r:id="rId15"/>
            </p:custDataLst>
          </p:nvPr>
        </p:nvSpPr>
        <p:spPr>
          <a:xfrm>
            <a:off x="2035869" y="4702275"/>
            <a:ext cx="3467465" cy="115101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600" dirty="0" err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针对大数据量和高并发场景进行优化</a:t>
            </a:r>
            <a:r>
              <a:rPr lang="zh-CN" altLang="en-US" sz="1600" dirty="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，以提升数据库性能和响应速度。（</a:t>
            </a:r>
            <a:r>
              <a:rPr lang="en-US" altLang="zh-CN" sz="1600" dirty="0" err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Mybatis</a:t>
            </a:r>
            <a:r>
              <a:rPr lang="zh-CN" altLang="en-US" sz="1600" dirty="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600" dirty="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Plus</a:t>
            </a:r>
            <a:r>
              <a:rPr lang="zh-CN" altLang="en-US" sz="1600" dirty="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乐观锁）</a:t>
            </a:r>
            <a:endParaRPr lang="en-US" sz="1600" dirty="0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</a:pPr>
            <a:endParaRPr lang="en-US" sz="1600" dirty="0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7"/>
          <p:cNvSpPr txBox="1"/>
          <p:nvPr>
            <p:custDataLst>
              <p:tags r:id="rId16"/>
            </p:custDataLst>
          </p:nvPr>
        </p:nvSpPr>
        <p:spPr>
          <a:xfrm>
            <a:off x="6720840" y="4095766"/>
            <a:ext cx="2454885" cy="39878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1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000" b="1">
                <a:solidFill>
                  <a:srgbClr val="FFFDF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策略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 dirty="0" err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数据库设计与优化策略</a:t>
            </a:r>
            <a:endParaRPr lang="en-US" sz="3000" b="1" dirty="0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9"/>
          <p:cNvSpPr txBox="1"/>
          <p:nvPr>
            <p:custDataLst>
              <p:tags r:id="rId17"/>
            </p:custDataLst>
          </p:nvPr>
        </p:nvSpPr>
        <p:spPr>
          <a:xfrm>
            <a:off x="1019310" y="2608446"/>
            <a:ext cx="872877" cy="88629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1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405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</a:p>
        </p:txBody>
      </p:sp>
      <p:sp>
        <p:nvSpPr>
          <p:cNvPr id="20" name="TextBox 20"/>
          <p:cNvSpPr txBox="1"/>
          <p:nvPr>
            <p:custDataLst>
              <p:tags r:id="rId18"/>
            </p:custDataLst>
          </p:nvPr>
        </p:nvSpPr>
        <p:spPr>
          <a:xfrm>
            <a:off x="1019310" y="4834632"/>
            <a:ext cx="872877" cy="88629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1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405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</a:p>
        </p:txBody>
      </p:sp>
      <p:sp>
        <p:nvSpPr>
          <p:cNvPr id="21" name="TextBox 21"/>
          <p:cNvSpPr txBox="1"/>
          <p:nvPr>
            <p:custDataLst>
              <p:tags r:id="rId19"/>
            </p:custDataLst>
          </p:nvPr>
        </p:nvSpPr>
        <p:spPr>
          <a:xfrm>
            <a:off x="6673768" y="2608724"/>
            <a:ext cx="872877" cy="88629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1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405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</a:p>
        </p:txBody>
      </p:sp>
      <p:sp>
        <p:nvSpPr>
          <p:cNvPr id="22" name="TextBox 22"/>
          <p:cNvSpPr txBox="1"/>
          <p:nvPr>
            <p:custDataLst>
              <p:tags r:id="rId20"/>
            </p:custDataLst>
          </p:nvPr>
        </p:nvSpPr>
        <p:spPr>
          <a:xfrm>
            <a:off x="6673768" y="4834911"/>
            <a:ext cx="872877" cy="88629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1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405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79391" y="1631119"/>
            <a:ext cx="638131" cy="638131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AutoShape 3"/>
          <p:cNvSpPr/>
          <p:nvPr/>
        </p:nvSpPr>
        <p:spPr>
          <a:xfrm>
            <a:off x="914135" y="1765863"/>
            <a:ext cx="368642" cy="368642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AutoShape 4"/>
          <p:cNvSpPr/>
          <p:nvPr/>
        </p:nvSpPr>
        <p:spPr>
          <a:xfrm>
            <a:off x="779391" y="3993147"/>
            <a:ext cx="638131" cy="638131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AutoShape 5"/>
          <p:cNvSpPr/>
          <p:nvPr/>
        </p:nvSpPr>
        <p:spPr>
          <a:xfrm>
            <a:off x="914135" y="4127891"/>
            <a:ext cx="368642" cy="368642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AutoShape 6"/>
          <p:cNvSpPr/>
          <p:nvPr/>
        </p:nvSpPr>
        <p:spPr>
          <a:xfrm>
            <a:off x="6360328" y="1631119"/>
            <a:ext cx="638131" cy="638131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" name="AutoShape 7"/>
          <p:cNvSpPr/>
          <p:nvPr/>
        </p:nvSpPr>
        <p:spPr>
          <a:xfrm>
            <a:off x="6495073" y="1765863"/>
            <a:ext cx="368642" cy="368642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AutoShape 8"/>
          <p:cNvSpPr/>
          <p:nvPr/>
        </p:nvSpPr>
        <p:spPr>
          <a:xfrm>
            <a:off x="6360328" y="3993147"/>
            <a:ext cx="638131" cy="638131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AutoShape 9"/>
          <p:cNvSpPr/>
          <p:nvPr/>
        </p:nvSpPr>
        <p:spPr>
          <a:xfrm>
            <a:off x="6495073" y="4127891"/>
            <a:ext cx="368642" cy="368642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" name="TextBox 10"/>
          <p:cNvSpPr txBox="1"/>
          <p:nvPr/>
        </p:nvSpPr>
        <p:spPr>
          <a:xfrm>
            <a:off x="1588687" y="1602522"/>
            <a:ext cx="3905250" cy="695325"/>
          </a:xfrm>
          <a:prstGeom prst="rect">
            <a:avLst/>
          </a:prstGeom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 dirty="0" err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系统集成</a:t>
            </a:r>
            <a:endParaRPr lang="en-US" sz="2400" b="1" dirty="0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588770" y="2078355"/>
            <a:ext cx="3967480" cy="1845310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将权限管理系统与将系统分解为若干独立的功能模块，然后逐个集成。这种方法的优点是易于管理和维护，因为每个模块都具有特定的功能，可以单独进行升级和更换。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74907" y="3964550"/>
            <a:ext cx="3905250" cy="695325"/>
          </a:xfrm>
          <a:prstGeom prst="rect">
            <a:avLst/>
          </a:prstGeom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接口开发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74907" y="4495320"/>
            <a:ext cx="3905250" cy="153352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 dirty="0" err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为外部系统提供权限验证、角色管理等接口</a:t>
            </a:r>
            <a:r>
              <a:rPr lang="zh-CN" altLang="en-US" sz="1500" dirty="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，并提供</a:t>
            </a:r>
            <a:r>
              <a:rPr lang="en-US" altLang="zh-CN" sz="1500" dirty="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swagger</a:t>
            </a:r>
            <a:r>
              <a:rPr lang="zh-CN" altLang="en-US" sz="1500" dirty="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接口文档</a:t>
            </a:r>
            <a:r>
              <a:rPr lang="en-US" sz="1500" dirty="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237966" y="3964550"/>
            <a:ext cx="3905250" cy="695325"/>
          </a:xfrm>
          <a:prstGeom prst="rect">
            <a:avLst/>
          </a:prstGeom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策略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37966" y="4495320"/>
            <a:ext cx="3905250" cy="153352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 dirty="0" err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采用RESTful</a:t>
            </a:r>
            <a:r>
              <a:rPr lang="en-US" sz="1500" dirty="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sz="1500" dirty="0" err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API设计风格，确保接口的安全性、稳定性和易用性。接口开发可采用JAVA编程语言</a:t>
            </a:r>
            <a:r>
              <a:rPr lang="zh-CN" altLang="en-US" sz="1500" dirty="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，使用</a:t>
            </a:r>
            <a:r>
              <a:rPr lang="en-US" altLang="zh-CN" sz="1500" dirty="0" err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Swagger</a:t>
            </a:r>
            <a:r>
              <a:rPr lang="en-US" sz="1500" dirty="0" err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开发工具可以帮助接口开发</a:t>
            </a:r>
            <a:r>
              <a:rPr lang="en-US" sz="1500" dirty="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，。</a:t>
            </a:r>
            <a:r>
              <a:rPr lang="en-US" sz="1500" dirty="0" err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这些工具提供了丰富的功能和特性，如快速开发、UI界面、自动映射等，可以提高开发效率</a:t>
            </a:r>
            <a:r>
              <a:rPr lang="en-US" sz="1500" dirty="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259955" y="1602522"/>
            <a:ext cx="3905250" cy="695325"/>
          </a:xfrm>
          <a:prstGeom prst="rect">
            <a:avLst/>
          </a:prstGeom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 dirty="0" err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策略</a:t>
            </a:r>
            <a:endParaRPr lang="en-US" sz="2400" b="1" dirty="0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7259955" y="2078224"/>
            <a:ext cx="3905250" cy="153352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 dirty="0" err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通过提供标准的API接口、使用消息队列等技术手段，实现系统间的数据交互和共享</a:t>
            </a:r>
            <a:r>
              <a:rPr lang="en-US" sz="1500" dirty="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系统集成与接口开发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191015" y="3921593"/>
            <a:ext cx="9809970" cy="1559744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1517472" y="4119595"/>
            <a:ext cx="9157056" cy="1163741"/>
          </a:xfrm>
          <a:prstGeom prst="rect">
            <a:avLst/>
          </a:prstGeom>
        </p:spPr>
        <p:txBody>
          <a:bodyPr vert="horz" wrap="square" lIns="91440" tIns="45720" rIns="91440" bIns="45720" rtlCol="0" anchor="ctr" anchorCtr="1">
            <a:norm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sz="495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权限管理系统的部署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489235" y="1331454"/>
            <a:ext cx="3213530" cy="1775887"/>
          </a:xfrm>
          <a:prstGeom prst="rect">
            <a:avLst/>
          </a:prstGeom>
        </p:spPr>
        <p:txBody>
          <a:bodyPr vert="horz" wrap="square" lIns="91440" tIns="45720" rIns="91440" bIns="45720" rtlCol="0" anchor="ctr" anchorCtr="1">
            <a:norm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sz="84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</a:p>
        </p:txBody>
      </p:sp>
      <p:grpSp>
        <p:nvGrpSpPr>
          <p:cNvPr id="5" name="Group 5"/>
          <p:cNvGrpSpPr/>
          <p:nvPr/>
        </p:nvGrpSpPr>
        <p:grpSpPr>
          <a:xfrm rot="-10800000">
            <a:off x="7752111" y="1331454"/>
            <a:ext cx="451710" cy="665399"/>
            <a:chOff x="7752111" y="1331454"/>
            <a:chExt cx="451710" cy="665399"/>
          </a:xfrm>
          <a:solidFill>
            <a:schemeClr val="accent1">
              <a:alpha val="100000"/>
            </a:schemeClr>
          </a:solidFill>
        </p:grpSpPr>
        <p:sp>
          <p:nvSpPr>
            <p:cNvPr id="6" name="AutoShape 6"/>
            <p:cNvSpPr/>
            <p:nvPr/>
          </p:nvSpPr>
          <p:spPr>
            <a:xfrm>
              <a:off x="7752111" y="1331454"/>
              <a:ext cx="260686" cy="530495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AutoShape 7"/>
            <p:cNvSpPr/>
            <p:nvPr/>
          </p:nvSpPr>
          <p:spPr>
            <a:xfrm rot="5400000">
              <a:off x="7943135" y="1466358"/>
              <a:ext cx="260686" cy="530495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" name="AutoShape 8"/>
          <p:cNvSpPr/>
          <p:nvPr/>
        </p:nvSpPr>
        <p:spPr>
          <a:xfrm>
            <a:off x="3853275" y="2549673"/>
            <a:ext cx="260686" cy="530495"/>
          </a:xfrm>
          <a:prstGeom prst="rect">
            <a:avLst/>
          </a:prstGeom>
          <a:grpFill/>
        </p:spPr>
        <p:txBody>
          <a:bodyPr/>
          <a:lstStyle/>
          <a:p>
            <a:endParaRPr lang="zh-CN" altLang="en-US"/>
          </a:p>
        </p:txBody>
      </p:sp>
      <p:sp>
        <p:nvSpPr>
          <p:cNvPr id="9" name="AutoShape 9"/>
          <p:cNvSpPr/>
          <p:nvPr/>
        </p:nvSpPr>
        <p:spPr>
          <a:xfrm rot="5400000">
            <a:off x="4044298" y="2684577"/>
            <a:ext cx="260686" cy="530495"/>
          </a:xfrm>
          <a:prstGeom prst="rect">
            <a:avLst/>
          </a:prstGeom>
          <a:grpFill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>
            <p:custDataLst>
              <p:tags r:id="rId1"/>
            </p:custDataLst>
          </p:nvPr>
        </p:nvSpPr>
        <p:spPr>
          <a:xfrm>
            <a:off x="382270" y="1372235"/>
            <a:ext cx="5405755" cy="1050290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 dirty="0" err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开发环境已经安装了Java</a:t>
            </a:r>
            <a:r>
              <a:rPr lang="en-US" sz="1500" dirty="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Development </a:t>
            </a:r>
            <a:r>
              <a:rPr lang="en-US" sz="1500" dirty="0" err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Kit（JDK</a:t>
            </a:r>
            <a:r>
              <a:rPr lang="en-US" sz="1500" dirty="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），</a:t>
            </a:r>
            <a:r>
              <a:rPr lang="zh-CN" altLang="en-US" sz="1500" dirty="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本系统</a:t>
            </a:r>
            <a:r>
              <a:rPr lang="en-US" sz="1500" dirty="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Spring </a:t>
            </a:r>
            <a:r>
              <a:rPr lang="en-US" sz="1500" dirty="0" err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Boot推荐使用JDK</a:t>
            </a:r>
            <a:r>
              <a:rPr lang="en-US" sz="1500" dirty="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1.8或更高版本。配置环境变量，确保java和javac命令可以在命令行中直接使用。一个集成开发环境（IDE），IntelliJ IDEA</a:t>
            </a:r>
            <a:r>
              <a:rPr lang="zh-CN" altLang="en-US" sz="1500" dirty="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，此</a:t>
            </a:r>
            <a:r>
              <a:rPr lang="en-US" sz="1500" dirty="0" err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IDE提供了对Spring</a:t>
            </a:r>
            <a:r>
              <a:rPr lang="en-US" sz="1500" dirty="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sz="1500" dirty="0" err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Boot项目的良好支持</a:t>
            </a:r>
            <a:r>
              <a:rPr lang="en-US" sz="1500" dirty="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</a:p>
        </p:txBody>
      </p:sp>
      <p:sp>
        <p:nvSpPr>
          <p:cNvPr id="3" name="TextBox 3"/>
          <p:cNvSpPr txBox="1"/>
          <p:nvPr>
            <p:custDataLst>
              <p:tags r:id="rId2"/>
            </p:custDataLst>
          </p:nvPr>
        </p:nvSpPr>
        <p:spPr>
          <a:xfrm>
            <a:off x="2897869" y="838283"/>
            <a:ext cx="2889570" cy="578109"/>
          </a:xfrm>
          <a:prstGeom prst="rect">
            <a:avLst/>
          </a:prstGeom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r">
              <a:lnSpc>
                <a:spcPct val="15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</a:t>
            </a:r>
            <a:r>
              <a:rPr lang="zh-CN" altLang="en-US" sz="24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</a:t>
            </a:r>
          </a:p>
        </p:txBody>
      </p:sp>
      <p:sp>
        <p:nvSpPr>
          <p:cNvPr id="6" name="TextBox 6"/>
          <p:cNvSpPr txBox="1"/>
          <p:nvPr>
            <p:custDataLst>
              <p:tags r:id="rId3"/>
            </p:custDataLst>
          </p:nvPr>
        </p:nvSpPr>
        <p:spPr>
          <a:xfrm>
            <a:off x="455930" y="3535045"/>
            <a:ext cx="5295900" cy="864870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Spring </a:t>
            </a:r>
            <a:r>
              <a:rPr lang="en-US" sz="1500" dirty="0" err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Boot通过Maven自动管理项目依赖。在你的pom.xml（对于Maven项目</a:t>
            </a:r>
            <a:r>
              <a:rPr lang="en-US" sz="1500" dirty="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</a:p>
        </p:txBody>
      </p:sp>
      <p:sp>
        <p:nvSpPr>
          <p:cNvPr id="7" name="TextBox 7"/>
          <p:cNvSpPr txBox="1"/>
          <p:nvPr>
            <p:custDataLst>
              <p:tags r:id="rId4"/>
            </p:custDataLst>
          </p:nvPr>
        </p:nvSpPr>
        <p:spPr>
          <a:xfrm>
            <a:off x="6833235" y="2077720"/>
            <a:ext cx="1392555" cy="577850"/>
          </a:xfrm>
          <a:prstGeom prst="rect">
            <a:avLst/>
          </a:prstGeom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接口实现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 dirty="0" err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部署环境与配置要求</a:t>
            </a:r>
            <a:endParaRPr lang="en-US" sz="3000" b="1" dirty="0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1" name="Connector 11"/>
          <p:cNvCxnSpPr/>
          <p:nvPr>
            <p:custDataLst>
              <p:tags r:id="rId5"/>
            </p:custDataLst>
          </p:nvPr>
        </p:nvCxnSpPr>
        <p:spPr>
          <a:xfrm>
            <a:off x="6160134" y="977886"/>
            <a:ext cx="0" cy="5156610"/>
          </a:xfrm>
          <a:prstGeom prst="line">
            <a:avLst/>
          </a:prstGeom>
          <a:ln w="19050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" name="AutoShape 12"/>
          <p:cNvSpPr/>
          <p:nvPr>
            <p:custDataLst>
              <p:tags r:id="rId6"/>
            </p:custDataLst>
          </p:nvPr>
        </p:nvSpPr>
        <p:spPr>
          <a:xfrm>
            <a:off x="6001632" y="893352"/>
            <a:ext cx="317005" cy="317005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3" name="AutoShape 13"/>
          <p:cNvSpPr/>
          <p:nvPr>
            <p:custDataLst>
              <p:tags r:id="rId7"/>
            </p:custDataLst>
          </p:nvPr>
        </p:nvSpPr>
        <p:spPr>
          <a:xfrm>
            <a:off x="6001632" y="2041631"/>
            <a:ext cx="317005" cy="317005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4" name="AutoShape 14"/>
          <p:cNvSpPr/>
          <p:nvPr>
            <p:custDataLst>
              <p:tags r:id="rId8"/>
            </p:custDataLst>
          </p:nvPr>
        </p:nvSpPr>
        <p:spPr>
          <a:xfrm>
            <a:off x="6001632" y="3189912"/>
            <a:ext cx="317005" cy="317005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5" name="AutoShape 15"/>
          <p:cNvSpPr/>
          <p:nvPr>
            <p:custDataLst>
              <p:tags r:id="rId9"/>
            </p:custDataLst>
          </p:nvPr>
        </p:nvSpPr>
        <p:spPr>
          <a:xfrm>
            <a:off x="6001632" y="4338192"/>
            <a:ext cx="317005" cy="317005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7"/>
          <p:cNvSpPr txBox="1"/>
          <p:nvPr>
            <p:custDataLst>
              <p:tags r:id="rId10"/>
            </p:custDataLst>
          </p:nvPr>
        </p:nvSpPr>
        <p:spPr>
          <a:xfrm>
            <a:off x="6756909" y="839139"/>
            <a:ext cx="2889570" cy="578109"/>
          </a:xfrm>
          <a:prstGeom prst="rect">
            <a:avLst/>
          </a:prstGeom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项目搭建</a:t>
            </a:r>
          </a:p>
        </p:txBody>
      </p:sp>
      <p:sp>
        <p:nvSpPr>
          <p:cNvPr id="8" name="TextBox 7"/>
          <p:cNvSpPr txBox="1"/>
          <p:nvPr>
            <p:custDataLst>
              <p:tags r:id="rId11"/>
            </p:custDataLst>
          </p:nvPr>
        </p:nvSpPr>
        <p:spPr>
          <a:xfrm>
            <a:off x="4246754" y="2806369"/>
            <a:ext cx="2889570" cy="578109"/>
          </a:xfrm>
          <a:prstGeom prst="rect">
            <a:avLst/>
          </a:prstGeom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2400" b="1" dirty="0" err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软件依赖</a:t>
            </a:r>
            <a:endParaRPr lang="en-US" sz="2400" b="1" dirty="0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2"/>
          <p:cNvSpPr txBox="1"/>
          <p:nvPr>
            <p:custDataLst>
              <p:tags r:id="rId12"/>
            </p:custDataLst>
          </p:nvPr>
        </p:nvSpPr>
        <p:spPr>
          <a:xfrm>
            <a:off x="6705600" y="2595880"/>
            <a:ext cx="5405755" cy="1050290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sz="1500" dirty="0" err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在Spring</a:t>
            </a:r>
            <a:r>
              <a:rPr sz="1500" dirty="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Boot中，接口通过Controller类来实现，这些类使用@RestController或@Controller注解来标记。在Controller中，可以定义方法，并使用@RequestMapping、@</a:t>
            </a:r>
            <a:r>
              <a:rPr sz="1500" dirty="0" err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GetMapping</a:t>
            </a:r>
            <a:r>
              <a:rPr sz="1500" dirty="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、@</a:t>
            </a:r>
            <a:r>
              <a:rPr sz="1500" dirty="0" err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PostMapping等注解来映射HTTP请求到相应的方法</a:t>
            </a:r>
            <a:r>
              <a:rPr sz="1500" dirty="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</a:p>
        </p:txBody>
      </p:sp>
      <p:sp>
        <p:nvSpPr>
          <p:cNvPr id="16" name="TextBox 2"/>
          <p:cNvSpPr txBox="1"/>
          <p:nvPr>
            <p:custDataLst>
              <p:tags r:id="rId13"/>
            </p:custDataLst>
          </p:nvPr>
        </p:nvSpPr>
        <p:spPr>
          <a:xfrm>
            <a:off x="6758305" y="1388110"/>
            <a:ext cx="5161915" cy="1050290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sz="1500" dirty="0" err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通过Spring</a:t>
            </a:r>
            <a:r>
              <a:rPr sz="1500" dirty="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dirty="0" err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Initializr（https</a:t>
            </a:r>
            <a:r>
              <a:rPr sz="1500" dirty="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://</a:t>
            </a:r>
            <a:r>
              <a:rPr sz="1500" dirty="0" err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start.spring.io</a:t>
            </a:r>
            <a:r>
              <a:rPr sz="1500" dirty="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/）</a:t>
            </a:r>
            <a:r>
              <a:rPr sz="1500" dirty="0" err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快速生成一个Spring</a:t>
            </a:r>
            <a:r>
              <a:rPr sz="1500" dirty="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dirty="0" err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Boot项目骨架</a:t>
            </a:r>
            <a:r>
              <a:rPr sz="1500" dirty="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</a:p>
        </p:txBody>
      </p:sp>
      <p:sp>
        <p:nvSpPr>
          <p:cNvPr id="18" name="TextBox 7"/>
          <p:cNvSpPr txBox="1"/>
          <p:nvPr>
            <p:custDataLst>
              <p:tags r:id="rId14"/>
            </p:custDataLst>
          </p:nvPr>
        </p:nvSpPr>
        <p:spPr>
          <a:xfrm>
            <a:off x="4246119" y="4118279"/>
            <a:ext cx="2889570" cy="578109"/>
          </a:xfrm>
          <a:prstGeom prst="rect">
            <a:avLst/>
          </a:prstGeom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配置文件</a:t>
            </a:r>
          </a:p>
        </p:txBody>
      </p:sp>
      <p:sp>
        <p:nvSpPr>
          <p:cNvPr id="19" name="TextBox 6"/>
          <p:cNvSpPr txBox="1"/>
          <p:nvPr>
            <p:custDataLst>
              <p:tags r:id="rId15"/>
            </p:custDataLst>
          </p:nvPr>
        </p:nvSpPr>
        <p:spPr>
          <a:xfrm>
            <a:off x="455930" y="4893310"/>
            <a:ext cx="5621655" cy="864870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Spring Boot支持通过application.properties或application.yml文件来配置应用。这些文件放在项目的src/main/resources目录下。</a:t>
            </a: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781800" y="3974465"/>
            <a:ext cx="4920615" cy="279971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191015" y="3921593"/>
            <a:ext cx="9809970" cy="1559744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1517472" y="4119595"/>
            <a:ext cx="9157056" cy="1163741"/>
          </a:xfrm>
          <a:prstGeom prst="rect">
            <a:avLst/>
          </a:prstGeom>
        </p:spPr>
        <p:txBody>
          <a:bodyPr vert="horz" wrap="square" lIns="91440" tIns="45720" rIns="91440" bIns="45720" rtlCol="0" anchor="ctr" anchorCtr="1">
            <a:norm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sz="495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权限管理系统的维护与升级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489235" y="1331454"/>
            <a:ext cx="3213530" cy="1775887"/>
          </a:xfrm>
          <a:prstGeom prst="rect">
            <a:avLst/>
          </a:prstGeom>
        </p:spPr>
        <p:txBody>
          <a:bodyPr vert="horz" wrap="square" lIns="91440" tIns="45720" rIns="91440" bIns="45720" rtlCol="0" anchor="ctr" anchorCtr="1">
            <a:norm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sz="84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</a:p>
        </p:txBody>
      </p:sp>
      <p:grpSp>
        <p:nvGrpSpPr>
          <p:cNvPr id="5" name="Group 5"/>
          <p:cNvGrpSpPr/>
          <p:nvPr/>
        </p:nvGrpSpPr>
        <p:grpSpPr>
          <a:xfrm rot="-10800000">
            <a:off x="7752111" y="1331454"/>
            <a:ext cx="451710" cy="665399"/>
            <a:chOff x="7752111" y="1331454"/>
            <a:chExt cx="451710" cy="665399"/>
          </a:xfrm>
          <a:solidFill>
            <a:schemeClr val="accent1">
              <a:alpha val="100000"/>
            </a:schemeClr>
          </a:solidFill>
        </p:grpSpPr>
        <p:sp>
          <p:nvSpPr>
            <p:cNvPr id="6" name="AutoShape 6"/>
            <p:cNvSpPr/>
            <p:nvPr/>
          </p:nvSpPr>
          <p:spPr>
            <a:xfrm>
              <a:off x="7752111" y="1331454"/>
              <a:ext cx="260686" cy="530495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AutoShape 7"/>
            <p:cNvSpPr/>
            <p:nvPr/>
          </p:nvSpPr>
          <p:spPr>
            <a:xfrm rot="5400000">
              <a:off x="7943135" y="1466358"/>
              <a:ext cx="260686" cy="530495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" name="AutoShape 8"/>
          <p:cNvSpPr/>
          <p:nvPr/>
        </p:nvSpPr>
        <p:spPr>
          <a:xfrm>
            <a:off x="3853275" y="2549673"/>
            <a:ext cx="260686" cy="530495"/>
          </a:xfrm>
          <a:prstGeom prst="rect">
            <a:avLst/>
          </a:prstGeom>
          <a:grpFill/>
        </p:spPr>
        <p:txBody>
          <a:bodyPr/>
          <a:lstStyle/>
          <a:p>
            <a:endParaRPr lang="zh-CN" altLang="en-US"/>
          </a:p>
        </p:txBody>
      </p:sp>
      <p:sp>
        <p:nvSpPr>
          <p:cNvPr id="9" name="AutoShape 9"/>
          <p:cNvSpPr/>
          <p:nvPr/>
        </p:nvSpPr>
        <p:spPr>
          <a:xfrm rot="5400000">
            <a:off x="4044298" y="2684577"/>
            <a:ext cx="260686" cy="530495"/>
          </a:xfrm>
          <a:prstGeom prst="rect">
            <a:avLst/>
          </a:prstGeom>
          <a:grpFill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>
            <p:custDataLst>
              <p:tags r:id="rId1"/>
            </p:custDataLst>
          </p:nvPr>
        </p:nvSpPr>
        <p:spPr>
          <a:xfrm>
            <a:off x="4595974" y="3735005"/>
            <a:ext cx="762000" cy="1524000"/>
          </a:xfrm>
          <a:custGeom>
            <a:avLst/>
            <a:gdLst/>
            <a:ahLst/>
            <a:cxnLst/>
            <a:rect l="l" t="t" r="r" b="b"/>
            <a:pathLst>
              <a:path w="580906" h="1161893">
                <a:moveTo>
                  <a:pt x="0" y="1141207"/>
                </a:moveTo>
                <a:lnTo>
                  <a:pt x="0" y="1019682"/>
                </a:lnTo>
                <a:cubicBezTo>
                  <a:pt x="0" y="1008793"/>
                  <a:pt x="8622" y="999968"/>
                  <a:pt x="19471" y="999482"/>
                </a:cubicBezTo>
                <a:cubicBezTo>
                  <a:pt x="241511" y="989281"/>
                  <a:pt x="418981" y="805455"/>
                  <a:pt x="418981" y="580946"/>
                </a:cubicBezTo>
                <a:cubicBezTo>
                  <a:pt x="418981" y="356437"/>
                  <a:pt x="241511" y="172612"/>
                  <a:pt x="19471" y="162411"/>
                </a:cubicBezTo>
                <a:cubicBezTo>
                  <a:pt x="8622" y="161925"/>
                  <a:pt x="0" y="153100"/>
                  <a:pt x="0" y="142211"/>
                </a:cubicBezTo>
                <a:lnTo>
                  <a:pt x="0" y="20686"/>
                </a:lnTo>
                <a:cubicBezTo>
                  <a:pt x="0" y="9230"/>
                  <a:pt x="9513" y="0"/>
                  <a:pt x="20929" y="405"/>
                </a:cubicBezTo>
                <a:cubicBezTo>
                  <a:pt x="331582" y="11456"/>
                  <a:pt x="580906" y="267662"/>
                  <a:pt x="580906" y="580946"/>
                </a:cubicBezTo>
                <a:cubicBezTo>
                  <a:pt x="580906" y="894231"/>
                  <a:pt x="331582" y="1150437"/>
                  <a:pt x="20929" y="1161488"/>
                </a:cubicBezTo>
                <a:cubicBezTo>
                  <a:pt x="9513" y="1161893"/>
                  <a:pt x="0" y="1152663"/>
                  <a:pt x="0" y="1141207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Freeform 3"/>
          <p:cNvSpPr/>
          <p:nvPr>
            <p:custDataLst>
              <p:tags r:id="rId2"/>
            </p:custDataLst>
          </p:nvPr>
        </p:nvSpPr>
        <p:spPr>
          <a:xfrm>
            <a:off x="5411941" y="2973005"/>
            <a:ext cx="762000" cy="1524000"/>
          </a:xfrm>
          <a:custGeom>
            <a:avLst/>
            <a:gdLst/>
            <a:ahLst/>
            <a:cxnLst/>
            <a:rect l="l" t="t" r="r" b="b"/>
            <a:pathLst>
              <a:path w="580906" h="1161893">
                <a:moveTo>
                  <a:pt x="0" y="1141207"/>
                </a:moveTo>
                <a:lnTo>
                  <a:pt x="0" y="1019682"/>
                </a:lnTo>
                <a:cubicBezTo>
                  <a:pt x="0" y="1008793"/>
                  <a:pt x="8622" y="999968"/>
                  <a:pt x="19471" y="999482"/>
                </a:cubicBezTo>
                <a:cubicBezTo>
                  <a:pt x="241511" y="989281"/>
                  <a:pt x="418981" y="805455"/>
                  <a:pt x="418981" y="580946"/>
                </a:cubicBezTo>
                <a:cubicBezTo>
                  <a:pt x="418981" y="356437"/>
                  <a:pt x="241511" y="172612"/>
                  <a:pt x="19471" y="162411"/>
                </a:cubicBezTo>
                <a:cubicBezTo>
                  <a:pt x="8622" y="161925"/>
                  <a:pt x="0" y="153100"/>
                  <a:pt x="0" y="142211"/>
                </a:cubicBezTo>
                <a:lnTo>
                  <a:pt x="0" y="20686"/>
                </a:lnTo>
                <a:cubicBezTo>
                  <a:pt x="0" y="9230"/>
                  <a:pt x="9513" y="0"/>
                  <a:pt x="20929" y="405"/>
                </a:cubicBezTo>
                <a:cubicBezTo>
                  <a:pt x="331582" y="11456"/>
                  <a:pt x="580906" y="267662"/>
                  <a:pt x="580906" y="580946"/>
                </a:cubicBezTo>
                <a:cubicBezTo>
                  <a:pt x="580906" y="894231"/>
                  <a:pt x="331582" y="1150437"/>
                  <a:pt x="20929" y="1161488"/>
                </a:cubicBezTo>
                <a:cubicBezTo>
                  <a:pt x="9513" y="1161893"/>
                  <a:pt x="0" y="1152663"/>
                  <a:pt x="0" y="1141207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Freeform 4"/>
          <p:cNvSpPr/>
          <p:nvPr>
            <p:custDataLst>
              <p:tags r:id="rId3"/>
            </p:custDataLst>
          </p:nvPr>
        </p:nvSpPr>
        <p:spPr>
          <a:xfrm>
            <a:off x="6245532" y="2223670"/>
            <a:ext cx="762000" cy="1524000"/>
          </a:xfrm>
          <a:custGeom>
            <a:avLst/>
            <a:gdLst/>
            <a:ahLst/>
            <a:cxnLst/>
            <a:rect l="l" t="t" r="r" b="b"/>
            <a:pathLst>
              <a:path w="580906" h="1161893">
                <a:moveTo>
                  <a:pt x="0" y="1141207"/>
                </a:moveTo>
                <a:lnTo>
                  <a:pt x="0" y="1019682"/>
                </a:lnTo>
                <a:cubicBezTo>
                  <a:pt x="0" y="1008793"/>
                  <a:pt x="8622" y="999968"/>
                  <a:pt x="19471" y="999482"/>
                </a:cubicBezTo>
                <a:cubicBezTo>
                  <a:pt x="241511" y="989281"/>
                  <a:pt x="418981" y="805455"/>
                  <a:pt x="418981" y="580946"/>
                </a:cubicBezTo>
                <a:cubicBezTo>
                  <a:pt x="418981" y="356437"/>
                  <a:pt x="241511" y="172612"/>
                  <a:pt x="19471" y="162411"/>
                </a:cubicBezTo>
                <a:cubicBezTo>
                  <a:pt x="8622" y="161925"/>
                  <a:pt x="0" y="153100"/>
                  <a:pt x="0" y="142211"/>
                </a:cubicBezTo>
                <a:lnTo>
                  <a:pt x="0" y="20686"/>
                </a:lnTo>
                <a:cubicBezTo>
                  <a:pt x="0" y="9230"/>
                  <a:pt x="9513" y="0"/>
                  <a:pt x="20929" y="405"/>
                </a:cubicBezTo>
                <a:cubicBezTo>
                  <a:pt x="331582" y="11456"/>
                  <a:pt x="580906" y="267662"/>
                  <a:pt x="580906" y="580946"/>
                </a:cubicBezTo>
                <a:cubicBezTo>
                  <a:pt x="580906" y="894231"/>
                  <a:pt x="331582" y="1150437"/>
                  <a:pt x="20929" y="1161488"/>
                </a:cubicBezTo>
                <a:cubicBezTo>
                  <a:pt x="9513" y="1161893"/>
                  <a:pt x="0" y="1152663"/>
                  <a:pt x="0" y="1141207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Freeform 5"/>
          <p:cNvSpPr/>
          <p:nvPr>
            <p:custDataLst>
              <p:tags r:id="rId4"/>
            </p:custDataLst>
          </p:nvPr>
        </p:nvSpPr>
        <p:spPr>
          <a:xfrm>
            <a:off x="7079673" y="1449006"/>
            <a:ext cx="762000" cy="1524000"/>
          </a:xfrm>
          <a:custGeom>
            <a:avLst/>
            <a:gdLst/>
            <a:ahLst/>
            <a:cxnLst/>
            <a:rect l="l" t="t" r="r" b="b"/>
            <a:pathLst>
              <a:path w="580906" h="1161893">
                <a:moveTo>
                  <a:pt x="0" y="1141207"/>
                </a:moveTo>
                <a:lnTo>
                  <a:pt x="0" y="1019682"/>
                </a:lnTo>
                <a:cubicBezTo>
                  <a:pt x="0" y="1008793"/>
                  <a:pt x="8622" y="999968"/>
                  <a:pt x="19471" y="999482"/>
                </a:cubicBezTo>
                <a:cubicBezTo>
                  <a:pt x="241511" y="989281"/>
                  <a:pt x="418981" y="805455"/>
                  <a:pt x="418981" y="580946"/>
                </a:cubicBezTo>
                <a:cubicBezTo>
                  <a:pt x="418981" y="356437"/>
                  <a:pt x="241511" y="172612"/>
                  <a:pt x="19471" y="162411"/>
                </a:cubicBezTo>
                <a:cubicBezTo>
                  <a:pt x="8622" y="161925"/>
                  <a:pt x="0" y="153100"/>
                  <a:pt x="0" y="142211"/>
                </a:cubicBezTo>
                <a:lnTo>
                  <a:pt x="0" y="20686"/>
                </a:lnTo>
                <a:cubicBezTo>
                  <a:pt x="0" y="9230"/>
                  <a:pt x="9513" y="0"/>
                  <a:pt x="20929" y="405"/>
                </a:cubicBezTo>
                <a:cubicBezTo>
                  <a:pt x="331582" y="11456"/>
                  <a:pt x="580906" y="267662"/>
                  <a:pt x="580906" y="580946"/>
                </a:cubicBezTo>
                <a:cubicBezTo>
                  <a:pt x="580906" y="894231"/>
                  <a:pt x="331582" y="1150437"/>
                  <a:pt x="20929" y="1161488"/>
                </a:cubicBezTo>
                <a:cubicBezTo>
                  <a:pt x="9513" y="1161893"/>
                  <a:pt x="0" y="1152663"/>
                  <a:pt x="0" y="1141207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TextBox 6"/>
          <p:cNvSpPr txBox="1"/>
          <p:nvPr>
            <p:custDataLst>
              <p:tags r:id="rId5"/>
            </p:custDataLst>
          </p:nvPr>
        </p:nvSpPr>
        <p:spPr>
          <a:xfrm>
            <a:off x="663542" y="3810162"/>
            <a:ext cx="3727132" cy="555879"/>
          </a:xfrm>
          <a:prstGeom prst="rect">
            <a:avLst/>
          </a:prstGeom>
        </p:spPr>
        <p:txBody>
          <a:bodyPr vert="horz" wrap="square" lIns="114300" tIns="57150" rIns="114300" bIns="57150" rtlCol="0" anchor="b" anchorCtr="0">
            <a:no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24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用户追踪</a:t>
            </a:r>
          </a:p>
        </p:txBody>
      </p:sp>
      <p:sp>
        <p:nvSpPr>
          <p:cNvPr id="7" name="TextBox 7"/>
          <p:cNvSpPr txBox="1"/>
          <p:nvPr>
            <p:custDataLst>
              <p:tags r:id="rId6"/>
            </p:custDataLst>
          </p:nvPr>
        </p:nvSpPr>
        <p:spPr>
          <a:xfrm>
            <a:off x="969645" y="4468495"/>
            <a:ext cx="3437255" cy="1114425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algn="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通过分析日志，可以追踪用户的登录、权限验证、资源访问等行为，帮助了解系统的使用情况。</a:t>
            </a:r>
          </a:p>
        </p:txBody>
      </p:sp>
      <p:sp>
        <p:nvSpPr>
          <p:cNvPr id="8" name="TextBox 8"/>
          <p:cNvSpPr txBox="1"/>
          <p:nvPr>
            <p:custDataLst>
              <p:tags r:id="rId7"/>
            </p:custDataLst>
          </p:nvPr>
        </p:nvSpPr>
        <p:spPr>
          <a:xfrm>
            <a:off x="6413591" y="3806102"/>
            <a:ext cx="3727031" cy="555879"/>
          </a:xfrm>
          <a:prstGeom prst="rect">
            <a:avLst/>
          </a:prstGeom>
        </p:spPr>
        <p:txBody>
          <a:bodyPr vert="horz" wrap="square" lIns="114300" tIns="57150" rIns="114300" bIns="57150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异常处理</a:t>
            </a:r>
          </a:p>
        </p:txBody>
      </p:sp>
      <p:sp>
        <p:nvSpPr>
          <p:cNvPr id="9" name="TextBox 9"/>
          <p:cNvSpPr txBox="1"/>
          <p:nvPr>
            <p:custDataLst>
              <p:tags r:id="rId8"/>
            </p:custDataLst>
          </p:nvPr>
        </p:nvSpPr>
        <p:spPr>
          <a:xfrm>
            <a:off x="6419850" y="4385310"/>
            <a:ext cx="4842510" cy="1114425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当系统出现错误时，日志中的错误信息可以帮助快速定位问题原因，并采取相应的解决措施。</a:t>
            </a:r>
          </a:p>
        </p:txBody>
      </p:sp>
      <p:sp>
        <p:nvSpPr>
          <p:cNvPr id="10" name="TextBox 10"/>
          <p:cNvSpPr txBox="1"/>
          <p:nvPr>
            <p:custDataLst>
              <p:tags r:id="rId9"/>
            </p:custDataLst>
          </p:nvPr>
        </p:nvSpPr>
        <p:spPr>
          <a:xfrm>
            <a:off x="7846770" y="1475542"/>
            <a:ext cx="3727031" cy="555879"/>
          </a:xfrm>
          <a:prstGeom prst="rect">
            <a:avLst/>
          </a:prstGeom>
        </p:spPr>
        <p:txBody>
          <a:bodyPr vert="horz" wrap="square" lIns="114300" tIns="57150" rIns="114300" bIns="57150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历史数据分析</a:t>
            </a:r>
          </a:p>
        </p:txBody>
      </p:sp>
      <p:sp>
        <p:nvSpPr>
          <p:cNvPr id="11" name="TextBox 11"/>
          <p:cNvSpPr txBox="1"/>
          <p:nvPr>
            <p:custDataLst>
              <p:tags r:id="rId10"/>
            </p:custDataLst>
          </p:nvPr>
        </p:nvSpPr>
        <p:spPr>
          <a:xfrm>
            <a:off x="7894320" y="2190750"/>
            <a:ext cx="3129280" cy="1114425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定期对历史数据进行深入分析，以发现系统运行的规律和潜在问题，为后续的维护和升级提供参考。</a:t>
            </a:r>
          </a:p>
        </p:txBody>
      </p:sp>
      <p:sp>
        <p:nvSpPr>
          <p:cNvPr id="12" name="TextBox 12"/>
          <p:cNvSpPr txBox="1"/>
          <p:nvPr>
            <p:custDataLst>
              <p:tags r:id="rId11"/>
            </p:custDataLst>
          </p:nvPr>
        </p:nvSpPr>
        <p:spPr>
          <a:xfrm>
            <a:off x="2227757" y="1593264"/>
            <a:ext cx="3727031" cy="555879"/>
          </a:xfrm>
          <a:prstGeom prst="rect">
            <a:avLst/>
          </a:prstGeom>
        </p:spPr>
        <p:txBody>
          <a:bodyPr vert="horz" wrap="square" lIns="114300" tIns="57150" rIns="114300" bIns="57150" rtlCol="0" anchor="b" anchorCtr="0">
            <a:noAutofit/>
          </a:bodyPr>
          <a:lstStyle/>
          <a:p>
            <a:pPr algn="r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日志收集</a:t>
            </a:r>
          </a:p>
        </p:txBody>
      </p:sp>
      <p:sp>
        <p:nvSpPr>
          <p:cNvPr id="13" name="TextBox 13"/>
          <p:cNvSpPr txBox="1"/>
          <p:nvPr>
            <p:custDataLst>
              <p:tags r:id="rId12"/>
            </p:custDataLst>
          </p:nvPr>
        </p:nvSpPr>
        <p:spPr>
          <a:xfrm>
            <a:off x="1704975" y="2114550"/>
            <a:ext cx="3973830" cy="1114425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algn="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保存操作日志记录，以发现潜在的问题和异常行为，进而优化系统性能和安全性。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日志分析</a:t>
            </a:r>
          </a:p>
        </p:txBody>
      </p:sp>
      <p:sp>
        <p:nvSpPr>
          <p:cNvPr id="15" name="TextBox 15"/>
          <p:cNvSpPr txBox="1"/>
          <p:nvPr>
            <p:custDataLst>
              <p:tags r:id="rId13"/>
            </p:custDataLst>
          </p:nvPr>
        </p:nvSpPr>
        <p:spPr>
          <a:xfrm>
            <a:off x="4322838" y="4266818"/>
            <a:ext cx="849630" cy="460375"/>
          </a:xfrm>
          <a:prstGeom prst="rect">
            <a:avLst/>
          </a:prstGeom>
        </p:spPr>
        <p:txBody>
          <a:bodyPr vert="horz" wrap="square" lIns="91440" tIns="45720" rIns="91440" bIns="45720" rtlCol="0" anchor="ctr" anchorCtr="1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</a:p>
        </p:txBody>
      </p:sp>
      <p:sp>
        <p:nvSpPr>
          <p:cNvPr id="16" name="TextBox 16"/>
          <p:cNvSpPr txBox="1"/>
          <p:nvPr>
            <p:custDataLst>
              <p:tags r:id="rId14"/>
            </p:custDataLst>
          </p:nvPr>
        </p:nvSpPr>
        <p:spPr>
          <a:xfrm>
            <a:off x="5104457" y="3504818"/>
            <a:ext cx="849630" cy="460375"/>
          </a:xfrm>
          <a:prstGeom prst="rect">
            <a:avLst/>
          </a:prstGeom>
        </p:spPr>
        <p:txBody>
          <a:bodyPr vert="horz" wrap="square" lIns="91440" tIns="45720" rIns="91440" bIns="45720" rtlCol="0" anchor="ctr" anchorCtr="1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</a:p>
        </p:txBody>
      </p:sp>
      <p:sp>
        <p:nvSpPr>
          <p:cNvPr id="17" name="TextBox 17"/>
          <p:cNvSpPr txBox="1"/>
          <p:nvPr>
            <p:custDataLst>
              <p:tags r:id="rId15"/>
            </p:custDataLst>
          </p:nvPr>
        </p:nvSpPr>
        <p:spPr>
          <a:xfrm>
            <a:off x="5954087" y="2742818"/>
            <a:ext cx="849630" cy="460375"/>
          </a:xfrm>
          <a:prstGeom prst="rect">
            <a:avLst/>
          </a:prstGeom>
        </p:spPr>
        <p:txBody>
          <a:bodyPr vert="horz" wrap="square" lIns="91440" tIns="45720" rIns="91440" bIns="45720" rtlCol="0" anchor="ctr" anchorCtr="1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</a:p>
        </p:txBody>
      </p:sp>
      <p:sp>
        <p:nvSpPr>
          <p:cNvPr id="18" name="TextBox 18"/>
          <p:cNvSpPr txBox="1"/>
          <p:nvPr>
            <p:custDataLst>
              <p:tags r:id="rId16"/>
            </p:custDataLst>
          </p:nvPr>
        </p:nvSpPr>
        <p:spPr>
          <a:xfrm>
            <a:off x="6803717" y="1993482"/>
            <a:ext cx="849630" cy="460375"/>
          </a:xfrm>
          <a:prstGeom prst="rect">
            <a:avLst/>
          </a:prstGeom>
        </p:spPr>
        <p:txBody>
          <a:bodyPr vert="horz" wrap="square" lIns="91440" tIns="45720" rIns="91440" bIns="45720" rtlCol="0" anchor="ctr" anchorCtr="1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798804" y="2875083"/>
            <a:ext cx="190500" cy="1368299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AutoShape 3"/>
          <p:cNvSpPr/>
          <p:nvPr/>
        </p:nvSpPr>
        <p:spPr>
          <a:xfrm>
            <a:off x="2174865" y="2875084"/>
            <a:ext cx="190500" cy="1368298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TextBox 4"/>
          <p:cNvSpPr txBox="1"/>
          <p:nvPr/>
        </p:nvSpPr>
        <p:spPr>
          <a:xfrm>
            <a:off x="2133600" y="2478145"/>
            <a:ext cx="7924800" cy="2162175"/>
          </a:xfrm>
          <a:prstGeom prst="rect">
            <a:avLst/>
          </a:prstGeom>
        </p:spPr>
        <p:txBody>
          <a:bodyPr vert="horz" wrap="square" lIns="114300" tIns="57150" rIns="114300" bIns="57150" rtlCol="0" anchor="ctr" anchorCtr="1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10725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THANKS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DJjNTZhM2Y4YzdhNmEyMGExODM5YmQ3Zjk3NWU1Nzk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9.5266141732283,&quot;left&quot;:468.65,&quot;top&quot;:119.58385826771652,&quot;width&quot;:462.532125984252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9.5266141732283,&quot;left&quot;:468.65,&quot;top&quot;:119.58385826771652,&quot;width&quot;:462.532125984252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9.5266141732283,&quot;left&quot;:468.65,&quot;top&quot;:119.58385826771652,&quot;width&quot;:462.532125984252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9.5266141732283,&quot;left&quot;:468.65,&quot;top&quot;:119.58385826771652,&quot;width&quot;:462.532125984252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68779527559053,&quot;left&quot;:79.85858267716534,&quot;top&quot;:90.31614173228346,&quot;width&quot;:814.1414173228346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68779527559053,&quot;left&quot;:79.85858267716534,&quot;top&quot;:90.31614173228346,&quot;width&quot;:814.1414173228346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68779527559053,&quot;left&quot;:79.85858267716534,&quot;top&quot;:90.31614173228346,&quot;width&quot;:814.1414173228346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68779527559053,&quot;left&quot;:79.85858267716534,&quot;top&quot;:90.31614173228346,&quot;width&quot;:814.1414173228346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68779527559053,&quot;left&quot;:79.85858267716534,&quot;top&quot;:90.31614173228346,&quot;width&quot;:814.1414173228346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68779527559053,&quot;left&quot;:79.85858267716534,&quot;top&quot;:90.31614173228346,&quot;width&quot;:814.1414173228346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68779527559053,&quot;left&quot;:79.85858267716534,&quot;top&quot;:90.31614173228346,&quot;width&quot;:814.1414173228346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68779527559053,&quot;left&quot;:79.85858267716534,&quot;top&quot;:90.31614173228346,&quot;width&quot;:814.1414173228346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68779527559053,&quot;left&quot;:79.85858267716534,&quot;top&quot;:90.31614173228346,&quot;width&quot;:814.1414173228346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68779527559053,&quot;left&quot;:79.85858267716534,&quot;top&quot;:90.31614173228346,&quot;width&quot;:814.1414173228346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68779527559053,&quot;left&quot;:79.85858267716534,&quot;top&quot;:90.31614173228346,&quot;width&quot;:814.1414173228346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68779527559053,&quot;left&quot;:79.85858267716534,&quot;top&quot;:90.31614173228346,&quot;width&quot;:814.1414173228346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4.16999999999996,&quot;left&quot;:323.89566929133855,&quot;top&quot;:129.37653543307084,&quot;width&quot;:600.1922047244095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4.16999999999996,&quot;left&quot;:323.89566929133855,&quot;top&quot;:129.37653543307084,&quot;width&quot;:600.1922047244095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4.16999999999996,&quot;left&quot;:323.89566929133855,&quot;top&quot;:129.37653543307084,&quot;width&quot;:600.1922047244095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4.16999999999996,&quot;left&quot;:323.89566929133855,&quot;top&quot;:129.37653543307084,&quot;width&quot;:600.1922047244095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4.16999999999996,&quot;left&quot;:323.89566929133855,&quot;top&quot;:129.37653543307084,&quot;width&quot;:600.1922047244095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4.16999999999996,&quot;left&quot;:323.89566929133855,&quot;top&quot;:129.37653543307084,&quot;width&quot;:600.1922047244095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4.16999999999996,&quot;left&quot;:323.89566929133855,&quot;top&quot;:129.37653543307084,&quot;width&quot;:600.1922047244095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4.16999999999996,&quot;left&quot;:323.89566929133855,&quot;top&quot;:129.37653543307084,&quot;width&quot;:600.1922047244095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4.16999999999996,&quot;left&quot;:323.89566929133855,&quot;top&quot;:129.37653543307084,&quot;width&quot;:600.1922047244095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4.16999999999996,&quot;left&quot;:323.89566929133855,&quot;top&quot;:129.37653543307084,&quot;width&quot;:600.1922047244095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4.16999999999996,&quot;left&quot;:323.89566929133855,&quot;top&quot;:129.37653543307084,&quot;width&quot;:600.1922047244095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4.16999999999996,&quot;left&quot;:323.89566929133855,&quot;top&quot;:129.37653543307084,&quot;width&quot;:600.1922047244095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403937007874,&quot;left&quot;:44.89574803149606,&quot;top&quot;:116.10842519685039,&quot;width&quot;:572.8711023622047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403937007874,&quot;left&quot;:44.89574803149606,&quot;top&quot;:116.10842519685039,&quot;width&quot;:572.8711023622047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403937007874,&quot;left&quot;:44.89574803149606,&quot;top&quot;:116.10842519685039,&quot;width&quot;:572.8711023622047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403937007874,&quot;left&quot;:44.89574803149606,&quot;top&quot;:116.10842519685039,&quot;width&quot;:572.8711023622047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403937007874,&quot;left&quot;:44.89574803149606,&quot;top&quot;:116.10842519685039,&quot;width&quot;:572.8711023622047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403937007874,&quot;left&quot;:44.89574803149606,&quot;top&quot;:116.10842519685039,&quot;width&quot;:572.8711023622047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403937007874,&quot;left&quot;:44.89574803149606,&quot;top&quot;:116.10842519685039,&quot;width&quot;:572.8711023622047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403937007874,&quot;left&quot;:44.89574803149606,&quot;top&quot;:116.10842519685039,&quot;width&quot;:572.8711023622047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403937007874,&quot;left&quot;:44.89574803149606,&quot;top&quot;:116.10842519685039,&quot;width&quot;:572.8711023622047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403937007874,&quot;left&quot;:44.89574803149606,&quot;top&quot;:116.10842519685039,&quot;width&quot;:572.8711023622047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403937007874,&quot;left&quot;:44.89574803149606,&quot;top&quot;:116.10842519685039,&quot;width&quot;:572.8711023622047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403937007874,&quot;left&quot;:44.89574803149606,&quot;top&quot;:116.10842519685039,&quot;width&quot;:572.8711023622047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403937007874,&quot;left&quot;:44.89574803149606,&quot;top&quot;:116.10842519685039,&quot;width&quot;:572.8711023622047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403937007874,&quot;left&quot;:44.89574803149606,&quot;top&quot;:116.10842519685039,&quot;width&quot;:572.8711023622047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403937007874,&quot;left&quot;:44.89574803149606,&quot;top&quot;:116.10842519685039,&quot;width&quot;:572.8711023622047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403937007874,&quot;left&quot;:44.89574803149606,&quot;top&quot;:116.10842519685039,&quot;width&quot;:572.8711023622047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403937007874,&quot;left&quot;:44.89574803149606,&quot;top&quot;:116.10842519685039,&quot;width&quot;:572.8711023622047}"/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403937007874,&quot;left&quot;:44.89574803149606,&quot;top&quot;:116.10842519685039,&quot;width&quot;:572.8711023622047}"/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4.6100787401575,&quot;left&quot;:66.12748031496064,&quot;top&quot;:139.68,&quot;width&quot;:828.1088188976379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4.6100787401575,&quot;left&quot;:66.12748031496064,&quot;top&quot;:139.68,&quot;width&quot;:828.1088188976379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4.6100787401575,&quot;left&quot;:66.12748031496064,&quot;top&quot;:139.68,&quot;width&quot;:828.1088188976379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4.6100787401575,&quot;left&quot;:66.12748031496064,&quot;top&quot;:139.68,&quot;width&quot;:828.1088188976379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4.6100787401575,&quot;left&quot;:66.12748031496064,&quot;top&quot;:139.68,&quot;width&quot;:828.1088188976379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4.6100787401575,&quot;left&quot;:66.12748031496064,&quot;top&quot;:139.68,&quot;width&quot;:828.1088188976379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4.6100787401575,&quot;left&quot;:66.12748031496064,&quot;top&quot;:139.68,&quot;width&quot;:828.1088188976379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4.6100787401575,&quot;left&quot;:66.12748031496064,&quot;top&quot;:139.68,&quot;width&quot;:828.1088188976379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4.6100787401575,&quot;left&quot;:66.12748031496064,&quot;top&quot;:139.68,&quot;width&quot;:828.1088188976379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4.6100787401575,&quot;left&quot;:66.12748031496064,&quot;top&quot;:139.68,&quot;width&quot;:828.1088188976379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4.6100787401575,&quot;left&quot;:66.12748031496064,&quot;top&quot;:139.68,&quot;width&quot;:828.1088188976379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4.6100787401575,&quot;left&quot;:66.12748031496064,&quot;top&quot;:139.68,&quot;width&quot;:828.1088188976379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4.6100787401575,&quot;left&quot;:66.12748031496064,&quot;top&quot;:139.68,&quot;width&quot;:828.1088188976379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4.6100787401575,&quot;left&quot;:66.12748031496064,&quot;top&quot;:139.68,&quot;width&quot;:828.1088188976379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4.6100787401575,&quot;left&quot;:66.12748031496064,&quot;top&quot;:139.68,&quot;width&quot;:828.1088188976379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4.6100787401575,&quot;left&quot;:66.12748031496064,&quot;top&quot;:139.68,&quot;width&quot;:828.1088188976379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4.6100787401575,&quot;left&quot;:66.12748031496064,&quot;top&quot;:139.68,&quot;width&quot;:828.1088188976379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4.6100787401575,&quot;left&quot;:66.12748031496064,&quot;top&quot;:139.68,&quot;width&quot;:828.1088188976379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4.6100787401575,&quot;left&quot;:66.12748031496064,&quot;top&quot;:139.68,&quot;width&quot;:828.1088188976379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4.6100787401575,&quot;left&quot;:66.12748031496064,&quot;top&quot;:139.68,&quot;width&quot;:828.1088188976379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2.0746456692913,&quot;left&quot;:73.83149606299213,&quot;top&quot;:131.65653543307087,&quot;width&quot;:816.9585826771654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2.0746456692913,&quot;left&quot;:73.83149606299213,&quot;top&quot;:131.65653543307087,&quot;width&quot;:816.9585826771654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2.0746456692913,&quot;left&quot;:73.83149606299213,&quot;top&quot;:131.65653543307087,&quot;width&quot;:816.9585826771654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2.0746456692913,&quot;left&quot;:73.83149606299213,&quot;top&quot;:131.65653543307087,&quot;width&quot;:816.9585826771654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2.0746456692913,&quot;left&quot;:73.83149606299213,&quot;top&quot;:131.65653543307087,&quot;width&quot;:816.9585826771654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2.0746456692913,&quot;left&quot;:73.83149606299213,&quot;top&quot;:131.65653543307087,&quot;width&quot;:816.9585826771654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2.0746456692913,&quot;left&quot;:73.83149606299213,&quot;top&quot;:131.65653543307087,&quot;width&quot;:816.9585826771654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2.0746456692913,&quot;left&quot;:73.83149606299213,&quot;top&quot;:131.65653543307087,&quot;width&quot;:816.9585826771654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2.0746456692913,&quot;left&quot;:73.83149606299213,&quot;top&quot;:131.65653543307087,&quot;width&quot;:816.9585826771654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2.0746456692913,&quot;left&quot;:73.83149606299213,&quot;top&quot;:131.65653543307087,&quot;width&quot;:816.9585826771654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2.0746456692913,&quot;left&quot;:73.83149606299213,&quot;top&quot;:131.65653543307087,&quot;width&quot;:816.9585826771654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2.0746456692913,&quot;left&quot;:73.83149606299213,&quot;top&quot;:131.65653543307087,&quot;width&quot;:816.9585826771654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2.0746456692913,&quot;left&quot;:73.83149606299213,&quot;top&quot;:131.65653543307087,&quot;width&quot;:816.9585826771654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2.0746456692913,&quot;left&quot;:73.83149606299213,&quot;top&quot;:131.65653543307087,&quot;width&quot;:816.9585826771654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2.0746456692913,&quot;left&quot;:73.83149606299213,&quot;top&quot;:131.65653543307087,&quot;width&quot;:816.9585826771654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3.49834645669296,&quot;left&quot;:50.94740157480315,&quot;top&quot;:61.78440944881889,&quot;width&quot;:867.8755118110236}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3.49834645669296,&quot;left&quot;:50.94740157480315,&quot;top&quot;:61.78440944881889,&quot;width&quot;:867.8755118110236}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3.49834645669296,&quot;left&quot;:50.94740157480315,&quot;top&quot;:61.78440944881889,&quot;width&quot;:867.8755118110236}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3.49834645669296,&quot;left&quot;:50.94740157480315,&quot;top&quot;:61.78440944881889,&quot;width&quot;:867.8755118110236}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3.49834645669296,&quot;left&quot;:50.94740157480315,&quot;top&quot;:61.78440944881889,&quot;width&quot;:867.8755118110236}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3.49834645669296,&quot;left&quot;:50.94740157480315,&quot;top&quot;:61.78440944881889,&quot;width&quot;:867.8755118110236}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3.49834645669296,&quot;left&quot;:50.94740157480315,&quot;top&quot;:61.78440944881889,&quot;width&quot;:867.8755118110236}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3.49834645669296,&quot;left&quot;:50.94740157480315,&quot;top&quot;:61.78440944881889,&quot;width&quot;:867.8755118110236}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3.49834645669296,&quot;left&quot;:50.94740157480315,&quot;top&quot;:61.78440944881889,&quot;width&quot;:867.8755118110236}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3.49834645669296,&quot;left&quot;:50.94740157480315,&quot;top&quot;:61.78440944881889,&quot;width&quot;:867.8755118110236}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3.49834645669296,&quot;left&quot;:50.94740157480315,&quot;top&quot;:61.78440944881889,&quot;width&quot;:867.8755118110236}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3.49834645669296,&quot;left&quot;:50.94740157480315,&quot;top&quot;:61.78440944881889,&quot;width&quot;:867.8755118110236}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3.49834645669296,&quot;left&quot;:50.94740157480315,&quot;top&quot;:61.78440944881889,&quot;width&quot;:867.8755118110236}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3.49834645669296,&quot;left&quot;:50.94740157480315,&quot;top&quot;:61.78440944881889,&quot;width&quot;:867.8755118110236}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3.49834645669296,&quot;left&quot;:50.94740157480315,&quot;top&quot;:61.78440944881889,&quot;width&quot;:867.8755118110236}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3.49834645669296,&quot;left&quot;:50.94740157480315,&quot;top&quot;:61.78440944881889,&quot;width&quot;:867.8755118110236}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FFFFFF"/>
      </a:dk1>
      <a:lt1>
        <a:srgbClr val="01121A"/>
      </a:lt1>
      <a:dk2>
        <a:srgbClr val="01E2FD"/>
      </a:dk2>
      <a:lt2>
        <a:srgbClr val="014140"/>
      </a:lt2>
      <a:accent1>
        <a:srgbClr val="00A3B6"/>
      </a:accent1>
      <a:accent2>
        <a:srgbClr val="00A3B6"/>
      </a:accent2>
      <a:accent3>
        <a:srgbClr val="0091A2"/>
      </a:accent3>
      <a:accent4>
        <a:srgbClr val="007C8A"/>
      </a:accent4>
      <a:accent5>
        <a:srgbClr val="006E7B"/>
      </a:accent5>
      <a:accent6>
        <a:srgbClr val="005E69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663</Words>
  <Application>Microsoft Macintosh PowerPoint</Application>
  <PresentationFormat>宽屏</PresentationFormat>
  <Paragraphs>120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2" baseType="lpstr"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瑶 卢</cp:lastModifiedBy>
  <cp:revision>12</cp:revision>
  <dcterms:created xsi:type="dcterms:W3CDTF">2006-08-16T00:00:00Z</dcterms:created>
  <dcterms:modified xsi:type="dcterms:W3CDTF">2024-07-03T03:47:33Z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61A93436573543BF8BF086D1D5818945_13</vt:lpwstr>
  </property>
  <property fmtid="{D5CDD505-2E9C-101B-9397-08002B2CF9AE}" pid="3" name="KSOProductBuildVer">
    <vt:lpwstr>2052-12.1.0.16729</vt:lpwstr>
  </property>
</Properties>
</file>