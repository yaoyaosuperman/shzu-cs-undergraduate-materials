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6.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49"/>
  </p:handoutMasterIdLst>
  <p:sldIdLst>
    <p:sldId id="515" r:id="rId3"/>
    <p:sldId id="739" r:id="rId5"/>
    <p:sldId id="743" r:id="rId6"/>
    <p:sldId id="751" r:id="rId7"/>
    <p:sldId id="745" r:id="rId8"/>
    <p:sldId id="753" r:id="rId9"/>
    <p:sldId id="754" r:id="rId10"/>
    <p:sldId id="824" r:id="rId11"/>
    <p:sldId id="859" r:id="rId12"/>
    <p:sldId id="740" r:id="rId13"/>
    <p:sldId id="755" r:id="rId14"/>
    <p:sldId id="761" r:id="rId15"/>
    <p:sldId id="765" r:id="rId16"/>
    <p:sldId id="766" r:id="rId17"/>
    <p:sldId id="762" r:id="rId18"/>
    <p:sldId id="796" r:id="rId19"/>
    <p:sldId id="767" r:id="rId20"/>
    <p:sldId id="768" r:id="rId21"/>
    <p:sldId id="769" r:id="rId22"/>
    <p:sldId id="770" r:id="rId23"/>
    <p:sldId id="771" r:id="rId24"/>
    <p:sldId id="776" r:id="rId25"/>
    <p:sldId id="777" r:id="rId26"/>
    <p:sldId id="778" r:id="rId27"/>
    <p:sldId id="779" r:id="rId28"/>
    <p:sldId id="780" r:id="rId29"/>
    <p:sldId id="781" r:id="rId30"/>
    <p:sldId id="894" r:id="rId31"/>
    <p:sldId id="782" r:id="rId32"/>
    <p:sldId id="783" r:id="rId33"/>
    <p:sldId id="784" r:id="rId34"/>
    <p:sldId id="785" r:id="rId35"/>
    <p:sldId id="786" r:id="rId36"/>
    <p:sldId id="741" r:id="rId37"/>
    <p:sldId id="787" r:id="rId38"/>
    <p:sldId id="788" r:id="rId39"/>
    <p:sldId id="789" r:id="rId40"/>
    <p:sldId id="790" r:id="rId41"/>
    <p:sldId id="792" r:id="rId42"/>
    <p:sldId id="797" r:id="rId43"/>
    <p:sldId id="798" r:id="rId44"/>
    <p:sldId id="794" r:id="rId45"/>
    <p:sldId id="911" r:id="rId46"/>
    <p:sldId id="742" r:id="rId47"/>
    <p:sldId id="795" r:id="rId48"/>
  </p:sldIdLst>
  <p:sldSz cx="10799445" cy="7198995"/>
  <p:notesSz cx="7315200" cy="9601200"/>
  <p:custDataLst>
    <p:tags r:id="rId53"/>
  </p:custDataLst>
  <p:kinsoku lang="zh-CN"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1500" b="1" kern="1200">
        <a:solidFill>
          <a:schemeClr val="tx1"/>
        </a:solidFill>
        <a:latin typeface="Arial" panose="020B0604020202020204" pitchFamily="34" charset="0"/>
        <a:ea typeface="楷体_GB2312" pitchFamily="49" charset="-122"/>
        <a:cs typeface="+mn-cs"/>
      </a:defRPr>
    </a:lvl1pPr>
    <a:lvl2pPr marL="513080" indent="-55880" algn="l" rtl="0" eaLnBrk="0" fontAlgn="base" hangingPunct="0">
      <a:spcBef>
        <a:spcPct val="0"/>
      </a:spcBef>
      <a:spcAft>
        <a:spcPct val="0"/>
      </a:spcAft>
      <a:defRPr sz="1500" b="1" kern="1200">
        <a:solidFill>
          <a:schemeClr val="tx1"/>
        </a:solidFill>
        <a:latin typeface="Arial" panose="020B0604020202020204" pitchFamily="34" charset="0"/>
        <a:ea typeface="楷体_GB2312" pitchFamily="49" charset="-122"/>
        <a:cs typeface="+mn-cs"/>
      </a:defRPr>
    </a:lvl2pPr>
    <a:lvl3pPr marL="1027430" indent="-113030" algn="l" rtl="0" eaLnBrk="0" fontAlgn="base" hangingPunct="0">
      <a:spcBef>
        <a:spcPct val="0"/>
      </a:spcBef>
      <a:spcAft>
        <a:spcPct val="0"/>
      </a:spcAft>
      <a:defRPr sz="1500" b="1" kern="1200">
        <a:solidFill>
          <a:schemeClr val="tx1"/>
        </a:solidFill>
        <a:latin typeface="Arial" panose="020B0604020202020204" pitchFamily="34" charset="0"/>
        <a:ea typeface="楷体_GB2312" pitchFamily="49" charset="-122"/>
        <a:cs typeface="+mn-cs"/>
      </a:defRPr>
    </a:lvl3pPr>
    <a:lvl4pPr marL="1541780" indent="-170180" algn="l" rtl="0" eaLnBrk="0" fontAlgn="base" hangingPunct="0">
      <a:spcBef>
        <a:spcPct val="0"/>
      </a:spcBef>
      <a:spcAft>
        <a:spcPct val="0"/>
      </a:spcAft>
      <a:defRPr sz="1500" b="1" kern="1200">
        <a:solidFill>
          <a:schemeClr val="tx1"/>
        </a:solidFill>
        <a:latin typeface="Arial" panose="020B0604020202020204" pitchFamily="34" charset="0"/>
        <a:ea typeface="楷体_GB2312" pitchFamily="49" charset="-122"/>
        <a:cs typeface="+mn-cs"/>
      </a:defRPr>
    </a:lvl4pPr>
    <a:lvl5pPr marL="2056130" indent="-227330" algn="l" rtl="0" eaLnBrk="0" fontAlgn="base" hangingPunct="0">
      <a:spcBef>
        <a:spcPct val="0"/>
      </a:spcBef>
      <a:spcAft>
        <a:spcPct val="0"/>
      </a:spcAft>
      <a:defRPr sz="15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sz="15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sz="15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sz="15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sz="1500" b="1" kern="1200">
        <a:solidFill>
          <a:schemeClr val="tx1"/>
        </a:solidFill>
        <a:latin typeface="Arial" panose="020B0604020202020204" pitchFamily="34" charset="0"/>
        <a:ea typeface="楷体_GB2312" pitchFamily="49" charset="-122"/>
        <a:cs typeface="+mn-cs"/>
      </a:defRPr>
    </a:lvl9pPr>
  </p:defaultTextStyle>
  <p:extLst>
    <p:ext uri="{EFAFB233-063F-42B5-8137-9DF3F51BA10A}">
      <p15:sldGuideLst xmlns:p15="http://schemas.microsoft.com/office/powerpoint/2012/main">
        <p15:guide id="1" orient="horz" pos="2273" userDrawn="1">
          <p15:clr>
            <a:srgbClr val="A4A3A4"/>
          </p15:clr>
        </p15:guide>
        <p15:guide id="2" pos="321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00"/>
    <a:srgbClr val="0000FF"/>
    <a:srgbClr val="CC00CC"/>
    <a:srgbClr val="CC3300"/>
    <a:srgbClr val="2A8487"/>
    <a:srgbClr val="1C5A61"/>
    <a:srgbClr val="0C6D9C"/>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860" autoAdjust="0"/>
    <p:restoredTop sz="94424" autoAdjust="0"/>
  </p:normalViewPr>
  <p:slideViewPr>
    <p:cSldViewPr showGuides="1">
      <p:cViewPr varScale="1">
        <p:scale>
          <a:sx n="82" d="100"/>
          <a:sy n="82" d="100"/>
        </p:scale>
        <p:origin x="69" y="89"/>
      </p:cViewPr>
      <p:guideLst>
        <p:guide orient="horz" pos="2273"/>
        <p:guide pos="321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3672"/>
    </p:cViewPr>
  </p:sorterViewPr>
  <p:gridSpacing cx="76198" cy="7619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3" Type="http://schemas.openxmlformats.org/officeDocument/2006/relationships/tags" Target="tags/tag2.xml"/><Relationship Id="rId52" Type="http://schemas.openxmlformats.org/officeDocument/2006/relationships/tableStyles" Target="tableStyles.xml"/><Relationship Id="rId51" Type="http://schemas.openxmlformats.org/officeDocument/2006/relationships/viewProps" Target="viewProps.xml"/><Relationship Id="rId50" Type="http://schemas.openxmlformats.org/officeDocument/2006/relationships/presProps" Target="presProps.xml"/><Relationship Id="rId5" Type="http://schemas.openxmlformats.org/officeDocument/2006/relationships/slide" Target="slides/slide2.xml"/><Relationship Id="rId49" Type="http://schemas.openxmlformats.org/officeDocument/2006/relationships/handoutMaster" Target="handoutMasters/handoutMaster1.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73138" y="4560888"/>
            <a:ext cx="5367337" cy="4318000"/>
          </a:xfrm>
          <a:prstGeom prst="rect">
            <a:avLst/>
          </a:prstGeom>
          <a:noFill/>
          <a:ln>
            <a:noFill/>
          </a:ln>
          <a:effectLst/>
        </p:spPr>
        <p:txBody>
          <a:bodyPr vert="horz" wrap="square" lIns="100437" tIns="50221" rIns="100437" bIns="50221" numCol="1" anchor="t" anchorCtr="0" compatLnSpc="1"/>
          <a:lstStyle/>
          <a:p>
            <a:pPr lvl="0"/>
            <a:r>
              <a:rPr lang="en-US" altLang="zh-CN" noProof="0"/>
              <a:t>Click to edit Master notes styles</a:t>
            </a:r>
            <a:endParaRPr lang="en-US" altLang="zh-CN" noProof="0"/>
          </a:p>
          <a:p>
            <a:pPr lvl="1"/>
            <a:r>
              <a:rPr lang="en-US" altLang="zh-CN" noProof="0"/>
              <a:t>Second Level</a:t>
            </a:r>
            <a:endParaRPr lang="en-US" altLang="zh-CN" noProof="0"/>
          </a:p>
          <a:p>
            <a:pPr lvl="2"/>
            <a:r>
              <a:rPr lang="en-US" altLang="zh-CN" noProof="0"/>
              <a:t>Third Level</a:t>
            </a:r>
            <a:endParaRPr lang="en-US" altLang="zh-CN" noProof="0"/>
          </a:p>
          <a:p>
            <a:pPr lvl="3"/>
            <a:r>
              <a:rPr lang="en-US" altLang="zh-CN" noProof="0"/>
              <a:t>Fourth Level</a:t>
            </a:r>
            <a:endParaRPr lang="en-US" altLang="zh-CN" noProof="0"/>
          </a:p>
          <a:p>
            <a:pPr lvl="4"/>
            <a:r>
              <a:rPr lang="en-US" altLang="zh-CN" noProof="0"/>
              <a:t>Fifth Level</a:t>
            </a:r>
            <a:endParaRPr lang="en-US" altLang="zh-CN" noProof="0"/>
          </a:p>
        </p:txBody>
      </p:sp>
      <p:sp>
        <p:nvSpPr>
          <p:cNvPr id="11267" name="Rectangle 3"/>
          <p:cNvSpPr>
            <a:spLocks noGrp="1" noRot="1" noChangeAspect="1" noChangeArrowheads="1" noTextEdit="1"/>
          </p:cNvSpPr>
          <p:nvPr>
            <p:ph type="sldImg" idx="4294967295"/>
          </p:nvPr>
        </p:nvSpPr>
        <p:spPr bwMode="auto">
          <a:xfrm>
            <a:off x="971550" y="728663"/>
            <a:ext cx="5375275" cy="3584575"/>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sp>
    </p:spTree>
  </p:cSld>
  <p:clrMap bg1="lt1" tx1="dk1" bg2="lt2" tx2="dk2" accent1="accent1" accent2="accent2" accent3="accent3" accent4="accent4" accent5="accent5" accent6="accent6" hlink="hlink" folHlink="folHlink"/>
  <p:notesStyle>
    <a:lvl1pPr algn="l" defTabSz="1082675" rtl="0" eaLnBrk="0" fontAlgn="base" hangingPunct="0">
      <a:spcBef>
        <a:spcPct val="30000"/>
      </a:spcBef>
      <a:spcAft>
        <a:spcPct val="0"/>
      </a:spcAft>
      <a:defRPr sz="1300" kern="1200">
        <a:solidFill>
          <a:schemeClr val="tx1"/>
        </a:solidFill>
        <a:latin typeface="Arial" panose="020B0604020202020204" pitchFamily="34" charset="0"/>
        <a:ea typeface="+mn-ea"/>
        <a:cs typeface="+mn-cs"/>
      </a:defRPr>
    </a:lvl1pPr>
    <a:lvl2pPr marL="527050" algn="l" defTabSz="1082675" rtl="0" eaLnBrk="0" fontAlgn="base" hangingPunct="0">
      <a:spcBef>
        <a:spcPct val="30000"/>
      </a:spcBef>
      <a:spcAft>
        <a:spcPct val="0"/>
      </a:spcAft>
      <a:defRPr sz="1300" kern="1200">
        <a:solidFill>
          <a:schemeClr val="tx1"/>
        </a:solidFill>
        <a:latin typeface="Arial" panose="020B0604020202020204" pitchFamily="34" charset="0"/>
        <a:ea typeface="+mn-ea"/>
        <a:cs typeface="+mn-cs"/>
      </a:defRPr>
    </a:lvl2pPr>
    <a:lvl3pPr marL="1054100" algn="l" defTabSz="1082675" rtl="0" eaLnBrk="0" fontAlgn="base" hangingPunct="0">
      <a:spcBef>
        <a:spcPct val="30000"/>
      </a:spcBef>
      <a:spcAft>
        <a:spcPct val="0"/>
      </a:spcAft>
      <a:defRPr sz="1300" kern="1200">
        <a:solidFill>
          <a:schemeClr val="tx1"/>
        </a:solidFill>
        <a:latin typeface="Arial" panose="020B0604020202020204" pitchFamily="34" charset="0"/>
        <a:ea typeface="+mn-ea"/>
        <a:cs typeface="+mn-cs"/>
      </a:defRPr>
    </a:lvl3pPr>
    <a:lvl4pPr marL="1583055" algn="l" defTabSz="1082675" rtl="0" eaLnBrk="0" fontAlgn="base" hangingPunct="0">
      <a:spcBef>
        <a:spcPct val="30000"/>
      </a:spcBef>
      <a:spcAft>
        <a:spcPct val="0"/>
      </a:spcAft>
      <a:defRPr sz="1300" kern="1200">
        <a:solidFill>
          <a:schemeClr val="tx1"/>
        </a:solidFill>
        <a:latin typeface="Arial" panose="020B0604020202020204" pitchFamily="34" charset="0"/>
        <a:ea typeface="+mn-ea"/>
        <a:cs typeface="+mn-cs"/>
      </a:defRPr>
    </a:lvl4pPr>
    <a:lvl5pPr marL="2110105" algn="l" defTabSz="1082675" rtl="0" eaLnBrk="0" fontAlgn="base" hangingPunct="0">
      <a:spcBef>
        <a:spcPct val="30000"/>
      </a:spcBef>
      <a:spcAft>
        <a:spcPct val="0"/>
      </a:spcAft>
      <a:defRPr sz="1300" kern="1200">
        <a:solidFill>
          <a:schemeClr val="tx1"/>
        </a:solidFill>
        <a:latin typeface="Arial" panose="020B0604020202020204" pitchFamily="34" charset="0"/>
        <a:ea typeface="+mn-ea"/>
        <a:cs typeface="+mn-cs"/>
      </a:defRPr>
    </a:lvl5pPr>
    <a:lvl6pPr marL="2571115" algn="l" defTabSz="1028700" rtl="0" eaLnBrk="1" latinLnBrk="0" hangingPunct="1">
      <a:defRPr sz="1350" kern="1200">
        <a:solidFill>
          <a:schemeClr val="tx1"/>
        </a:solidFill>
        <a:latin typeface="+mn-lt"/>
        <a:ea typeface="+mn-ea"/>
        <a:cs typeface="+mn-cs"/>
      </a:defRPr>
    </a:lvl6pPr>
    <a:lvl7pPr marL="3085465" algn="l" defTabSz="1028700" rtl="0" eaLnBrk="1" latinLnBrk="0" hangingPunct="1">
      <a:defRPr sz="1350" kern="1200">
        <a:solidFill>
          <a:schemeClr val="tx1"/>
        </a:solidFill>
        <a:latin typeface="+mn-lt"/>
        <a:ea typeface="+mn-ea"/>
        <a:cs typeface="+mn-cs"/>
      </a:defRPr>
    </a:lvl7pPr>
    <a:lvl8pPr marL="3599815" algn="l" defTabSz="1028700" rtl="0" eaLnBrk="1" latinLnBrk="0" hangingPunct="1">
      <a:defRPr sz="1350" kern="1200">
        <a:solidFill>
          <a:schemeClr val="tx1"/>
        </a:solidFill>
        <a:latin typeface="+mn-lt"/>
        <a:ea typeface="+mn-ea"/>
        <a:cs typeface="+mn-cs"/>
      </a:defRPr>
    </a:lvl8pPr>
    <a:lvl9pPr marL="4114165" algn="l" defTabSz="1028700" rtl="0" eaLnBrk="1" latinLnBrk="0" hangingPunct="1">
      <a:defRPr sz="135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idx="4294967295"/>
          </p:nvPr>
        </p:nvSpPr>
        <p:spPr>
          <a:xfrm>
            <a:off x="962025" y="722313"/>
            <a:ext cx="5395913" cy="3597275"/>
          </a:xfrm>
          <a:solidFill>
            <a:srgbClr val="FFFFFF"/>
          </a:solidFill>
        </p:spPr>
      </p:sp>
      <p:sp>
        <p:nvSpPr>
          <p:cNvPr id="198659" name="Rectangle 3"/>
          <p:cNvSpPr>
            <a:spLocks noGrp="1" noChangeArrowheads="1"/>
          </p:cNvSpPr>
          <p:nvPr>
            <p:ph type="body" idx="1"/>
          </p:nvPr>
        </p:nvSpPr>
        <p:spPr>
          <a:xfrm>
            <a:off x="974725" y="4560888"/>
            <a:ext cx="5365750" cy="4318000"/>
          </a:xfrm>
          <a:solidFill>
            <a:srgbClr val="FFFFFF"/>
          </a:solidFill>
          <a:ln w="12700">
            <a:solidFill>
              <a:srgbClr val="000000"/>
            </a:solidFill>
            <a:miter lim="800000"/>
          </a:ln>
        </p:spPr>
        <p:txBody>
          <a:bodyPr lIns="95007" tIns="47499" rIns="95007" bIns="47499"/>
          <a:lstStyle/>
          <a:p>
            <a:pPr defTabSz="1083945">
              <a:defRPr/>
            </a:pPr>
            <a:endParaRPr lang="zh-CN" altLang="en-US" sz="135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809982" y="2236457"/>
            <a:ext cx="9179799" cy="1543186"/>
          </a:xfr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619968" y="4079611"/>
            <a:ext cx="7559834" cy="1839824"/>
          </a:xfrm>
        </p:spPr>
        <p:txBody>
          <a:bodyPr/>
          <a:lstStyle>
            <a:lvl1pPr marL="0" indent="0" algn="ctr">
              <a:buNone/>
              <a:defRPr>
                <a:solidFill>
                  <a:schemeClr val="tx1">
                    <a:tint val="75000"/>
                  </a:schemeClr>
                </a:solidFill>
              </a:defRPr>
            </a:lvl1pPr>
            <a:lvl2pPr marL="434975" indent="0" algn="ctr">
              <a:buNone/>
              <a:defRPr>
                <a:solidFill>
                  <a:schemeClr val="tx1">
                    <a:tint val="75000"/>
                  </a:schemeClr>
                </a:solidFill>
              </a:defRPr>
            </a:lvl2pPr>
            <a:lvl3pPr marL="869950" indent="0" algn="ctr">
              <a:buNone/>
              <a:defRPr>
                <a:solidFill>
                  <a:schemeClr val="tx1">
                    <a:tint val="75000"/>
                  </a:schemeClr>
                </a:solidFill>
              </a:defRPr>
            </a:lvl3pPr>
            <a:lvl4pPr marL="1305560" indent="0" algn="ctr">
              <a:buNone/>
              <a:defRPr>
                <a:solidFill>
                  <a:schemeClr val="tx1">
                    <a:tint val="75000"/>
                  </a:schemeClr>
                </a:solidFill>
              </a:defRPr>
            </a:lvl4pPr>
            <a:lvl5pPr marL="1740535" indent="0" algn="ctr">
              <a:buNone/>
              <a:defRPr>
                <a:solidFill>
                  <a:schemeClr val="tx1">
                    <a:tint val="75000"/>
                  </a:schemeClr>
                </a:solidFill>
              </a:defRPr>
            </a:lvl5pPr>
            <a:lvl6pPr marL="2175510" indent="0" algn="ctr">
              <a:buNone/>
              <a:defRPr>
                <a:solidFill>
                  <a:schemeClr val="tx1">
                    <a:tint val="75000"/>
                  </a:schemeClr>
                </a:solidFill>
              </a:defRPr>
            </a:lvl6pPr>
            <a:lvl7pPr marL="2610485" indent="0" algn="ctr">
              <a:buNone/>
              <a:defRPr>
                <a:solidFill>
                  <a:schemeClr val="tx1">
                    <a:tint val="75000"/>
                  </a:schemeClr>
                </a:solidFill>
              </a:defRPr>
            </a:lvl7pPr>
            <a:lvl8pPr marL="3045460" indent="0" algn="ctr">
              <a:buNone/>
              <a:defRPr>
                <a:solidFill>
                  <a:schemeClr val="tx1">
                    <a:tint val="75000"/>
                  </a:schemeClr>
                </a:solidFill>
              </a:defRPr>
            </a:lvl8pPr>
            <a:lvl9pPr marL="3481070" indent="0" algn="ctr">
              <a:buNone/>
              <a:defRPr>
                <a:solidFill>
                  <a:schemeClr val="tx1">
                    <a:tint val="75000"/>
                  </a:schemeClr>
                </a:solidFill>
              </a:defRPr>
            </a:lvl9pPr>
          </a:lstStyle>
          <a:p>
            <a:r>
              <a:rPr lang="zh-CN" altLang="en-US" noProof="1"/>
              <a:t>单击此处编辑母版副标题样式</a:t>
            </a:r>
            <a:endParaRPr lang="zh-CN" altLang="en-US" noProof="1"/>
          </a:p>
        </p:txBody>
      </p:sp>
      <p:sp>
        <p:nvSpPr>
          <p:cNvPr id="4" name="灯片编号占位符 5"/>
          <p:cNvSpPr>
            <a:spLocks noGrp="1"/>
          </p:cNvSpPr>
          <p:nvPr>
            <p:ph type="sldNum" sz="quarter" idx="10"/>
          </p:nvPr>
        </p:nvSpPr>
        <p:spPr/>
        <p:txBody>
          <a:bodyPr/>
          <a:lstStyle>
            <a:lvl1pPr>
              <a:defRPr/>
            </a:lvl1pPr>
          </a:lstStyle>
          <a:p>
            <a:pPr>
              <a:defRPr/>
            </a:pPr>
            <a:fld id="{9D2F1998-4E36-4D4A-8DF8-47C5DC3FBA54}"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 y="-42921"/>
            <a:ext cx="10799762" cy="1050860"/>
          </a:xfrm>
          <a:solidFill>
            <a:schemeClr val="tx2">
              <a:lumMod val="60000"/>
              <a:lumOff val="40000"/>
            </a:schemeClr>
          </a:solidFill>
        </p:spPr>
        <p:txBody>
          <a:bodyPr>
            <a:normAutofit/>
          </a:bodyPr>
          <a:lstStyle>
            <a:lvl1pPr algn="l">
              <a:defRPr sz="3725">
                <a:solidFill>
                  <a:schemeClr val="bg1"/>
                </a:solidFill>
                <a:latin typeface="微软雅黑" panose="020B0503020204020204" pitchFamily="34" charset="-122"/>
                <a:ea typeface="微软雅黑" panose="020B0503020204020204" pitchFamily="34" charset="-122"/>
              </a:defRPr>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576054" y="1079933"/>
            <a:ext cx="9863647" cy="5351130"/>
          </a:xfrm>
        </p:spPr>
        <p:txBody>
          <a:bodyPr/>
          <a:lstStyle>
            <a:lvl1pPr>
              <a:lnSpc>
                <a:spcPct val="150000"/>
              </a:lnSpc>
              <a:spcBef>
                <a:spcPts val="0"/>
              </a:spcBef>
              <a:defRPr/>
            </a:lvl1pPr>
            <a:lvl2pPr>
              <a:lnSpc>
                <a:spcPct val="150000"/>
              </a:lnSpc>
              <a:spcBef>
                <a:spcPts val="0"/>
              </a:spcBef>
              <a:defRPr/>
            </a:lvl2pPr>
            <a:lvl3pPr>
              <a:lnSpc>
                <a:spcPct val="150000"/>
              </a:lnSpc>
              <a:spcBef>
                <a:spcPts val="0"/>
              </a:spcBef>
              <a:defRPr/>
            </a:lvl3pPr>
            <a:lvl4pPr>
              <a:lnSpc>
                <a:spcPct val="150000"/>
              </a:lnSpc>
              <a:spcBef>
                <a:spcPts val="0"/>
              </a:spcBef>
              <a:defRPr/>
            </a:lvl4pPr>
            <a:lvl5pPr>
              <a:lnSpc>
                <a:spcPct val="150000"/>
              </a:lnSpc>
              <a:spcBef>
                <a:spcPts val="0"/>
              </a:spcBef>
              <a:defRPr/>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灯片编号占位符 5"/>
          <p:cNvSpPr>
            <a:spLocks noGrp="1"/>
          </p:cNvSpPr>
          <p:nvPr>
            <p:ph type="sldNum" sz="quarter" idx="10"/>
          </p:nvPr>
        </p:nvSpPr>
        <p:spPr/>
        <p:txBody>
          <a:bodyPr/>
          <a:lstStyle>
            <a:lvl1pPr>
              <a:defRPr/>
            </a:lvl1pPr>
          </a:lstStyle>
          <a:p>
            <a:pPr>
              <a:defRPr/>
            </a:pPr>
            <a:fld id="{8715836A-C318-45E2-B122-5694C775F552}"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53107" y="4626235"/>
            <a:ext cx="9179799" cy="1429864"/>
          </a:xfrm>
        </p:spPr>
        <p:txBody>
          <a:bodyPr anchor="t"/>
          <a:lstStyle>
            <a:lvl1pPr algn="l">
              <a:defRPr sz="381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853107" y="3051377"/>
            <a:ext cx="9179799" cy="1574849"/>
          </a:xfrm>
        </p:spPr>
        <p:txBody>
          <a:bodyPr anchor="b"/>
          <a:lstStyle>
            <a:lvl1pPr marL="0" indent="0">
              <a:buNone/>
              <a:defRPr sz="1945">
                <a:solidFill>
                  <a:schemeClr val="tx1">
                    <a:tint val="75000"/>
                  </a:schemeClr>
                </a:solidFill>
              </a:defRPr>
            </a:lvl1pPr>
            <a:lvl2pPr marL="434975" indent="0">
              <a:buNone/>
              <a:defRPr sz="1695">
                <a:solidFill>
                  <a:schemeClr val="tx1">
                    <a:tint val="75000"/>
                  </a:schemeClr>
                </a:solidFill>
              </a:defRPr>
            </a:lvl2pPr>
            <a:lvl3pPr marL="869950" indent="0">
              <a:buNone/>
              <a:defRPr sz="1525">
                <a:solidFill>
                  <a:schemeClr val="tx1">
                    <a:tint val="75000"/>
                  </a:schemeClr>
                </a:solidFill>
              </a:defRPr>
            </a:lvl3pPr>
            <a:lvl4pPr marL="1305560" indent="0">
              <a:buNone/>
              <a:defRPr sz="1355">
                <a:solidFill>
                  <a:schemeClr val="tx1">
                    <a:tint val="75000"/>
                  </a:schemeClr>
                </a:solidFill>
              </a:defRPr>
            </a:lvl4pPr>
            <a:lvl5pPr marL="1740535" indent="0">
              <a:buNone/>
              <a:defRPr sz="1355">
                <a:solidFill>
                  <a:schemeClr val="tx1">
                    <a:tint val="75000"/>
                  </a:schemeClr>
                </a:solidFill>
              </a:defRPr>
            </a:lvl5pPr>
            <a:lvl6pPr marL="2175510" indent="0">
              <a:buNone/>
              <a:defRPr sz="1355">
                <a:solidFill>
                  <a:schemeClr val="tx1">
                    <a:tint val="75000"/>
                  </a:schemeClr>
                </a:solidFill>
              </a:defRPr>
            </a:lvl6pPr>
            <a:lvl7pPr marL="2610485" indent="0">
              <a:buNone/>
              <a:defRPr sz="1355">
                <a:solidFill>
                  <a:schemeClr val="tx1">
                    <a:tint val="75000"/>
                  </a:schemeClr>
                </a:solidFill>
              </a:defRPr>
            </a:lvl7pPr>
            <a:lvl8pPr marL="3045460" indent="0">
              <a:buNone/>
              <a:defRPr sz="1355">
                <a:solidFill>
                  <a:schemeClr val="tx1">
                    <a:tint val="75000"/>
                  </a:schemeClr>
                </a:solidFill>
              </a:defRPr>
            </a:lvl8pPr>
            <a:lvl9pPr marL="3481070" indent="0">
              <a:buNone/>
              <a:defRPr sz="1355">
                <a:solidFill>
                  <a:schemeClr val="tx1">
                    <a:tint val="75000"/>
                  </a:schemeClr>
                </a:solidFill>
              </a:defRPr>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nvPr>
        </p:nvSpPr>
        <p:spPr>
          <a:xfrm>
            <a:off x="539750" y="6672263"/>
            <a:ext cx="2520950" cy="384175"/>
          </a:xfrm>
          <a:prstGeom prst="rect">
            <a:avLst/>
          </a:prstGeom>
        </p:spPr>
        <p:txBody>
          <a:bodyPr/>
          <a:lstStyle>
            <a:lvl1pPr eaLnBrk="1" hangingPunct="1">
              <a:defRPr sz="1575">
                <a:ea typeface="+mn-ea"/>
              </a:defRPr>
            </a:lvl1pPr>
          </a:lstStyle>
          <a:p>
            <a:pPr>
              <a:defRPr/>
            </a:pPr>
            <a:fld id="{174C3B1E-C280-4904-B67A-A54551EAA0D1}" type="datetime1">
              <a:rPr lang="zh-CN" altLang="en-US"/>
            </a:fld>
            <a:endParaRPr lang="en-US" altLang="zh-CN"/>
          </a:p>
        </p:txBody>
      </p:sp>
      <p:sp>
        <p:nvSpPr>
          <p:cNvPr id="5" name="页脚占位符 4"/>
          <p:cNvSpPr>
            <a:spLocks noGrp="1"/>
          </p:cNvSpPr>
          <p:nvPr>
            <p:ph type="ftr" sz="quarter" idx="11"/>
          </p:nvPr>
        </p:nvSpPr>
        <p:spPr>
          <a:xfrm>
            <a:off x="3690938" y="6672263"/>
            <a:ext cx="3417887" cy="384175"/>
          </a:xfrm>
          <a:prstGeom prst="rect">
            <a:avLst/>
          </a:prstGeom>
        </p:spPr>
        <p:txBody>
          <a:bodyPr/>
          <a:lstStyle>
            <a:lvl1pPr eaLnBrk="1" hangingPunct="1">
              <a:defRPr sz="1575">
                <a:ea typeface="+mn-ea"/>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8B212F2C-804B-4DDC-8918-4501259C1C36}"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637487" y="1763166"/>
            <a:ext cx="5651126" cy="4989524"/>
          </a:xfrm>
        </p:spPr>
        <p:txBody>
          <a:bodyPr/>
          <a:lstStyle>
            <a:lvl1pPr>
              <a:defRPr sz="2710"/>
            </a:lvl1pPr>
            <a:lvl2pPr>
              <a:defRPr sz="2285"/>
            </a:lvl2pPr>
            <a:lvl3pPr>
              <a:defRPr sz="1945"/>
            </a:lvl3pPr>
            <a:lvl4pPr>
              <a:defRPr sz="1695"/>
            </a:lvl4pPr>
            <a:lvl5pPr>
              <a:defRPr sz="1695"/>
            </a:lvl5pPr>
            <a:lvl6pPr>
              <a:defRPr sz="1695"/>
            </a:lvl6pPr>
            <a:lvl7pPr>
              <a:defRPr sz="1695"/>
            </a:lvl7pPr>
            <a:lvl8pPr>
              <a:defRPr sz="1695"/>
            </a:lvl8pPr>
            <a:lvl9pPr>
              <a:defRPr sz="1695"/>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6468609" y="1763166"/>
            <a:ext cx="5651126" cy="4989524"/>
          </a:xfrm>
        </p:spPr>
        <p:txBody>
          <a:bodyPr/>
          <a:lstStyle>
            <a:lvl1pPr>
              <a:defRPr sz="2710"/>
            </a:lvl1pPr>
            <a:lvl2pPr>
              <a:defRPr sz="2285"/>
            </a:lvl2pPr>
            <a:lvl3pPr>
              <a:defRPr sz="1945"/>
            </a:lvl3pPr>
            <a:lvl4pPr>
              <a:defRPr sz="1695"/>
            </a:lvl4pPr>
            <a:lvl5pPr>
              <a:defRPr sz="1695"/>
            </a:lvl5pPr>
            <a:lvl6pPr>
              <a:defRPr sz="1695"/>
            </a:lvl6pPr>
            <a:lvl7pPr>
              <a:defRPr sz="1695"/>
            </a:lvl7pPr>
            <a:lvl8pPr>
              <a:defRPr sz="1695"/>
            </a:lvl8pPr>
            <a:lvl9pPr>
              <a:defRPr sz="1695"/>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a:xfrm>
            <a:off x="539750" y="6672263"/>
            <a:ext cx="2520950" cy="384175"/>
          </a:xfrm>
          <a:prstGeom prst="rect">
            <a:avLst/>
          </a:prstGeom>
        </p:spPr>
        <p:txBody>
          <a:bodyPr/>
          <a:lstStyle>
            <a:lvl1pPr eaLnBrk="1" hangingPunct="1">
              <a:defRPr sz="1575">
                <a:ea typeface="+mn-ea"/>
              </a:defRPr>
            </a:lvl1pPr>
          </a:lstStyle>
          <a:p>
            <a:pPr>
              <a:defRPr/>
            </a:pPr>
            <a:fld id="{0AA54484-74EA-4387-BB4C-0E79918114E8}" type="datetime1">
              <a:rPr lang="zh-CN" altLang="en-US"/>
            </a:fld>
            <a:endParaRPr lang="en-US" altLang="zh-CN"/>
          </a:p>
        </p:txBody>
      </p:sp>
      <p:sp>
        <p:nvSpPr>
          <p:cNvPr id="6" name="页脚占位符 5"/>
          <p:cNvSpPr>
            <a:spLocks noGrp="1"/>
          </p:cNvSpPr>
          <p:nvPr>
            <p:ph type="ftr" sz="quarter" idx="11"/>
          </p:nvPr>
        </p:nvSpPr>
        <p:spPr>
          <a:xfrm>
            <a:off x="3690938" y="6672263"/>
            <a:ext cx="3417887" cy="384175"/>
          </a:xfrm>
          <a:prstGeom prst="rect">
            <a:avLst/>
          </a:prstGeom>
        </p:spPr>
        <p:txBody>
          <a:bodyPr/>
          <a:lstStyle>
            <a:lvl1pPr eaLnBrk="1" hangingPunct="1">
              <a:defRPr sz="1575">
                <a:ea typeface="+mn-ea"/>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vl1pPr>
          </a:lstStyle>
          <a:p>
            <a:pPr>
              <a:defRPr/>
            </a:pPr>
            <a:fld id="{68882968-9564-4E23-889E-14C9BB28083D}"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39992" y="288306"/>
            <a:ext cx="9719787" cy="1199886"/>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539988" y="1611513"/>
            <a:ext cx="4771771" cy="671602"/>
          </a:xfrm>
        </p:spPr>
        <p:txBody>
          <a:bodyPr anchor="b"/>
          <a:lstStyle>
            <a:lvl1pPr marL="0" indent="0">
              <a:buNone/>
              <a:defRPr sz="2285" b="1"/>
            </a:lvl1pPr>
            <a:lvl2pPr marL="434975" indent="0">
              <a:buNone/>
              <a:defRPr sz="1945" b="1"/>
            </a:lvl2pPr>
            <a:lvl3pPr marL="869950" indent="0">
              <a:buNone/>
              <a:defRPr sz="1695" b="1"/>
            </a:lvl3pPr>
            <a:lvl4pPr marL="1305560" indent="0">
              <a:buNone/>
              <a:defRPr sz="1525" b="1"/>
            </a:lvl4pPr>
            <a:lvl5pPr marL="1740535" indent="0">
              <a:buNone/>
              <a:defRPr sz="1525" b="1"/>
            </a:lvl5pPr>
            <a:lvl6pPr marL="2175510" indent="0">
              <a:buNone/>
              <a:defRPr sz="1525" b="1"/>
            </a:lvl6pPr>
            <a:lvl7pPr marL="2610485" indent="0">
              <a:buNone/>
              <a:defRPr sz="1525" b="1"/>
            </a:lvl7pPr>
            <a:lvl8pPr marL="3045460" indent="0">
              <a:buNone/>
              <a:defRPr sz="1525" b="1"/>
            </a:lvl8pPr>
            <a:lvl9pPr marL="3481070" indent="0">
              <a:buNone/>
              <a:defRPr sz="1525"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539988" y="2283115"/>
            <a:ext cx="4771771" cy="4147938"/>
          </a:xfrm>
        </p:spPr>
        <p:txBody>
          <a:bodyPr/>
          <a:lstStyle>
            <a:lvl1pPr>
              <a:defRPr sz="2285"/>
            </a:lvl1pPr>
            <a:lvl2pPr>
              <a:defRPr sz="1945"/>
            </a:lvl2pPr>
            <a:lvl3pPr>
              <a:defRPr sz="1695"/>
            </a:lvl3pPr>
            <a:lvl4pPr>
              <a:defRPr sz="1525"/>
            </a:lvl4pPr>
            <a:lvl5pPr>
              <a:defRPr sz="1525"/>
            </a:lvl5pPr>
            <a:lvl6pPr>
              <a:defRPr sz="1525"/>
            </a:lvl6pPr>
            <a:lvl7pPr>
              <a:defRPr sz="1525"/>
            </a:lvl7pPr>
            <a:lvl8pPr>
              <a:defRPr sz="1525"/>
            </a:lvl8pPr>
            <a:lvl9pPr>
              <a:defRPr sz="1525"/>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5486141" y="1611513"/>
            <a:ext cx="4773645" cy="671602"/>
          </a:xfrm>
        </p:spPr>
        <p:txBody>
          <a:bodyPr anchor="b"/>
          <a:lstStyle>
            <a:lvl1pPr marL="0" indent="0">
              <a:buNone/>
              <a:defRPr sz="2285" b="1"/>
            </a:lvl1pPr>
            <a:lvl2pPr marL="434975" indent="0">
              <a:buNone/>
              <a:defRPr sz="1945" b="1"/>
            </a:lvl2pPr>
            <a:lvl3pPr marL="869950" indent="0">
              <a:buNone/>
              <a:defRPr sz="1695" b="1"/>
            </a:lvl3pPr>
            <a:lvl4pPr marL="1305560" indent="0">
              <a:buNone/>
              <a:defRPr sz="1525" b="1"/>
            </a:lvl4pPr>
            <a:lvl5pPr marL="1740535" indent="0">
              <a:buNone/>
              <a:defRPr sz="1525" b="1"/>
            </a:lvl5pPr>
            <a:lvl6pPr marL="2175510" indent="0">
              <a:buNone/>
              <a:defRPr sz="1525" b="1"/>
            </a:lvl6pPr>
            <a:lvl7pPr marL="2610485" indent="0">
              <a:buNone/>
              <a:defRPr sz="1525" b="1"/>
            </a:lvl7pPr>
            <a:lvl8pPr marL="3045460" indent="0">
              <a:buNone/>
              <a:defRPr sz="1525" b="1"/>
            </a:lvl8pPr>
            <a:lvl9pPr marL="3481070" indent="0">
              <a:buNone/>
              <a:defRPr sz="1525"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5486141" y="2283115"/>
            <a:ext cx="4773645" cy="4147938"/>
          </a:xfrm>
        </p:spPr>
        <p:txBody>
          <a:bodyPr/>
          <a:lstStyle>
            <a:lvl1pPr>
              <a:defRPr sz="2285"/>
            </a:lvl1pPr>
            <a:lvl2pPr>
              <a:defRPr sz="1945"/>
            </a:lvl2pPr>
            <a:lvl3pPr>
              <a:defRPr sz="1695"/>
            </a:lvl3pPr>
            <a:lvl4pPr>
              <a:defRPr sz="1525"/>
            </a:lvl4pPr>
            <a:lvl5pPr>
              <a:defRPr sz="1525"/>
            </a:lvl5pPr>
            <a:lvl6pPr>
              <a:defRPr sz="1525"/>
            </a:lvl6pPr>
            <a:lvl7pPr>
              <a:defRPr sz="1525"/>
            </a:lvl7pPr>
            <a:lvl8pPr>
              <a:defRPr sz="1525"/>
            </a:lvl8pPr>
            <a:lvl9pPr>
              <a:defRPr sz="1525"/>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6"/>
          <p:cNvSpPr>
            <a:spLocks noGrp="1"/>
          </p:cNvSpPr>
          <p:nvPr>
            <p:ph type="dt" sz="half" idx="10"/>
          </p:nvPr>
        </p:nvSpPr>
        <p:spPr>
          <a:xfrm>
            <a:off x="539750" y="6672263"/>
            <a:ext cx="2520950" cy="384175"/>
          </a:xfrm>
          <a:prstGeom prst="rect">
            <a:avLst/>
          </a:prstGeom>
        </p:spPr>
        <p:txBody>
          <a:bodyPr/>
          <a:lstStyle>
            <a:lvl1pPr eaLnBrk="1" hangingPunct="1">
              <a:defRPr sz="1575">
                <a:ea typeface="+mn-ea"/>
              </a:defRPr>
            </a:lvl1pPr>
          </a:lstStyle>
          <a:p>
            <a:pPr>
              <a:defRPr/>
            </a:pPr>
            <a:fld id="{2E05E68E-F315-44DF-82F1-28155C6EF677}" type="datetime1">
              <a:rPr lang="zh-CN" altLang="en-US"/>
            </a:fld>
            <a:endParaRPr lang="en-US" altLang="zh-CN"/>
          </a:p>
        </p:txBody>
      </p:sp>
      <p:sp>
        <p:nvSpPr>
          <p:cNvPr id="8" name="页脚占位符 7"/>
          <p:cNvSpPr>
            <a:spLocks noGrp="1"/>
          </p:cNvSpPr>
          <p:nvPr>
            <p:ph type="ftr" sz="quarter" idx="11"/>
          </p:nvPr>
        </p:nvSpPr>
        <p:spPr>
          <a:xfrm>
            <a:off x="3690938" y="6672263"/>
            <a:ext cx="3417887" cy="384175"/>
          </a:xfrm>
          <a:prstGeom prst="rect">
            <a:avLst/>
          </a:prstGeom>
        </p:spPr>
        <p:txBody>
          <a:bodyPr/>
          <a:lstStyle>
            <a:lvl1pPr eaLnBrk="1" hangingPunct="1">
              <a:defRPr sz="1575">
                <a:ea typeface="+mn-ea"/>
              </a:defRPr>
            </a:lvl1pPr>
          </a:lstStyle>
          <a:p>
            <a:pPr>
              <a:defRPr/>
            </a:pPr>
            <a:endParaRPr lang="en-US" altLang="zh-CN"/>
          </a:p>
        </p:txBody>
      </p:sp>
      <p:sp>
        <p:nvSpPr>
          <p:cNvPr id="9" name="灯片编号占位符 8"/>
          <p:cNvSpPr>
            <a:spLocks noGrp="1"/>
          </p:cNvSpPr>
          <p:nvPr>
            <p:ph type="sldNum" sz="quarter" idx="12"/>
          </p:nvPr>
        </p:nvSpPr>
        <p:spPr/>
        <p:txBody>
          <a:bodyPr/>
          <a:lstStyle>
            <a:lvl1pPr>
              <a:defRPr/>
            </a:lvl1pPr>
          </a:lstStyle>
          <a:p>
            <a:pPr>
              <a:defRPr/>
            </a:pPr>
            <a:fld id="{E3DCAE93-C017-42B5-84A2-7C4F512CB263}"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2"/>
          <p:cNvSpPr>
            <a:spLocks noGrp="1"/>
          </p:cNvSpPr>
          <p:nvPr>
            <p:ph type="dt" sz="half" idx="10"/>
          </p:nvPr>
        </p:nvSpPr>
        <p:spPr>
          <a:xfrm>
            <a:off x="539750" y="6672263"/>
            <a:ext cx="2520950" cy="384175"/>
          </a:xfrm>
          <a:prstGeom prst="rect">
            <a:avLst/>
          </a:prstGeom>
        </p:spPr>
        <p:txBody>
          <a:bodyPr/>
          <a:lstStyle>
            <a:lvl1pPr eaLnBrk="1" hangingPunct="1">
              <a:defRPr sz="1575">
                <a:ea typeface="+mn-ea"/>
              </a:defRPr>
            </a:lvl1pPr>
          </a:lstStyle>
          <a:p>
            <a:pPr>
              <a:defRPr/>
            </a:pPr>
            <a:fld id="{431CDB67-8095-40A6-8E07-16AD06C50AD0}" type="datetime1">
              <a:rPr lang="zh-CN" altLang="en-US"/>
            </a:fld>
            <a:endParaRPr lang="en-US" altLang="zh-CN"/>
          </a:p>
        </p:txBody>
      </p:sp>
      <p:sp>
        <p:nvSpPr>
          <p:cNvPr id="4" name="页脚占位符 3"/>
          <p:cNvSpPr>
            <a:spLocks noGrp="1"/>
          </p:cNvSpPr>
          <p:nvPr>
            <p:ph type="ftr" sz="quarter" idx="11"/>
          </p:nvPr>
        </p:nvSpPr>
        <p:spPr>
          <a:xfrm>
            <a:off x="3690938" y="6672263"/>
            <a:ext cx="3417887" cy="384175"/>
          </a:xfrm>
          <a:prstGeom prst="rect">
            <a:avLst/>
          </a:prstGeom>
        </p:spPr>
        <p:txBody>
          <a:bodyPr/>
          <a:lstStyle>
            <a:lvl1pPr eaLnBrk="1" hangingPunct="1">
              <a:defRPr sz="1575">
                <a:ea typeface="+mn-ea"/>
              </a:defRPr>
            </a:lvl1pPr>
          </a:lstStyle>
          <a:p>
            <a:pPr>
              <a:defRPr/>
            </a:pPr>
            <a:endParaRPr lang="en-US" altLang="zh-CN"/>
          </a:p>
        </p:txBody>
      </p:sp>
      <p:sp>
        <p:nvSpPr>
          <p:cNvPr id="5" name="灯片编号占位符 4"/>
          <p:cNvSpPr>
            <a:spLocks noGrp="1"/>
          </p:cNvSpPr>
          <p:nvPr>
            <p:ph type="sldNum" sz="quarter" idx="12"/>
          </p:nvPr>
        </p:nvSpPr>
        <p:spPr/>
        <p:txBody>
          <a:bodyPr/>
          <a:lstStyle>
            <a:lvl1pPr>
              <a:defRPr/>
            </a:lvl1pPr>
          </a:lstStyle>
          <a:p>
            <a:pPr>
              <a:defRPr/>
            </a:pPr>
            <a:fld id="{60D80059-4DB9-4DF2-937B-00876E0FE17E}"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539750" y="6672263"/>
            <a:ext cx="2520950" cy="384175"/>
          </a:xfrm>
          <a:prstGeom prst="rect">
            <a:avLst/>
          </a:prstGeom>
        </p:spPr>
        <p:txBody>
          <a:bodyPr/>
          <a:lstStyle>
            <a:lvl1pPr eaLnBrk="1" hangingPunct="1">
              <a:defRPr sz="1575">
                <a:ea typeface="+mn-ea"/>
              </a:defRPr>
            </a:lvl1pPr>
          </a:lstStyle>
          <a:p>
            <a:pPr>
              <a:defRPr/>
            </a:pPr>
            <a:fld id="{3644A642-A962-43CF-8511-862C0D9CCDFC}" type="datetime1">
              <a:rPr lang="zh-CN" altLang="en-US"/>
            </a:fld>
            <a:endParaRPr lang="en-US" altLang="zh-CN"/>
          </a:p>
        </p:txBody>
      </p:sp>
      <p:sp>
        <p:nvSpPr>
          <p:cNvPr id="3" name="页脚占位符 2"/>
          <p:cNvSpPr>
            <a:spLocks noGrp="1"/>
          </p:cNvSpPr>
          <p:nvPr>
            <p:ph type="ftr" sz="quarter" idx="11"/>
          </p:nvPr>
        </p:nvSpPr>
        <p:spPr>
          <a:xfrm>
            <a:off x="3690938" y="6672263"/>
            <a:ext cx="3417887" cy="384175"/>
          </a:xfrm>
          <a:prstGeom prst="rect">
            <a:avLst/>
          </a:prstGeom>
        </p:spPr>
        <p:txBody>
          <a:bodyPr/>
          <a:lstStyle>
            <a:lvl1pPr eaLnBrk="1" hangingPunct="1">
              <a:defRPr sz="1575">
                <a:ea typeface="+mn-ea"/>
              </a:defRPr>
            </a:lvl1pPr>
          </a:lstStyle>
          <a:p>
            <a:pPr>
              <a:defRPr/>
            </a:pPr>
            <a:endParaRPr lang="en-US" altLang="zh-CN"/>
          </a:p>
        </p:txBody>
      </p:sp>
      <p:sp>
        <p:nvSpPr>
          <p:cNvPr id="4" name="灯片编号占位符 3"/>
          <p:cNvSpPr>
            <a:spLocks noGrp="1"/>
          </p:cNvSpPr>
          <p:nvPr>
            <p:ph type="sldNum" sz="quarter" idx="12"/>
          </p:nvPr>
        </p:nvSpPr>
        <p:spPr/>
        <p:txBody>
          <a:bodyPr/>
          <a:lstStyle>
            <a:lvl1pPr>
              <a:defRPr/>
            </a:lvl1pPr>
          </a:lstStyle>
          <a:p>
            <a:pPr>
              <a:defRPr/>
            </a:pPr>
            <a:fld id="{8301ABEE-8F7F-4DAE-ABFE-8ECA40546A4D}"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39990" y="286639"/>
            <a:ext cx="3553048" cy="1219884"/>
          </a:xfrm>
        </p:spPr>
        <p:txBody>
          <a:bodyPr anchor="b"/>
          <a:lstStyle>
            <a:lvl1pPr algn="l">
              <a:defRPr sz="1945"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4222409" y="286649"/>
            <a:ext cx="6037368" cy="6144414"/>
          </a:xfrm>
        </p:spPr>
        <p:txBody>
          <a:bodyPr/>
          <a:lstStyle>
            <a:lvl1pPr>
              <a:defRPr sz="3050"/>
            </a:lvl1pPr>
            <a:lvl2pPr>
              <a:defRPr sz="2710"/>
            </a:lvl2pPr>
            <a:lvl3pPr>
              <a:defRPr sz="2285"/>
            </a:lvl3pPr>
            <a:lvl4pPr>
              <a:defRPr sz="1945"/>
            </a:lvl4pPr>
            <a:lvl5pPr>
              <a:defRPr sz="1945"/>
            </a:lvl5pPr>
            <a:lvl6pPr>
              <a:defRPr sz="1945"/>
            </a:lvl6pPr>
            <a:lvl7pPr>
              <a:defRPr sz="1945"/>
            </a:lvl7pPr>
            <a:lvl8pPr>
              <a:defRPr sz="1945"/>
            </a:lvl8pPr>
            <a:lvl9pPr>
              <a:defRPr sz="1945"/>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539990" y="1506533"/>
            <a:ext cx="3553048" cy="4924531"/>
          </a:xfrm>
        </p:spPr>
        <p:txBody>
          <a:bodyPr/>
          <a:lstStyle>
            <a:lvl1pPr marL="0" indent="0">
              <a:buNone/>
              <a:defRPr sz="1355"/>
            </a:lvl1pPr>
            <a:lvl2pPr marL="434975" indent="0">
              <a:buNone/>
              <a:defRPr sz="1185"/>
            </a:lvl2pPr>
            <a:lvl3pPr marL="869950" indent="0">
              <a:buNone/>
              <a:defRPr sz="930"/>
            </a:lvl3pPr>
            <a:lvl4pPr marL="1305560" indent="0">
              <a:buNone/>
              <a:defRPr sz="845"/>
            </a:lvl4pPr>
            <a:lvl5pPr marL="1740535" indent="0">
              <a:buNone/>
              <a:defRPr sz="845"/>
            </a:lvl5pPr>
            <a:lvl6pPr marL="2175510" indent="0">
              <a:buNone/>
              <a:defRPr sz="845"/>
            </a:lvl6pPr>
            <a:lvl7pPr marL="2610485" indent="0">
              <a:buNone/>
              <a:defRPr sz="845"/>
            </a:lvl7pPr>
            <a:lvl8pPr marL="3045460" indent="0">
              <a:buNone/>
              <a:defRPr sz="845"/>
            </a:lvl8pPr>
            <a:lvl9pPr marL="3481070" indent="0">
              <a:buNone/>
              <a:defRPr sz="845"/>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a:xfrm>
            <a:off x="539750" y="6672263"/>
            <a:ext cx="2520950" cy="384175"/>
          </a:xfrm>
          <a:prstGeom prst="rect">
            <a:avLst/>
          </a:prstGeom>
        </p:spPr>
        <p:txBody>
          <a:bodyPr/>
          <a:lstStyle>
            <a:lvl1pPr eaLnBrk="1" hangingPunct="1">
              <a:defRPr sz="1575">
                <a:ea typeface="+mn-ea"/>
              </a:defRPr>
            </a:lvl1pPr>
          </a:lstStyle>
          <a:p>
            <a:pPr>
              <a:defRPr/>
            </a:pPr>
            <a:fld id="{B30CB81F-A56C-4D30-A8C0-EE4F37E21C54}" type="datetime1">
              <a:rPr lang="zh-CN" altLang="en-US"/>
            </a:fld>
            <a:endParaRPr lang="en-US" altLang="zh-CN"/>
          </a:p>
        </p:txBody>
      </p:sp>
      <p:sp>
        <p:nvSpPr>
          <p:cNvPr id="6" name="页脚占位符 5"/>
          <p:cNvSpPr>
            <a:spLocks noGrp="1"/>
          </p:cNvSpPr>
          <p:nvPr>
            <p:ph type="ftr" sz="quarter" idx="11"/>
          </p:nvPr>
        </p:nvSpPr>
        <p:spPr>
          <a:xfrm>
            <a:off x="3690938" y="6672263"/>
            <a:ext cx="3417887" cy="384175"/>
          </a:xfrm>
          <a:prstGeom prst="rect">
            <a:avLst/>
          </a:prstGeom>
        </p:spPr>
        <p:txBody>
          <a:bodyPr/>
          <a:lstStyle>
            <a:lvl1pPr eaLnBrk="1" hangingPunct="1">
              <a:defRPr sz="1575">
                <a:ea typeface="+mn-ea"/>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vl1pPr>
          </a:lstStyle>
          <a:p>
            <a:pPr>
              <a:defRPr/>
            </a:pPr>
            <a:fld id="{E3FA7458-18DD-407C-8B7E-06C49373CC5B}"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116829" y="5039520"/>
            <a:ext cx="6479858" cy="594944"/>
          </a:xfrm>
        </p:spPr>
        <p:txBody>
          <a:bodyPr anchor="b"/>
          <a:lstStyle>
            <a:lvl1pPr algn="l">
              <a:defRPr sz="1945"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2116829" y="643272"/>
            <a:ext cx="6479858" cy="4319588"/>
          </a:xfrm>
        </p:spPr>
        <p:txBody>
          <a:bodyPr rtlCol="0">
            <a:normAutofit/>
          </a:bodyPr>
          <a:lstStyle>
            <a:lvl1pPr marL="0" indent="0">
              <a:buNone/>
              <a:defRPr sz="3050"/>
            </a:lvl1pPr>
            <a:lvl2pPr marL="434975" indent="0">
              <a:buNone/>
              <a:defRPr sz="2710"/>
            </a:lvl2pPr>
            <a:lvl3pPr marL="869950" indent="0">
              <a:buNone/>
              <a:defRPr sz="2285"/>
            </a:lvl3pPr>
            <a:lvl4pPr marL="1305560" indent="0">
              <a:buNone/>
              <a:defRPr sz="1945"/>
            </a:lvl4pPr>
            <a:lvl5pPr marL="1740535" indent="0">
              <a:buNone/>
              <a:defRPr sz="1945"/>
            </a:lvl5pPr>
            <a:lvl6pPr marL="2175510" indent="0">
              <a:buNone/>
              <a:defRPr sz="1945"/>
            </a:lvl6pPr>
            <a:lvl7pPr marL="2610485" indent="0">
              <a:buNone/>
              <a:defRPr sz="1945"/>
            </a:lvl7pPr>
            <a:lvl8pPr marL="3045460" indent="0">
              <a:buNone/>
              <a:defRPr sz="1945"/>
            </a:lvl8pPr>
            <a:lvl9pPr marL="3481070" indent="0">
              <a:buNone/>
              <a:defRPr sz="1945"/>
            </a:lvl9pPr>
          </a:lstStyle>
          <a:p>
            <a:pPr lvl="0"/>
            <a:r>
              <a:rPr lang="zh-CN" altLang="en-US" noProof="0"/>
              <a:t>单击图标添加图片</a:t>
            </a:r>
            <a:endParaRPr lang="zh-CN" altLang="en-US" noProof="0"/>
          </a:p>
        </p:txBody>
      </p:sp>
      <p:sp>
        <p:nvSpPr>
          <p:cNvPr id="4" name="文本占位符 3"/>
          <p:cNvSpPr>
            <a:spLocks noGrp="1"/>
          </p:cNvSpPr>
          <p:nvPr>
            <p:ph type="body" sz="half" idx="2"/>
          </p:nvPr>
        </p:nvSpPr>
        <p:spPr>
          <a:xfrm>
            <a:off x="2116829" y="5634464"/>
            <a:ext cx="6479858" cy="844919"/>
          </a:xfrm>
        </p:spPr>
        <p:txBody>
          <a:bodyPr/>
          <a:lstStyle>
            <a:lvl1pPr marL="0" indent="0">
              <a:buNone/>
              <a:defRPr sz="1355"/>
            </a:lvl1pPr>
            <a:lvl2pPr marL="434975" indent="0">
              <a:buNone/>
              <a:defRPr sz="1185"/>
            </a:lvl2pPr>
            <a:lvl3pPr marL="869950" indent="0">
              <a:buNone/>
              <a:defRPr sz="930"/>
            </a:lvl3pPr>
            <a:lvl4pPr marL="1305560" indent="0">
              <a:buNone/>
              <a:defRPr sz="845"/>
            </a:lvl4pPr>
            <a:lvl5pPr marL="1740535" indent="0">
              <a:buNone/>
              <a:defRPr sz="845"/>
            </a:lvl5pPr>
            <a:lvl6pPr marL="2175510" indent="0">
              <a:buNone/>
              <a:defRPr sz="845"/>
            </a:lvl6pPr>
            <a:lvl7pPr marL="2610485" indent="0">
              <a:buNone/>
              <a:defRPr sz="845"/>
            </a:lvl7pPr>
            <a:lvl8pPr marL="3045460" indent="0">
              <a:buNone/>
              <a:defRPr sz="845"/>
            </a:lvl8pPr>
            <a:lvl9pPr marL="3481070" indent="0">
              <a:buNone/>
              <a:defRPr sz="845"/>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a:xfrm>
            <a:off x="539750" y="6672263"/>
            <a:ext cx="2520950" cy="384175"/>
          </a:xfrm>
          <a:prstGeom prst="rect">
            <a:avLst/>
          </a:prstGeom>
        </p:spPr>
        <p:txBody>
          <a:bodyPr/>
          <a:lstStyle>
            <a:lvl1pPr eaLnBrk="1" hangingPunct="1">
              <a:defRPr sz="1575">
                <a:ea typeface="+mn-ea"/>
              </a:defRPr>
            </a:lvl1pPr>
          </a:lstStyle>
          <a:p>
            <a:pPr>
              <a:defRPr/>
            </a:pPr>
            <a:fld id="{1241D224-5E1A-4D7B-8105-2A84E84C9EC9}" type="datetime1">
              <a:rPr lang="zh-CN" altLang="en-US"/>
            </a:fld>
            <a:endParaRPr lang="en-US" altLang="zh-CN"/>
          </a:p>
        </p:txBody>
      </p:sp>
      <p:sp>
        <p:nvSpPr>
          <p:cNvPr id="6" name="页脚占位符 5"/>
          <p:cNvSpPr>
            <a:spLocks noGrp="1"/>
          </p:cNvSpPr>
          <p:nvPr>
            <p:ph type="ftr" sz="quarter" idx="11"/>
          </p:nvPr>
        </p:nvSpPr>
        <p:spPr>
          <a:xfrm>
            <a:off x="3690938" y="6672263"/>
            <a:ext cx="3417887" cy="384175"/>
          </a:xfrm>
          <a:prstGeom prst="rect">
            <a:avLst/>
          </a:prstGeom>
        </p:spPr>
        <p:txBody>
          <a:bodyPr/>
          <a:lstStyle>
            <a:lvl1pPr eaLnBrk="1" hangingPunct="1">
              <a:defRPr sz="1575">
                <a:ea typeface="+mn-ea"/>
              </a:defRPr>
            </a:lvl1pPr>
          </a:lstStyle>
          <a:p>
            <a:pPr>
              <a:defRPr/>
            </a:pPr>
            <a:endParaRPr lang="en-US" altLang="zh-CN"/>
          </a:p>
        </p:txBody>
      </p:sp>
      <p:sp>
        <p:nvSpPr>
          <p:cNvPr id="7" name="灯片编号占位符 6"/>
          <p:cNvSpPr>
            <a:spLocks noGrp="1"/>
          </p:cNvSpPr>
          <p:nvPr>
            <p:ph type="sldNum" sz="quarter" idx="12"/>
          </p:nvPr>
        </p:nvSpPr>
        <p:spPr/>
        <p:txBody>
          <a:bodyPr/>
          <a:lstStyle>
            <a:lvl1pPr>
              <a:defRPr/>
            </a:lvl1pPr>
          </a:lstStyle>
          <a:p>
            <a:pPr>
              <a:defRPr/>
            </a:pPr>
            <a:fld id="{83E91DC1-E0AF-4DDA-9731-E23AF718F553}"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a:xfrm>
            <a:off x="539750" y="6672263"/>
            <a:ext cx="2520950" cy="384175"/>
          </a:xfrm>
          <a:prstGeom prst="rect">
            <a:avLst/>
          </a:prstGeom>
        </p:spPr>
        <p:txBody>
          <a:bodyPr/>
          <a:lstStyle>
            <a:lvl1pPr eaLnBrk="1" hangingPunct="1">
              <a:defRPr sz="1575">
                <a:ea typeface="+mn-ea"/>
              </a:defRPr>
            </a:lvl1pPr>
          </a:lstStyle>
          <a:p>
            <a:pPr>
              <a:defRPr/>
            </a:pPr>
            <a:fld id="{699445C0-9F81-4BB3-911C-55D3D2A0D90E}" type="datetime1">
              <a:rPr lang="zh-CN" altLang="en-US"/>
            </a:fld>
            <a:endParaRPr lang="en-US" altLang="zh-CN"/>
          </a:p>
        </p:txBody>
      </p:sp>
      <p:sp>
        <p:nvSpPr>
          <p:cNvPr id="5" name="页脚占位符 4"/>
          <p:cNvSpPr>
            <a:spLocks noGrp="1"/>
          </p:cNvSpPr>
          <p:nvPr>
            <p:ph type="ftr" sz="quarter" idx="11"/>
          </p:nvPr>
        </p:nvSpPr>
        <p:spPr>
          <a:xfrm>
            <a:off x="3690938" y="6672263"/>
            <a:ext cx="3417887" cy="384175"/>
          </a:xfrm>
          <a:prstGeom prst="rect">
            <a:avLst/>
          </a:prstGeom>
        </p:spPr>
        <p:txBody>
          <a:bodyPr/>
          <a:lstStyle>
            <a:lvl1pPr eaLnBrk="1" hangingPunct="1">
              <a:defRPr sz="1575">
                <a:ea typeface="+mn-ea"/>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ADC0F8ED-5E63-4480-8404-C29839B829AB}"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249174" y="303308"/>
            <a:ext cx="2870561" cy="6449385"/>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637486" y="303308"/>
            <a:ext cx="8431691" cy="6449385"/>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a:xfrm>
            <a:off x="539750" y="6672263"/>
            <a:ext cx="2520950" cy="384175"/>
          </a:xfrm>
          <a:prstGeom prst="rect">
            <a:avLst/>
          </a:prstGeom>
        </p:spPr>
        <p:txBody>
          <a:bodyPr/>
          <a:lstStyle>
            <a:lvl1pPr eaLnBrk="1" hangingPunct="1">
              <a:defRPr sz="1575">
                <a:ea typeface="+mn-ea"/>
              </a:defRPr>
            </a:lvl1pPr>
          </a:lstStyle>
          <a:p>
            <a:pPr>
              <a:defRPr/>
            </a:pPr>
            <a:fld id="{6D913E6E-A219-4E7E-9A28-53D85698E9A5}" type="datetime1">
              <a:rPr lang="zh-CN" altLang="en-US"/>
            </a:fld>
            <a:endParaRPr lang="en-US" altLang="zh-CN"/>
          </a:p>
        </p:txBody>
      </p:sp>
      <p:sp>
        <p:nvSpPr>
          <p:cNvPr id="5" name="页脚占位符 4"/>
          <p:cNvSpPr>
            <a:spLocks noGrp="1"/>
          </p:cNvSpPr>
          <p:nvPr>
            <p:ph type="ftr" sz="quarter" idx="11"/>
          </p:nvPr>
        </p:nvSpPr>
        <p:spPr>
          <a:xfrm>
            <a:off x="3690938" y="6672263"/>
            <a:ext cx="3417887" cy="384175"/>
          </a:xfrm>
          <a:prstGeom prst="rect">
            <a:avLst/>
          </a:prstGeom>
        </p:spPr>
        <p:txBody>
          <a:bodyPr/>
          <a:lstStyle>
            <a:lvl1pPr eaLnBrk="1" hangingPunct="1">
              <a:defRPr sz="1575">
                <a:ea typeface="+mn-ea"/>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3514C256-DA0D-4E6E-840D-ADD1E13B3553}"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539750" y="288925"/>
            <a:ext cx="972026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2789" tIns="51393" rIns="102789" bIns="51393" numCol="1" anchor="ctr" anchorCtr="0" compatLnSpc="1"/>
          <a:lstStyle/>
          <a:p>
            <a:pPr lvl="0"/>
            <a:r>
              <a:rPr lang="zh-CN" altLang="en-US"/>
              <a:t>单击此处编辑母版标题样式</a:t>
            </a:r>
            <a:endParaRPr lang="zh-CN" altLang="en-US"/>
          </a:p>
        </p:txBody>
      </p:sp>
      <p:sp>
        <p:nvSpPr>
          <p:cNvPr id="1027" name="文本占位符 2"/>
          <p:cNvSpPr>
            <a:spLocks noGrp="1" noChangeArrowheads="1"/>
          </p:cNvSpPr>
          <p:nvPr>
            <p:ph type="body" idx="9"/>
          </p:nvPr>
        </p:nvSpPr>
        <p:spPr bwMode="auto">
          <a:xfrm>
            <a:off x="539750" y="1679575"/>
            <a:ext cx="9720263" cy="475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2789" tIns="51393" rIns="102789" bIns="51393"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灯片编号占位符 5"/>
          <p:cNvSpPr>
            <a:spLocks noGrp="1"/>
          </p:cNvSpPr>
          <p:nvPr>
            <p:ph type="sldNum" sz="quarter" idx="4"/>
          </p:nvPr>
        </p:nvSpPr>
        <p:spPr>
          <a:xfrm>
            <a:off x="7739063" y="6672263"/>
            <a:ext cx="2520950" cy="384175"/>
          </a:xfrm>
          <a:prstGeom prst="rect">
            <a:avLst/>
          </a:prstGeom>
        </p:spPr>
        <p:txBody>
          <a:bodyPr vert="horz" wrap="square" lIns="102789" tIns="51393" rIns="102789" bIns="51393" numCol="1" anchor="ctr" anchorCtr="0" compatLnSpc="1"/>
          <a:lstStyle>
            <a:lvl1pPr algn="r" eaLnBrk="1" hangingPunct="1">
              <a:defRPr sz="1185">
                <a:solidFill>
                  <a:srgbClr val="898989"/>
                </a:solidFill>
                <a:ea typeface="+mn-ea"/>
              </a:defRPr>
            </a:lvl1pPr>
          </a:lstStyle>
          <a:p>
            <a:pPr>
              <a:defRPr/>
            </a:pPr>
            <a:fld id="{D0ACCA34-DCAB-4484-ABD7-18A8B3684EC3}"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868680" rtl="0" eaLnBrk="0" fontAlgn="base" hangingPunct="0">
        <a:spcBef>
          <a:spcPct val="0"/>
        </a:spcBef>
        <a:spcAft>
          <a:spcPct val="0"/>
        </a:spcAft>
        <a:defRPr sz="4200" kern="1200">
          <a:solidFill>
            <a:schemeClr val="tx1"/>
          </a:solidFill>
          <a:latin typeface="+mj-lt"/>
          <a:ea typeface="PMingLiU" panose="02020500000000000000" pitchFamily="18" charset="-120"/>
          <a:cs typeface="+mj-cs"/>
        </a:defRPr>
      </a:lvl1pPr>
      <a:lvl2pPr algn="ctr" defTabSz="868680" rtl="0" eaLnBrk="0" fontAlgn="base" hangingPunct="0">
        <a:spcBef>
          <a:spcPct val="0"/>
        </a:spcBef>
        <a:spcAft>
          <a:spcPct val="0"/>
        </a:spcAft>
        <a:defRPr sz="4200">
          <a:solidFill>
            <a:schemeClr val="tx1"/>
          </a:solidFill>
          <a:latin typeface="Calibri" panose="020F0502020204030204" pitchFamily="34" charset="0"/>
          <a:ea typeface="PMingLiU" panose="02020500000000000000" pitchFamily="18" charset="-120"/>
        </a:defRPr>
      </a:lvl2pPr>
      <a:lvl3pPr algn="ctr" defTabSz="868680" rtl="0" eaLnBrk="0" fontAlgn="base" hangingPunct="0">
        <a:spcBef>
          <a:spcPct val="0"/>
        </a:spcBef>
        <a:spcAft>
          <a:spcPct val="0"/>
        </a:spcAft>
        <a:defRPr sz="4200">
          <a:solidFill>
            <a:schemeClr val="tx1"/>
          </a:solidFill>
          <a:latin typeface="Calibri" panose="020F0502020204030204" pitchFamily="34" charset="0"/>
          <a:ea typeface="PMingLiU" panose="02020500000000000000" pitchFamily="18" charset="-120"/>
        </a:defRPr>
      </a:lvl3pPr>
      <a:lvl4pPr algn="ctr" defTabSz="868680" rtl="0" eaLnBrk="0" fontAlgn="base" hangingPunct="0">
        <a:spcBef>
          <a:spcPct val="0"/>
        </a:spcBef>
        <a:spcAft>
          <a:spcPct val="0"/>
        </a:spcAft>
        <a:defRPr sz="4200">
          <a:solidFill>
            <a:schemeClr val="tx1"/>
          </a:solidFill>
          <a:latin typeface="Calibri" panose="020F0502020204030204" pitchFamily="34" charset="0"/>
          <a:ea typeface="PMingLiU" panose="02020500000000000000" pitchFamily="18" charset="-120"/>
        </a:defRPr>
      </a:lvl4pPr>
      <a:lvl5pPr algn="ctr" defTabSz="868680" rtl="0" eaLnBrk="0" fontAlgn="base" hangingPunct="0">
        <a:spcBef>
          <a:spcPct val="0"/>
        </a:spcBef>
        <a:spcAft>
          <a:spcPct val="0"/>
        </a:spcAft>
        <a:defRPr sz="4200">
          <a:solidFill>
            <a:schemeClr val="tx1"/>
          </a:solidFill>
          <a:latin typeface="Calibri" panose="020F0502020204030204" pitchFamily="34" charset="0"/>
          <a:ea typeface="PMingLiU" panose="02020500000000000000" pitchFamily="18" charset="-120"/>
        </a:defRPr>
      </a:lvl5pPr>
      <a:lvl6pPr marL="387350" algn="ctr" defTabSz="869315" rtl="0" eaLnBrk="1" fontAlgn="base" hangingPunct="1">
        <a:spcBef>
          <a:spcPct val="0"/>
        </a:spcBef>
        <a:spcAft>
          <a:spcPct val="0"/>
        </a:spcAft>
        <a:defRPr sz="4235">
          <a:solidFill>
            <a:schemeClr val="tx1"/>
          </a:solidFill>
          <a:latin typeface="Calibri" panose="020F0502020204030204" pitchFamily="34" charset="0"/>
          <a:ea typeface="PMingLiU" panose="02020500000000000000" pitchFamily="18" charset="-120"/>
        </a:defRPr>
      </a:lvl6pPr>
      <a:lvl7pPr marL="774065" algn="ctr" defTabSz="869315" rtl="0" eaLnBrk="1" fontAlgn="base" hangingPunct="1">
        <a:spcBef>
          <a:spcPct val="0"/>
        </a:spcBef>
        <a:spcAft>
          <a:spcPct val="0"/>
        </a:spcAft>
        <a:defRPr sz="4235">
          <a:solidFill>
            <a:schemeClr val="tx1"/>
          </a:solidFill>
          <a:latin typeface="Calibri" panose="020F0502020204030204" pitchFamily="34" charset="0"/>
          <a:ea typeface="PMingLiU" panose="02020500000000000000" pitchFamily="18" charset="-120"/>
        </a:defRPr>
      </a:lvl7pPr>
      <a:lvl8pPr marL="1161415" algn="ctr" defTabSz="869315" rtl="0" eaLnBrk="1" fontAlgn="base" hangingPunct="1">
        <a:spcBef>
          <a:spcPct val="0"/>
        </a:spcBef>
        <a:spcAft>
          <a:spcPct val="0"/>
        </a:spcAft>
        <a:defRPr sz="4235">
          <a:solidFill>
            <a:schemeClr val="tx1"/>
          </a:solidFill>
          <a:latin typeface="Calibri" panose="020F0502020204030204" pitchFamily="34" charset="0"/>
          <a:ea typeface="PMingLiU" panose="02020500000000000000" pitchFamily="18" charset="-120"/>
        </a:defRPr>
      </a:lvl8pPr>
      <a:lvl9pPr marL="1548130" algn="ctr" defTabSz="869315" rtl="0" eaLnBrk="1" fontAlgn="base" hangingPunct="1">
        <a:spcBef>
          <a:spcPct val="0"/>
        </a:spcBef>
        <a:spcAft>
          <a:spcPct val="0"/>
        </a:spcAft>
        <a:defRPr sz="4235">
          <a:solidFill>
            <a:schemeClr val="tx1"/>
          </a:solidFill>
          <a:latin typeface="Calibri" panose="020F0502020204030204" pitchFamily="34" charset="0"/>
          <a:ea typeface="PMingLiU" panose="02020500000000000000" pitchFamily="18" charset="-120"/>
        </a:defRPr>
      </a:lvl9pPr>
    </p:titleStyle>
    <p:bodyStyle>
      <a:lvl1pPr marL="323850" indent="-323850" algn="l" defTabSz="868680" rtl="0" eaLnBrk="0" fontAlgn="base" hangingPunct="0">
        <a:spcBef>
          <a:spcPct val="20000"/>
        </a:spcBef>
        <a:spcAft>
          <a:spcPct val="0"/>
        </a:spcAft>
        <a:buFont typeface="Arial" panose="020B0604020202020204" pitchFamily="34" charset="0"/>
        <a:buChar char="•"/>
        <a:defRPr sz="3000" kern="1200">
          <a:solidFill>
            <a:schemeClr val="tx1"/>
          </a:solidFill>
          <a:latin typeface="+mn-lt"/>
          <a:ea typeface="PMingLiU" panose="02020500000000000000" pitchFamily="18" charset="-120"/>
          <a:cs typeface="+mn-cs"/>
        </a:defRPr>
      </a:lvl1pPr>
      <a:lvl2pPr marL="706755" indent="-271780" algn="l" defTabSz="868680" rtl="0" eaLnBrk="0" fontAlgn="base" hangingPunct="0">
        <a:spcBef>
          <a:spcPct val="20000"/>
        </a:spcBef>
        <a:spcAft>
          <a:spcPct val="0"/>
        </a:spcAft>
        <a:buFont typeface="Arial" panose="020B0604020202020204" pitchFamily="34" charset="0"/>
        <a:buChar char="–"/>
        <a:defRPr sz="2700" kern="1200">
          <a:solidFill>
            <a:schemeClr val="tx1"/>
          </a:solidFill>
          <a:latin typeface="+mn-lt"/>
          <a:ea typeface="PMingLiU" panose="02020500000000000000" pitchFamily="18" charset="-120"/>
          <a:cs typeface="+mn-cs"/>
        </a:defRPr>
      </a:lvl2pPr>
      <a:lvl3pPr marL="1085850" indent="-215900" algn="l" defTabSz="868680" rtl="0" eaLnBrk="0" fontAlgn="base" hangingPunct="0">
        <a:spcBef>
          <a:spcPct val="20000"/>
        </a:spcBef>
        <a:spcAft>
          <a:spcPct val="0"/>
        </a:spcAft>
        <a:buFont typeface="Arial" panose="020B0604020202020204" pitchFamily="34" charset="0"/>
        <a:buChar char="•"/>
        <a:defRPr sz="2200" kern="1200">
          <a:solidFill>
            <a:schemeClr val="tx1"/>
          </a:solidFill>
          <a:latin typeface="+mn-lt"/>
          <a:ea typeface="PMingLiU" panose="02020500000000000000" pitchFamily="18" charset="-120"/>
          <a:cs typeface="+mn-cs"/>
        </a:defRPr>
      </a:lvl3pPr>
      <a:lvl4pPr marL="1522730" indent="-215900" algn="l" defTabSz="868680" rtl="0" eaLnBrk="0" fontAlgn="base" hangingPunct="0">
        <a:spcBef>
          <a:spcPct val="20000"/>
        </a:spcBef>
        <a:spcAft>
          <a:spcPct val="0"/>
        </a:spcAft>
        <a:buFont typeface="Arial" panose="020B0604020202020204" pitchFamily="34" charset="0"/>
        <a:buChar char="–"/>
        <a:defRPr sz="1900" kern="1200">
          <a:solidFill>
            <a:schemeClr val="tx1"/>
          </a:solidFill>
          <a:latin typeface="+mn-lt"/>
          <a:ea typeface="PMingLiU" panose="02020500000000000000" pitchFamily="18" charset="-120"/>
          <a:cs typeface="+mn-cs"/>
        </a:defRPr>
      </a:lvl4pPr>
      <a:lvl5pPr marL="1955800" indent="-215900" algn="l" defTabSz="868680" rtl="0" eaLnBrk="0" fontAlgn="base" hangingPunct="0">
        <a:spcBef>
          <a:spcPct val="20000"/>
        </a:spcBef>
        <a:spcAft>
          <a:spcPct val="0"/>
        </a:spcAft>
        <a:buFont typeface="Arial" panose="020B0604020202020204" pitchFamily="34" charset="0"/>
        <a:buChar char="»"/>
        <a:defRPr sz="1900" kern="1200">
          <a:solidFill>
            <a:schemeClr val="tx1"/>
          </a:solidFill>
          <a:latin typeface="+mn-lt"/>
          <a:ea typeface="PMingLiU" panose="02020500000000000000" pitchFamily="18" charset="-120"/>
          <a:cs typeface="+mn-cs"/>
        </a:defRPr>
      </a:lvl5pPr>
      <a:lvl6pPr marL="2393315" indent="-217805" algn="l" defTabSz="869950" rtl="0" eaLnBrk="1" latinLnBrk="0" hangingPunct="1">
        <a:spcBef>
          <a:spcPct val="20000"/>
        </a:spcBef>
        <a:buFont typeface="Arial" panose="020B0604020202020204" pitchFamily="34" charset="0"/>
        <a:buChar char="•"/>
        <a:defRPr sz="1945" kern="1200">
          <a:solidFill>
            <a:schemeClr val="tx1"/>
          </a:solidFill>
          <a:latin typeface="+mn-lt"/>
          <a:ea typeface="+mn-ea"/>
          <a:cs typeface="+mn-cs"/>
        </a:defRPr>
      </a:lvl6pPr>
      <a:lvl7pPr marL="2828290" indent="-217805" algn="l" defTabSz="869950" rtl="0" eaLnBrk="1" latinLnBrk="0" hangingPunct="1">
        <a:spcBef>
          <a:spcPct val="20000"/>
        </a:spcBef>
        <a:buFont typeface="Arial" panose="020B0604020202020204" pitchFamily="34" charset="0"/>
        <a:buChar char="•"/>
        <a:defRPr sz="1945" kern="1200">
          <a:solidFill>
            <a:schemeClr val="tx1"/>
          </a:solidFill>
          <a:latin typeface="+mn-lt"/>
          <a:ea typeface="+mn-ea"/>
          <a:cs typeface="+mn-cs"/>
        </a:defRPr>
      </a:lvl7pPr>
      <a:lvl8pPr marL="3263265" indent="-217805" algn="l" defTabSz="869950" rtl="0" eaLnBrk="1" latinLnBrk="0" hangingPunct="1">
        <a:spcBef>
          <a:spcPct val="20000"/>
        </a:spcBef>
        <a:buFont typeface="Arial" panose="020B0604020202020204" pitchFamily="34" charset="0"/>
        <a:buChar char="•"/>
        <a:defRPr sz="1945" kern="1200">
          <a:solidFill>
            <a:schemeClr val="tx1"/>
          </a:solidFill>
          <a:latin typeface="+mn-lt"/>
          <a:ea typeface="+mn-ea"/>
          <a:cs typeface="+mn-cs"/>
        </a:defRPr>
      </a:lvl8pPr>
      <a:lvl9pPr marL="3698240" indent="-217805" algn="l" defTabSz="869950" rtl="0" eaLnBrk="1" latinLnBrk="0" hangingPunct="1">
        <a:spcBef>
          <a:spcPct val="20000"/>
        </a:spcBef>
        <a:buFont typeface="Arial" panose="020B0604020202020204" pitchFamily="34" charset="0"/>
        <a:buChar char="•"/>
        <a:defRPr sz="1945" kern="1200">
          <a:solidFill>
            <a:schemeClr val="tx1"/>
          </a:solidFill>
          <a:latin typeface="+mn-lt"/>
          <a:ea typeface="+mn-ea"/>
          <a:cs typeface="+mn-cs"/>
        </a:defRPr>
      </a:lvl9pPr>
    </p:bodyStyle>
    <p:otherStyle>
      <a:defPPr>
        <a:defRPr lang="zh-CN"/>
      </a:defPPr>
      <a:lvl1pPr marL="0" algn="l" defTabSz="869950" rtl="0" eaLnBrk="1" latinLnBrk="0" hangingPunct="1">
        <a:defRPr sz="1695" kern="1200">
          <a:solidFill>
            <a:schemeClr val="tx1"/>
          </a:solidFill>
          <a:latin typeface="+mn-lt"/>
          <a:ea typeface="+mn-ea"/>
          <a:cs typeface="+mn-cs"/>
        </a:defRPr>
      </a:lvl1pPr>
      <a:lvl2pPr marL="434975" algn="l" defTabSz="869950" rtl="0" eaLnBrk="1" latinLnBrk="0" hangingPunct="1">
        <a:defRPr sz="1695" kern="1200">
          <a:solidFill>
            <a:schemeClr val="tx1"/>
          </a:solidFill>
          <a:latin typeface="+mn-lt"/>
          <a:ea typeface="+mn-ea"/>
          <a:cs typeface="+mn-cs"/>
        </a:defRPr>
      </a:lvl2pPr>
      <a:lvl3pPr marL="869950" algn="l" defTabSz="869950" rtl="0" eaLnBrk="1" latinLnBrk="0" hangingPunct="1">
        <a:defRPr sz="1695" kern="1200">
          <a:solidFill>
            <a:schemeClr val="tx1"/>
          </a:solidFill>
          <a:latin typeface="+mn-lt"/>
          <a:ea typeface="+mn-ea"/>
          <a:cs typeface="+mn-cs"/>
        </a:defRPr>
      </a:lvl3pPr>
      <a:lvl4pPr marL="1305560" algn="l" defTabSz="869950" rtl="0" eaLnBrk="1" latinLnBrk="0" hangingPunct="1">
        <a:defRPr sz="1695" kern="1200">
          <a:solidFill>
            <a:schemeClr val="tx1"/>
          </a:solidFill>
          <a:latin typeface="+mn-lt"/>
          <a:ea typeface="+mn-ea"/>
          <a:cs typeface="+mn-cs"/>
        </a:defRPr>
      </a:lvl4pPr>
      <a:lvl5pPr marL="1740535" algn="l" defTabSz="869950" rtl="0" eaLnBrk="1" latinLnBrk="0" hangingPunct="1">
        <a:defRPr sz="1695" kern="1200">
          <a:solidFill>
            <a:schemeClr val="tx1"/>
          </a:solidFill>
          <a:latin typeface="+mn-lt"/>
          <a:ea typeface="+mn-ea"/>
          <a:cs typeface="+mn-cs"/>
        </a:defRPr>
      </a:lvl5pPr>
      <a:lvl6pPr marL="2175510" algn="l" defTabSz="869950" rtl="0" eaLnBrk="1" latinLnBrk="0" hangingPunct="1">
        <a:defRPr sz="1695" kern="1200">
          <a:solidFill>
            <a:schemeClr val="tx1"/>
          </a:solidFill>
          <a:latin typeface="+mn-lt"/>
          <a:ea typeface="+mn-ea"/>
          <a:cs typeface="+mn-cs"/>
        </a:defRPr>
      </a:lvl6pPr>
      <a:lvl7pPr marL="2610485" algn="l" defTabSz="869950" rtl="0" eaLnBrk="1" latinLnBrk="0" hangingPunct="1">
        <a:defRPr sz="1695" kern="1200">
          <a:solidFill>
            <a:schemeClr val="tx1"/>
          </a:solidFill>
          <a:latin typeface="+mn-lt"/>
          <a:ea typeface="+mn-ea"/>
          <a:cs typeface="+mn-cs"/>
        </a:defRPr>
      </a:lvl7pPr>
      <a:lvl8pPr marL="3045460" algn="l" defTabSz="869950" rtl="0" eaLnBrk="1" latinLnBrk="0" hangingPunct="1">
        <a:defRPr sz="1695" kern="1200">
          <a:solidFill>
            <a:schemeClr val="tx1"/>
          </a:solidFill>
          <a:latin typeface="+mn-lt"/>
          <a:ea typeface="+mn-ea"/>
          <a:cs typeface="+mn-cs"/>
        </a:defRPr>
      </a:lvl8pPr>
      <a:lvl9pPr marL="3481070" algn="l" defTabSz="869950" rtl="0" eaLnBrk="1" latinLnBrk="0" hangingPunct="1">
        <a:defRPr sz="169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4.emf"/><Relationship Id="rId1"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6.webp"/></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9" Type="http://schemas.openxmlformats.org/officeDocument/2006/relationships/image" Target="../media/image15.png"/><Relationship Id="rId8" Type="http://schemas.openxmlformats.org/officeDocument/2006/relationships/image" Target="../media/image14.png"/><Relationship Id="rId7" Type="http://schemas.openxmlformats.org/officeDocument/2006/relationships/image" Target="../media/image13.png"/><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4" Type="http://schemas.openxmlformats.org/officeDocument/2006/relationships/notesSlide" Target="../notesSlides/notesSlide12.xml"/><Relationship Id="rId13" Type="http://schemas.openxmlformats.org/officeDocument/2006/relationships/slideLayout" Target="../slideLayouts/slideLayout2.xml"/><Relationship Id="rId12" Type="http://schemas.openxmlformats.org/officeDocument/2006/relationships/image" Target="../media/image18.png"/><Relationship Id="rId11" Type="http://schemas.openxmlformats.org/officeDocument/2006/relationships/image" Target="../media/image17.png"/><Relationship Id="rId10" Type="http://schemas.openxmlformats.org/officeDocument/2006/relationships/image" Target="../media/image16.png"/><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2.xml"/><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2.xml"/><Relationship Id="rId4" Type="http://schemas.openxmlformats.org/officeDocument/2006/relationships/image" Target="../media/image30.png"/><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7" Type="http://schemas.openxmlformats.org/officeDocument/2006/relationships/notesSlide" Target="../notesSlides/notesSlide21.xml"/><Relationship Id="rId6"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7" Type="http://schemas.openxmlformats.org/officeDocument/2006/relationships/notesSlide" Target="../notesSlides/notesSlide22.xml"/><Relationship Id="rId6"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23.xml.rels><?xml version="1.0" encoding="UTF-8" standalone="yes"?>
<Relationships xmlns="http://schemas.openxmlformats.org/package/2006/relationships"><Relationship Id="rId7" Type="http://schemas.openxmlformats.org/officeDocument/2006/relationships/notesSlide" Target="../notesSlides/notesSlide23.xml"/><Relationship Id="rId6"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24.xml.rels><?xml version="1.0" encoding="UTF-8" standalone="yes"?>
<Relationships xmlns="http://schemas.openxmlformats.org/package/2006/relationships"><Relationship Id="rId7" Type="http://schemas.openxmlformats.org/officeDocument/2006/relationships/notesSlide" Target="../notesSlides/notesSlide24.xml"/><Relationship Id="rId6"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25.xml.rels><?xml version="1.0" encoding="UTF-8" standalone="yes"?>
<Relationships xmlns="http://schemas.openxmlformats.org/package/2006/relationships"><Relationship Id="rId7" Type="http://schemas.openxmlformats.org/officeDocument/2006/relationships/notesSlide" Target="../notesSlides/notesSlide25.xml"/><Relationship Id="rId6"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2.xml"/><Relationship Id="rId2" Type="http://schemas.openxmlformats.org/officeDocument/2006/relationships/image" Target="../media/image31.png"/><Relationship Id="rId1" Type="http://schemas.openxmlformats.org/officeDocument/2006/relationships/image" Target="../media/image27.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9" Type="http://schemas.openxmlformats.org/officeDocument/2006/relationships/image" Target="../media/image36.png"/><Relationship Id="rId8" Type="http://schemas.openxmlformats.org/officeDocument/2006/relationships/image" Target="../media/image35.png"/><Relationship Id="rId7" Type="http://schemas.openxmlformats.org/officeDocument/2006/relationships/image" Target="../media/image34.png"/><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8" Type="http://schemas.openxmlformats.org/officeDocument/2006/relationships/notesSlide" Target="../notesSlides/notesSlide31.xml"/><Relationship Id="rId17" Type="http://schemas.openxmlformats.org/officeDocument/2006/relationships/slideLayout" Target="../slideLayouts/slideLayout2.xml"/><Relationship Id="rId16" Type="http://schemas.openxmlformats.org/officeDocument/2006/relationships/image" Target="../media/image43.png"/><Relationship Id="rId15" Type="http://schemas.openxmlformats.org/officeDocument/2006/relationships/image" Target="../media/image42.png"/><Relationship Id="rId14" Type="http://schemas.openxmlformats.org/officeDocument/2006/relationships/image" Target="../media/image41.png"/><Relationship Id="rId13" Type="http://schemas.openxmlformats.org/officeDocument/2006/relationships/image" Target="../media/image40.png"/><Relationship Id="rId12" Type="http://schemas.openxmlformats.org/officeDocument/2006/relationships/image" Target="../media/image39.png"/><Relationship Id="rId11" Type="http://schemas.openxmlformats.org/officeDocument/2006/relationships/image" Target="../media/image38.png"/><Relationship Id="rId10" Type="http://schemas.openxmlformats.org/officeDocument/2006/relationships/image" Target="../media/image37.png"/><Relationship Id="rId1" Type="http://schemas.openxmlformats.org/officeDocument/2006/relationships/image" Target="../media/image7.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37.xml.rels><?xml version="1.0" encoding="UTF-8" standalone="yes"?>
<Relationships xmlns="http://schemas.openxmlformats.org/package/2006/relationships"><Relationship Id="rId9" Type="http://schemas.openxmlformats.org/officeDocument/2006/relationships/notesSlide" Target="../notesSlides/notesSlide37.xml"/><Relationship Id="rId8" Type="http://schemas.openxmlformats.org/officeDocument/2006/relationships/slideLayout" Target="../slideLayouts/slideLayout2.xml"/><Relationship Id="rId7" Type="http://schemas.openxmlformats.org/officeDocument/2006/relationships/image" Target="../media/image50.png"/><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jpeg"/><Relationship Id="rId3" Type="http://schemas.openxmlformats.org/officeDocument/2006/relationships/image" Target="../media/image46.jpeg"/><Relationship Id="rId2" Type="http://schemas.openxmlformats.org/officeDocument/2006/relationships/image" Target="../media/image45.png"/><Relationship Id="rId1" Type="http://schemas.openxmlformats.org/officeDocument/2006/relationships/image" Target="../media/image44.png"/></Relationships>
</file>

<file path=ppt/slides/_rels/slide38.xml.rels><?xml version="1.0" encoding="UTF-8" standalone="yes"?>
<Relationships xmlns="http://schemas.openxmlformats.org/package/2006/relationships"><Relationship Id="rId6" Type="http://schemas.openxmlformats.org/officeDocument/2006/relationships/notesSlide" Target="../notesSlides/notesSlide38.xml"/><Relationship Id="rId5" Type="http://schemas.openxmlformats.org/officeDocument/2006/relationships/slideLayout" Target="../slideLayouts/slideLayout2.xml"/><Relationship Id="rId4" Type="http://schemas.openxmlformats.org/officeDocument/2006/relationships/image" Target="../media/image54.png"/><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image" Target="../media/image51.png"/></Relationships>
</file>

<file path=ppt/slides/_rels/slide39.xml.rels><?xml version="1.0" encoding="UTF-8" standalone="yes"?>
<Relationships xmlns="http://schemas.openxmlformats.org/package/2006/relationships"><Relationship Id="rId7" Type="http://schemas.openxmlformats.org/officeDocument/2006/relationships/notesSlide" Target="../notesSlides/notesSlide39.xml"/><Relationship Id="rId6"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58.png"/><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image" Target="../media/image55.png"/></Relationships>
</file>

<file path=ppt/slides/_rels/slide40.xml.rels><?xml version="1.0" encoding="UTF-8" standalone="yes"?>
<Relationships xmlns="http://schemas.openxmlformats.org/package/2006/relationships"><Relationship Id="rId5" Type="http://schemas.openxmlformats.org/officeDocument/2006/relationships/notesSlide" Target="../notesSlides/notesSlide40.xml"/><Relationship Id="rId4" Type="http://schemas.openxmlformats.org/officeDocument/2006/relationships/slideLayout" Target="../slideLayouts/slideLayout2.xml"/><Relationship Id="rId3" Type="http://schemas.openxmlformats.org/officeDocument/2006/relationships/image" Target="../media/image60.png"/><Relationship Id="rId2" Type="http://schemas.openxmlformats.org/officeDocument/2006/relationships/image" Target="../media/image56.png"/><Relationship Id="rId1" Type="http://schemas.openxmlformats.org/officeDocument/2006/relationships/image" Target="../media/image55.png"/></Relationships>
</file>

<file path=ppt/slides/_rels/slide41.xml.rels><?xml version="1.0" encoding="UTF-8" standalone="yes"?>
<Relationships xmlns="http://schemas.openxmlformats.org/package/2006/relationships"><Relationship Id="rId5" Type="http://schemas.openxmlformats.org/officeDocument/2006/relationships/notesSlide" Target="../notesSlides/notesSlide41.xml"/><Relationship Id="rId4" Type="http://schemas.openxmlformats.org/officeDocument/2006/relationships/slideLayout" Target="../slideLayouts/slideLayout2.xml"/><Relationship Id="rId3" Type="http://schemas.openxmlformats.org/officeDocument/2006/relationships/image" Target="../media/image60.png"/><Relationship Id="rId2" Type="http://schemas.openxmlformats.org/officeDocument/2006/relationships/image" Target="../media/image56.png"/><Relationship Id="rId1" Type="http://schemas.openxmlformats.org/officeDocument/2006/relationships/image" Target="../media/image55.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image" Target="../media/image6.webp"/></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1.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90" name="Rectangle 1027"/>
          <p:cNvSpPr>
            <a:spLocks noChangeArrowheads="1"/>
          </p:cNvSpPr>
          <p:nvPr/>
        </p:nvSpPr>
        <p:spPr bwMode="auto">
          <a:xfrm>
            <a:off x="750888" y="1312863"/>
            <a:ext cx="9829800" cy="328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1" hangingPunct="1">
              <a:lnSpc>
                <a:spcPct val="150000"/>
              </a:lnSpc>
              <a:buClr>
                <a:schemeClr val="folHlink"/>
              </a:buClr>
              <a:buSzPct val="60000"/>
            </a:pPr>
            <a:r>
              <a:rPr lang="en-US" altLang="zh-CN" sz="3600">
                <a:latin typeface="楷体" panose="02010609060101010101" pitchFamily="49" charset="-122"/>
                <a:ea typeface="楷体" panose="02010609060101010101" pitchFamily="49" charset="-122"/>
              </a:rPr>
              <a:t>6.1 </a:t>
            </a:r>
            <a:r>
              <a:rPr lang="zh-CN" altLang="en-US" sz="3600">
                <a:latin typeface="楷体" panose="02010609060101010101" pitchFamily="49" charset="-122"/>
                <a:ea typeface="楷体" panose="02010609060101010101" pitchFamily="49" charset="-122"/>
              </a:rPr>
              <a:t>基本概念</a:t>
            </a:r>
            <a:endParaRPr lang="en-US" altLang="zh-CN" sz="3600">
              <a:latin typeface="楷体" panose="02010609060101010101" pitchFamily="49" charset="-122"/>
              <a:ea typeface="楷体" panose="02010609060101010101" pitchFamily="49" charset="-122"/>
            </a:endParaRPr>
          </a:p>
          <a:p>
            <a:pPr eaLnBrk="1" hangingPunct="1">
              <a:lnSpc>
                <a:spcPct val="150000"/>
              </a:lnSpc>
              <a:buClr>
                <a:schemeClr val="folHlink"/>
              </a:buClr>
              <a:buSzPct val="60000"/>
            </a:pPr>
            <a:r>
              <a:rPr lang="en-US" altLang="zh-CN" sz="3600">
                <a:latin typeface="楷体" panose="02010609060101010101" pitchFamily="49" charset="-122"/>
                <a:ea typeface="楷体" panose="02010609060101010101" pitchFamily="49" charset="-122"/>
              </a:rPr>
              <a:t>6.2 </a:t>
            </a:r>
            <a:r>
              <a:rPr lang="zh-CN" altLang="en-US" sz="3600">
                <a:latin typeface="楷体" panose="02010609060101010101" pitchFamily="49" charset="-122"/>
                <a:ea typeface="楷体" panose="02010609060101010101" pitchFamily="49" charset="-122"/>
              </a:rPr>
              <a:t>频繁项集挖掘方法</a:t>
            </a:r>
            <a:endParaRPr lang="en-US" altLang="zh-CN" sz="3600">
              <a:latin typeface="楷体" panose="02010609060101010101" pitchFamily="49" charset="-122"/>
              <a:ea typeface="楷体" panose="02010609060101010101" pitchFamily="49" charset="-122"/>
            </a:endParaRPr>
          </a:p>
          <a:p>
            <a:pPr eaLnBrk="1" hangingPunct="1">
              <a:lnSpc>
                <a:spcPct val="150000"/>
              </a:lnSpc>
              <a:buClr>
                <a:schemeClr val="folHlink"/>
              </a:buClr>
              <a:buSzPct val="60000"/>
            </a:pPr>
            <a:r>
              <a:rPr lang="en-US" altLang="zh-CN" sz="3600">
                <a:latin typeface="楷体" panose="02010609060101010101" pitchFamily="49" charset="-122"/>
                <a:ea typeface="楷体" panose="02010609060101010101" pitchFamily="49" charset="-122"/>
              </a:rPr>
              <a:t>6.3 </a:t>
            </a:r>
            <a:r>
              <a:rPr lang="zh-CN" altLang="en-US" sz="3600">
                <a:latin typeface="楷体" panose="02010609060101010101" pitchFamily="49" charset="-122"/>
                <a:ea typeface="楷体" panose="02010609060101010101" pitchFamily="49" charset="-122"/>
              </a:rPr>
              <a:t>哪些模式是有趣的：模式评估方法</a:t>
            </a:r>
            <a:endParaRPr lang="en-US" altLang="zh-CN" sz="3600">
              <a:latin typeface="楷体" panose="02010609060101010101" pitchFamily="49" charset="-122"/>
              <a:ea typeface="楷体" panose="02010609060101010101" pitchFamily="49" charset="-122"/>
            </a:endParaRPr>
          </a:p>
          <a:p>
            <a:pPr eaLnBrk="1" hangingPunct="1">
              <a:lnSpc>
                <a:spcPct val="150000"/>
              </a:lnSpc>
              <a:buClr>
                <a:schemeClr val="folHlink"/>
              </a:buClr>
              <a:buSzPct val="60000"/>
            </a:pPr>
            <a:r>
              <a:rPr lang="en-US" altLang="zh-CN" sz="3600">
                <a:latin typeface="楷体" panose="02010609060101010101" pitchFamily="49" charset="-122"/>
                <a:ea typeface="楷体" panose="02010609060101010101" pitchFamily="49" charset="-122"/>
              </a:rPr>
              <a:t>6.4 </a:t>
            </a:r>
            <a:r>
              <a:rPr lang="zh-CN" altLang="en-US" sz="3600">
                <a:latin typeface="楷体" panose="02010609060101010101" pitchFamily="49" charset="-122"/>
                <a:ea typeface="楷体" panose="02010609060101010101" pitchFamily="49" charset="-122"/>
              </a:rPr>
              <a:t>小结</a:t>
            </a:r>
            <a:endParaRPr lang="zh-CN" altLang="en-US" sz="3600" b="0">
              <a:latin typeface="楷体" panose="02010609060101010101" pitchFamily="49" charset="-122"/>
              <a:ea typeface="楷体" panose="02010609060101010101" pitchFamily="49" charset="-122"/>
            </a:endParaRPr>
          </a:p>
        </p:txBody>
      </p:sp>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第</a:t>
            </a:r>
            <a:r>
              <a:rPr lang="en-US" altLang="zh-CN" sz="4400" dirty="0">
                <a:latin typeface="楷体" panose="02010609060101010101" pitchFamily="49" charset="-122"/>
                <a:ea typeface="楷体" panose="02010609060101010101" pitchFamily="49" charset="-122"/>
              </a:rPr>
              <a:t>6</a:t>
            </a:r>
            <a:r>
              <a:rPr lang="zh-CN" altLang="en-US" sz="4400" dirty="0">
                <a:latin typeface="楷体" panose="02010609060101010101" pitchFamily="49" charset="-122"/>
                <a:ea typeface="楷体" panose="02010609060101010101" pitchFamily="49" charset="-122"/>
              </a:rPr>
              <a:t>章 挖掘频繁模式、关联和相关</a:t>
            </a:r>
            <a:endParaRPr lang="zh-CN" altLang="en-US" sz="4400" dirty="0">
              <a:latin typeface="楷体" panose="02010609060101010101" pitchFamily="49" charset="-122"/>
              <a:ea typeface="楷体"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1027"/>
          <p:cNvSpPr>
            <a:spLocks noChangeArrowheads="1"/>
          </p:cNvSpPr>
          <p:nvPr/>
        </p:nvSpPr>
        <p:spPr bwMode="auto">
          <a:xfrm>
            <a:off x="750888" y="1249363"/>
            <a:ext cx="98298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0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eaLnBrk="1" hangingPunct="1">
              <a:lnSpc>
                <a:spcPct val="150000"/>
              </a:lnSpc>
              <a:spcBef>
                <a:spcPts val="0"/>
              </a:spcBef>
              <a:spcAft>
                <a:spcPct val="0"/>
              </a:spcAft>
              <a:buClr>
                <a:schemeClr val="folHlink"/>
              </a:buClr>
              <a:buSzPct val="60000"/>
              <a:buFont typeface="Wingdings" panose="05000000000000000000" pitchFamily="2" charset="2"/>
              <a:buNone/>
              <a:defRPr/>
            </a:pPr>
            <a:r>
              <a:rPr lang="en-US" altLang="zh-CN" sz="3600" dirty="0">
                <a:solidFill>
                  <a:srgbClr val="FF0000"/>
                </a:solidFill>
                <a:latin typeface="楷体" panose="02010609060101010101" pitchFamily="49" charset="-122"/>
                <a:ea typeface="楷体" panose="02010609060101010101" pitchFamily="49" charset="-122"/>
              </a:rPr>
              <a:t>6.1 </a:t>
            </a:r>
            <a:r>
              <a:rPr lang="zh-CN" altLang="en-US" sz="3600" dirty="0">
                <a:solidFill>
                  <a:srgbClr val="FF0000"/>
                </a:solidFill>
                <a:latin typeface="楷体" panose="02010609060101010101" pitchFamily="49" charset="-122"/>
                <a:ea typeface="楷体" panose="02010609060101010101" pitchFamily="49" charset="-122"/>
              </a:rPr>
              <a:t>基本概念</a:t>
            </a:r>
            <a:endParaRPr lang="en-US" altLang="zh-CN" sz="3600" dirty="0">
              <a:solidFill>
                <a:srgbClr val="FF0000"/>
              </a:solidFill>
              <a:latin typeface="楷体" panose="02010609060101010101" pitchFamily="49" charset="-122"/>
              <a:ea typeface="楷体" panose="02010609060101010101" pitchFamily="49" charset="-122"/>
            </a:endParaRPr>
          </a:p>
          <a:p>
            <a:pPr eaLnBrk="1" hangingPunct="1">
              <a:lnSpc>
                <a:spcPct val="150000"/>
              </a:lnSpc>
              <a:spcBef>
                <a:spcPts val="0"/>
              </a:spcBef>
              <a:spcAft>
                <a:spcPct val="0"/>
              </a:spcAft>
              <a:buClr>
                <a:schemeClr val="folHlink"/>
              </a:buClr>
              <a:buSzPct val="60000"/>
              <a:buFont typeface="Monotype Sorts" pitchFamily="2" charset="2"/>
              <a:buNone/>
              <a:defRPr/>
            </a:pPr>
            <a:r>
              <a:rPr lang="en-US" altLang="zh-CN" sz="3600" dirty="0">
                <a:solidFill>
                  <a:schemeClr val="bg1">
                    <a:lumMod val="75000"/>
                  </a:schemeClr>
                </a:solidFill>
                <a:latin typeface="楷体" panose="02010609060101010101" pitchFamily="49" charset="-122"/>
                <a:ea typeface="楷体" panose="02010609060101010101" pitchFamily="49" charset="-122"/>
              </a:rPr>
              <a:t>6.2 </a:t>
            </a:r>
            <a:r>
              <a:rPr lang="zh-CN" altLang="en-US" sz="3600" dirty="0">
                <a:solidFill>
                  <a:schemeClr val="bg1">
                    <a:lumMod val="75000"/>
                  </a:schemeClr>
                </a:solidFill>
                <a:latin typeface="楷体" panose="02010609060101010101" pitchFamily="49" charset="-122"/>
                <a:ea typeface="楷体" panose="02010609060101010101" pitchFamily="49" charset="-122"/>
              </a:rPr>
              <a:t>频繁项集挖掘方法</a:t>
            </a:r>
            <a:endParaRPr lang="en-US" altLang="zh-CN" sz="3600" dirty="0">
              <a:solidFill>
                <a:schemeClr val="bg1">
                  <a:lumMod val="75000"/>
                </a:schemeClr>
              </a:solidFill>
              <a:latin typeface="楷体" panose="02010609060101010101" pitchFamily="49" charset="-122"/>
              <a:ea typeface="楷体" panose="02010609060101010101" pitchFamily="49" charset="-122"/>
            </a:endParaRPr>
          </a:p>
          <a:p>
            <a:pPr eaLnBrk="1" hangingPunct="1">
              <a:lnSpc>
                <a:spcPct val="150000"/>
              </a:lnSpc>
              <a:spcBef>
                <a:spcPts val="0"/>
              </a:spcBef>
              <a:spcAft>
                <a:spcPct val="0"/>
              </a:spcAft>
              <a:buClr>
                <a:schemeClr val="folHlink"/>
              </a:buClr>
              <a:buSzPct val="60000"/>
              <a:buFont typeface="Monotype Sorts" pitchFamily="2" charset="2"/>
              <a:buNone/>
              <a:defRPr/>
            </a:pPr>
            <a:r>
              <a:rPr lang="en-US" altLang="zh-CN" sz="3600" dirty="0">
                <a:solidFill>
                  <a:schemeClr val="bg1">
                    <a:lumMod val="75000"/>
                  </a:schemeClr>
                </a:solidFill>
                <a:latin typeface="楷体" panose="02010609060101010101" pitchFamily="49" charset="-122"/>
                <a:ea typeface="楷体" panose="02010609060101010101" pitchFamily="49" charset="-122"/>
              </a:rPr>
              <a:t>6.3 </a:t>
            </a:r>
            <a:r>
              <a:rPr lang="zh-CN" altLang="en-US" sz="3600" dirty="0">
                <a:solidFill>
                  <a:schemeClr val="bg1">
                    <a:lumMod val="75000"/>
                  </a:schemeClr>
                </a:solidFill>
                <a:latin typeface="楷体" panose="02010609060101010101" pitchFamily="49" charset="-122"/>
                <a:ea typeface="楷体" panose="02010609060101010101" pitchFamily="49" charset="-122"/>
              </a:rPr>
              <a:t>哪些模式是有趣的：模式评估方法</a:t>
            </a:r>
            <a:endParaRPr lang="en-US" altLang="zh-CN" sz="3600" dirty="0">
              <a:solidFill>
                <a:schemeClr val="bg1">
                  <a:lumMod val="75000"/>
                </a:schemeClr>
              </a:solidFill>
              <a:latin typeface="楷体" panose="02010609060101010101" pitchFamily="49" charset="-122"/>
              <a:ea typeface="楷体" panose="02010609060101010101" pitchFamily="49" charset="-122"/>
            </a:endParaRPr>
          </a:p>
          <a:p>
            <a:pPr eaLnBrk="1" hangingPunct="1">
              <a:lnSpc>
                <a:spcPct val="150000"/>
              </a:lnSpc>
              <a:spcBef>
                <a:spcPts val="0"/>
              </a:spcBef>
              <a:spcAft>
                <a:spcPct val="0"/>
              </a:spcAft>
              <a:buClr>
                <a:schemeClr val="folHlink"/>
              </a:buClr>
              <a:buSzPct val="60000"/>
              <a:buFont typeface="Monotype Sorts" pitchFamily="2" charset="2"/>
              <a:buNone/>
              <a:defRPr/>
            </a:pPr>
            <a:r>
              <a:rPr lang="en-US" altLang="zh-CN" sz="3600" dirty="0">
                <a:solidFill>
                  <a:schemeClr val="bg1">
                    <a:lumMod val="75000"/>
                  </a:schemeClr>
                </a:solidFill>
                <a:latin typeface="楷体" panose="02010609060101010101" pitchFamily="49" charset="-122"/>
                <a:ea typeface="楷体" panose="02010609060101010101" pitchFamily="49" charset="-122"/>
              </a:rPr>
              <a:t>6.4 </a:t>
            </a:r>
            <a:r>
              <a:rPr lang="zh-CN" altLang="en-US" sz="3600" dirty="0">
                <a:solidFill>
                  <a:schemeClr val="bg1">
                    <a:lumMod val="75000"/>
                  </a:schemeClr>
                </a:solidFill>
                <a:latin typeface="楷体" panose="02010609060101010101" pitchFamily="49" charset="-122"/>
                <a:ea typeface="楷体" panose="02010609060101010101" pitchFamily="49" charset="-122"/>
              </a:rPr>
              <a:t>小结</a:t>
            </a:r>
            <a:endParaRPr lang="zh-CN" altLang="en-US" sz="3600" b="0" dirty="0">
              <a:solidFill>
                <a:schemeClr val="bg1">
                  <a:lumMod val="75000"/>
                </a:schemeClr>
              </a:solidFill>
              <a:latin typeface="楷体" panose="02010609060101010101" pitchFamily="49" charset="-122"/>
              <a:ea typeface="楷体" panose="02010609060101010101" pitchFamily="49" charset="-122"/>
            </a:endParaRPr>
          </a:p>
        </p:txBody>
      </p:sp>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第</a:t>
            </a:r>
            <a:r>
              <a:rPr lang="en-US" altLang="zh-CN" sz="4400" dirty="0">
                <a:latin typeface="楷体" panose="02010609060101010101" pitchFamily="49" charset="-122"/>
                <a:ea typeface="楷体" panose="02010609060101010101" pitchFamily="49" charset="-122"/>
              </a:rPr>
              <a:t>6</a:t>
            </a:r>
            <a:r>
              <a:rPr lang="zh-CN" altLang="en-US" sz="4400" dirty="0">
                <a:latin typeface="楷体" panose="02010609060101010101" pitchFamily="49" charset="-122"/>
                <a:ea typeface="楷体" panose="02010609060101010101" pitchFamily="49" charset="-122"/>
              </a:rPr>
              <a:t>章 挖掘频繁模式、关联和相关</a:t>
            </a:r>
            <a:endParaRPr lang="zh-CN" altLang="en-US" sz="4400" dirty="0">
              <a:latin typeface="楷体" panose="02010609060101010101" pitchFamily="49" charset="-122"/>
              <a:ea typeface="楷体" panose="02010609060101010101" pitchFamily="49"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a:t>
            </a:r>
            <a:r>
              <a:rPr lang="en-US" altLang="zh-CN" sz="4400" dirty="0">
                <a:latin typeface="楷体" panose="02010609060101010101" pitchFamily="49" charset="-122"/>
                <a:ea typeface="楷体" panose="02010609060101010101" pitchFamily="49" charset="-122"/>
              </a:rPr>
              <a:t>6.1 </a:t>
            </a:r>
            <a:r>
              <a:rPr lang="zh-CN" altLang="en-US" sz="4400" dirty="0">
                <a:latin typeface="楷体" panose="02010609060101010101" pitchFamily="49" charset="-122"/>
                <a:ea typeface="楷体" panose="02010609060101010101" pitchFamily="49" charset="-122"/>
              </a:rPr>
              <a:t>基本概念</a:t>
            </a:r>
            <a:endParaRPr lang="zh-CN" altLang="en-US" sz="4400" dirty="0">
              <a:latin typeface="楷体" panose="02010609060101010101" pitchFamily="49" charset="-122"/>
              <a:ea typeface="楷体" panose="02010609060101010101" pitchFamily="49" charset="-122"/>
            </a:endParaRPr>
          </a:p>
        </p:txBody>
      </p:sp>
      <p:sp>
        <p:nvSpPr>
          <p:cNvPr id="4" name="Rectangle 3"/>
          <p:cNvSpPr>
            <a:spLocks noGrp="1" noChangeArrowheads="1"/>
          </p:cNvSpPr>
          <p:nvPr>
            <p:ph idx="1"/>
          </p:nvPr>
        </p:nvSpPr>
        <p:spPr>
          <a:xfrm>
            <a:off x="674688" y="1160463"/>
            <a:ext cx="9601200" cy="5638800"/>
          </a:xfrm>
        </p:spPr>
        <p:txBody>
          <a:bodyPr/>
          <a:lstStyle/>
          <a:p>
            <a:pPr marL="0" indent="0" defTabSz="869315" eaLnBrk="1" hangingPunct="1">
              <a:buFont typeface="Arial" panose="020B0604020202020204" pitchFamily="34" charset="0"/>
              <a:buNone/>
              <a:defRPr/>
            </a:pPr>
            <a:r>
              <a:rPr lang="zh-CN" altLang="en-US" sz="2400" b="1" dirty="0">
                <a:solidFill>
                  <a:srgbClr val="0000FF"/>
                </a:solidFill>
                <a:latin typeface="+mn-ea"/>
                <a:ea typeface="+mn-ea"/>
              </a:rPr>
              <a:t>频繁模式：</a:t>
            </a:r>
            <a:r>
              <a:rPr lang="zh-CN" altLang="en-US" sz="2400" dirty="0">
                <a:solidFill>
                  <a:srgbClr val="FF0000"/>
                </a:solidFill>
                <a:latin typeface="+mn-ea"/>
                <a:ea typeface="+mn-ea"/>
              </a:rPr>
              <a:t>频繁地出现在数据集中的模式</a:t>
            </a:r>
            <a:r>
              <a:rPr lang="en-US" altLang="zh-CN" sz="2400" dirty="0">
                <a:solidFill>
                  <a:srgbClr val="FF0000"/>
                </a:solidFill>
                <a:latin typeface="+mn-ea"/>
                <a:ea typeface="+mn-ea"/>
              </a:rPr>
              <a:t> </a:t>
            </a:r>
            <a:r>
              <a:rPr lang="zh-CN" altLang="en-US" sz="2400" dirty="0">
                <a:latin typeface="+mn-ea"/>
                <a:ea typeface="+mn-ea"/>
              </a:rPr>
              <a:t>，包括：</a:t>
            </a:r>
            <a:endParaRPr lang="en-US" altLang="zh-CN" sz="2400" dirty="0">
              <a:latin typeface="+mn-ea"/>
              <a:ea typeface="+mn-ea"/>
            </a:endParaRPr>
          </a:p>
          <a:p>
            <a:pPr marL="325120" indent="-325120" defTabSz="869315" eaLnBrk="1" hangingPunct="1">
              <a:buFont typeface="Wingdings" panose="05000000000000000000" pitchFamily="2" charset="2"/>
              <a:buChar char="Ø"/>
              <a:defRPr/>
            </a:pPr>
            <a:r>
              <a:rPr lang="zh-CN" altLang="en-US" sz="2000" b="1" dirty="0">
                <a:latin typeface="+mn-ea"/>
                <a:ea typeface="+mn-ea"/>
              </a:rPr>
              <a:t>频繁项集：</a:t>
            </a:r>
            <a:r>
              <a:rPr lang="zh-CN" altLang="en-US" sz="2000" dirty="0">
                <a:latin typeface="+mn-ea"/>
                <a:ea typeface="+mn-ea"/>
              </a:rPr>
              <a:t>如</a:t>
            </a:r>
            <a:r>
              <a:rPr lang="zh-CN" altLang="en-US" sz="2000" dirty="0">
                <a:solidFill>
                  <a:srgbClr val="FF0000"/>
                </a:solidFill>
                <a:latin typeface="+mn-ea"/>
                <a:ea typeface="+mn-ea"/>
              </a:rPr>
              <a:t>频繁地同时出现</a:t>
            </a:r>
            <a:r>
              <a:rPr lang="zh-CN" altLang="en-US" sz="2000" dirty="0">
                <a:latin typeface="+mn-ea"/>
                <a:ea typeface="+mn-ea"/>
              </a:rPr>
              <a:t>在交易数据集中的商品的集合，如：面包和牛奶、啤酒和尿布等；</a:t>
            </a:r>
            <a:endParaRPr lang="zh-CN" altLang="en-US" sz="2000" dirty="0">
              <a:latin typeface="+mn-ea"/>
              <a:ea typeface="+mn-ea"/>
            </a:endParaRPr>
          </a:p>
          <a:p>
            <a:pPr marL="325120" indent="-325120" defTabSz="869315" eaLnBrk="1" hangingPunct="1">
              <a:buSzPct val="80000"/>
              <a:buFont typeface="Wingdings" panose="05000000000000000000" pitchFamily="2" charset="2"/>
              <a:buChar char="Ø"/>
              <a:defRPr/>
            </a:pPr>
            <a:r>
              <a:rPr lang="zh-CN" altLang="en-US" sz="2000" b="1" dirty="0">
                <a:latin typeface="+mn-ea"/>
                <a:ea typeface="+mn-ea"/>
              </a:rPr>
              <a:t>频繁序列模式：</a:t>
            </a:r>
            <a:r>
              <a:rPr lang="zh-CN" altLang="en-US" sz="2000" dirty="0">
                <a:latin typeface="+mn-ea"/>
                <a:ea typeface="+mn-ea"/>
              </a:rPr>
              <a:t>频繁地出现在数据集中的序列，如：用户先买数码相机，再买内存卡；</a:t>
            </a:r>
            <a:endParaRPr lang="zh-CN" altLang="en-US" sz="2000" dirty="0">
              <a:latin typeface="+mn-ea"/>
              <a:ea typeface="+mn-ea"/>
            </a:endParaRPr>
          </a:p>
          <a:p>
            <a:pPr marL="325120" indent="-325120" defTabSz="869315" eaLnBrk="1" hangingPunct="1">
              <a:buSzPct val="80000"/>
              <a:buFont typeface="Wingdings" panose="05000000000000000000" pitchFamily="2" charset="2"/>
              <a:buChar char="Ø"/>
              <a:defRPr/>
            </a:pPr>
            <a:r>
              <a:rPr lang="zh-CN" altLang="en-US" sz="2000" b="1" dirty="0">
                <a:latin typeface="+mn-ea"/>
                <a:ea typeface="+mn-ea"/>
              </a:rPr>
              <a:t>频繁结构模式：</a:t>
            </a:r>
            <a:r>
              <a:rPr lang="zh-CN" altLang="en-US" sz="2000" dirty="0">
                <a:latin typeface="+mn-ea"/>
                <a:ea typeface="+mn-ea"/>
              </a:rPr>
              <a:t>一个子结构可能涉及不同的结构形式，如子图、子树等，可能与项集或子序列结合在一起。</a:t>
            </a:r>
            <a:endParaRPr lang="en-US" altLang="zh-CN" sz="2000" dirty="0">
              <a:latin typeface="+mn-ea"/>
              <a:ea typeface="+mn-ea"/>
            </a:endParaRPr>
          </a:p>
          <a:p>
            <a:pPr marL="0" indent="0" defTabSz="869315" eaLnBrk="1" hangingPunct="1">
              <a:buSzPct val="80000"/>
              <a:buFont typeface="Arial" panose="020B0604020202020204" pitchFamily="34" charset="0"/>
              <a:buNone/>
              <a:defRPr/>
            </a:pPr>
            <a:endParaRPr lang="en-US" altLang="zh-CN" sz="2000" b="1" dirty="0">
              <a:latin typeface="+mn-ea"/>
              <a:ea typeface="+mn-ea"/>
            </a:endParaRPr>
          </a:p>
          <a:p>
            <a:pPr marL="0" indent="0" defTabSz="869315" eaLnBrk="1" hangingPunct="1">
              <a:buSzPct val="80000"/>
              <a:buFont typeface="Arial" panose="020B0604020202020204" pitchFamily="34" charset="0"/>
              <a:buNone/>
              <a:defRPr/>
            </a:pPr>
            <a:r>
              <a:rPr lang="zh-CN" altLang="en-US" sz="2000" b="1" dirty="0">
                <a:latin typeface="+mn-ea"/>
                <a:ea typeface="+mn-ea"/>
              </a:rPr>
              <a:t>挖掘频繁模式的作用：</a:t>
            </a:r>
            <a:endParaRPr lang="en-US" altLang="zh-CN" sz="2000" b="1" dirty="0">
              <a:latin typeface="+mn-ea"/>
              <a:ea typeface="+mn-ea"/>
            </a:endParaRPr>
          </a:p>
          <a:p>
            <a:pPr marL="325120" indent="-325120" defTabSz="869315" eaLnBrk="1" hangingPunct="1">
              <a:buSzPct val="80000"/>
              <a:buFont typeface="Wingdings" panose="05000000000000000000" pitchFamily="2" charset="2"/>
              <a:buChar char="Ø"/>
              <a:defRPr/>
            </a:pPr>
            <a:r>
              <a:rPr lang="zh-CN" altLang="en-US" sz="2000" dirty="0">
                <a:latin typeface="+mn-ea"/>
                <a:ea typeface="+mn-ea"/>
              </a:rPr>
              <a:t>有利于</a:t>
            </a:r>
            <a:r>
              <a:rPr lang="zh-CN" altLang="en-US" sz="2000" dirty="0">
                <a:solidFill>
                  <a:srgbClr val="FF0000"/>
                </a:solidFill>
                <a:latin typeface="+mn-ea"/>
                <a:ea typeface="+mn-ea"/>
              </a:rPr>
              <a:t>发现数据之间的关联、相关性和许多其他有趣的联系</a:t>
            </a:r>
            <a:r>
              <a:rPr lang="zh-CN" altLang="en-US" sz="2000" dirty="0">
                <a:latin typeface="+mn-ea"/>
                <a:ea typeface="+mn-ea"/>
              </a:rPr>
              <a:t>；</a:t>
            </a:r>
            <a:endParaRPr lang="en-US" altLang="zh-CN" sz="2000" dirty="0">
              <a:latin typeface="+mn-ea"/>
              <a:ea typeface="+mn-ea"/>
            </a:endParaRPr>
          </a:p>
          <a:p>
            <a:pPr marL="325120" indent="-325120" defTabSz="869315" eaLnBrk="1" hangingPunct="1">
              <a:buSzPct val="80000"/>
              <a:buFont typeface="Wingdings" panose="05000000000000000000" pitchFamily="2" charset="2"/>
              <a:buChar char="Ø"/>
              <a:defRPr/>
            </a:pPr>
            <a:r>
              <a:rPr lang="zh-CN" altLang="en-US" sz="2000" dirty="0">
                <a:latin typeface="+mn-ea"/>
                <a:ea typeface="+mn-ea"/>
              </a:rPr>
              <a:t>有助于</a:t>
            </a:r>
            <a:r>
              <a:rPr lang="zh-CN" altLang="en-US" sz="2000" dirty="0">
                <a:solidFill>
                  <a:srgbClr val="FF0000"/>
                </a:solidFill>
                <a:latin typeface="+mn-ea"/>
                <a:ea typeface="+mn-ea"/>
              </a:rPr>
              <a:t>数据分类、聚类和其他数据挖掘任务</a:t>
            </a:r>
            <a:r>
              <a:rPr lang="zh-CN" altLang="en-US" sz="2000" dirty="0">
                <a:latin typeface="+mn-ea"/>
                <a:ea typeface="+mn-ea"/>
              </a:rPr>
              <a:t>。</a:t>
            </a:r>
            <a:endParaRPr lang="en-US" altLang="zh-CN" sz="2000" dirty="0">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a:t>
            </a:r>
            <a:r>
              <a:rPr lang="en-US" altLang="zh-CN" sz="4400" dirty="0">
                <a:latin typeface="楷体" panose="02010609060101010101" pitchFamily="49" charset="-122"/>
                <a:ea typeface="楷体" panose="02010609060101010101" pitchFamily="49" charset="-122"/>
              </a:rPr>
              <a:t>6.1 </a:t>
            </a:r>
            <a:r>
              <a:rPr lang="zh-CN" altLang="en-US" sz="4400" dirty="0">
                <a:latin typeface="楷体" panose="02010609060101010101" pitchFamily="49" charset="-122"/>
                <a:ea typeface="楷体" panose="02010609060101010101" pitchFamily="49" charset="-122"/>
              </a:rPr>
              <a:t>基本概念</a:t>
            </a:r>
            <a:endParaRPr lang="zh-CN" altLang="en-US" sz="4400" dirty="0">
              <a:latin typeface="楷体" panose="02010609060101010101" pitchFamily="49" charset="-122"/>
              <a:ea typeface="楷体" panose="02010609060101010101" pitchFamily="49" charset="-122"/>
            </a:endParaRPr>
          </a:p>
        </p:txBody>
      </p:sp>
      <p:sp>
        <p:nvSpPr>
          <p:cNvPr id="4" name="Rectangle 3"/>
          <p:cNvSpPr>
            <a:spLocks noGrp="1" noChangeArrowheads="1"/>
          </p:cNvSpPr>
          <p:nvPr>
            <p:ph idx="1"/>
          </p:nvPr>
        </p:nvSpPr>
        <p:spPr>
          <a:xfrm>
            <a:off x="1655763" y="1160463"/>
            <a:ext cx="2133600" cy="533400"/>
          </a:xfrm>
        </p:spPr>
        <p:txBody>
          <a:bodyPr anchor="ctr"/>
          <a:lstStyle/>
          <a:p>
            <a:pPr marL="0" indent="0" algn="ctr" defTabSz="869315" eaLnBrk="1" hangingPunct="1">
              <a:buFont typeface="Arial" panose="020B0604020202020204" pitchFamily="34" charset="0"/>
              <a:buNone/>
              <a:defRPr/>
            </a:pPr>
            <a:r>
              <a:rPr lang="zh-CN" altLang="en-US" sz="2400" b="1" dirty="0">
                <a:solidFill>
                  <a:srgbClr val="0000FF"/>
                </a:solidFill>
                <a:latin typeface="+mn-ea"/>
                <a:ea typeface="+mn-ea"/>
              </a:rPr>
              <a:t>购物篮分析</a:t>
            </a:r>
            <a:endParaRPr lang="en-US" altLang="zh-CN" sz="2400" b="1" dirty="0">
              <a:solidFill>
                <a:srgbClr val="0000FF"/>
              </a:solidFill>
              <a:latin typeface="+mn-ea"/>
              <a:ea typeface="+mn-ea"/>
            </a:endParaRPr>
          </a:p>
        </p:txBody>
      </p:sp>
      <p:pic>
        <p:nvPicPr>
          <p:cNvPr id="18436"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2288" y="1770063"/>
            <a:ext cx="4400550" cy="343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3"/>
          <p:cNvSpPr txBox="1">
            <a:spLocks noChangeArrowheads="1"/>
          </p:cNvSpPr>
          <p:nvPr/>
        </p:nvSpPr>
        <p:spPr bwMode="auto">
          <a:xfrm>
            <a:off x="5435600" y="1160463"/>
            <a:ext cx="5105400" cy="404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789" tIns="51393" rIns="102789" bIns="51393"/>
          <a:lstStyle>
            <a:lvl1pPr marL="325120" indent="-325120" algn="l" defTabSz="869315" rtl="0" eaLnBrk="1" fontAlgn="base" hangingPunct="1">
              <a:lnSpc>
                <a:spcPct val="150000"/>
              </a:lnSpc>
              <a:spcBef>
                <a:spcPts val="0"/>
              </a:spcBef>
              <a:spcAft>
                <a:spcPct val="0"/>
              </a:spcAft>
              <a:buFont typeface="Arial" panose="020B0604020202020204" pitchFamily="34" charset="0"/>
              <a:buChar char="•"/>
              <a:defRPr sz="3050" kern="1200">
                <a:solidFill>
                  <a:schemeClr val="tx1"/>
                </a:solidFill>
                <a:latin typeface="+mn-lt"/>
                <a:ea typeface="PMingLiU" panose="02020500000000000000" pitchFamily="18" charset="-120"/>
                <a:cs typeface="+mn-cs"/>
              </a:defRPr>
            </a:lvl1pPr>
            <a:lvl2pPr marL="706755" indent="-271780" algn="l" defTabSz="869315" rtl="0" eaLnBrk="1" fontAlgn="base" hangingPunct="1">
              <a:lnSpc>
                <a:spcPct val="150000"/>
              </a:lnSpc>
              <a:spcBef>
                <a:spcPts val="0"/>
              </a:spcBef>
              <a:spcAft>
                <a:spcPct val="0"/>
              </a:spcAft>
              <a:buFont typeface="Arial" panose="020B0604020202020204" pitchFamily="34" charset="0"/>
              <a:buChar char="–"/>
              <a:defRPr sz="2710" kern="1200">
                <a:solidFill>
                  <a:schemeClr val="tx1"/>
                </a:solidFill>
                <a:latin typeface="+mn-lt"/>
                <a:ea typeface="PMingLiU" panose="02020500000000000000" pitchFamily="18" charset="-120"/>
                <a:cs typeface="+mn-cs"/>
              </a:defRPr>
            </a:lvl2pPr>
            <a:lvl3pPr marL="1087120" indent="-216535" algn="l" defTabSz="869315" rtl="0" eaLnBrk="1" fontAlgn="base" hangingPunct="1">
              <a:lnSpc>
                <a:spcPct val="150000"/>
              </a:lnSpc>
              <a:spcBef>
                <a:spcPts val="0"/>
              </a:spcBef>
              <a:spcAft>
                <a:spcPct val="0"/>
              </a:spcAft>
              <a:buFont typeface="Arial" panose="020B0604020202020204" pitchFamily="34" charset="0"/>
              <a:buChar char="•"/>
              <a:defRPr sz="2285" kern="1200">
                <a:solidFill>
                  <a:schemeClr val="tx1"/>
                </a:solidFill>
                <a:latin typeface="+mn-lt"/>
                <a:ea typeface="PMingLiU" panose="02020500000000000000" pitchFamily="18" charset="-120"/>
                <a:cs typeface="+mn-cs"/>
              </a:defRPr>
            </a:lvl3pPr>
            <a:lvl4pPr marL="1522730" indent="-216535" algn="l" defTabSz="869315" rtl="0" eaLnBrk="1" fontAlgn="base" hangingPunct="1">
              <a:lnSpc>
                <a:spcPct val="150000"/>
              </a:lnSpc>
              <a:spcBef>
                <a:spcPts val="0"/>
              </a:spcBef>
              <a:spcAft>
                <a:spcPct val="0"/>
              </a:spcAft>
              <a:buFont typeface="Arial" panose="020B0604020202020204" pitchFamily="34" charset="0"/>
              <a:buChar char="–"/>
              <a:defRPr sz="1945" kern="1200">
                <a:solidFill>
                  <a:schemeClr val="tx1"/>
                </a:solidFill>
                <a:latin typeface="+mn-lt"/>
                <a:ea typeface="PMingLiU" panose="02020500000000000000" pitchFamily="18" charset="-120"/>
                <a:cs typeface="+mn-cs"/>
              </a:defRPr>
            </a:lvl4pPr>
            <a:lvl5pPr marL="1957070" indent="-216535" algn="l" defTabSz="869315" rtl="0" eaLnBrk="1" fontAlgn="base" hangingPunct="1">
              <a:lnSpc>
                <a:spcPct val="150000"/>
              </a:lnSpc>
              <a:spcBef>
                <a:spcPts val="0"/>
              </a:spcBef>
              <a:spcAft>
                <a:spcPct val="0"/>
              </a:spcAft>
              <a:buFont typeface="Arial" panose="020B0604020202020204" pitchFamily="34" charset="0"/>
              <a:buChar char="»"/>
              <a:defRPr sz="1945" kern="1200">
                <a:solidFill>
                  <a:schemeClr val="tx1"/>
                </a:solidFill>
                <a:latin typeface="+mn-lt"/>
                <a:ea typeface="PMingLiU" panose="02020500000000000000" pitchFamily="18" charset="-120"/>
                <a:cs typeface="+mn-cs"/>
              </a:defRPr>
            </a:lvl5pPr>
            <a:lvl6pPr marL="2393315" indent="-217805" algn="l" defTabSz="869950" rtl="0" eaLnBrk="1" latinLnBrk="0" hangingPunct="1">
              <a:spcBef>
                <a:spcPct val="20000"/>
              </a:spcBef>
              <a:buFont typeface="Arial" panose="020B0604020202020204" pitchFamily="34" charset="0"/>
              <a:buChar char="•"/>
              <a:defRPr sz="1945" kern="1200">
                <a:solidFill>
                  <a:schemeClr val="tx1"/>
                </a:solidFill>
                <a:latin typeface="+mn-lt"/>
                <a:ea typeface="+mn-ea"/>
                <a:cs typeface="+mn-cs"/>
              </a:defRPr>
            </a:lvl6pPr>
            <a:lvl7pPr marL="2828290" indent="-217805" algn="l" defTabSz="869950" rtl="0" eaLnBrk="1" latinLnBrk="0" hangingPunct="1">
              <a:spcBef>
                <a:spcPct val="20000"/>
              </a:spcBef>
              <a:buFont typeface="Arial" panose="020B0604020202020204" pitchFamily="34" charset="0"/>
              <a:buChar char="•"/>
              <a:defRPr sz="1945" kern="1200">
                <a:solidFill>
                  <a:schemeClr val="tx1"/>
                </a:solidFill>
                <a:latin typeface="+mn-lt"/>
                <a:ea typeface="+mn-ea"/>
                <a:cs typeface="+mn-cs"/>
              </a:defRPr>
            </a:lvl7pPr>
            <a:lvl8pPr marL="3263265" indent="-217805" algn="l" defTabSz="869950" rtl="0" eaLnBrk="1" latinLnBrk="0" hangingPunct="1">
              <a:spcBef>
                <a:spcPct val="20000"/>
              </a:spcBef>
              <a:buFont typeface="Arial" panose="020B0604020202020204" pitchFamily="34" charset="0"/>
              <a:buChar char="•"/>
              <a:defRPr sz="1945" kern="1200">
                <a:solidFill>
                  <a:schemeClr val="tx1"/>
                </a:solidFill>
                <a:latin typeface="+mn-lt"/>
                <a:ea typeface="+mn-ea"/>
                <a:cs typeface="+mn-cs"/>
              </a:defRPr>
            </a:lvl8pPr>
            <a:lvl9pPr marL="3698240" indent="-217805" algn="l" defTabSz="869950" rtl="0" eaLnBrk="1" latinLnBrk="0" hangingPunct="1">
              <a:spcBef>
                <a:spcPct val="20000"/>
              </a:spcBef>
              <a:buFont typeface="Arial" panose="020B0604020202020204" pitchFamily="34" charset="0"/>
              <a:buChar char="•"/>
              <a:defRPr sz="1945" kern="1200">
                <a:solidFill>
                  <a:schemeClr val="tx1"/>
                </a:solidFill>
                <a:latin typeface="+mn-lt"/>
                <a:ea typeface="+mn-ea"/>
                <a:cs typeface="+mn-cs"/>
              </a:defRPr>
            </a:lvl9pPr>
          </a:lstStyle>
          <a:p>
            <a:pPr marL="0" indent="0">
              <a:buFont typeface="Arial" panose="020B0604020202020204" pitchFamily="34" charset="0"/>
              <a:buNone/>
              <a:defRPr/>
            </a:pPr>
            <a:r>
              <a:rPr lang="zh-CN" altLang="en-US" sz="2400" dirty="0">
                <a:solidFill>
                  <a:srgbClr val="0000FF"/>
                </a:solidFill>
                <a:latin typeface="+mn-ea"/>
                <a:ea typeface="+mn-ea"/>
              </a:rPr>
              <a:t>购物篮分析结果：</a:t>
            </a:r>
            <a:endParaRPr lang="en-US" altLang="zh-CN" sz="2400" dirty="0">
              <a:solidFill>
                <a:srgbClr val="0000FF"/>
              </a:solidFill>
              <a:latin typeface="+mn-ea"/>
              <a:ea typeface="+mn-ea"/>
            </a:endParaRPr>
          </a:p>
          <a:p>
            <a:pPr>
              <a:buFont typeface="Wingdings" panose="05000000000000000000" pitchFamily="2" charset="2"/>
              <a:buChar char="Ø"/>
              <a:defRPr/>
            </a:pPr>
            <a:r>
              <a:rPr lang="zh-CN" altLang="en-US" sz="2000" b="0" dirty="0">
                <a:latin typeface="+mn-ea"/>
                <a:ea typeface="+mn-ea"/>
              </a:rPr>
              <a:t>可以用于营销策划、广告策划或新的分类设计。</a:t>
            </a:r>
            <a:endParaRPr lang="en-US" altLang="zh-CN" sz="2000" b="0" dirty="0">
              <a:latin typeface="+mn-ea"/>
              <a:ea typeface="+mn-ea"/>
            </a:endParaRPr>
          </a:p>
          <a:p>
            <a:pPr>
              <a:buFont typeface="Wingdings" panose="05000000000000000000" pitchFamily="2" charset="2"/>
              <a:buChar char="Ø"/>
              <a:defRPr/>
            </a:pPr>
            <a:r>
              <a:rPr lang="zh-CN" altLang="en-US" sz="2000" b="0" dirty="0">
                <a:latin typeface="+mn-ea"/>
                <a:ea typeface="+mn-ea"/>
              </a:rPr>
              <a:t>可以帮助零售上规划什么商品降价出售。</a:t>
            </a:r>
            <a:endParaRPr lang="en-US" altLang="zh-CN" sz="2000" b="0" dirty="0">
              <a:latin typeface="+mn-ea"/>
              <a:ea typeface="+mn-ea"/>
            </a:endParaRPr>
          </a:p>
          <a:p>
            <a:pPr>
              <a:buFont typeface="Wingdings" panose="05000000000000000000" pitchFamily="2" charset="2"/>
              <a:buChar char="Ø"/>
              <a:defRPr/>
            </a:pPr>
            <a:endParaRPr lang="en-US" altLang="zh-CN" sz="2000" b="0" dirty="0">
              <a:latin typeface="+mn-ea"/>
              <a:ea typeface="+mn-ea"/>
            </a:endParaRPr>
          </a:p>
          <a:p>
            <a:pPr marL="0" indent="0">
              <a:buFont typeface="Arial" panose="020B0604020202020204" pitchFamily="34" charset="0"/>
              <a:buNone/>
              <a:defRPr/>
            </a:pPr>
            <a:r>
              <a:rPr lang="zh-CN" altLang="en-US" sz="2400" dirty="0">
                <a:solidFill>
                  <a:srgbClr val="0000FF"/>
                </a:solidFill>
                <a:latin typeface="+mn-ea"/>
                <a:ea typeface="+mn-ea"/>
              </a:rPr>
              <a:t>如何衡量商品的频繁购买关联？</a:t>
            </a:r>
            <a:endParaRPr lang="en-US" altLang="zh-CN" sz="2400" dirty="0">
              <a:solidFill>
                <a:srgbClr val="0000FF"/>
              </a:solidFill>
              <a:latin typeface="+mn-ea"/>
              <a:ea typeface="+mn-ea"/>
            </a:endParaRPr>
          </a:p>
          <a:p>
            <a:pPr marL="0" indent="0">
              <a:buFont typeface="Arial" panose="020B0604020202020204" pitchFamily="34" charset="0"/>
              <a:buNone/>
              <a:defRPr/>
            </a:pPr>
            <a:r>
              <a:rPr lang="zh-CN" altLang="en-US" sz="2000" b="0" dirty="0">
                <a:latin typeface="+mn-ea"/>
                <a:ea typeface="+mn-ea"/>
              </a:rPr>
              <a:t>关联规则：</a:t>
            </a:r>
            <a:endParaRPr lang="en-US" altLang="zh-CN" sz="2000" b="0" dirty="0">
              <a:latin typeface="+mn-ea"/>
              <a:ea typeface="+mn-ea"/>
            </a:endParaRPr>
          </a:p>
          <a:p>
            <a:pPr marL="0" indent="0">
              <a:buFont typeface="Arial" panose="020B0604020202020204" pitchFamily="34" charset="0"/>
              <a:buNone/>
              <a:defRPr/>
            </a:pPr>
            <a:r>
              <a:rPr lang="zh-CN" altLang="en-US" sz="2000" b="0" dirty="0">
                <a:latin typeface="+mn-ea"/>
              </a:rPr>
              <a:t>   </a:t>
            </a:r>
            <a:r>
              <a:rPr lang="en-US" altLang="zh-CN" sz="2000" b="0" dirty="0">
                <a:latin typeface="+mn-ea"/>
              </a:rPr>
              <a:t>A =&gt; B [support = s; confidence = c]</a:t>
            </a:r>
            <a:endParaRPr lang="en-US" altLang="zh-CN" sz="2000" b="0" dirty="0">
              <a:latin typeface="+mn-ea"/>
            </a:endParaRPr>
          </a:p>
        </p:txBody>
      </p:sp>
      <p:sp>
        <p:nvSpPr>
          <p:cNvPr id="3" name="矩形 2"/>
          <p:cNvSpPr/>
          <p:nvPr/>
        </p:nvSpPr>
        <p:spPr>
          <a:xfrm>
            <a:off x="6923088" y="5057775"/>
            <a:ext cx="955675" cy="400050"/>
          </a:xfrm>
          <a:prstGeom prst="rect">
            <a:avLst/>
          </a:prstGeom>
        </p:spPr>
        <p:txBody>
          <a:bodyPr wrap="none">
            <a:spAutoFit/>
          </a:bodyPr>
          <a:lstStyle/>
          <a:p>
            <a:pPr>
              <a:defRPr/>
            </a:pPr>
            <a:r>
              <a:rPr lang="zh-CN" altLang="en-US" sz="2000" b="0" dirty="0">
                <a:solidFill>
                  <a:srgbClr val="FF0000"/>
                </a:solidFill>
                <a:latin typeface="+mn-ea"/>
                <a:ea typeface="+mn-ea"/>
              </a:rPr>
              <a:t>支持度</a:t>
            </a:r>
            <a:endParaRPr lang="zh-CN" altLang="en-US" sz="2000" dirty="0">
              <a:solidFill>
                <a:srgbClr val="FF0000"/>
              </a:solidFill>
              <a:ea typeface="+mn-ea"/>
            </a:endParaRPr>
          </a:p>
        </p:txBody>
      </p:sp>
      <p:sp>
        <p:nvSpPr>
          <p:cNvPr id="7" name="矩形 6"/>
          <p:cNvSpPr/>
          <p:nvPr/>
        </p:nvSpPr>
        <p:spPr>
          <a:xfrm>
            <a:off x="8732838" y="5057775"/>
            <a:ext cx="954087" cy="400050"/>
          </a:xfrm>
          <a:prstGeom prst="rect">
            <a:avLst/>
          </a:prstGeom>
        </p:spPr>
        <p:txBody>
          <a:bodyPr wrap="none">
            <a:spAutoFit/>
          </a:bodyPr>
          <a:lstStyle/>
          <a:p>
            <a:pPr>
              <a:defRPr/>
            </a:pPr>
            <a:r>
              <a:rPr lang="zh-CN" altLang="en-US" sz="2000" b="0" dirty="0">
                <a:solidFill>
                  <a:srgbClr val="FF0000"/>
                </a:solidFill>
                <a:latin typeface="+mn-ea"/>
                <a:ea typeface="+mn-ea"/>
              </a:rPr>
              <a:t>置信度</a:t>
            </a:r>
            <a:endParaRPr lang="zh-CN" altLang="en-US" sz="2000" dirty="0">
              <a:solidFill>
                <a:srgbClr val="FF0000"/>
              </a:solidFill>
              <a:ea typeface="+mn-ea"/>
            </a:endParaRPr>
          </a:p>
        </p:txBody>
      </p:sp>
      <p:graphicFrame>
        <p:nvGraphicFramePr>
          <p:cNvPr id="8" name="表格 7"/>
          <p:cNvGraphicFramePr>
            <a:graphicFrameLocks noGrp="1"/>
          </p:cNvGraphicFramePr>
          <p:nvPr/>
        </p:nvGraphicFramePr>
        <p:xfrm>
          <a:off x="1116013" y="5241925"/>
          <a:ext cx="3214687" cy="1849439"/>
        </p:xfrm>
        <a:graphic>
          <a:graphicData uri="http://schemas.openxmlformats.org/drawingml/2006/table">
            <a:tbl>
              <a:tblPr firstRow="1" bandRow="1">
                <a:tableStyleId>{5C22544A-7EE6-4342-B048-85BDC9FD1C3A}</a:tableStyleId>
              </a:tblPr>
              <a:tblGrid>
                <a:gridCol w="685597"/>
                <a:gridCol w="2529090"/>
              </a:tblGrid>
              <a:tr h="365823">
                <a:tc>
                  <a:txBody>
                    <a:bodyPr/>
                    <a:lstStyle/>
                    <a:p>
                      <a:pPr algn="ctr"/>
                      <a:r>
                        <a:rPr lang="en-US" altLang="zh-CN" sz="1800" dirty="0">
                          <a:solidFill>
                            <a:schemeClr val="tx1"/>
                          </a:solidFill>
                          <a:latin typeface="+mn-ea"/>
                          <a:ea typeface="+mn-ea"/>
                        </a:rPr>
                        <a:t>TID</a:t>
                      </a:r>
                      <a:endParaRPr lang="zh-CN" altLang="en-US" sz="1800" dirty="0">
                        <a:solidFill>
                          <a:schemeClr val="tx1"/>
                        </a:solidFill>
                        <a:latin typeface="+mn-ea"/>
                        <a:ea typeface="+mn-ea"/>
                      </a:endParaRPr>
                    </a:p>
                  </a:txBody>
                  <a:tcPr marL="91413" marR="91413" marT="45728" marB="4572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800" dirty="0">
                          <a:solidFill>
                            <a:schemeClr val="tx1"/>
                          </a:solidFill>
                          <a:latin typeface="+mn-ea"/>
                          <a:ea typeface="+mn-ea"/>
                        </a:rPr>
                        <a:t>Items</a:t>
                      </a:r>
                      <a:endParaRPr lang="zh-CN" altLang="en-US" sz="1800" dirty="0">
                        <a:solidFill>
                          <a:schemeClr val="tx1"/>
                        </a:solidFill>
                        <a:latin typeface="+mn-ea"/>
                        <a:ea typeface="+mn-ea"/>
                      </a:endParaRPr>
                    </a:p>
                  </a:txBody>
                  <a:tcPr marL="91413" marR="91413" marT="45728" marB="4572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904">
                <a:tc>
                  <a:txBody>
                    <a:bodyPr/>
                    <a:lstStyle/>
                    <a:p>
                      <a:pPr algn="ctr"/>
                      <a:r>
                        <a:rPr lang="en-US" altLang="zh-CN" sz="1800" dirty="0">
                          <a:solidFill>
                            <a:schemeClr val="tx1"/>
                          </a:solidFill>
                          <a:latin typeface="+mn-ea"/>
                          <a:ea typeface="+mn-ea"/>
                        </a:rPr>
                        <a:t>1</a:t>
                      </a:r>
                      <a:endParaRPr lang="zh-CN" altLang="en-US" sz="1800" dirty="0">
                        <a:solidFill>
                          <a:schemeClr val="tx1"/>
                        </a:solidFill>
                        <a:latin typeface="+mn-ea"/>
                        <a:ea typeface="+mn-ea"/>
                      </a:endParaRPr>
                    </a:p>
                  </a:txBody>
                  <a:tcPr marL="91413" marR="91413" marT="45728" marB="4572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1800" b="0" dirty="0">
                          <a:latin typeface="+mn-ea"/>
                          <a:ea typeface="+mn-ea"/>
                        </a:rPr>
                        <a:t>牛奶，面包，麦片</a:t>
                      </a:r>
                      <a:endParaRPr lang="zh-CN" altLang="en-US" sz="1800" dirty="0">
                        <a:solidFill>
                          <a:schemeClr val="tx1"/>
                        </a:solidFill>
                        <a:latin typeface="+mn-ea"/>
                        <a:ea typeface="+mn-ea"/>
                      </a:endParaRPr>
                    </a:p>
                  </a:txBody>
                  <a:tcPr marL="91413" marR="91413" marT="45728" marB="4572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904">
                <a:tc>
                  <a:txBody>
                    <a:bodyPr/>
                    <a:lstStyle/>
                    <a:p>
                      <a:pPr algn="ctr"/>
                      <a:r>
                        <a:rPr lang="en-US" altLang="zh-CN" sz="1800" dirty="0">
                          <a:solidFill>
                            <a:schemeClr val="tx1"/>
                          </a:solidFill>
                          <a:latin typeface="+mn-ea"/>
                          <a:ea typeface="+mn-ea"/>
                        </a:rPr>
                        <a:t>2</a:t>
                      </a:r>
                      <a:endParaRPr lang="zh-CN" altLang="en-US" sz="1800" dirty="0">
                        <a:solidFill>
                          <a:schemeClr val="tx1"/>
                        </a:solidFill>
                        <a:latin typeface="+mn-ea"/>
                        <a:ea typeface="+mn-ea"/>
                      </a:endParaRPr>
                    </a:p>
                  </a:txBody>
                  <a:tcPr marL="91413" marR="91413" marT="45728" marB="4572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1800" b="0" dirty="0">
                          <a:latin typeface="+mn-ea"/>
                          <a:ea typeface="+mn-ea"/>
                        </a:rPr>
                        <a:t>牛奶，面包，糖，鸡蛋</a:t>
                      </a:r>
                      <a:endParaRPr lang="zh-CN" altLang="en-US" sz="1800" dirty="0">
                        <a:solidFill>
                          <a:schemeClr val="tx1"/>
                        </a:solidFill>
                        <a:latin typeface="+mn-ea"/>
                        <a:ea typeface="+mn-ea"/>
                      </a:endParaRPr>
                    </a:p>
                  </a:txBody>
                  <a:tcPr marL="91413" marR="91413" marT="45728" marB="4572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904">
                <a:tc>
                  <a:txBody>
                    <a:bodyPr/>
                    <a:lstStyle/>
                    <a:p>
                      <a:pPr algn="ctr"/>
                      <a:r>
                        <a:rPr lang="en-US" altLang="zh-CN" sz="1800" dirty="0">
                          <a:solidFill>
                            <a:schemeClr val="tx1"/>
                          </a:solidFill>
                          <a:latin typeface="+mn-ea"/>
                          <a:ea typeface="+mn-ea"/>
                        </a:rPr>
                        <a:t>3</a:t>
                      </a:r>
                      <a:endParaRPr lang="zh-CN" altLang="en-US" sz="1800" dirty="0">
                        <a:solidFill>
                          <a:schemeClr val="tx1"/>
                        </a:solidFill>
                        <a:latin typeface="+mn-ea"/>
                        <a:ea typeface="+mn-ea"/>
                      </a:endParaRPr>
                    </a:p>
                  </a:txBody>
                  <a:tcPr marL="91413" marR="91413" marT="45728" marB="4572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1800" b="0" dirty="0">
                          <a:latin typeface="+mn-ea"/>
                          <a:ea typeface="+mn-ea"/>
                        </a:rPr>
                        <a:t>牛奶，面包，黄油</a:t>
                      </a:r>
                      <a:endParaRPr lang="zh-CN" altLang="en-US" sz="1800" dirty="0">
                        <a:solidFill>
                          <a:schemeClr val="tx1"/>
                        </a:solidFill>
                        <a:latin typeface="+mn-ea"/>
                        <a:ea typeface="+mn-ea"/>
                      </a:endParaRPr>
                    </a:p>
                  </a:txBody>
                  <a:tcPr marL="91413" marR="91413" marT="45728" marB="4572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904">
                <a:tc>
                  <a:txBody>
                    <a:bodyPr/>
                    <a:lstStyle/>
                    <a:p>
                      <a:pPr algn="ctr"/>
                      <a:r>
                        <a:rPr lang="en-US" altLang="zh-CN" sz="1800" dirty="0">
                          <a:solidFill>
                            <a:schemeClr val="tx1"/>
                          </a:solidFill>
                          <a:latin typeface="+mn-ea"/>
                          <a:ea typeface="+mn-ea"/>
                        </a:rPr>
                        <a:t>4</a:t>
                      </a:r>
                      <a:endParaRPr lang="zh-CN" altLang="en-US" sz="1800" dirty="0">
                        <a:solidFill>
                          <a:schemeClr val="tx1"/>
                        </a:solidFill>
                        <a:latin typeface="+mn-ea"/>
                        <a:ea typeface="+mn-ea"/>
                      </a:endParaRPr>
                    </a:p>
                  </a:txBody>
                  <a:tcPr marL="91413" marR="91413" marT="45728" marB="4572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1800" b="0" dirty="0">
                          <a:latin typeface="+mn-ea"/>
                          <a:ea typeface="+mn-ea"/>
                        </a:rPr>
                        <a:t>糖，鸡蛋</a:t>
                      </a:r>
                      <a:endParaRPr lang="zh-CN" altLang="en-US" sz="1800" dirty="0">
                        <a:solidFill>
                          <a:schemeClr val="tx1"/>
                        </a:solidFill>
                        <a:latin typeface="+mn-ea"/>
                        <a:ea typeface="+mn-ea"/>
                      </a:endParaRPr>
                    </a:p>
                  </a:txBody>
                  <a:tcPr marL="91413" marR="91413" marT="45728" marB="4572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3"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a:t>
            </a:r>
            <a:r>
              <a:rPr lang="en-US" altLang="zh-CN" sz="4400" dirty="0">
                <a:latin typeface="楷体" panose="02010609060101010101" pitchFamily="49" charset="-122"/>
                <a:ea typeface="楷体" panose="02010609060101010101" pitchFamily="49" charset="-122"/>
              </a:rPr>
              <a:t>6.1 </a:t>
            </a:r>
            <a:r>
              <a:rPr lang="zh-CN" altLang="en-US" sz="4400" dirty="0">
                <a:latin typeface="楷体" panose="02010609060101010101" pitchFamily="49" charset="-122"/>
                <a:ea typeface="楷体" panose="02010609060101010101" pitchFamily="49" charset="-122"/>
              </a:rPr>
              <a:t>基本概念</a:t>
            </a:r>
            <a:endParaRPr lang="zh-CN" altLang="en-US" sz="4400" dirty="0">
              <a:latin typeface="楷体" panose="02010609060101010101" pitchFamily="49" charset="-122"/>
              <a:ea typeface="楷体" panose="02010609060101010101" pitchFamily="49" charset="-122"/>
            </a:endParaRPr>
          </a:p>
        </p:txBody>
      </p:sp>
      <p:sp>
        <p:nvSpPr>
          <p:cNvPr id="4" name="Rectangle 3"/>
          <p:cNvSpPr>
            <a:spLocks noGrp="1" noChangeArrowheads="1"/>
          </p:cNvSpPr>
          <p:nvPr>
            <p:ph idx="1"/>
          </p:nvPr>
        </p:nvSpPr>
        <p:spPr>
          <a:xfrm>
            <a:off x="522288" y="1160463"/>
            <a:ext cx="6019800" cy="5638800"/>
          </a:xfrm>
        </p:spPr>
        <p:txBody>
          <a:bodyPr/>
          <a:lstStyle/>
          <a:p>
            <a:pPr marL="325120" indent="-325120" defTabSz="869315" eaLnBrk="1" hangingPunct="1">
              <a:buFont typeface="Wingdings" panose="05000000000000000000" pitchFamily="2" charset="2"/>
              <a:buChar char="Ø"/>
              <a:defRPr/>
            </a:pPr>
            <a:r>
              <a:rPr lang="zh-CN" altLang="en-US" sz="2000" b="1" dirty="0">
                <a:solidFill>
                  <a:srgbClr val="0000FF"/>
                </a:solidFill>
                <a:latin typeface="+mn-ea"/>
                <a:ea typeface="+mn-ea"/>
              </a:rPr>
              <a:t>项集：</a:t>
            </a:r>
            <a:r>
              <a:rPr lang="zh-CN" altLang="en-US" sz="2000" dirty="0">
                <a:latin typeface="+mn-ea"/>
                <a:ea typeface="+mn-ea"/>
              </a:rPr>
              <a:t>项的集合。</a:t>
            </a:r>
            <a:endParaRPr lang="en-US" altLang="zh-CN" sz="2000" dirty="0">
              <a:latin typeface="+mn-ea"/>
              <a:ea typeface="+mn-ea"/>
            </a:endParaRPr>
          </a:p>
          <a:p>
            <a:pPr marL="800100" lvl="1" indent="-342900" defTabSz="869315" eaLnBrk="1" hangingPunct="1">
              <a:buFont typeface="Arial" panose="020B0604020202020204" pitchFamily="34" charset="0"/>
              <a:buChar char="•"/>
              <a:defRPr/>
            </a:pPr>
            <a:r>
              <a:rPr lang="en-US" altLang="zh-CN" sz="2000" dirty="0">
                <a:latin typeface="+mn-ea"/>
                <a:ea typeface="+mn-ea"/>
              </a:rPr>
              <a:t>k</a:t>
            </a:r>
            <a:r>
              <a:rPr lang="zh-CN" altLang="en-US" sz="2000" dirty="0">
                <a:latin typeface="+mn-ea"/>
                <a:ea typeface="+mn-ea"/>
              </a:rPr>
              <a:t>项集：包含</a:t>
            </a:r>
            <a:r>
              <a:rPr lang="en-US" altLang="zh-CN" sz="2000" dirty="0">
                <a:latin typeface="+mn-ea"/>
                <a:ea typeface="+mn-ea"/>
              </a:rPr>
              <a:t>k</a:t>
            </a:r>
            <a:r>
              <a:rPr lang="zh-CN" altLang="en-US" sz="2000" dirty="0">
                <a:latin typeface="+mn-ea"/>
                <a:ea typeface="+mn-ea"/>
              </a:rPr>
              <a:t>个项的项集，如</a:t>
            </a:r>
            <a:r>
              <a:rPr lang="en-US" altLang="zh-CN" sz="2000" dirty="0">
                <a:latin typeface="+mn-ea"/>
                <a:ea typeface="+mn-ea"/>
              </a:rPr>
              <a:t> {</a:t>
            </a:r>
            <a:r>
              <a:rPr lang="zh-CN" altLang="en-US" sz="2000" dirty="0">
                <a:latin typeface="+mn-ea"/>
                <a:ea typeface="+mn-ea"/>
              </a:rPr>
              <a:t>牛奶，面包</a:t>
            </a:r>
            <a:r>
              <a:rPr lang="en-US" altLang="zh-CN" sz="2000" dirty="0">
                <a:latin typeface="+mn-ea"/>
                <a:ea typeface="+mn-ea"/>
              </a:rPr>
              <a:t>}</a:t>
            </a:r>
            <a:r>
              <a:rPr lang="zh-CN" altLang="en-US" sz="2000" dirty="0">
                <a:latin typeface="+mn-ea"/>
                <a:ea typeface="+mn-ea"/>
              </a:rPr>
              <a:t>是一个</a:t>
            </a:r>
            <a:r>
              <a:rPr lang="en-US" altLang="zh-CN" sz="2000" dirty="0">
                <a:latin typeface="+mn-ea"/>
                <a:ea typeface="+mn-ea"/>
              </a:rPr>
              <a:t>2</a:t>
            </a:r>
            <a:r>
              <a:rPr lang="zh-CN" altLang="en-US" sz="2000" dirty="0">
                <a:latin typeface="+mn-ea"/>
                <a:ea typeface="+mn-ea"/>
              </a:rPr>
              <a:t>项集。</a:t>
            </a:r>
            <a:endParaRPr lang="en-US" altLang="zh-CN" sz="2000" dirty="0">
              <a:latin typeface="+mn-ea"/>
              <a:ea typeface="+mn-ea"/>
            </a:endParaRPr>
          </a:p>
          <a:p>
            <a:pPr marL="325120" indent="-325120" defTabSz="869315" eaLnBrk="1" hangingPunct="1">
              <a:buFont typeface="Wingdings" panose="05000000000000000000" pitchFamily="2" charset="2"/>
              <a:buChar char="Ø"/>
              <a:defRPr/>
            </a:pPr>
            <a:r>
              <a:rPr lang="zh-CN" altLang="en-US" sz="2000" b="1" dirty="0">
                <a:solidFill>
                  <a:srgbClr val="0000FF"/>
                </a:solidFill>
                <a:latin typeface="+mn-ea"/>
                <a:ea typeface="+mn-ea"/>
              </a:rPr>
              <a:t>项集的频度：</a:t>
            </a:r>
            <a:r>
              <a:rPr lang="zh-CN" altLang="en-US" sz="2000" dirty="0">
                <a:latin typeface="+mn-ea"/>
                <a:ea typeface="+mn-ea"/>
              </a:rPr>
              <a:t>包含项集的事物数。</a:t>
            </a:r>
            <a:endParaRPr lang="en-US" altLang="zh-CN" sz="2000" dirty="0">
              <a:latin typeface="+mn-ea"/>
              <a:ea typeface="+mn-ea"/>
            </a:endParaRPr>
          </a:p>
          <a:p>
            <a:pPr marL="325120" indent="-325120" defTabSz="869315" eaLnBrk="1" hangingPunct="1">
              <a:buFont typeface="Wingdings" panose="05000000000000000000" pitchFamily="2" charset="2"/>
              <a:buChar char="Ø"/>
              <a:defRPr/>
            </a:pPr>
            <a:r>
              <a:rPr lang="zh-CN" altLang="en-US" sz="2000" b="1" dirty="0">
                <a:solidFill>
                  <a:srgbClr val="0000FF"/>
                </a:solidFill>
                <a:latin typeface="+mn-ea"/>
                <a:ea typeface="+mn-ea"/>
              </a:rPr>
              <a:t>支持度：</a:t>
            </a:r>
            <a:r>
              <a:rPr lang="zh-CN" altLang="en-US" sz="2000" dirty="0">
                <a:latin typeface="+mn-ea"/>
                <a:ea typeface="+mn-ea"/>
              </a:rPr>
              <a:t>同时包含</a:t>
            </a:r>
            <a:r>
              <a:rPr lang="en-US" altLang="zh-CN" sz="2000" dirty="0">
                <a:latin typeface="+mn-ea"/>
                <a:ea typeface="+mn-ea"/>
              </a:rPr>
              <a:t>A</a:t>
            </a:r>
            <a:r>
              <a:rPr lang="zh-CN" altLang="en-US" sz="2000" dirty="0">
                <a:latin typeface="+mn-ea"/>
                <a:ea typeface="+mn-ea"/>
              </a:rPr>
              <a:t>和</a:t>
            </a:r>
            <a:r>
              <a:rPr lang="en-US" altLang="zh-CN" sz="2000" dirty="0">
                <a:latin typeface="+mn-ea"/>
                <a:ea typeface="+mn-ea"/>
              </a:rPr>
              <a:t>B</a:t>
            </a:r>
            <a:r>
              <a:rPr lang="zh-CN" altLang="en-US" sz="2000" dirty="0">
                <a:latin typeface="+mn-ea"/>
                <a:ea typeface="+mn-ea"/>
              </a:rPr>
              <a:t>的事务的个数（绝对支持度）或者比率（相对支持度）。</a:t>
            </a:r>
            <a:endParaRPr lang="en-US" altLang="zh-CN" sz="2000" dirty="0">
              <a:latin typeface="+mn-ea"/>
              <a:ea typeface="+mn-ea"/>
            </a:endParaRPr>
          </a:p>
          <a:p>
            <a:pPr marL="0" indent="0" defTabSz="869315" eaLnBrk="1" hangingPunct="1">
              <a:buFont typeface="Arial" panose="020B0604020202020204" pitchFamily="34" charset="0"/>
              <a:buNone/>
              <a:defRPr/>
            </a:pPr>
            <a:r>
              <a:rPr lang="en-US" altLang="zh-CN" sz="2000" dirty="0">
                <a:latin typeface="+mn-ea"/>
                <a:ea typeface="+mn-ea"/>
              </a:rPr>
              <a:t>       </a:t>
            </a:r>
            <a:r>
              <a:rPr lang="en-US" altLang="zh-CN" sz="2000" i="1" dirty="0">
                <a:latin typeface="+mn-ea"/>
                <a:ea typeface="+mn-ea"/>
              </a:rPr>
              <a:t>support(A=&gt;B) = count(AUB) </a:t>
            </a:r>
            <a:r>
              <a:rPr lang="en-US" altLang="zh-CN" sz="2000" dirty="0">
                <a:latin typeface="+mn-ea"/>
                <a:ea typeface="+mn-ea"/>
              </a:rPr>
              <a:t>  </a:t>
            </a:r>
            <a:r>
              <a:rPr lang="zh-CN" altLang="en-US" sz="2000" dirty="0">
                <a:latin typeface="+mn-ea"/>
                <a:ea typeface="+mn-ea"/>
              </a:rPr>
              <a:t>或</a:t>
            </a:r>
            <a:endParaRPr lang="en-US" altLang="zh-CN" sz="2000" dirty="0">
              <a:latin typeface="+mn-ea"/>
              <a:ea typeface="+mn-ea"/>
            </a:endParaRPr>
          </a:p>
          <a:p>
            <a:pPr marL="0" indent="0" defTabSz="869315" eaLnBrk="1" hangingPunct="1">
              <a:buFont typeface="Arial" panose="020B0604020202020204" pitchFamily="34" charset="0"/>
              <a:buNone/>
              <a:defRPr/>
            </a:pPr>
            <a:r>
              <a:rPr lang="en-US" altLang="zh-CN" sz="2000" dirty="0">
                <a:latin typeface="+mn-ea"/>
                <a:ea typeface="+mn-ea"/>
              </a:rPr>
              <a:t>       </a:t>
            </a:r>
            <a:r>
              <a:rPr lang="en-US" altLang="zh-CN" sz="2000" i="1" dirty="0">
                <a:latin typeface="+mn-ea"/>
                <a:ea typeface="+mn-ea"/>
              </a:rPr>
              <a:t>support(A=&gt;B) = P(AUB)</a:t>
            </a:r>
            <a:endParaRPr lang="zh-CN" altLang="en-US" sz="2000" i="1" dirty="0">
              <a:latin typeface="+mn-ea"/>
              <a:ea typeface="+mn-ea"/>
            </a:endParaRPr>
          </a:p>
          <a:p>
            <a:pPr marL="325120" indent="-325120" defTabSz="869315" eaLnBrk="1" hangingPunct="1">
              <a:buFont typeface="Wingdings" panose="05000000000000000000" pitchFamily="2" charset="2"/>
              <a:buChar char="Ø"/>
              <a:defRPr/>
            </a:pPr>
            <a:r>
              <a:rPr lang="zh-CN" altLang="en-US" sz="2000" b="1" dirty="0">
                <a:solidFill>
                  <a:srgbClr val="0000FF"/>
                </a:solidFill>
                <a:latin typeface="+mn-ea"/>
                <a:ea typeface="+mn-ea"/>
              </a:rPr>
              <a:t>置信度：</a:t>
            </a:r>
            <a:r>
              <a:rPr lang="zh-CN" altLang="en-US" sz="2000" dirty="0">
                <a:latin typeface="+mn-ea"/>
                <a:ea typeface="+mn-ea"/>
              </a:rPr>
              <a:t>在包含项</a:t>
            </a:r>
            <a:r>
              <a:rPr lang="en-US" altLang="zh-CN" sz="2000" dirty="0">
                <a:latin typeface="+mn-ea"/>
                <a:ea typeface="+mn-ea"/>
              </a:rPr>
              <a:t>A</a:t>
            </a:r>
            <a:r>
              <a:rPr lang="zh-CN" altLang="en-US" sz="2000" dirty="0">
                <a:latin typeface="+mn-ea"/>
                <a:ea typeface="+mn-ea"/>
              </a:rPr>
              <a:t>的事务中，又包含</a:t>
            </a:r>
            <a:r>
              <a:rPr lang="en-US" altLang="zh-CN" sz="2000" dirty="0">
                <a:latin typeface="+mn-ea"/>
                <a:ea typeface="+mn-ea"/>
              </a:rPr>
              <a:t>B</a:t>
            </a:r>
            <a:r>
              <a:rPr lang="zh-CN" altLang="en-US" sz="2000" dirty="0">
                <a:latin typeface="+mn-ea"/>
                <a:ea typeface="+mn-ea"/>
              </a:rPr>
              <a:t>的事务的比率。</a:t>
            </a:r>
            <a:endParaRPr lang="en-US" altLang="zh-CN" sz="2000" dirty="0">
              <a:latin typeface="+mn-ea"/>
              <a:ea typeface="+mn-ea"/>
            </a:endParaRPr>
          </a:p>
          <a:p>
            <a:pPr marL="0" indent="0" defTabSz="869315" eaLnBrk="1" hangingPunct="1">
              <a:buFont typeface="Arial" panose="020B0604020202020204" pitchFamily="34" charset="0"/>
              <a:buNone/>
              <a:defRPr/>
            </a:pPr>
            <a:r>
              <a:rPr lang="en-US" altLang="zh-CN" sz="2000" i="1" dirty="0">
                <a:latin typeface="+mn-ea"/>
                <a:ea typeface="+mn-ea"/>
              </a:rPr>
              <a:t>   confidence(A=&gt;B)= P(B|A)</a:t>
            </a:r>
            <a:endParaRPr lang="zh-CN" altLang="en-US" sz="2000" i="1" dirty="0">
              <a:latin typeface="+mn-ea"/>
              <a:ea typeface="+mn-ea"/>
            </a:endParaRPr>
          </a:p>
        </p:txBody>
      </p:sp>
      <p:graphicFrame>
        <p:nvGraphicFramePr>
          <p:cNvPr id="6" name="表格 5"/>
          <p:cNvGraphicFramePr>
            <a:graphicFrameLocks noGrp="1"/>
          </p:cNvGraphicFramePr>
          <p:nvPr/>
        </p:nvGraphicFramePr>
        <p:xfrm>
          <a:off x="7075488" y="1160463"/>
          <a:ext cx="3216275" cy="1849439"/>
        </p:xfrm>
        <a:graphic>
          <a:graphicData uri="http://schemas.openxmlformats.org/drawingml/2006/table">
            <a:tbl>
              <a:tblPr firstRow="1" bandRow="1">
                <a:tableStyleId>{5C22544A-7EE6-4342-B048-85BDC9FD1C3A}</a:tableStyleId>
              </a:tblPr>
              <a:tblGrid>
                <a:gridCol w="685935"/>
                <a:gridCol w="2530340"/>
              </a:tblGrid>
              <a:tr h="365823">
                <a:tc>
                  <a:txBody>
                    <a:bodyPr/>
                    <a:lstStyle/>
                    <a:p>
                      <a:pPr algn="ctr"/>
                      <a:r>
                        <a:rPr lang="en-US" altLang="zh-CN" sz="1800" dirty="0">
                          <a:solidFill>
                            <a:schemeClr val="tx1"/>
                          </a:solidFill>
                          <a:latin typeface="+mn-ea"/>
                          <a:ea typeface="+mn-ea"/>
                        </a:rPr>
                        <a:t>TID</a:t>
                      </a:r>
                      <a:endParaRPr lang="zh-CN" altLang="en-US" sz="1800" dirty="0">
                        <a:solidFill>
                          <a:schemeClr val="tx1"/>
                        </a:solidFill>
                        <a:latin typeface="+mn-ea"/>
                        <a:ea typeface="+mn-ea"/>
                      </a:endParaRPr>
                    </a:p>
                  </a:txBody>
                  <a:tcPr marL="91458" marR="91458" marT="45728" marB="4572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800" dirty="0">
                          <a:solidFill>
                            <a:schemeClr val="tx1"/>
                          </a:solidFill>
                          <a:latin typeface="+mn-ea"/>
                          <a:ea typeface="+mn-ea"/>
                        </a:rPr>
                        <a:t>Items</a:t>
                      </a:r>
                      <a:endParaRPr lang="zh-CN" altLang="en-US" sz="1800" dirty="0">
                        <a:solidFill>
                          <a:schemeClr val="tx1"/>
                        </a:solidFill>
                        <a:latin typeface="+mn-ea"/>
                        <a:ea typeface="+mn-ea"/>
                      </a:endParaRPr>
                    </a:p>
                  </a:txBody>
                  <a:tcPr marL="91458" marR="91458" marT="45728" marB="4572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904">
                <a:tc>
                  <a:txBody>
                    <a:bodyPr/>
                    <a:lstStyle/>
                    <a:p>
                      <a:pPr algn="ctr"/>
                      <a:r>
                        <a:rPr lang="en-US" altLang="zh-CN" sz="1800" dirty="0">
                          <a:solidFill>
                            <a:schemeClr val="tx1"/>
                          </a:solidFill>
                          <a:latin typeface="+mn-ea"/>
                          <a:ea typeface="+mn-ea"/>
                        </a:rPr>
                        <a:t>1</a:t>
                      </a:r>
                      <a:endParaRPr lang="zh-CN" altLang="en-US" sz="1800" dirty="0">
                        <a:solidFill>
                          <a:schemeClr val="tx1"/>
                        </a:solidFill>
                        <a:latin typeface="+mn-ea"/>
                        <a:ea typeface="+mn-ea"/>
                      </a:endParaRPr>
                    </a:p>
                  </a:txBody>
                  <a:tcPr marL="91458" marR="91458" marT="45728" marB="4572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1800" b="0" dirty="0">
                          <a:latin typeface="+mn-ea"/>
                          <a:ea typeface="+mn-ea"/>
                        </a:rPr>
                        <a:t>牛奶，面包，麦片</a:t>
                      </a:r>
                      <a:endParaRPr lang="zh-CN" altLang="en-US" sz="1800" dirty="0">
                        <a:solidFill>
                          <a:schemeClr val="tx1"/>
                        </a:solidFill>
                        <a:latin typeface="+mn-ea"/>
                        <a:ea typeface="+mn-ea"/>
                      </a:endParaRPr>
                    </a:p>
                  </a:txBody>
                  <a:tcPr marL="91458" marR="91458" marT="45728" marB="4572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904">
                <a:tc>
                  <a:txBody>
                    <a:bodyPr/>
                    <a:lstStyle/>
                    <a:p>
                      <a:pPr algn="ctr"/>
                      <a:r>
                        <a:rPr lang="en-US" altLang="zh-CN" sz="1800" dirty="0">
                          <a:solidFill>
                            <a:schemeClr val="tx1"/>
                          </a:solidFill>
                          <a:latin typeface="+mn-ea"/>
                          <a:ea typeface="+mn-ea"/>
                        </a:rPr>
                        <a:t>2</a:t>
                      </a:r>
                      <a:endParaRPr lang="zh-CN" altLang="en-US" sz="1800" dirty="0">
                        <a:solidFill>
                          <a:schemeClr val="tx1"/>
                        </a:solidFill>
                        <a:latin typeface="+mn-ea"/>
                        <a:ea typeface="+mn-ea"/>
                      </a:endParaRPr>
                    </a:p>
                  </a:txBody>
                  <a:tcPr marL="91458" marR="91458" marT="45728" marB="4572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1800" b="0" dirty="0">
                          <a:latin typeface="+mn-ea"/>
                          <a:ea typeface="+mn-ea"/>
                        </a:rPr>
                        <a:t>牛奶，面包，糖，鸡蛋</a:t>
                      </a:r>
                      <a:endParaRPr lang="zh-CN" altLang="en-US" sz="1800" dirty="0">
                        <a:solidFill>
                          <a:schemeClr val="tx1"/>
                        </a:solidFill>
                        <a:latin typeface="+mn-ea"/>
                        <a:ea typeface="+mn-ea"/>
                      </a:endParaRPr>
                    </a:p>
                  </a:txBody>
                  <a:tcPr marL="91458" marR="91458" marT="45728" marB="4572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904">
                <a:tc>
                  <a:txBody>
                    <a:bodyPr/>
                    <a:lstStyle/>
                    <a:p>
                      <a:pPr algn="ctr"/>
                      <a:r>
                        <a:rPr lang="en-US" altLang="zh-CN" sz="1800" dirty="0">
                          <a:solidFill>
                            <a:schemeClr val="tx1"/>
                          </a:solidFill>
                          <a:latin typeface="+mn-ea"/>
                          <a:ea typeface="+mn-ea"/>
                        </a:rPr>
                        <a:t>3</a:t>
                      </a:r>
                      <a:endParaRPr lang="zh-CN" altLang="en-US" sz="1800" dirty="0">
                        <a:solidFill>
                          <a:schemeClr val="tx1"/>
                        </a:solidFill>
                        <a:latin typeface="+mn-ea"/>
                        <a:ea typeface="+mn-ea"/>
                      </a:endParaRPr>
                    </a:p>
                  </a:txBody>
                  <a:tcPr marL="91458" marR="91458" marT="45728" marB="4572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1800" b="0" dirty="0">
                          <a:latin typeface="+mn-ea"/>
                          <a:ea typeface="+mn-ea"/>
                        </a:rPr>
                        <a:t>牛奶，面包，黄油</a:t>
                      </a:r>
                      <a:endParaRPr lang="zh-CN" altLang="en-US" sz="1800" dirty="0">
                        <a:solidFill>
                          <a:schemeClr val="tx1"/>
                        </a:solidFill>
                        <a:latin typeface="+mn-ea"/>
                        <a:ea typeface="+mn-ea"/>
                      </a:endParaRPr>
                    </a:p>
                  </a:txBody>
                  <a:tcPr marL="91458" marR="91458" marT="45728" marB="4572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1475">
                <a:tc>
                  <a:txBody>
                    <a:bodyPr/>
                    <a:lstStyle/>
                    <a:p>
                      <a:pPr algn="ctr"/>
                      <a:r>
                        <a:rPr lang="en-US" altLang="zh-CN" sz="1800" dirty="0">
                          <a:solidFill>
                            <a:schemeClr val="tx1"/>
                          </a:solidFill>
                          <a:latin typeface="+mn-ea"/>
                          <a:ea typeface="+mn-ea"/>
                        </a:rPr>
                        <a:t>4</a:t>
                      </a:r>
                      <a:endParaRPr lang="zh-CN" altLang="en-US" sz="1800" dirty="0">
                        <a:solidFill>
                          <a:schemeClr val="tx1"/>
                        </a:solidFill>
                        <a:latin typeface="+mn-ea"/>
                        <a:ea typeface="+mn-ea"/>
                      </a:endParaRPr>
                    </a:p>
                  </a:txBody>
                  <a:tcPr marL="91458" marR="91458" marT="45728" marB="4572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1800" b="0" dirty="0">
                          <a:latin typeface="+mn-ea"/>
                          <a:ea typeface="+mn-ea"/>
                        </a:rPr>
                        <a:t>糖，鸡蛋</a:t>
                      </a:r>
                      <a:endParaRPr lang="zh-CN" altLang="en-US" sz="1800" dirty="0">
                        <a:solidFill>
                          <a:schemeClr val="tx1"/>
                        </a:solidFill>
                        <a:latin typeface="+mn-ea"/>
                        <a:ea typeface="+mn-ea"/>
                      </a:endParaRPr>
                    </a:p>
                  </a:txBody>
                  <a:tcPr marL="91458" marR="91458" marT="45728" marB="4572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7" name="Rectangle 3"/>
          <p:cNvSpPr txBox="1">
            <a:spLocks noChangeArrowheads="1"/>
          </p:cNvSpPr>
          <p:nvPr/>
        </p:nvSpPr>
        <p:spPr bwMode="auto">
          <a:xfrm>
            <a:off x="7075488" y="3151188"/>
            <a:ext cx="3406775" cy="328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2789" tIns="51393" rIns="102789" bIns="51393"/>
          <a:lstStyle>
            <a:lvl1pPr defTabSz="869950">
              <a:spcBef>
                <a:spcPct val="20000"/>
              </a:spcBef>
              <a:buFont typeface="Arial" panose="020B0604020202020204" pitchFamily="34" charset="0"/>
              <a:buChar char="•"/>
              <a:defRPr sz="3000">
                <a:solidFill>
                  <a:schemeClr val="tx1"/>
                </a:solidFill>
                <a:latin typeface="Calibri" panose="020F0502020204030204" pitchFamily="34" charset="0"/>
                <a:ea typeface="PMingLiU" panose="02020500000000000000" pitchFamily="18" charset="-120"/>
              </a:defRPr>
            </a:lvl1pPr>
            <a:lvl2pPr marL="706755" indent="-271780" defTabSz="86995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2pPr>
            <a:lvl3pPr marL="1085850" indent="-215900" defTabSz="869950">
              <a:spcBef>
                <a:spcPct val="20000"/>
              </a:spcBef>
              <a:buFont typeface="Arial" panose="020B0604020202020204" pitchFamily="34" charset="0"/>
              <a:buChar char="•"/>
              <a:defRPr sz="2200">
                <a:solidFill>
                  <a:schemeClr val="tx1"/>
                </a:solidFill>
                <a:latin typeface="Calibri" panose="020F0502020204030204" pitchFamily="34" charset="0"/>
                <a:ea typeface="PMingLiU" panose="02020500000000000000" pitchFamily="18" charset="-120"/>
              </a:defRPr>
            </a:lvl3pPr>
            <a:lvl4pPr marL="1522730" indent="-215900" defTabSz="869950">
              <a:spcBef>
                <a:spcPct val="20000"/>
              </a:spcBef>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4pPr>
            <a:lvl5pPr marL="1955800" indent="-215900" defTabSz="869950">
              <a:spcBef>
                <a:spcPct val="20000"/>
              </a:spcBef>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5pPr>
            <a:lvl6pPr marL="2413000" indent="-215900" defTabSz="869950" eaLnBrk="0" fontAlgn="base" hangingPunct="0">
              <a:spcBef>
                <a:spcPct val="20000"/>
              </a:spcBef>
              <a:spcAft>
                <a:spcPct val="0"/>
              </a:spcAft>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6pPr>
            <a:lvl7pPr marL="2870200" indent="-215900" defTabSz="869950" eaLnBrk="0" fontAlgn="base" hangingPunct="0">
              <a:spcBef>
                <a:spcPct val="20000"/>
              </a:spcBef>
              <a:spcAft>
                <a:spcPct val="0"/>
              </a:spcAft>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7pPr>
            <a:lvl8pPr marL="3327400" indent="-215900" defTabSz="869950" eaLnBrk="0" fontAlgn="base" hangingPunct="0">
              <a:spcBef>
                <a:spcPct val="20000"/>
              </a:spcBef>
              <a:spcAft>
                <a:spcPct val="0"/>
              </a:spcAft>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8pPr>
            <a:lvl9pPr marL="3784600" indent="-215900" defTabSz="869950" eaLnBrk="0" fontAlgn="base" hangingPunct="0">
              <a:spcBef>
                <a:spcPct val="20000"/>
              </a:spcBef>
              <a:spcAft>
                <a:spcPct val="0"/>
              </a:spcAft>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9pPr>
          </a:lstStyle>
          <a:p>
            <a:pPr eaLnBrk="1" hangingPunct="1">
              <a:lnSpc>
                <a:spcPct val="150000"/>
              </a:lnSpc>
              <a:spcBef>
                <a:spcPct val="0"/>
              </a:spcBef>
              <a:buFontTx/>
              <a:buNone/>
            </a:pPr>
            <a:r>
              <a:rPr lang="zh-CN" altLang="en-US" sz="1800" b="0" dirty="0">
                <a:latin typeface="宋体" panose="02010600030101010101" pitchFamily="2" charset="-122"/>
                <a:ea typeface="宋体" panose="02010600030101010101" pitchFamily="2" charset="-122"/>
              </a:rPr>
              <a:t>牛奶</a:t>
            </a:r>
            <a:r>
              <a:rPr lang="en-US" altLang="zh-CN" sz="1800" b="0" dirty="0">
                <a:latin typeface="宋体" panose="02010600030101010101" pitchFamily="2" charset="-122"/>
                <a:ea typeface="宋体" panose="02010600030101010101" pitchFamily="2" charset="-122"/>
              </a:rPr>
              <a:t>=&gt;</a:t>
            </a:r>
            <a:r>
              <a:rPr lang="zh-CN" altLang="en-US" sz="1800" b="0" dirty="0">
                <a:latin typeface="宋体" panose="02010600030101010101" pitchFamily="2" charset="-122"/>
                <a:ea typeface="宋体" panose="02010600030101010101" pitchFamily="2" charset="-122"/>
              </a:rPr>
              <a:t>面包</a:t>
            </a:r>
            <a:endParaRPr lang="en-US" altLang="zh-CN" sz="1800" b="0" dirty="0">
              <a:latin typeface="宋体" panose="02010600030101010101" pitchFamily="2" charset="-122"/>
              <a:ea typeface="宋体" panose="02010600030101010101" pitchFamily="2" charset="-122"/>
            </a:endParaRPr>
          </a:p>
          <a:p>
            <a:pPr eaLnBrk="1" hangingPunct="1">
              <a:lnSpc>
                <a:spcPct val="150000"/>
              </a:lnSpc>
              <a:spcBef>
                <a:spcPct val="0"/>
              </a:spcBef>
            </a:pPr>
            <a:r>
              <a:rPr lang="zh-CN" altLang="en-US" sz="1800" b="0" dirty="0">
                <a:latin typeface="宋体" panose="02010600030101010101" pitchFamily="2" charset="-122"/>
                <a:ea typeface="宋体" panose="02010600030101010101" pitchFamily="2" charset="-122"/>
              </a:rPr>
              <a:t> 绝对支持度：</a:t>
            </a:r>
            <a:r>
              <a:rPr lang="en-US" altLang="zh-CN" sz="1800" b="0" dirty="0">
                <a:latin typeface="宋体" panose="02010600030101010101" pitchFamily="2" charset="-122"/>
                <a:ea typeface="宋体" panose="02010600030101010101" pitchFamily="2" charset="-122"/>
              </a:rPr>
              <a:t>3</a:t>
            </a:r>
            <a:endParaRPr lang="en-US" altLang="zh-CN" sz="1800" b="0" dirty="0">
              <a:latin typeface="宋体" panose="02010600030101010101" pitchFamily="2" charset="-122"/>
              <a:ea typeface="宋体" panose="02010600030101010101" pitchFamily="2" charset="-122"/>
            </a:endParaRPr>
          </a:p>
          <a:p>
            <a:pPr eaLnBrk="1" hangingPunct="1">
              <a:lnSpc>
                <a:spcPct val="150000"/>
              </a:lnSpc>
              <a:spcBef>
                <a:spcPct val="0"/>
              </a:spcBef>
            </a:pPr>
            <a:r>
              <a:rPr lang="zh-CN" altLang="en-US" sz="1800" b="0" dirty="0">
                <a:latin typeface="宋体" panose="02010600030101010101" pitchFamily="2" charset="-122"/>
                <a:ea typeface="宋体" panose="02010600030101010101" pitchFamily="2" charset="-122"/>
              </a:rPr>
              <a:t> 相对支持度：</a:t>
            </a:r>
            <a:r>
              <a:rPr lang="en-US" altLang="zh-CN" sz="1800" b="0" dirty="0">
                <a:latin typeface="宋体" panose="02010600030101010101" pitchFamily="2" charset="-122"/>
                <a:ea typeface="宋体" panose="02010600030101010101" pitchFamily="2" charset="-122"/>
              </a:rPr>
              <a:t>3/4 = 75%</a:t>
            </a:r>
            <a:endParaRPr lang="en-US" altLang="zh-CN" sz="1800" b="0" dirty="0">
              <a:latin typeface="宋体" panose="02010600030101010101" pitchFamily="2" charset="-122"/>
              <a:ea typeface="宋体" panose="02010600030101010101" pitchFamily="2" charset="-122"/>
            </a:endParaRPr>
          </a:p>
          <a:p>
            <a:pPr eaLnBrk="1" hangingPunct="1">
              <a:lnSpc>
                <a:spcPct val="150000"/>
              </a:lnSpc>
              <a:spcBef>
                <a:spcPct val="0"/>
              </a:spcBef>
            </a:pPr>
            <a:r>
              <a:rPr lang="zh-CN" altLang="en-US" sz="1800" b="0" dirty="0">
                <a:latin typeface="宋体" panose="02010600030101010101" pitchFamily="2" charset="-122"/>
                <a:ea typeface="宋体" panose="02010600030101010101" pitchFamily="2" charset="-122"/>
              </a:rPr>
              <a:t> 置信度：</a:t>
            </a:r>
            <a:r>
              <a:rPr lang="en-US" altLang="zh-CN" sz="1800" b="0" dirty="0">
                <a:latin typeface="宋体" panose="02010600030101010101" pitchFamily="2" charset="-122"/>
                <a:ea typeface="宋体" panose="02010600030101010101" pitchFamily="2" charset="-122"/>
              </a:rPr>
              <a:t>3/3 = 100%</a:t>
            </a:r>
            <a:endParaRPr lang="en-US" altLang="zh-CN" sz="1800" b="0" dirty="0">
              <a:latin typeface="宋体" panose="02010600030101010101" pitchFamily="2" charset="-122"/>
              <a:ea typeface="宋体" panose="02010600030101010101" pitchFamily="2" charset="-122"/>
            </a:endParaRPr>
          </a:p>
          <a:p>
            <a:pPr eaLnBrk="1" hangingPunct="1">
              <a:lnSpc>
                <a:spcPct val="150000"/>
              </a:lnSpc>
              <a:spcBef>
                <a:spcPct val="0"/>
              </a:spcBef>
            </a:pPr>
            <a:endParaRPr lang="en-US" altLang="zh-CN" sz="1800" b="0" dirty="0">
              <a:latin typeface="宋体" panose="02010600030101010101" pitchFamily="2" charset="-122"/>
              <a:ea typeface="宋体" panose="02010600030101010101" pitchFamily="2" charset="-122"/>
            </a:endParaRPr>
          </a:p>
          <a:p>
            <a:pPr eaLnBrk="1" hangingPunct="1">
              <a:lnSpc>
                <a:spcPct val="150000"/>
              </a:lnSpc>
              <a:spcBef>
                <a:spcPct val="0"/>
              </a:spcBef>
              <a:buFontTx/>
              <a:buNone/>
            </a:pPr>
            <a:r>
              <a:rPr lang="zh-CN" altLang="en-US" sz="1800" dirty="0">
                <a:latin typeface="宋体" panose="02010600030101010101" pitchFamily="2" charset="-122"/>
                <a:ea typeface="宋体" panose="02010600030101010101" pitchFamily="2" charset="-122"/>
              </a:rPr>
              <a:t>牛奶面包的关联规则表示为：</a:t>
            </a:r>
            <a:endParaRPr lang="en-US" altLang="zh-CN" sz="1800" dirty="0">
              <a:latin typeface="宋体" panose="02010600030101010101" pitchFamily="2" charset="-122"/>
              <a:ea typeface="宋体" panose="02010600030101010101" pitchFamily="2" charset="-122"/>
            </a:endParaRPr>
          </a:p>
          <a:p>
            <a:pPr eaLnBrk="1" hangingPunct="1">
              <a:lnSpc>
                <a:spcPct val="150000"/>
              </a:lnSpc>
              <a:spcBef>
                <a:spcPct val="0"/>
              </a:spcBef>
              <a:buFontTx/>
              <a:buNone/>
            </a:pPr>
            <a:r>
              <a:rPr lang="zh-CN" altLang="en-US" sz="1800" b="0" dirty="0">
                <a:latin typeface="宋体" panose="02010600030101010101" pitchFamily="2" charset="-122"/>
              </a:rPr>
              <a:t>牛奶</a:t>
            </a:r>
            <a:r>
              <a:rPr lang="en-US" altLang="zh-CN" sz="1800" b="0" dirty="0">
                <a:latin typeface="宋体" panose="02010600030101010101" pitchFamily="2" charset="-122"/>
              </a:rPr>
              <a:t>=&gt;</a:t>
            </a:r>
            <a:r>
              <a:rPr lang="zh-CN" altLang="en-US" sz="1800" b="0" dirty="0">
                <a:latin typeface="宋体" panose="02010600030101010101" pitchFamily="2" charset="-122"/>
              </a:rPr>
              <a:t>面包</a:t>
            </a:r>
            <a:r>
              <a:rPr lang="en-US" altLang="zh-CN" sz="1800" b="0" dirty="0">
                <a:latin typeface="宋体" panose="02010600030101010101" pitchFamily="2" charset="-122"/>
              </a:rPr>
              <a:t>[support = 75%; confidence = 100%]</a:t>
            </a:r>
            <a:endParaRPr lang="en-US" altLang="zh-CN" sz="1800" b="0" dirty="0">
              <a:latin typeface="宋体" panose="02010600030101010101" pitchFamily="2" charset="-122"/>
            </a:endParaRPr>
          </a:p>
          <a:p>
            <a:pPr eaLnBrk="1" hangingPunct="1">
              <a:lnSpc>
                <a:spcPct val="150000"/>
              </a:lnSpc>
              <a:spcBef>
                <a:spcPct val="0"/>
              </a:spcBef>
              <a:buFontTx/>
              <a:buNone/>
            </a:pPr>
            <a:r>
              <a:rPr lang="zh-CN" altLang="en-US" sz="1800" b="0" dirty="0">
                <a:latin typeface="宋体" panose="02010600030101010101" pitchFamily="2" charset="-122"/>
              </a:rPr>
              <a:t> </a:t>
            </a:r>
            <a:endParaRPr lang="en-US" altLang="zh-CN" sz="1800" b="0" dirty="0">
              <a:latin typeface="宋体" panose="02010600030101010101" pitchFamily="2" charset="-122"/>
            </a:endParaRPr>
          </a:p>
          <a:p>
            <a:pPr eaLnBrk="1" hangingPunct="1">
              <a:lnSpc>
                <a:spcPct val="150000"/>
              </a:lnSpc>
              <a:spcBef>
                <a:spcPct val="0"/>
              </a:spcBef>
              <a:buFontTx/>
              <a:buNone/>
            </a:pPr>
            <a:endParaRPr lang="zh-CN" altLang="en-US" sz="1800" b="0" dirty="0">
              <a:latin typeface="宋体" panose="02010600030101010101" pitchFamily="2" charset="-122"/>
              <a:ea typeface="宋体" panose="02010600030101010101" pitchFamily="2" charset="-122"/>
            </a:endParaRPr>
          </a:p>
        </p:txBody>
      </p:sp>
      <p:pic>
        <p:nvPicPr>
          <p:cNvPr id="8" name="图片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36888" y="6265863"/>
            <a:ext cx="3048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p:cNvSpPr>
            <a:spLocks noChangeArrowheads="1"/>
          </p:cNvSpPr>
          <p:nvPr/>
        </p:nvSpPr>
        <p:spPr bwMode="auto">
          <a:xfrm>
            <a:off x="7508875" y="6510338"/>
            <a:ext cx="2351088" cy="461962"/>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400">
                <a:ea typeface="宋体" panose="02010600030101010101" pitchFamily="2" charset="-122"/>
              </a:rPr>
              <a:t>是频繁项集吗？</a:t>
            </a:r>
            <a:endParaRPr lang="zh-CN" altLang="en-US"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xEl>
                                              <p:pRg st="5" end="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a:t>
            </a:r>
            <a:r>
              <a:rPr lang="en-US" altLang="zh-CN" sz="4400" dirty="0">
                <a:latin typeface="楷体" panose="02010609060101010101" pitchFamily="49" charset="-122"/>
                <a:ea typeface="楷体" panose="02010609060101010101" pitchFamily="49" charset="-122"/>
              </a:rPr>
              <a:t>6.1 </a:t>
            </a:r>
            <a:r>
              <a:rPr lang="zh-CN" altLang="en-US" sz="4400" dirty="0">
                <a:latin typeface="楷体" panose="02010609060101010101" pitchFamily="49" charset="-122"/>
                <a:ea typeface="楷体" panose="02010609060101010101" pitchFamily="49" charset="-122"/>
              </a:rPr>
              <a:t>基本概念</a:t>
            </a:r>
            <a:endParaRPr lang="zh-CN" altLang="en-US" sz="4400" dirty="0">
              <a:latin typeface="楷体" panose="02010609060101010101" pitchFamily="49" charset="-122"/>
              <a:ea typeface="楷体" panose="02010609060101010101" pitchFamily="49" charset="-122"/>
            </a:endParaRPr>
          </a:p>
        </p:txBody>
      </p:sp>
      <p:sp>
        <p:nvSpPr>
          <p:cNvPr id="4" name="Rectangle 3"/>
          <p:cNvSpPr>
            <a:spLocks noGrp="1" noChangeArrowheads="1"/>
          </p:cNvSpPr>
          <p:nvPr>
            <p:ph idx="1"/>
          </p:nvPr>
        </p:nvSpPr>
        <p:spPr>
          <a:xfrm>
            <a:off x="522288" y="1160463"/>
            <a:ext cx="9677400" cy="5176837"/>
          </a:xfrm>
        </p:spPr>
        <p:txBody>
          <a:bodyPr/>
          <a:lstStyle/>
          <a:p>
            <a:pPr marL="325120" indent="-325120" defTabSz="869315" eaLnBrk="1" hangingPunct="1">
              <a:buFont typeface="Wingdings" panose="05000000000000000000" pitchFamily="2" charset="2"/>
              <a:buChar char="Ø"/>
              <a:defRPr/>
            </a:pPr>
            <a:r>
              <a:rPr lang="zh-CN" altLang="en-US" sz="2400" b="1" dirty="0">
                <a:latin typeface="+mn-ea"/>
                <a:ea typeface="+mn-ea"/>
              </a:rPr>
              <a:t>频繁项集：</a:t>
            </a:r>
            <a:r>
              <a:rPr lang="zh-CN" altLang="en-US" sz="2400" dirty="0">
                <a:solidFill>
                  <a:srgbClr val="FF0000"/>
                </a:solidFill>
                <a:latin typeface="+mn-ea"/>
                <a:ea typeface="+mn-ea"/>
              </a:rPr>
              <a:t>满足预定义的</a:t>
            </a:r>
            <a:r>
              <a:rPr lang="zh-CN" altLang="en-US" sz="2400" b="1" dirty="0">
                <a:solidFill>
                  <a:srgbClr val="FF0000"/>
                </a:solidFill>
                <a:latin typeface="+mn-ea"/>
                <a:ea typeface="+mn-ea"/>
              </a:rPr>
              <a:t>最小支持度阈值</a:t>
            </a:r>
            <a:r>
              <a:rPr lang="zh-CN" altLang="en-US" sz="2400" dirty="0">
                <a:solidFill>
                  <a:srgbClr val="FF0000"/>
                </a:solidFill>
                <a:latin typeface="+mn-ea"/>
                <a:ea typeface="+mn-ea"/>
              </a:rPr>
              <a:t>的项集</a:t>
            </a:r>
            <a:r>
              <a:rPr lang="zh-CN" altLang="en-US" sz="2400" dirty="0">
                <a:latin typeface="+mn-ea"/>
                <a:ea typeface="+mn-ea"/>
              </a:rPr>
              <a:t>。</a:t>
            </a:r>
            <a:endParaRPr lang="en-US" altLang="zh-CN" sz="2400" dirty="0">
              <a:latin typeface="+mn-ea"/>
              <a:ea typeface="+mn-ea"/>
            </a:endParaRPr>
          </a:p>
          <a:p>
            <a:pPr marL="325120" indent="-325120" defTabSz="869315" eaLnBrk="1" hangingPunct="1">
              <a:buFont typeface="Wingdings" panose="05000000000000000000" pitchFamily="2" charset="2"/>
              <a:buChar char="Ø"/>
              <a:defRPr/>
            </a:pPr>
            <a:r>
              <a:rPr lang="zh-CN" altLang="en-US" sz="2400" b="1" dirty="0">
                <a:latin typeface="+mn-ea"/>
                <a:ea typeface="+mn-ea"/>
              </a:rPr>
              <a:t>强规则：</a:t>
            </a:r>
            <a:r>
              <a:rPr lang="zh-CN" altLang="en-US" sz="2400" dirty="0">
                <a:solidFill>
                  <a:srgbClr val="FF0000"/>
                </a:solidFill>
                <a:latin typeface="+mn-ea"/>
                <a:ea typeface="+mn-ea"/>
              </a:rPr>
              <a:t>同时满足</a:t>
            </a:r>
            <a:r>
              <a:rPr lang="zh-CN" altLang="en-US" sz="2400" b="1" dirty="0">
                <a:solidFill>
                  <a:srgbClr val="FF0000"/>
                </a:solidFill>
                <a:latin typeface="+mn-ea"/>
                <a:ea typeface="+mn-ea"/>
              </a:rPr>
              <a:t>最小支持度阈值</a:t>
            </a:r>
            <a:r>
              <a:rPr lang="zh-CN" altLang="en-US" sz="2400" dirty="0">
                <a:solidFill>
                  <a:srgbClr val="FF0000"/>
                </a:solidFill>
                <a:latin typeface="+mn-ea"/>
                <a:ea typeface="+mn-ea"/>
              </a:rPr>
              <a:t>和</a:t>
            </a:r>
            <a:r>
              <a:rPr lang="zh-CN" altLang="en-US" sz="2400" b="1" dirty="0">
                <a:solidFill>
                  <a:srgbClr val="FF0000"/>
                </a:solidFill>
                <a:latin typeface="+mn-ea"/>
                <a:ea typeface="+mn-ea"/>
              </a:rPr>
              <a:t>最小置信度阈值</a:t>
            </a:r>
            <a:r>
              <a:rPr lang="zh-CN" altLang="en-US" sz="2400" dirty="0">
                <a:latin typeface="+mn-ea"/>
                <a:ea typeface="+mn-ea"/>
              </a:rPr>
              <a:t>。</a:t>
            </a:r>
            <a:endParaRPr lang="en-US" altLang="zh-CN" sz="2400" dirty="0">
              <a:latin typeface="+mn-ea"/>
              <a:ea typeface="+mn-ea"/>
            </a:endParaRPr>
          </a:p>
          <a:p>
            <a:pPr marL="342900" indent="-342900" defTabSz="869315" eaLnBrk="1" hangingPunct="1">
              <a:defRPr/>
            </a:pPr>
            <a:endParaRPr lang="en-US" altLang="zh-CN" sz="2400" dirty="0">
              <a:latin typeface="+mn-ea"/>
              <a:ea typeface="+mn-ea"/>
            </a:endParaRPr>
          </a:p>
          <a:p>
            <a:pPr marL="0" indent="0" defTabSz="869315" eaLnBrk="1" hangingPunct="1">
              <a:buFont typeface="Arial" panose="020B0604020202020204" pitchFamily="34" charset="0"/>
              <a:buNone/>
              <a:defRPr/>
            </a:pPr>
            <a:r>
              <a:rPr lang="zh-CN" altLang="en-US" sz="2400" dirty="0">
                <a:latin typeface="+mn-ea"/>
                <a:ea typeface="+mn-ea"/>
              </a:rPr>
              <a:t>    挖掘关联规则的问题可以归结为挖掘频繁项集。关联规则的挖掘过程一般有</a:t>
            </a:r>
            <a:r>
              <a:rPr lang="zh-CN" altLang="en-US" sz="2400" b="1" dirty="0">
                <a:latin typeface="+mn-ea"/>
                <a:ea typeface="+mn-ea"/>
              </a:rPr>
              <a:t>两步</a:t>
            </a:r>
            <a:r>
              <a:rPr lang="zh-CN" altLang="en-US" sz="2400" dirty="0">
                <a:latin typeface="+mn-ea"/>
                <a:ea typeface="+mn-ea"/>
              </a:rPr>
              <a:t>：</a:t>
            </a:r>
            <a:endParaRPr lang="zh-CN" altLang="en-US" sz="2400" dirty="0">
              <a:latin typeface="+mn-ea"/>
              <a:ea typeface="+mn-ea"/>
            </a:endParaRPr>
          </a:p>
          <a:p>
            <a:pPr marL="0" indent="0" defTabSz="869315" eaLnBrk="1" hangingPunct="1">
              <a:buFont typeface="Arial" panose="020B0604020202020204" pitchFamily="34" charset="0"/>
              <a:buNone/>
              <a:defRPr/>
            </a:pPr>
            <a:r>
              <a:rPr lang="zh-CN" altLang="en-US" sz="2400" b="1" dirty="0">
                <a:solidFill>
                  <a:srgbClr val="0000FF"/>
                </a:solidFill>
                <a:latin typeface="+mn-ea"/>
                <a:ea typeface="+mn-ea"/>
              </a:rPr>
              <a:t>（</a:t>
            </a:r>
            <a:r>
              <a:rPr lang="en-US" altLang="zh-CN" sz="2400" b="1" dirty="0">
                <a:solidFill>
                  <a:srgbClr val="0000FF"/>
                </a:solidFill>
                <a:latin typeface="+mn-ea"/>
                <a:ea typeface="+mn-ea"/>
              </a:rPr>
              <a:t>1</a:t>
            </a:r>
            <a:r>
              <a:rPr lang="zh-CN" altLang="en-US" sz="2400" b="1" dirty="0">
                <a:solidFill>
                  <a:srgbClr val="0000FF"/>
                </a:solidFill>
                <a:latin typeface="+mn-ea"/>
                <a:ea typeface="+mn-ea"/>
              </a:rPr>
              <a:t>）找出所有的频繁项集</a:t>
            </a:r>
            <a:r>
              <a:rPr lang="zh-CN" altLang="en-US" sz="2400" dirty="0">
                <a:solidFill>
                  <a:srgbClr val="0000FF"/>
                </a:solidFill>
                <a:latin typeface="+mn-ea"/>
                <a:ea typeface="+mn-ea"/>
              </a:rPr>
              <a:t>：</a:t>
            </a:r>
            <a:r>
              <a:rPr lang="zh-CN" altLang="en-US" sz="2400" dirty="0">
                <a:latin typeface="+mn-ea"/>
                <a:ea typeface="+mn-ea"/>
              </a:rPr>
              <a:t>满足最小支持度的所有项集。</a:t>
            </a:r>
            <a:endParaRPr lang="zh-CN" altLang="en-US" sz="2400" dirty="0">
              <a:latin typeface="+mn-ea"/>
              <a:ea typeface="+mn-ea"/>
            </a:endParaRPr>
          </a:p>
          <a:p>
            <a:pPr marL="0" indent="0" defTabSz="869315" eaLnBrk="1" hangingPunct="1">
              <a:buFont typeface="Arial" panose="020B0604020202020204" pitchFamily="34" charset="0"/>
              <a:buNone/>
              <a:defRPr/>
            </a:pPr>
            <a:r>
              <a:rPr lang="zh-CN" altLang="en-US" sz="2400" b="1" dirty="0">
                <a:solidFill>
                  <a:srgbClr val="0000FF"/>
                </a:solidFill>
                <a:latin typeface="+mn-ea"/>
                <a:ea typeface="+mn-ea"/>
              </a:rPr>
              <a:t>（</a:t>
            </a:r>
            <a:r>
              <a:rPr lang="en-US" altLang="zh-CN" sz="2400" b="1" dirty="0">
                <a:solidFill>
                  <a:srgbClr val="0000FF"/>
                </a:solidFill>
                <a:latin typeface="+mn-ea"/>
                <a:ea typeface="+mn-ea"/>
              </a:rPr>
              <a:t>2</a:t>
            </a:r>
            <a:r>
              <a:rPr lang="zh-CN" altLang="en-US" sz="2400" b="1" dirty="0">
                <a:solidFill>
                  <a:srgbClr val="0000FF"/>
                </a:solidFill>
                <a:latin typeface="+mn-ea"/>
                <a:ea typeface="+mn-ea"/>
              </a:rPr>
              <a:t>）由频繁项集产生强关联规则</a:t>
            </a:r>
            <a:r>
              <a:rPr lang="zh-CN" altLang="en-US" sz="2400" dirty="0">
                <a:solidFill>
                  <a:srgbClr val="0000FF"/>
                </a:solidFill>
                <a:latin typeface="+mn-ea"/>
                <a:ea typeface="+mn-ea"/>
              </a:rPr>
              <a:t>：</a:t>
            </a:r>
            <a:r>
              <a:rPr lang="zh-CN" altLang="en-US" sz="2400" dirty="0">
                <a:latin typeface="+mn-ea"/>
                <a:ea typeface="+mn-ea"/>
              </a:rPr>
              <a:t>这些规则必须满足最小支持度和最小置信度。</a:t>
            </a:r>
            <a:endParaRPr lang="en-US" altLang="zh-CN" sz="2400" dirty="0">
              <a:latin typeface="+mn-ea"/>
              <a:ea typeface="+mn-ea"/>
            </a:endParaRPr>
          </a:p>
        </p:txBody>
      </p:sp>
      <p:sp>
        <p:nvSpPr>
          <p:cNvPr id="5" name="矩形 4"/>
          <p:cNvSpPr>
            <a:spLocks noChangeArrowheads="1"/>
          </p:cNvSpPr>
          <p:nvPr/>
        </p:nvSpPr>
        <p:spPr bwMode="auto">
          <a:xfrm>
            <a:off x="2123281" y="5875337"/>
            <a:ext cx="6553200" cy="461963"/>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2400">
                <a:ea typeface="宋体" panose="02010600030101010101" pitchFamily="2" charset="-122"/>
              </a:rPr>
              <a:t>频繁项集的个数太多，如何进行计算和储存？</a:t>
            </a:r>
            <a:endParaRPr lang="zh-CN" altLang="en-US"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a:t>
            </a:r>
            <a:r>
              <a:rPr lang="en-US" altLang="zh-CN" sz="4400" dirty="0">
                <a:latin typeface="楷体" panose="02010609060101010101" pitchFamily="49" charset="-122"/>
                <a:ea typeface="楷体" panose="02010609060101010101" pitchFamily="49" charset="-122"/>
              </a:rPr>
              <a:t>6.1 </a:t>
            </a:r>
            <a:r>
              <a:rPr lang="zh-CN" altLang="en-US" sz="4400" dirty="0">
                <a:latin typeface="楷体" panose="02010609060101010101" pitchFamily="49" charset="-122"/>
                <a:ea typeface="楷体" panose="02010609060101010101" pitchFamily="49" charset="-122"/>
              </a:rPr>
              <a:t>基本概念</a:t>
            </a:r>
            <a:endParaRPr lang="zh-CN" altLang="en-US" sz="4400" dirty="0">
              <a:latin typeface="楷体" panose="02010609060101010101" pitchFamily="49" charset="-122"/>
              <a:ea typeface="楷体" panose="02010609060101010101" pitchFamily="49" charset="-122"/>
            </a:endParaRPr>
          </a:p>
        </p:txBody>
      </p:sp>
      <p:sp>
        <p:nvSpPr>
          <p:cNvPr id="4" name="Rectangle 3"/>
          <p:cNvSpPr>
            <a:spLocks noGrp="1" noChangeArrowheads="1"/>
          </p:cNvSpPr>
          <p:nvPr>
            <p:ph idx="1"/>
          </p:nvPr>
        </p:nvSpPr>
        <p:spPr>
          <a:xfrm>
            <a:off x="522288" y="1160463"/>
            <a:ext cx="7239000" cy="3962400"/>
          </a:xfrm>
        </p:spPr>
        <p:txBody>
          <a:bodyPr/>
          <a:lstStyle/>
          <a:p>
            <a:pPr marL="0" indent="0" defTabSz="869315" eaLnBrk="1" hangingPunct="1">
              <a:lnSpc>
                <a:spcPts val="3800"/>
              </a:lnSpc>
              <a:buFont typeface="Arial" panose="020B0604020202020204" pitchFamily="34" charset="0"/>
              <a:buNone/>
              <a:defRPr/>
            </a:pPr>
            <a:r>
              <a:rPr lang="en-US" altLang="zh-CN" sz="2400" b="1" dirty="0">
                <a:latin typeface="+mn-ea"/>
                <a:ea typeface="+mn-ea"/>
              </a:rPr>
              <a:t>    </a:t>
            </a:r>
            <a:r>
              <a:rPr lang="zh-CN" altLang="en-US" sz="2200" b="1" dirty="0">
                <a:latin typeface="+mn-ea"/>
                <a:ea typeface="+mn-ea"/>
              </a:rPr>
              <a:t>为了克服频繁项集个数太多无法计算和存储的问题，</a:t>
            </a:r>
            <a:r>
              <a:rPr lang="zh-CN" altLang="en-US" sz="2200" b="1" dirty="0">
                <a:solidFill>
                  <a:srgbClr val="FF0000"/>
                </a:solidFill>
                <a:latin typeface="+mn-ea"/>
                <a:ea typeface="+mn-ea"/>
              </a:rPr>
              <a:t>引入闭频繁项集和极大频繁项集</a:t>
            </a:r>
            <a:r>
              <a:rPr lang="zh-CN" altLang="en-US" sz="2200" b="1" dirty="0">
                <a:latin typeface="+mn-ea"/>
                <a:ea typeface="+mn-ea"/>
              </a:rPr>
              <a:t>。</a:t>
            </a:r>
            <a:endParaRPr lang="en-US" altLang="zh-CN" sz="2200" b="1" dirty="0">
              <a:latin typeface="+mn-ea"/>
              <a:ea typeface="+mn-ea"/>
            </a:endParaRPr>
          </a:p>
          <a:p>
            <a:pPr marL="325120" indent="-325120" defTabSz="869315" eaLnBrk="1" hangingPunct="1">
              <a:lnSpc>
                <a:spcPts val="3800"/>
              </a:lnSpc>
              <a:buFont typeface="Wingdings" panose="05000000000000000000" pitchFamily="2" charset="2"/>
              <a:buChar char="Ø"/>
              <a:defRPr/>
            </a:pPr>
            <a:r>
              <a:rPr lang="zh-CN" altLang="en-US" sz="2200" b="1" dirty="0">
                <a:solidFill>
                  <a:srgbClr val="0000FF"/>
                </a:solidFill>
                <a:latin typeface="+mn-ea"/>
                <a:ea typeface="+mn-ea"/>
              </a:rPr>
              <a:t>闭频繁项集：</a:t>
            </a:r>
            <a:r>
              <a:rPr lang="zh-CN" altLang="en-US" sz="2200" dirty="0">
                <a:latin typeface="+mn-ea"/>
                <a:ea typeface="+mn-ea"/>
              </a:rPr>
              <a:t>项集</a:t>
            </a:r>
            <a:r>
              <a:rPr lang="en-US" altLang="zh-CN" sz="2200" dirty="0">
                <a:latin typeface="+mn-ea"/>
                <a:ea typeface="+mn-ea"/>
              </a:rPr>
              <a:t>X</a:t>
            </a:r>
            <a:r>
              <a:rPr lang="zh-CN" altLang="en-US" sz="2200" dirty="0">
                <a:latin typeface="+mn-ea"/>
                <a:ea typeface="+mn-ea"/>
              </a:rPr>
              <a:t>在数据集</a:t>
            </a:r>
            <a:r>
              <a:rPr lang="en-US" altLang="zh-CN" sz="2200" dirty="0">
                <a:latin typeface="+mn-ea"/>
                <a:ea typeface="+mn-ea"/>
              </a:rPr>
              <a:t>D</a:t>
            </a:r>
            <a:r>
              <a:rPr lang="zh-CN" altLang="en-US" sz="2200" dirty="0">
                <a:latin typeface="+mn-ea"/>
                <a:ea typeface="+mn-ea"/>
              </a:rPr>
              <a:t>中是闭的，如果不存在真超项集</a:t>
            </a:r>
            <a:r>
              <a:rPr lang="en-US" altLang="zh-CN" sz="2200" dirty="0">
                <a:latin typeface="+mn-ea"/>
                <a:ea typeface="+mn-ea"/>
              </a:rPr>
              <a:t>Y</a:t>
            </a:r>
            <a:r>
              <a:rPr lang="zh-CN" altLang="en-US" sz="2200" dirty="0">
                <a:latin typeface="+mn-ea"/>
                <a:ea typeface="+mn-ea"/>
              </a:rPr>
              <a:t>使得</a:t>
            </a:r>
            <a:r>
              <a:rPr lang="en-US" altLang="zh-CN" sz="2200" dirty="0">
                <a:latin typeface="+mn-ea"/>
                <a:ea typeface="+mn-ea"/>
              </a:rPr>
              <a:t>Y</a:t>
            </a:r>
            <a:r>
              <a:rPr lang="zh-CN" altLang="en-US" sz="2200" dirty="0">
                <a:latin typeface="+mn-ea"/>
                <a:ea typeface="+mn-ea"/>
              </a:rPr>
              <a:t>与</a:t>
            </a:r>
            <a:r>
              <a:rPr lang="en-US" altLang="zh-CN" sz="2200" dirty="0">
                <a:latin typeface="+mn-ea"/>
                <a:ea typeface="+mn-ea"/>
              </a:rPr>
              <a:t>X</a:t>
            </a:r>
            <a:r>
              <a:rPr lang="zh-CN" altLang="en-US" sz="2200" dirty="0">
                <a:latin typeface="+mn-ea"/>
                <a:ea typeface="+mn-ea"/>
              </a:rPr>
              <a:t>在</a:t>
            </a:r>
            <a:r>
              <a:rPr lang="en-US" altLang="zh-CN" sz="2200" dirty="0">
                <a:latin typeface="+mn-ea"/>
                <a:ea typeface="+mn-ea"/>
              </a:rPr>
              <a:t>D</a:t>
            </a:r>
            <a:r>
              <a:rPr lang="zh-CN" altLang="en-US" sz="2200" dirty="0">
                <a:latin typeface="+mn-ea"/>
                <a:ea typeface="+mn-ea"/>
              </a:rPr>
              <a:t>中具有相同的支持度计数（即，项集</a:t>
            </a:r>
            <a:r>
              <a:rPr lang="en-US" altLang="zh-CN" sz="2200" dirty="0">
                <a:latin typeface="+mn-ea"/>
                <a:ea typeface="+mn-ea"/>
              </a:rPr>
              <a:t>X</a:t>
            </a:r>
            <a:r>
              <a:rPr lang="zh-CN" altLang="en-US" sz="2200" dirty="0">
                <a:latin typeface="+mn-ea"/>
                <a:ea typeface="+mn-ea"/>
              </a:rPr>
              <a:t>，</a:t>
            </a:r>
            <a:r>
              <a:rPr lang="zh-CN" altLang="en-US" sz="2200" dirty="0">
                <a:solidFill>
                  <a:srgbClr val="FF0000"/>
                </a:solidFill>
                <a:latin typeface="+mn-ea"/>
                <a:ea typeface="+mn-ea"/>
              </a:rPr>
              <a:t>只要再添加一项，支持度计数就会下降</a:t>
            </a:r>
            <a:r>
              <a:rPr lang="zh-CN" altLang="en-US" sz="2200" dirty="0">
                <a:latin typeface="+mn-ea"/>
                <a:ea typeface="+mn-ea"/>
              </a:rPr>
              <a:t>）。</a:t>
            </a:r>
            <a:endParaRPr lang="en-US" altLang="zh-CN" sz="2200" dirty="0">
              <a:latin typeface="+mn-ea"/>
              <a:ea typeface="+mn-ea"/>
            </a:endParaRPr>
          </a:p>
          <a:p>
            <a:pPr marL="325120" indent="-325120" defTabSz="869315" eaLnBrk="1" hangingPunct="1">
              <a:lnSpc>
                <a:spcPts val="3800"/>
              </a:lnSpc>
              <a:buFont typeface="Wingdings" panose="05000000000000000000" pitchFamily="2" charset="2"/>
              <a:buChar char="Ø"/>
              <a:defRPr/>
            </a:pPr>
            <a:r>
              <a:rPr lang="zh-CN" altLang="en-US" sz="2200" b="1" dirty="0">
                <a:solidFill>
                  <a:srgbClr val="0000FF"/>
                </a:solidFill>
                <a:latin typeface="+mn-ea"/>
                <a:ea typeface="+mn-ea"/>
              </a:rPr>
              <a:t>极大频繁项集：</a:t>
            </a:r>
            <a:r>
              <a:rPr lang="zh-CN" altLang="en-US" sz="2200" dirty="0">
                <a:latin typeface="+mn-ea"/>
                <a:ea typeface="+mn-ea"/>
              </a:rPr>
              <a:t>如果</a:t>
            </a:r>
            <a:r>
              <a:rPr lang="en-US" altLang="zh-CN" sz="2200" dirty="0">
                <a:latin typeface="+mn-ea"/>
                <a:ea typeface="+mn-ea"/>
              </a:rPr>
              <a:t>X</a:t>
            </a:r>
            <a:r>
              <a:rPr lang="zh-CN" altLang="en-US" sz="2200" dirty="0">
                <a:latin typeface="+mn-ea"/>
                <a:ea typeface="+mn-ea"/>
              </a:rPr>
              <a:t>是频繁的，并且不存在超项集</a:t>
            </a:r>
            <a:r>
              <a:rPr lang="en-US" altLang="zh-CN" sz="2200" dirty="0">
                <a:latin typeface="+mn-ea"/>
                <a:ea typeface="+mn-ea"/>
              </a:rPr>
              <a:t>Y</a:t>
            </a:r>
            <a:r>
              <a:rPr lang="zh-CN" altLang="en-US" sz="2200" dirty="0">
                <a:latin typeface="+mn-ea"/>
                <a:ea typeface="+mn-ea"/>
              </a:rPr>
              <a:t>使得</a:t>
            </a:r>
            <a:r>
              <a:rPr lang="en-US" altLang="zh-CN" sz="2200" dirty="0">
                <a:latin typeface="+mn-ea"/>
                <a:ea typeface="+mn-ea"/>
              </a:rPr>
              <a:t>Y</a:t>
            </a:r>
            <a:r>
              <a:rPr lang="zh-CN" altLang="en-US" sz="2200" dirty="0">
                <a:latin typeface="+mn-ea"/>
                <a:ea typeface="+mn-ea"/>
              </a:rPr>
              <a:t>在</a:t>
            </a:r>
            <a:r>
              <a:rPr lang="en-US" altLang="zh-CN" sz="2200" dirty="0">
                <a:latin typeface="+mn-ea"/>
                <a:ea typeface="+mn-ea"/>
              </a:rPr>
              <a:t>D</a:t>
            </a:r>
            <a:r>
              <a:rPr lang="zh-CN" altLang="en-US" sz="2200" dirty="0">
                <a:latin typeface="+mn-ea"/>
                <a:ea typeface="+mn-ea"/>
              </a:rPr>
              <a:t>中是频繁的（即，项集</a:t>
            </a:r>
            <a:r>
              <a:rPr lang="en-US" altLang="zh-CN" sz="2200" dirty="0">
                <a:latin typeface="+mn-ea"/>
                <a:ea typeface="+mn-ea"/>
              </a:rPr>
              <a:t>X</a:t>
            </a:r>
            <a:r>
              <a:rPr lang="zh-CN" altLang="en-US" sz="2200" dirty="0">
                <a:latin typeface="+mn-ea"/>
                <a:ea typeface="+mn-ea"/>
              </a:rPr>
              <a:t>，</a:t>
            </a:r>
            <a:r>
              <a:rPr lang="zh-CN" altLang="en-US" sz="2200" dirty="0">
                <a:solidFill>
                  <a:srgbClr val="FF0000"/>
                </a:solidFill>
                <a:latin typeface="+mn-ea"/>
                <a:ea typeface="+mn-ea"/>
              </a:rPr>
              <a:t>只要再添加一项，就不频繁了</a:t>
            </a:r>
            <a:r>
              <a:rPr lang="zh-CN" altLang="en-US" sz="2200" dirty="0">
                <a:latin typeface="+mn-ea"/>
                <a:ea typeface="+mn-ea"/>
              </a:rPr>
              <a:t>）。</a:t>
            </a:r>
            <a:endParaRPr lang="en-US" altLang="zh-CN" sz="2200" dirty="0">
              <a:latin typeface="+mn-ea"/>
              <a:ea typeface="+mn-ea"/>
            </a:endParaRPr>
          </a:p>
        </p:txBody>
      </p:sp>
      <p:sp>
        <p:nvSpPr>
          <p:cNvPr id="2" name="矩形 1"/>
          <p:cNvSpPr/>
          <p:nvPr/>
        </p:nvSpPr>
        <p:spPr>
          <a:xfrm>
            <a:off x="674688" y="5122863"/>
            <a:ext cx="7620000" cy="1938337"/>
          </a:xfrm>
          <a:prstGeom prst="rect">
            <a:avLst/>
          </a:prstGeom>
          <a:solidFill>
            <a:schemeClr val="accent4">
              <a:lumMod val="20000"/>
              <a:lumOff val="80000"/>
            </a:schemeClr>
          </a:solidFill>
        </p:spPr>
        <p:txBody>
          <a:bodyPr>
            <a:spAutoFit/>
          </a:bodyPr>
          <a:lstStyle/>
          <a:p>
            <a:pPr defTabSz="869315">
              <a:lnSpc>
                <a:spcPct val="150000"/>
              </a:lnSpc>
              <a:defRPr/>
            </a:pPr>
            <a:r>
              <a:rPr lang="zh-CN" altLang="en-US" sz="2000" b="0" dirty="0">
                <a:latin typeface="+mn-ea"/>
                <a:ea typeface="+mn-ea"/>
              </a:rPr>
              <a:t>例：假定事务数据库中有两个事务，</a:t>
            </a:r>
            <a:r>
              <a:rPr lang="en-US" altLang="zh-CN" sz="2000" b="0" dirty="0">
                <a:latin typeface="+mn-ea"/>
                <a:ea typeface="+mn-ea"/>
              </a:rPr>
              <a:t>{a1,a2,a3,...,a99,a100}</a:t>
            </a:r>
            <a:r>
              <a:rPr lang="zh-CN" altLang="en-US" sz="2000" b="0" dirty="0">
                <a:latin typeface="+mn-ea"/>
                <a:ea typeface="+mn-ea"/>
              </a:rPr>
              <a:t>，</a:t>
            </a:r>
            <a:r>
              <a:rPr lang="en-US" altLang="zh-CN" sz="2000" b="0" dirty="0">
                <a:latin typeface="+mn-ea"/>
                <a:ea typeface="+mn-ea"/>
              </a:rPr>
              <a:t>{a1,a2,a3,...,a49,a50}</a:t>
            </a:r>
            <a:r>
              <a:rPr lang="zh-CN" altLang="en-US" sz="2000" b="0" dirty="0">
                <a:latin typeface="+mn-ea"/>
                <a:ea typeface="+mn-ea"/>
              </a:rPr>
              <a:t>，设最小支持度计数阈值</a:t>
            </a:r>
            <a:r>
              <a:rPr lang="en-US" altLang="zh-CN" sz="2000" b="0" dirty="0" err="1">
                <a:latin typeface="+mn-ea"/>
                <a:ea typeface="+mn-ea"/>
              </a:rPr>
              <a:t>min_sup</a:t>
            </a:r>
            <a:r>
              <a:rPr lang="en-US" altLang="zh-CN" sz="2000" b="0" dirty="0">
                <a:latin typeface="+mn-ea"/>
                <a:ea typeface="+mn-ea"/>
              </a:rPr>
              <a:t>=1,</a:t>
            </a:r>
            <a:r>
              <a:rPr lang="zh-CN" altLang="en-US" sz="2000" b="0" dirty="0">
                <a:latin typeface="+mn-ea"/>
                <a:ea typeface="+mn-ea"/>
              </a:rPr>
              <a:t>则：</a:t>
            </a:r>
            <a:endParaRPr lang="en-US" altLang="zh-CN" sz="2000" b="0" dirty="0">
              <a:latin typeface="+mn-ea"/>
              <a:ea typeface="+mn-ea"/>
            </a:endParaRPr>
          </a:p>
          <a:p>
            <a:pPr defTabSz="869315">
              <a:lnSpc>
                <a:spcPct val="150000"/>
              </a:lnSpc>
              <a:defRPr/>
            </a:pPr>
            <a:r>
              <a:rPr lang="zh-CN" altLang="en-US" sz="2000" b="0" dirty="0">
                <a:latin typeface="+mn-ea"/>
                <a:ea typeface="+mn-ea"/>
              </a:rPr>
              <a:t>  闭频繁项集为</a:t>
            </a:r>
            <a:endParaRPr lang="en-US" altLang="zh-CN" sz="2000" b="0" dirty="0">
              <a:latin typeface="+mn-ea"/>
              <a:ea typeface="+mn-ea"/>
            </a:endParaRPr>
          </a:p>
          <a:p>
            <a:pPr defTabSz="869315">
              <a:lnSpc>
                <a:spcPct val="150000"/>
              </a:lnSpc>
              <a:defRPr/>
            </a:pPr>
            <a:r>
              <a:rPr lang="zh-CN" altLang="en-US" sz="2000" b="0" dirty="0">
                <a:latin typeface="+mn-ea"/>
                <a:ea typeface="+mn-ea"/>
              </a:rPr>
              <a:t>极大频繁项集为</a:t>
            </a:r>
            <a:endParaRPr lang="en-US" altLang="zh-CN" sz="2000" b="0" dirty="0">
              <a:latin typeface="+mn-ea"/>
              <a:ea typeface="+mn-ea"/>
            </a:endParaRPr>
          </a:p>
        </p:txBody>
      </p:sp>
      <p:sp>
        <p:nvSpPr>
          <p:cNvPr id="3" name="矩形 2"/>
          <p:cNvSpPr/>
          <p:nvPr/>
        </p:nvSpPr>
        <p:spPr>
          <a:xfrm>
            <a:off x="2503488" y="6135688"/>
            <a:ext cx="3006725" cy="400050"/>
          </a:xfrm>
          <a:prstGeom prst="rect">
            <a:avLst/>
          </a:prstGeom>
        </p:spPr>
        <p:txBody>
          <a:bodyPr wrap="none">
            <a:spAutoFit/>
          </a:bodyPr>
          <a:lstStyle/>
          <a:p>
            <a:pPr>
              <a:defRPr/>
            </a:pPr>
            <a:r>
              <a:rPr lang="en-US" altLang="zh-CN" sz="2000" b="0" dirty="0">
                <a:solidFill>
                  <a:srgbClr val="00B0F0"/>
                </a:solidFill>
                <a:latin typeface="+mn-ea"/>
              </a:rPr>
              <a:t>{a1,a2,a3,...,a49,a50}</a:t>
            </a:r>
            <a:endParaRPr lang="zh-CN" altLang="en-US" sz="2000" dirty="0">
              <a:solidFill>
                <a:srgbClr val="00B0F0"/>
              </a:solidFill>
            </a:endParaRPr>
          </a:p>
        </p:txBody>
      </p:sp>
      <p:sp>
        <p:nvSpPr>
          <p:cNvPr id="6" name="矩形 5"/>
          <p:cNvSpPr/>
          <p:nvPr/>
        </p:nvSpPr>
        <p:spPr>
          <a:xfrm>
            <a:off x="2503488" y="6624638"/>
            <a:ext cx="3103562" cy="398462"/>
          </a:xfrm>
          <a:prstGeom prst="rect">
            <a:avLst/>
          </a:prstGeom>
        </p:spPr>
        <p:txBody>
          <a:bodyPr wrap="none">
            <a:spAutoFit/>
          </a:bodyPr>
          <a:lstStyle/>
          <a:p>
            <a:pPr defTabSz="869315">
              <a:defRPr/>
            </a:pPr>
            <a:r>
              <a:rPr lang="en-US" altLang="zh-CN" sz="2000" b="0" dirty="0">
                <a:solidFill>
                  <a:srgbClr val="00B0F0"/>
                </a:solidFill>
                <a:latin typeface="+mn-ea"/>
              </a:rPr>
              <a:t>{a1,a2,a3,...,a99,a100}</a:t>
            </a:r>
            <a:endParaRPr lang="en-US" altLang="zh-CN" sz="2000" b="0" dirty="0">
              <a:solidFill>
                <a:srgbClr val="00B0F0"/>
              </a:solidFill>
              <a:latin typeface="+mn-ea"/>
            </a:endParaRPr>
          </a:p>
        </p:txBody>
      </p:sp>
      <p:graphicFrame>
        <p:nvGraphicFramePr>
          <p:cNvPr id="9" name="Object 3"/>
          <p:cNvGraphicFramePr>
            <a:graphicFrameLocks noChangeAspect="1"/>
          </p:cNvGraphicFramePr>
          <p:nvPr/>
        </p:nvGraphicFramePr>
        <p:xfrm>
          <a:off x="7648575" y="1133475"/>
          <a:ext cx="3048000" cy="2840038"/>
        </p:xfrm>
        <a:graphic>
          <a:graphicData uri="http://schemas.openxmlformats.org/presentationml/2006/ole">
            <mc:AlternateContent xmlns:mc="http://schemas.openxmlformats.org/markup-compatibility/2006">
              <mc:Choice xmlns:v="urn:schemas-microsoft-com:vml" Requires="v">
                <p:oleObj spid="_x0000_s5" name="" r:id="rId1" imgW="6670040" imgH="6216650" progId="Visio.Drawing.6">
                  <p:embed/>
                </p:oleObj>
              </mc:Choice>
              <mc:Fallback>
                <p:oleObj name="" r:id="rId1" imgW="6670040" imgH="6216650" progId="Visio.Drawing.6">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48575" y="1133475"/>
                        <a:ext cx="3048000" cy="284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a:t>
            </a:r>
            <a:r>
              <a:rPr lang="en-US" altLang="zh-CN" sz="4400" dirty="0">
                <a:latin typeface="楷体" panose="02010609060101010101" pitchFamily="49" charset="-122"/>
                <a:ea typeface="楷体" panose="02010609060101010101" pitchFamily="49" charset="-122"/>
              </a:rPr>
              <a:t>6.1 </a:t>
            </a:r>
            <a:r>
              <a:rPr lang="zh-CN" altLang="en-US" sz="4400" dirty="0">
                <a:latin typeface="楷体" panose="02010609060101010101" pitchFamily="49" charset="-122"/>
                <a:ea typeface="楷体" panose="02010609060101010101" pitchFamily="49" charset="-122"/>
              </a:rPr>
              <a:t>基本概念</a:t>
            </a:r>
            <a:endParaRPr lang="zh-CN" altLang="en-US" sz="4400" dirty="0">
              <a:latin typeface="楷体" panose="02010609060101010101" pitchFamily="49" charset="-122"/>
              <a:ea typeface="楷体" panose="02010609060101010101" pitchFamily="49" charset="-122"/>
            </a:endParaRPr>
          </a:p>
        </p:txBody>
      </p:sp>
      <p:sp>
        <p:nvSpPr>
          <p:cNvPr id="4" name="Rectangle 3"/>
          <p:cNvSpPr>
            <a:spLocks noGrp="1" noChangeArrowheads="1"/>
          </p:cNvSpPr>
          <p:nvPr>
            <p:ph idx="1"/>
          </p:nvPr>
        </p:nvSpPr>
        <p:spPr>
          <a:xfrm>
            <a:off x="522605" y="1160780"/>
            <a:ext cx="9775190" cy="3223895"/>
          </a:xfrm>
        </p:spPr>
        <p:txBody>
          <a:bodyPr/>
          <a:lstStyle/>
          <a:p>
            <a:pPr marL="0" indent="0" defTabSz="869315" eaLnBrk="1" hangingPunct="1">
              <a:lnSpc>
                <a:spcPts val="3800"/>
              </a:lnSpc>
              <a:buFont typeface="Arial" panose="020B0604020202020204" pitchFamily="34" charset="0"/>
              <a:buNone/>
              <a:defRPr/>
            </a:pPr>
            <a:r>
              <a:rPr lang="zh-CN" altLang="en-US" sz="2400" b="1" dirty="0">
                <a:latin typeface="+mn-ea"/>
                <a:ea typeface="+mn-ea"/>
              </a:rPr>
              <a:t>频繁项集</a:t>
            </a:r>
            <a:r>
              <a:rPr lang="zh-CN" altLang="en-US" sz="2400" b="1" dirty="0">
                <a:latin typeface="+mn-ea"/>
                <a:ea typeface="+mn-ea"/>
              </a:rPr>
              <a:t>的应用：</a:t>
            </a:r>
            <a:endParaRPr lang="zh-CN" altLang="en-US" sz="2400" b="1" dirty="0">
              <a:latin typeface="+mn-ea"/>
              <a:ea typeface="+mn-ea"/>
            </a:endParaRPr>
          </a:p>
          <a:p>
            <a:pPr marL="0" indent="0" defTabSz="869315" eaLnBrk="1" hangingPunct="1">
              <a:lnSpc>
                <a:spcPts val="3800"/>
              </a:lnSpc>
              <a:buFont typeface="Arial" panose="020B0604020202020204" pitchFamily="34" charset="0"/>
              <a:buNone/>
              <a:defRPr/>
            </a:pPr>
            <a:r>
              <a:rPr lang="en-US" altLang="zh-CN" sz="2400" b="1" dirty="0">
                <a:latin typeface="+mn-ea"/>
                <a:ea typeface="+mn-ea"/>
              </a:rPr>
              <a:t>1</a:t>
            </a:r>
            <a:r>
              <a:rPr lang="zh-CN" altLang="en-US" sz="2400" b="1" dirty="0">
                <a:latin typeface="+mn-ea"/>
                <a:ea typeface="+mn-ea"/>
              </a:rPr>
              <a:t>、关联概念：在</a:t>
            </a:r>
            <a:r>
              <a:rPr lang="zh-CN" altLang="en-US" sz="2400" b="1" dirty="0">
                <a:solidFill>
                  <a:srgbClr val="FF0000"/>
                </a:solidFill>
                <a:latin typeface="+mn-ea"/>
                <a:ea typeface="+mn-ea"/>
              </a:rPr>
              <a:t>高频词</a:t>
            </a:r>
            <a:r>
              <a:rPr lang="zh-CN" altLang="en-US" sz="2400" b="1" dirty="0">
                <a:latin typeface="+mn-ea"/>
                <a:ea typeface="+mn-ea"/>
              </a:rPr>
              <a:t>对中发现某些能够代表</a:t>
            </a:r>
            <a:r>
              <a:rPr lang="zh-CN" altLang="en-US" sz="2400" b="1" dirty="0">
                <a:solidFill>
                  <a:srgbClr val="FF0000"/>
                </a:solidFill>
                <a:latin typeface="+mn-ea"/>
                <a:ea typeface="+mn-ea"/>
              </a:rPr>
              <a:t>联合概念的一部分词对</a:t>
            </a:r>
            <a:r>
              <a:rPr lang="zh-CN" altLang="en-US" sz="2400" b="1" dirty="0">
                <a:latin typeface="+mn-ea"/>
                <a:ea typeface="+mn-ea"/>
              </a:rPr>
              <a:t>。</a:t>
            </a:r>
            <a:endParaRPr lang="zh-CN" altLang="en-US" sz="2400" b="1" dirty="0">
              <a:latin typeface="+mn-ea"/>
              <a:ea typeface="+mn-ea"/>
            </a:endParaRPr>
          </a:p>
        </p:txBody>
      </p:sp>
      <p:pic>
        <p:nvPicPr>
          <p:cNvPr id="7" name="图片 6"/>
          <p:cNvPicPr>
            <a:picLocks noChangeAspect="1"/>
          </p:cNvPicPr>
          <p:nvPr/>
        </p:nvPicPr>
        <p:blipFill>
          <a:blip r:embed="rId1"/>
          <a:stretch>
            <a:fillRect/>
          </a:stretch>
        </p:blipFill>
        <p:spPr>
          <a:xfrm>
            <a:off x="1132205" y="2228215"/>
            <a:ext cx="6134100" cy="2035810"/>
          </a:xfrm>
          <a:prstGeom prst="rect">
            <a:avLst/>
          </a:prstGeom>
        </p:spPr>
      </p:pic>
      <p:sp>
        <p:nvSpPr>
          <p:cNvPr id="10" name="Rectangle 3"/>
          <p:cNvSpPr>
            <a:spLocks noGrp="1" noChangeArrowheads="1"/>
          </p:cNvSpPr>
          <p:nvPr/>
        </p:nvSpPr>
        <p:spPr>
          <a:xfrm>
            <a:off x="522605" y="4285615"/>
            <a:ext cx="9775190" cy="581025"/>
          </a:xfrm>
          <a:prstGeom prst="rect">
            <a:avLst/>
          </a:prstGeom>
          <a:noFill/>
          <a:ln>
            <a:noFill/>
          </a:ln>
        </p:spPr>
        <p:txBody>
          <a:bodyPr vert="horz" wrap="square" lIns="102789" tIns="51393" rIns="102789" bIns="51393" numCol="1" anchor="t" anchorCtr="0" compatLnSpc="1"/>
          <a:lstStyle>
            <a:lvl1pPr marL="323850" indent="-323850" algn="l" defTabSz="868680" rtl="0" eaLnBrk="0" fontAlgn="base" hangingPunct="0">
              <a:lnSpc>
                <a:spcPct val="150000"/>
              </a:lnSpc>
              <a:spcBef>
                <a:spcPts val="0"/>
              </a:spcBef>
              <a:spcAft>
                <a:spcPct val="0"/>
              </a:spcAft>
              <a:buFont typeface="Arial" panose="020B0604020202020204" pitchFamily="34" charset="0"/>
              <a:buChar char="•"/>
              <a:defRPr sz="3000" kern="1200">
                <a:solidFill>
                  <a:schemeClr val="tx1"/>
                </a:solidFill>
                <a:latin typeface="+mn-lt"/>
                <a:ea typeface="PMingLiU" panose="02020500000000000000" pitchFamily="18" charset="-120"/>
                <a:cs typeface="+mn-cs"/>
              </a:defRPr>
            </a:lvl1pPr>
            <a:lvl2pPr marL="706755" indent="-271780" algn="l" defTabSz="868680" rtl="0" eaLnBrk="0" fontAlgn="base" hangingPunct="0">
              <a:lnSpc>
                <a:spcPct val="150000"/>
              </a:lnSpc>
              <a:spcBef>
                <a:spcPts val="0"/>
              </a:spcBef>
              <a:spcAft>
                <a:spcPct val="0"/>
              </a:spcAft>
              <a:buFont typeface="Arial" panose="020B0604020202020204" pitchFamily="34" charset="0"/>
              <a:buChar char="–"/>
              <a:defRPr sz="2700" kern="1200">
                <a:solidFill>
                  <a:schemeClr val="tx1"/>
                </a:solidFill>
                <a:latin typeface="+mn-lt"/>
                <a:ea typeface="PMingLiU" panose="02020500000000000000" pitchFamily="18" charset="-120"/>
                <a:cs typeface="+mn-cs"/>
              </a:defRPr>
            </a:lvl2pPr>
            <a:lvl3pPr marL="1085850" indent="-215900" algn="l" defTabSz="868680" rtl="0" eaLnBrk="0" fontAlgn="base" hangingPunct="0">
              <a:lnSpc>
                <a:spcPct val="150000"/>
              </a:lnSpc>
              <a:spcBef>
                <a:spcPts val="0"/>
              </a:spcBef>
              <a:spcAft>
                <a:spcPct val="0"/>
              </a:spcAft>
              <a:buFont typeface="Arial" panose="020B0604020202020204" pitchFamily="34" charset="0"/>
              <a:buChar char="•"/>
              <a:defRPr sz="2200" kern="1200">
                <a:solidFill>
                  <a:schemeClr val="tx1"/>
                </a:solidFill>
                <a:latin typeface="+mn-lt"/>
                <a:ea typeface="PMingLiU" panose="02020500000000000000" pitchFamily="18" charset="-120"/>
                <a:cs typeface="+mn-cs"/>
              </a:defRPr>
            </a:lvl3pPr>
            <a:lvl4pPr marL="1522730" indent="-215900" algn="l" defTabSz="868680" rtl="0" eaLnBrk="0" fontAlgn="base" hangingPunct="0">
              <a:lnSpc>
                <a:spcPct val="150000"/>
              </a:lnSpc>
              <a:spcBef>
                <a:spcPts val="0"/>
              </a:spcBef>
              <a:spcAft>
                <a:spcPct val="0"/>
              </a:spcAft>
              <a:buFont typeface="Arial" panose="020B0604020202020204" pitchFamily="34" charset="0"/>
              <a:buChar char="–"/>
              <a:defRPr sz="1900" kern="1200">
                <a:solidFill>
                  <a:schemeClr val="tx1"/>
                </a:solidFill>
                <a:latin typeface="+mn-lt"/>
                <a:ea typeface="PMingLiU" panose="02020500000000000000" pitchFamily="18" charset="-120"/>
                <a:cs typeface="+mn-cs"/>
              </a:defRPr>
            </a:lvl4pPr>
            <a:lvl5pPr marL="1955800" indent="-215900" algn="l" defTabSz="868680" rtl="0" eaLnBrk="0" fontAlgn="base" hangingPunct="0">
              <a:lnSpc>
                <a:spcPct val="150000"/>
              </a:lnSpc>
              <a:spcBef>
                <a:spcPts val="0"/>
              </a:spcBef>
              <a:spcAft>
                <a:spcPct val="0"/>
              </a:spcAft>
              <a:buFont typeface="Arial" panose="020B0604020202020204" pitchFamily="34" charset="0"/>
              <a:buChar char="»"/>
              <a:defRPr sz="1900" kern="1200">
                <a:solidFill>
                  <a:schemeClr val="tx1"/>
                </a:solidFill>
                <a:latin typeface="+mn-lt"/>
                <a:ea typeface="PMingLiU" panose="02020500000000000000" pitchFamily="18" charset="-120"/>
                <a:cs typeface="+mn-cs"/>
              </a:defRPr>
            </a:lvl5pPr>
            <a:lvl6pPr marL="2393315" indent="-217805" algn="l" defTabSz="869950" rtl="0" eaLnBrk="1" latinLnBrk="0" hangingPunct="1">
              <a:spcBef>
                <a:spcPct val="20000"/>
              </a:spcBef>
              <a:buFont typeface="Arial" panose="020B0604020202020204" pitchFamily="34" charset="0"/>
              <a:buChar char="•"/>
              <a:defRPr sz="1945" kern="1200">
                <a:solidFill>
                  <a:schemeClr val="tx1"/>
                </a:solidFill>
                <a:latin typeface="+mn-lt"/>
                <a:ea typeface="+mn-ea"/>
                <a:cs typeface="+mn-cs"/>
              </a:defRPr>
            </a:lvl6pPr>
            <a:lvl7pPr marL="2828290" indent="-217805" algn="l" defTabSz="869950" rtl="0" eaLnBrk="1" latinLnBrk="0" hangingPunct="1">
              <a:spcBef>
                <a:spcPct val="20000"/>
              </a:spcBef>
              <a:buFont typeface="Arial" panose="020B0604020202020204" pitchFamily="34" charset="0"/>
              <a:buChar char="•"/>
              <a:defRPr sz="1945" kern="1200">
                <a:solidFill>
                  <a:schemeClr val="tx1"/>
                </a:solidFill>
                <a:latin typeface="+mn-lt"/>
                <a:ea typeface="+mn-ea"/>
                <a:cs typeface="+mn-cs"/>
              </a:defRPr>
            </a:lvl7pPr>
            <a:lvl8pPr marL="3263265" indent="-217805" algn="l" defTabSz="869950" rtl="0" eaLnBrk="1" latinLnBrk="0" hangingPunct="1">
              <a:spcBef>
                <a:spcPct val="20000"/>
              </a:spcBef>
              <a:buFont typeface="Arial" panose="020B0604020202020204" pitchFamily="34" charset="0"/>
              <a:buChar char="•"/>
              <a:defRPr sz="1945" kern="1200">
                <a:solidFill>
                  <a:schemeClr val="tx1"/>
                </a:solidFill>
                <a:latin typeface="+mn-lt"/>
                <a:ea typeface="+mn-ea"/>
                <a:cs typeface="+mn-cs"/>
              </a:defRPr>
            </a:lvl8pPr>
            <a:lvl9pPr marL="3698240" indent="-217805" algn="l" defTabSz="869950" rtl="0" eaLnBrk="1" latinLnBrk="0" hangingPunct="1">
              <a:spcBef>
                <a:spcPct val="20000"/>
              </a:spcBef>
              <a:buFont typeface="Arial" panose="020B0604020202020204" pitchFamily="34" charset="0"/>
              <a:buChar char="•"/>
              <a:defRPr sz="1945" kern="1200">
                <a:solidFill>
                  <a:schemeClr val="tx1"/>
                </a:solidFill>
                <a:latin typeface="+mn-lt"/>
                <a:ea typeface="+mn-ea"/>
                <a:cs typeface="+mn-cs"/>
              </a:defRPr>
            </a:lvl9pPr>
          </a:lstStyle>
          <a:p>
            <a:pPr marL="0" indent="0" defTabSz="869315" eaLnBrk="1" hangingPunct="1">
              <a:lnSpc>
                <a:spcPts val="3800"/>
              </a:lnSpc>
              <a:buFont typeface="Arial" panose="020B0604020202020204" pitchFamily="34" charset="0"/>
              <a:buNone/>
              <a:defRPr/>
            </a:pPr>
            <a:r>
              <a:rPr lang="en-US" altLang="zh-CN" sz="2400" b="1" dirty="0">
                <a:latin typeface="+mn-ea"/>
                <a:ea typeface="+mn-ea"/>
              </a:rPr>
              <a:t>2</a:t>
            </a:r>
            <a:r>
              <a:rPr lang="zh-CN" altLang="en-US" sz="2400" b="1" dirty="0">
                <a:latin typeface="+mn-ea"/>
                <a:ea typeface="+mn-ea"/>
              </a:rPr>
              <a:t>、文档抄袭：寻找那些在多个购物篮中共同出现的</a:t>
            </a:r>
            <a:r>
              <a:rPr lang="zh-CN" altLang="en-US" sz="2400" b="1" dirty="0">
                <a:latin typeface="+mn-ea"/>
                <a:ea typeface="+mn-ea"/>
              </a:rPr>
              <a:t>项对。</a:t>
            </a:r>
            <a:endParaRPr lang="zh-CN" altLang="en-US" sz="2400" b="1" dirty="0">
              <a:latin typeface="+mn-ea"/>
              <a:ea typeface="+mn-ea"/>
            </a:endParaRPr>
          </a:p>
        </p:txBody>
      </p:sp>
      <p:sp>
        <p:nvSpPr>
          <p:cNvPr id="11" name="文本框 10"/>
          <p:cNvSpPr txBox="1"/>
          <p:nvPr/>
        </p:nvSpPr>
        <p:spPr>
          <a:xfrm>
            <a:off x="7837805" y="2990215"/>
            <a:ext cx="2080895" cy="829945"/>
          </a:xfrm>
          <a:prstGeom prst="rect">
            <a:avLst/>
          </a:prstGeom>
          <a:noFill/>
          <a:ln>
            <a:solidFill>
              <a:srgbClr val="00B050"/>
            </a:solidFill>
          </a:ln>
        </p:spPr>
        <p:txBody>
          <a:bodyPr wrap="square" rtlCol="0" anchor="t">
            <a:spAutoFit/>
          </a:bodyPr>
          <a:p>
            <a:pPr algn="l"/>
            <a:r>
              <a:rPr lang="zh-CN" altLang="en-US" sz="2400">
                <a:sym typeface="+mn-ea"/>
              </a:rPr>
              <a:t>购物篮是</a:t>
            </a:r>
            <a:r>
              <a:rPr lang="zh-CN" altLang="en-US" sz="2400">
                <a:solidFill>
                  <a:srgbClr val="FF0000"/>
                </a:solidFill>
                <a:sym typeface="+mn-ea"/>
              </a:rPr>
              <a:t>文档</a:t>
            </a:r>
            <a:r>
              <a:rPr lang="zh-CN" altLang="en-US" sz="2400">
                <a:sym typeface="+mn-ea"/>
              </a:rPr>
              <a:t>项是</a:t>
            </a:r>
            <a:r>
              <a:rPr lang="zh-CN" altLang="en-US" sz="2400">
                <a:solidFill>
                  <a:srgbClr val="FF0000"/>
                </a:solidFill>
                <a:sym typeface="+mn-ea"/>
              </a:rPr>
              <a:t>词</a:t>
            </a:r>
            <a:endParaRPr lang="zh-CN" altLang="en-US" sz="2400">
              <a:solidFill>
                <a:srgbClr val="FF0000"/>
              </a:solidFill>
              <a:sym typeface="+mn-ea"/>
            </a:endParaRPr>
          </a:p>
        </p:txBody>
      </p:sp>
      <p:sp>
        <p:nvSpPr>
          <p:cNvPr id="12" name="文本框 11"/>
          <p:cNvSpPr txBox="1"/>
          <p:nvPr/>
        </p:nvSpPr>
        <p:spPr>
          <a:xfrm>
            <a:off x="2732405" y="4971415"/>
            <a:ext cx="4564380" cy="460375"/>
          </a:xfrm>
          <a:prstGeom prst="rect">
            <a:avLst/>
          </a:prstGeom>
          <a:noFill/>
          <a:ln>
            <a:solidFill>
              <a:srgbClr val="00B050"/>
            </a:solidFill>
          </a:ln>
        </p:spPr>
        <p:txBody>
          <a:bodyPr wrap="square" rtlCol="0" anchor="t">
            <a:spAutoFit/>
          </a:bodyPr>
          <a:p>
            <a:pPr algn="l"/>
            <a:r>
              <a:rPr lang="zh-CN" altLang="en-US" sz="2400">
                <a:sym typeface="+mn-ea"/>
              </a:rPr>
              <a:t>购物篮是</a:t>
            </a:r>
            <a:r>
              <a:rPr lang="zh-CN" altLang="en-US" sz="2400">
                <a:solidFill>
                  <a:srgbClr val="FF0000"/>
                </a:solidFill>
                <a:sym typeface="+mn-ea"/>
              </a:rPr>
              <a:t>句子</a:t>
            </a:r>
            <a:r>
              <a:rPr lang="zh-CN" altLang="en-US" sz="2400">
                <a:solidFill>
                  <a:schemeClr val="tx1"/>
                </a:solidFill>
                <a:sym typeface="+mn-ea"/>
              </a:rPr>
              <a:t>，</a:t>
            </a:r>
            <a:r>
              <a:rPr lang="zh-CN" altLang="en-US" sz="2400">
                <a:sym typeface="+mn-ea"/>
              </a:rPr>
              <a:t>项是</a:t>
            </a:r>
            <a:r>
              <a:rPr lang="zh-CN" altLang="en-US" sz="2400">
                <a:solidFill>
                  <a:srgbClr val="FF0000"/>
                </a:solidFill>
                <a:sym typeface="+mn-ea"/>
              </a:rPr>
              <a:t>文档</a:t>
            </a:r>
            <a:endParaRPr lang="zh-CN" altLang="en-US" sz="2400">
              <a:solidFill>
                <a:srgbClr val="FF0000"/>
              </a:solidFill>
              <a:sym typeface="+mn-ea"/>
            </a:endParaRPr>
          </a:p>
        </p:txBody>
      </p:sp>
      <p:sp>
        <p:nvSpPr>
          <p:cNvPr id="13" name="Rectangle 3"/>
          <p:cNvSpPr>
            <a:spLocks noGrp="1" noChangeArrowheads="1"/>
          </p:cNvSpPr>
          <p:nvPr/>
        </p:nvSpPr>
        <p:spPr>
          <a:xfrm>
            <a:off x="522605" y="5504815"/>
            <a:ext cx="9775190" cy="581025"/>
          </a:xfrm>
          <a:prstGeom prst="rect">
            <a:avLst/>
          </a:prstGeom>
          <a:noFill/>
          <a:ln>
            <a:noFill/>
          </a:ln>
        </p:spPr>
        <p:txBody>
          <a:bodyPr vert="horz" wrap="square" lIns="102789" tIns="51393" rIns="102789" bIns="51393" numCol="1" anchor="t" anchorCtr="0" compatLnSpc="1"/>
          <a:lstStyle>
            <a:lvl1pPr marL="323850" indent="-323850" algn="l" defTabSz="868680" rtl="0" eaLnBrk="0" fontAlgn="base" hangingPunct="0">
              <a:lnSpc>
                <a:spcPct val="150000"/>
              </a:lnSpc>
              <a:spcBef>
                <a:spcPts val="0"/>
              </a:spcBef>
              <a:spcAft>
                <a:spcPct val="0"/>
              </a:spcAft>
              <a:buFont typeface="Arial" panose="020B0604020202020204" pitchFamily="34" charset="0"/>
              <a:buChar char="•"/>
              <a:defRPr sz="3000" kern="1200">
                <a:solidFill>
                  <a:schemeClr val="tx1"/>
                </a:solidFill>
                <a:latin typeface="+mn-lt"/>
                <a:ea typeface="PMingLiU" panose="02020500000000000000" pitchFamily="18" charset="-120"/>
                <a:cs typeface="+mn-cs"/>
              </a:defRPr>
            </a:lvl1pPr>
            <a:lvl2pPr marL="706755" indent="-271780" algn="l" defTabSz="868680" rtl="0" eaLnBrk="0" fontAlgn="base" hangingPunct="0">
              <a:lnSpc>
                <a:spcPct val="150000"/>
              </a:lnSpc>
              <a:spcBef>
                <a:spcPts val="0"/>
              </a:spcBef>
              <a:spcAft>
                <a:spcPct val="0"/>
              </a:spcAft>
              <a:buFont typeface="Arial" panose="020B0604020202020204" pitchFamily="34" charset="0"/>
              <a:buChar char="–"/>
              <a:defRPr sz="2700" kern="1200">
                <a:solidFill>
                  <a:schemeClr val="tx1"/>
                </a:solidFill>
                <a:latin typeface="+mn-lt"/>
                <a:ea typeface="PMingLiU" panose="02020500000000000000" pitchFamily="18" charset="-120"/>
                <a:cs typeface="+mn-cs"/>
              </a:defRPr>
            </a:lvl2pPr>
            <a:lvl3pPr marL="1085850" indent="-215900" algn="l" defTabSz="868680" rtl="0" eaLnBrk="0" fontAlgn="base" hangingPunct="0">
              <a:lnSpc>
                <a:spcPct val="150000"/>
              </a:lnSpc>
              <a:spcBef>
                <a:spcPts val="0"/>
              </a:spcBef>
              <a:spcAft>
                <a:spcPct val="0"/>
              </a:spcAft>
              <a:buFont typeface="Arial" panose="020B0604020202020204" pitchFamily="34" charset="0"/>
              <a:buChar char="•"/>
              <a:defRPr sz="2200" kern="1200">
                <a:solidFill>
                  <a:schemeClr val="tx1"/>
                </a:solidFill>
                <a:latin typeface="+mn-lt"/>
                <a:ea typeface="PMingLiU" panose="02020500000000000000" pitchFamily="18" charset="-120"/>
                <a:cs typeface="+mn-cs"/>
              </a:defRPr>
            </a:lvl3pPr>
            <a:lvl4pPr marL="1522730" indent="-215900" algn="l" defTabSz="868680" rtl="0" eaLnBrk="0" fontAlgn="base" hangingPunct="0">
              <a:lnSpc>
                <a:spcPct val="150000"/>
              </a:lnSpc>
              <a:spcBef>
                <a:spcPts val="0"/>
              </a:spcBef>
              <a:spcAft>
                <a:spcPct val="0"/>
              </a:spcAft>
              <a:buFont typeface="Arial" panose="020B0604020202020204" pitchFamily="34" charset="0"/>
              <a:buChar char="–"/>
              <a:defRPr sz="1900" kern="1200">
                <a:solidFill>
                  <a:schemeClr val="tx1"/>
                </a:solidFill>
                <a:latin typeface="+mn-lt"/>
                <a:ea typeface="PMingLiU" panose="02020500000000000000" pitchFamily="18" charset="-120"/>
                <a:cs typeface="+mn-cs"/>
              </a:defRPr>
            </a:lvl4pPr>
            <a:lvl5pPr marL="1955800" indent="-215900" algn="l" defTabSz="868680" rtl="0" eaLnBrk="0" fontAlgn="base" hangingPunct="0">
              <a:lnSpc>
                <a:spcPct val="150000"/>
              </a:lnSpc>
              <a:spcBef>
                <a:spcPts val="0"/>
              </a:spcBef>
              <a:spcAft>
                <a:spcPct val="0"/>
              </a:spcAft>
              <a:buFont typeface="Arial" panose="020B0604020202020204" pitchFamily="34" charset="0"/>
              <a:buChar char="»"/>
              <a:defRPr sz="1900" kern="1200">
                <a:solidFill>
                  <a:schemeClr val="tx1"/>
                </a:solidFill>
                <a:latin typeface="+mn-lt"/>
                <a:ea typeface="PMingLiU" panose="02020500000000000000" pitchFamily="18" charset="-120"/>
                <a:cs typeface="+mn-cs"/>
              </a:defRPr>
            </a:lvl5pPr>
            <a:lvl6pPr marL="2393315" indent="-217805" algn="l" defTabSz="869950" rtl="0" eaLnBrk="1" latinLnBrk="0" hangingPunct="1">
              <a:spcBef>
                <a:spcPct val="20000"/>
              </a:spcBef>
              <a:buFont typeface="Arial" panose="020B0604020202020204" pitchFamily="34" charset="0"/>
              <a:buChar char="•"/>
              <a:defRPr sz="1945" kern="1200">
                <a:solidFill>
                  <a:schemeClr val="tx1"/>
                </a:solidFill>
                <a:latin typeface="+mn-lt"/>
                <a:ea typeface="+mn-ea"/>
                <a:cs typeface="+mn-cs"/>
              </a:defRPr>
            </a:lvl6pPr>
            <a:lvl7pPr marL="2828290" indent="-217805" algn="l" defTabSz="869950" rtl="0" eaLnBrk="1" latinLnBrk="0" hangingPunct="1">
              <a:spcBef>
                <a:spcPct val="20000"/>
              </a:spcBef>
              <a:buFont typeface="Arial" panose="020B0604020202020204" pitchFamily="34" charset="0"/>
              <a:buChar char="•"/>
              <a:defRPr sz="1945" kern="1200">
                <a:solidFill>
                  <a:schemeClr val="tx1"/>
                </a:solidFill>
                <a:latin typeface="+mn-lt"/>
                <a:ea typeface="+mn-ea"/>
                <a:cs typeface="+mn-cs"/>
              </a:defRPr>
            </a:lvl7pPr>
            <a:lvl8pPr marL="3263265" indent="-217805" algn="l" defTabSz="869950" rtl="0" eaLnBrk="1" latinLnBrk="0" hangingPunct="1">
              <a:spcBef>
                <a:spcPct val="20000"/>
              </a:spcBef>
              <a:buFont typeface="Arial" panose="020B0604020202020204" pitchFamily="34" charset="0"/>
              <a:buChar char="•"/>
              <a:defRPr sz="1945" kern="1200">
                <a:solidFill>
                  <a:schemeClr val="tx1"/>
                </a:solidFill>
                <a:latin typeface="+mn-lt"/>
                <a:ea typeface="+mn-ea"/>
                <a:cs typeface="+mn-cs"/>
              </a:defRPr>
            </a:lvl8pPr>
            <a:lvl9pPr marL="3698240" indent="-217805" algn="l" defTabSz="869950" rtl="0" eaLnBrk="1" latinLnBrk="0" hangingPunct="1">
              <a:spcBef>
                <a:spcPct val="20000"/>
              </a:spcBef>
              <a:buFont typeface="Arial" panose="020B0604020202020204" pitchFamily="34" charset="0"/>
              <a:buChar char="•"/>
              <a:defRPr sz="1945" kern="1200">
                <a:solidFill>
                  <a:schemeClr val="tx1"/>
                </a:solidFill>
                <a:latin typeface="+mn-lt"/>
                <a:ea typeface="+mn-ea"/>
                <a:cs typeface="+mn-cs"/>
              </a:defRPr>
            </a:lvl9pPr>
          </a:lstStyle>
          <a:p>
            <a:pPr marL="0" indent="0" defTabSz="869315" eaLnBrk="1" hangingPunct="1">
              <a:lnSpc>
                <a:spcPts val="3800"/>
              </a:lnSpc>
              <a:buFont typeface="Arial" panose="020B0604020202020204" pitchFamily="34" charset="0"/>
              <a:buNone/>
              <a:defRPr/>
            </a:pPr>
            <a:r>
              <a:rPr lang="en-US" altLang="zh-CN" sz="2400" b="1" dirty="0">
                <a:latin typeface="+mn-ea"/>
                <a:ea typeface="+mn-ea"/>
              </a:rPr>
              <a:t>3</a:t>
            </a:r>
            <a:r>
              <a:rPr lang="zh-CN" altLang="en-US" sz="2400" b="1" dirty="0">
                <a:latin typeface="+mn-ea"/>
                <a:ea typeface="+mn-ea"/>
              </a:rPr>
              <a:t>、生物标志物：给出疾病的检测</a:t>
            </a:r>
            <a:r>
              <a:rPr lang="zh-CN" altLang="en-US" sz="2400" b="1" dirty="0">
                <a:latin typeface="+mn-ea"/>
                <a:ea typeface="+mn-ea"/>
              </a:rPr>
              <a:t>建议。</a:t>
            </a:r>
            <a:endParaRPr lang="zh-CN" altLang="en-US" sz="2400" b="1" dirty="0">
              <a:latin typeface="+mn-ea"/>
              <a:ea typeface="+mn-ea"/>
            </a:endParaRPr>
          </a:p>
        </p:txBody>
      </p:sp>
      <p:sp>
        <p:nvSpPr>
          <p:cNvPr id="14" name="文本框 13"/>
          <p:cNvSpPr txBox="1"/>
          <p:nvPr/>
        </p:nvSpPr>
        <p:spPr>
          <a:xfrm>
            <a:off x="2732405" y="6175375"/>
            <a:ext cx="4564380" cy="460375"/>
          </a:xfrm>
          <a:prstGeom prst="rect">
            <a:avLst/>
          </a:prstGeom>
          <a:noFill/>
          <a:ln>
            <a:solidFill>
              <a:srgbClr val="00B050"/>
            </a:solidFill>
          </a:ln>
        </p:spPr>
        <p:txBody>
          <a:bodyPr wrap="square" rtlCol="0" anchor="t">
            <a:spAutoFit/>
          </a:bodyPr>
          <a:p>
            <a:pPr algn="l"/>
            <a:r>
              <a:rPr lang="zh-CN" altLang="en-US" sz="2400">
                <a:sym typeface="+mn-ea"/>
              </a:rPr>
              <a:t>购物篮是</a:t>
            </a:r>
            <a:r>
              <a:rPr lang="zh-CN" altLang="en-US" sz="2400">
                <a:solidFill>
                  <a:srgbClr val="FF0000"/>
                </a:solidFill>
                <a:sym typeface="+mn-ea"/>
              </a:rPr>
              <a:t>疾病</a:t>
            </a:r>
            <a:r>
              <a:rPr lang="zh-CN" altLang="en-US" sz="2400">
                <a:solidFill>
                  <a:schemeClr val="tx1"/>
                </a:solidFill>
                <a:sym typeface="+mn-ea"/>
              </a:rPr>
              <a:t>，</a:t>
            </a:r>
            <a:r>
              <a:rPr lang="zh-CN" altLang="en-US" sz="2400">
                <a:sym typeface="+mn-ea"/>
              </a:rPr>
              <a:t>项是</a:t>
            </a:r>
            <a:r>
              <a:rPr lang="zh-CN" altLang="en-US" sz="2400">
                <a:solidFill>
                  <a:srgbClr val="FF0000"/>
                </a:solidFill>
                <a:sym typeface="+mn-ea"/>
              </a:rPr>
              <a:t>生物</a:t>
            </a:r>
            <a:r>
              <a:rPr lang="zh-CN" altLang="en-US" sz="2400">
                <a:solidFill>
                  <a:srgbClr val="FF0000"/>
                </a:solidFill>
                <a:sym typeface="+mn-ea"/>
              </a:rPr>
              <a:t>标志物</a:t>
            </a:r>
            <a:endParaRPr lang="zh-CN" altLang="en-US" sz="2400">
              <a:solidFill>
                <a:srgbClr val="FF0000"/>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0" grpId="0"/>
      <p:bldP spid="12" grpId="0" animBg="1"/>
      <p:bldP spid="13" grpId="0"/>
      <p:bldP spid="14" grpId="0" animBg="1"/>
      <p:bldP spid="10" grpId="1"/>
      <p:bldP spid="12" grpId="1" animBg="1"/>
      <p:bldP spid="13" grpId="1"/>
      <p:bldP spid="14"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a:t>
            </a:r>
            <a:r>
              <a:rPr lang="en-US" altLang="zh-CN" sz="4400" dirty="0">
                <a:latin typeface="楷体" panose="02010609060101010101" pitchFamily="49" charset="-122"/>
                <a:ea typeface="楷体" panose="02010609060101010101" pitchFamily="49" charset="-122"/>
              </a:rPr>
              <a:t>6.1 </a:t>
            </a:r>
            <a:r>
              <a:rPr lang="zh-CN" altLang="en-US" sz="4400" dirty="0">
                <a:latin typeface="楷体" panose="02010609060101010101" pitchFamily="49" charset="-122"/>
                <a:ea typeface="楷体" panose="02010609060101010101" pitchFamily="49" charset="-122"/>
              </a:rPr>
              <a:t>基本概念</a:t>
            </a:r>
            <a:endParaRPr lang="zh-CN" altLang="en-US" sz="4400" dirty="0">
              <a:latin typeface="楷体" panose="02010609060101010101" pitchFamily="49" charset="-122"/>
              <a:ea typeface="楷体" panose="02010609060101010101" pitchFamily="49" charset="-122"/>
            </a:endParaRPr>
          </a:p>
        </p:txBody>
      </p:sp>
      <p:sp>
        <p:nvSpPr>
          <p:cNvPr id="4" name="Rectangle 3"/>
          <p:cNvSpPr>
            <a:spLocks noGrp="1" noChangeArrowheads="1"/>
          </p:cNvSpPr>
          <p:nvPr>
            <p:ph idx="1"/>
          </p:nvPr>
        </p:nvSpPr>
        <p:spPr>
          <a:xfrm>
            <a:off x="522605" y="1160780"/>
            <a:ext cx="9775190" cy="680085"/>
          </a:xfrm>
        </p:spPr>
        <p:txBody>
          <a:bodyPr/>
          <a:lstStyle/>
          <a:p>
            <a:pPr marL="0" indent="0" defTabSz="869315" eaLnBrk="1" hangingPunct="1">
              <a:lnSpc>
                <a:spcPts val="3800"/>
              </a:lnSpc>
              <a:buFont typeface="Arial" panose="020B0604020202020204" pitchFamily="34" charset="0"/>
              <a:buNone/>
              <a:defRPr/>
            </a:pPr>
            <a:r>
              <a:rPr lang="zh-CN" altLang="en-US" sz="2400" b="1" dirty="0">
                <a:latin typeface="+mn-ea"/>
                <a:ea typeface="+mn-ea"/>
              </a:rPr>
              <a:t>例题：</a:t>
            </a:r>
            <a:endParaRPr lang="zh-CN" altLang="en-US" sz="2400" b="1" dirty="0">
              <a:latin typeface="+mn-ea"/>
              <a:ea typeface="+mn-ea"/>
            </a:endParaRPr>
          </a:p>
        </p:txBody>
      </p:sp>
      <p:pic>
        <p:nvPicPr>
          <p:cNvPr id="100" name="图片 99"/>
          <p:cNvPicPr/>
          <p:nvPr/>
        </p:nvPicPr>
        <p:blipFill>
          <a:blip r:embed="rId1"/>
          <a:stretch>
            <a:fillRect/>
          </a:stretch>
        </p:blipFill>
        <p:spPr>
          <a:xfrm>
            <a:off x="1894840" y="1236980"/>
            <a:ext cx="6636385" cy="2226945"/>
          </a:xfrm>
          <a:prstGeom prst="rect">
            <a:avLst/>
          </a:prstGeom>
          <a:noFill/>
          <a:ln w="9525">
            <a:noFill/>
          </a:ln>
        </p:spPr>
      </p:pic>
      <p:sp>
        <p:nvSpPr>
          <p:cNvPr id="2" name="文本框 1"/>
          <p:cNvSpPr txBox="1"/>
          <p:nvPr/>
        </p:nvSpPr>
        <p:spPr>
          <a:xfrm>
            <a:off x="1056640" y="3675380"/>
            <a:ext cx="5397500" cy="3322955"/>
          </a:xfrm>
          <a:prstGeom prst="rect">
            <a:avLst/>
          </a:prstGeom>
          <a:noFill/>
        </p:spPr>
        <p:txBody>
          <a:bodyPr wrap="square" rtlCol="0" anchor="t">
            <a:spAutoFit/>
          </a:bodyPr>
          <a:p>
            <a:pPr>
              <a:lnSpc>
                <a:spcPct val="150000"/>
              </a:lnSpc>
            </a:pPr>
            <a:r>
              <a:rPr lang="zh-CN" altLang="en-US" sz="2000">
                <a:latin typeface="Times New Roman" panose="02020603050405020304" pitchFamily="18" charset="0"/>
                <a:ea typeface="宋体" panose="02010600030101010101" pitchFamily="2" charset="-122"/>
                <a:cs typeface="Times New Roman" panose="02020603050405020304" pitchFamily="18" charset="0"/>
              </a:rPr>
              <a:t>求下列项的支持度和置信度：</a:t>
            </a:r>
            <a:endParaRPr lang="en-US" altLang="zh-CN" sz="200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support</a:t>
            </a:r>
            <a:r>
              <a:rPr lang="zh-CN" altLang="en-US" sz="2000" i="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牛奶</a:t>
            </a:r>
            <a:r>
              <a:rPr lang="zh-CN" altLang="en-US" sz="2000" i="1" dirty="0">
                <a:latin typeface="Times New Roman" panose="02020603050405020304" pitchFamily="18" charset="0"/>
                <a:ea typeface="宋体" panose="02010600030101010101" pitchFamily="2" charset="-122"/>
                <a:cs typeface="Times New Roman" panose="02020603050405020304" pitchFamily="18" charset="0"/>
                <a:sym typeface="+mn-ea"/>
              </a:rPr>
              <a:t>）</a:t>
            </a:r>
            <a:endParaRPr lang="zh-CN" altLang="en-US" sz="200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support</a:t>
            </a:r>
            <a:r>
              <a:rPr lang="zh-CN" altLang="en-US" sz="2000" i="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000">
                <a:latin typeface="Times New Roman" panose="02020603050405020304" pitchFamily="18" charset="0"/>
                <a:ea typeface="宋体" panose="02010600030101010101" pitchFamily="2" charset="-122"/>
                <a:cs typeface="Times New Roman" panose="02020603050405020304" pitchFamily="18" charset="0"/>
              </a:rPr>
              <a:t>牛奶</a:t>
            </a:r>
            <a:r>
              <a:rPr lang="en-US" altLang="zh-CN" sz="200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U </a:t>
            </a:r>
            <a:r>
              <a:rPr lang="zh-CN" altLang="en-US" sz="2000">
                <a:latin typeface="Times New Roman" panose="02020603050405020304" pitchFamily="18" charset="0"/>
                <a:ea typeface="宋体" panose="02010600030101010101" pitchFamily="2" charset="-122"/>
                <a:cs typeface="Times New Roman" panose="02020603050405020304" pitchFamily="18" charset="0"/>
              </a:rPr>
              <a:t>面包</a:t>
            </a:r>
            <a:r>
              <a:rPr lang="zh-CN" altLang="en-US" sz="2000" i="1" dirty="0">
                <a:latin typeface="Times New Roman" panose="02020603050405020304" pitchFamily="18" charset="0"/>
                <a:ea typeface="宋体" panose="02010600030101010101" pitchFamily="2" charset="-122"/>
                <a:cs typeface="Times New Roman" panose="02020603050405020304" pitchFamily="18" charset="0"/>
                <a:sym typeface="+mn-ea"/>
              </a:rPr>
              <a:t>）</a:t>
            </a:r>
            <a:endParaRPr lang="zh-CN" altLang="en-US" sz="200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support</a:t>
            </a:r>
            <a:r>
              <a:rPr lang="zh-CN" altLang="en-US" sz="2000" i="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en-US" altLang="zh-CN" sz="2000">
                <a:latin typeface="Times New Roman" panose="02020603050405020304" pitchFamily="18" charset="0"/>
                <a:ea typeface="宋体" panose="02010600030101010101" pitchFamily="2" charset="-122"/>
                <a:cs typeface="Times New Roman" panose="02020603050405020304" pitchFamily="18" charset="0"/>
              </a:rPr>
              <a:t>尿不湿 </a:t>
            </a: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U </a:t>
            </a:r>
            <a:r>
              <a:rPr lang="en-US" altLang="zh-CN" sz="2000">
                <a:latin typeface="Times New Roman" panose="02020603050405020304" pitchFamily="18" charset="0"/>
                <a:ea typeface="宋体" panose="02010600030101010101" pitchFamily="2" charset="-122"/>
                <a:cs typeface="Times New Roman" panose="02020603050405020304" pitchFamily="18" charset="0"/>
              </a:rPr>
              <a:t>啤酒</a:t>
            </a:r>
            <a:r>
              <a:rPr lang="zh-CN" altLang="en-US" sz="2000" i="1" dirty="0">
                <a:latin typeface="Times New Roman" panose="02020603050405020304" pitchFamily="18" charset="0"/>
                <a:ea typeface="宋体" panose="02010600030101010101" pitchFamily="2" charset="-122"/>
                <a:cs typeface="Times New Roman" panose="02020603050405020304" pitchFamily="18" charset="0"/>
                <a:sym typeface="+mn-ea"/>
              </a:rPr>
              <a:t>）</a:t>
            </a:r>
            <a:endParaRPr lang="zh-CN" altLang="en-US" sz="200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confidence</a:t>
            </a:r>
            <a:r>
              <a:rPr lang="zh-CN" altLang="en-US" sz="2000" i="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000">
                <a:latin typeface="Times New Roman" panose="02020603050405020304" pitchFamily="18" charset="0"/>
                <a:ea typeface="宋体" panose="02010600030101010101" pitchFamily="2" charset="-122"/>
                <a:cs typeface="Times New Roman" panose="02020603050405020304" pitchFamily="18" charset="0"/>
              </a:rPr>
              <a:t>牛奶→啤酒</a:t>
            </a:r>
            <a:r>
              <a:rPr lang="zh-CN" altLang="en-US" sz="2000" i="1" dirty="0">
                <a:latin typeface="Times New Roman" panose="02020603050405020304" pitchFamily="18" charset="0"/>
                <a:ea typeface="宋体" panose="02010600030101010101" pitchFamily="2" charset="-122"/>
                <a:cs typeface="Times New Roman" panose="02020603050405020304" pitchFamily="18" charset="0"/>
                <a:sym typeface="+mn-ea"/>
              </a:rPr>
              <a:t>）</a:t>
            </a:r>
            <a:endParaRPr lang="zh-CN" altLang="en-US" sz="200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confidence</a:t>
            </a:r>
            <a:r>
              <a:rPr lang="zh-CN" altLang="en-US" sz="2000" i="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000">
                <a:latin typeface="Times New Roman" panose="02020603050405020304" pitchFamily="18" charset="0"/>
                <a:ea typeface="宋体" panose="02010600030101010101" pitchFamily="2" charset="-122"/>
                <a:cs typeface="Times New Roman" panose="02020603050405020304" pitchFamily="18" charset="0"/>
              </a:rPr>
              <a:t>啤酒→牛奶</a:t>
            </a:r>
            <a:r>
              <a:rPr lang="zh-CN" altLang="en-US" sz="2000" i="1" dirty="0">
                <a:latin typeface="Times New Roman" panose="02020603050405020304" pitchFamily="18" charset="0"/>
                <a:ea typeface="宋体" panose="02010600030101010101" pitchFamily="2" charset="-122"/>
                <a:cs typeface="Times New Roman" panose="02020603050405020304" pitchFamily="18" charset="0"/>
                <a:sym typeface="+mn-ea"/>
              </a:rPr>
              <a:t>）</a:t>
            </a:r>
            <a:endParaRPr lang="zh-CN" altLang="en-US" sz="2000" i="1" dirty="0">
              <a:latin typeface="Times New Roman" panose="02020603050405020304" pitchFamily="18" charset="0"/>
              <a:ea typeface="宋体" panose="02010600030101010101" pitchFamily="2" charset="-122"/>
              <a:cs typeface="Times New Roman" panose="02020603050405020304" pitchFamily="18" charset="0"/>
              <a:sym typeface="+mn-ea"/>
            </a:endParaRPr>
          </a:p>
          <a:p>
            <a:pPr>
              <a:lnSpc>
                <a:spcPct val="150000"/>
              </a:lnSpc>
            </a:pP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confidence</a:t>
            </a:r>
            <a:r>
              <a:rPr lang="zh-CN" altLang="en-US" sz="2000" i="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000">
                <a:latin typeface="Times New Roman" panose="02020603050405020304" pitchFamily="18" charset="0"/>
                <a:ea typeface="宋体" panose="02010600030101010101" pitchFamily="2" charset="-122"/>
                <a:cs typeface="Times New Roman" panose="02020603050405020304" pitchFamily="18" charset="0"/>
                <a:sym typeface="+mn-ea"/>
              </a:rPr>
              <a:t>啤酒→尿不湿</a:t>
            </a:r>
            <a:r>
              <a:rPr lang="zh-CN" altLang="en-US" sz="2000" i="1" dirty="0">
                <a:latin typeface="Times New Roman" panose="02020603050405020304" pitchFamily="18" charset="0"/>
                <a:ea typeface="宋体" panose="02010600030101010101" pitchFamily="2" charset="-122"/>
                <a:cs typeface="Times New Roman" panose="02020603050405020304" pitchFamily="18" charset="0"/>
                <a:sym typeface="+mn-ea"/>
              </a:rPr>
              <a:t>）</a:t>
            </a:r>
            <a:endParaRPr lang="zh-CN" altLang="en-US" sz="2000" i="1" dirty="0">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8" name="矩形 7"/>
          <p:cNvSpPr>
            <a:spLocks noChangeArrowheads="1"/>
          </p:cNvSpPr>
          <p:nvPr/>
        </p:nvSpPr>
        <p:spPr bwMode="auto">
          <a:xfrm>
            <a:off x="7609523" y="5122863"/>
            <a:ext cx="1828800" cy="830262"/>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p>
            <a:pPr algn="ctr"/>
            <a:r>
              <a:rPr lang="zh-CN" altLang="en-US" sz="2400">
                <a:ea typeface="宋体" panose="02010600030101010101" pitchFamily="2" charset="-122"/>
              </a:rPr>
              <a:t>如何挖掘频繁项集？</a:t>
            </a:r>
            <a:endParaRPr lang="zh-CN" altLang="en-US" sz="24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1027"/>
          <p:cNvSpPr>
            <a:spLocks noChangeArrowheads="1"/>
          </p:cNvSpPr>
          <p:nvPr/>
        </p:nvSpPr>
        <p:spPr bwMode="auto">
          <a:xfrm>
            <a:off x="750888" y="1249363"/>
            <a:ext cx="98298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0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eaLnBrk="1" hangingPunct="1">
              <a:lnSpc>
                <a:spcPct val="150000"/>
              </a:lnSpc>
              <a:spcBef>
                <a:spcPts val="0"/>
              </a:spcBef>
              <a:spcAft>
                <a:spcPct val="0"/>
              </a:spcAft>
              <a:buClr>
                <a:schemeClr val="folHlink"/>
              </a:buClr>
              <a:buSzPct val="60000"/>
              <a:buFont typeface="Wingdings" panose="05000000000000000000" pitchFamily="2" charset="2"/>
              <a:buNone/>
              <a:defRPr/>
            </a:pPr>
            <a:r>
              <a:rPr lang="en-US" altLang="zh-CN" sz="3600" dirty="0">
                <a:solidFill>
                  <a:schemeClr val="bg1">
                    <a:lumMod val="75000"/>
                  </a:schemeClr>
                </a:solidFill>
                <a:latin typeface="楷体" panose="02010609060101010101" pitchFamily="49" charset="-122"/>
                <a:ea typeface="楷体" panose="02010609060101010101" pitchFamily="49" charset="-122"/>
              </a:rPr>
              <a:t>6.1 </a:t>
            </a:r>
            <a:r>
              <a:rPr lang="zh-CN" altLang="en-US" sz="3600" dirty="0">
                <a:solidFill>
                  <a:schemeClr val="bg1">
                    <a:lumMod val="75000"/>
                  </a:schemeClr>
                </a:solidFill>
                <a:latin typeface="楷体" panose="02010609060101010101" pitchFamily="49" charset="-122"/>
                <a:ea typeface="楷体" panose="02010609060101010101" pitchFamily="49" charset="-122"/>
              </a:rPr>
              <a:t>基本概念</a:t>
            </a:r>
            <a:endParaRPr lang="en-US" altLang="zh-CN" sz="3600" dirty="0">
              <a:solidFill>
                <a:schemeClr val="bg1">
                  <a:lumMod val="75000"/>
                </a:schemeClr>
              </a:solidFill>
              <a:latin typeface="楷体" panose="02010609060101010101" pitchFamily="49" charset="-122"/>
              <a:ea typeface="楷体" panose="02010609060101010101" pitchFamily="49" charset="-122"/>
            </a:endParaRPr>
          </a:p>
          <a:p>
            <a:pPr eaLnBrk="1" hangingPunct="1">
              <a:lnSpc>
                <a:spcPct val="150000"/>
              </a:lnSpc>
              <a:spcBef>
                <a:spcPts val="0"/>
              </a:spcBef>
              <a:spcAft>
                <a:spcPct val="0"/>
              </a:spcAft>
              <a:buClr>
                <a:schemeClr val="folHlink"/>
              </a:buClr>
              <a:buSzPct val="60000"/>
              <a:buFont typeface="Monotype Sorts" pitchFamily="2" charset="2"/>
              <a:buNone/>
              <a:defRPr/>
            </a:pPr>
            <a:r>
              <a:rPr lang="en-US" altLang="zh-CN" sz="3600" dirty="0">
                <a:solidFill>
                  <a:srgbClr val="FF0000"/>
                </a:solidFill>
                <a:latin typeface="楷体" panose="02010609060101010101" pitchFamily="49" charset="-122"/>
                <a:ea typeface="楷体" panose="02010609060101010101" pitchFamily="49" charset="-122"/>
              </a:rPr>
              <a:t>6.2 </a:t>
            </a:r>
            <a:r>
              <a:rPr lang="zh-CN" altLang="en-US" sz="3600" dirty="0">
                <a:solidFill>
                  <a:srgbClr val="FF0000"/>
                </a:solidFill>
                <a:latin typeface="楷体" panose="02010609060101010101" pitchFamily="49" charset="-122"/>
                <a:ea typeface="楷体" panose="02010609060101010101" pitchFamily="49" charset="-122"/>
              </a:rPr>
              <a:t>频繁项集挖掘方法</a:t>
            </a:r>
            <a:endParaRPr lang="en-US" altLang="zh-CN" sz="3600" dirty="0">
              <a:solidFill>
                <a:srgbClr val="FF0000"/>
              </a:solidFill>
              <a:latin typeface="楷体" panose="02010609060101010101" pitchFamily="49" charset="-122"/>
              <a:ea typeface="楷体" panose="02010609060101010101" pitchFamily="49" charset="-122"/>
            </a:endParaRPr>
          </a:p>
          <a:p>
            <a:pPr eaLnBrk="1" hangingPunct="1">
              <a:lnSpc>
                <a:spcPct val="150000"/>
              </a:lnSpc>
              <a:spcBef>
                <a:spcPts val="0"/>
              </a:spcBef>
              <a:spcAft>
                <a:spcPct val="0"/>
              </a:spcAft>
              <a:buClr>
                <a:schemeClr val="folHlink"/>
              </a:buClr>
              <a:buSzPct val="60000"/>
              <a:buFont typeface="Monotype Sorts" pitchFamily="2" charset="2"/>
              <a:buNone/>
              <a:defRPr/>
            </a:pPr>
            <a:r>
              <a:rPr lang="en-US" altLang="zh-CN" sz="3600" dirty="0">
                <a:solidFill>
                  <a:schemeClr val="bg1">
                    <a:lumMod val="75000"/>
                  </a:schemeClr>
                </a:solidFill>
                <a:latin typeface="楷体" panose="02010609060101010101" pitchFamily="49" charset="-122"/>
                <a:ea typeface="楷体" panose="02010609060101010101" pitchFamily="49" charset="-122"/>
              </a:rPr>
              <a:t>6.3 </a:t>
            </a:r>
            <a:r>
              <a:rPr lang="zh-CN" altLang="en-US" sz="3600" dirty="0">
                <a:solidFill>
                  <a:schemeClr val="bg1">
                    <a:lumMod val="75000"/>
                  </a:schemeClr>
                </a:solidFill>
                <a:latin typeface="楷体" panose="02010609060101010101" pitchFamily="49" charset="-122"/>
                <a:ea typeface="楷体" panose="02010609060101010101" pitchFamily="49" charset="-122"/>
              </a:rPr>
              <a:t>哪些模式是有趣的：模式评估方法</a:t>
            </a:r>
            <a:endParaRPr lang="en-US" altLang="zh-CN" sz="3600" dirty="0">
              <a:solidFill>
                <a:schemeClr val="bg1">
                  <a:lumMod val="75000"/>
                </a:schemeClr>
              </a:solidFill>
              <a:latin typeface="楷体" panose="02010609060101010101" pitchFamily="49" charset="-122"/>
              <a:ea typeface="楷体" panose="02010609060101010101" pitchFamily="49" charset="-122"/>
            </a:endParaRPr>
          </a:p>
          <a:p>
            <a:pPr eaLnBrk="1" hangingPunct="1">
              <a:lnSpc>
                <a:spcPct val="150000"/>
              </a:lnSpc>
              <a:spcBef>
                <a:spcPts val="0"/>
              </a:spcBef>
              <a:spcAft>
                <a:spcPct val="0"/>
              </a:spcAft>
              <a:buClr>
                <a:schemeClr val="folHlink"/>
              </a:buClr>
              <a:buSzPct val="60000"/>
              <a:buFont typeface="Monotype Sorts" pitchFamily="2" charset="2"/>
              <a:buNone/>
              <a:defRPr/>
            </a:pPr>
            <a:r>
              <a:rPr lang="en-US" altLang="zh-CN" sz="3600" dirty="0">
                <a:solidFill>
                  <a:schemeClr val="bg1">
                    <a:lumMod val="75000"/>
                  </a:schemeClr>
                </a:solidFill>
                <a:latin typeface="楷体" panose="02010609060101010101" pitchFamily="49" charset="-122"/>
                <a:ea typeface="楷体" panose="02010609060101010101" pitchFamily="49" charset="-122"/>
              </a:rPr>
              <a:t>6.4 </a:t>
            </a:r>
            <a:r>
              <a:rPr lang="zh-CN" altLang="en-US" sz="3600" dirty="0">
                <a:solidFill>
                  <a:schemeClr val="bg1">
                    <a:lumMod val="75000"/>
                  </a:schemeClr>
                </a:solidFill>
                <a:latin typeface="楷体" panose="02010609060101010101" pitchFamily="49" charset="-122"/>
                <a:ea typeface="楷体" panose="02010609060101010101" pitchFamily="49" charset="-122"/>
              </a:rPr>
              <a:t>小结</a:t>
            </a:r>
            <a:endParaRPr lang="zh-CN" altLang="en-US" sz="3600" b="0" dirty="0">
              <a:solidFill>
                <a:schemeClr val="bg1">
                  <a:lumMod val="75000"/>
                </a:schemeClr>
              </a:solidFill>
              <a:latin typeface="楷体" panose="02010609060101010101" pitchFamily="49" charset="-122"/>
              <a:ea typeface="楷体" panose="02010609060101010101" pitchFamily="49" charset="-122"/>
            </a:endParaRPr>
          </a:p>
        </p:txBody>
      </p:sp>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第</a:t>
            </a:r>
            <a:r>
              <a:rPr lang="en-US" altLang="zh-CN" sz="4400" dirty="0">
                <a:latin typeface="楷体" panose="02010609060101010101" pitchFamily="49" charset="-122"/>
                <a:ea typeface="楷体" panose="02010609060101010101" pitchFamily="49" charset="-122"/>
              </a:rPr>
              <a:t>6</a:t>
            </a:r>
            <a:r>
              <a:rPr lang="zh-CN" altLang="en-US" sz="4400" dirty="0">
                <a:latin typeface="楷体" panose="02010609060101010101" pitchFamily="49" charset="-122"/>
                <a:ea typeface="楷体" panose="02010609060101010101" pitchFamily="49" charset="-122"/>
              </a:rPr>
              <a:t>章 挖掘频繁模式、关联和相关</a:t>
            </a:r>
            <a:endParaRPr lang="zh-CN" altLang="en-US" sz="4400" dirty="0">
              <a:latin typeface="楷体" panose="02010609060101010101" pitchFamily="49" charset="-122"/>
              <a:ea typeface="楷体" panose="02010609060101010101" pitchFamily="49"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a:t>
            </a:r>
            <a:r>
              <a:rPr lang="en-US" altLang="zh-CN" sz="4400" dirty="0">
                <a:latin typeface="楷体" panose="02010609060101010101" pitchFamily="49" charset="-122"/>
                <a:ea typeface="楷体" panose="02010609060101010101" pitchFamily="49" charset="-122"/>
              </a:rPr>
              <a:t>6.2 </a:t>
            </a:r>
            <a:r>
              <a:rPr lang="zh-CN" altLang="en-US" sz="4400" dirty="0">
                <a:latin typeface="楷体" panose="02010609060101010101" pitchFamily="49" charset="-122"/>
                <a:ea typeface="楷体" panose="02010609060101010101" pitchFamily="49" charset="-122"/>
              </a:rPr>
              <a:t>频繁项集挖掘方法</a:t>
            </a:r>
            <a:endParaRPr lang="zh-CN" altLang="en-US" sz="4400" dirty="0">
              <a:latin typeface="楷体" panose="02010609060101010101" pitchFamily="49" charset="-122"/>
              <a:ea typeface="楷体" panose="02010609060101010101" pitchFamily="49" charset="-122"/>
            </a:endParaRPr>
          </a:p>
        </p:txBody>
      </p:sp>
      <p:sp>
        <p:nvSpPr>
          <p:cNvPr id="4" name="Rectangle 3"/>
          <p:cNvSpPr>
            <a:spLocks noGrp="1" noChangeArrowheads="1"/>
          </p:cNvSpPr>
          <p:nvPr>
            <p:ph idx="1"/>
          </p:nvPr>
        </p:nvSpPr>
        <p:spPr>
          <a:xfrm>
            <a:off x="522288" y="1160463"/>
            <a:ext cx="9906000" cy="5715000"/>
          </a:xfrm>
        </p:spPr>
        <p:txBody>
          <a:bodyPr/>
          <a:lstStyle/>
          <a:p>
            <a:pPr marL="0" indent="0" defTabSz="868680" eaLnBrk="1" hangingPunct="1">
              <a:buFont typeface="Arial" panose="020B0604020202020204" pitchFamily="34" charset="0"/>
              <a:buNone/>
              <a:defRPr/>
            </a:pPr>
            <a:r>
              <a:rPr lang="en-US" altLang="zh-CN" sz="2400" b="1" dirty="0">
                <a:solidFill>
                  <a:srgbClr val="0000FF"/>
                </a:solidFill>
                <a:latin typeface="+mn-ea"/>
                <a:ea typeface="+mn-ea"/>
              </a:rPr>
              <a:t>1</a:t>
            </a:r>
            <a:r>
              <a:rPr lang="zh-CN" altLang="en-US" sz="2400" b="1" dirty="0">
                <a:solidFill>
                  <a:srgbClr val="0000FF"/>
                </a:solidFill>
                <a:latin typeface="+mn-ea"/>
                <a:ea typeface="+mn-ea"/>
              </a:rPr>
              <a:t>、</a:t>
            </a:r>
            <a:r>
              <a:rPr lang="en-US" altLang="zh-CN" sz="2400" b="1" dirty="0" err="1">
                <a:solidFill>
                  <a:srgbClr val="0000FF"/>
                </a:solidFill>
                <a:latin typeface="+mn-ea"/>
                <a:ea typeface="+mn-ea"/>
              </a:rPr>
              <a:t>Apriori</a:t>
            </a:r>
            <a:r>
              <a:rPr lang="zh-CN" altLang="en-US" sz="2400" b="1" dirty="0">
                <a:solidFill>
                  <a:srgbClr val="0000FF"/>
                </a:solidFill>
                <a:latin typeface="+mn-ea"/>
                <a:ea typeface="+mn-ea"/>
              </a:rPr>
              <a:t>算法：通过限制候选产生发现频繁项集</a:t>
            </a:r>
            <a:endParaRPr lang="en-US" altLang="zh-CN" sz="2400" b="1" dirty="0">
              <a:solidFill>
                <a:srgbClr val="0000FF"/>
              </a:solidFill>
              <a:latin typeface="+mn-ea"/>
              <a:ea typeface="+mn-ea"/>
            </a:endParaRPr>
          </a:p>
          <a:p>
            <a:pPr marL="0" indent="0" defTabSz="868680" eaLnBrk="1" hangingPunct="1">
              <a:buFont typeface="Arial" panose="020B0604020202020204" pitchFamily="34" charset="0"/>
              <a:buNone/>
              <a:defRPr/>
            </a:pPr>
            <a:r>
              <a:rPr lang="zh-CN" altLang="en-US" sz="2200" b="1" dirty="0">
                <a:solidFill>
                  <a:srgbClr val="0000FF"/>
                </a:solidFill>
                <a:latin typeface="+mn-ea"/>
                <a:ea typeface="+mn-ea"/>
              </a:rPr>
              <a:t>先验性质：</a:t>
            </a:r>
            <a:endParaRPr lang="en-US" altLang="zh-CN" sz="2200" b="1" dirty="0">
              <a:solidFill>
                <a:srgbClr val="0000FF"/>
              </a:solidFill>
              <a:latin typeface="+mn-ea"/>
              <a:ea typeface="+mn-ea"/>
            </a:endParaRPr>
          </a:p>
          <a:p>
            <a:pPr marL="457200" indent="-457200" defTabSz="868680" eaLnBrk="1" hangingPunct="1">
              <a:buFont typeface="+mj-ea"/>
              <a:buAutoNum type="circleNumDbPlain"/>
              <a:defRPr/>
            </a:pPr>
            <a:r>
              <a:rPr lang="zh-CN" altLang="en-US" sz="2200" dirty="0">
                <a:latin typeface="+mn-ea"/>
                <a:ea typeface="+mn-ea"/>
              </a:rPr>
              <a:t>频繁项集的</a:t>
            </a:r>
            <a:r>
              <a:rPr lang="zh-CN" altLang="en-US" sz="2200" dirty="0">
                <a:solidFill>
                  <a:srgbClr val="FF0000"/>
                </a:solidFill>
                <a:latin typeface="+mn-ea"/>
                <a:ea typeface="+mn-ea"/>
              </a:rPr>
              <a:t>所有非空子集</a:t>
            </a:r>
            <a:r>
              <a:rPr lang="zh-CN" altLang="en-US" sz="2200" dirty="0">
                <a:latin typeface="+mn-ea"/>
                <a:ea typeface="+mn-ea"/>
              </a:rPr>
              <a:t>也一定是频繁项集；</a:t>
            </a:r>
            <a:endParaRPr lang="en-US" altLang="zh-CN" sz="2200" dirty="0">
              <a:latin typeface="+mn-ea"/>
              <a:ea typeface="+mn-ea"/>
            </a:endParaRPr>
          </a:p>
          <a:p>
            <a:pPr marL="457200" indent="-457200" defTabSz="868680" eaLnBrk="1" hangingPunct="1">
              <a:buFont typeface="+mj-ea"/>
              <a:buAutoNum type="circleNumDbPlain"/>
              <a:defRPr/>
            </a:pPr>
            <a:r>
              <a:rPr lang="zh-CN" altLang="en-US" sz="2200" dirty="0">
                <a:latin typeface="+mn-ea"/>
                <a:ea typeface="+mn-ea"/>
              </a:rPr>
              <a:t>非频繁项集的所有</a:t>
            </a:r>
            <a:r>
              <a:rPr lang="zh-CN" altLang="en-US" sz="2200" dirty="0">
                <a:solidFill>
                  <a:srgbClr val="FF0000"/>
                </a:solidFill>
                <a:latin typeface="+mn-ea"/>
                <a:ea typeface="+mn-ea"/>
              </a:rPr>
              <a:t>超集</a:t>
            </a:r>
            <a:r>
              <a:rPr lang="zh-CN" altLang="en-US" sz="2200" dirty="0">
                <a:latin typeface="+mn-ea"/>
                <a:ea typeface="+mn-ea"/>
              </a:rPr>
              <a:t>一定也是非频繁项集。</a:t>
            </a:r>
            <a:endParaRPr lang="en-US" altLang="zh-CN" sz="2200" dirty="0">
              <a:latin typeface="+mn-ea"/>
              <a:ea typeface="+mn-ea"/>
            </a:endParaRPr>
          </a:p>
          <a:p>
            <a:pPr marL="0" indent="0" defTabSz="868680" eaLnBrk="1" hangingPunct="1">
              <a:buFont typeface="Arial" panose="020B0604020202020204" pitchFamily="34" charset="0"/>
              <a:buNone/>
              <a:defRPr/>
            </a:pPr>
            <a:r>
              <a:rPr lang="zh-CN" altLang="en-US" sz="2200" b="1" dirty="0">
                <a:solidFill>
                  <a:srgbClr val="0000FF"/>
                </a:solidFill>
                <a:latin typeface="+mn-ea"/>
                <a:ea typeface="+mn-ea"/>
              </a:rPr>
              <a:t>算法原理：</a:t>
            </a:r>
            <a:endParaRPr lang="en-US" altLang="zh-CN" sz="2200" b="1" dirty="0">
              <a:solidFill>
                <a:srgbClr val="0000FF"/>
              </a:solidFill>
              <a:latin typeface="+mn-ea"/>
              <a:ea typeface="+mn-ea"/>
            </a:endParaRPr>
          </a:p>
          <a:p>
            <a:pPr marL="0" indent="0" defTabSz="868680" eaLnBrk="1" hangingPunct="1">
              <a:buFont typeface="Arial" panose="020B0604020202020204" pitchFamily="34" charset="0"/>
              <a:buNone/>
              <a:defRPr/>
            </a:pPr>
            <a:endParaRPr lang="en-US" altLang="zh-CN" sz="2200" dirty="0">
              <a:latin typeface="+mn-ea"/>
              <a:ea typeface="+mn-ea"/>
            </a:endParaRPr>
          </a:p>
          <a:p>
            <a:pPr lvl="1" defTabSz="868680" eaLnBrk="1" hangingPunct="1">
              <a:buFont typeface="Wingdings" panose="05000000000000000000" pitchFamily="2" charset="2"/>
              <a:buChar char="Ø"/>
              <a:defRPr/>
            </a:pPr>
            <a:r>
              <a:rPr lang="zh-CN" altLang="en-US" sz="2000" b="1" dirty="0">
                <a:latin typeface="+mn-ea"/>
                <a:ea typeface="+mn-ea"/>
              </a:rPr>
              <a:t>连接步：</a:t>
            </a:r>
            <a:r>
              <a:rPr lang="zh-CN" altLang="en-US" sz="2000" dirty="0">
                <a:latin typeface="+mn-ea"/>
                <a:ea typeface="+mn-ea"/>
              </a:rPr>
              <a:t>为了找</a:t>
            </a:r>
            <a:r>
              <a:rPr lang="en-US" altLang="zh-CN" sz="2000" dirty="0">
                <a:latin typeface="+mn-ea"/>
                <a:ea typeface="+mn-ea"/>
              </a:rPr>
              <a:t>L</a:t>
            </a:r>
            <a:r>
              <a:rPr lang="en-US" altLang="zh-CN" sz="2000" baseline="-25000" dirty="0">
                <a:latin typeface="+mn-ea"/>
                <a:ea typeface="+mn-ea"/>
              </a:rPr>
              <a:t>k</a:t>
            </a:r>
            <a:r>
              <a:rPr lang="zh-CN" altLang="en-US" sz="2000" dirty="0">
                <a:latin typeface="+mn-ea"/>
                <a:ea typeface="+mn-ea"/>
              </a:rPr>
              <a:t>，通过</a:t>
            </a:r>
            <a:r>
              <a:rPr lang="en-US" altLang="zh-CN" sz="2000" dirty="0">
                <a:latin typeface="+mn-ea"/>
                <a:ea typeface="+mn-ea"/>
              </a:rPr>
              <a:t>L</a:t>
            </a:r>
            <a:r>
              <a:rPr lang="en-US" altLang="zh-CN" sz="2000" baseline="-25000" dirty="0">
                <a:latin typeface="+mn-ea"/>
                <a:ea typeface="+mn-ea"/>
              </a:rPr>
              <a:t>k-1</a:t>
            </a:r>
            <a:r>
              <a:rPr lang="zh-CN" altLang="en-US" sz="2000" dirty="0">
                <a:latin typeface="+mn-ea"/>
                <a:ea typeface="+mn-ea"/>
              </a:rPr>
              <a:t>与自己连接产生候选</a:t>
            </a:r>
            <a:r>
              <a:rPr lang="en-US" altLang="zh-CN" sz="2000" dirty="0">
                <a:latin typeface="+mn-ea"/>
                <a:ea typeface="+mn-ea"/>
              </a:rPr>
              <a:t>k</a:t>
            </a:r>
            <a:r>
              <a:rPr lang="zh-CN" altLang="en-US" sz="2000" dirty="0">
                <a:latin typeface="+mn-ea"/>
                <a:ea typeface="+mn-ea"/>
              </a:rPr>
              <a:t>项集的集合，该候选</a:t>
            </a:r>
            <a:r>
              <a:rPr lang="en-US" altLang="zh-CN" sz="2000" dirty="0">
                <a:latin typeface="+mn-ea"/>
                <a:ea typeface="+mn-ea"/>
              </a:rPr>
              <a:t>k</a:t>
            </a:r>
            <a:r>
              <a:rPr lang="zh-CN" altLang="en-US" sz="2000" dirty="0">
                <a:latin typeface="+mn-ea"/>
                <a:ea typeface="+mn-ea"/>
              </a:rPr>
              <a:t>项集记为</a:t>
            </a:r>
            <a:r>
              <a:rPr lang="en-US" altLang="zh-CN" sz="2000" dirty="0" err="1">
                <a:latin typeface="+mn-ea"/>
              </a:rPr>
              <a:t>C</a:t>
            </a:r>
            <a:r>
              <a:rPr lang="en-US" altLang="zh-CN" sz="2000" baseline="-25000" dirty="0" err="1">
                <a:latin typeface="+mn-ea"/>
                <a:ea typeface="+mn-ea"/>
              </a:rPr>
              <a:t>k</a:t>
            </a:r>
            <a:r>
              <a:rPr lang="zh-CN" altLang="en-US" sz="2000" dirty="0">
                <a:latin typeface="+mn-ea"/>
                <a:ea typeface="+mn-ea"/>
              </a:rPr>
              <a:t>。</a:t>
            </a:r>
            <a:r>
              <a:rPr lang="zh-CN" altLang="en-US" sz="2000" b="1" dirty="0">
                <a:latin typeface="+mn-ea"/>
                <a:ea typeface="+mn-ea"/>
              </a:rPr>
              <a:t>注意：</a:t>
            </a:r>
            <a:r>
              <a:rPr lang="en-US" altLang="zh-CN" sz="2000" dirty="0">
                <a:latin typeface="+mn-ea"/>
              </a:rPr>
              <a:t>L</a:t>
            </a:r>
            <a:r>
              <a:rPr lang="en-US" altLang="zh-CN" sz="2000" baseline="-25000" dirty="0">
                <a:latin typeface="+mn-ea"/>
              </a:rPr>
              <a:t>k-1</a:t>
            </a:r>
            <a:r>
              <a:rPr lang="zh-CN" altLang="en-US" sz="2000" dirty="0">
                <a:latin typeface="+mn-ea"/>
                <a:ea typeface="+mn-ea"/>
              </a:rPr>
              <a:t>中的两个项集</a:t>
            </a:r>
            <a:r>
              <a:rPr lang="en-US" altLang="zh-CN" sz="2000" dirty="0">
                <a:latin typeface="+mn-ea"/>
                <a:ea typeface="+mn-ea"/>
              </a:rPr>
              <a:t>l</a:t>
            </a:r>
            <a:r>
              <a:rPr lang="en-US" altLang="zh-CN" sz="2000" baseline="-25000" dirty="0">
                <a:latin typeface="+mn-ea"/>
                <a:ea typeface="+mn-ea"/>
              </a:rPr>
              <a:t>1</a:t>
            </a:r>
            <a:r>
              <a:rPr lang="zh-CN" altLang="en-US" sz="2000" dirty="0">
                <a:latin typeface="+mn-ea"/>
                <a:ea typeface="+mn-ea"/>
              </a:rPr>
              <a:t>和</a:t>
            </a:r>
            <a:r>
              <a:rPr lang="en-US" altLang="zh-CN" sz="2000" dirty="0">
                <a:latin typeface="+mn-ea"/>
                <a:ea typeface="+mn-ea"/>
              </a:rPr>
              <a:t>l</a:t>
            </a:r>
            <a:r>
              <a:rPr lang="en-US" altLang="zh-CN" sz="2000" baseline="-25000" dirty="0">
                <a:latin typeface="+mn-ea"/>
                <a:ea typeface="+mn-ea"/>
              </a:rPr>
              <a:t>2</a:t>
            </a:r>
            <a:r>
              <a:rPr lang="zh-CN" altLang="en-US" sz="2000" dirty="0">
                <a:latin typeface="+mn-ea"/>
                <a:ea typeface="+mn-ea"/>
              </a:rPr>
              <a:t>可以</a:t>
            </a:r>
            <a:r>
              <a:rPr lang="zh-CN" altLang="en-US" sz="2000" dirty="0">
                <a:solidFill>
                  <a:srgbClr val="FF0000"/>
                </a:solidFill>
                <a:latin typeface="+mn-ea"/>
                <a:ea typeface="+mn-ea"/>
              </a:rPr>
              <a:t>执行连接操作的条件是</a:t>
            </a:r>
            <a:r>
              <a:rPr lang="en-US" altLang="zh-CN" sz="2000" dirty="0">
                <a:solidFill>
                  <a:srgbClr val="FF0000"/>
                </a:solidFill>
                <a:latin typeface="+mn-ea"/>
              </a:rPr>
              <a:t>l</a:t>
            </a:r>
            <a:r>
              <a:rPr lang="en-US" altLang="zh-CN" sz="2000" baseline="-25000" dirty="0">
                <a:solidFill>
                  <a:srgbClr val="FF0000"/>
                </a:solidFill>
                <a:latin typeface="+mn-ea"/>
              </a:rPr>
              <a:t>1</a:t>
            </a:r>
            <a:r>
              <a:rPr lang="zh-CN" altLang="en-US" sz="2000" dirty="0">
                <a:solidFill>
                  <a:srgbClr val="FF0000"/>
                </a:solidFill>
                <a:latin typeface="+mn-ea"/>
              </a:rPr>
              <a:t>和</a:t>
            </a:r>
            <a:r>
              <a:rPr lang="en-US" altLang="zh-CN" sz="2000" dirty="0">
                <a:solidFill>
                  <a:srgbClr val="FF0000"/>
                </a:solidFill>
                <a:latin typeface="+mn-ea"/>
              </a:rPr>
              <a:t>l</a:t>
            </a:r>
            <a:r>
              <a:rPr lang="en-US" altLang="zh-CN" sz="2000" baseline="-25000" dirty="0">
                <a:solidFill>
                  <a:srgbClr val="FF0000"/>
                </a:solidFill>
                <a:latin typeface="+mn-ea"/>
              </a:rPr>
              <a:t>2</a:t>
            </a:r>
            <a:r>
              <a:rPr lang="zh-CN" altLang="en-US" sz="2000" dirty="0">
                <a:solidFill>
                  <a:srgbClr val="FF0000"/>
                </a:solidFill>
                <a:latin typeface="+mn-ea"/>
                <a:ea typeface="+mn-ea"/>
              </a:rPr>
              <a:t>的前（</a:t>
            </a:r>
            <a:r>
              <a:rPr lang="en-US" altLang="zh-CN" sz="2000" dirty="0">
                <a:solidFill>
                  <a:srgbClr val="FF0000"/>
                </a:solidFill>
                <a:latin typeface="+mn-ea"/>
                <a:ea typeface="+mn-ea"/>
              </a:rPr>
              <a:t>k-2</a:t>
            </a:r>
            <a:r>
              <a:rPr lang="zh-CN" altLang="en-US" sz="2000" dirty="0">
                <a:solidFill>
                  <a:srgbClr val="FF0000"/>
                </a:solidFill>
                <a:latin typeface="+mn-ea"/>
                <a:ea typeface="+mn-ea"/>
              </a:rPr>
              <a:t>）个项相同</a:t>
            </a:r>
            <a:r>
              <a:rPr lang="zh-CN" altLang="en-US" sz="2000" dirty="0">
                <a:latin typeface="+mn-ea"/>
                <a:ea typeface="+mn-ea"/>
              </a:rPr>
              <a:t>。</a:t>
            </a:r>
            <a:endParaRPr lang="en-US" altLang="zh-CN" sz="2000" dirty="0">
              <a:latin typeface="+mn-ea"/>
              <a:ea typeface="+mn-ea"/>
            </a:endParaRPr>
          </a:p>
          <a:p>
            <a:pPr lvl="1" defTabSz="868680" eaLnBrk="1" hangingPunct="1">
              <a:buFont typeface="Wingdings" panose="05000000000000000000" pitchFamily="2" charset="2"/>
              <a:buChar char="Ø"/>
              <a:defRPr/>
            </a:pPr>
            <a:r>
              <a:rPr lang="zh-CN" altLang="en-US" sz="2000" b="1" dirty="0">
                <a:latin typeface="+mn-ea"/>
                <a:ea typeface="+mn-ea"/>
              </a:rPr>
              <a:t>剪枝步：</a:t>
            </a:r>
            <a:r>
              <a:rPr lang="en-US" altLang="zh-CN" sz="2000" dirty="0">
                <a:latin typeface="+mn-ea"/>
              </a:rPr>
              <a:t> </a:t>
            </a:r>
            <a:r>
              <a:rPr lang="en-US" altLang="zh-CN" sz="2000" dirty="0" err="1">
                <a:latin typeface="+mn-ea"/>
              </a:rPr>
              <a:t>C</a:t>
            </a:r>
            <a:r>
              <a:rPr lang="en-US" altLang="zh-CN" sz="2000" baseline="-25000" dirty="0" err="1">
                <a:latin typeface="+mn-ea"/>
              </a:rPr>
              <a:t>k</a:t>
            </a:r>
            <a:r>
              <a:rPr lang="zh-CN" altLang="en-US" sz="2000" dirty="0">
                <a:latin typeface="+mn-ea"/>
                <a:ea typeface="+mn-ea"/>
              </a:rPr>
              <a:t>是</a:t>
            </a:r>
            <a:r>
              <a:rPr lang="en-US" altLang="zh-CN" sz="2000" dirty="0">
                <a:latin typeface="+mn-ea"/>
              </a:rPr>
              <a:t>L</a:t>
            </a:r>
            <a:r>
              <a:rPr lang="en-US" altLang="zh-CN" sz="2000" baseline="-25000" dirty="0">
                <a:latin typeface="+mn-ea"/>
              </a:rPr>
              <a:t>k</a:t>
            </a:r>
            <a:r>
              <a:rPr lang="zh-CN" altLang="en-US" sz="2000" dirty="0">
                <a:latin typeface="+mn-ea"/>
                <a:ea typeface="+mn-ea"/>
              </a:rPr>
              <a:t>的超集，即</a:t>
            </a:r>
            <a:r>
              <a:rPr lang="en-US" altLang="zh-CN" sz="2000" dirty="0" err="1">
                <a:latin typeface="+mn-ea"/>
              </a:rPr>
              <a:t>C</a:t>
            </a:r>
            <a:r>
              <a:rPr lang="en-US" altLang="zh-CN" sz="2000" baseline="-25000" dirty="0" err="1">
                <a:latin typeface="+mn-ea"/>
              </a:rPr>
              <a:t>k</a:t>
            </a:r>
            <a:r>
              <a:rPr lang="zh-CN" altLang="en-US" sz="2000" dirty="0">
                <a:latin typeface="+mn-ea"/>
                <a:ea typeface="+mn-ea"/>
              </a:rPr>
              <a:t>的成员可能是也可能不是频繁的，但所有频繁的</a:t>
            </a:r>
            <a:r>
              <a:rPr lang="en-US" altLang="zh-CN" sz="2000" dirty="0">
                <a:latin typeface="+mn-ea"/>
                <a:ea typeface="+mn-ea"/>
              </a:rPr>
              <a:t>k</a:t>
            </a:r>
            <a:r>
              <a:rPr lang="zh-CN" altLang="en-US" sz="2000" dirty="0">
                <a:latin typeface="+mn-ea"/>
                <a:ea typeface="+mn-ea"/>
              </a:rPr>
              <a:t>项集都在</a:t>
            </a:r>
            <a:r>
              <a:rPr lang="en-US" altLang="zh-CN" sz="2000" dirty="0" err="1">
                <a:latin typeface="+mn-ea"/>
              </a:rPr>
              <a:t>C</a:t>
            </a:r>
            <a:r>
              <a:rPr lang="en-US" altLang="zh-CN" sz="2000" baseline="-25000" dirty="0" err="1">
                <a:latin typeface="+mn-ea"/>
              </a:rPr>
              <a:t>k</a:t>
            </a:r>
            <a:r>
              <a:rPr lang="zh-CN" altLang="en-US" sz="2000" dirty="0">
                <a:latin typeface="+mn-ea"/>
                <a:ea typeface="+mn-ea"/>
              </a:rPr>
              <a:t>中。对</a:t>
            </a:r>
            <a:r>
              <a:rPr lang="en-US" altLang="zh-CN" sz="2000" dirty="0" err="1">
                <a:latin typeface="+mn-ea"/>
              </a:rPr>
              <a:t>C</a:t>
            </a:r>
            <a:r>
              <a:rPr lang="en-US" altLang="zh-CN" sz="2000" baseline="-25000" dirty="0" err="1">
                <a:latin typeface="+mn-ea"/>
              </a:rPr>
              <a:t>k</a:t>
            </a:r>
            <a:r>
              <a:rPr lang="zh-CN" altLang="en-US" sz="2000" dirty="0">
                <a:latin typeface="+mn-ea"/>
                <a:ea typeface="+mn-ea"/>
              </a:rPr>
              <a:t>中的所有成员，</a:t>
            </a:r>
            <a:r>
              <a:rPr lang="zh-CN" altLang="en-US" sz="2000" dirty="0">
                <a:solidFill>
                  <a:srgbClr val="FF0000"/>
                </a:solidFill>
                <a:latin typeface="+mn-ea"/>
                <a:ea typeface="+mn-ea"/>
              </a:rPr>
              <a:t>使用先验性质进行剪枝</a:t>
            </a:r>
            <a:r>
              <a:rPr lang="zh-CN" altLang="en-US" sz="2000" dirty="0">
                <a:latin typeface="+mn-ea"/>
                <a:ea typeface="+mn-ea"/>
              </a:rPr>
              <a:t>。</a:t>
            </a:r>
            <a:endParaRPr lang="en-US" altLang="zh-CN" sz="2000" dirty="0">
              <a:latin typeface="+mn-ea"/>
              <a:ea typeface="+mn-ea"/>
            </a:endParaRPr>
          </a:p>
        </p:txBody>
      </p:sp>
      <p:sp>
        <p:nvSpPr>
          <p:cNvPr id="2" name="矩形 1"/>
          <p:cNvSpPr/>
          <p:nvPr/>
        </p:nvSpPr>
        <p:spPr>
          <a:xfrm>
            <a:off x="1894773" y="3218666"/>
            <a:ext cx="8076988" cy="1107996"/>
          </a:xfrm>
          <a:prstGeom prst="rect">
            <a:avLst/>
          </a:prstGeom>
        </p:spPr>
        <p:txBody>
          <a:bodyPr wrap="square">
            <a:spAutoFit/>
          </a:bodyPr>
          <a:lstStyle/>
          <a:p>
            <a:pPr>
              <a:lnSpc>
                <a:spcPct val="150000"/>
              </a:lnSpc>
            </a:pPr>
            <a:r>
              <a:rPr lang="zh-CN" altLang="en-US" sz="2200" b="0" dirty="0">
                <a:latin typeface="+mn-ea"/>
              </a:rPr>
              <a:t>使用</a:t>
            </a:r>
            <a:r>
              <a:rPr lang="zh-CN" altLang="en-US" sz="2200" dirty="0">
                <a:solidFill>
                  <a:srgbClr val="FF0000"/>
                </a:solidFill>
                <a:latin typeface="+mn-ea"/>
              </a:rPr>
              <a:t>逐层搜索的迭代方法</a:t>
            </a:r>
            <a:r>
              <a:rPr lang="zh-CN" altLang="en-US" sz="2200" dirty="0">
                <a:latin typeface="+mn-ea"/>
              </a:rPr>
              <a:t>，</a:t>
            </a:r>
            <a:r>
              <a:rPr lang="zh-CN" altLang="en-US" sz="2200" b="0" dirty="0">
                <a:latin typeface="+mn-ea"/>
              </a:rPr>
              <a:t>通过</a:t>
            </a:r>
            <a:r>
              <a:rPr lang="zh-CN" altLang="en-US" sz="2200" dirty="0">
                <a:solidFill>
                  <a:srgbClr val="FF0000"/>
                </a:solidFill>
                <a:latin typeface="+mn-ea"/>
              </a:rPr>
              <a:t>连接步和剪枝步</a:t>
            </a:r>
            <a:r>
              <a:rPr lang="zh-CN" altLang="en-US" sz="2200" dirty="0">
                <a:latin typeface="+mn-ea"/>
              </a:rPr>
              <a:t>，</a:t>
            </a:r>
            <a:r>
              <a:rPr lang="zh-CN" altLang="en-US" sz="2200" b="0" dirty="0">
                <a:latin typeface="+mn-ea"/>
              </a:rPr>
              <a:t>使用</a:t>
            </a:r>
            <a:r>
              <a:rPr lang="en-US" altLang="zh-CN" sz="2200" b="0" dirty="0">
                <a:latin typeface="+mn-ea"/>
              </a:rPr>
              <a:t>(K-1)</a:t>
            </a:r>
            <a:r>
              <a:rPr lang="zh-CN" altLang="en-US" sz="2200" b="0" dirty="0">
                <a:latin typeface="+mn-ea"/>
              </a:rPr>
              <a:t>项集搜索</a:t>
            </a:r>
            <a:r>
              <a:rPr lang="en-US" altLang="zh-CN" sz="2200" b="0" dirty="0">
                <a:latin typeface="+mn-ea"/>
              </a:rPr>
              <a:t>K</a:t>
            </a:r>
            <a:r>
              <a:rPr lang="zh-CN" altLang="en-US" sz="2200" b="0" dirty="0">
                <a:latin typeface="+mn-ea"/>
              </a:rPr>
              <a:t>项集。</a:t>
            </a:r>
            <a:endParaRPr lang="zh-CN" altLang="en-US" sz="2200"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a:t>
            </a:r>
            <a:r>
              <a:rPr lang="en-US" altLang="zh-CN" sz="4400" dirty="0">
                <a:latin typeface="楷体" panose="02010609060101010101" pitchFamily="49" charset="-122"/>
                <a:ea typeface="楷体" panose="02010609060101010101" pitchFamily="49" charset="-122"/>
              </a:rPr>
              <a:t>6.2 </a:t>
            </a:r>
            <a:r>
              <a:rPr lang="zh-CN" altLang="en-US" sz="4400" dirty="0">
                <a:latin typeface="楷体" panose="02010609060101010101" pitchFamily="49" charset="-122"/>
                <a:ea typeface="楷体" panose="02010609060101010101" pitchFamily="49" charset="-122"/>
              </a:rPr>
              <a:t>频繁项集挖掘方法</a:t>
            </a:r>
            <a:endParaRPr lang="zh-CN" altLang="en-US" sz="4400" dirty="0">
              <a:latin typeface="楷体" panose="02010609060101010101" pitchFamily="49" charset="-122"/>
              <a:ea typeface="楷体" panose="02010609060101010101" pitchFamily="49" charset="-122"/>
            </a:endParaRPr>
          </a:p>
        </p:txBody>
      </p:sp>
      <p:sp>
        <p:nvSpPr>
          <p:cNvPr id="4" name="Rectangle 3"/>
          <p:cNvSpPr>
            <a:spLocks noGrp="1" noChangeArrowheads="1"/>
          </p:cNvSpPr>
          <p:nvPr>
            <p:ph idx="1"/>
          </p:nvPr>
        </p:nvSpPr>
        <p:spPr>
          <a:xfrm>
            <a:off x="522288" y="1160463"/>
            <a:ext cx="9906000" cy="1250950"/>
          </a:xfrm>
        </p:spPr>
        <p:txBody>
          <a:bodyPr/>
          <a:lstStyle/>
          <a:p>
            <a:pPr marL="0" indent="0" defTabSz="868680" eaLnBrk="1" hangingPunct="1">
              <a:buFont typeface="Arial" panose="020B0604020202020204" pitchFamily="34" charset="0"/>
              <a:buNone/>
              <a:defRPr/>
            </a:pPr>
            <a:r>
              <a:rPr lang="en-US" altLang="zh-CN" sz="2400" b="1" dirty="0">
                <a:solidFill>
                  <a:srgbClr val="0000FF"/>
                </a:solidFill>
                <a:latin typeface="+mn-ea"/>
                <a:ea typeface="+mn-ea"/>
              </a:rPr>
              <a:t>1</a:t>
            </a:r>
            <a:r>
              <a:rPr lang="zh-CN" altLang="en-US" sz="2400" b="1" dirty="0">
                <a:solidFill>
                  <a:srgbClr val="0000FF"/>
                </a:solidFill>
                <a:latin typeface="+mn-ea"/>
                <a:ea typeface="+mn-ea"/>
              </a:rPr>
              <a:t>、</a:t>
            </a:r>
            <a:r>
              <a:rPr lang="en-US" altLang="zh-CN" sz="2400" b="1" dirty="0" err="1">
                <a:solidFill>
                  <a:srgbClr val="0000FF"/>
                </a:solidFill>
                <a:latin typeface="+mn-ea"/>
                <a:ea typeface="+mn-ea"/>
              </a:rPr>
              <a:t>Apriori</a:t>
            </a:r>
            <a:r>
              <a:rPr lang="zh-CN" altLang="en-US" sz="2400" b="1" dirty="0">
                <a:solidFill>
                  <a:srgbClr val="0000FF"/>
                </a:solidFill>
                <a:latin typeface="+mn-ea"/>
                <a:ea typeface="+mn-ea"/>
              </a:rPr>
              <a:t>算法：通过限制候选产生发现频繁项集</a:t>
            </a:r>
            <a:endParaRPr lang="en-US" altLang="zh-CN" sz="2400" b="1" dirty="0">
              <a:solidFill>
                <a:srgbClr val="0000FF"/>
              </a:solidFill>
              <a:latin typeface="+mn-ea"/>
              <a:ea typeface="+mn-ea"/>
            </a:endParaRPr>
          </a:p>
          <a:p>
            <a:pPr marL="0" indent="0" defTabSz="868680" eaLnBrk="1" hangingPunct="1">
              <a:buFont typeface="Arial" panose="020B0604020202020204" pitchFamily="34" charset="0"/>
              <a:buNone/>
              <a:defRPr/>
            </a:pPr>
            <a:r>
              <a:rPr lang="zh-CN" altLang="en-US" sz="2400" b="1" dirty="0">
                <a:latin typeface="+mn-ea"/>
                <a:ea typeface="+mn-ea"/>
              </a:rPr>
              <a:t>例</a:t>
            </a:r>
            <a:r>
              <a:rPr lang="en-US" altLang="zh-CN" sz="2400" b="1" dirty="0">
                <a:latin typeface="+mn-ea"/>
                <a:ea typeface="+mn-ea"/>
              </a:rPr>
              <a:t>1</a:t>
            </a:r>
            <a:r>
              <a:rPr lang="zh-CN" altLang="en-US" sz="2400" b="1" dirty="0">
                <a:latin typeface="+mn-ea"/>
                <a:ea typeface="+mn-ea"/>
              </a:rPr>
              <a:t>：</a:t>
            </a:r>
            <a:endParaRPr lang="en-US" altLang="zh-CN" sz="2400" b="1" dirty="0">
              <a:latin typeface="+mn-ea"/>
              <a:ea typeface="+mn-ea"/>
            </a:endParaRPr>
          </a:p>
        </p:txBody>
      </p:sp>
      <p:sp>
        <p:nvSpPr>
          <p:cNvPr id="2" name="矩形 1"/>
          <p:cNvSpPr/>
          <p:nvPr/>
        </p:nvSpPr>
        <p:spPr>
          <a:xfrm>
            <a:off x="1206500" y="1812925"/>
            <a:ext cx="1582738" cy="460375"/>
          </a:xfrm>
          <a:prstGeom prst="rect">
            <a:avLst/>
          </a:prstGeom>
        </p:spPr>
        <p:txBody>
          <a:bodyPr wrap="none">
            <a:spAutoFit/>
          </a:bodyPr>
          <a:lstStyle/>
          <a:p>
            <a:pPr defTabSz="1083945">
              <a:defRPr/>
            </a:pPr>
            <a:r>
              <a:rPr lang="en-US" altLang="zh-CN" sz="2400" dirty="0" err="1">
                <a:solidFill>
                  <a:srgbClr val="FF0000"/>
                </a:solidFill>
                <a:latin typeface="+mn-ea"/>
                <a:ea typeface="+mn-ea"/>
              </a:rPr>
              <a:t>min_sup</a:t>
            </a:r>
            <a:r>
              <a:rPr lang="en-US" altLang="zh-CN" sz="2400" dirty="0">
                <a:solidFill>
                  <a:srgbClr val="FF0000"/>
                </a:solidFill>
                <a:latin typeface="+mn-ea"/>
                <a:ea typeface="+mn-ea"/>
              </a:rPr>
              <a:t>=2</a:t>
            </a:r>
            <a:endParaRPr lang="zh-CN" altLang="en-US" sz="2400" dirty="0">
              <a:solidFill>
                <a:srgbClr val="FF0000"/>
              </a:solidFill>
              <a:latin typeface="+mn-ea"/>
              <a:ea typeface="+mn-ea"/>
            </a:endParaRPr>
          </a:p>
        </p:txBody>
      </p:sp>
      <p:grpSp>
        <p:nvGrpSpPr>
          <p:cNvPr id="30725" name="组合 34"/>
          <p:cNvGrpSpPr/>
          <p:nvPr/>
        </p:nvGrpSpPr>
        <p:grpSpPr bwMode="auto">
          <a:xfrm>
            <a:off x="1179513" y="2312988"/>
            <a:ext cx="1704975" cy="2541587"/>
            <a:chOff x="1102723" y="2429669"/>
            <a:chExt cx="1406830" cy="2329050"/>
          </a:xfrm>
        </p:grpSpPr>
        <p:pic>
          <p:nvPicPr>
            <p:cNvPr id="30737"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06531" y="2429669"/>
              <a:ext cx="342857" cy="140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38" name="图片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9388" y="2435701"/>
              <a:ext cx="1009524" cy="140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39" name="图片 2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723" y="3863481"/>
              <a:ext cx="380952" cy="895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40" name="图片 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5743" y="3864588"/>
              <a:ext cx="923810" cy="866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4" name="直接连接符 33"/>
            <p:cNvCxnSpPr/>
            <p:nvPr/>
          </p:nvCxnSpPr>
          <p:spPr>
            <a:xfrm>
              <a:off x="1102723" y="4742717"/>
              <a:ext cx="1355744"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pic>
        <p:nvPicPr>
          <p:cNvPr id="36" name="图片 3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7888" y="1785938"/>
            <a:ext cx="237172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图片 3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26125" y="1804988"/>
            <a:ext cx="2760663" cy="130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图片 3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26488" y="1804988"/>
            <a:ext cx="1562100" cy="219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图片 3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76638" y="3294063"/>
            <a:ext cx="2228850" cy="218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 name="图片 3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99175" y="3906838"/>
            <a:ext cx="2465388"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 name="图片 4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894763" y="4364038"/>
            <a:ext cx="1533525" cy="101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 name="图片 4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16325" y="5676900"/>
            <a:ext cx="2362200" cy="98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 name="图片 4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173788" y="5667375"/>
            <a:ext cx="2552700" cy="99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 name="矩形 52"/>
          <p:cNvSpPr/>
          <p:nvPr/>
        </p:nvSpPr>
        <p:spPr>
          <a:xfrm>
            <a:off x="4470400" y="4044950"/>
            <a:ext cx="1298575" cy="171450"/>
          </a:xfrm>
          <a:prstGeom prst="rect">
            <a:avLst/>
          </a:prstGeom>
          <a:solidFill>
            <a:schemeClr val="tx2">
              <a:lumMod val="60000"/>
              <a:lumOff val="40000"/>
              <a:alpha val="40000"/>
            </a:schemeClr>
          </a:solidFill>
          <a:ln w="127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4" name="矩形 53"/>
          <p:cNvSpPr/>
          <p:nvPr/>
        </p:nvSpPr>
        <p:spPr>
          <a:xfrm>
            <a:off x="4470400" y="4865688"/>
            <a:ext cx="1298575" cy="517525"/>
          </a:xfrm>
          <a:prstGeom prst="rect">
            <a:avLst/>
          </a:prstGeom>
          <a:solidFill>
            <a:schemeClr val="tx2">
              <a:lumMod val="60000"/>
              <a:lumOff val="40000"/>
              <a:alpha val="40000"/>
            </a:schemeClr>
          </a:solidFill>
          <a:ln w="127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0" name="矩形 49"/>
          <p:cNvSpPr>
            <a:spLocks noChangeArrowheads="1"/>
          </p:cNvSpPr>
          <p:nvPr/>
        </p:nvSpPr>
        <p:spPr bwMode="auto">
          <a:xfrm>
            <a:off x="1085850" y="4897438"/>
            <a:ext cx="1746250" cy="203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1082675">
              <a:spcBef>
                <a:spcPct val="20000"/>
              </a:spcBef>
              <a:buFont typeface="Arial" panose="020B0604020202020204" pitchFamily="34" charset="0"/>
              <a:buChar char="•"/>
              <a:defRPr sz="3000">
                <a:solidFill>
                  <a:schemeClr val="tx1"/>
                </a:solidFill>
                <a:latin typeface="Calibri" panose="020F0502020204030204" pitchFamily="34" charset="0"/>
                <a:ea typeface="PMingLiU" panose="02020500000000000000" pitchFamily="18" charset="-120"/>
              </a:defRPr>
            </a:lvl1pPr>
            <a:lvl2pPr marL="706755" indent="-271780" defTabSz="1082675">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2pPr>
            <a:lvl3pPr marL="1085850" indent="-215900" defTabSz="1082675">
              <a:spcBef>
                <a:spcPct val="20000"/>
              </a:spcBef>
              <a:buFont typeface="Arial" panose="020B0604020202020204" pitchFamily="34" charset="0"/>
              <a:buChar char="•"/>
              <a:defRPr sz="2200">
                <a:solidFill>
                  <a:schemeClr val="tx1"/>
                </a:solidFill>
                <a:latin typeface="Calibri" panose="020F0502020204030204" pitchFamily="34" charset="0"/>
                <a:ea typeface="PMingLiU" panose="02020500000000000000" pitchFamily="18" charset="-120"/>
              </a:defRPr>
            </a:lvl3pPr>
            <a:lvl4pPr marL="1522730" indent="-215900" defTabSz="1082675">
              <a:spcBef>
                <a:spcPct val="20000"/>
              </a:spcBef>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4pPr>
            <a:lvl5pPr marL="1955800" indent="-215900" defTabSz="1082675">
              <a:spcBef>
                <a:spcPct val="20000"/>
              </a:spcBef>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5pPr>
            <a:lvl6pPr marL="2413000" indent="-215900" defTabSz="1082675" eaLnBrk="0" fontAlgn="base" hangingPunct="0">
              <a:spcBef>
                <a:spcPct val="20000"/>
              </a:spcBef>
              <a:spcAft>
                <a:spcPct val="0"/>
              </a:spcAft>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6pPr>
            <a:lvl7pPr marL="2870200" indent="-215900" defTabSz="1082675" eaLnBrk="0" fontAlgn="base" hangingPunct="0">
              <a:spcBef>
                <a:spcPct val="20000"/>
              </a:spcBef>
              <a:spcAft>
                <a:spcPct val="0"/>
              </a:spcAft>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7pPr>
            <a:lvl8pPr marL="3327400" indent="-215900" defTabSz="1082675" eaLnBrk="0" fontAlgn="base" hangingPunct="0">
              <a:spcBef>
                <a:spcPct val="20000"/>
              </a:spcBef>
              <a:spcAft>
                <a:spcPct val="0"/>
              </a:spcAft>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8pPr>
            <a:lvl9pPr marL="3784600" indent="-215900" defTabSz="1082675" eaLnBrk="0" fontAlgn="base" hangingPunct="0">
              <a:spcBef>
                <a:spcPct val="20000"/>
              </a:spcBef>
              <a:spcAft>
                <a:spcPct val="0"/>
              </a:spcAft>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9pPr>
          </a:lstStyle>
          <a:p>
            <a:pPr>
              <a:spcBef>
                <a:spcPct val="0"/>
              </a:spcBef>
              <a:buFontTx/>
              <a:buNone/>
            </a:pPr>
            <a:r>
              <a:rPr lang="en-US" altLang="zh-CN" sz="1800" b="0" dirty="0">
                <a:latin typeface="Times New Roman" panose="02020603050405020304" pitchFamily="18" charset="0"/>
                <a:ea typeface="楷体_GB2312" pitchFamily="49" charset="-122"/>
              </a:rPr>
              <a:t>C3=L2 |</a:t>
            </a:r>
            <a:r>
              <a:rPr lang="en-US" altLang="zh-CN" sz="1800" b="0" dirty="0">
                <a:latin typeface="Times New Roman" panose="02020603050405020304" pitchFamily="18" charset="0"/>
                <a:ea typeface="宋体" panose="02010600030101010101" pitchFamily="2" charset="-122"/>
              </a:rPr>
              <a:t>╳</a:t>
            </a:r>
            <a:r>
              <a:rPr lang="en-US" altLang="zh-CN" sz="1800" b="0" dirty="0">
                <a:latin typeface="Times New Roman" panose="02020603050405020304" pitchFamily="18" charset="0"/>
                <a:ea typeface="楷体_GB2312" pitchFamily="49" charset="-122"/>
              </a:rPr>
              <a:t>| L2</a:t>
            </a:r>
            <a:endParaRPr lang="en-US" altLang="zh-CN" sz="1800" b="0" dirty="0">
              <a:latin typeface="Times New Roman" panose="02020603050405020304" pitchFamily="18" charset="0"/>
              <a:ea typeface="楷体_GB2312" pitchFamily="49" charset="-122"/>
            </a:endParaRPr>
          </a:p>
          <a:p>
            <a:pPr>
              <a:spcBef>
                <a:spcPct val="0"/>
              </a:spcBef>
              <a:buFontTx/>
              <a:buNone/>
            </a:pPr>
            <a:r>
              <a:rPr lang="en-US" altLang="zh-CN" sz="1800" b="0" dirty="0">
                <a:latin typeface="Times New Roman" panose="02020603050405020304" pitchFamily="18" charset="0"/>
                <a:ea typeface="楷体_GB2312" pitchFamily="49" charset="-122"/>
              </a:rPr>
              <a:t>I1, I2, I3</a:t>
            </a:r>
            <a:endParaRPr lang="en-US" altLang="zh-CN" sz="1800" b="0" dirty="0">
              <a:latin typeface="Times New Roman" panose="02020603050405020304" pitchFamily="18" charset="0"/>
              <a:ea typeface="楷体_GB2312" pitchFamily="49" charset="-122"/>
            </a:endParaRPr>
          </a:p>
          <a:p>
            <a:pPr>
              <a:spcBef>
                <a:spcPct val="0"/>
              </a:spcBef>
              <a:buFontTx/>
              <a:buNone/>
            </a:pPr>
            <a:r>
              <a:rPr lang="en-US" altLang="zh-CN" sz="1800" b="0" dirty="0">
                <a:latin typeface="Times New Roman" panose="02020603050405020304" pitchFamily="18" charset="0"/>
                <a:ea typeface="楷体_GB2312" pitchFamily="49" charset="-122"/>
              </a:rPr>
              <a:t>I1, I2, I5</a:t>
            </a:r>
            <a:endParaRPr lang="en-US" altLang="zh-CN" sz="1800" b="0" dirty="0">
              <a:latin typeface="Times New Roman" panose="02020603050405020304" pitchFamily="18" charset="0"/>
              <a:ea typeface="楷体_GB2312" pitchFamily="49" charset="-122"/>
            </a:endParaRPr>
          </a:p>
          <a:p>
            <a:pPr>
              <a:spcBef>
                <a:spcPct val="0"/>
              </a:spcBef>
              <a:buFontTx/>
              <a:buNone/>
            </a:pPr>
            <a:r>
              <a:rPr lang="en-US" altLang="zh-CN" sz="1800" b="0" dirty="0">
                <a:latin typeface="Times New Roman" panose="02020603050405020304" pitchFamily="18" charset="0"/>
                <a:ea typeface="楷体_GB2312" pitchFamily="49" charset="-122"/>
              </a:rPr>
              <a:t>I1, I3, I5</a:t>
            </a:r>
            <a:endParaRPr lang="en-US" altLang="zh-CN" sz="1800" b="0" dirty="0">
              <a:latin typeface="Times New Roman" panose="02020603050405020304" pitchFamily="18" charset="0"/>
              <a:ea typeface="楷体_GB2312" pitchFamily="49" charset="-122"/>
            </a:endParaRPr>
          </a:p>
          <a:p>
            <a:pPr>
              <a:spcBef>
                <a:spcPct val="0"/>
              </a:spcBef>
              <a:buFontTx/>
              <a:buNone/>
            </a:pPr>
            <a:r>
              <a:rPr lang="en-US" altLang="zh-CN" sz="1800" b="0" dirty="0">
                <a:latin typeface="Times New Roman" panose="02020603050405020304" pitchFamily="18" charset="0"/>
                <a:ea typeface="楷体_GB2312" pitchFamily="49" charset="-122"/>
              </a:rPr>
              <a:t>I2, I3, I4</a:t>
            </a:r>
            <a:endParaRPr lang="en-US" altLang="zh-CN" sz="1800" b="0" dirty="0">
              <a:latin typeface="Times New Roman" panose="02020603050405020304" pitchFamily="18" charset="0"/>
              <a:ea typeface="楷体_GB2312" pitchFamily="49" charset="-122"/>
            </a:endParaRPr>
          </a:p>
          <a:p>
            <a:pPr>
              <a:spcBef>
                <a:spcPct val="0"/>
              </a:spcBef>
              <a:buFontTx/>
              <a:buNone/>
            </a:pPr>
            <a:r>
              <a:rPr lang="en-US" altLang="zh-CN" sz="1800" b="0" dirty="0">
                <a:latin typeface="Times New Roman" panose="02020603050405020304" pitchFamily="18" charset="0"/>
                <a:ea typeface="楷体_GB2312" pitchFamily="49" charset="-122"/>
              </a:rPr>
              <a:t>I2, I3, I5</a:t>
            </a:r>
            <a:endParaRPr lang="en-US" altLang="zh-CN" sz="1800" b="0" dirty="0">
              <a:latin typeface="Times New Roman" panose="02020603050405020304" pitchFamily="18" charset="0"/>
              <a:ea typeface="楷体_GB2312" pitchFamily="49" charset="-122"/>
            </a:endParaRPr>
          </a:p>
          <a:p>
            <a:pPr>
              <a:spcBef>
                <a:spcPct val="0"/>
              </a:spcBef>
              <a:buFontTx/>
              <a:buNone/>
            </a:pPr>
            <a:r>
              <a:rPr lang="en-US" altLang="zh-CN" sz="1800" b="0" dirty="0">
                <a:latin typeface="Times New Roman" panose="02020603050405020304" pitchFamily="18" charset="0"/>
                <a:ea typeface="楷体_GB2312" pitchFamily="49" charset="-122"/>
              </a:rPr>
              <a:t>I2, I4, I5</a:t>
            </a:r>
            <a:endParaRPr lang="zh-CN" altLang="en-US" sz="1800" b="0" dirty="0">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0">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0">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0">
                                            <p:txEl>
                                              <p:pRg st="2" end="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0">
                                            <p:txEl>
                                              <p:charRg st="3" end="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0">
                                            <p:txEl>
                                              <p:pRg st="3" end="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0">
                                            <p:txEl>
                                              <p:pRg st="4" end="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0">
                                            <p:txEl>
                                              <p:pRg st="5" end="5"/>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0">
                                            <p:txEl>
                                              <p:pRg st="6" end="6"/>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3" grpId="0" animBg="1"/>
      <p:bldP spid="5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a:t>
            </a:r>
            <a:r>
              <a:rPr lang="en-US" altLang="zh-CN" sz="4400" dirty="0">
                <a:latin typeface="楷体" panose="02010609060101010101" pitchFamily="49" charset="-122"/>
                <a:ea typeface="楷体" panose="02010609060101010101" pitchFamily="49" charset="-122"/>
              </a:rPr>
              <a:t>6.2 </a:t>
            </a:r>
            <a:r>
              <a:rPr lang="zh-CN" altLang="en-US" sz="4400" dirty="0">
                <a:latin typeface="楷体" panose="02010609060101010101" pitchFamily="49" charset="-122"/>
                <a:ea typeface="楷体" panose="02010609060101010101" pitchFamily="49" charset="-122"/>
              </a:rPr>
              <a:t>频繁项集挖掘方法</a:t>
            </a:r>
            <a:endParaRPr lang="zh-CN" altLang="en-US" sz="4400" dirty="0">
              <a:latin typeface="楷体" panose="02010609060101010101" pitchFamily="49" charset="-122"/>
              <a:ea typeface="楷体" panose="02010609060101010101" pitchFamily="49" charset="-122"/>
            </a:endParaRPr>
          </a:p>
        </p:txBody>
      </p:sp>
      <p:sp>
        <p:nvSpPr>
          <p:cNvPr id="4" name="Rectangle 3"/>
          <p:cNvSpPr>
            <a:spLocks noGrp="1" noChangeArrowheads="1"/>
          </p:cNvSpPr>
          <p:nvPr>
            <p:ph idx="1"/>
          </p:nvPr>
        </p:nvSpPr>
        <p:spPr>
          <a:xfrm>
            <a:off x="522288" y="1160463"/>
            <a:ext cx="9906000" cy="1250950"/>
          </a:xfrm>
        </p:spPr>
        <p:txBody>
          <a:bodyPr/>
          <a:lstStyle/>
          <a:p>
            <a:pPr marL="0" indent="0" defTabSz="868680" eaLnBrk="1" hangingPunct="1">
              <a:buFont typeface="Arial" panose="020B0604020202020204" pitchFamily="34" charset="0"/>
              <a:buNone/>
              <a:defRPr/>
            </a:pPr>
            <a:r>
              <a:rPr lang="en-US" altLang="zh-CN" sz="2400" b="1" dirty="0">
                <a:solidFill>
                  <a:srgbClr val="0000FF"/>
                </a:solidFill>
                <a:latin typeface="+mn-ea"/>
                <a:ea typeface="+mn-ea"/>
              </a:rPr>
              <a:t>1</a:t>
            </a:r>
            <a:r>
              <a:rPr lang="zh-CN" altLang="en-US" sz="2400" b="1" dirty="0">
                <a:solidFill>
                  <a:srgbClr val="0000FF"/>
                </a:solidFill>
                <a:latin typeface="+mn-ea"/>
                <a:ea typeface="+mn-ea"/>
              </a:rPr>
              <a:t>、</a:t>
            </a:r>
            <a:r>
              <a:rPr lang="en-US" altLang="zh-CN" sz="2400" b="1" dirty="0" err="1">
                <a:solidFill>
                  <a:srgbClr val="0000FF"/>
                </a:solidFill>
                <a:latin typeface="+mn-ea"/>
                <a:ea typeface="+mn-ea"/>
              </a:rPr>
              <a:t>Apriori</a:t>
            </a:r>
            <a:r>
              <a:rPr lang="zh-CN" altLang="en-US" sz="2400" b="1" dirty="0">
                <a:solidFill>
                  <a:srgbClr val="0000FF"/>
                </a:solidFill>
                <a:latin typeface="+mn-ea"/>
                <a:ea typeface="+mn-ea"/>
              </a:rPr>
              <a:t>算法：通过限制候选产生发现频繁项集</a:t>
            </a:r>
            <a:endParaRPr lang="en-US" altLang="zh-CN" sz="2400" b="1" dirty="0">
              <a:solidFill>
                <a:srgbClr val="0000FF"/>
              </a:solidFill>
              <a:latin typeface="+mn-ea"/>
              <a:ea typeface="+mn-ea"/>
            </a:endParaRPr>
          </a:p>
          <a:p>
            <a:pPr marL="0" indent="0" defTabSz="868680" eaLnBrk="1" hangingPunct="1">
              <a:buFont typeface="Arial" panose="020B0604020202020204" pitchFamily="34" charset="0"/>
              <a:buNone/>
              <a:defRPr/>
            </a:pPr>
            <a:r>
              <a:rPr lang="zh-CN" altLang="en-US" sz="2400" b="1" dirty="0">
                <a:latin typeface="+mn-ea"/>
                <a:ea typeface="+mn-ea"/>
              </a:rPr>
              <a:t>例</a:t>
            </a:r>
            <a:r>
              <a:rPr lang="en-US" altLang="zh-CN" sz="2400" b="1" dirty="0">
                <a:latin typeface="+mn-ea"/>
                <a:ea typeface="+mn-ea"/>
              </a:rPr>
              <a:t>1</a:t>
            </a:r>
            <a:r>
              <a:rPr lang="zh-CN" altLang="en-US" sz="2400" b="1" dirty="0">
                <a:latin typeface="+mn-ea"/>
                <a:ea typeface="+mn-ea"/>
              </a:rPr>
              <a:t>：</a:t>
            </a:r>
            <a:r>
              <a:rPr lang="zh-CN" altLang="en-US" sz="2400" dirty="0">
                <a:latin typeface="+mn-ea"/>
                <a:ea typeface="+mn-ea"/>
              </a:rPr>
              <a:t>由</a:t>
            </a:r>
            <a:r>
              <a:rPr lang="en-US" altLang="zh-CN" sz="2400" dirty="0">
                <a:latin typeface="+mn-ea"/>
                <a:ea typeface="+mn-ea"/>
              </a:rPr>
              <a:t>L2</a:t>
            </a:r>
            <a:r>
              <a:rPr lang="zh-CN" altLang="en-US" sz="2400" dirty="0">
                <a:latin typeface="+mn-ea"/>
                <a:ea typeface="+mn-ea"/>
              </a:rPr>
              <a:t>到</a:t>
            </a:r>
            <a:r>
              <a:rPr lang="en-US" altLang="zh-CN" sz="2400" dirty="0">
                <a:latin typeface="+mn-ea"/>
                <a:ea typeface="+mn-ea"/>
              </a:rPr>
              <a:t>C3</a:t>
            </a:r>
            <a:r>
              <a:rPr lang="zh-CN" altLang="en-US" sz="2400" dirty="0">
                <a:latin typeface="+mn-ea"/>
                <a:ea typeface="+mn-ea"/>
              </a:rPr>
              <a:t>的剪枝过程：</a:t>
            </a:r>
            <a:endParaRPr lang="en-US" altLang="zh-CN" sz="2400" dirty="0">
              <a:latin typeface="+mn-ea"/>
              <a:ea typeface="+mn-ea"/>
            </a:endParaRPr>
          </a:p>
        </p:txBody>
      </p:sp>
      <p:pic>
        <p:nvPicPr>
          <p:cNvPr id="32772" name="图片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27188" y="2411413"/>
            <a:ext cx="7543800" cy="458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a:t>
            </a:r>
            <a:r>
              <a:rPr lang="en-US" altLang="zh-CN" sz="4400" dirty="0">
                <a:latin typeface="楷体" panose="02010609060101010101" pitchFamily="49" charset="-122"/>
                <a:ea typeface="楷体" panose="02010609060101010101" pitchFamily="49" charset="-122"/>
              </a:rPr>
              <a:t>6.2 </a:t>
            </a:r>
            <a:r>
              <a:rPr lang="zh-CN" altLang="en-US" sz="4400" dirty="0">
                <a:latin typeface="楷体" panose="02010609060101010101" pitchFamily="49" charset="-122"/>
                <a:ea typeface="楷体" panose="02010609060101010101" pitchFamily="49" charset="-122"/>
              </a:rPr>
              <a:t>频繁项集挖掘方法</a:t>
            </a:r>
            <a:endParaRPr lang="zh-CN" altLang="en-US" sz="4400" dirty="0">
              <a:latin typeface="楷体" panose="02010609060101010101" pitchFamily="49" charset="-122"/>
              <a:ea typeface="楷体" panose="02010609060101010101" pitchFamily="49" charset="-122"/>
            </a:endParaRPr>
          </a:p>
        </p:txBody>
      </p:sp>
      <p:sp>
        <p:nvSpPr>
          <p:cNvPr id="4" name="Rectangle 3"/>
          <p:cNvSpPr>
            <a:spLocks noGrp="1" noChangeArrowheads="1"/>
          </p:cNvSpPr>
          <p:nvPr>
            <p:ph idx="1"/>
          </p:nvPr>
        </p:nvSpPr>
        <p:spPr>
          <a:xfrm>
            <a:off x="522288" y="1160463"/>
            <a:ext cx="9906000" cy="1250950"/>
          </a:xfrm>
        </p:spPr>
        <p:txBody>
          <a:bodyPr/>
          <a:lstStyle/>
          <a:p>
            <a:pPr marL="0" indent="0" defTabSz="868680" eaLnBrk="1" hangingPunct="1">
              <a:buFont typeface="Arial" panose="020B0604020202020204" pitchFamily="34" charset="0"/>
              <a:buNone/>
              <a:defRPr/>
            </a:pPr>
            <a:r>
              <a:rPr lang="en-US" altLang="zh-CN" sz="2400" b="1" dirty="0">
                <a:solidFill>
                  <a:srgbClr val="0000FF"/>
                </a:solidFill>
                <a:latin typeface="+mn-ea"/>
                <a:ea typeface="+mn-ea"/>
              </a:rPr>
              <a:t>1</a:t>
            </a:r>
            <a:r>
              <a:rPr lang="zh-CN" altLang="en-US" sz="2400" b="1" dirty="0">
                <a:solidFill>
                  <a:srgbClr val="0000FF"/>
                </a:solidFill>
                <a:latin typeface="+mn-ea"/>
                <a:ea typeface="+mn-ea"/>
              </a:rPr>
              <a:t>、</a:t>
            </a:r>
            <a:r>
              <a:rPr lang="en-US" altLang="zh-CN" sz="2400" b="1" dirty="0" err="1">
                <a:solidFill>
                  <a:srgbClr val="0000FF"/>
                </a:solidFill>
                <a:latin typeface="+mn-ea"/>
                <a:ea typeface="+mn-ea"/>
              </a:rPr>
              <a:t>Apriori</a:t>
            </a:r>
            <a:r>
              <a:rPr lang="zh-CN" altLang="en-US" sz="2400" b="1" dirty="0">
                <a:solidFill>
                  <a:srgbClr val="0000FF"/>
                </a:solidFill>
                <a:latin typeface="+mn-ea"/>
                <a:ea typeface="+mn-ea"/>
              </a:rPr>
              <a:t>算法：通过限制候选产生发现频繁项集</a:t>
            </a:r>
            <a:endParaRPr lang="en-US" altLang="zh-CN" sz="2400" b="1" dirty="0">
              <a:solidFill>
                <a:srgbClr val="0000FF"/>
              </a:solidFill>
              <a:latin typeface="+mn-ea"/>
              <a:ea typeface="+mn-ea"/>
            </a:endParaRPr>
          </a:p>
          <a:p>
            <a:pPr marL="0" indent="0" defTabSz="868680" eaLnBrk="1" hangingPunct="1">
              <a:buFont typeface="Arial" panose="020B0604020202020204" pitchFamily="34" charset="0"/>
              <a:buNone/>
              <a:defRPr/>
            </a:pPr>
            <a:r>
              <a:rPr lang="zh-CN" altLang="en-US" sz="2400" b="1" dirty="0">
                <a:latin typeface="+mn-ea"/>
                <a:ea typeface="+mn-ea"/>
              </a:rPr>
              <a:t>例</a:t>
            </a:r>
            <a:r>
              <a:rPr lang="en-US" altLang="zh-CN" sz="2400" b="1" dirty="0">
                <a:latin typeface="+mn-ea"/>
                <a:ea typeface="+mn-ea"/>
              </a:rPr>
              <a:t>2</a:t>
            </a:r>
            <a:r>
              <a:rPr lang="zh-CN" altLang="en-US" sz="2400" b="1" dirty="0">
                <a:latin typeface="+mn-ea"/>
                <a:ea typeface="+mn-ea"/>
              </a:rPr>
              <a:t>：</a:t>
            </a:r>
            <a:endParaRPr lang="en-US" altLang="zh-CN" sz="2400" b="1" dirty="0">
              <a:latin typeface="+mn-ea"/>
              <a:ea typeface="+mn-ea"/>
            </a:endParaRPr>
          </a:p>
        </p:txBody>
      </p:sp>
      <p:sp>
        <p:nvSpPr>
          <p:cNvPr id="6" name="Text Box 3"/>
          <p:cNvSpPr txBox="1">
            <a:spLocks noChangeArrowheads="1"/>
          </p:cNvSpPr>
          <p:nvPr/>
        </p:nvSpPr>
        <p:spPr bwMode="auto">
          <a:xfrm>
            <a:off x="1271588" y="2146300"/>
            <a:ext cx="1984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a:r>
              <a:rPr lang="en-US" altLang="zh-CN" sz="2400" b="0">
                <a:solidFill>
                  <a:srgbClr val="000000"/>
                </a:solidFill>
                <a:latin typeface="Times New Roman" panose="02020603050405020304" pitchFamily="18" charset="0"/>
              </a:rPr>
              <a:t>Database TDB</a:t>
            </a:r>
            <a:endParaRPr lang="en-US" altLang="zh-CN" sz="2400" b="0">
              <a:solidFill>
                <a:srgbClr val="000000"/>
              </a:solidFill>
              <a:latin typeface="Times New Roman" panose="02020603050405020304" pitchFamily="18" charset="0"/>
            </a:endParaRPr>
          </a:p>
        </p:txBody>
      </p:sp>
      <p:sp>
        <p:nvSpPr>
          <p:cNvPr id="7" name="Text Box 4"/>
          <p:cNvSpPr txBox="1">
            <a:spLocks noChangeArrowheads="1"/>
          </p:cNvSpPr>
          <p:nvPr/>
        </p:nvSpPr>
        <p:spPr bwMode="auto">
          <a:xfrm>
            <a:off x="3556000" y="2608263"/>
            <a:ext cx="88423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a:r>
              <a:rPr lang="zh-CN" altLang="en-US" sz="2000" b="0">
                <a:solidFill>
                  <a:srgbClr val="000000"/>
                </a:solidFill>
                <a:latin typeface="Times New Roman" panose="02020603050405020304" pitchFamily="18" charset="0"/>
              </a:rPr>
              <a:t>扫描</a:t>
            </a:r>
            <a:r>
              <a:rPr lang="en-US" altLang="zh-CN" sz="2000" b="0">
                <a:solidFill>
                  <a:srgbClr val="000000"/>
                </a:solidFill>
                <a:latin typeface="Times New Roman" panose="02020603050405020304" pitchFamily="18" charset="0"/>
              </a:rPr>
              <a:t>D</a:t>
            </a:r>
            <a:endParaRPr lang="en-US" altLang="zh-CN" sz="2000" b="0">
              <a:solidFill>
                <a:srgbClr val="000000"/>
              </a:solidFill>
              <a:latin typeface="Times New Roman" panose="02020603050405020304" pitchFamily="18" charset="0"/>
            </a:endParaRPr>
          </a:p>
          <a:p>
            <a:pPr algn="ctr"/>
            <a:r>
              <a:rPr lang="zh-CN" altLang="en-US" sz="2000" b="0">
                <a:solidFill>
                  <a:srgbClr val="000000"/>
                </a:solidFill>
                <a:latin typeface="Times New Roman" panose="02020603050405020304" pitchFamily="18" charset="0"/>
              </a:rPr>
              <a:t>计数</a:t>
            </a:r>
            <a:endParaRPr lang="en-US" altLang="zh-CN" sz="2000" b="0">
              <a:solidFill>
                <a:srgbClr val="000000"/>
              </a:solidFill>
              <a:latin typeface="Times New Roman" panose="02020603050405020304" pitchFamily="18" charset="0"/>
            </a:endParaRPr>
          </a:p>
        </p:txBody>
      </p:sp>
      <p:sp>
        <p:nvSpPr>
          <p:cNvPr id="8" name="Line 5"/>
          <p:cNvSpPr>
            <a:spLocks noChangeShapeType="1"/>
          </p:cNvSpPr>
          <p:nvPr/>
        </p:nvSpPr>
        <p:spPr bwMode="auto">
          <a:xfrm flipV="1">
            <a:off x="3446463" y="3282950"/>
            <a:ext cx="1165225" cy="1270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nchor="ctr">
            <a:spAutoFit/>
          </a:bodyPr>
          <a:lstStyle/>
          <a:p>
            <a:pPr>
              <a:defRPr/>
            </a:pPr>
            <a:endParaRPr lang="zh-CN" altLang="en-US" sz="1575">
              <a:ea typeface="+mn-ea"/>
            </a:endParaRPr>
          </a:p>
        </p:txBody>
      </p:sp>
      <p:sp>
        <p:nvSpPr>
          <p:cNvPr id="9" name="Text Box 6"/>
          <p:cNvSpPr txBox="1">
            <a:spLocks noChangeArrowheads="1"/>
          </p:cNvSpPr>
          <p:nvPr/>
        </p:nvSpPr>
        <p:spPr bwMode="auto">
          <a:xfrm>
            <a:off x="4335753" y="177726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a:r>
              <a:rPr lang="en-US" altLang="zh-CN" sz="2400" b="0" i="1">
                <a:solidFill>
                  <a:srgbClr val="000000"/>
                </a:solidFill>
                <a:latin typeface="Times New Roman" panose="02020603050405020304" pitchFamily="18" charset="0"/>
              </a:rPr>
              <a:t>C</a:t>
            </a:r>
            <a:r>
              <a:rPr lang="en-US" altLang="zh-CN" sz="2400" b="0" i="1" baseline="-25000">
                <a:solidFill>
                  <a:srgbClr val="000000"/>
                </a:solidFill>
                <a:latin typeface="Times New Roman" panose="02020603050405020304" pitchFamily="18" charset="0"/>
              </a:rPr>
              <a:t>1</a:t>
            </a:r>
            <a:endParaRPr lang="en-US" altLang="zh-CN" sz="2400" b="0" i="1" baseline="-25000">
              <a:solidFill>
                <a:srgbClr val="000000"/>
              </a:solidFill>
              <a:latin typeface="Times New Roman" panose="02020603050405020304" pitchFamily="18" charset="0"/>
            </a:endParaRPr>
          </a:p>
        </p:txBody>
      </p:sp>
      <p:sp>
        <p:nvSpPr>
          <p:cNvPr id="10" name="Text Box 7"/>
          <p:cNvSpPr txBox="1">
            <a:spLocks noChangeArrowheads="1"/>
          </p:cNvSpPr>
          <p:nvPr/>
        </p:nvSpPr>
        <p:spPr bwMode="auto">
          <a:xfrm>
            <a:off x="6956424" y="1851652"/>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a:r>
              <a:rPr lang="en-US" altLang="zh-CN" sz="2400" b="0" i="1" dirty="0">
                <a:solidFill>
                  <a:srgbClr val="000000"/>
                </a:solidFill>
                <a:latin typeface="Times New Roman" panose="02020603050405020304" pitchFamily="18" charset="0"/>
              </a:rPr>
              <a:t>L</a:t>
            </a:r>
            <a:r>
              <a:rPr lang="en-US" altLang="zh-CN" sz="2400" b="0" i="1" baseline="-25000" dirty="0">
                <a:solidFill>
                  <a:srgbClr val="000000"/>
                </a:solidFill>
                <a:latin typeface="Times New Roman" panose="02020603050405020304" pitchFamily="18" charset="0"/>
              </a:rPr>
              <a:t>1</a:t>
            </a:r>
            <a:endParaRPr lang="en-US" altLang="zh-CN" sz="2400" b="0" i="1" baseline="-25000" dirty="0">
              <a:solidFill>
                <a:srgbClr val="000000"/>
              </a:solidFill>
              <a:latin typeface="Times New Roman" panose="02020603050405020304" pitchFamily="18" charset="0"/>
            </a:endParaRPr>
          </a:p>
        </p:txBody>
      </p:sp>
      <p:sp>
        <p:nvSpPr>
          <p:cNvPr id="11" name="Text Box 8"/>
          <p:cNvSpPr txBox="1">
            <a:spLocks noChangeArrowheads="1"/>
          </p:cNvSpPr>
          <p:nvPr/>
        </p:nvSpPr>
        <p:spPr bwMode="auto">
          <a:xfrm>
            <a:off x="1784350" y="4292600"/>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a:r>
              <a:rPr lang="en-US" altLang="zh-CN" sz="2400" b="0" i="1">
                <a:solidFill>
                  <a:srgbClr val="000000"/>
                </a:solidFill>
                <a:latin typeface="Times New Roman" panose="02020603050405020304" pitchFamily="18" charset="0"/>
              </a:rPr>
              <a:t>L</a:t>
            </a:r>
            <a:r>
              <a:rPr lang="en-US" altLang="zh-CN" sz="2400" b="0" i="1" baseline="-25000">
                <a:solidFill>
                  <a:srgbClr val="000000"/>
                </a:solidFill>
                <a:latin typeface="Times New Roman" panose="02020603050405020304" pitchFamily="18" charset="0"/>
              </a:rPr>
              <a:t>2</a:t>
            </a:r>
            <a:endParaRPr lang="en-US" altLang="zh-CN" sz="2400" b="0" i="1" baseline="-25000">
              <a:solidFill>
                <a:srgbClr val="000000"/>
              </a:solidFill>
              <a:latin typeface="Times New Roman" panose="02020603050405020304" pitchFamily="18" charset="0"/>
            </a:endParaRPr>
          </a:p>
        </p:txBody>
      </p:sp>
      <p:sp>
        <p:nvSpPr>
          <p:cNvPr id="12" name="Text Box 9"/>
          <p:cNvSpPr txBox="1">
            <a:spLocks noChangeArrowheads="1"/>
          </p:cNvSpPr>
          <p:nvPr/>
        </p:nvSpPr>
        <p:spPr bwMode="auto">
          <a:xfrm>
            <a:off x="4211638" y="389572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a:r>
              <a:rPr lang="en-US" altLang="zh-CN" sz="2400" b="0" i="1">
                <a:solidFill>
                  <a:srgbClr val="000000"/>
                </a:solidFill>
                <a:latin typeface="Times New Roman" panose="02020603050405020304" pitchFamily="18" charset="0"/>
              </a:rPr>
              <a:t>C</a:t>
            </a:r>
            <a:r>
              <a:rPr lang="en-US" altLang="zh-CN" sz="2400" b="0" i="1" baseline="-25000">
                <a:solidFill>
                  <a:srgbClr val="000000"/>
                </a:solidFill>
                <a:latin typeface="Times New Roman" panose="02020603050405020304" pitchFamily="18" charset="0"/>
              </a:rPr>
              <a:t>2</a:t>
            </a:r>
            <a:endParaRPr lang="en-US" altLang="zh-CN" sz="2400" b="0" i="1" baseline="-25000">
              <a:solidFill>
                <a:srgbClr val="000000"/>
              </a:solidFill>
              <a:latin typeface="Times New Roman" panose="02020603050405020304" pitchFamily="18" charset="0"/>
            </a:endParaRPr>
          </a:p>
        </p:txBody>
      </p:sp>
      <p:sp>
        <p:nvSpPr>
          <p:cNvPr id="13" name="Text Box 10"/>
          <p:cNvSpPr txBox="1">
            <a:spLocks noChangeArrowheads="1"/>
          </p:cNvSpPr>
          <p:nvPr/>
        </p:nvSpPr>
        <p:spPr bwMode="auto">
          <a:xfrm>
            <a:off x="7532688" y="390366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a:r>
              <a:rPr lang="en-US" altLang="zh-CN" sz="2400" b="0" i="1">
                <a:solidFill>
                  <a:srgbClr val="000000"/>
                </a:solidFill>
                <a:latin typeface="Times New Roman" panose="02020603050405020304" pitchFamily="18" charset="0"/>
              </a:rPr>
              <a:t>C</a:t>
            </a:r>
            <a:r>
              <a:rPr lang="en-US" altLang="zh-CN" sz="2400" b="0" i="1" baseline="-25000">
                <a:solidFill>
                  <a:srgbClr val="000000"/>
                </a:solidFill>
                <a:latin typeface="Times New Roman" panose="02020603050405020304" pitchFamily="18" charset="0"/>
              </a:rPr>
              <a:t>2</a:t>
            </a:r>
            <a:endParaRPr lang="en-US" altLang="zh-CN" sz="2400" b="0" i="1" baseline="-25000">
              <a:solidFill>
                <a:srgbClr val="000000"/>
              </a:solidFill>
              <a:latin typeface="Times New Roman" panose="02020603050405020304" pitchFamily="18" charset="0"/>
            </a:endParaRPr>
          </a:p>
        </p:txBody>
      </p:sp>
      <p:sp>
        <p:nvSpPr>
          <p:cNvPr id="14" name="Line 11"/>
          <p:cNvSpPr>
            <a:spLocks noChangeShapeType="1"/>
          </p:cNvSpPr>
          <p:nvPr/>
        </p:nvSpPr>
        <p:spPr bwMode="auto">
          <a:xfrm flipH="1">
            <a:off x="6610350" y="4816475"/>
            <a:ext cx="1120775"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wrap="none" anchor="ctr">
            <a:spAutoFit/>
          </a:bodyPr>
          <a:lstStyle/>
          <a:p>
            <a:pPr>
              <a:defRPr/>
            </a:pPr>
            <a:endParaRPr lang="zh-CN" altLang="en-US" sz="1575">
              <a:ea typeface="+mn-ea"/>
            </a:endParaRPr>
          </a:p>
        </p:txBody>
      </p:sp>
      <p:sp>
        <p:nvSpPr>
          <p:cNvPr id="15" name="Text Box 12"/>
          <p:cNvSpPr txBox="1">
            <a:spLocks noChangeArrowheads="1"/>
          </p:cNvSpPr>
          <p:nvPr/>
        </p:nvSpPr>
        <p:spPr bwMode="auto">
          <a:xfrm>
            <a:off x="6353175" y="4111625"/>
            <a:ext cx="1662113"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r>
              <a:rPr lang="zh-CN" altLang="en-US" sz="2000" b="0">
                <a:solidFill>
                  <a:srgbClr val="000000"/>
                </a:solidFill>
                <a:latin typeface="Times New Roman" panose="02020603050405020304" pitchFamily="18" charset="0"/>
              </a:rPr>
              <a:t>扫描</a:t>
            </a:r>
            <a:r>
              <a:rPr lang="en-US" altLang="zh-CN" sz="2000" b="0">
                <a:solidFill>
                  <a:srgbClr val="000000"/>
                </a:solidFill>
                <a:latin typeface="Times New Roman" panose="02020603050405020304" pitchFamily="18" charset="0"/>
              </a:rPr>
              <a:t>D</a:t>
            </a:r>
            <a:endParaRPr lang="en-US" altLang="zh-CN" sz="2000" b="0">
              <a:solidFill>
                <a:srgbClr val="000000"/>
              </a:solidFill>
              <a:latin typeface="Times New Roman" panose="02020603050405020304" pitchFamily="18" charset="0"/>
            </a:endParaRPr>
          </a:p>
          <a:p>
            <a:pPr algn="ctr"/>
            <a:r>
              <a:rPr lang="zh-CN" altLang="en-US" sz="2000" b="0">
                <a:solidFill>
                  <a:srgbClr val="000000"/>
                </a:solidFill>
                <a:latin typeface="Times New Roman" panose="02020603050405020304" pitchFamily="18" charset="0"/>
              </a:rPr>
              <a:t>计数</a:t>
            </a:r>
            <a:endParaRPr lang="en-US" altLang="zh-CN" sz="2000" b="0">
              <a:solidFill>
                <a:srgbClr val="000000"/>
              </a:solidFill>
              <a:latin typeface="Times New Roman" panose="02020603050405020304" pitchFamily="18" charset="0"/>
            </a:endParaRPr>
          </a:p>
        </p:txBody>
      </p:sp>
      <p:sp>
        <p:nvSpPr>
          <p:cNvPr id="17" name="Line 14"/>
          <p:cNvSpPr>
            <a:spLocks noChangeShapeType="1"/>
          </p:cNvSpPr>
          <p:nvPr/>
        </p:nvSpPr>
        <p:spPr bwMode="auto">
          <a:xfrm>
            <a:off x="3635375" y="6773862"/>
            <a:ext cx="1274763" cy="317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wrap="square" anchor="ctr">
            <a:spAutoFit/>
          </a:bodyPr>
          <a:lstStyle/>
          <a:p>
            <a:pPr>
              <a:defRPr/>
            </a:pPr>
            <a:endParaRPr lang="zh-CN" altLang="en-US" sz="1575">
              <a:ea typeface="+mn-ea"/>
            </a:endParaRPr>
          </a:p>
        </p:txBody>
      </p:sp>
      <p:sp>
        <p:nvSpPr>
          <p:cNvPr id="18" name="Text Box 15"/>
          <p:cNvSpPr txBox="1">
            <a:spLocks noChangeArrowheads="1"/>
          </p:cNvSpPr>
          <p:nvPr/>
        </p:nvSpPr>
        <p:spPr bwMode="auto">
          <a:xfrm>
            <a:off x="1797050" y="618966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a:r>
              <a:rPr lang="en-US" altLang="zh-CN" sz="2400" b="0" i="1" dirty="0">
                <a:solidFill>
                  <a:srgbClr val="000000"/>
                </a:solidFill>
                <a:latin typeface="Times New Roman" panose="02020603050405020304" pitchFamily="18" charset="0"/>
              </a:rPr>
              <a:t>C</a:t>
            </a:r>
            <a:r>
              <a:rPr lang="en-US" altLang="zh-CN" sz="2400" b="0" i="1" baseline="-25000" dirty="0">
                <a:solidFill>
                  <a:srgbClr val="000000"/>
                </a:solidFill>
                <a:latin typeface="Times New Roman" panose="02020603050405020304" pitchFamily="18" charset="0"/>
              </a:rPr>
              <a:t>3</a:t>
            </a:r>
            <a:endParaRPr lang="en-US" altLang="zh-CN" sz="2400" b="0" i="1" baseline="-25000" dirty="0">
              <a:solidFill>
                <a:srgbClr val="000000"/>
              </a:solidFill>
              <a:latin typeface="Times New Roman" panose="02020603050405020304" pitchFamily="18" charset="0"/>
            </a:endParaRPr>
          </a:p>
        </p:txBody>
      </p:sp>
      <p:sp>
        <p:nvSpPr>
          <p:cNvPr id="19" name="Text Box 16"/>
          <p:cNvSpPr txBox="1">
            <a:spLocks noChangeArrowheads="1"/>
          </p:cNvSpPr>
          <p:nvPr/>
        </p:nvSpPr>
        <p:spPr bwMode="auto">
          <a:xfrm>
            <a:off x="7471610" y="6232274"/>
            <a:ext cx="4556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a:r>
              <a:rPr lang="en-US" altLang="zh-CN" sz="2400" b="0" i="1" dirty="0">
                <a:solidFill>
                  <a:srgbClr val="000000"/>
                </a:solidFill>
                <a:latin typeface="Times New Roman" panose="02020603050405020304" pitchFamily="18" charset="0"/>
              </a:rPr>
              <a:t>L</a:t>
            </a:r>
            <a:r>
              <a:rPr lang="en-US" altLang="zh-CN" sz="2400" b="0" i="1" baseline="-25000" dirty="0">
                <a:solidFill>
                  <a:srgbClr val="000000"/>
                </a:solidFill>
                <a:latin typeface="Times New Roman" panose="02020603050405020304" pitchFamily="18" charset="0"/>
              </a:rPr>
              <a:t>3</a:t>
            </a:r>
            <a:endParaRPr lang="en-US" altLang="zh-CN" sz="2400" b="0" i="1" baseline="-25000" dirty="0">
              <a:solidFill>
                <a:srgbClr val="000000"/>
              </a:solidFill>
              <a:latin typeface="Times New Roman" panose="02020603050405020304" pitchFamily="18" charset="0"/>
            </a:endParaRPr>
          </a:p>
        </p:txBody>
      </p:sp>
      <p:sp>
        <p:nvSpPr>
          <p:cNvPr id="20" name="Text Box 17"/>
          <p:cNvSpPr txBox="1">
            <a:spLocks noChangeArrowheads="1"/>
          </p:cNvSpPr>
          <p:nvPr/>
        </p:nvSpPr>
        <p:spPr bwMode="auto">
          <a:xfrm>
            <a:off x="3668704" y="6088063"/>
            <a:ext cx="1201738"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r>
              <a:rPr lang="zh-CN" altLang="en-US" sz="2000" b="0" dirty="0">
                <a:solidFill>
                  <a:srgbClr val="000000"/>
                </a:solidFill>
                <a:latin typeface="Times New Roman" panose="02020603050405020304" pitchFamily="18" charset="0"/>
              </a:rPr>
              <a:t>扫描</a:t>
            </a:r>
            <a:r>
              <a:rPr lang="en-US" altLang="zh-CN" sz="2000" b="0" dirty="0">
                <a:solidFill>
                  <a:srgbClr val="000000"/>
                </a:solidFill>
                <a:latin typeface="Times New Roman" panose="02020603050405020304" pitchFamily="18" charset="0"/>
              </a:rPr>
              <a:t>D</a:t>
            </a:r>
            <a:endParaRPr lang="en-US" altLang="zh-CN" sz="2000" b="0" dirty="0">
              <a:solidFill>
                <a:srgbClr val="000000"/>
              </a:solidFill>
              <a:latin typeface="Times New Roman" panose="02020603050405020304" pitchFamily="18" charset="0"/>
            </a:endParaRPr>
          </a:p>
          <a:p>
            <a:pPr algn="ctr"/>
            <a:r>
              <a:rPr lang="zh-CN" altLang="en-US" sz="2000" b="0" dirty="0">
                <a:solidFill>
                  <a:srgbClr val="000000"/>
                </a:solidFill>
                <a:latin typeface="Times New Roman" panose="02020603050405020304" pitchFamily="18" charset="0"/>
              </a:rPr>
              <a:t>计算</a:t>
            </a:r>
            <a:endParaRPr lang="en-US" altLang="zh-CN" sz="2000" b="0" dirty="0">
              <a:solidFill>
                <a:srgbClr val="000000"/>
              </a:solidFill>
              <a:latin typeface="Times New Roman" panose="02020603050405020304" pitchFamily="18" charset="0"/>
            </a:endParaRPr>
          </a:p>
        </p:txBody>
      </p:sp>
      <p:sp>
        <p:nvSpPr>
          <p:cNvPr id="22" name="Line 19"/>
          <p:cNvSpPr>
            <a:spLocks noChangeShapeType="1"/>
          </p:cNvSpPr>
          <p:nvPr/>
        </p:nvSpPr>
        <p:spPr bwMode="auto">
          <a:xfrm>
            <a:off x="6815138" y="3000375"/>
            <a:ext cx="52705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nchor="ctr">
            <a:spAutoFit/>
          </a:bodyPr>
          <a:lstStyle/>
          <a:p>
            <a:pPr>
              <a:defRPr/>
            </a:pPr>
            <a:endParaRPr lang="zh-CN" altLang="en-US" sz="1575">
              <a:ea typeface="+mn-ea"/>
            </a:endParaRPr>
          </a:p>
        </p:txBody>
      </p:sp>
      <p:sp>
        <p:nvSpPr>
          <p:cNvPr id="23" name="Line 20"/>
          <p:cNvSpPr>
            <a:spLocks noChangeShapeType="1"/>
          </p:cNvSpPr>
          <p:nvPr/>
        </p:nvSpPr>
        <p:spPr bwMode="auto">
          <a:xfrm flipH="1">
            <a:off x="4148138" y="5210175"/>
            <a:ext cx="38100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nchor="ctr">
            <a:spAutoFit/>
          </a:bodyPr>
          <a:lstStyle/>
          <a:p>
            <a:pPr>
              <a:defRPr/>
            </a:pPr>
            <a:endParaRPr lang="zh-CN" altLang="en-US" sz="1575">
              <a:ea typeface="+mn-ea"/>
            </a:endParaRPr>
          </a:p>
        </p:txBody>
      </p:sp>
      <p:graphicFrame>
        <p:nvGraphicFramePr>
          <p:cNvPr id="24" name="Group 21"/>
          <p:cNvGraphicFramePr>
            <a:graphicFrameLocks noGrp="1"/>
          </p:cNvGraphicFramePr>
          <p:nvPr/>
        </p:nvGraphicFramePr>
        <p:xfrm>
          <a:off x="1360488" y="2586038"/>
          <a:ext cx="1905000" cy="1622440"/>
        </p:xfrm>
        <a:graphic>
          <a:graphicData uri="http://schemas.openxmlformats.org/drawingml/2006/table">
            <a:tbl>
              <a:tblPr/>
              <a:tblGrid>
                <a:gridCol w="685800"/>
                <a:gridCol w="1219200"/>
              </a:tblGrid>
              <a:tr h="324485">
                <a:tc>
                  <a:txBody>
                    <a:body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1" i="0" u="none" strike="noStrike" cap="none" normalizeH="0" baseline="0" dirty="0" err="1">
                          <a:ln>
                            <a:noFill/>
                          </a:ln>
                          <a:solidFill>
                            <a:schemeClr val="bg1"/>
                          </a:solidFill>
                          <a:effectLst/>
                          <a:latin typeface="Arial" panose="020B0604020202020204" pitchFamily="34" charset="0"/>
                          <a:ea typeface="宋体" panose="02010600030101010101" pitchFamily="2" charset="-122"/>
                        </a:rPr>
                        <a:t>Tid</a:t>
                      </a:r>
                      <a:endParaRPr kumimoji="0" lang="en-US" altLang="zh-CN" sz="1700" b="1"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txBody>
                  <a:tcPr marT="45658" marB="4565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1" i="0" u="none" strike="noStrike" cap="none" normalizeH="0" baseline="0" dirty="0">
                          <a:ln>
                            <a:noFill/>
                          </a:ln>
                          <a:solidFill>
                            <a:schemeClr val="bg1"/>
                          </a:solidFill>
                          <a:effectLst/>
                          <a:latin typeface="Arial" panose="020B0604020202020204" pitchFamily="34" charset="0"/>
                          <a:ea typeface="宋体" panose="02010600030101010101" pitchFamily="2" charset="-122"/>
                        </a:rPr>
                        <a:t>Items</a:t>
                      </a:r>
                      <a:endParaRPr kumimoji="0" lang="en-US" altLang="zh-CN" sz="1700" b="1"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txBody>
                  <a:tcPr marT="45658" marB="4565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1"/>
                    </a:solidFill>
                  </a:tcPr>
                </a:tc>
              </a:tr>
              <a:tr h="324485">
                <a:tc>
                  <a:txBody>
                    <a:body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10</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8" marB="4565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A, C, D</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8" marB="4565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24485">
                <a:tc>
                  <a:txBody>
                    <a:body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20</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8" marB="4565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B, C, E</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8" marB="4565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24485">
                <a:tc>
                  <a:txBody>
                    <a:body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30</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8" marB="4565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A, B, C, E</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8" marB="4565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24485">
                <a:tc>
                  <a:txBody>
                    <a:body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40</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8" marB="4565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B, E</a:t>
                      </a:r>
                      <a:endParaRPr kumimoji="0" lang="en-US" altLang="zh-CN" sz="1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58" marB="4565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graphicFrame>
        <p:nvGraphicFramePr>
          <p:cNvPr id="25" name="Group 41"/>
          <p:cNvGraphicFramePr>
            <a:graphicFrameLocks noGrp="1"/>
          </p:cNvGraphicFramePr>
          <p:nvPr/>
        </p:nvGraphicFramePr>
        <p:xfrm>
          <a:off x="4910138" y="1782763"/>
          <a:ext cx="1752600" cy="1949448"/>
        </p:xfrm>
        <a:graphic>
          <a:graphicData uri="http://schemas.openxmlformats.org/drawingml/2006/table">
            <a:tbl>
              <a:tblPr/>
              <a:tblGrid>
                <a:gridCol w="1143000"/>
                <a:gridCol w="609600"/>
              </a:tblGrid>
              <a:tr h="324908">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1" i="0" u="none" strike="noStrike" cap="none" normalizeH="0" baseline="0" dirty="0" err="1">
                          <a:ln>
                            <a:noFill/>
                          </a:ln>
                          <a:solidFill>
                            <a:schemeClr val="bg1"/>
                          </a:solidFill>
                          <a:effectLst/>
                          <a:latin typeface="Arial" panose="020B0604020202020204" pitchFamily="34" charset="0"/>
                          <a:ea typeface="宋体" panose="02010600030101010101" pitchFamily="2" charset="-122"/>
                        </a:rPr>
                        <a:t>Itemset</a:t>
                      </a:r>
                      <a:endParaRPr kumimoji="0" lang="en-US" altLang="zh-CN" sz="1700" b="1"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txBody>
                  <a:tcPr marT="45761" marB="45761"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1" i="0" u="none" strike="noStrike" cap="none" normalizeH="0" baseline="0" dirty="0">
                          <a:ln>
                            <a:noFill/>
                          </a:ln>
                          <a:solidFill>
                            <a:schemeClr val="bg1"/>
                          </a:solidFill>
                          <a:effectLst/>
                          <a:latin typeface="Arial" panose="020B0604020202020204" pitchFamily="34" charset="0"/>
                          <a:ea typeface="宋体" panose="02010600030101010101" pitchFamily="2" charset="-122"/>
                        </a:rPr>
                        <a:t>sup</a:t>
                      </a:r>
                      <a:endParaRPr kumimoji="0" lang="en-US" altLang="zh-CN" sz="1700" b="1"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txBody>
                  <a:tcPr marT="45761" marB="45761"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r>
              <a:tr h="324908">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{A}</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61" marB="45761"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61" marB="45761"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24908">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{B}</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61" marB="45761"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3</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61" marB="45761"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24908">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{C}</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61" marB="45761"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3</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61" marB="45761"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24908">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{D}</a:t>
                      </a:r>
                      <a:endParaRPr kumimoji="0" lang="en-US" altLang="zh-CN" sz="1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61" marB="45761"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a:t>
                      </a:r>
                      <a:endParaRPr kumimoji="0" lang="en-US" altLang="zh-CN" sz="1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61" marB="45761"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24908">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{E}</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61" marB="45761"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3</a:t>
                      </a:r>
                      <a:endParaRPr kumimoji="0" lang="en-US" altLang="zh-CN" sz="1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61" marB="45761"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graphicFrame>
        <p:nvGraphicFramePr>
          <p:cNvPr id="26" name="Group 64"/>
          <p:cNvGraphicFramePr>
            <a:graphicFrameLocks noGrp="1"/>
          </p:cNvGraphicFramePr>
          <p:nvPr/>
        </p:nvGraphicFramePr>
        <p:xfrm>
          <a:off x="7424738" y="1935163"/>
          <a:ext cx="1752600" cy="1624010"/>
        </p:xfrm>
        <a:graphic>
          <a:graphicData uri="http://schemas.openxmlformats.org/drawingml/2006/table">
            <a:tbl>
              <a:tblPr/>
              <a:tblGrid>
                <a:gridCol w="1143000"/>
                <a:gridCol w="609600"/>
              </a:tblGrid>
              <a:tr h="324802">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1" i="0" u="none" strike="noStrike" cap="none" normalizeH="0" baseline="0" dirty="0" err="1">
                          <a:ln>
                            <a:noFill/>
                          </a:ln>
                          <a:solidFill>
                            <a:schemeClr val="bg1"/>
                          </a:solidFill>
                          <a:effectLst/>
                          <a:latin typeface="Arial" panose="020B0604020202020204" pitchFamily="34" charset="0"/>
                          <a:ea typeface="宋体" panose="02010600030101010101" pitchFamily="2" charset="-122"/>
                        </a:rPr>
                        <a:t>Itemset</a:t>
                      </a:r>
                      <a:endParaRPr kumimoji="0" lang="en-US" altLang="zh-CN" sz="1700" b="1"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txBody>
                  <a:tcPr marT="45704" marB="4570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1" i="0" u="none" strike="noStrike" cap="none" normalizeH="0" baseline="0" dirty="0">
                          <a:ln>
                            <a:noFill/>
                          </a:ln>
                          <a:solidFill>
                            <a:schemeClr val="bg1"/>
                          </a:solidFill>
                          <a:effectLst/>
                          <a:latin typeface="Arial" panose="020B0604020202020204" pitchFamily="34" charset="0"/>
                          <a:ea typeface="宋体" panose="02010600030101010101" pitchFamily="2" charset="-122"/>
                        </a:rPr>
                        <a:t>sup</a:t>
                      </a:r>
                      <a:endParaRPr kumimoji="0" lang="en-US" altLang="zh-CN" sz="1700" b="1"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txBody>
                  <a:tcPr marT="45704" marB="4570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r>
              <a:tr h="324802">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{A}</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4" marB="4570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4" marB="4570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24802">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{B}</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4" marB="4570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3</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4" marB="4570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24802">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{C}</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4" marB="4570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3</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4" marB="4570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24802">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{E}</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4" marB="4570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3</a:t>
                      </a:r>
                      <a:endParaRPr kumimoji="0" lang="en-US" altLang="zh-CN" sz="1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4" marB="4570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graphicFrame>
        <p:nvGraphicFramePr>
          <p:cNvPr id="27" name="Group 84"/>
          <p:cNvGraphicFramePr>
            <a:graphicFrameLocks noGrp="1"/>
          </p:cNvGraphicFramePr>
          <p:nvPr/>
        </p:nvGraphicFramePr>
        <p:xfrm>
          <a:off x="8034338" y="3904448"/>
          <a:ext cx="1143000" cy="2273299"/>
        </p:xfrm>
        <a:graphic>
          <a:graphicData uri="http://schemas.openxmlformats.org/drawingml/2006/table">
            <a:tbl>
              <a:tblPr/>
              <a:tblGrid>
                <a:gridCol w="1143000"/>
              </a:tblGrid>
              <a:tr h="324757">
                <a:tc>
                  <a:txBody>
                    <a:body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1" i="0" u="none" strike="noStrike" cap="none" normalizeH="0" baseline="0" dirty="0" err="1">
                          <a:ln>
                            <a:noFill/>
                          </a:ln>
                          <a:solidFill>
                            <a:schemeClr val="bg1"/>
                          </a:solidFill>
                          <a:effectLst/>
                          <a:latin typeface="Arial" panose="020B0604020202020204" pitchFamily="34" charset="0"/>
                          <a:ea typeface="宋体" panose="02010600030101010101" pitchFamily="2" charset="-122"/>
                        </a:rPr>
                        <a:t>Itemset</a:t>
                      </a:r>
                      <a:endParaRPr kumimoji="0" lang="en-US" altLang="zh-CN" sz="1700" b="1"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txBody>
                  <a:tcPr marT="45712" marB="4571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r>
              <a:tr h="324757">
                <a:tc>
                  <a:txBody>
                    <a:body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{A, B}</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24757">
                <a:tc>
                  <a:txBody>
                    <a:body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{A, C}</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24757">
                <a:tc>
                  <a:txBody>
                    <a:body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{A, E}</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24757">
                <a:tc>
                  <a:txBody>
                    <a:body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{B, C}</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24757">
                <a:tc>
                  <a:txBody>
                    <a:body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{B, E}</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24757">
                <a:tc>
                  <a:txBody>
                    <a:body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{C, E}</a:t>
                      </a:r>
                      <a:endParaRPr kumimoji="0" lang="en-US" altLang="zh-CN" sz="1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12" marB="45712"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graphicFrame>
        <p:nvGraphicFramePr>
          <p:cNvPr id="28" name="Group 102"/>
          <p:cNvGraphicFramePr>
            <a:graphicFrameLocks noGrp="1"/>
          </p:cNvGraphicFramePr>
          <p:nvPr/>
        </p:nvGraphicFramePr>
        <p:xfrm>
          <a:off x="4681538" y="3990975"/>
          <a:ext cx="1752600" cy="2093910"/>
        </p:xfrm>
        <a:graphic>
          <a:graphicData uri="http://schemas.openxmlformats.org/drawingml/2006/table">
            <a:tbl>
              <a:tblPr/>
              <a:tblGrid>
                <a:gridCol w="1143000"/>
                <a:gridCol w="609600"/>
              </a:tblGrid>
              <a:tr h="299130">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pPr>
                      <a:r>
                        <a:rPr kumimoji="0" lang="en-US" altLang="zh-CN" sz="1700" b="1" i="0" u="none" strike="noStrike" cap="none" normalizeH="0" baseline="0" dirty="0" err="1">
                          <a:ln>
                            <a:noFill/>
                          </a:ln>
                          <a:solidFill>
                            <a:schemeClr val="bg1"/>
                          </a:solidFill>
                          <a:effectLst/>
                          <a:latin typeface="Arial" panose="020B0604020202020204" pitchFamily="34" charset="0"/>
                          <a:ea typeface="宋体" panose="02010600030101010101" pitchFamily="2" charset="-122"/>
                        </a:rPr>
                        <a:t>Itemset</a:t>
                      </a:r>
                      <a:endParaRPr kumimoji="0" lang="en-US" altLang="zh-CN" sz="1700" b="1"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txBody>
                  <a:tcPr marT="45777" marB="4577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pPr>
                      <a:r>
                        <a:rPr kumimoji="0" lang="en-US" altLang="zh-CN" sz="1700" b="1" i="0" u="none" strike="noStrike" cap="none" normalizeH="0" baseline="0" dirty="0">
                          <a:ln>
                            <a:noFill/>
                          </a:ln>
                          <a:solidFill>
                            <a:schemeClr val="bg1"/>
                          </a:solidFill>
                          <a:effectLst/>
                          <a:latin typeface="Arial" panose="020B0604020202020204" pitchFamily="34" charset="0"/>
                          <a:ea typeface="宋体" panose="02010600030101010101" pitchFamily="2" charset="-122"/>
                        </a:rPr>
                        <a:t>sup</a:t>
                      </a:r>
                      <a:endParaRPr kumimoji="0" lang="en-US" altLang="zh-CN" sz="1700" b="1"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txBody>
                  <a:tcPr marT="45777" marB="4577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r>
              <a:tr h="299130">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pPr>
                      <a:r>
                        <a:rPr kumimoji="0" lang="en-US" altLang="zh-CN" sz="17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 B}</a:t>
                      </a:r>
                      <a:endParaRPr kumimoji="0" lang="en-US" altLang="zh-CN" sz="1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77" marB="4577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pPr>
                      <a:r>
                        <a:rPr kumimoji="0" lang="en-US" altLang="zh-CN" sz="17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a:t>
                      </a:r>
                      <a:endParaRPr kumimoji="0" lang="en-US" altLang="zh-CN" sz="1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77" marB="4577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299130">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{A, C}</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77" marB="4577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77" marB="4577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299130">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pPr>
                      <a:r>
                        <a:rPr kumimoji="0" lang="en-US" altLang="zh-CN" sz="17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 E}</a:t>
                      </a:r>
                      <a:endParaRPr kumimoji="0" lang="en-US" altLang="zh-CN" sz="1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77" marB="4577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pPr>
                      <a:r>
                        <a:rPr kumimoji="0" lang="en-US" altLang="zh-CN" sz="17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a:t>
                      </a:r>
                      <a:endParaRPr kumimoji="0" lang="en-US" altLang="zh-CN" sz="1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77" marB="4577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299130">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{B, C}</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77" marB="4577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77" marB="4577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299130">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{B, E}</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77" marB="4577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3</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77" marB="4577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299130">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{C, E}</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77" marB="4577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77" marB="45777"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graphicFrame>
        <p:nvGraphicFramePr>
          <p:cNvPr id="29" name="Group 128"/>
          <p:cNvGraphicFramePr>
            <a:graphicFrameLocks noGrp="1"/>
          </p:cNvGraphicFramePr>
          <p:nvPr/>
        </p:nvGraphicFramePr>
        <p:xfrm>
          <a:off x="2243138" y="4425950"/>
          <a:ext cx="1752600" cy="1493840"/>
        </p:xfrm>
        <a:graphic>
          <a:graphicData uri="http://schemas.openxmlformats.org/drawingml/2006/table">
            <a:tbl>
              <a:tblPr/>
              <a:tblGrid>
                <a:gridCol w="1143000"/>
                <a:gridCol w="609600"/>
              </a:tblGrid>
              <a:tr h="298768">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pPr>
                      <a:r>
                        <a:rPr kumimoji="0" lang="en-US" altLang="zh-CN" sz="1700" b="1" i="0" u="none" strike="noStrike" cap="none" normalizeH="0" baseline="0" dirty="0" err="1">
                          <a:ln>
                            <a:noFill/>
                          </a:ln>
                          <a:solidFill>
                            <a:schemeClr val="bg1"/>
                          </a:solidFill>
                          <a:effectLst/>
                          <a:latin typeface="Arial" panose="020B0604020202020204" pitchFamily="34" charset="0"/>
                          <a:ea typeface="宋体" panose="02010600030101010101" pitchFamily="2" charset="-122"/>
                        </a:rPr>
                        <a:t>Itemset</a:t>
                      </a:r>
                      <a:endParaRPr kumimoji="0" lang="en-US" altLang="zh-CN" sz="1700" b="1"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txBody>
                  <a:tcPr marT="45703" marB="4570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pPr>
                      <a:r>
                        <a:rPr kumimoji="0" lang="en-US" altLang="zh-CN" sz="1700" b="1" i="0" u="none" strike="noStrike" cap="none" normalizeH="0" baseline="0" dirty="0">
                          <a:ln>
                            <a:noFill/>
                          </a:ln>
                          <a:solidFill>
                            <a:schemeClr val="bg1"/>
                          </a:solidFill>
                          <a:effectLst/>
                          <a:latin typeface="Arial" panose="020B0604020202020204" pitchFamily="34" charset="0"/>
                          <a:ea typeface="宋体" panose="02010600030101010101" pitchFamily="2" charset="-122"/>
                        </a:rPr>
                        <a:t>sup</a:t>
                      </a:r>
                      <a:endParaRPr kumimoji="0" lang="en-US" altLang="zh-CN" sz="1700" b="1"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txBody>
                  <a:tcPr marT="45703" marB="4570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r>
              <a:tr h="298768">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{A, C}</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298768">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{B, C}</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298768">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{B, E}</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3</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298768">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{C, E}</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graphicFrame>
        <p:nvGraphicFramePr>
          <p:cNvPr id="30" name="Group 148"/>
          <p:cNvGraphicFramePr>
            <a:graphicFrameLocks noGrp="1"/>
          </p:cNvGraphicFramePr>
          <p:nvPr/>
        </p:nvGraphicFramePr>
        <p:xfrm>
          <a:off x="2241550" y="6343650"/>
          <a:ext cx="1143000" cy="671513"/>
        </p:xfrm>
        <a:graphic>
          <a:graphicData uri="http://schemas.openxmlformats.org/drawingml/2006/table">
            <a:tbl>
              <a:tblPr/>
              <a:tblGrid>
                <a:gridCol w="1143000"/>
              </a:tblGrid>
              <a:tr h="324454">
                <a:tc>
                  <a:txBody>
                    <a:body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1" i="0" u="none" strike="noStrike" cap="none" normalizeH="0" baseline="0" dirty="0" err="1">
                          <a:ln>
                            <a:noFill/>
                          </a:ln>
                          <a:solidFill>
                            <a:schemeClr val="bg1"/>
                          </a:solidFill>
                          <a:effectLst/>
                          <a:latin typeface="Arial" panose="020B0604020202020204" pitchFamily="34" charset="0"/>
                          <a:ea typeface="宋体" panose="02010600030101010101" pitchFamily="2" charset="-122"/>
                        </a:rPr>
                        <a:t>Itemset</a:t>
                      </a:r>
                      <a:endParaRPr kumimoji="0" lang="en-US" altLang="zh-CN" sz="1700" b="1"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txBody>
                  <a:tcPr marT="45641" marB="45641"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r>
              <a:tr h="347059">
                <a:tc>
                  <a:txBody>
                    <a:body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{B, C, E}</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41" marB="45641"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graphicFrame>
        <p:nvGraphicFramePr>
          <p:cNvPr id="31" name="Group 156"/>
          <p:cNvGraphicFramePr>
            <a:graphicFrameLocks noGrp="1"/>
          </p:cNvGraphicFramePr>
          <p:nvPr/>
        </p:nvGraphicFramePr>
        <p:xfrm>
          <a:off x="5171241" y="6418265"/>
          <a:ext cx="1752600" cy="600076"/>
        </p:xfrm>
        <a:graphic>
          <a:graphicData uri="http://schemas.openxmlformats.org/drawingml/2006/table">
            <a:tbl>
              <a:tblPr/>
              <a:tblGrid>
                <a:gridCol w="1143000"/>
                <a:gridCol w="609600"/>
              </a:tblGrid>
              <a:tr h="300038">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pPr>
                      <a:r>
                        <a:rPr kumimoji="0" lang="en-US" altLang="zh-CN" sz="1700" b="1" i="0" u="none" strike="noStrike" cap="none" normalizeH="0" baseline="0" dirty="0" err="1">
                          <a:ln>
                            <a:noFill/>
                          </a:ln>
                          <a:solidFill>
                            <a:schemeClr val="bg1"/>
                          </a:solidFill>
                          <a:effectLst/>
                          <a:latin typeface="Arial" panose="020B0604020202020204" pitchFamily="34" charset="0"/>
                          <a:ea typeface="宋体" panose="02010600030101010101" pitchFamily="2" charset="-122"/>
                        </a:rPr>
                        <a:t>Itemset</a:t>
                      </a:r>
                      <a:endParaRPr kumimoji="0" lang="en-US" altLang="zh-CN" sz="1700" b="1"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txBody>
                  <a:tcPr marT="45840" marB="4584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pPr>
                      <a:r>
                        <a:rPr kumimoji="0" lang="en-US" altLang="zh-CN" sz="1700" b="1" i="0" u="none" strike="noStrike" cap="none" normalizeH="0" baseline="0" dirty="0">
                          <a:ln>
                            <a:noFill/>
                          </a:ln>
                          <a:solidFill>
                            <a:schemeClr val="bg1"/>
                          </a:solidFill>
                          <a:effectLst/>
                          <a:latin typeface="Arial" panose="020B0604020202020204" pitchFamily="34" charset="0"/>
                          <a:ea typeface="宋体" panose="02010600030101010101" pitchFamily="2" charset="-122"/>
                        </a:rPr>
                        <a:t>sup</a:t>
                      </a:r>
                      <a:endParaRPr kumimoji="0" lang="en-US" altLang="zh-CN" sz="1700" b="1"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txBody>
                  <a:tcPr marT="45840" marB="4584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r>
              <a:tr h="300038">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{B, C, E}</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840" marB="4584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pPr>
                      <a:r>
                        <a:rPr kumimoji="0" lang="en-US" altLang="zh-CN" sz="17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2</a:t>
                      </a:r>
                      <a:endParaRPr kumimoji="0" lang="en-US" altLang="zh-CN" sz="1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840" marB="4584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2" name="矩形 1"/>
          <p:cNvSpPr/>
          <p:nvPr/>
        </p:nvSpPr>
        <p:spPr>
          <a:xfrm>
            <a:off x="1449388" y="1706563"/>
            <a:ext cx="1582737" cy="460375"/>
          </a:xfrm>
          <a:prstGeom prst="rect">
            <a:avLst/>
          </a:prstGeom>
        </p:spPr>
        <p:txBody>
          <a:bodyPr wrap="none">
            <a:spAutoFit/>
          </a:bodyPr>
          <a:lstStyle/>
          <a:p>
            <a:pPr defTabSz="1083945">
              <a:defRPr/>
            </a:pPr>
            <a:r>
              <a:rPr lang="en-US" altLang="zh-CN" sz="2400" dirty="0" err="1">
                <a:solidFill>
                  <a:srgbClr val="FF0000"/>
                </a:solidFill>
                <a:latin typeface="+mn-ea"/>
                <a:ea typeface="+mn-ea"/>
              </a:rPr>
              <a:t>min_sup</a:t>
            </a:r>
            <a:r>
              <a:rPr lang="en-US" altLang="zh-CN" sz="2400" dirty="0">
                <a:solidFill>
                  <a:srgbClr val="FF0000"/>
                </a:solidFill>
                <a:latin typeface="+mn-ea"/>
                <a:ea typeface="+mn-ea"/>
              </a:rPr>
              <a:t>=2</a:t>
            </a:r>
            <a:endParaRPr lang="zh-CN" altLang="en-US" sz="2400" dirty="0">
              <a:solidFill>
                <a:srgbClr val="FF0000"/>
              </a:solidFill>
              <a:latin typeface="+mn-ea"/>
              <a:ea typeface="+mn-ea"/>
            </a:endParaRPr>
          </a:p>
        </p:txBody>
      </p:sp>
      <p:sp>
        <p:nvSpPr>
          <p:cNvPr id="3" name="矩形 2"/>
          <p:cNvSpPr/>
          <p:nvPr/>
        </p:nvSpPr>
        <p:spPr>
          <a:xfrm>
            <a:off x="4910138" y="3074988"/>
            <a:ext cx="1752600" cy="323850"/>
          </a:xfrm>
          <a:prstGeom prst="rect">
            <a:avLst/>
          </a:prstGeom>
          <a:solidFill>
            <a:schemeClr val="tx2">
              <a:lumMod val="60000"/>
              <a:lumOff val="40000"/>
              <a:alpha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45" name="组合 44"/>
          <p:cNvGrpSpPr/>
          <p:nvPr/>
        </p:nvGrpSpPr>
        <p:grpSpPr bwMode="auto">
          <a:xfrm>
            <a:off x="9177338" y="2833689"/>
            <a:ext cx="946150" cy="2207408"/>
            <a:chOff x="9178130" y="2833836"/>
            <a:chExt cx="946152" cy="2207280"/>
          </a:xfrm>
        </p:grpSpPr>
        <p:cxnSp>
          <p:nvCxnSpPr>
            <p:cNvPr id="42" name="直接连接符 41"/>
            <p:cNvCxnSpPr/>
            <p:nvPr/>
          </p:nvCxnSpPr>
          <p:spPr>
            <a:xfrm>
              <a:off x="9178130" y="2833836"/>
              <a:ext cx="94615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肘形连接符 43"/>
            <p:cNvCxnSpPr>
              <a:endCxn id="27" idx="3"/>
            </p:cNvCxnSpPr>
            <p:nvPr/>
          </p:nvCxnSpPr>
          <p:spPr>
            <a:xfrm rot="5400000">
              <a:off x="8547566" y="3464400"/>
              <a:ext cx="2207280" cy="946152"/>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7" name="矩形 46"/>
          <p:cNvSpPr/>
          <p:nvPr/>
        </p:nvSpPr>
        <p:spPr>
          <a:xfrm>
            <a:off x="4681538" y="4278313"/>
            <a:ext cx="1752600" cy="295275"/>
          </a:xfrm>
          <a:prstGeom prst="rect">
            <a:avLst/>
          </a:prstGeom>
          <a:solidFill>
            <a:schemeClr val="tx2">
              <a:lumMod val="60000"/>
              <a:lumOff val="40000"/>
              <a:alpha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8" name="矩形 47"/>
          <p:cNvSpPr/>
          <p:nvPr/>
        </p:nvSpPr>
        <p:spPr>
          <a:xfrm>
            <a:off x="4672013" y="4905375"/>
            <a:ext cx="1752600" cy="293688"/>
          </a:xfrm>
          <a:prstGeom prst="rect">
            <a:avLst/>
          </a:prstGeom>
          <a:solidFill>
            <a:schemeClr val="tx2">
              <a:lumMod val="60000"/>
              <a:lumOff val="40000"/>
              <a:alpha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52" name="组合 51"/>
          <p:cNvGrpSpPr/>
          <p:nvPr/>
        </p:nvGrpSpPr>
        <p:grpSpPr bwMode="auto">
          <a:xfrm>
            <a:off x="1449388" y="5172868"/>
            <a:ext cx="793750" cy="1507330"/>
            <a:chOff x="1448712" y="5171724"/>
            <a:chExt cx="795219" cy="1508469"/>
          </a:xfrm>
        </p:grpSpPr>
        <p:cxnSp>
          <p:nvCxnSpPr>
            <p:cNvPr id="49" name="直接连接符 48"/>
            <p:cNvCxnSpPr>
              <a:endCxn id="29" idx="1"/>
            </p:cNvCxnSpPr>
            <p:nvPr/>
          </p:nvCxnSpPr>
          <p:spPr>
            <a:xfrm flipV="1">
              <a:off x="1448712" y="5171724"/>
              <a:ext cx="795219" cy="7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肘形连接符 50"/>
            <p:cNvCxnSpPr>
              <a:endCxn id="30" idx="1"/>
            </p:cNvCxnSpPr>
            <p:nvPr/>
          </p:nvCxnSpPr>
          <p:spPr>
            <a:xfrm rot="16200000" flipH="1">
              <a:off x="1104398" y="5543840"/>
              <a:ext cx="1480668" cy="792038"/>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5" name="Text Box 15"/>
          <p:cNvSpPr txBox="1">
            <a:spLocks noChangeArrowheads="1"/>
          </p:cNvSpPr>
          <p:nvPr/>
        </p:nvSpPr>
        <p:spPr bwMode="auto">
          <a:xfrm>
            <a:off x="4716414" y="6190388"/>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a:r>
              <a:rPr lang="en-US" altLang="zh-CN" sz="2400" b="0" i="1" dirty="0">
                <a:solidFill>
                  <a:srgbClr val="000000"/>
                </a:solidFill>
                <a:latin typeface="Times New Roman" panose="02020603050405020304" pitchFamily="18" charset="0"/>
              </a:rPr>
              <a:t>C</a:t>
            </a:r>
            <a:r>
              <a:rPr lang="en-US" altLang="zh-CN" sz="2400" b="0" i="1" baseline="-25000" dirty="0">
                <a:solidFill>
                  <a:srgbClr val="000000"/>
                </a:solidFill>
                <a:latin typeface="Times New Roman" panose="02020603050405020304" pitchFamily="18" charset="0"/>
              </a:rPr>
              <a:t>3</a:t>
            </a:r>
            <a:endParaRPr lang="en-US" altLang="zh-CN" sz="2400" b="0" i="1" baseline="-25000" dirty="0">
              <a:solidFill>
                <a:srgbClr val="000000"/>
              </a:solidFill>
              <a:latin typeface="Times New Roman" panose="02020603050405020304" pitchFamily="18" charset="0"/>
            </a:endParaRPr>
          </a:p>
        </p:txBody>
      </p:sp>
      <p:sp>
        <p:nvSpPr>
          <p:cNvPr id="16" name="Line 19"/>
          <p:cNvSpPr>
            <a:spLocks noChangeShapeType="1"/>
          </p:cNvSpPr>
          <p:nvPr/>
        </p:nvSpPr>
        <p:spPr bwMode="auto">
          <a:xfrm>
            <a:off x="7005638" y="6695069"/>
            <a:ext cx="52705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nchor="ctr">
            <a:spAutoFit/>
          </a:bodyPr>
          <a:lstStyle/>
          <a:p>
            <a:pPr>
              <a:defRPr/>
            </a:pPr>
            <a:endParaRPr lang="zh-CN" altLang="en-US" sz="1575">
              <a:ea typeface="+mn-ea"/>
            </a:endParaRPr>
          </a:p>
        </p:txBody>
      </p:sp>
      <p:graphicFrame>
        <p:nvGraphicFramePr>
          <p:cNvPr id="21" name="Group 156"/>
          <p:cNvGraphicFramePr>
            <a:graphicFrameLocks noGrp="1"/>
          </p:cNvGraphicFramePr>
          <p:nvPr/>
        </p:nvGraphicFramePr>
        <p:xfrm>
          <a:off x="7897813" y="6418263"/>
          <a:ext cx="1752600" cy="600076"/>
        </p:xfrm>
        <a:graphic>
          <a:graphicData uri="http://schemas.openxmlformats.org/drawingml/2006/table">
            <a:tbl>
              <a:tblPr/>
              <a:tblGrid>
                <a:gridCol w="1143000"/>
                <a:gridCol w="609600"/>
              </a:tblGrid>
              <a:tr h="300038">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pPr>
                      <a:r>
                        <a:rPr kumimoji="0" lang="en-US" altLang="zh-CN" sz="1700" b="1" i="0" u="none" strike="noStrike" cap="none" normalizeH="0" baseline="0" dirty="0" err="1">
                          <a:ln>
                            <a:noFill/>
                          </a:ln>
                          <a:solidFill>
                            <a:schemeClr val="bg1"/>
                          </a:solidFill>
                          <a:effectLst/>
                          <a:latin typeface="Arial" panose="020B0604020202020204" pitchFamily="34" charset="0"/>
                          <a:ea typeface="宋体" panose="02010600030101010101" pitchFamily="2" charset="-122"/>
                        </a:rPr>
                        <a:t>Itemset</a:t>
                      </a:r>
                      <a:endParaRPr kumimoji="0" lang="en-US" altLang="zh-CN" sz="1700" b="1"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txBody>
                  <a:tcPr marT="45840" marB="4584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pPr>
                      <a:r>
                        <a:rPr kumimoji="0" lang="en-US" altLang="zh-CN" sz="1700" b="1" i="0" u="none" strike="noStrike" cap="none" normalizeH="0" baseline="0" dirty="0">
                          <a:ln>
                            <a:noFill/>
                          </a:ln>
                          <a:solidFill>
                            <a:schemeClr val="bg1"/>
                          </a:solidFill>
                          <a:effectLst/>
                          <a:latin typeface="Arial" panose="020B0604020202020204" pitchFamily="34" charset="0"/>
                          <a:ea typeface="宋体" panose="02010600030101010101" pitchFamily="2" charset="-122"/>
                        </a:rPr>
                        <a:t>sup</a:t>
                      </a:r>
                      <a:endParaRPr kumimoji="0" lang="en-US" altLang="zh-CN" sz="1700" b="1"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txBody>
                  <a:tcPr marT="45840" marB="4584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2"/>
                    </a:solidFill>
                  </a:tcPr>
                </a:tc>
              </a:tr>
              <a:tr h="300038">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{B, C, E}</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840" marB="4584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ts val="700"/>
                        </a:spcBef>
                        <a:buClr>
                          <a:schemeClr val="accent2"/>
                        </a:buClr>
                        <a:buSzPct val="60000"/>
                        <a:buFont typeface="Wingdings" panose="05000000000000000000" pitchFamily="2" charset="2"/>
                        <a:defRPr sz="2500">
                          <a:solidFill>
                            <a:schemeClr val="tx1"/>
                          </a:solidFill>
                          <a:latin typeface="Tw Cen MT" panose="020B0602020104020603" pitchFamily="34" charset="0"/>
                          <a:ea typeface="华文仿宋" panose="02010600040101010101" pitchFamily="2" charset="-122"/>
                        </a:defRPr>
                      </a:lvl1pPr>
                      <a:lvl2pPr marL="742950" indent="-285750" eaLnBrk="0" hangingPunct="0">
                        <a:spcBef>
                          <a:spcPts val="550"/>
                        </a:spcBef>
                        <a:buClr>
                          <a:schemeClr val="accent1"/>
                        </a:buClr>
                        <a:buSzPct val="70000"/>
                        <a:buFont typeface="Wingdings 2" panose="05020102010507070707" pitchFamily="18" charset="2"/>
                        <a:defRPr sz="2200">
                          <a:solidFill>
                            <a:schemeClr val="tx1"/>
                          </a:solidFill>
                          <a:latin typeface="Tw Cen MT" panose="020B0602020104020603" pitchFamily="34" charset="0"/>
                          <a:ea typeface="华文仿宋" panose="02010600040101010101" pitchFamily="2" charset="-122"/>
                        </a:defRPr>
                      </a:lvl2pPr>
                      <a:lvl3pPr marL="1143000" indent="-228600" eaLnBrk="0" hangingPunct="0">
                        <a:spcBef>
                          <a:spcPts val="500"/>
                        </a:spcBef>
                        <a:buClr>
                          <a:schemeClr val="accent2"/>
                        </a:buClr>
                        <a:buSzPct val="75000"/>
                        <a:buFont typeface="Wingdings" panose="05000000000000000000" pitchFamily="2" charset="2"/>
                        <a:defRPr sz="2100">
                          <a:solidFill>
                            <a:schemeClr val="tx1"/>
                          </a:solidFill>
                          <a:latin typeface="Tw Cen MT" panose="020B0602020104020603" pitchFamily="34" charset="0"/>
                          <a:ea typeface="华文仿宋" panose="02010600040101010101" pitchFamily="2" charset="-122"/>
                        </a:defRPr>
                      </a:lvl3pPr>
                      <a:lvl4pPr marL="1600200" indent="-228600" eaLnBrk="0" hangingPunct="0">
                        <a:spcBef>
                          <a:spcPts val="400"/>
                        </a:spcBef>
                        <a:buClr>
                          <a:srgbClr val="A5AB81"/>
                        </a:buClr>
                        <a:buSzPct val="7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4pPr>
                      <a:lvl5pPr marL="2057400" indent="-228600" eaLnBrk="0" hangingPunct="0">
                        <a:spcBef>
                          <a:spcPts val="400"/>
                        </a:spcBef>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defRPr>
                          <a:solidFill>
                            <a:schemeClr val="tx1"/>
                          </a:solidFill>
                          <a:latin typeface="Tw Cen MT" panose="020B0602020104020603" pitchFamily="34" charset="0"/>
                          <a:ea typeface="华文仿宋" panose="02010600040101010101" pitchFamily="2" charset="-122"/>
                        </a:defRPr>
                      </a:lvl9pPr>
                    </a:lstStyle>
                    <a:p>
                      <a:pPr marL="0" marR="0" lvl="0" indent="0" algn="ctr" defTabSz="914400" rtl="0" eaLnBrk="1" fontAlgn="base" latinLnBrk="0" hangingPunct="1">
                        <a:lnSpc>
                          <a:spcPct val="80000"/>
                        </a:lnSpc>
                        <a:spcBef>
                          <a:spcPct val="0"/>
                        </a:spcBef>
                        <a:spcAft>
                          <a:spcPct val="0"/>
                        </a:spcAft>
                        <a:buClrTx/>
                        <a:buSzTx/>
                        <a:buFontTx/>
                        <a:buNone/>
                      </a:pPr>
                      <a:r>
                        <a:rPr kumimoji="0" lang="en-US" altLang="zh-CN" sz="17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2</a:t>
                      </a:r>
                      <a:endParaRPr kumimoji="0" lang="en-US" altLang="zh-CN" sz="1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840" marB="45840"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23"/>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1"/>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5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8"/>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30"/>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31"/>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7"/>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20"/>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5"/>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21"/>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6"/>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10" grpId="0"/>
      <p:bldP spid="11" grpId="0"/>
      <p:bldP spid="12" grpId="0"/>
      <p:bldP spid="13" grpId="0"/>
      <p:bldP spid="15" grpId="0"/>
      <p:bldP spid="18" grpId="0"/>
      <p:bldP spid="19" grpId="0"/>
      <p:bldP spid="20" grpId="0"/>
      <p:bldP spid="2" grpId="0"/>
      <p:bldP spid="3" grpId="0" animBg="1"/>
      <p:bldP spid="47" grpId="0" animBg="1"/>
      <p:bldP spid="48" grpId="0" animBg="1"/>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a:t>
            </a:r>
            <a:r>
              <a:rPr lang="en-US" altLang="zh-CN" sz="4400" dirty="0">
                <a:latin typeface="楷体" panose="02010609060101010101" pitchFamily="49" charset="-122"/>
                <a:ea typeface="楷体" panose="02010609060101010101" pitchFamily="49" charset="-122"/>
              </a:rPr>
              <a:t>6.2 </a:t>
            </a:r>
            <a:r>
              <a:rPr lang="zh-CN" altLang="en-US" sz="4400" dirty="0">
                <a:latin typeface="楷体" panose="02010609060101010101" pitchFamily="49" charset="-122"/>
                <a:ea typeface="楷体" panose="02010609060101010101" pitchFamily="49" charset="-122"/>
              </a:rPr>
              <a:t>频繁项集挖掘方法</a:t>
            </a:r>
            <a:endParaRPr lang="zh-CN" altLang="en-US" sz="4400" dirty="0">
              <a:latin typeface="楷体" panose="02010609060101010101" pitchFamily="49" charset="-122"/>
              <a:ea typeface="楷体" panose="02010609060101010101" pitchFamily="49" charset="-122"/>
            </a:endParaRPr>
          </a:p>
        </p:txBody>
      </p:sp>
      <p:sp>
        <p:nvSpPr>
          <p:cNvPr id="4" name="Rectangle 3"/>
          <p:cNvSpPr>
            <a:spLocks noGrp="1" noChangeArrowheads="1"/>
          </p:cNvSpPr>
          <p:nvPr>
            <p:ph idx="1"/>
          </p:nvPr>
        </p:nvSpPr>
        <p:spPr>
          <a:xfrm>
            <a:off x="522288" y="1160463"/>
            <a:ext cx="9906000" cy="1250950"/>
          </a:xfrm>
        </p:spPr>
        <p:txBody>
          <a:bodyPr/>
          <a:lstStyle/>
          <a:p>
            <a:pPr marL="0" indent="0" defTabSz="868680" eaLnBrk="1" hangingPunct="1">
              <a:buFont typeface="Arial" panose="020B0604020202020204" pitchFamily="34" charset="0"/>
              <a:buNone/>
              <a:defRPr/>
            </a:pPr>
            <a:r>
              <a:rPr lang="en-US" altLang="zh-CN" sz="2400" b="1" dirty="0">
                <a:solidFill>
                  <a:srgbClr val="0000FF"/>
                </a:solidFill>
                <a:latin typeface="+mn-ea"/>
                <a:ea typeface="+mn-ea"/>
              </a:rPr>
              <a:t>1</a:t>
            </a:r>
            <a:r>
              <a:rPr lang="zh-CN" altLang="en-US" sz="2400" b="1" dirty="0">
                <a:solidFill>
                  <a:srgbClr val="0000FF"/>
                </a:solidFill>
                <a:latin typeface="+mn-ea"/>
                <a:ea typeface="+mn-ea"/>
              </a:rPr>
              <a:t>、</a:t>
            </a:r>
            <a:r>
              <a:rPr lang="en-US" altLang="zh-CN" sz="2400" b="1" dirty="0" err="1">
                <a:solidFill>
                  <a:srgbClr val="0000FF"/>
                </a:solidFill>
                <a:latin typeface="+mn-ea"/>
                <a:ea typeface="+mn-ea"/>
              </a:rPr>
              <a:t>Apriori</a:t>
            </a:r>
            <a:r>
              <a:rPr lang="zh-CN" altLang="en-US" sz="2400" b="1" dirty="0">
                <a:solidFill>
                  <a:srgbClr val="0000FF"/>
                </a:solidFill>
                <a:latin typeface="+mn-ea"/>
                <a:ea typeface="+mn-ea"/>
              </a:rPr>
              <a:t>算法：通过限制候选产生发现频繁项集</a:t>
            </a:r>
            <a:endParaRPr lang="en-US" altLang="zh-CN" sz="2400" b="1" dirty="0">
              <a:solidFill>
                <a:srgbClr val="0000FF"/>
              </a:solidFill>
              <a:latin typeface="+mn-ea"/>
              <a:ea typeface="+mn-ea"/>
            </a:endParaRPr>
          </a:p>
          <a:p>
            <a:pPr marL="0" indent="0" defTabSz="868680" eaLnBrk="1" hangingPunct="1">
              <a:buFont typeface="Arial" panose="020B0604020202020204" pitchFamily="34" charset="0"/>
              <a:buNone/>
              <a:defRPr/>
            </a:pPr>
            <a:r>
              <a:rPr lang="en-US" altLang="zh-CN" sz="2400" dirty="0" err="1">
                <a:latin typeface="+mn-ea"/>
                <a:ea typeface="+mn-ea"/>
              </a:rPr>
              <a:t>Apriori</a:t>
            </a:r>
            <a:r>
              <a:rPr lang="zh-CN" altLang="en-US" sz="2400" dirty="0">
                <a:latin typeface="+mn-ea"/>
                <a:ea typeface="+mn-ea"/>
              </a:rPr>
              <a:t>算法的伪代码：</a:t>
            </a:r>
            <a:endParaRPr lang="en-US" altLang="zh-CN" sz="2400" dirty="0">
              <a:latin typeface="+mn-ea"/>
              <a:ea typeface="+mn-ea"/>
            </a:endParaRPr>
          </a:p>
        </p:txBody>
      </p:sp>
      <p:pic>
        <p:nvPicPr>
          <p:cNvPr id="36868" name="图片 3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99088" y="5045075"/>
            <a:ext cx="5334000" cy="115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6869" name="组合 34"/>
          <p:cNvGrpSpPr/>
          <p:nvPr/>
        </p:nvGrpSpPr>
        <p:grpSpPr bwMode="auto">
          <a:xfrm>
            <a:off x="249238" y="2760663"/>
            <a:ext cx="5867400" cy="3232150"/>
            <a:chOff x="1300321" y="1804049"/>
            <a:chExt cx="5867400" cy="3232391"/>
          </a:xfrm>
        </p:grpSpPr>
        <p:pic>
          <p:nvPicPr>
            <p:cNvPr id="36875" name="图片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0321" y="1804049"/>
              <a:ext cx="5867400" cy="2125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6" name="图片 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4641" y="3884059"/>
              <a:ext cx="2476190" cy="1152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6870" name="图片 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41938" y="2760663"/>
            <a:ext cx="5370512" cy="196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左大括号 35"/>
          <p:cNvSpPr/>
          <p:nvPr/>
        </p:nvSpPr>
        <p:spPr>
          <a:xfrm>
            <a:off x="5246688" y="3057525"/>
            <a:ext cx="152400" cy="703263"/>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solidFill>
                <a:srgbClr val="FF0000"/>
              </a:solidFill>
            </a:endParaRPr>
          </a:p>
        </p:txBody>
      </p:sp>
      <p:sp>
        <p:nvSpPr>
          <p:cNvPr id="37" name="矩形 36"/>
          <p:cNvSpPr/>
          <p:nvPr/>
        </p:nvSpPr>
        <p:spPr>
          <a:xfrm>
            <a:off x="4546600" y="3176588"/>
            <a:ext cx="700088" cy="400050"/>
          </a:xfrm>
          <a:prstGeom prst="rect">
            <a:avLst/>
          </a:prstGeom>
        </p:spPr>
        <p:txBody>
          <a:bodyPr wrap="none">
            <a:spAutoFit/>
          </a:bodyPr>
          <a:lstStyle/>
          <a:p>
            <a:pPr defTabSz="1083945">
              <a:defRPr/>
            </a:pPr>
            <a:r>
              <a:rPr lang="zh-CN" altLang="en-US" sz="2000" dirty="0">
                <a:solidFill>
                  <a:srgbClr val="FF0000"/>
                </a:solidFill>
                <a:latin typeface="+mn-ea"/>
                <a:ea typeface="+mn-ea"/>
              </a:rPr>
              <a:t>连接</a:t>
            </a:r>
            <a:endParaRPr lang="zh-CN" altLang="en-US" sz="2000" dirty="0">
              <a:solidFill>
                <a:srgbClr val="FF0000"/>
              </a:solidFill>
              <a:latin typeface="+mn-ea"/>
              <a:ea typeface="+mn-ea"/>
            </a:endParaRPr>
          </a:p>
        </p:txBody>
      </p:sp>
      <p:sp>
        <p:nvSpPr>
          <p:cNvPr id="50" name="左大括号 49"/>
          <p:cNvSpPr/>
          <p:nvPr/>
        </p:nvSpPr>
        <p:spPr>
          <a:xfrm>
            <a:off x="5260975" y="3805238"/>
            <a:ext cx="125413" cy="519112"/>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solidFill>
                <a:srgbClr val="FF0000"/>
              </a:solidFill>
            </a:endParaRPr>
          </a:p>
        </p:txBody>
      </p:sp>
      <p:sp>
        <p:nvSpPr>
          <p:cNvPr id="53" name="矩形 52"/>
          <p:cNvSpPr/>
          <p:nvPr/>
        </p:nvSpPr>
        <p:spPr>
          <a:xfrm>
            <a:off x="4546600" y="3865563"/>
            <a:ext cx="700088" cy="400050"/>
          </a:xfrm>
          <a:prstGeom prst="rect">
            <a:avLst/>
          </a:prstGeom>
        </p:spPr>
        <p:txBody>
          <a:bodyPr wrap="none">
            <a:spAutoFit/>
          </a:bodyPr>
          <a:lstStyle/>
          <a:p>
            <a:pPr defTabSz="1083945">
              <a:defRPr/>
            </a:pPr>
            <a:r>
              <a:rPr lang="zh-CN" altLang="en-US" sz="2000" dirty="0">
                <a:solidFill>
                  <a:srgbClr val="FF0000"/>
                </a:solidFill>
                <a:latin typeface="+mn-ea"/>
                <a:ea typeface="+mn-ea"/>
              </a:rPr>
              <a:t>剪枝</a:t>
            </a:r>
            <a:endParaRPr lang="zh-CN" altLang="en-US" sz="2000" dirty="0">
              <a:solidFill>
                <a:srgbClr val="FF0000"/>
              </a:solidFill>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p:bldP spid="50" grpId="0" animBg="1"/>
      <p:bldP spid="5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a:t>
            </a:r>
            <a:r>
              <a:rPr lang="en-US" altLang="zh-CN" sz="4400" dirty="0">
                <a:latin typeface="楷体" panose="02010609060101010101" pitchFamily="49" charset="-122"/>
                <a:ea typeface="楷体" panose="02010609060101010101" pitchFamily="49" charset="-122"/>
              </a:rPr>
              <a:t>6.2 </a:t>
            </a:r>
            <a:r>
              <a:rPr lang="zh-CN" altLang="en-US" sz="4400" dirty="0">
                <a:latin typeface="楷体" panose="02010609060101010101" pitchFamily="49" charset="-122"/>
                <a:ea typeface="楷体" panose="02010609060101010101" pitchFamily="49" charset="-122"/>
              </a:rPr>
              <a:t>频繁项集挖掘方法</a:t>
            </a:r>
            <a:endParaRPr lang="zh-CN" altLang="en-US" sz="4400" dirty="0">
              <a:latin typeface="楷体" panose="02010609060101010101" pitchFamily="49" charset="-122"/>
              <a:ea typeface="楷体" panose="02010609060101010101" pitchFamily="49" charset="-122"/>
            </a:endParaRPr>
          </a:p>
        </p:txBody>
      </p:sp>
      <p:sp>
        <p:nvSpPr>
          <p:cNvPr id="4" name="Rectangle 3"/>
          <p:cNvSpPr>
            <a:spLocks noGrp="1" noChangeArrowheads="1"/>
          </p:cNvSpPr>
          <p:nvPr>
            <p:ph idx="1"/>
          </p:nvPr>
        </p:nvSpPr>
        <p:spPr>
          <a:xfrm>
            <a:off x="522288" y="1160463"/>
            <a:ext cx="9906000" cy="1250950"/>
          </a:xfrm>
        </p:spPr>
        <p:txBody>
          <a:bodyPr/>
          <a:lstStyle/>
          <a:p>
            <a:pPr marL="0" indent="0" defTabSz="868680" eaLnBrk="1" hangingPunct="1">
              <a:buFont typeface="Arial" panose="020B0604020202020204" pitchFamily="34" charset="0"/>
              <a:buNone/>
              <a:defRPr/>
            </a:pPr>
            <a:r>
              <a:rPr lang="en-US" altLang="zh-CN" sz="2400" b="1" dirty="0">
                <a:solidFill>
                  <a:srgbClr val="0000FF"/>
                </a:solidFill>
                <a:latin typeface="+mn-ea"/>
                <a:ea typeface="+mn-ea"/>
              </a:rPr>
              <a:t>2</a:t>
            </a:r>
            <a:r>
              <a:rPr lang="zh-CN" altLang="en-US" sz="2400" b="1" dirty="0">
                <a:solidFill>
                  <a:srgbClr val="0000FF"/>
                </a:solidFill>
                <a:latin typeface="+mn-ea"/>
                <a:ea typeface="+mn-ea"/>
              </a:rPr>
              <a:t>、由频繁项集产生关联规则</a:t>
            </a:r>
            <a:endParaRPr lang="en-US" altLang="zh-CN" sz="2400" b="1" dirty="0">
              <a:solidFill>
                <a:srgbClr val="0000FF"/>
              </a:solidFill>
              <a:latin typeface="+mn-ea"/>
              <a:ea typeface="+mn-ea"/>
            </a:endParaRPr>
          </a:p>
        </p:txBody>
      </p:sp>
      <mc:AlternateContent xmlns:mc="http://schemas.openxmlformats.org/markup-compatibility/2006">
        <mc:Choice xmlns:a14="http://schemas.microsoft.com/office/drawing/2010/main" Requires="a14">
          <p:sp>
            <p:nvSpPr>
              <p:cNvPr id="13" name="Rectangle 3"/>
              <p:cNvSpPr txBox="1">
                <a:spLocks noChangeArrowheads="1"/>
              </p:cNvSpPr>
              <p:nvPr/>
            </p:nvSpPr>
            <p:spPr bwMode="auto">
              <a:xfrm>
                <a:off x="828002" y="3142468"/>
                <a:ext cx="8762770" cy="2819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2789" tIns="51393" rIns="102789" bIns="51393" numCol="1" anchor="t" anchorCtr="0" compatLnSpc="1"/>
              <a:lstStyle>
                <a:lvl1pPr marL="323850" indent="-323850" algn="l" defTabSz="868680" rtl="0" eaLnBrk="0" fontAlgn="base" hangingPunct="0">
                  <a:lnSpc>
                    <a:spcPct val="150000"/>
                  </a:lnSpc>
                  <a:spcBef>
                    <a:spcPts val="0"/>
                  </a:spcBef>
                  <a:spcAft>
                    <a:spcPct val="0"/>
                  </a:spcAft>
                  <a:buFont typeface="Arial" panose="020B0604020202020204" pitchFamily="34" charset="0"/>
                  <a:buChar char="•"/>
                  <a:defRPr sz="3000" kern="1200">
                    <a:solidFill>
                      <a:schemeClr val="tx1"/>
                    </a:solidFill>
                    <a:latin typeface="+mn-lt"/>
                    <a:ea typeface="PMingLiU" panose="02020500000000000000" pitchFamily="18" charset="-120"/>
                    <a:cs typeface="+mn-cs"/>
                  </a:defRPr>
                </a:lvl1pPr>
                <a:lvl2pPr marL="706755" indent="-271780" algn="l" defTabSz="868680" rtl="0" eaLnBrk="0" fontAlgn="base" hangingPunct="0">
                  <a:lnSpc>
                    <a:spcPct val="150000"/>
                  </a:lnSpc>
                  <a:spcBef>
                    <a:spcPts val="0"/>
                  </a:spcBef>
                  <a:spcAft>
                    <a:spcPct val="0"/>
                  </a:spcAft>
                  <a:buFont typeface="Arial" panose="020B0604020202020204" pitchFamily="34" charset="0"/>
                  <a:buChar char="–"/>
                  <a:defRPr sz="2700" kern="1200">
                    <a:solidFill>
                      <a:schemeClr val="tx1"/>
                    </a:solidFill>
                    <a:latin typeface="+mn-lt"/>
                    <a:ea typeface="PMingLiU" panose="02020500000000000000" pitchFamily="18" charset="-120"/>
                    <a:cs typeface="+mn-cs"/>
                  </a:defRPr>
                </a:lvl2pPr>
                <a:lvl3pPr marL="1085850" indent="-215900" algn="l" defTabSz="868680" rtl="0" eaLnBrk="0" fontAlgn="base" hangingPunct="0">
                  <a:lnSpc>
                    <a:spcPct val="150000"/>
                  </a:lnSpc>
                  <a:spcBef>
                    <a:spcPts val="0"/>
                  </a:spcBef>
                  <a:spcAft>
                    <a:spcPct val="0"/>
                  </a:spcAft>
                  <a:buFont typeface="Arial" panose="020B0604020202020204" pitchFamily="34" charset="0"/>
                  <a:buChar char="•"/>
                  <a:defRPr sz="2200" kern="1200">
                    <a:solidFill>
                      <a:schemeClr val="tx1"/>
                    </a:solidFill>
                    <a:latin typeface="+mn-lt"/>
                    <a:ea typeface="PMingLiU" panose="02020500000000000000" pitchFamily="18" charset="-120"/>
                    <a:cs typeface="+mn-cs"/>
                  </a:defRPr>
                </a:lvl3pPr>
                <a:lvl4pPr marL="1522730" indent="-215900" algn="l" defTabSz="868680" rtl="0" eaLnBrk="0" fontAlgn="base" hangingPunct="0">
                  <a:lnSpc>
                    <a:spcPct val="150000"/>
                  </a:lnSpc>
                  <a:spcBef>
                    <a:spcPts val="0"/>
                  </a:spcBef>
                  <a:spcAft>
                    <a:spcPct val="0"/>
                  </a:spcAft>
                  <a:buFont typeface="Arial" panose="020B0604020202020204" pitchFamily="34" charset="0"/>
                  <a:buChar char="–"/>
                  <a:defRPr sz="1900" kern="1200">
                    <a:solidFill>
                      <a:schemeClr val="tx1"/>
                    </a:solidFill>
                    <a:latin typeface="+mn-lt"/>
                    <a:ea typeface="PMingLiU" panose="02020500000000000000" pitchFamily="18" charset="-120"/>
                    <a:cs typeface="+mn-cs"/>
                  </a:defRPr>
                </a:lvl4pPr>
                <a:lvl5pPr marL="1955800" indent="-215900" algn="l" defTabSz="868680" rtl="0" eaLnBrk="0" fontAlgn="base" hangingPunct="0">
                  <a:lnSpc>
                    <a:spcPct val="150000"/>
                  </a:lnSpc>
                  <a:spcBef>
                    <a:spcPts val="0"/>
                  </a:spcBef>
                  <a:spcAft>
                    <a:spcPct val="0"/>
                  </a:spcAft>
                  <a:buFont typeface="Arial" panose="020B0604020202020204" pitchFamily="34" charset="0"/>
                  <a:buChar char="»"/>
                  <a:defRPr sz="1900" kern="1200">
                    <a:solidFill>
                      <a:schemeClr val="tx1"/>
                    </a:solidFill>
                    <a:latin typeface="+mn-lt"/>
                    <a:ea typeface="PMingLiU" panose="02020500000000000000" pitchFamily="18" charset="-120"/>
                    <a:cs typeface="+mn-cs"/>
                  </a:defRPr>
                </a:lvl5pPr>
                <a:lvl6pPr marL="2393315" indent="-217805" algn="l" defTabSz="869950" rtl="0" eaLnBrk="1" latinLnBrk="0" hangingPunct="1">
                  <a:spcBef>
                    <a:spcPct val="20000"/>
                  </a:spcBef>
                  <a:buFont typeface="Arial" panose="020B0604020202020204" pitchFamily="34" charset="0"/>
                  <a:buChar char="•"/>
                  <a:defRPr sz="1945" kern="1200">
                    <a:solidFill>
                      <a:schemeClr val="tx1"/>
                    </a:solidFill>
                    <a:latin typeface="+mn-lt"/>
                    <a:ea typeface="+mn-ea"/>
                    <a:cs typeface="+mn-cs"/>
                  </a:defRPr>
                </a:lvl6pPr>
                <a:lvl7pPr marL="2828290" indent="-217805" algn="l" defTabSz="869950" rtl="0" eaLnBrk="1" latinLnBrk="0" hangingPunct="1">
                  <a:spcBef>
                    <a:spcPct val="20000"/>
                  </a:spcBef>
                  <a:buFont typeface="Arial" panose="020B0604020202020204" pitchFamily="34" charset="0"/>
                  <a:buChar char="•"/>
                  <a:defRPr sz="1945" kern="1200">
                    <a:solidFill>
                      <a:schemeClr val="tx1"/>
                    </a:solidFill>
                    <a:latin typeface="+mn-lt"/>
                    <a:ea typeface="+mn-ea"/>
                    <a:cs typeface="+mn-cs"/>
                  </a:defRPr>
                </a:lvl7pPr>
                <a:lvl8pPr marL="3263265" indent="-217805" algn="l" defTabSz="869950" rtl="0" eaLnBrk="1" latinLnBrk="0" hangingPunct="1">
                  <a:spcBef>
                    <a:spcPct val="20000"/>
                  </a:spcBef>
                  <a:buFont typeface="Arial" panose="020B0604020202020204" pitchFamily="34" charset="0"/>
                  <a:buChar char="•"/>
                  <a:defRPr sz="1945" kern="1200">
                    <a:solidFill>
                      <a:schemeClr val="tx1"/>
                    </a:solidFill>
                    <a:latin typeface="+mn-lt"/>
                    <a:ea typeface="+mn-ea"/>
                    <a:cs typeface="+mn-cs"/>
                  </a:defRPr>
                </a:lvl8pPr>
                <a:lvl9pPr marL="3698240" indent="-217805" algn="l" defTabSz="869950" rtl="0" eaLnBrk="1" latinLnBrk="0" hangingPunct="1">
                  <a:spcBef>
                    <a:spcPct val="20000"/>
                  </a:spcBef>
                  <a:buFont typeface="Arial" panose="020B0604020202020204" pitchFamily="34" charset="0"/>
                  <a:buChar char="•"/>
                  <a:defRPr sz="1945" kern="1200">
                    <a:solidFill>
                      <a:schemeClr val="tx1"/>
                    </a:solidFill>
                    <a:latin typeface="+mn-lt"/>
                    <a:ea typeface="+mn-ea"/>
                    <a:cs typeface="+mn-cs"/>
                  </a:defRPr>
                </a:lvl9pPr>
              </a:lstStyle>
              <a:p>
                <a:pPr marL="0" indent="0" defTabSz="868680" eaLnBrk="1" hangingPunct="1">
                  <a:buFont typeface="Arial" panose="020B0604020202020204" pitchFamily="34" charset="0"/>
                  <a:buNone/>
                  <a:defRPr/>
                </a:pPr>
                <a:r>
                  <a:rPr lang="zh-CN" altLang="en-US" sz="2400" b="1" dirty="0">
                    <a:latin typeface="Times New Roman" panose="02020603050405020304" pitchFamily="18" charset="0"/>
                    <a:ea typeface="+mn-ea"/>
                    <a:cs typeface="Times New Roman" panose="02020603050405020304" pitchFamily="18" charset="0"/>
                  </a:rPr>
                  <a:t>关联规则可由如下过程产生</a:t>
                </a:r>
                <a:r>
                  <a:rPr lang="zh-CN" altLang="en-US" sz="2400" b="0" dirty="0">
                    <a:latin typeface="Times New Roman" panose="02020603050405020304" pitchFamily="18" charset="0"/>
                    <a:ea typeface="+mn-ea"/>
                    <a:cs typeface="Times New Roman" panose="02020603050405020304" pitchFamily="18" charset="0"/>
                  </a:rPr>
                  <a:t>：</a:t>
                </a:r>
                <a:endParaRPr lang="en-US" altLang="zh-CN" sz="2400" b="0" dirty="0">
                  <a:latin typeface="Times New Roman" panose="02020603050405020304" pitchFamily="18" charset="0"/>
                  <a:ea typeface="+mn-ea"/>
                  <a:cs typeface="Times New Roman" panose="02020603050405020304" pitchFamily="18" charset="0"/>
                </a:endParaRPr>
              </a:p>
              <a:p>
                <a:pPr defTabSz="868680" eaLnBrk="1" hangingPunct="1">
                  <a:lnSpc>
                    <a:spcPct val="200000"/>
                  </a:lnSpc>
                  <a:defRPr/>
                </a:pPr>
                <a:r>
                  <a:rPr lang="zh-CN" altLang="en-US" sz="2400" b="0" dirty="0">
                    <a:latin typeface="Times New Roman" panose="02020603050405020304" pitchFamily="18" charset="0"/>
                    <a:ea typeface="+mn-ea"/>
                    <a:cs typeface="Times New Roman" panose="02020603050405020304" pitchFamily="18" charset="0"/>
                  </a:rPr>
                  <a:t>对于每一个频繁项集</a:t>
                </a:r>
                <a14:m>
                  <m:oMath xmlns:m="http://schemas.openxmlformats.org/officeDocument/2006/math">
                    <m:r>
                      <a:rPr lang="en-US" altLang="zh-CN" sz="2400" b="0" i="1" dirty="0" smtClean="0">
                        <a:latin typeface="Cambria Math" panose="02040503050406030204" pitchFamily="18" charset="0"/>
                        <a:ea typeface="+mn-ea"/>
                        <a:cs typeface="Times New Roman" panose="02020603050405020304" pitchFamily="18" charset="0"/>
                      </a:rPr>
                      <m:t>𝑙</m:t>
                    </m:r>
                  </m:oMath>
                </a14:m>
                <a:r>
                  <a:rPr lang="zh-CN" altLang="en-US" sz="2400" b="0" dirty="0">
                    <a:latin typeface="Times New Roman" panose="02020603050405020304" pitchFamily="18" charset="0"/>
                    <a:ea typeface="+mn-ea"/>
                    <a:cs typeface="Times New Roman" panose="02020603050405020304" pitchFamily="18" charset="0"/>
                  </a:rPr>
                  <a:t>，</a:t>
                </a:r>
                <a:r>
                  <a:rPr lang="zh-CN" altLang="en-US" sz="2400" b="0" dirty="0">
                    <a:solidFill>
                      <a:srgbClr val="FF0000"/>
                    </a:solidFill>
                    <a:latin typeface="Times New Roman" panose="02020603050405020304" pitchFamily="18" charset="0"/>
                    <a:ea typeface="+mn-ea"/>
                    <a:cs typeface="Times New Roman" panose="02020603050405020304" pitchFamily="18" charset="0"/>
                  </a:rPr>
                  <a:t>产生</a:t>
                </a:r>
                <a14:m>
                  <m:oMath xmlns:m="http://schemas.openxmlformats.org/officeDocument/2006/math">
                    <m:r>
                      <a:rPr lang="en-US" altLang="zh-CN" sz="2400" b="0" i="1" dirty="0">
                        <a:solidFill>
                          <a:srgbClr val="FF0000"/>
                        </a:solidFill>
                        <a:latin typeface="Cambria Math" panose="02040503050406030204" pitchFamily="18" charset="0"/>
                        <a:cs typeface="Times New Roman" panose="02020603050405020304" pitchFamily="18" charset="0"/>
                      </a:rPr>
                      <m:t>𝑙</m:t>
                    </m:r>
                  </m:oMath>
                </a14:m>
                <a:r>
                  <a:rPr lang="zh-CN" altLang="en-US" sz="2400" b="0" dirty="0">
                    <a:solidFill>
                      <a:srgbClr val="FF0000"/>
                    </a:solidFill>
                    <a:latin typeface="Times New Roman" panose="02020603050405020304" pitchFamily="18" charset="0"/>
                    <a:ea typeface="+mn-ea"/>
                    <a:cs typeface="Times New Roman" panose="02020603050405020304" pitchFamily="18" charset="0"/>
                  </a:rPr>
                  <a:t>的所有非空子集</a:t>
                </a:r>
                <a:r>
                  <a:rPr lang="zh-CN" altLang="en-US" sz="2400" b="0" dirty="0">
                    <a:latin typeface="Times New Roman" panose="02020603050405020304" pitchFamily="18" charset="0"/>
                    <a:ea typeface="+mn-ea"/>
                    <a:cs typeface="Times New Roman" panose="02020603050405020304" pitchFamily="18" charset="0"/>
                  </a:rPr>
                  <a:t>；</a:t>
                </a:r>
                <a:endParaRPr lang="en-US" altLang="zh-CN" sz="2400" b="0" dirty="0">
                  <a:latin typeface="Times New Roman" panose="02020603050405020304" pitchFamily="18" charset="0"/>
                  <a:ea typeface="+mn-ea"/>
                  <a:cs typeface="Times New Roman" panose="02020603050405020304" pitchFamily="18" charset="0"/>
                </a:endParaRPr>
              </a:p>
              <a:p>
                <a:pPr defTabSz="868680" eaLnBrk="1" hangingPunct="1">
                  <a:lnSpc>
                    <a:spcPct val="200000"/>
                  </a:lnSpc>
                  <a:defRPr/>
                </a:pPr>
                <a:r>
                  <a:rPr lang="zh-CN" altLang="en-US" sz="2400" b="0" dirty="0">
                    <a:latin typeface="Times New Roman" panose="02020603050405020304" pitchFamily="18" charset="0"/>
                    <a:ea typeface="+mn-ea"/>
                    <a:cs typeface="Times New Roman" panose="02020603050405020304" pitchFamily="18" charset="0"/>
                  </a:rPr>
                  <a:t>对于</a:t>
                </a:r>
                <a14:m>
                  <m:oMath xmlns:m="http://schemas.openxmlformats.org/officeDocument/2006/math">
                    <m:r>
                      <a:rPr lang="en-US" altLang="zh-CN" sz="2400" b="0" i="1" dirty="0">
                        <a:latin typeface="Cambria Math" panose="02040503050406030204" pitchFamily="18" charset="0"/>
                        <a:cs typeface="Times New Roman" panose="02020603050405020304" pitchFamily="18" charset="0"/>
                      </a:rPr>
                      <m:t>𝑙</m:t>
                    </m:r>
                  </m:oMath>
                </a14:m>
                <a:r>
                  <a:rPr lang="zh-CN" altLang="en-US" sz="2400" b="0" dirty="0">
                    <a:latin typeface="Times New Roman" panose="02020603050405020304" pitchFamily="18" charset="0"/>
                    <a:ea typeface="+mn-ea"/>
                    <a:cs typeface="Times New Roman" panose="02020603050405020304" pitchFamily="18" charset="0"/>
                  </a:rPr>
                  <a:t>的每个非空子集</a:t>
                </a:r>
                <a:r>
                  <a:rPr lang="en-US" altLang="zh-CN" sz="2400" b="0" dirty="0">
                    <a:latin typeface="Times New Roman" panose="02020603050405020304" pitchFamily="18" charset="0"/>
                    <a:ea typeface="+mn-ea"/>
                    <a:cs typeface="Times New Roman" panose="02020603050405020304" pitchFamily="18" charset="0"/>
                  </a:rPr>
                  <a:t>s</a:t>
                </a:r>
                <a:r>
                  <a:rPr lang="zh-CN" altLang="en-US" sz="2400" b="0" dirty="0">
                    <a:latin typeface="Times New Roman" panose="02020603050405020304" pitchFamily="18" charset="0"/>
                    <a:ea typeface="+mn-ea"/>
                    <a:cs typeface="Times New Roman" panose="02020603050405020304" pitchFamily="18" charset="0"/>
                  </a:rPr>
                  <a:t>，如果                                                  ，则</a:t>
                </a:r>
                <a:r>
                  <a:rPr lang="zh-CN" altLang="en-US" sz="2400" b="0" dirty="0">
                    <a:solidFill>
                      <a:srgbClr val="FF0000"/>
                    </a:solidFill>
                    <a:latin typeface="Times New Roman" panose="02020603050405020304" pitchFamily="18" charset="0"/>
                    <a:ea typeface="+mn-ea"/>
                    <a:cs typeface="Times New Roman" panose="02020603050405020304" pitchFamily="18" charset="0"/>
                  </a:rPr>
                  <a:t>输出规则</a:t>
                </a:r>
                <a:r>
                  <a:rPr lang="en-US" altLang="zh-CN" sz="2400" b="0" dirty="0">
                    <a:solidFill>
                      <a:srgbClr val="FF0000"/>
                    </a:solidFill>
                    <a:latin typeface="Times New Roman" panose="02020603050405020304" pitchFamily="18" charset="0"/>
                    <a:ea typeface="+mn-ea"/>
                    <a:cs typeface="Times New Roman" panose="02020603050405020304" pitchFamily="18" charset="0"/>
                  </a:rPr>
                  <a:t>s=&gt;(</a:t>
                </a:r>
                <a14:m>
                  <m:oMath xmlns:m="http://schemas.openxmlformats.org/officeDocument/2006/math">
                    <m:r>
                      <a:rPr lang="en-US" altLang="zh-CN" sz="2400" b="0" i="1" dirty="0">
                        <a:solidFill>
                          <a:srgbClr val="FF0000"/>
                        </a:solidFill>
                        <a:latin typeface="Cambria Math" panose="02040503050406030204" pitchFamily="18" charset="0"/>
                        <a:cs typeface="Times New Roman" panose="02020603050405020304" pitchFamily="18" charset="0"/>
                      </a:rPr>
                      <m:t>𝑙</m:t>
                    </m:r>
                    <m:r>
                      <a:rPr lang="en-US" altLang="zh-CN" sz="2400" b="0" i="1" dirty="0">
                        <a:solidFill>
                          <a:srgbClr val="FF0000"/>
                        </a:solidFill>
                        <a:latin typeface="Cambria Math" panose="02040503050406030204" pitchFamily="18" charset="0"/>
                        <a:cs typeface="Times New Roman" panose="02020603050405020304" pitchFamily="18" charset="0"/>
                      </a:rPr>
                      <m:t> </m:t>
                    </m:r>
                  </m:oMath>
                </a14:m>
                <a:r>
                  <a:rPr lang="en-US" altLang="zh-CN" sz="2400" b="0" dirty="0">
                    <a:solidFill>
                      <a:srgbClr val="FF0000"/>
                    </a:solidFill>
                    <a:latin typeface="Times New Roman" panose="02020603050405020304" pitchFamily="18" charset="0"/>
                    <a:ea typeface="+mn-ea"/>
                    <a:cs typeface="Times New Roman" panose="02020603050405020304" pitchFamily="18" charset="0"/>
                  </a:rPr>
                  <a:t>-s)</a:t>
                </a:r>
                <a:r>
                  <a:rPr lang="zh-CN" altLang="en-US" sz="2400" b="0" dirty="0">
                    <a:latin typeface="Times New Roman" panose="02020603050405020304" pitchFamily="18" charset="0"/>
                    <a:ea typeface="+mn-ea"/>
                    <a:cs typeface="Times New Roman" panose="02020603050405020304" pitchFamily="18" charset="0"/>
                  </a:rPr>
                  <a:t>，其中</a:t>
                </a:r>
                <a:r>
                  <a:rPr lang="en-US" altLang="zh-CN" sz="2400" b="0" dirty="0" err="1">
                    <a:latin typeface="Times New Roman" panose="02020603050405020304" pitchFamily="18" charset="0"/>
                    <a:ea typeface="+mn-ea"/>
                    <a:cs typeface="Times New Roman" panose="02020603050405020304" pitchFamily="18" charset="0"/>
                  </a:rPr>
                  <a:t>min_conf</a:t>
                </a:r>
                <a:r>
                  <a:rPr lang="zh-CN" altLang="en-US" sz="2400" b="0" dirty="0">
                    <a:latin typeface="Times New Roman" panose="02020603050405020304" pitchFamily="18" charset="0"/>
                    <a:ea typeface="+mn-ea"/>
                    <a:cs typeface="Times New Roman" panose="02020603050405020304" pitchFamily="18" charset="0"/>
                  </a:rPr>
                  <a:t>是最小置信度阈值。</a:t>
                </a:r>
                <a:endParaRPr lang="en-US" altLang="zh-CN" sz="2400" b="0" dirty="0">
                  <a:latin typeface="Times New Roman" panose="02020603050405020304" pitchFamily="18" charset="0"/>
                  <a:ea typeface="+mn-ea"/>
                  <a:cs typeface="Times New Roman" panose="02020603050405020304" pitchFamily="18" charset="0"/>
                </a:endParaRPr>
              </a:p>
            </p:txBody>
          </p:sp>
        </mc:Choice>
        <mc:Fallback>
          <p:sp>
            <p:nvSpPr>
              <p:cNvPr id="13" name="Rectangle 3"/>
              <p:cNvSpPr txBox="1">
                <a:spLocks noRot="1" noChangeAspect="1" noMove="1" noResize="1" noEditPoints="1" noAdjustHandles="1" noChangeArrowheads="1" noChangeShapeType="1" noTextEdit="1"/>
              </p:cNvSpPr>
              <p:nvPr/>
            </p:nvSpPr>
            <p:spPr bwMode="auto">
              <a:xfrm>
                <a:off x="828002" y="3142468"/>
                <a:ext cx="8762770" cy="2819326"/>
              </a:xfrm>
              <a:prstGeom prst="rect">
                <a:avLst/>
              </a:prstGeom>
              <a:blipFill rotWithShape="1">
                <a:blip r:embed="rId1"/>
                <a:stretch>
                  <a:fillRect l="-7" t="-17" r="4" b="1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pic>
        <p:nvPicPr>
          <p:cNvPr id="2" name="图片 1"/>
          <p:cNvPicPr>
            <a:picLocks noChangeAspect="1"/>
          </p:cNvPicPr>
          <p:nvPr/>
        </p:nvPicPr>
        <p:blipFill>
          <a:blip r:embed="rId2"/>
          <a:stretch>
            <a:fillRect/>
          </a:stretch>
        </p:blipFill>
        <p:spPr>
          <a:xfrm>
            <a:off x="2076071" y="2197146"/>
            <a:ext cx="6647619" cy="733333"/>
          </a:xfrm>
          <a:prstGeom prst="rect">
            <a:avLst/>
          </a:prstGeom>
        </p:spPr>
      </p:pic>
      <p:pic>
        <p:nvPicPr>
          <p:cNvPr id="3" name="图片 2"/>
          <p:cNvPicPr>
            <a:picLocks noChangeAspect="1"/>
          </p:cNvPicPr>
          <p:nvPr/>
        </p:nvPicPr>
        <p:blipFill>
          <a:blip r:embed="rId3"/>
          <a:stretch>
            <a:fillRect/>
          </a:stretch>
        </p:blipFill>
        <p:spPr>
          <a:xfrm>
            <a:off x="5247485" y="4618970"/>
            <a:ext cx="3638095" cy="63809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a:t>
            </a:r>
            <a:r>
              <a:rPr lang="en-US" altLang="zh-CN" sz="4400" dirty="0">
                <a:latin typeface="楷体" panose="02010609060101010101" pitchFamily="49" charset="-122"/>
                <a:ea typeface="楷体" panose="02010609060101010101" pitchFamily="49" charset="-122"/>
              </a:rPr>
              <a:t>6.2 </a:t>
            </a:r>
            <a:r>
              <a:rPr lang="zh-CN" altLang="en-US" sz="4400" dirty="0">
                <a:latin typeface="楷体" panose="02010609060101010101" pitchFamily="49" charset="-122"/>
                <a:ea typeface="楷体" panose="02010609060101010101" pitchFamily="49" charset="-122"/>
              </a:rPr>
              <a:t>频繁项集挖掘方法</a:t>
            </a:r>
            <a:endParaRPr lang="zh-CN" altLang="en-US" sz="4400" dirty="0">
              <a:latin typeface="楷体" panose="02010609060101010101" pitchFamily="49" charset="-122"/>
              <a:ea typeface="楷体" panose="02010609060101010101" pitchFamily="49" charset="-122"/>
            </a:endParaRPr>
          </a:p>
        </p:txBody>
      </p:sp>
      <p:sp>
        <p:nvSpPr>
          <p:cNvPr id="4" name="Rectangle 3"/>
          <p:cNvSpPr>
            <a:spLocks noGrp="1" noChangeArrowheads="1"/>
          </p:cNvSpPr>
          <p:nvPr>
            <p:ph idx="1"/>
          </p:nvPr>
        </p:nvSpPr>
        <p:spPr>
          <a:xfrm>
            <a:off x="522288" y="1160463"/>
            <a:ext cx="9906000" cy="5713412"/>
          </a:xfrm>
        </p:spPr>
        <p:txBody>
          <a:bodyPr/>
          <a:lstStyle/>
          <a:p>
            <a:pPr marL="0" indent="0" eaLnBrk="1" hangingPunct="1">
              <a:spcBef>
                <a:spcPct val="0"/>
              </a:spcBef>
              <a:buFont typeface="Arial" panose="020B0604020202020204" pitchFamily="34" charset="0"/>
              <a:buNone/>
            </a:pPr>
            <a:r>
              <a:rPr lang="en-US" altLang="zh-CN" sz="2400" b="1">
                <a:solidFill>
                  <a:srgbClr val="0000FF"/>
                </a:solidFill>
                <a:latin typeface="Times New Roman" panose="02020603050405020304" pitchFamily="18" charset="0"/>
                <a:ea typeface="宋体" panose="02010600030101010101" pitchFamily="2" charset="-122"/>
              </a:rPr>
              <a:t>2</a:t>
            </a:r>
            <a:r>
              <a:rPr lang="zh-CN" altLang="en-US" sz="2400" b="1">
                <a:solidFill>
                  <a:srgbClr val="0000FF"/>
                </a:solidFill>
                <a:latin typeface="Times New Roman" panose="02020603050405020304" pitchFamily="18" charset="0"/>
                <a:ea typeface="宋体" panose="02010600030101010101" pitchFamily="2" charset="-122"/>
              </a:rPr>
              <a:t>、由现频繁项集产生关联规则</a:t>
            </a:r>
            <a:endParaRPr lang="en-US" altLang="zh-CN" sz="2400" b="1">
              <a:solidFill>
                <a:srgbClr val="0000FF"/>
              </a:solidFill>
              <a:latin typeface="Times New Roman" panose="02020603050405020304" pitchFamily="18" charset="0"/>
              <a:ea typeface="宋体" panose="02010600030101010101" pitchFamily="2" charset="-122"/>
            </a:endParaRPr>
          </a:p>
          <a:p>
            <a:pPr marL="0" indent="0" eaLnBrk="1" hangingPunct="1">
              <a:spcBef>
                <a:spcPct val="0"/>
              </a:spcBef>
              <a:buFont typeface="Arial" panose="020B0604020202020204" pitchFamily="34" charset="0"/>
              <a:buNone/>
            </a:pPr>
            <a:r>
              <a:rPr lang="zh-CN" altLang="en-US" sz="2400" b="1">
                <a:latin typeface="Times New Roman" panose="02020603050405020304" pitchFamily="18" charset="0"/>
                <a:ea typeface="宋体" panose="02010600030101010101" pitchFamily="2" charset="-122"/>
              </a:rPr>
              <a:t>例：</a:t>
            </a:r>
            <a:r>
              <a:rPr lang="zh-CN" altLang="en-US" sz="2400">
                <a:latin typeface="Times New Roman" panose="02020603050405020304" pitchFamily="18" charset="0"/>
                <a:ea typeface="宋体" panose="02010600030101010101" pitchFamily="2" charset="-122"/>
              </a:rPr>
              <a:t>频繁项集</a:t>
            </a:r>
            <a:r>
              <a:rPr lang="en-US" altLang="zh-CN" sz="2400">
                <a:latin typeface="Times New Roman" panose="02020603050405020304" pitchFamily="18" charset="0"/>
                <a:ea typeface="宋体" panose="02010600030101010101" pitchFamily="2" charset="-122"/>
              </a:rPr>
              <a:t>X={I1,I2,I5}</a:t>
            </a:r>
            <a:endParaRPr lang="en-US" altLang="zh-CN" sz="2400">
              <a:latin typeface="Times New Roman" panose="02020603050405020304" pitchFamily="18" charset="0"/>
              <a:ea typeface="宋体" panose="02010600030101010101" pitchFamily="2" charset="-122"/>
            </a:endParaRPr>
          </a:p>
          <a:p>
            <a:pPr marL="0" indent="0" eaLnBrk="1" hangingPunct="1">
              <a:spcBef>
                <a:spcPct val="0"/>
              </a:spcBef>
              <a:buFont typeface="Arial" panose="020B0604020202020204" pitchFamily="34" charset="0"/>
              <a:buNone/>
            </a:pPr>
            <a:r>
              <a:rPr lang="en-US" altLang="zh-CN" sz="2400">
                <a:latin typeface="Times New Roman" panose="02020603050405020304" pitchFamily="18" charset="0"/>
                <a:ea typeface="宋体" panose="02010600030101010101" pitchFamily="2" charset="-122"/>
              </a:rPr>
              <a:t>    X</a:t>
            </a:r>
            <a:r>
              <a:rPr lang="zh-CN" altLang="en-US" sz="2400">
                <a:latin typeface="Times New Roman" panose="02020603050405020304" pitchFamily="18" charset="0"/>
                <a:ea typeface="宋体" panose="02010600030101010101" pitchFamily="2" charset="-122"/>
              </a:rPr>
              <a:t>的非空子集是</a:t>
            </a:r>
            <a:r>
              <a:rPr lang="en-US" altLang="zh-CN" sz="2400">
                <a:latin typeface="Times New Roman" panose="02020603050405020304" pitchFamily="18" charset="0"/>
                <a:ea typeface="宋体" panose="02010600030101010101" pitchFamily="2" charset="-122"/>
              </a:rPr>
              <a:t>{I1,I2}</a:t>
            </a:r>
            <a:r>
              <a:rPr lang="zh-CN" altLang="en-US" sz="2400">
                <a:latin typeface="Times New Roman" panose="02020603050405020304" pitchFamily="18" charset="0"/>
                <a:ea typeface="宋体" panose="02010600030101010101" pitchFamily="2" charset="-122"/>
              </a:rPr>
              <a:t>，</a:t>
            </a:r>
            <a:r>
              <a:rPr lang="en-US" altLang="zh-CN" sz="2400">
                <a:latin typeface="Times New Roman" panose="02020603050405020304" pitchFamily="18" charset="0"/>
                <a:ea typeface="宋体" panose="02010600030101010101" pitchFamily="2" charset="-122"/>
              </a:rPr>
              <a:t>{I1,I5}</a:t>
            </a:r>
            <a:r>
              <a:rPr lang="zh-CN" altLang="en-US" sz="2400">
                <a:latin typeface="Times New Roman" panose="02020603050405020304" pitchFamily="18" charset="0"/>
                <a:ea typeface="宋体" panose="02010600030101010101" pitchFamily="2" charset="-122"/>
              </a:rPr>
              <a:t>，</a:t>
            </a:r>
            <a:r>
              <a:rPr lang="en-US" altLang="zh-CN" sz="2400">
                <a:latin typeface="Times New Roman" panose="02020603050405020304" pitchFamily="18" charset="0"/>
                <a:ea typeface="宋体" panose="02010600030101010101" pitchFamily="2" charset="-122"/>
              </a:rPr>
              <a:t>{I2,I5}</a:t>
            </a:r>
            <a:r>
              <a:rPr lang="zh-CN" altLang="en-US" sz="2400">
                <a:latin typeface="Times New Roman" panose="02020603050405020304" pitchFamily="18" charset="0"/>
                <a:ea typeface="宋体" panose="02010600030101010101" pitchFamily="2" charset="-122"/>
              </a:rPr>
              <a:t>，</a:t>
            </a:r>
            <a:r>
              <a:rPr lang="en-US" altLang="zh-CN" sz="2400">
                <a:latin typeface="Times New Roman" panose="02020603050405020304" pitchFamily="18" charset="0"/>
                <a:ea typeface="宋体" panose="02010600030101010101" pitchFamily="2" charset="-122"/>
              </a:rPr>
              <a:t>{I1}</a:t>
            </a:r>
            <a:r>
              <a:rPr lang="zh-CN" altLang="en-US" sz="2400">
                <a:latin typeface="Times New Roman" panose="02020603050405020304" pitchFamily="18" charset="0"/>
                <a:ea typeface="宋体" panose="02010600030101010101" pitchFamily="2" charset="-122"/>
              </a:rPr>
              <a:t>，</a:t>
            </a:r>
            <a:r>
              <a:rPr lang="en-US" altLang="zh-CN" sz="2400">
                <a:latin typeface="Times New Roman" panose="02020603050405020304" pitchFamily="18" charset="0"/>
                <a:ea typeface="宋体" panose="02010600030101010101" pitchFamily="2" charset="-122"/>
              </a:rPr>
              <a:t>{I2}</a:t>
            </a:r>
            <a:r>
              <a:rPr lang="zh-CN" altLang="en-US" sz="2400">
                <a:latin typeface="Times New Roman" panose="02020603050405020304" pitchFamily="18" charset="0"/>
                <a:ea typeface="宋体" panose="02010600030101010101" pitchFamily="2" charset="-122"/>
              </a:rPr>
              <a:t>，</a:t>
            </a:r>
            <a:r>
              <a:rPr lang="en-US" altLang="zh-CN" sz="2400">
                <a:latin typeface="Times New Roman" panose="02020603050405020304" pitchFamily="18" charset="0"/>
                <a:ea typeface="宋体" panose="02010600030101010101" pitchFamily="2" charset="-122"/>
              </a:rPr>
              <a:t>{I5}</a:t>
            </a:r>
            <a:endParaRPr lang="en-US" altLang="zh-CN" sz="2400">
              <a:latin typeface="Times New Roman" panose="02020603050405020304" pitchFamily="18" charset="0"/>
              <a:ea typeface="宋体" panose="02010600030101010101" pitchFamily="2" charset="-122"/>
            </a:endParaRPr>
          </a:p>
          <a:p>
            <a:pPr marL="0" indent="0" eaLnBrk="1" hangingPunct="1">
              <a:spcBef>
                <a:spcPct val="0"/>
              </a:spcBef>
              <a:buFont typeface="Arial" panose="020B0604020202020204" pitchFamily="34" charset="0"/>
              <a:buNone/>
            </a:pPr>
            <a:r>
              <a:rPr lang="en-US" altLang="zh-CN" sz="2400">
                <a:latin typeface="Times New Roman" panose="02020603050405020304" pitchFamily="18" charset="0"/>
                <a:ea typeface="宋体" panose="02010600030101010101" pitchFamily="2" charset="-122"/>
              </a:rPr>
              <a:t>   {I1,I2}=&gt;I5</a:t>
            </a:r>
            <a:r>
              <a:rPr lang="zh-CN" altLang="en-US" sz="2400">
                <a:latin typeface="Times New Roman" panose="02020603050405020304" pitchFamily="18" charset="0"/>
                <a:ea typeface="宋体" panose="02010600030101010101" pitchFamily="2" charset="-122"/>
              </a:rPr>
              <a:t>，</a:t>
            </a:r>
            <a:r>
              <a:rPr lang="en-US" altLang="zh-CN" sz="2400">
                <a:latin typeface="Times New Roman" panose="02020603050405020304" pitchFamily="18" charset="0"/>
                <a:ea typeface="宋体" panose="02010600030101010101" pitchFamily="2" charset="-122"/>
              </a:rPr>
              <a:t>confidence =  </a:t>
            </a:r>
            <a:endParaRPr lang="en-US" altLang="zh-CN" sz="2400">
              <a:latin typeface="Times New Roman" panose="02020603050405020304" pitchFamily="18" charset="0"/>
              <a:ea typeface="宋体" panose="02010600030101010101" pitchFamily="2" charset="-122"/>
            </a:endParaRPr>
          </a:p>
          <a:p>
            <a:pPr marL="0" indent="0" eaLnBrk="1" hangingPunct="1">
              <a:spcBef>
                <a:spcPct val="0"/>
              </a:spcBef>
              <a:buFont typeface="Arial" panose="020B0604020202020204" pitchFamily="34" charset="0"/>
              <a:buNone/>
            </a:pPr>
            <a:r>
              <a:rPr lang="en-US" altLang="zh-CN" sz="2400">
                <a:latin typeface="Times New Roman" panose="02020603050405020304" pitchFamily="18" charset="0"/>
                <a:ea typeface="宋体" panose="02010600030101010101" pitchFamily="2" charset="-122"/>
              </a:rPr>
              <a:t>   {I1,I5}=&gt;I2</a:t>
            </a:r>
            <a:r>
              <a:rPr lang="zh-CN" altLang="en-US" sz="2400">
                <a:latin typeface="Times New Roman" panose="02020603050405020304" pitchFamily="18" charset="0"/>
                <a:ea typeface="宋体" panose="02010600030101010101" pitchFamily="2" charset="-122"/>
              </a:rPr>
              <a:t> ，</a:t>
            </a:r>
            <a:r>
              <a:rPr lang="en-US" altLang="zh-CN" sz="2400">
                <a:latin typeface="Times New Roman" panose="02020603050405020304" pitchFamily="18" charset="0"/>
                <a:ea typeface="宋体" panose="02010600030101010101" pitchFamily="2" charset="-122"/>
              </a:rPr>
              <a:t>confidence = </a:t>
            </a:r>
            <a:endParaRPr lang="en-US" altLang="zh-CN" sz="2400">
              <a:latin typeface="Times New Roman" panose="02020603050405020304" pitchFamily="18" charset="0"/>
              <a:ea typeface="宋体" panose="02010600030101010101" pitchFamily="2" charset="-122"/>
            </a:endParaRPr>
          </a:p>
          <a:p>
            <a:pPr marL="0" indent="0" eaLnBrk="1" hangingPunct="1">
              <a:spcBef>
                <a:spcPct val="0"/>
              </a:spcBef>
              <a:buFont typeface="Arial" panose="020B0604020202020204" pitchFamily="34" charset="0"/>
              <a:buNone/>
            </a:pPr>
            <a:r>
              <a:rPr lang="en-US" altLang="zh-CN" sz="2400">
                <a:latin typeface="Times New Roman" panose="02020603050405020304" pitchFamily="18" charset="0"/>
                <a:ea typeface="宋体" panose="02010600030101010101" pitchFamily="2" charset="-122"/>
              </a:rPr>
              <a:t>   {I2,I5}=&gt;I1</a:t>
            </a:r>
            <a:r>
              <a:rPr lang="zh-CN" altLang="en-US" sz="2400">
                <a:latin typeface="Times New Roman" panose="02020603050405020304" pitchFamily="18" charset="0"/>
                <a:ea typeface="宋体" panose="02010600030101010101" pitchFamily="2" charset="-122"/>
              </a:rPr>
              <a:t> ，</a:t>
            </a:r>
            <a:r>
              <a:rPr lang="en-US" altLang="zh-CN" sz="2400">
                <a:latin typeface="Times New Roman" panose="02020603050405020304" pitchFamily="18" charset="0"/>
                <a:ea typeface="宋体" panose="02010600030101010101" pitchFamily="2" charset="-122"/>
              </a:rPr>
              <a:t>confidence = </a:t>
            </a:r>
            <a:endParaRPr lang="en-US" altLang="zh-CN" sz="2400">
              <a:latin typeface="Times New Roman" panose="02020603050405020304" pitchFamily="18" charset="0"/>
              <a:ea typeface="宋体" panose="02010600030101010101" pitchFamily="2" charset="-122"/>
            </a:endParaRPr>
          </a:p>
          <a:p>
            <a:pPr marL="0" indent="0" eaLnBrk="1" hangingPunct="1">
              <a:spcBef>
                <a:spcPct val="0"/>
              </a:spcBef>
              <a:buFont typeface="Arial" panose="020B0604020202020204" pitchFamily="34" charset="0"/>
              <a:buNone/>
            </a:pPr>
            <a:r>
              <a:rPr lang="en-US" altLang="zh-CN" sz="2400">
                <a:latin typeface="Times New Roman" panose="02020603050405020304" pitchFamily="18" charset="0"/>
                <a:ea typeface="宋体" panose="02010600030101010101" pitchFamily="2" charset="-122"/>
              </a:rPr>
              <a:t>   I1=&gt;{I2,I5}</a:t>
            </a:r>
            <a:r>
              <a:rPr lang="zh-CN" altLang="en-US" sz="2400">
                <a:latin typeface="Times New Roman" panose="02020603050405020304" pitchFamily="18" charset="0"/>
                <a:ea typeface="宋体" panose="02010600030101010101" pitchFamily="2" charset="-122"/>
              </a:rPr>
              <a:t> ，</a:t>
            </a:r>
            <a:r>
              <a:rPr lang="en-US" altLang="zh-CN" sz="2400">
                <a:latin typeface="Times New Roman" panose="02020603050405020304" pitchFamily="18" charset="0"/>
                <a:ea typeface="宋体" panose="02010600030101010101" pitchFamily="2" charset="-122"/>
              </a:rPr>
              <a:t>confidence = </a:t>
            </a:r>
            <a:endParaRPr lang="en-US" altLang="zh-CN" sz="2400">
              <a:latin typeface="Times New Roman" panose="02020603050405020304" pitchFamily="18" charset="0"/>
              <a:ea typeface="宋体" panose="02010600030101010101" pitchFamily="2" charset="-122"/>
            </a:endParaRPr>
          </a:p>
          <a:p>
            <a:pPr marL="0" indent="0" eaLnBrk="1" hangingPunct="1">
              <a:spcBef>
                <a:spcPct val="0"/>
              </a:spcBef>
              <a:buFont typeface="Arial" panose="020B0604020202020204" pitchFamily="34" charset="0"/>
              <a:buNone/>
            </a:pPr>
            <a:r>
              <a:rPr lang="en-US" altLang="zh-CN" sz="2400">
                <a:latin typeface="Times New Roman" panose="02020603050405020304" pitchFamily="18" charset="0"/>
                <a:ea typeface="宋体" panose="02010600030101010101" pitchFamily="2" charset="-122"/>
              </a:rPr>
              <a:t>   I2=&gt;{I1,I5}</a:t>
            </a:r>
            <a:r>
              <a:rPr lang="zh-CN" altLang="en-US" sz="2400">
                <a:latin typeface="Times New Roman" panose="02020603050405020304" pitchFamily="18" charset="0"/>
                <a:ea typeface="宋体" panose="02010600030101010101" pitchFamily="2" charset="-122"/>
              </a:rPr>
              <a:t> ，</a:t>
            </a:r>
            <a:r>
              <a:rPr lang="en-US" altLang="zh-CN" sz="2400">
                <a:latin typeface="Times New Roman" panose="02020603050405020304" pitchFamily="18" charset="0"/>
                <a:ea typeface="宋体" panose="02010600030101010101" pitchFamily="2" charset="-122"/>
              </a:rPr>
              <a:t>confidence = </a:t>
            </a:r>
            <a:endParaRPr lang="en-US" altLang="zh-CN" sz="2400">
              <a:latin typeface="Times New Roman" panose="02020603050405020304" pitchFamily="18" charset="0"/>
              <a:ea typeface="宋体" panose="02010600030101010101" pitchFamily="2" charset="-122"/>
            </a:endParaRPr>
          </a:p>
          <a:p>
            <a:pPr marL="0" indent="0" eaLnBrk="1" hangingPunct="1">
              <a:spcBef>
                <a:spcPct val="0"/>
              </a:spcBef>
              <a:buFont typeface="Arial" panose="020B0604020202020204" pitchFamily="34" charset="0"/>
              <a:buNone/>
            </a:pPr>
            <a:r>
              <a:rPr lang="en-US" altLang="zh-CN" sz="2400">
                <a:latin typeface="Times New Roman" panose="02020603050405020304" pitchFamily="18" charset="0"/>
                <a:ea typeface="宋体" panose="02010600030101010101" pitchFamily="2" charset="-122"/>
              </a:rPr>
              <a:t>   I5=&gt;{I1,I2}</a:t>
            </a:r>
            <a:r>
              <a:rPr lang="zh-CN" altLang="en-US" sz="2400">
                <a:latin typeface="Times New Roman" panose="02020603050405020304" pitchFamily="18" charset="0"/>
                <a:ea typeface="宋体" panose="02010600030101010101" pitchFamily="2" charset="-122"/>
              </a:rPr>
              <a:t> ，</a:t>
            </a:r>
            <a:r>
              <a:rPr lang="en-US" altLang="zh-CN" sz="2400">
                <a:latin typeface="Times New Roman" panose="02020603050405020304" pitchFamily="18" charset="0"/>
                <a:ea typeface="宋体" panose="02010600030101010101" pitchFamily="2" charset="-122"/>
              </a:rPr>
              <a:t>confidence =</a:t>
            </a:r>
            <a:endParaRPr lang="en-US" altLang="zh-CN" sz="2400">
              <a:latin typeface="Times New Roman" panose="02020603050405020304" pitchFamily="18" charset="0"/>
              <a:ea typeface="宋体" panose="02010600030101010101" pitchFamily="2" charset="-122"/>
            </a:endParaRPr>
          </a:p>
          <a:p>
            <a:pPr marL="0" indent="0" eaLnBrk="1" hangingPunct="1">
              <a:spcBef>
                <a:spcPts val="1200"/>
              </a:spcBef>
              <a:buFont typeface="Arial" panose="020B0604020202020204" pitchFamily="34" charset="0"/>
              <a:buNone/>
            </a:pPr>
            <a:r>
              <a:rPr lang="zh-CN" altLang="en-US" sz="2400">
                <a:solidFill>
                  <a:srgbClr val="0000FF"/>
                </a:solidFill>
                <a:latin typeface="Times New Roman" panose="02020603050405020304" pitchFamily="18" charset="0"/>
                <a:ea typeface="宋体" panose="02010600030101010101" pitchFamily="2" charset="-122"/>
              </a:rPr>
              <a:t>如果</a:t>
            </a:r>
            <a:r>
              <a:rPr lang="en-US" altLang="zh-CN" sz="2400">
                <a:solidFill>
                  <a:srgbClr val="0000FF"/>
                </a:solidFill>
                <a:latin typeface="Times New Roman" panose="02020603050405020304" pitchFamily="18" charset="0"/>
                <a:ea typeface="宋体" panose="02010600030101010101" pitchFamily="2" charset="-122"/>
              </a:rPr>
              <a:t>min_conf=70%</a:t>
            </a:r>
            <a:r>
              <a:rPr lang="zh-CN" altLang="en-US" sz="2400">
                <a:solidFill>
                  <a:srgbClr val="0000FF"/>
                </a:solidFill>
                <a:latin typeface="Times New Roman" panose="02020603050405020304" pitchFamily="18" charset="0"/>
                <a:ea typeface="宋体" panose="02010600030101010101" pitchFamily="2" charset="-122"/>
              </a:rPr>
              <a:t>，</a:t>
            </a:r>
            <a:endParaRPr lang="en-US" altLang="zh-CN" sz="2400">
              <a:solidFill>
                <a:srgbClr val="0000FF"/>
              </a:solidFill>
              <a:latin typeface="Times New Roman" panose="02020603050405020304" pitchFamily="18" charset="0"/>
              <a:ea typeface="宋体" panose="02010600030101010101" pitchFamily="2" charset="-122"/>
            </a:endParaRPr>
          </a:p>
        </p:txBody>
      </p:sp>
      <p:pic>
        <p:nvPicPr>
          <p:cNvPr id="2"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748963" y="2912715"/>
            <a:ext cx="2190213" cy="2028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09160" y="2941750"/>
            <a:ext cx="1858494" cy="1999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56122" y="4992329"/>
            <a:ext cx="2185869" cy="1416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7" name="图片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5450" y="1184275"/>
            <a:ext cx="4984750"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p:nvPr/>
        </p:nvSpPr>
        <p:spPr>
          <a:xfrm>
            <a:off x="4278313" y="2944813"/>
            <a:ext cx="1503362" cy="461962"/>
          </a:xfrm>
          <a:prstGeom prst="rect">
            <a:avLst/>
          </a:prstGeom>
        </p:spPr>
        <p:txBody>
          <a:bodyPr>
            <a:spAutoFit/>
          </a:bodyPr>
          <a:lstStyle/>
          <a:p>
            <a:pPr defTabSz="1083945">
              <a:defRPr/>
            </a:pPr>
            <a:r>
              <a:rPr lang="en-US" altLang="zh-CN" sz="2400" b="0" dirty="0">
                <a:solidFill>
                  <a:srgbClr val="0000FF"/>
                </a:solidFill>
                <a:latin typeface="Times New Roman" panose="02020603050405020304" pitchFamily="18" charset="0"/>
                <a:ea typeface="+mn-ea"/>
                <a:cs typeface="Times New Roman" panose="02020603050405020304" pitchFamily="18" charset="0"/>
              </a:rPr>
              <a:t>2/4=50%</a:t>
            </a:r>
            <a:endParaRPr lang="zh-CN" altLang="en-US" sz="2400" b="0" dirty="0">
              <a:solidFill>
                <a:srgbClr val="0000FF"/>
              </a:solidFill>
              <a:latin typeface="Times New Roman" panose="02020603050405020304" pitchFamily="18" charset="0"/>
              <a:ea typeface="+mn-ea"/>
              <a:cs typeface="Times New Roman" panose="02020603050405020304" pitchFamily="18" charset="0"/>
            </a:endParaRPr>
          </a:p>
        </p:txBody>
      </p:sp>
      <p:sp>
        <p:nvSpPr>
          <p:cNvPr id="9" name="矩形 8"/>
          <p:cNvSpPr/>
          <p:nvPr/>
        </p:nvSpPr>
        <p:spPr>
          <a:xfrm>
            <a:off x="4278313" y="3470275"/>
            <a:ext cx="1503362" cy="461963"/>
          </a:xfrm>
          <a:prstGeom prst="rect">
            <a:avLst/>
          </a:prstGeom>
        </p:spPr>
        <p:txBody>
          <a:bodyPr>
            <a:spAutoFit/>
          </a:bodyPr>
          <a:lstStyle/>
          <a:p>
            <a:pPr defTabSz="1083945">
              <a:defRPr/>
            </a:pPr>
            <a:r>
              <a:rPr lang="en-US" altLang="zh-CN" sz="2400" b="0" dirty="0">
                <a:solidFill>
                  <a:srgbClr val="0000FF"/>
                </a:solidFill>
                <a:latin typeface="Times New Roman" panose="02020603050405020304" pitchFamily="18" charset="0"/>
                <a:ea typeface="+mn-ea"/>
                <a:cs typeface="Times New Roman" panose="02020603050405020304" pitchFamily="18" charset="0"/>
              </a:rPr>
              <a:t>2/2=100%</a:t>
            </a:r>
            <a:endParaRPr lang="zh-CN" altLang="en-US" sz="2400" b="0" dirty="0">
              <a:solidFill>
                <a:srgbClr val="0000FF"/>
              </a:solidFill>
              <a:latin typeface="Times New Roman" panose="02020603050405020304" pitchFamily="18" charset="0"/>
              <a:ea typeface="+mn-ea"/>
              <a:cs typeface="Times New Roman" panose="02020603050405020304" pitchFamily="18" charset="0"/>
            </a:endParaRPr>
          </a:p>
        </p:txBody>
      </p:sp>
      <p:sp>
        <p:nvSpPr>
          <p:cNvPr id="10" name="矩形 9"/>
          <p:cNvSpPr/>
          <p:nvPr/>
        </p:nvSpPr>
        <p:spPr>
          <a:xfrm>
            <a:off x="4278313" y="4027488"/>
            <a:ext cx="1503362" cy="461962"/>
          </a:xfrm>
          <a:prstGeom prst="rect">
            <a:avLst/>
          </a:prstGeom>
        </p:spPr>
        <p:txBody>
          <a:bodyPr>
            <a:spAutoFit/>
          </a:bodyPr>
          <a:lstStyle/>
          <a:p>
            <a:pPr defTabSz="1083945">
              <a:defRPr/>
            </a:pPr>
            <a:r>
              <a:rPr lang="en-US" altLang="zh-CN" sz="2400" b="0" dirty="0">
                <a:solidFill>
                  <a:srgbClr val="0000FF"/>
                </a:solidFill>
                <a:latin typeface="Times New Roman" panose="02020603050405020304" pitchFamily="18" charset="0"/>
                <a:ea typeface="+mn-ea"/>
                <a:cs typeface="Times New Roman" panose="02020603050405020304" pitchFamily="18" charset="0"/>
              </a:rPr>
              <a:t>2/2=100%</a:t>
            </a:r>
            <a:endParaRPr lang="zh-CN" altLang="en-US" sz="2400" b="0" dirty="0">
              <a:solidFill>
                <a:srgbClr val="0000FF"/>
              </a:solidFill>
              <a:latin typeface="Times New Roman" panose="02020603050405020304" pitchFamily="18" charset="0"/>
              <a:ea typeface="+mn-ea"/>
              <a:cs typeface="Times New Roman" panose="02020603050405020304" pitchFamily="18" charset="0"/>
            </a:endParaRPr>
          </a:p>
        </p:txBody>
      </p:sp>
      <p:sp>
        <p:nvSpPr>
          <p:cNvPr id="11" name="矩形 10"/>
          <p:cNvSpPr/>
          <p:nvPr/>
        </p:nvSpPr>
        <p:spPr>
          <a:xfrm>
            <a:off x="4278313" y="4616450"/>
            <a:ext cx="1503362" cy="461963"/>
          </a:xfrm>
          <a:prstGeom prst="rect">
            <a:avLst/>
          </a:prstGeom>
        </p:spPr>
        <p:txBody>
          <a:bodyPr>
            <a:spAutoFit/>
          </a:bodyPr>
          <a:lstStyle/>
          <a:p>
            <a:pPr defTabSz="1083945">
              <a:defRPr/>
            </a:pPr>
            <a:r>
              <a:rPr lang="en-US" altLang="zh-CN" sz="2400" b="0" dirty="0">
                <a:solidFill>
                  <a:srgbClr val="0000FF"/>
                </a:solidFill>
                <a:latin typeface="Times New Roman" panose="02020603050405020304" pitchFamily="18" charset="0"/>
                <a:ea typeface="+mn-ea"/>
                <a:cs typeface="Times New Roman" panose="02020603050405020304" pitchFamily="18" charset="0"/>
              </a:rPr>
              <a:t>2/6=33%</a:t>
            </a:r>
            <a:endParaRPr lang="zh-CN" altLang="en-US" sz="2400" b="0" dirty="0">
              <a:solidFill>
                <a:srgbClr val="0000FF"/>
              </a:solidFill>
              <a:latin typeface="Times New Roman" panose="02020603050405020304" pitchFamily="18" charset="0"/>
              <a:ea typeface="+mn-ea"/>
              <a:cs typeface="Times New Roman" panose="02020603050405020304" pitchFamily="18" charset="0"/>
            </a:endParaRPr>
          </a:p>
        </p:txBody>
      </p:sp>
      <p:sp>
        <p:nvSpPr>
          <p:cNvPr id="12" name="矩形 11"/>
          <p:cNvSpPr/>
          <p:nvPr/>
        </p:nvSpPr>
        <p:spPr>
          <a:xfrm>
            <a:off x="4278313" y="5183188"/>
            <a:ext cx="1503362" cy="461962"/>
          </a:xfrm>
          <a:prstGeom prst="rect">
            <a:avLst/>
          </a:prstGeom>
        </p:spPr>
        <p:txBody>
          <a:bodyPr>
            <a:spAutoFit/>
          </a:bodyPr>
          <a:lstStyle/>
          <a:p>
            <a:pPr defTabSz="1083945">
              <a:defRPr/>
            </a:pPr>
            <a:r>
              <a:rPr lang="en-US" altLang="zh-CN" sz="2400" b="0" dirty="0">
                <a:solidFill>
                  <a:srgbClr val="0000FF"/>
                </a:solidFill>
                <a:latin typeface="Times New Roman" panose="02020603050405020304" pitchFamily="18" charset="0"/>
                <a:ea typeface="+mn-ea"/>
                <a:cs typeface="Times New Roman" panose="02020603050405020304" pitchFamily="18" charset="0"/>
              </a:rPr>
              <a:t>2/7=29%</a:t>
            </a:r>
            <a:endParaRPr lang="zh-CN" altLang="en-US" sz="2400" b="0" dirty="0">
              <a:solidFill>
                <a:srgbClr val="0000FF"/>
              </a:solidFill>
              <a:latin typeface="Times New Roman" panose="02020603050405020304" pitchFamily="18" charset="0"/>
              <a:ea typeface="+mn-ea"/>
              <a:cs typeface="Times New Roman" panose="02020603050405020304" pitchFamily="18" charset="0"/>
            </a:endParaRPr>
          </a:p>
        </p:txBody>
      </p:sp>
      <p:sp>
        <p:nvSpPr>
          <p:cNvPr id="13" name="矩形 12"/>
          <p:cNvSpPr/>
          <p:nvPr/>
        </p:nvSpPr>
        <p:spPr>
          <a:xfrm>
            <a:off x="4278313" y="5700713"/>
            <a:ext cx="1503362" cy="461962"/>
          </a:xfrm>
          <a:prstGeom prst="rect">
            <a:avLst/>
          </a:prstGeom>
        </p:spPr>
        <p:txBody>
          <a:bodyPr>
            <a:spAutoFit/>
          </a:bodyPr>
          <a:lstStyle/>
          <a:p>
            <a:pPr defTabSz="1083945">
              <a:defRPr/>
            </a:pPr>
            <a:r>
              <a:rPr lang="en-US" altLang="zh-CN" sz="2400" b="0" dirty="0">
                <a:solidFill>
                  <a:srgbClr val="0000FF"/>
                </a:solidFill>
                <a:latin typeface="Times New Roman" panose="02020603050405020304" pitchFamily="18" charset="0"/>
                <a:ea typeface="+mn-ea"/>
                <a:cs typeface="Times New Roman" panose="02020603050405020304" pitchFamily="18" charset="0"/>
              </a:rPr>
              <a:t>2/2=100%</a:t>
            </a:r>
            <a:endParaRPr lang="zh-CN" altLang="en-US" sz="2400" b="0" dirty="0">
              <a:solidFill>
                <a:srgbClr val="0000FF"/>
              </a:solidFill>
              <a:latin typeface="Times New Roman" panose="02020603050405020304" pitchFamily="18" charset="0"/>
              <a:ea typeface="+mn-ea"/>
              <a:cs typeface="Times New Roman" panose="02020603050405020304" pitchFamily="18" charset="0"/>
            </a:endParaRPr>
          </a:p>
        </p:txBody>
      </p:sp>
      <p:sp>
        <p:nvSpPr>
          <p:cNvPr id="8" name="矩形 7"/>
          <p:cNvSpPr/>
          <p:nvPr/>
        </p:nvSpPr>
        <p:spPr>
          <a:xfrm>
            <a:off x="766763" y="3475038"/>
            <a:ext cx="4953000" cy="4794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5" name="矩形 14"/>
          <p:cNvSpPr/>
          <p:nvPr/>
        </p:nvSpPr>
        <p:spPr>
          <a:xfrm>
            <a:off x="766763" y="4051300"/>
            <a:ext cx="4953000" cy="47783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6" name="矩形 15"/>
          <p:cNvSpPr/>
          <p:nvPr/>
        </p:nvSpPr>
        <p:spPr>
          <a:xfrm>
            <a:off x="766763" y="5683250"/>
            <a:ext cx="4953000" cy="4794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4" name="矩形 13"/>
          <p:cNvSpPr/>
          <p:nvPr/>
        </p:nvSpPr>
        <p:spPr>
          <a:xfrm>
            <a:off x="3306763" y="6375337"/>
            <a:ext cx="4186237" cy="461962"/>
          </a:xfrm>
          <a:prstGeom prst="rect">
            <a:avLst/>
          </a:prstGeom>
        </p:spPr>
        <p:txBody>
          <a:bodyPr wrap="none">
            <a:spAutoFit/>
          </a:bodyPr>
          <a:lstStyle/>
          <a:p>
            <a:pPr eaLnBrk="1" hangingPunct="1">
              <a:defRPr/>
            </a:pPr>
            <a:r>
              <a:rPr lang="zh-CN" altLang="en-US" sz="2400" b="0" dirty="0">
                <a:solidFill>
                  <a:srgbClr val="0000FF"/>
                </a:solidFill>
                <a:latin typeface="Times New Roman" panose="02020603050405020304" pitchFamily="18" charset="0"/>
                <a:ea typeface="+mn-ea"/>
                <a:cs typeface="Times New Roman" panose="02020603050405020304" pitchFamily="18" charset="0"/>
              </a:rPr>
              <a:t>则只有第</a:t>
            </a:r>
            <a:r>
              <a:rPr lang="en-US" altLang="zh-CN" sz="2400" b="0" dirty="0">
                <a:solidFill>
                  <a:srgbClr val="0000FF"/>
                </a:solidFill>
                <a:latin typeface="Times New Roman" panose="02020603050405020304" pitchFamily="18" charset="0"/>
                <a:ea typeface="+mn-ea"/>
                <a:cs typeface="Times New Roman" panose="02020603050405020304" pitchFamily="18" charset="0"/>
              </a:rPr>
              <a:t>2</a:t>
            </a:r>
            <a:r>
              <a:rPr lang="zh-CN" altLang="en-US" sz="2400" b="0" dirty="0">
                <a:solidFill>
                  <a:srgbClr val="0000FF"/>
                </a:solidFill>
                <a:latin typeface="Times New Roman" panose="02020603050405020304" pitchFamily="18" charset="0"/>
                <a:ea typeface="+mn-ea"/>
                <a:cs typeface="Times New Roman" panose="02020603050405020304" pitchFamily="18" charset="0"/>
              </a:rPr>
              <a:t>，</a:t>
            </a:r>
            <a:r>
              <a:rPr lang="en-US" altLang="zh-CN" sz="2400" b="0" dirty="0">
                <a:solidFill>
                  <a:srgbClr val="0000FF"/>
                </a:solidFill>
                <a:latin typeface="Times New Roman" panose="02020603050405020304" pitchFamily="18" charset="0"/>
                <a:ea typeface="+mn-ea"/>
                <a:cs typeface="Times New Roman" panose="02020603050405020304" pitchFamily="18" charset="0"/>
              </a:rPr>
              <a:t>3</a:t>
            </a:r>
            <a:r>
              <a:rPr lang="zh-CN" altLang="en-US" sz="2400" b="0" dirty="0">
                <a:solidFill>
                  <a:srgbClr val="0000FF"/>
                </a:solidFill>
                <a:latin typeface="Times New Roman" panose="02020603050405020304" pitchFamily="18" charset="0"/>
                <a:ea typeface="+mn-ea"/>
                <a:cs typeface="Times New Roman" panose="02020603050405020304" pitchFamily="18" charset="0"/>
              </a:rPr>
              <a:t>，</a:t>
            </a:r>
            <a:r>
              <a:rPr lang="en-US" altLang="zh-CN" sz="2400" b="0" dirty="0">
                <a:solidFill>
                  <a:srgbClr val="0000FF"/>
                </a:solidFill>
                <a:latin typeface="Times New Roman" panose="02020603050405020304" pitchFamily="18" charset="0"/>
                <a:ea typeface="+mn-ea"/>
                <a:cs typeface="Times New Roman" panose="02020603050405020304" pitchFamily="18" charset="0"/>
              </a:rPr>
              <a:t>6</a:t>
            </a:r>
            <a:r>
              <a:rPr lang="zh-CN" altLang="en-US" sz="2400" b="0" dirty="0">
                <a:solidFill>
                  <a:srgbClr val="0000FF"/>
                </a:solidFill>
                <a:latin typeface="Times New Roman" panose="02020603050405020304" pitchFamily="18" charset="0"/>
                <a:ea typeface="+mn-ea"/>
                <a:cs typeface="Times New Roman" panose="02020603050405020304" pitchFamily="18" charset="0"/>
              </a:rPr>
              <a:t>是强关联。</a:t>
            </a:r>
            <a:r>
              <a:rPr lang="en-US" altLang="zh-CN" sz="2400" b="0" dirty="0">
                <a:solidFill>
                  <a:srgbClr val="0000FF"/>
                </a:solidFill>
                <a:latin typeface="Times New Roman" panose="02020603050405020304" pitchFamily="18" charset="0"/>
                <a:ea typeface="+mn-ea"/>
                <a:cs typeface="Times New Roman" panose="02020603050405020304" pitchFamily="18" charset="0"/>
              </a:rPr>
              <a:t> </a:t>
            </a:r>
            <a:endParaRPr lang="en-US" altLang="zh-CN" sz="2400" b="0" dirty="0">
              <a:solidFill>
                <a:srgbClr val="0000FF"/>
              </a:solidFill>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8"/>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1" grpId="0"/>
      <p:bldP spid="12" grpId="0"/>
      <p:bldP spid="13" grpId="0"/>
      <p:bldP spid="8" grpId="0" animBg="1"/>
      <p:bldP spid="15" grpId="0" animBg="1"/>
      <p:bldP spid="16" grpId="0" animBg="1"/>
      <p:bldP spid="1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a:t>
            </a:r>
            <a:r>
              <a:rPr lang="en-US" altLang="zh-CN" sz="4400" dirty="0">
                <a:latin typeface="楷体" panose="02010609060101010101" pitchFamily="49" charset="-122"/>
                <a:ea typeface="楷体" panose="02010609060101010101" pitchFamily="49" charset="-122"/>
              </a:rPr>
              <a:t>6.2 </a:t>
            </a:r>
            <a:r>
              <a:rPr lang="zh-CN" altLang="en-US" sz="4400" dirty="0">
                <a:latin typeface="楷体" panose="02010609060101010101" pitchFamily="49" charset="-122"/>
                <a:ea typeface="楷体" panose="02010609060101010101" pitchFamily="49" charset="-122"/>
              </a:rPr>
              <a:t>频繁项集挖掘方法</a:t>
            </a:r>
            <a:endParaRPr lang="zh-CN" altLang="en-US" sz="4400" dirty="0">
              <a:latin typeface="楷体" panose="02010609060101010101" pitchFamily="49" charset="-122"/>
              <a:ea typeface="楷体" panose="02010609060101010101" pitchFamily="49" charset="-122"/>
            </a:endParaRPr>
          </a:p>
        </p:txBody>
      </p:sp>
      <p:sp>
        <p:nvSpPr>
          <p:cNvPr id="4" name="Rectangle 3"/>
          <p:cNvSpPr>
            <a:spLocks noGrp="1" noChangeArrowheads="1"/>
          </p:cNvSpPr>
          <p:nvPr>
            <p:ph idx="1"/>
          </p:nvPr>
        </p:nvSpPr>
        <p:spPr>
          <a:xfrm>
            <a:off x="522288" y="1160463"/>
            <a:ext cx="9906000" cy="4953000"/>
          </a:xfrm>
        </p:spPr>
        <p:txBody>
          <a:bodyPr/>
          <a:lstStyle/>
          <a:p>
            <a:pPr marL="0" indent="0" defTabSz="868680" eaLnBrk="1" hangingPunct="1">
              <a:buFont typeface="Arial" panose="020B0604020202020204" pitchFamily="34" charset="0"/>
              <a:buNone/>
              <a:defRPr/>
            </a:pPr>
            <a:r>
              <a:rPr lang="en-US" altLang="zh-CN" sz="2400" b="1" dirty="0">
                <a:solidFill>
                  <a:srgbClr val="0000FF"/>
                </a:solidFill>
                <a:latin typeface="+mn-ea"/>
                <a:ea typeface="+mn-ea"/>
                <a:cs typeface="Times New Roman" panose="02020603050405020304" pitchFamily="18" charset="0"/>
              </a:rPr>
              <a:t>3</a:t>
            </a:r>
            <a:r>
              <a:rPr lang="zh-CN" altLang="en-US" sz="2400" b="1" dirty="0">
                <a:solidFill>
                  <a:srgbClr val="0000FF"/>
                </a:solidFill>
                <a:latin typeface="+mn-ea"/>
                <a:ea typeface="+mn-ea"/>
                <a:cs typeface="Times New Roman" panose="02020603050405020304" pitchFamily="18" charset="0"/>
              </a:rPr>
              <a:t>、提高</a:t>
            </a:r>
            <a:r>
              <a:rPr lang="en-US" altLang="zh-CN" sz="2400" b="1" dirty="0" err="1">
                <a:solidFill>
                  <a:srgbClr val="0000FF"/>
                </a:solidFill>
                <a:latin typeface="+mn-ea"/>
                <a:ea typeface="+mn-ea"/>
                <a:cs typeface="Times New Roman" panose="02020603050405020304" pitchFamily="18" charset="0"/>
              </a:rPr>
              <a:t>Apriori</a:t>
            </a:r>
            <a:r>
              <a:rPr lang="zh-CN" altLang="en-US" sz="2400" b="1" dirty="0">
                <a:solidFill>
                  <a:srgbClr val="0000FF"/>
                </a:solidFill>
                <a:latin typeface="+mn-ea"/>
                <a:ea typeface="+mn-ea"/>
                <a:cs typeface="Times New Roman" panose="02020603050405020304" pitchFamily="18" charset="0"/>
              </a:rPr>
              <a:t>算法的效率</a:t>
            </a:r>
            <a:endParaRPr lang="en-US" altLang="zh-CN" sz="2400" b="1" dirty="0">
              <a:solidFill>
                <a:srgbClr val="0000FF"/>
              </a:solidFill>
              <a:latin typeface="+mn-ea"/>
              <a:ea typeface="+mn-ea"/>
              <a:cs typeface="Times New Roman" panose="02020603050405020304" pitchFamily="18" charset="0"/>
            </a:endParaRPr>
          </a:p>
          <a:p>
            <a:pPr marL="382905" lvl="1" indent="0" defTabSz="868680" eaLnBrk="1" hangingPunct="1">
              <a:buFont typeface="Arial" panose="020B0604020202020204" pitchFamily="34" charset="0"/>
              <a:buNone/>
              <a:defRPr/>
            </a:pPr>
            <a:r>
              <a:rPr lang="en-US" altLang="zh-CN" sz="2400" b="1" dirty="0" err="1">
                <a:latin typeface="+mn-ea"/>
                <a:ea typeface="+mn-ea"/>
                <a:cs typeface="Times New Roman" panose="02020603050405020304" pitchFamily="18" charset="0"/>
              </a:rPr>
              <a:t>Apriori</a:t>
            </a:r>
            <a:r>
              <a:rPr lang="zh-CN" altLang="en-US" sz="2400" b="1" dirty="0">
                <a:latin typeface="+mn-ea"/>
                <a:ea typeface="+mn-ea"/>
                <a:cs typeface="Times New Roman" panose="02020603050405020304" pitchFamily="18" charset="0"/>
              </a:rPr>
              <a:t>算法存在的缺点：</a:t>
            </a:r>
            <a:endParaRPr lang="en-US" altLang="zh-CN" sz="2400" dirty="0">
              <a:latin typeface="+mn-ea"/>
              <a:ea typeface="+mn-ea"/>
              <a:cs typeface="Times New Roman" panose="02020603050405020304" pitchFamily="18" charset="0"/>
            </a:endParaRPr>
          </a:p>
          <a:p>
            <a:pPr lvl="1" defTabSz="868680" eaLnBrk="1" hangingPunct="1">
              <a:buFont typeface="Wingdings" panose="05000000000000000000" pitchFamily="2" charset="2"/>
              <a:buChar char="Ø"/>
              <a:defRPr/>
            </a:pPr>
            <a:r>
              <a:rPr lang="zh-CN" altLang="en-US" sz="2400" dirty="0">
                <a:solidFill>
                  <a:srgbClr val="FF0000"/>
                </a:solidFill>
                <a:latin typeface="+mn-ea"/>
                <a:ea typeface="+mn-ea"/>
                <a:cs typeface="Times New Roman" panose="02020603050405020304" pitchFamily="18" charset="0"/>
              </a:rPr>
              <a:t>可能产生大量的候选项集</a:t>
            </a:r>
            <a:endParaRPr lang="en-US" altLang="zh-CN" sz="2400" dirty="0">
              <a:solidFill>
                <a:srgbClr val="FF0000"/>
              </a:solidFill>
              <a:latin typeface="+mn-ea"/>
              <a:ea typeface="+mn-ea"/>
              <a:cs typeface="Times New Roman" panose="02020603050405020304" pitchFamily="18" charset="0"/>
            </a:endParaRPr>
          </a:p>
          <a:p>
            <a:pPr marL="1085850" lvl="2" indent="-271780" defTabSz="868680" eaLnBrk="1" hangingPunct="1">
              <a:defRPr/>
            </a:pPr>
            <a:r>
              <a:rPr lang="en-US" altLang="zh-CN" sz="2400" dirty="0">
                <a:latin typeface="+mn-ea"/>
                <a:ea typeface="+mn-ea"/>
                <a:cs typeface="Times New Roman" panose="02020603050405020304" pitchFamily="18" charset="0"/>
              </a:rPr>
              <a:t>10</a:t>
            </a:r>
            <a:r>
              <a:rPr lang="en-US" altLang="zh-CN" sz="2400" baseline="30000" dirty="0">
                <a:latin typeface="+mn-ea"/>
                <a:ea typeface="+mn-ea"/>
                <a:cs typeface="Times New Roman" panose="02020603050405020304" pitchFamily="18" charset="0"/>
              </a:rPr>
              <a:t>2</a:t>
            </a:r>
            <a:r>
              <a:rPr lang="zh-CN" altLang="en-US" sz="2400" dirty="0">
                <a:latin typeface="+mn-ea"/>
                <a:ea typeface="+mn-ea"/>
                <a:cs typeface="Times New Roman" panose="02020603050405020304" pitchFamily="18" charset="0"/>
              </a:rPr>
              <a:t>个频繁</a:t>
            </a:r>
            <a:r>
              <a:rPr lang="en-US" altLang="zh-CN" sz="2400" dirty="0">
                <a:latin typeface="+mn-ea"/>
                <a:ea typeface="+mn-ea"/>
                <a:cs typeface="Times New Roman" panose="02020603050405020304" pitchFamily="18" charset="0"/>
              </a:rPr>
              <a:t>1</a:t>
            </a:r>
            <a:r>
              <a:rPr lang="zh-CN" altLang="en-US" sz="2400" dirty="0">
                <a:latin typeface="+mn-ea"/>
                <a:ea typeface="+mn-ea"/>
                <a:cs typeface="Times New Roman" panose="02020603050405020304" pitchFamily="18" charset="0"/>
              </a:rPr>
              <a:t>项集，产生多达</a:t>
            </a:r>
            <a:r>
              <a:rPr lang="en-US" altLang="zh-CN" sz="2400" dirty="0">
                <a:latin typeface="+mn-ea"/>
                <a:ea typeface="+mn-ea"/>
                <a:cs typeface="Times New Roman" panose="02020603050405020304" pitchFamily="18" charset="0"/>
              </a:rPr>
              <a:t>10</a:t>
            </a:r>
            <a:r>
              <a:rPr lang="en-US" altLang="zh-CN" sz="2400" baseline="30000" dirty="0">
                <a:latin typeface="+mn-ea"/>
                <a:ea typeface="+mn-ea"/>
                <a:cs typeface="Times New Roman" panose="02020603050405020304" pitchFamily="18" charset="0"/>
              </a:rPr>
              <a:t>3</a:t>
            </a:r>
            <a:r>
              <a:rPr lang="zh-CN" altLang="en-US" sz="2400" dirty="0">
                <a:latin typeface="+mn-ea"/>
                <a:ea typeface="+mn-ea"/>
                <a:cs typeface="Times New Roman" panose="02020603050405020304" pitchFamily="18" charset="0"/>
              </a:rPr>
              <a:t>个候选</a:t>
            </a:r>
            <a:r>
              <a:rPr lang="en-US" altLang="zh-CN" sz="2400" dirty="0">
                <a:latin typeface="+mn-ea"/>
                <a:ea typeface="+mn-ea"/>
                <a:cs typeface="Times New Roman" panose="02020603050405020304" pitchFamily="18" charset="0"/>
              </a:rPr>
              <a:t>2</a:t>
            </a:r>
            <a:r>
              <a:rPr lang="zh-CN" altLang="en-US" sz="2400" dirty="0">
                <a:latin typeface="+mn-ea"/>
                <a:ea typeface="+mn-ea"/>
                <a:cs typeface="Times New Roman" panose="02020603050405020304" pitchFamily="18" charset="0"/>
              </a:rPr>
              <a:t>项集</a:t>
            </a:r>
            <a:endParaRPr lang="en-US" altLang="zh-CN" sz="2400" dirty="0">
              <a:latin typeface="+mn-ea"/>
              <a:ea typeface="+mn-ea"/>
              <a:cs typeface="Times New Roman" panose="02020603050405020304" pitchFamily="18" charset="0"/>
            </a:endParaRPr>
          </a:p>
          <a:p>
            <a:pPr marL="1085850" lvl="2" indent="-271780" defTabSz="868680" eaLnBrk="1" hangingPunct="1">
              <a:defRPr/>
            </a:pPr>
            <a:r>
              <a:rPr lang="zh-CN" altLang="en-US" sz="2400" dirty="0">
                <a:latin typeface="+mn-ea"/>
                <a:ea typeface="+mn-ea"/>
                <a:cs typeface="Times New Roman" panose="02020603050405020304" pitchFamily="18" charset="0"/>
              </a:rPr>
              <a:t>发掘一个频繁模式</a:t>
            </a:r>
            <a:r>
              <a:rPr lang="en-US" altLang="zh-CN" sz="2400" dirty="0">
                <a:latin typeface="+mn-ea"/>
                <a:ea typeface="+mn-ea"/>
                <a:cs typeface="Times New Roman" panose="02020603050405020304" pitchFamily="18" charset="0"/>
              </a:rPr>
              <a:t>{a</a:t>
            </a:r>
            <a:r>
              <a:rPr lang="en-US" altLang="zh-CN" sz="2400" baseline="-25000" dirty="0">
                <a:latin typeface="+mn-ea"/>
                <a:ea typeface="+mn-ea"/>
                <a:cs typeface="Times New Roman" panose="02020603050405020304" pitchFamily="18" charset="0"/>
              </a:rPr>
              <a:t>1</a:t>
            </a:r>
            <a:r>
              <a:rPr lang="zh-CN" altLang="en-US" sz="2400" dirty="0">
                <a:latin typeface="+mn-ea"/>
                <a:ea typeface="+mn-ea"/>
                <a:cs typeface="Times New Roman" panose="02020603050405020304" pitchFamily="18" charset="0"/>
              </a:rPr>
              <a:t>，</a:t>
            </a:r>
            <a:r>
              <a:rPr lang="en-US" altLang="zh-CN" sz="2400" dirty="0">
                <a:latin typeface="+mn-ea"/>
                <a:ea typeface="+mn-ea"/>
                <a:cs typeface="Times New Roman" panose="02020603050405020304" pitchFamily="18" charset="0"/>
              </a:rPr>
              <a:t>…</a:t>
            </a:r>
            <a:r>
              <a:rPr lang="zh-CN" altLang="en-US" sz="2400" dirty="0">
                <a:latin typeface="+mn-ea"/>
                <a:ea typeface="+mn-ea"/>
                <a:cs typeface="Times New Roman" panose="02020603050405020304" pitchFamily="18" charset="0"/>
              </a:rPr>
              <a:t>，</a:t>
            </a:r>
            <a:r>
              <a:rPr lang="en-US" altLang="zh-CN" sz="2400" dirty="0">
                <a:latin typeface="+mn-ea"/>
                <a:ea typeface="+mn-ea"/>
                <a:cs typeface="Times New Roman" panose="02020603050405020304" pitchFamily="18" charset="0"/>
              </a:rPr>
              <a:t>a</a:t>
            </a:r>
            <a:r>
              <a:rPr lang="en-US" altLang="zh-CN" sz="2400" baseline="-25000" dirty="0">
                <a:latin typeface="+mn-ea"/>
                <a:ea typeface="+mn-ea"/>
                <a:cs typeface="Times New Roman" panose="02020603050405020304" pitchFamily="18" charset="0"/>
              </a:rPr>
              <a:t>100</a:t>
            </a:r>
            <a:r>
              <a:rPr lang="en-US" altLang="zh-CN" sz="2400" dirty="0">
                <a:latin typeface="+mn-ea"/>
                <a:ea typeface="+mn-ea"/>
                <a:cs typeface="Times New Roman" panose="02020603050405020304" pitchFamily="18" charset="0"/>
              </a:rPr>
              <a:t>}</a:t>
            </a:r>
            <a:r>
              <a:rPr lang="zh-CN" altLang="en-US" sz="2400" dirty="0">
                <a:latin typeface="+mn-ea"/>
                <a:ea typeface="+mn-ea"/>
                <a:cs typeface="Times New Roman" panose="02020603050405020304" pitchFamily="18" charset="0"/>
              </a:rPr>
              <a:t>，多达</a:t>
            </a:r>
            <a:r>
              <a:rPr lang="en-US" altLang="zh-CN" sz="2400" dirty="0">
                <a:latin typeface="+mn-ea"/>
                <a:ea typeface="+mn-ea"/>
                <a:cs typeface="Times New Roman" panose="02020603050405020304" pitchFamily="18" charset="0"/>
              </a:rPr>
              <a:t>10</a:t>
            </a:r>
            <a:r>
              <a:rPr lang="en-US" altLang="zh-CN" sz="2400" baseline="30000" dirty="0">
                <a:latin typeface="+mn-ea"/>
                <a:ea typeface="+mn-ea"/>
                <a:cs typeface="Times New Roman" panose="02020603050405020304" pitchFamily="18" charset="0"/>
              </a:rPr>
              <a:t>30</a:t>
            </a:r>
            <a:r>
              <a:rPr lang="zh-CN" altLang="en-US" sz="2400" dirty="0">
                <a:latin typeface="+mn-ea"/>
                <a:ea typeface="+mn-ea"/>
                <a:cs typeface="Times New Roman" panose="02020603050405020304" pitchFamily="18" charset="0"/>
              </a:rPr>
              <a:t>个候选项集</a:t>
            </a:r>
            <a:endParaRPr lang="en-US" altLang="zh-CN" sz="2400" dirty="0">
              <a:latin typeface="+mn-ea"/>
              <a:ea typeface="+mn-ea"/>
              <a:cs typeface="Times New Roman" panose="02020603050405020304" pitchFamily="18" charset="0"/>
            </a:endParaRPr>
          </a:p>
          <a:p>
            <a:pPr lvl="1" defTabSz="868680" eaLnBrk="1" hangingPunct="1">
              <a:spcBef>
                <a:spcPts val="1200"/>
              </a:spcBef>
              <a:buFont typeface="Wingdings" panose="05000000000000000000" pitchFamily="2" charset="2"/>
              <a:buChar char="Ø"/>
              <a:defRPr/>
            </a:pPr>
            <a:r>
              <a:rPr lang="zh-CN" altLang="en-US" sz="2400" dirty="0">
                <a:solidFill>
                  <a:srgbClr val="FF0000"/>
                </a:solidFill>
                <a:latin typeface="+mn-ea"/>
                <a:ea typeface="+mn-ea"/>
              </a:rPr>
              <a:t>需要重复扫描整个数据集，效率低</a:t>
            </a:r>
            <a:endParaRPr lang="en-US" altLang="zh-CN" sz="2400" dirty="0">
              <a:solidFill>
                <a:srgbClr val="FF0000"/>
              </a:solidFill>
              <a:latin typeface="+mn-ea"/>
              <a:ea typeface="+mn-ea"/>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a:t>
            </a:r>
            <a:r>
              <a:rPr lang="en-US" altLang="zh-CN" sz="4400" dirty="0">
                <a:latin typeface="楷体" panose="02010609060101010101" pitchFamily="49" charset="-122"/>
                <a:ea typeface="楷体" panose="02010609060101010101" pitchFamily="49" charset="-122"/>
              </a:rPr>
              <a:t>6.2 </a:t>
            </a:r>
            <a:r>
              <a:rPr lang="zh-CN" altLang="en-US" sz="4400" dirty="0">
                <a:latin typeface="楷体" panose="02010609060101010101" pitchFamily="49" charset="-122"/>
                <a:ea typeface="楷体" panose="02010609060101010101" pitchFamily="49" charset="-122"/>
              </a:rPr>
              <a:t>频繁项集挖掘方法</a:t>
            </a:r>
            <a:endParaRPr lang="zh-CN" altLang="en-US" sz="4400" dirty="0">
              <a:latin typeface="楷体" panose="02010609060101010101" pitchFamily="49" charset="-122"/>
              <a:ea typeface="楷体" panose="02010609060101010101" pitchFamily="49" charset="-122"/>
            </a:endParaRPr>
          </a:p>
        </p:txBody>
      </p:sp>
      <p:sp>
        <p:nvSpPr>
          <p:cNvPr id="45059" name="Rectangle 3"/>
          <p:cNvSpPr>
            <a:spLocks noGrp="1"/>
          </p:cNvSpPr>
          <p:nvPr>
            <p:ph idx="1"/>
          </p:nvPr>
        </p:nvSpPr>
        <p:spPr>
          <a:xfrm>
            <a:off x="522288" y="1160463"/>
            <a:ext cx="9906000" cy="5638800"/>
          </a:xfrm>
        </p:spPr>
        <p:txBody>
          <a:bodyPr/>
          <a:lstStyle/>
          <a:p>
            <a:pPr marL="0" indent="0" defTabSz="868680" eaLnBrk="1" hangingPunct="1">
              <a:spcBef>
                <a:spcPct val="0"/>
              </a:spcBef>
              <a:buFont typeface="Arial" panose="020B0604020202020204" pitchFamily="34" charset="0"/>
              <a:buNone/>
              <a:defRPr/>
            </a:pPr>
            <a:r>
              <a:rPr lang="en-US" altLang="zh-CN" sz="2400" b="1" noProof="1">
                <a:solidFill>
                  <a:srgbClr val="0000FF"/>
                </a:solidFill>
                <a:latin typeface="宋体" panose="02010600030101010101" pitchFamily="2" charset="-122"/>
                <a:ea typeface="宋体" panose="02010600030101010101" pitchFamily="2" charset="-122"/>
              </a:rPr>
              <a:t>3</a:t>
            </a:r>
            <a:r>
              <a:rPr lang="zh-CN" altLang="en-US" sz="2400" b="1" noProof="1">
                <a:solidFill>
                  <a:srgbClr val="0000FF"/>
                </a:solidFill>
                <a:latin typeface="宋体" panose="02010600030101010101" pitchFamily="2" charset="-122"/>
                <a:ea typeface="宋体" panose="02010600030101010101" pitchFamily="2" charset="-122"/>
              </a:rPr>
              <a:t>、提高</a:t>
            </a:r>
            <a:r>
              <a:rPr lang="en-US" altLang="zh-CN" sz="2400" b="1" noProof="1">
                <a:solidFill>
                  <a:srgbClr val="0000FF"/>
                </a:solidFill>
                <a:latin typeface="宋体" panose="02010600030101010101" pitchFamily="2" charset="-122"/>
                <a:ea typeface="宋体" panose="02010600030101010101" pitchFamily="2" charset="-122"/>
              </a:rPr>
              <a:t>Apriori</a:t>
            </a:r>
            <a:r>
              <a:rPr lang="zh-CN" altLang="en-US" sz="2400" b="1" noProof="1">
                <a:solidFill>
                  <a:srgbClr val="0000FF"/>
                </a:solidFill>
                <a:latin typeface="宋体" panose="02010600030101010101" pitchFamily="2" charset="-122"/>
                <a:ea typeface="宋体" panose="02010600030101010101" pitchFamily="2" charset="-122"/>
              </a:rPr>
              <a:t>算法的效率</a:t>
            </a:r>
            <a:endParaRPr lang="en-US" altLang="zh-CN" sz="2400" b="1" noProof="1">
              <a:solidFill>
                <a:srgbClr val="0000FF"/>
              </a:solidFill>
              <a:latin typeface="宋体" panose="02010600030101010101" pitchFamily="2" charset="-122"/>
              <a:ea typeface="宋体" panose="02010600030101010101" pitchFamily="2" charset="-122"/>
            </a:endParaRPr>
          </a:p>
          <a:p>
            <a:pPr marL="0" indent="0" defTabSz="868680" eaLnBrk="1" hangingPunct="1">
              <a:spcBef>
                <a:spcPct val="0"/>
              </a:spcBef>
              <a:buFont typeface="Arial" panose="020B0604020202020204" pitchFamily="34" charset="0"/>
              <a:buNone/>
              <a:defRPr/>
            </a:pPr>
            <a:r>
              <a:rPr lang="en-US" altLang="zh-CN" sz="2400" b="1" noProof="1">
                <a:latin typeface="宋体" panose="02010600030101010101" pitchFamily="2" charset="-122"/>
                <a:ea typeface="宋体" panose="02010600030101010101" pitchFamily="2" charset="-122"/>
              </a:rPr>
              <a:t>Apriori</a:t>
            </a:r>
            <a:r>
              <a:rPr lang="zh-CN" altLang="en-US" sz="2400" b="1" noProof="1">
                <a:latin typeface="宋体" panose="02010600030101010101" pitchFamily="2" charset="-122"/>
                <a:ea typeface="宋体" panose="02010600030101010101" pitchFamily="2" charset="-122"/>
              </a:rPr>
              <a:t>算法有以下几种变形：</a:t>
            </a:r>
            <a:endParaRPr lang="en-US" altLang="zh-CN" sz="2400" b="1" noProof="1">
              <a:latin typeface="宋体" panose="02010600030101010101" pitchFamily="2" charset="-122"/>
              <a:ea typeface="宋体" panose="02010600030101010101" pitchFamily="2" charset="-122"/>
            </a:endParaRPr>
          </a:p>
          <a:p>
            <a:pPr marL="339725" indent="-321310" defTabSz="868680" eaLnBrk="1" hangingPunct="1">
              <a:spcBef>
                <a:spcPct val="0"/>
              </a:spcBef>
              <a:buFontTx/>
              <a:buAutoNum type="circleNumDbPlain"/>
              <a:defRPr/>
            </a:pPr>
            <a:r>
              <a:rPr lang="zh-CN" altLang="en-US" sz="2000" b="1" noProof="1">
                <a:latin typeface="宋体" panose="02010600030101010101" pitchFamily="2" charset="-122"/>
                <a:ea typeface="宋体" panose="02010600030101010101" pitchFamily="2" charset="-122"/>
              </a:rPr>
              <a:t>基于散列的技术（散列项集到对应的桶中）</a:t>
            </a:r>
            <a:r>
              <a:rPr lang="zh-CN" altLang="en-US" sz="2000" noProof="1">
                <a:latin typeface="宋体" panose="02010600030101010101" pitchFamily="2" charset="-122"/>
                <a:ea typeface="宋体" panose="02010600030101010101" pitchFamily="2" charset="-122"/>
              </a:rPr>
              <a:t>：用于</a:t>
            </a:r>
            <a:r>
              <a:rPr lang="zh-CN" altLang="en-US" sz="2000" noProof="1">
                <a:solidFill>
                  <a:srgbClr val="FF0000"/>
                </a:solidFill>
                <a:latin typeface="宋体" panose="02010600030101010101" pitchFamily="2" charset="-122"/>
                <a:ea typeface="宋体" panose="02010600030101010101" pitchFamily="2" charset="-122"/>
              </a:rPr>
              <a:t>压缩候选</a:t>
            </a:r>
            <a:r>
              <a:rPr lang="en-US" altLang="zh-CN" sz="2000" noProof="1">
                <a:solidFill>
                  <a:srgbClr val="FF0000"/>
                </a:solidFill>
                <a:latin typeface="宋体" panose="02010600030101010101" pitchFamily="2" charset="-122"/>
                <a:ea typeface="宋体" panose="02010600030101010101" pitchFamily="2" charset="-122"/>
              </a:rPr>
              <a:t>k</a:t>
            </a:r>
            <a:r>
              <a:rPr lang="zh-CN" altLang="en-US" sz="2000" noProof="1">
                <a:solidFill>
                  <a:srgbClr val="FF0000"/>
                </a:solidFill>
                <a:latin typeface="宋体" panose="02010600030101010101" pitchFamily="2" charset="-122"/>
                <a:ea typeface="宋体" panose="02010600030101010101" pitchFamily="2" charset="-122"/>
              </a:rPr>
              <a:t>项集的集合</a:t>
            </a:r>
            <a:r>
              <a:rPr lang="en-US" altLang="zh-CN" sz="2000" noProof="1">
                <a:solidFill>
                  <a:srgbClr val="FF0000"/>
                </a:solidFill>
                <a:latin typeface="宋体" panose="02010600030101010101" pitchFamily="2" charset="-122"/>
                <a:ea typeface="宋体" panose="02010600030101010101" pitchFamily="2" charset="-122"/>
              </a:rPr>
              <a:t>C</a:t>
            </a:r>
            <a:r>
              <a:rPr lang="en-US" altLang="zh-CN" sz="2000" baseline="-25000" noProof="1">
                <a:solidFill>
                  <a:srgbClr val="FF0000"/>
                </a:solidFill>
                <a:latin typeface="宋体" panose="02010600030101010101" pitchFamily="2" charset="-122"/>
                <a:ea typeface="宋体" panose="02010600030101010101" pitchFamily="2" charset="-122"/>
              </a:rPr>
              <a:t>k</a:t>
            </a:r>
            <a:r>
              <a:rPr lang="en-US" altLang="zh-CN" sz="2000" noProof="1">
                <a:latin typeface="宋体" panose="02010600030101010101" pitchFamily="2" charset="-122"/>
                <a:ea typeface="宋体" panose="02010600030101010101" pitchFamily="2" charset="-122"/>
              </a:rPr>
              <a:t>(k&gt;1)</a:t>
            </a:r>
            <a:r>
              <a:rPr lang="zh-CN" altLang="en-US" sz="2000" noProof="1">
                <a:latin typeface="宋体" panose="02010600030101010101" pitchFamily="2" charset="-122"/>
                <a:ea typeface="宋体" panose="02010600030101010101" pitchFamily="2" charset="-122"/>
              </a:rPr>
              <a:t>。</a:t>
            </a:r>
            <a:endParaRPr lang="en-US" altLang="zh-CN" sz="2000" noProof="1">
              <a:latin typeface="宋体" panose="02010600030101010101" pitchFamily="2" charset="-122"/>
              <a:ea typeface="宋体" panose="02010600030101010101" pitchFamily="2" charset="-122"/>
            </a:endParaRPr>
          </a:p>
          <a:p>
            <a:pPr marL="339725" indent="-321310" defTabSz="868680" eaLnBrk="1" hangingPunct="1">
              <a:spcBef>
                <a:spcPct val="0"/>
              </a:spcBef>
              <a:buFontTx/>
              <a:buAutoNum type="circleNumDbPlain"/>
              <a:defRPr/>
            </a:pPr>
            <a:r>
              <a:rPr lang="zh-CN" altLang="en-US" sz="2000" b="1" noProof="1">
                <a:latin typeface="宋体" panose="02010600030101010101" pitchFamily="2" charset="-122"/>
                <a:ea typeface="宋体" panose="02010600030101010101" pitchFamily="2" charset="-122"/>
              </a:rPr>
              <a:t>事务压缩（压缩进一步迭代扫描的事务数）：</a:t>
            </a:r>
            <a:r>
              <a:rPr lang="zh-CN" altLang="en-US" sz="2000" noProof="1">
                <a:solidFill>
                  <a:srgbClr val="FF0000"/>
                </a:solidFill>
                <a:latin typeface="宋体" panose="02010600030101010101" pitchFamily="2" charset="-122"/>
                <a:ea typeface="宋体" panose="02010600030101010101" pitchFamily="2" charset="-122"/>
              </a:rPr>
              <a:t>不包含任何频繁</a:t>
            </a:r>
            <a:r>
              <a:rPr lang="en-US" altLang="zh-CN" sz="2000" noProof="1">
                <a:solidFill>
                  <a:srgbClr val="FF0000"/>
                </a:solidFill>
                <a:latin typeface="宋体" panose="02010600030101010101" pitchFamily="2" charset="-122"/>
                <a:ea typeface="宋体" panose="02010600030101010101" pitchFamily="2" charset="-122"/>
              </a:rPr>
              <a:t>K</a:t>
            </a:r>
            <a:r>
              <a:rPr lang="zh-CN" altLang="en-US" sz="2000" noProof="1">
                <a:solidFill>
                  <a:srgbClr val="FF0000"/>
                </a:solidFill>
                <a:latin typeface="宋体" panose="02010600030101010101" pitchFamily="2" charset="-122"/>
                <a:ea typeface="宋体" panose="02010600030101010101" pitchFamily="2" charset="-122"/>
              </a:rPr>
              <a:t>项集的事务不可能包含任何频繁（</a:t>
            </a:r>
            <a:r>
              <a:rPr lang="en-US" altLang="zh-CN" sz="2000" noProof="1">
                <a:solidFill>
                  <a:srgbClr val="FF0000"/>
                </a:solidFill>
                <a:latin typeface="宋体" panose="02010600030101010101" pitchFamily="2" charset="-122"/>
                <a:ea typeface="宋体" panose="02010600030101010101" pitchFamily="2" charset="-122"/>
              </a:rPr>
              <a:t>K+1</a:t>
            </a:r>
            <a:r>
              <a:rPr lang="zh-CN" altLang="en-US" sz="2000" noProof="1">
                <a:solidFill>
                  <a:srgbClr val="FF0000"/>
                </a:solidFill>
                <a:latin typeface="宋体" panose="02010600030101010101" pitchFamily="2" charset="-122"/>
                <a:ea typeface="宋体" panose="02010600030101010101" pitchFamily="2" charset="-122"/>
              </a:rPr>
              <a:t>）项集</a:t>
            </a:r>
            <a:r>
              <a:rPr lang="zh-CN" altLang="en-US" sz="2000" noProof="1">
                <a:latin typeface="宋体" panose="02010600030101010101" pitchFamily="2" charset="-122"/>
                <a:ea typeface="宋体" panose="02010600030101010101" pitchFamily="2" charset="-122"/>
              </a:rPr>
              <a:t>，利用这个将事务加上标记或删除，下次跳过对这些事务的扫描。</a:t>
            </a:r>
            <a:endParaRPr lang="en-US" altLang="zh-CN" sz="2000" noProof="1">
              <a:latin typeface="宋体" panose="02010600030101010101" pitchFamily="2" charset="-122"/>
              <a:ea typeface="宋体" panose="02010600030101010101" pitchFamily="2" charset="-122"/>
            </a:endParaRPr>
          </a:p>
          <a:p>
            <a:pPr marL="339725" indent="-321310" defTabSz="868680" eaLnBrk="1" hangingPunct="1">
              <a:spcBef>
                <a:spcPct val="0"/>
              </a:spcBef>
              <a:buFontTx/>
              <a:buAutoNum type="circleNumDbPlain"/>
              <a:defRPr/>
            </a:pPr>
            <a:r>
              <a:rPr lang="zh-CN" altLang="en-US" sz="2000" b="1" noProof="1">
                <a:latin typeface="宋体" panose="02010600030101010101" pitchFamily="2" charset="-122"/>
                <a:ea typeface="宋体" panose="02010600030101010101" pitchFamily="2" charset="-122"/>
              </a:rPr>
              <a:t>划分（为找候选项集划分数据）：</a:t>
            </a:r>
            <a:r>
              <a:rPr lang="zh-CN" altLang="en-US" sz="2000" noProof="1">
                <a:latin typeface="宋体" panose="02010600030101010101" pitchFamily="2" charset="-122"/>
                <a:ea typeface="宋体" panose="02010600030101010101" pitchFamily="2" charset="-122"/>
              </a:rPr>
              <a:t>只需扫描两次数据库就能挖掘出频繁项集。它包含两个阶段，</a:t>
            </a:r>
            <a:r>
              <a:rPr lang="zh-CN" altLang="en-US" sz="2000" noProof="1">
                <a:solidFill>
                  <a:srgbClr val="FF0000"/>
                </a:solidFill>
                <a:latin typeface="宋体" panose="02010600030101010101" pitchFamily="2" charset="-122"/>
                <a:ea typeface="宋体" panose="02010600030101010101" pitchFamily="2" charset="-122"/>
              </a:rPr>
              <a:t>在阶段</a:t>
            </a:r>
            <a:r>
              <a:rPr lang="en-US" altLang="zh-CN" sz="2000" noProof="1">
                <a:solidFill>
                  <a:srgbClr val="FF0000"/>
                </a:solidFill>
                <a:latin typeface="宋体" panose="02010600030101010101" pitchFamily="2" charset="-122"/>
                <a:ea typeface="宋体" panose="02010600030101010101" pitchFamily="2" charset="-122"/>
              </a:rPr>
              <a:t>I</a:t>
            </a:r>
            <a:r>
              <a:rPr lang="zh-CN" altLang="en-US" sz="2000" noProof="1">
                <a:latin typeface="宋体" panose="02010600030101010101" pitchFamily="2" charset="-122"/>
                <a:ea typeface="宋体" panose="02010600030101010101" pitchFamily="2" charset="-122"/>
              </a:rPr>
              <a:t>，把</a:t>
            </a:r>
            <a:r>
              <a:rPr lang="en-US" altLang="zh-CN" sz="2000" noProof="1">
                <a:latin typeface="宋体" panose="02010600030101010101" pitchFamily="2" charset="-122"/>
                <a:ea typeface="宋体" panose="02010600030101010101" pitchFamily="2" charset="-122"/>
              </a:rPr>
              <a:t>D</a:t>
            </a:r>
            <a:r>
              <a:rPr lang="zh-CN" altLang="en-US" sz="2000" noProof="1">
                <a:latin typeface="宋体" panose="02010600030101010101" pitchFamily="2" charset="-122"/>
                <a:ea typeface="宋体" panose="02010600030101010101" pitchFamily="2" charset="-122"/>
              </a:rPr>
              <a:t>中的事物</a:t>
            </a:r>
            <a:r>
              <a:rPr lang="zh-CN" altLang="en-US" sz="2000" noProof="1">
                <a:solidFill>
                  <a:schemeClr val="tx1"/>
                </a:solidFill>
                <a:latin typeface="宋体" panose="02010600030101010101" pitchFamily="2" charset="-122"/>
                <a:ea typeface="宋体" panose="02010600030101010101" pitchFamily="2" charset="-122"/>
              </a:rPr>
              <a:t>划分成</a:t>
            </a:r>
            <a:r>
              <a:rPr lang="en-US" altLang="zh-CN" sz="2000" noProof="1">
                <a:solidFill>
                  <a:schemeClr val="tx1"/>
                </a:solidFill>
                <a:latin typeface="宋体" panose="02010600030101010101" pitchFamily="2" charset="-122"/>
                <a:ea typeface="宋体" panose="02010600030101010101" pitchFamily="2" charset="-122"/>
              </a:rPr>
              <a:t>n</a:t>
            </a:r>
            <a:r>
              <a:rPr lang="zh-CN" altLang="en-US" sz="2000" noProof="1">
                <a:solidFill>
                  <a:schemeClr val="tx1"/>
                </a:solidFill>
                <a:latin typeface="宋体" panose="02010600030101010101" pitchFamily="2" charset="-122"/>
                <a:ea typeface="宋体" panose="02010600030101010101" pitchFamily="2" charset="-122"/>
              </a:rPr>
              <a:t>个非重叠的分区</a:t>
            </a:r>
            <a:r>
              <a:rPr lang="zh-CN" altLang="en-US" sz="2000" noProof="1">
                <a:latin typeface="宋体" panose="02010600030101010101" pitchFamily="2" charset="-122"/>
                <a:ea typeface="宋体" panose="02010600030101010101" pitchFamily="2" charset="-122"/>
              </a:rPr>
              <a:t>，并</a:t>
            </a:r>
            <a:r>
              <a:rPr lang="zh-CN" altLang="en-US" sz="2000" noProof="1">
                <a:solidFill>
                  <a:srgbClr val="FF0000"/>
                </a:solidFill>
                <a:latin typeface="宋体" panose="02010600030101010101" pitchFamily="2" charset="-122"/>
                <a:ea typeface="宋体" panose="02010600030101010101" pitchFamily="2" charset="-122"/>
              </a:rPr>
              <a:t>找出所有局部频繁项集</a:t>
            </a:r>
            <a:r>
              <a:rPr lang="zh-CN" altLang="en-US" sz="2000" noProof="1">
                <a:latin typeface="宋体" panose="02010600030101010101" pitchFamily="2" charset="-122"/>
                <a:ea typeface="宋体" panose="02010600030101010101" pitchFamily="2" charset="-122"/>
              </a:rPr>
              <a:t>；</a:t>
            </a:r>
            <a:r>
              <a:rPr lang="zh-CN" altLang="en-US" sz="2000" noProof="1">
                <a:solidFill>
                  <a:srgbClr val="FF0000"/>
                </a:solidFill>
                <a:latin typeface="宋体" panose="02010600030101010101" pitchFamily="2" charset="-122"/>
                <a:ea typeface="宋体" panose="02010600030101010101" pitchFamily="2" charset="-122"/>
              </a:rPr>
              <a:t>在阶段</a:t>
            </a:r>
            <a:r>
              <a:rPr lang="en-US" altLang="zh-CN" sz="2000" noProof="1">
                <a:solidFill>
                  <a:srgbClr val="FF0000"/>
                </a:solidFill>
                <a:latin typeface="宋体" panose="02010600030101010101" pitchFamily="2" charset="-122"/>
                <a:ea typeface="宋体" panose="02010600030101010101" pitchFamily="2" charset="-122"/>
              </a:rPr>
              <a:t>II</a:t>
            </a:r>
            <a:r>
              <a:rPr lang="zh-CN" altLang="en-US" sz="2000" noProof="1">
                <a:latin typeface="宋体" panose="02010600030101010101" pitchFamily="2" charset="-122"/>
                <a:ea typeface="宋体" panose="02010600030101010101" pitchFamily="2" charset="-122"/>
              </a:rPr>
              <a:t>，第二次扫描</a:t>
            </a:r>
            <a:r>
              <a:rPr lang="en-US" altLang="zh-CN" sz="2000" noProof="1">
                <a:latin typeface="宋体" panose="02010600030101010101" pitchFamily="2" charset="-122"/>
                <a:ea typeface="宋体" panose="02010600030101010101" pitchFamily="2" charset="-122"/>
              </a:rPr>
              <a:t>D</a:t>
            </a:r>
            <a:r>
              <a:rPr lang="zh-CN" altLang="en-US" sz="2000" noProof="1">
                <a:latin typeface="宋体" panose="02010600030101010101" pitchFamily="2" charset="-122"/>
                <a:ea typeface="宋体" panose="02010600030101010101" pitchFamily="2" charset="-122"/>
              </a:rPr>
              <a:t>，评估每个候选的实际支持度，</a:t>
            </a:r>
            <a:r>
              <a:rPr lang="zh-CN" altLang="en-US" sz="2000" noProof="1">
                <a:solidFill>
                  <a:srgbClr val="FF0000"/>
                </a:solidFill>
                <a:latin typeface="宋体" panose="02010600030101010101" pitchFamily="2" charset="-122"/>
                <a:ea typeface="宋体" panose="02010600030101010101" pitchFamily="2" charset="-122"/>
              </a:rPr>
              <a:t>确定全局频繁项集</a:t>
            </a:r>
            <a:r>
              <a:rPr lang="zh-CN" altLang="en-US" sz="2000" noProof="1">
                <a:latin typeface="宋体" panose="02010600030101010101" pitchFamily="2" charset="-122"/>
                <a:ea typeface="宋体" panose="02010600030101010101" pitchFamily="2" charset="-122"/>
              </a:rPr>
              <a:t>。</a:t>
            </a:r>
            <a:endParaRPr lang="en-US" altLang="zh-CN" sz="2000" noProof="1">
              <a:latin typeface="宋体" panose="02010600030101010101" pitchFamily="2" charset="-122"/>
              <a:ea typeface="宋体" panose="02010600030101010101" pitchFamily="2" charset="-122"/>
            </a:endParaRPr>
          </a:p>
          <a:p>
            <a:pPr marL="339725" indent="-321310" defTabSz="868680" eaLnBrk="1" hangingPunct="1">
              <a:spcBef>
                <a:spcPct val="0"/>
              </a:spcBef>
              <a:buFontTx/>
              <a:buAutoNum type="circleNumDbPlain"/>
              <a:defRPr/>
            </a:pPr>
            <a:r>
              <a:rPr lang="zh-CN" altLang="en-US" sz="2000" b="1" noProof="1">
                <a:latin typeface="宋体" panose="02010600030101010101" pitchFamily="2" charset="-122"/>
                <a:ea typeface="宋体" panose="02010600030101010101" pitchFamily="2" charset="-122"/>
              </a:rPr>
              <a:t>抽样（对给定数据集的一个子集上挖掘）：</a:t>
            </a:r>
            <a:r>
              <a:rPr lang="zh-CN" altLang="en-US" sz="2000" noProof="1">
                <a:solidFill>
                  <a:srgbClr val="FF0000"/>
                </a:solidFill>
                <a:latin typeface="宋体" panose="02010600030101010101" pitchFamily="2" charset="-122"/>
                <a:ea typeface="宋体" panose="02010600030101010101" pitchFamily="2" charset="-122"/>
              </a:rPr>
              <a:t>在抽取的样本中搜索频繁项集</a:t>
            </a:r>
            <a:r>
              <a:rPr lang="zh-CN" altLang="en-US" sz="2000" noProof="1">
                <a:latin typeface="宋体" panose="02010600030101010101" pitchFamily="2" charset="-122"/>
                <a:ea typeface="宋体" panose="02010600030101010101" pitchFamily="2" charset="-122"/>
              </a:rPr>
              <a:t>。</a:t>
            </a:r>
            <a:endParaRPr lang="en-US" altLang="zh-CN" sz="2000" noProof="1">
              <a:latin typeface="宋体" panose="02010600030101010101" pitchFamily="2" charset="-122"/>
              <a:ea typeface="宋体" panose="02010600030101010101" pitchFamily="2" charset="-122"/>
            </a:endParaRPr>
          </a:p>
          <a:p>
            <a:pPr marL="339725" indent="-321310" defTabSz="868680" eaLnBrk="1" hangingPunct="1">
              <a:spcBef>
                <a:spcPct val="0"/>
              </a:spcBef>
              <a:buFontTx/>
              <a:buAutoNum type="circleNumDbPlain"/>
              <a:defRPr/>
            </a:pPr>
            <a:r>
              <a:rPr lang="zh-CN" altLang="en-US" sz="2000" b="1" noProof="1">
                <a:latin typeface="宋体" panose="02010600030101010101" pitchFamily="2" charset="-122"/>
                <a:ea typeface="宋体" panose="02010600030101010101" pitchFamily="2" charset="-122"/>
              </a:rPr>
              <a:t>动态项集技术（</a:t>
            </a:r>
            <a:r>
              <a:rPr lang="zh-CN" altLang="en-US" sz="2000" b="1" noProof="1">
                <a:latin typeface="宋体" panose="02010600030101010101" pitchFamily="2" charset="-122"/>
                <a:cs typeface="Times New Roman" panose="02020603050405020304" pitchFamily="18" charset="0"/>
              </a:rPr>
              <a:t>在扫描的不同点添加候选项集</a:t>
            </a:r>
            <a:r>
              <a:rPr lang="zh-CN" altLang="en-US" sz="2000" b="1" noProof="1">
                <a:latin typeface="宋体" panose="02010600030101010101" pitchFamily="2" charset="-122"/>
                <a:ea typeface="宋体" panose="02010600030101010101" pitchFamily="2" charset="-122"/>
              </a:rPr>
              <a:t>）</a:t>
            </a:r>
            <a:endParaRPr lang="zh-CN" altLang="en-US" sz="2000" b="1" noProof="1">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05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059">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505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5059">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505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a:t>
            </a:r>
            <a:r>
              <a:rPr lang="en-US" altLang="zh-CN" sz="4400" dirty="0">
                <a:latin typeface="楷体" panose="02010609060101010101" pitchFamily="49" charset="-122"/>
                <a:ea typeface="楷体" panose="02010609060101010101" pitchFamily="49" charset="-122"/>
              </a:rPr>
              <a:t>6.2 </a:t>
            </a:r>
            <a:r>
              <a:rPr lang="zh-CN" altLang="en-US" sz="4400" dirty="0">
                <a:latin typeface="楷体" panose="02010609060101010101" pitchFamily="49" charset="-122"/>
                <a:ea typeface="楷体" panose="02010609060101010101" pitchFamily="49" charset="-122"/>
              </a:rPr>
              <a:t>频繁项集挖掘方法</a:t>
            </a:r>
            <a:endParaRPr lang="zh-CN" altLang="en-US" sz="4400" dirty="0">
              <a:latin typeface="楷体" panose="02010609060101010101" pitchFamily="49" charset="-122"/>
              <a:ea typeface="楷体" panose="02010609060101010101" pitchFamily="49" charset="-122"/>
            </a:endParaRPr>
          </a:p>
        </p:txBody>
      </p:sp>
      <p:sp>
        <p:nvSpPr>
          <p:cNvPr id="4" name="Rectangle 3"/>
          <p:cNvSpPr>
            <a:spLocks noGrp="1" noChangeArrowheads="1"/>
          </p:cNvSpPr>
          <p:nvPr>
            <p:ph idx="1"/>
          </p:nvPr>
        </p:nvSpPr>
        <p:spPr>
          <a:xfrm>
            <a:off x="522288" y="1160463"/>
            <a:ext cx="9906000" cy="5638800"/>
          </a:xfrm>
        </p:spPr>
        <p:txBody>
          <a:bodyPr/>
          <a:lstStyle/>
          <a:p>
            <a:pPr marL="0" indent="0" defTabSz="868680" eaLnBrk="1" hangingPunct="1">
              <a:buFont typeface="Arial" panose="020B0604020202020204" pitchFamily="34" charset="0"/>
              <a:buNone/>
              <a:defRPr/>
            </a:pPr>
            <a:r>
              <a:rPr lang="en-US" altLang="zh-CN" sz="2400" b="1" dirty="0">
                <a:solidFill>
                  <a:srgbClr val="0000FF"/>
                </a:solidFill>
                <a:latin typeface="+mn-ea"/>
                <a:ea typeface="+mn-ea"/>
                <a:cs typeface="Times New Roman" panose="02020603050405020304" pitchFamily="18" charset="0"/>
              </a:rPr>
              <a:t>4</a:t>
            </a:r>
            <a:r>
              <a:rPr lang="zh-CN" altLang="en-US" sz="2400" b="1" dirty="0">
                <a:solidFill>
                  <a:srgbClr val="0000FF"/>
                </a:solidFill>
                <a:latin typeface="+mn-ea"/>
                <a:ea typeface="+mn-ea"/>
                <a:cs typeface="Times New Roman" panose="02020603050405020304" pitchFamily="18" charset="0"/>
              </a:rPr>
              <a:t>、挖掘频繁项集的模式增长方法</a:t>
            </a:r>
            <a:endParaRPr lang="en-US" altLang="zh-CN" sz="2400" b="1" dirty="0">
              <a:solidFill>
                <a:srgbClr val="0000FF"/>
              </a:solidFill>
              <a:latin typeface="+mn-ea"/>
              <a:ea typeface="+mn-ea"/>
              <a:cs typeface="Times New Roman" panose="02020603050405020304" pitchFamily="18" charset="0"/>
            </a:endParaRPr>
          </a:p>
          <a:p>
            <a:pPr marL="0" indent="0" defTabSz="868680" eaLnBrk="1" hangingPunct="1">
              <a:buFont typeface="Arial" panose="020B0604020202020204" pitchFamily="34" charset="0"/>
              <a:buNone/>
              <a:defRPr/>
            </a:pPr>
            <a:r>
              <a:rPr lang="zh-CN" altLang="en-US" sz="2400" b="1" dirty="0">
                <a:latin typeface="+mn-ea"/>
                <a:ea typeface="+mn-ea"/>
                <a:cs typeface="Times New Roman" panose="02020603050405020304" pitchFamily="18" charset="0"/>
              </a:rPr>
              <a:t>频繁模式增长</a:t>
            </a:r>
            <a:r>
              <a:rPr lang="en-US" altLang="zh-CN" sz="2400" b="1" dirty="0">
                <a:latin typeface="+mn-ea"/>
                <a:ea typeface="+mn-ea"/>
                <a:cs typeface="Times New Roman" panose="02020603050405020304" pitchFamily="18" charset="0"/>
              </a:rPr>
              <a:t>(Frequent-Pattern Growth</a:t>
            </a:r>
            <a:r>
              <a:rPr lang="zh-CN" altLang="en-US" sz="2400" b="1" dirty="0">
                <a:latin typeface="+mn-ea"/>
                <a:ea typeface="+mn-ea"/>
                <a:cs typeface="Times New Roman" panose="02020603050405020304" pitchFamily="18" charset="0"/>
              </a:rPr>
              <a:t>，</a:t>
            </a:r>
            <a:r>
              <a:rPr lang="en-US" altLang="zh-CN" sz="2400" b="1" dirty="0">
                <a:latin typeface="+mn-ea"/>
                <a:ea typeface="+mn-ea"/>
                <a:cs typeface="Times New Roman" panose="02020603050405020304" pitchFamily="18" charset="0"/>
              </a:rPr>
              <a:t>FP-growth)</a:t>
            </a:r>
            <a:r>
              <a:rPr lang="zh-CN" altLang="en-US" sz="2400" dirty="0">
                <a:solidFill>
                  <a:srgbClr val="FF0000"/>
                </a:solidFill>
                <a:latin typeface="+mn-ea"/>
                <a:ea typeface="+mn-ea"/>
                <a:cs typeface="Times New Roman" panose="02020603050405020304" pitchFamily="18" charset="0"/>
              </a:rPr>
              <a:t>采取分治的策略可以有效地减少</a:t>
            </a:r>
            <a:r>
              <a:rPr lang="en-US" altLang="zh-CN" sz="2400" dirty="0" err="1">
                <a:solidFill>
                  <a:srgbClr val="FF0000"/>
                </a:solidFill>
                <a:latin typeface="+mn-ea"/>
                <a:ea typeface="+mn-ea"/>
                <a:cs typeface="Times New Roman" panose="02020603050405020304" pitchFamily="18" charset="0"/>
              </a:rPr>
              <a:t>Apriori</a:t>
            </a:r>
            <a:r>
              <a:rPr lang="zh-CN" altLang="en-US" sz="2400" dirty="0">
                <a:solidFill>
                  <a:srgbClr val="FF0000"/>
                </a:solidFill>
                <a:latin typeface="+mn-ea"/>
                <a:ea typeface="+mn-ea"/>
                <a:cs typeface="Times New Roman" panose="02020603050405020304" pitchFamily="18" charset="0"/>
              </a:rPr>
              <a:t>的开销</a:t>
            </a:r>
            <a:r>
              <a:rPr lang="zh-CN" altLang="en-US" sz="2400" dirty="0">
                <a:latin typeface="+mn-ea"/>
                <a:ea typeface="+mn-ea"/>
                <a:cs typeface="Times New Roman" panose="02020603050405020304" pitchFamily="18" charset="0"/>
              </a:rPr>
              <a:t>。</a:t>
            </a:r>
            <a:endParaRPr lang="en-US" altLang="zh-CN" sz="2400" dirty="0">
              <a:latin typeface="+mn-ea"/>
              <a:ea typeface="+mn-ea"/>
              <a:cs typeface="Times New Roman" panose="02020603050405020304" pitchFamily="18" charset="0"/>
            </a:endParaRPr>
          </a:p>
          <a:p>
            <a:pPr marL="0" indent="0" defTabSz="868680" eaLnBrk="1" hangingPunct="1">
              <a:buFont typeface="Arial" panose="020B0604020202020204" pitchFamily="34" charset="0"/>
              <a:buNone/>
              <a:defRPr/>
            </a:pPr>
            <a:r>
              <a:rPr lang="zh-CN" altLang="en-US" sz="2400" b="1" dirty="0">
                <a:latin typeface="+mn-ea"/>
                <a:ea typeface="+mn-ea"/>
              </a:rPr>
              <a:t>频繁模式增长的主要思路：</a:t>
            </a:r>
            <a:endParaRPr lang="en-US" altLang="zh-CN" sz="2400" dirty="0">
              <a:latin typeface="+mn-ea"/>
              <a:ea typeface="+mn-ea"/>
              <a:cs typeface="Times New Roman" panose="02020603050405020304" pitchFamily="18" charset="0"/>
            </a:endParaRPr>
          </a:p>
          <a:p>
            <a:pPr marL="457200" indent="-457200" defTabSz="868680" eaLnBrk="1" hangingPunct="1">
              <a:buFont typeface="Arial" panose="020B0604020202020204" pitchFamily="34" charset="0"/>
              <a:buAutoNum type="arabicParenBoth"/>
              <a:defRPr/>
            </a:pPr>
            <a:r>
              <a:rPr lang="zh-CN" altLang="en-US" sz="2400" dirty="0">
                <a:latin typeface="+mn-ea"/>
                <a:ea typeface="+mn-ea"/>
                <a:cs typeface="Times New Roman" panose="02020603050405020304" pitchFamily="18" charset="0"/>
              </a:rPr>
              <a:t>首先，</a:t>
            </a:r>
            <a:r>
              <a:rPr lang="zh-CN" altLang="en-US" sz="2400" dirty="0">
                <a:solidFill>
                  <a:srgbClr val="FF0000"/>
                </a:solidFill>
                <a:latin typeface="+mn-ea"/>
                <a:ea typeface="+mn-ea"/>
                <a:cs typeface="Times New Roman" panose="02020603050405020304" pitchFamily="18" charset="0"/>
              </a:rPr>
              <a:t>将代表频繁项集的数据库压缩到一颗频繁模式树</a:t>
            </a:r>
            <a:r>
              <a:rPr lang="en-US" altLang="zh-CN" sz="2400" dirty="0">
                <a:solidFill>
                  <a:srgbClr val="FF0000"/>
                </a:solidFill>
                <a:latin typeface="+mn-ea"/>
                <a:ea typeface="+mn-ea"/>
                <a:cs typeface="Times New Roman" panose="02020603050405020304" pitchFamily="18" charset="0"/>
              </a:rPr>
              <a:t>(FP-Tree)</a:t>
            </a:r>
            <a:r>
              <a:rPr lang="zh-CN" altLang="en-US" sz="2400" dirty="0">
                <a:latin typeface="+mn-ea"/>
                <a:ea typeface="+mn-ea"/>
                <a:cs typeface="Times New Roman" panose="02020603050405020304" pitchFamily="18" charset="0"/>
              </a:rPr>
              <a:t>，该树保留项集的关联信息。</a:t>
            </a:r>
            <a:endParaRPr lang="en-US" altLang="zh-CN" sz="2400" dirty="0">
              <a:latin typeface="+mn-ea"/>
              <a:ea typeface="+mn-ea"/>
              <a:cs typeface="Times New Roman" panose="02020603050405020304" pitchFamily="18" charset="0"/>
            </a:endParaRPr>
          </a:p>
          <a:p>
            <a:pPr marL="457200" indent="-457200" defTabSz="868680" eaLnBrk="1" hangingPunct="1">
              <a:buFont typeface="Arial" panose="020B0604020202020204" pitchFamily="34" charset="0"/>
              <a:buAutoNum type="arabicParenBoth"/>
              <a:defRPr/>
            </a:pPr>
            <a:r>
              <a:rPr lang="zh-CN" altLang="en-US" sz="2400" dirty="0">
                <a:latin typeface="+mn-ea"/>
                <a:ea typeface="+mn-ea"/>
                <a:cs typeface="Times New Roman" panose="02020603050405020304" pitchFamily="18" charset="0"/>
              </a:rPr>
              <a:t>然后，</a:t>
            </a:r>
            <a:r>
              <a:rPr lang="zh-CN" altLang="en-US" sz="2400" dirty="0">
                <a:solidFill>
                  <a:srgbClr val="FF0000"/>
                </a:solidFill>
                <a:latin typeface="+mn-ea"/>
                <a:ea typeface="+mn-ea"/>
                <a:cs typeface="Times New Roman" panose="02020603050405020304" pitchFamily="18" charset="0"/>
              </a:rPr>
              <a:t>将压缩后的数据库划分为一组条件数据库，每个数据库关联一个频繁项或“模式段”，并分别挖掘每个条件数据库。</a:t>
            </a:r>
            <a:r>
              <a:rPr lang="zh-CN" altLang="en-US" sz="2400" dirty="0">
                <a:latin typeface="+mn-ea"/>
                <a:ea typeface="+mn-ea"/>
                <a:cs typeface="Times New Roman" panose="02020603050405020304" pitchFamily="18" charset="0"/>
              </a:rPr>
              <a:t>对于每个“模式片段”，只需考察与它相关联数据集。随着被考察的模式的“增长”，这种方法可以显著地压缩被搜索的数据集的大小。</a:t>
            </a:r>
            <a:endParaRPr lang="zh-CN" altLang="en-US" sz="2400" dirty="0">
              <a:latin typeface="+mn-ea"/>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a:t>
            </a:r>
            <a:r>
              <a:rPr lang="en-US" altLang="zh-CN" sz="4400" dirty="0">
                <a:latin typeface="楷体" panose="02010609060101010101" pitchFamily="49" charset="-122"/>
                <a:ea typeface="楷体" panose="02010609060101010101" pitchFamily="49" charset="-122"/>
              </a:rPr>
              <a:t>6.2 </a:t>
            </a:r>
            <a:r>
              <a:rPr lang="zh-CN" altLang="en-US" sz="4400" dirty="0">
                <a:latin typeface="楷体" panose="02010609060101010101" pitchFamily="49" charset="-122"/>
                <a:ea typeface="楷体" panose="02010609060101010101" pitchFamily="49" charset="-122"/>
              </a:rPr>
              <a:t>频繁项集挖掘方法</a:t>
            </a:r>
            <a:endParaRPr lang="zh-CN" altLang="en-US" sz="4400" dirty="0">
              <a:latin typeface="楷体" panose="02010609060101010101" pitchFamily="49" charset="-122"/>
              <a:ea typeface="楷体" panose="02010609060101010101" pitchFamily="49" charset="-122"/>
            </a:endParaRPr>
          </a:p>
        </p:txBody>
      </p:sp>
      <p:sp>
        <p:nvSpPr>
          <p:cNvPr id="4" name="Rectangle 3"/>
          <p:cNvSpPr>
            <a:spLocks noGrp="1" noChangeArrowheads="1"/>
          </p:cNvSpPr>
          <p:nvPr>
            <p:ph idx="1"/>
          </p:nvPr>
        </p:nvSpPr>
        <p:spPr>
          <a:xfrm>
            <a:off x="522288" y="1160463"/>
            <a:ext cx="9906000" cy="806450"/>
          </a:xfrm>
        </p:spPr>
        <p:txBody>
          <a:bodyPr/>
          <a:lstStyle/>
          <a:p>
            <a:pPr marL="0" indent="0" defTabSz="868680" eaLnBrk="1" hangingPunct="1">
              <a:buFont typeface="Arial" panose="020B0604020202020204" pitchFamily="34" charset="0"/>
              <a:buNone/>
              <a:defRPr/>
            </a:pPr>
            <a:r>
              <a:rPr lang="en-US" altLang="zh-CN" sz="2400" b="1" dirty="0">
                <a:solidFill>
                  <a:srgbClr val="0000FF"/>
                </a:solidFill>
                <a:latin typeface="+mn-ea"/>
                <a:ea typeface="+mn-ea"/>
                <a:cs typeface="Times New Roman" panose="02020603050405020304" pitchFamily="18" charset="0"/>
              </a:rPr>
              <a:t>4</a:t>
            </a:r>
            <a:r>
              <a:rPr lang="zh-CN" altLang="en-US" sz="2400" b="1" dirty="0">
                <a:solidFill>
                  <a:srgbClr val="0000FF"/>
                </a:solidFill>
                <a:latin typeface="+mn-ea"/>
                <a:ea typeface="+mn-ea"/>
                <a:cs typeface="Times New Roman" panose="02020603050405020304" pitchFamily="18" charset="0"/>
              </a:rPr>
              <a:t>、挖掘频繁项集的模式增长方法</a:t>
            </a:r>
            <a:endParaRPr lang="en-US" altLang="zh-CN" sz="2400" b="1" dirty="0">
              <a:solidFill>
                <a:srgbClr val="0000FF"/>
              </a:solidFill>
              <a:latin typeface="+mn-ea"/>
              <a:ea typeface="+mn-ea"/>
              <a:cs typeface="Times New Roman" panose="02020603050405020304" pitchFamily="18" charset="0"/>
            </a:endParaRPr>
          </a:p>
          <a:p>
            <a:pPr marL="0" indent="0" defTabSz="868680" eaLnBrk="1" hangingPunct="1">
              <a:buFont typeface="Arial" panose="020B0604020202020204" pitchFamily="34" charset="0"/>
              <a:buNone/>
              <a:defRPr/>
            </a:pPr>
            <a:r>
              <a:rPr lang="zh-CN" altLang="en-US" sz="2400" b="1" dirty="0">
                <a:latin typeface="+mn-ea"/>
                <a:ea typeface="+mn-ea"/>
                <a:cs typeface="Times New Roman" panose="02020603050405020304" pitchFamily="18" charset="0"/>
              </a:rPr>
              <a:t>例：</a:t>
            </a:r>
            <a:endParaRPr lang="zh-CN" altLang="en-US" sz="2400" b="1" dirty="0">
              <a:latin typeface="+mn-ea"/>
              <a:ea typeface="+mn-ea"/>
              <a:cs typeface="Times New Roman" panose="02020603050405020304" pitchFamily="18" charset="0"/>
            </a:endParaRPr>
          </a:p>
        </p:txBody>
      </p:sp>
      <p:sp>
        <p:nvSpPr>
          <p:cNvPr id="5" name="矩形 4"/>
          <p:cNvSpPr/>
          <p:nvPr/>
        </p:nvSpPr>
        <p:spPr>
          <a:xfrm>
            <a:off x="1206500" y="1812925"/>
            <a:ext cx="1582738" cy="460375"/>
          </a:xfrm>
          <a:prstGeom prst="rect">
            <a:avLst/>
          </a:prstGeom>
        </p:spPr>
        <p:txBody>
          <a:bodyPr wrap="none">
            <a:spAutoFit/>
          </a:bodyPr>
          <a:lstStyle/>
          <a:p>
            <a:pPr defTabSz="1083945">
              <a:defRPr/>
            </a:pPr>
            <a:r>
              <a:rPr lang="en-US" altLang="zh-CN" sz="2400" dirty="0" err="1">
                <a:solidFill>
                  <a:srgbClr val="FF0000"/>
                </a:solidFill>
                <a:latin typeface="+mn-ea"/>
                <a:ea typeface="+mn-ea"/>
              </a:rPr>
              <a:t>min_sup</a:t>
            </a:r>
            <a:r>
              <a:rPr lang="en-US" altLang="zh-CN" sz="2400" dirty="0">
                <a:solidFill>
                  <a:srgbClr val="FF0000"/>
                </a:solidFill>
                <a:latin typeface="+mn-ea"/>
                <a:ea typeface="+mn-ea"/>
              </a:rPr>
              <a:t>=2</a:t>
            </a:r>
            <a:endParaRPr lang="zh-CN" altLang="en-US" sz="2400" dirty="0">
              <a:solidFill>
                <a:srgbClr val="FF0000"/>
              </a:solidFill>
              <a:latin typeface="+mn-ea"/>
              <a:ea typeface="+mn-ea"/>
            </a:endParaRPr>
          </a:p>
        </p:txBody>
      </p:sp>
      <p:grpSp>
        <p:nvGrpSpPr>
          <p:cNvPr id="49157" name="组合 5"/>
          <p:cNvGrpSpPr/>
          <p:nvPr/>
        </p:nvGrpSpPr>
        <p:grpSpPr bwMode="auto">
          <a:xfrm>
            <a:off x="1179513" y="2312988"/>
            <a:ext cx="1704975" cy="2541587"/>
            <a:chOff x="1102723" y="2429669"/>
            <a:chExt cx="1406830" cy="2329050"/>
          </a:xfrm>
        </p:grpSpPr>
        <p:pic>
          <p:nvPicPr>
            <p:cNvPr id="49203" name="图片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06531" y="2429669"/>
              <a:ext cx="342857" cy="140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204" name="图片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9388" y="2435701"/>
              <a:ext cx="1009524" cy="140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205" name="图片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723" y="3863481"/>
              <a:ext cx="380952" cy="895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206" name="图片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5743" y="3864588"/>
              <a:ext cx="923810" cy="866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直接连接符 10"/>
            <p:cNvCxnSpPr/>
            <p:nvPr/>
          </p:nvCxnSpPr>
          <p:spPr>
            <a:xfrm>
              <a:off x="1102723" y="4742717"/>
              <a:ext cx="1355744"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2" name="矩形 1"/>
          <p:cNvSpPr/>
          <p:nvPr/>
        </p:nvSpPr>
        <p:spPr>
          <a:xfrm>
            <a:off x="3473450" y="1966913"/>
            <a:ext cx="6954838" cy="923925"/>
          </a:xfrm>
          <a:prstGeom prst="rect">
            <a:avLst/>
          </a:prstGeom>
        </p:spPr>
        <p:txBody>
          <a:bodyPr>
            <a:spAutoFit/>
          </a:bodyPr>
          <a:lstStyle/>
          <a:p>
            <a:pPr>
              <a:defRPr/>
            </a:pPr>
            <a:r>
              <a:rPr lang="zh-CN" altLang="en-US" sz="1800" dirty="0">
                <a:latin typeface="+mn-ea"/>
                <a:ea typeface="+mn-ea"/>
              </a:rPr>
              <a:t>第</a:t>
            </a:r>
            <a:r>
              <a:rPr lang="en-US" altLang="zh-CN" sz="1800" dirty="0">
                <a:latin typeface="+mn-ea"/>
                <a:ea typeface="+mn-ea"/>
              </a:rPr>
              <a:t>1</a:t>
            </a:r>
            <a:r>
              <a:rPr lang="zh-CN" altLang="en-US" sz="1800" dirty="0">
                <a:latin typeface="+mn-ea"/>
                <a:ea typeface="+mn-ea"/>
              </a:rPr>
              <a:t>步</a:t>
            </a:r>
            <a:r>
              <a:rPr lang="zh-CN" altLang="en-US" sz="1800" b="0" dirty="0">
                <a:latin typeface="+mn-ea"/>
                <a:ea typeface="+mn-ea"/>
              </a:rPr>
              <a:t>，扫描数据库，导出所有的频繁项(1项集)的集合，计算支持度取阈值以上，按照支持度</a:t>
            </a:r>
            <a:r>
              <a:rPr lang="zh-CN" altLang="en-US" sz="1800" dirty="0">
                <a:solidFill>
                  <a:srgbClr val="FF0000"/>
                </a:solidFill>
                <a:latin typeface="+mn-ea"/>
                <a:ea typeface="+mn-ea"/>
              </a:rPr>
              <a:t>递减</a:t>
            </a:r>
            <a:r>
              <a:rPr lang="zh-CN" altLang="en-US" sz="1800" b="0" dirty="0">
                <a:latin typeface="+mn-ea"/>
                <a:ea typeface="+mn-ea"/>
              </a:rPr>
              <a:t>的顺序排序。排序结果为L={{I2:7},{I1:6},{I3:6},{I4:2},{I5:2}}</a:t>
            </a:r>
            <a:endParaRPr lang="zh-CN" altLang="en-US" sz="1800" b="0" dirty="0">
              <a:latin typeface="+mn-ea"/>
              <a:ea typeface="+mn-ea"/>
            </a:endParaRPr>
          </a:p>
        </p:txBody>
      </p:sp>
      <p:pic>
        <p:nvPicPr>
          <p:cNvPr id="12" name="图片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68400" y="5103813"/>
            <a:ext cx="1419225"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3473450" y="3059113"/>
            <a:ext cx="6954838" cy="646112"/>
          </a:xfrm>
          <a:prstGeom prst="rect">
            <a:avLst/>
          </a:prstGeom>
        </p:spPr>
        <p:txBody>
          <a:bodyPr>
            <a:spAutoFit/>
          </a:bodyPr>
          <a:lstStyle/>
          <a:p>
            <a:pPr>
              <a:defRPr/>
            </a:pPr>
            <a:r>
              <a:rPr lang="zh-CN" altLang="en-US" sz="1800" dirty="0">
                <a:latin typeface="+mn-ea"/>
                <a:ea typeface="+mn-ea"/>
              </a:rPr>
              <a:t>第</a:t>
            </a:r>
            <a:r>
              <a:rPr lang="en-US" altLang="zh-CN" sz="1800" dirty="0">
                <a:latin typeface="+mn-ea"/>
                <a:ea typeface="+mn-ea"/>
              </a:rPr>
              <a:t>2</a:t>
            </a:r>
            <a:r>
              <a:rPr lang="zh-CN" altLang="en-US" sz="1800" dirty="0">
                <a:latin typeface="+mn-ea"/>
                <a:ea typeface="+mn-ea"/>
              </a:rPr>
              <a:t>步，构造FP树。</a:t>
            </a:r>
            <a:r>
              <a:rPr lang="zh-CN" altLang="en-US" sz="1800" b="0" dirty="0">
                <a:latin typeface="+mn-ea"/>
                <a:ea typeface="+mn-ea"/>
              </a:rPr>
              <a:t>首先，创建树的根节点，用”null”标记。再次扫描数据库，对每个事务TID中的项按照L中次序处理形成结点。</a:t>
            </a:r>
            <a:endParaRPr lang="zh-CN" altLang="en-US" sz="1800" b="0" dirty="0">
              <a:latin typeface="+mn-ea"/>
              <a:ea typeface="+mn-ea"/>
            </a:endParaRPr>
          </a:p>
        </p:txBody>
      </p:sp>
      <p:graphicFrame>
        <p:nvGraphicFramePr>
          <p:cNvPr id="13" name="表格 12"/>
          <p:cNvGraphicFramePr>
            <a:graphicFrameLocks noGrp="1"/>
          </p:cNvGraphicFramePr>
          <p:nvPr/>
        </p:nvGraphicFramePr>
        <p:xfrm>
          <a:off x="3473450" y="4830763"/>
          <a:ext cx="784226" cy="1854200"/>
        </p:xfrm>
        <a:graphic>
          <a:graphicData uri="http://schemas.openxmlformats.org/drawingml/2006/table">
            <a:tbl>
              <a:tblPr firstRow="1" bandRow="1">
                <a:tableStyleId>{5C22544A-7EE6-4342-B048-85BDC9FD1C3A}</a:tableStyleId>
              </a:tblPr>
              <a:tblGrid>
                <a:gridCol w="392113"/>
                <a:gridCol w="392113"/>
              </a:tblGrid>
              <a:tr h="370840">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I2</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573" marR="91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7</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573" marR="91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I1</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573" marR="91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6</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573" marR="91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I3</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573" marR="91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6</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573" marR="91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I4</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573" marR="91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2</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573" marR="91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I5</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573" marR="91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2</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573" marR="91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cxnSp>
        <p:nvCxnSpPr>
          <p:cNvPr id="28" name="直接箭头连接符 27"/>
          <p:cNvCxnSpPr>
            <a:stCxn id="12" idx="3"/>
            <a:endCxn id="13" idx="1"/>
          </p:cNvCxnSpPr>
          <p:nvPr/>
        </p:nvCxnSpPr>
        <p:spPr>
          <a:xfrm flipV="1">
            <a:off x="2587625" y="5757863"/>
            <a:ext cx="885825" cy="317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29" name="组合 28"/>
          <p:cNvGrpSpPr/>
          <p:nvPr/>
        </p:nvGrpSpPr>
        <p:grpSpPr bwMode="auto">
          <a:xfrm>
            <a:off x="7285038" y="3963988"/>
            <a:ext cx="968375" cy="366712"/>
            <a:chOff x="7285831" y="3963374"/>
            <a:chExt cx="968375" cy="367802"/>
          </a:xfrm>
        </p:grpSpPr>
        <p:sp>
          <p:nvSpPr>
            <p:cNvPr id="49201" name="Oval 5"/>
            <p:cNvSpPr>
              <a:spLocks noChangeArrowheads="1"/>
            </p:cNvSpPr>
            <p:nvPr/>
          </p:nvSpPr>
          <p:spPr bwMode="auto">
            <a:xfrm>
              <a:off x="7285831" y="4052508"/>
              <a:ext cx="228600" cy="228291"/>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400" b="0">
                <a:solidFill>
                  <a:srgbClr val="000000"/>
                </a:solidFill>
                <a:latin typeface="Tahoma" panose="020B0604030504040204" pitchFamily="34" charset="0"/>
              </a:endParaRPr>
            </a:p>
          </p:txBody>
        </p:sp>
        <p:sp>
          <p:nvSpPr>
            <p:cNvPr id="49202" name="Text Box 6"/>
            <p:cNvSpPr txBox="1">
              <a:spLocks noChangeArrowheads="1"/>
            </p:cNvSpPr>
            <p:nvPr/>
          </p:nvSpPr>
          <p:spPr bwMode="auto">
            <a:xfrm>
              <a:off x="7533481" y="3963374"/>
              <a:ext cx="720725" cy="367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null{}</a:t>
              </a:r>
              <a:endParaRPr lang="en-US" altLang="zh-CN" sz="1800" b="0">
                <a:solidFill>
                  <a:srgbClr val="000000"/>
                </a:solidFill>
                <a:latin typeface="Tahoma" panose="020B0604030504040204" pitchFamily="34" charset="0"/>
                <a:ea typeface="宋体" panose="02010600030101010101" pitchFamily="2" charset="-122"/>
              </a:endParaRPr>
            </a:p>
          </p:txBody>
        </p:sp>
      </p:grpSp>
      <p:sp>
        <p:nvSpPr>
          <p:cNvPr id="35" name="Oval 10"/>
          <p:cNvSpPr>
            <a:spLocks noChangeArrowheads="1"/>
          </p:cNvSpPr>
          <p:nvPr/>
        </p:nvSpPr>
        <p:spPr bwMode="auto">
          <a:xfrm>
            <a:off x="6831013" y="4814888"/>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36" name="AutoShape 11"/>
          <p:cNvCxnSpPr>
            <a:cxnSpLocks noChangeShapeType="1"/>
            <a:stCxn id="49201" idx="3"/>
            <a:endCxn id="35" idx="7"/>
          </p:cNvCxnSpPr>
          <p:nvPr/>
        </p:nvCxnSpPr>
        <p:spPr bwMode="auto">
          <a:xfrm flipH="1">
            <a:off x="7024688" y="4248150"/>
            <a:ext cx="295275" cy="601663"/>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37" name="Text Box 12"/>
          <p:cNvSpPr txBox="1">
            <a:spLocks noChangeArrowheads="1"/>
          </p:cNvSpPr>
          <p:nvPr/>
        </p:nvSpPr>
        <p:spPr bwMode="auto">
          <a:xfrm>
            <a:off x="6094413" y="4692650"/>
            <a:ext cx="755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I2</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000000"/>
                </a:solidFill>
                <a:latin typeface="Tahoma" panose="020B0604030504040204" pitchFamily="34" charset="0"/>
                <a:ea typeface="宋体" panose="02010600030101010101" pitchFamily="2" charset="-122"/>
              </a:rPr>
              <a:t>1</a:t>
            </a:r>
            <a:endParaRPr lang="en-US" altLang="zh-CN" sz="1800" b="0">
              <a:solidFill>
                <a:srgbClr val="000000"/>
              </a:solidFill>
              <a:latin typeface="Tahoma" panose="020B0604030504040204" pitchFamily="34" charset="0"/>
              <a:ea typeface="宋体" panose="02010600030101010101" pitchFamily="2" charset="-122"/>
            </a:endParaRPr>
          </a:p>
        </p:txBody>
      </p:sp>
      <p:sp>
        <p:nvSpPr>
          <p:cNvPr id="39" name="Oval 14"/>
          <p:cNvSpPr>
            <a:spLocks noChangeArrowheads="1"/>
          </p:cNvSpPr>
          <p:nvPr/>
        </p:nvSpPr>
        <p:spPr bwMode="auto">
          <a:xfrm>
            <a:off x="6219825" y="5500688"/>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40" name="AutoShape 15"/>
          <p:cNvCxnSpPr>
            <a:cxnSpLocks noChangeShapeType="1"/>
            <a:stCxn id="35" idx="3"/>
            <a:endCxn id="39" idx="7"/>
          </p:cNvCxnSpPr>
          <p:nvPr/>
        </p:nvCxnSpPr>
        <p:spPr bwMode="auto">
          <a:xfrm flipH="1">
            <a:off x="6415088" y="5010150"/>
            <a:ext cx="449262" cy="525463"/>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41" name="Text Box 16"/>
          <p:cNvSpPr txBox="1">
            <a:spLocks noChangeArrowheads="1"/>
          </p:cNvSpPr>
          <p:nvPr/>
        </p:nvSpPr>
        <p:spPr bwMode="auto">
          <a:xfrm>
            <a:off x="5445125" y="5410200"/>
            <a:ext cx="755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I1</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000000"/>
                </a:solidFill>
                <a:latin typeface="Tahoma" panose="020B0604030504040204" pitchFamily="34" charset="0"/>
                <a:ea typeface="宋体" panose="02010600030101010101" pitchFamily="2" charset="-122"/>
              </a:rPr>
              <a:t>1</a:t>
            </a:r>
            <a:endParaRPr lang="en-US" altLang="zh-CN" sz="1800" b="0">
              <a:solidFill>
                <a:srgbClr val="000000"/>
              </a:solidFill>
              <a:latin typeface="Tahoma" panose="020B0604030504040204" pitchFamily="34" charset="0"/>
              <a:ea typeface="宋体" panose="02010600030101010101" pitchFamily="2" charset="-122"/>
            </a:endParaRPr>
          </a:p>
        </p:txBody>
      </p:sp>
      <p:sp>
        <p:nvSpPr>
          <p:cNvPr id="43" name="Oval 18"/>
          <p:cNvSpPr>
            <a:spLocks noChangeArrowheads="1"/>
          </p:cNvSpPr>
          <p:nvPr/>
        </p:nvSpPr>
        <p:spPr bwMode="auto">
          <a:xfrm>
            <a:off x="5686425" y="6186488"/>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44" name="AutoShape 19"/>
          <p:cNvCxnSpPr>
            <a:cxnSpLocks noChangeShapeType="1"/>
            <a:stCxn id="39" idx="3"/>
            <a:endCxn id="43" idx="7"/>
          </p:cNvCxnSpPr>
          <p:nvPr/>
        </p:nvCxnSpPr>
        <p:spPr bwMode="auto">
          <a:xfrm flipH="1">
            <a:off x="5881688" y="5695950"/>
            <a:ext cx="371475" cy="525463"/>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45" name="Text Box 20"/>
          <p:cNvSpPr txBox="1">
            <a:spLocks noChangeArrowheads="1"/>
          </p:cNvSpPr>
          <p:nvPr/>
        </p:nvSpPr>
        <p:spPr bwMode="auto">
          <a:xfrm>
            <a:off x="4932363" y="6094413"/>
            <a:ext cx="755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I5</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000000"/>
                </a:solidFill>
                <a:latin typeface="Tahoma" panose="020B0604030504040204" pitchFamily="34" charset="0"/>
                <a:ea typeface="宋体" panose="02010600030101010101" pitchFamily="2" charset="-122"/>
              </a:rPr>
              <a:t>1</a:t>
            </a:r>
            <a:endParaRPr lang="en-US" altLang="zh-CN" sz="1800" b="0">
              <a:solidFill>
                <a:srgbClr val="000000"/>
              </a:solidFill>
              <a:latin typeface="Tahoma" panose="020B0604030504040204" pitchFamily="34" charset="0"/>
              <a:ea typeface="宋体" panose="02010600030101010101" pitchFamily="2" charset="-122"/>
            </a:endParaRPr>
          </a:p>
        </p:txBody>
      </p:sp>
      <p:sp>
        <p:nvSpPr>
          <p:cNvPr id="49192" name="Rectangle 22"/>
          <p:cNvSpPr>
            <a:spLocks noChangeArrowheads="1"/>
          </p:cNvSpPr>
          <p:nvPr/>
        </p:nvSpPr>
        <p:spPr bwMode="auto">
          <a:xfrm>
            <a:off x="5086350" y="5526088"/>
            <a:ext cx="1841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20000"/>
              </a:spcBef>
              <a:buClr>
                <a:srgbClr val="3333CC"/>
              </a:buClr>
              <a:buSzPct val="60000"/>
            </a:pPr>
            <a:endParaRPr lang="en-AU" altLang="zh-CN" sz="1600" b="0">
              <a:solidFill>
                <a:srgbClr val="000000"/>
              </a:solidFill>
              <a:latin typeface="楷体_GB2312" pitchFamily="49" charset="-122"/>
            </a:endParaRPr>
          </a:p>
        </p:txBody>
      </p:sp>
      <p:sp>
        <p:nvSpPr>
          <p:cNvPr id="49193" name="Rectangle 25"/>
          <p:cNvSpPr>
            <a:spLocks noChangeArrowheads="1"/>
          </p:cNvSpPr>
          <p:nvPr/>
        </p:nvSpPr>
        <p:spPr bwMode="auto">
          <a:xfrm>
            <a:off x="5192713" y="5160963"/>
            <a:ext cx="1841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20000"/>
              </a:spcBef>
              <a:buClr>
                <a:srgbClr val="3333CC"/>
              </a:buClr>
              <a:buSzPct val="60000"/>
            </a:pPr>
            <a:endParaRPr lang="en-AU" altLang="zh-CN" sz="1600" b="0">
              <a:solidFill>
                <a:srgbClr val="000000"/>
              </a:solidFill>
              <a:latin typeface="楷体_GB2312" pitchFamily="49" charset="-122"/>
            </a:endParaRPr>
          </a:p>
        </p:txBody>
      </p:sp>
      <p:sp>
        <p:nvSpPr>
          <p:cNvPr id="49194" name="Rectangle 28"/>
          <p:cNvSpPr>
            <a:spLocks noChangeArrowheads="1"/>
          </p:cNvSpPr>
          <p:nvPr/>
        </p:nvSpPr>
        <p:spPr bwMode="auto">
          <a:xfrm>
            <a:off x="5192713" y="4795838"/>
            <a:ext cx="1841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20000"/>
              </a:spcBef>
              <a:buClr>
                <a:srgbClr val="3333CC"/>
              </a:buClr>
              <a:buSzPct val="60000"/>
            </a:pPr>
            <a:endParaRPr lang="en-AU" altLang="zh-CN" sz="1600" b="0">
              <a:solidFill>
                <a:srgbClr val="000000"/>
              </a:solidFill>
              <a:latin typeface="楷体_GB2312" pitchFamily="49" charset="-122"/>
            </a:endParaRPr>
          </a:p>
        </p:txBody>
      </p:sp>
      <p:sp>
        <p:nvSpPr>
          <p:cNvPr id="49195" name="Rectangle 31"/>
          <p:cNvSpPr>
            <a:spLocks noChangeArrowheads="1"/>
          </p:cNvSpPr>
          <p:nvPr/>
        </p:nvSpPr>
        <p:spPr bwMode="auto">
          <a:xfrm>
            <a:off x="5192713" y="4430713"/>
            <a:ext cx="1841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20000"/>
              </a:spcBef>
              <a:buClr>
                <a:srgbClr val="3333CC"/>
              </a:buClr>
              <a:buSzPct val="60000"/>
            </a:pPr>
            <a:endParaRPr lang="en-AU" altLang="zh-CN" sz="1600" b="0">
              <a:solidFill>
                <a:srgbClr val="000000"/>
              </a:solidFill>
              <a:latin typeface="楷体_GB2312" pitchFamily="49" charset="-122"/>
            </a:endParaRPr>
          </a:p>
        </p:txBody>
      </p:sp>
      <p:sp>
        <p:nvSpPr>
          <p:cNvPr id="49196" name="Rectangle 34"/>
          <p:cNvSpPr>
            <a:spLocks noChangeArrowheads="1"/>
          </p:cNvSpPr>
          <p:nvPr/>
        </p:nvSpPr>
        <p:spPr bwMode="auto">
          <a:xfrm>
            <a:off x="5192713" y="4065588"/>
            <a:ext cx="1841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20000"/>
              </a:spcBef>
              <a:buClr>
                <a:srgbClr val="3333CC"/>
              </a:buClr>
              <a:buSzPct val="60000"/>
            </a:pPr>
            <a:endParaRPr lang="en-AU" altLang="zh-CN" sz="1600" b="0">
              <a:solidFill>
                <a:srgbClr val="000000"/>
              </a:solidFill>
              <a:latin typeface="楷体_GB2312" pitchFamily="49" charset="-122"/>
            </a:endParaRPr>
          </a:p>
        </p:txBody>
      </p:sp>
      <p:sp>
        <p:nvSpPr>
          <p:cNvPr id="53" name="矩形 52"/>
          <p:cNvSpPr>
            <a:spLocks noChangeArrowheads="1"/>
          </p:cNvSpPr>
          <p:nvPr/>
        </p:nvSpPr>
        <p:spPr bwMode="auto">
          <a:xfrm>
            <a:off x="8551863" y="3954463"/>
            <a:ext cx="19415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1082675">
              <a:spcBef>
                <a:spcPct val="20000"/>
              </a:spcBef>
              <a:buFont typeface="Arial" panose="020B0604020202020204" pitchFamily="34" charset="0"/>
              <a:buChar char="•"/>
              <a:defRPr sz="3000">
                <a:solidFill>
                  <a:schemeClr val="tx1"/>
                </a:solidFill>
                <a:latin typeface="Calibri" panose="020F0502020204030204" pitchFamily="34" charset="0"/>
                <a:ea typeface="PMingLiU" panose="02020500000000000000" pitchFamily="18" charset="-120"/>
              </a:defRPr>
            </a:lvl1pPr>
            <a:lvl2pPr marL="706755" indent="-271780" defTabSz="1082675">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2pPr>
            <a:lvl3pPr marL="1085850" indent="-215900" defTabSz="1082675">
              <a:spcBef>
                <a:spcPct val="20000"/>
              </a:spcBef>
              <a:buFont typeface="Arial" panose="020B0604020202020204" pitchFamily="34" charset="0"/>
              <a:buChar char="•"/>
              <a:defRPr sz="2200">
                <a:solidFill>
                  <a:schemeClr val="tx1"/>
                </a:solidFill>
                <a:latin typeface="Calibri" panose="020F0502020204030204" pitchFamily="34" charset="0"/>
                <a:ea typeface="PMingLiU" panose="02020500000000000000" pitchFamily="18" charset="-120"/>
              </a:defRPr>
            </a:lvl3pPr>
            <a:lvl4pPr marL="1522730" indent="-215900" defTabSz="1082675">
              <a:spcBef>
                <a:spcPct val="20000"/>
              </a:spcBef>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4pPr>
            <a:lvl5pPr marL="1955800" indent="-215900" defTabSz="1082675">
              <a:spcBef>
                <a:spcPct val="20000"/>
              </a:spcBef>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5pPr>
            <a:lvl6pPr marL="2413000" indent="-215900" defTabSz="1082675" eaLnBrk="0" fontAlgn="base" hangingPunct="0">
              <a:spcBef>
                <a:spcPct val="20000"/>
              </a:spcBef>
              <a:spcAft>
                <a:spcPct val="0"/>
              </a:spcAft>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6pPr>
            <a:lvl7pPr marL="2870200" indent="-215900" defTabSz="1082675" eaLnBrk="0" fontAlgn="base" hangingPunct="0">
              <a:spcBef>
                <a:spcPct val="20000"/>
              </a:spcBef>
              <a:spcAft>
                <a:spcPct val="0"/>
              </a:spcAft>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7pPr>
            <a:lvl8pPr marL="3327400" indent="-215900" defTabSz="1082675" eaLnBrk="0" fontAlgn="base" hangingPunct="0">
              <a:spcBef>
                <a:spcPct val="20000"/>
              </a:spcBef>
              <a:spcAft>
                <a:spcPct val="0"/>
              </a:spcAft>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8pPr>
            <a:lvl9pPr marL="3784600" indent="-215900" defTabSz="1082675" eaLnBrk="0" fontAlgn="base" hangingPunct="0">
              <a:spcBef>
                <a:spcPct val="20000"/>
              </a:spcBef>
              <a:spcAft>
                <a:spcPct val="0"/>
              </a:spcAft>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9pPr>
          </a:lstStyle>
          <a:p>
            <a:pPr>
              <a:spcBef>
                <a:spcPct val="0"/>
              </a:spcBef>
              <a:buFontTx/>
              <a:buNone/>
            </a:pPr>
            <a:r>
              <a:rPr lang="en-US" altLang="zh-CN" sz="1800" b="0">
                <a:latin typeface="Times New Roman" panose="02020603050405020304" pitchFamily="18" charset="0"/>
                <a:ea typeface="楷体_GB2312" pitchFamily="49" charset="-122"/>
              </a:rPr>
              <a:t>T100</a:t>
            </a:r>
            <a:r>
              <a:rPr lang="zh-CN" altLang="en-US" sz="1800" b="0">
                <a:latin typeface="Times New Roman" panose="02020603050405020304" pitchFamily="18" charset="0"/>
                <a:ea typeface="楷体_GB2312" pitchFamily="49" charset="-122"/>
              </a:rPr>
              <a:t>：</a:t>
            </a:r>
            <a:r>
              <a:rPr lang="en-US" altLang="zh-CN" sz="1800" b="0">
                <a:latin typeface="Times New Roman" panose="02020603050405020304" pitchFamily="18" charset="0"/>
                <a:ea typeface="楷体_GB2312" pitchFamily="49" charset="-122"/>
              </a:rPr>
              <a:t>I1</a:t>
            </a:r>
            <a:r>
              <a:rPr lang="zh-CN" altLang="en-US" sz="1800" b="0">
                <a:latin typeface="Times New Roman" panose="02020603050405020304" pitchFamily="18" charset="0"/>
                <a:ea typeface="楷体_GB2312" pitchFamily="49" charset="-122"/>
              </a:rPr>
              <a:t>，</a:t>
            </a:r>
            <a:r>
              <a:rPr lang="en-US" altLang="zh-CN" sz="1800" b="0">
                <a:latin typeface="Times New Roman" panose="02020603050405020304" pitchFamily="18" charset="0"/>
                <a:ea typeface="楷体_GB2312" pitchFamily="49" charset="-122"/>
              </a:rPr>
              <a:t>I2</a:t>
            </a:r>
            <a:r>
              <a:rPr lang="zh-CN" altLang="en-US" sz="1800" b="0">
                <a:latin typeface="Times New Roman" panose="02020603050405020304" pitchFamily="18" charset="0"/>
                <a:ea typeface="楷体_GB2312" pitchFamily="49" charset="-122"/>
              </a:rPr>
              <a:t>，</a:t>
            </a:r>
            <a:r>
              <a:rPr lang="en-US" altLang="zh-CN" sz="1800" b="0">
                <a:latin typeface="Times New Roman" panose="02020603050405020304" pitchFamily="18" charset="0"/>
                <a:ea typeface="楷体_GB2312" pitchFamily="49" charset="-122"/>
              </a:rPr>
              <a:t>I5</a:t>
            </a:r>
            <a:endParaRPr lang="zh-CN" altLang="en-US" sz="1800" b="0">
              <a:latin typeface="Times New Roman" panose="02020603050405020304" pitchFamily="18" charset="0"/>
              <a:ea typeface="楷体_GB2312" pitchFamily="49" charset="-122"/>
            </a:endParaRPr>
          </a:p>
        </p:txBody>
      </p:sp>
      <p:cxnSp>
        <p:nvCxnSpPr>
          <p:cNvPr id="55" name="直接箭头连接符 54"/>
          <p:cNvCxnSpPr>
            <a:stCxn id="53" idx="2"/>
            <a:endCxn id="43" idx="7"/>
          </p:cNvCxnSpPr>
          <p:nvPr/>
        </p:nvCxnSpPr>
        <p:spPr>
          <a:xfrm flipH="1">
            <a:off x="9523413" y="4324350"/>
            <a:ext cx="0" cy="4714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矩形 56"/>
          <p:cNvSpPr>
            <a:spLocks noChangeArrowheads="1"/>
          </p:cNvSpPr>
          <p:nvPr/>
        </p:nvSpPr>
        <p:spPr bwMode="auto">
          <a:xfrm>
            <a:off x="8561388" y="4764088"/>
            <a:ext cx="19415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1082675">
              <a:spcBef>
                <a:spcPct val="20000"/>
              </a:spcBef>
              <a:buFont typeface="Arial" panose="020B0604020202020204" pitchFamily="34" charset="0"/>
              <a:buChar char="•"/>
              <a:defRPr sz="3000">
                <a:solidFill>
                  <a:schemeClr val="tx1"/>
                </a:solidFill>
                <a:latin typeface="Calibri" panose="020F0502020204030204" pitchFamily="34" charset="0"/>
                <a:ea typeface="PMingLiU" panose="02020500000000000000" pitchFamily="18" charset="-120"/>
              </a:defRPr>
            </a:lvl1pPr>
            <a:lvl2pPr marL="706755" indent="-271780" defTabSz="1082675">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2pPr>
            <a:lvl3pPr marL="1085850" indent="-215900" defTabSz="1082675">
              <a:spcBef>
                <a:spcPct val="20000"/>
              </a:spcBef>
              <a:buFont typeface="Arial" panose="020B0604020202020204" pitchFamily="34" charset="0"/>
              <a:buChar char="•"/>
              <a:defRPr sz="2200">
                <a:solidFill>
                  <a:schemeClr val="tx1"/>
                </a:solidFill>
                <a:latin typeface="Calibri" panose="020F0502020204030204" pitchFamily="34" charset="0"/>
                <a:ea typeface="PMingLiU" panose="02020500000000000000" pitchFamily="18" charset="-120"/>
              </a:defRPr>
            </a:lvl3pPr>
            <a:lvl4pPr marL="1522730" indent="-215900" defTabSz="1082675">
              <a:spcBef>
                <a:spcPct val="20000"/>
              </a:spcBef>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4pPr>
            <a:lvl5pPr marL="1955800" indent="-215900" defTabSz="1082675">
              <a:spcBef>
                <a:spcPct val="20000"/>
              </a:spcBef>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5pPr>
            <a:lvl6pPr marL="2413000" indent="-215900" defTabSz="1082675" eaLnBrk="0" fontAlgn="base" hangingPunct="0">
              <a:spcBef>
                <a:spcPct val="20000"/>
              </a:spcBef>
              <a:spcAft>
                <a:spcPct val="0"/>
              </a:spcAft>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6pPr>
            <a:lvl7pPr marL="2870200" indent="-215900" defTabSz="1082675" eaLnBrk="0" fontAlgn="base" hangingPunct="0">
              <a:spcBef>
                <a:spcPct val="20000"/>
              </a:spcBef>
              <a:spcAft>
                <a:spcPct val="0"/>
              </a:spcAft>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7pPr>
            <a:lvl8pPr marL="3327400" indent="-215900" defTabSz="1082675" eaLnBrk="0" fontAlgn="base" hangingPunct="0">
              <a:spcBef>
                <a:spcPct val="20000"/>
              </a:spcBef>
              <a:spcAft>
                <a:spcPct val="0"/>
              </a:spcAft>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8pPr>
            <a:lvl9pPr marL="3784600" indent="-215900" defTabSz="1082675" eaLnBrk="0" fontAlgn="base" hangingPunct="0">
              <a:spcBef>
                <a:spcPct val="20000"/>
              </a:spcBef>
              <a:spcAft>
                <a:spcPct val="0"/>
              </a:spcAft>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9pPr>
          </a:lstStyle>
          <a:p>
            <a:pPr>
              <a:spcBef>
                <a:spcPct val="0"/>
              </a:spcBef>
              <a:buFontTx/>
              <a:buNone/>
            </a:pPr>
            <a:r>
              <a:rPr lang="en-US" altLang="zh-CN" sz="1800" b="0">
                <a:latin typeface="Times New Roman" panose="02020603050405020304" pitchFamily="18" charset="0"/>
                <a:ea typeface="楷体_GB2312" pitchFamily="49" charset="-122"/>
              </a:rPr>
              <a:t>T100</a:t>
            </a:r>
            <a:r>
              <a:rPr lang="zh-CN" altLang="en-US" sz="1800" b="0">
                <a:latin typeface="Times New Roman" panose="02020603050405020304" pitchFamily="18" charset="0"/>
                <a:ea typeface="楷体_GB2312" pitchFamily="49" charset="-122"/>
              </a:rPr>
              <a:t>：</a:t>
            </a:r>
            <a:r>
              <a:rPr lang="en-US" altLang="zh-CN" sz="1800" b="0">
                <a:latin typeface="Times New Roman" panose="02020603050405020304" pitchFamily="18" charset="0"/>
                <a:ea typeface="楷体_GB2312" pitchFamily="49" charset="-122"/>
              </a:rPr>
              <a:t>I2</a:t>
            </a:r>
            <a:r>
              <a:rPr lang="zh-CN" altLang="en-US" sz="1800" b="0">
                <a:latin typeface="Times New Roman" panose="02020603050405020304" pitchFamily="18" charset="0"/>
                <a:ea typeface="楷体_GB2312" pitchFamily="49" charset="-122"/>
              </a:rPr>
              <a:t>，</a:t>
            </a:r>
            <a:r>
              <a:rPr lang="en-US" altLang="zh-CN" sz="1800" b="0">
                <a:latin typeface="Times New Roman" panose="02020603050405020304" pitchFamily="18" charset="0"/>
                <a:ea typeface="楷体_GB2312" pitchFamily="49" charset="-122"/>
              </a:rPr>
              <a:t>I1</a:t>
            </a:r>
            <a:r>
              <a:rPr lang="zh-CN" altLang="en-US" sz="1800" b="0">
                <a:latin typeface="Times New Roman" panose="02020603050405020304" pitchFamily="18" charset="0"/>
                <a:ea typeface="楷体_GB2312" pitchFamily="49" charset="-122"/>
              </a:rPr>
              <a:t>，</a:t>
            </a:r>
            <a:r>
              <a:rPr lang="en-US" altLang="zh-CN" sz="1800" b="0">
                <a:latin typeface="Times New Roman" panose="02020603050405020304" pitchFamily="18" charset="0"/>
                <a:ea typeface="楷体_GB2312" pitchFamily="49" charset="-122"/>
              </a:rPr>
              <a:t>I5</a:t>
            </a:r>
            <a:endParaRPr lang="zh-CN" altLang="en-US" sz="1800" b="0">
              <a:latin typeface="Times New Roman" panose="02020603050405020304" pitchFamily="18" charset="0"/>
              <a:ea typeface="楷体_GB2312" pitchFamily="49" charset="-122"/>
            </a:endParaRPr>
          </a:p>
        </p:txBody>
      </p:sp>
      <p:sp>
        <p:nvSpPr>
          <p:cNvPr id="56" name="矩形 55"/>
          <p:cNvSpPr/>
          <p:nvPr/>
        </p:nvSpPr>
        <p:spPr>
          <a:xfrm>
            <a:off x="9456738" y="4375150"/>
            <a:ext cx="1343025" cy="338138"/>
          </a:xfrm>
          <a:prstGeom prst="rect">
            <a:avLst/>
          </a:prstGeom>
        </p:spPr>
        <p:txBody>
          <a:bodyPr wrap="none">
            <a:spAutoFit/>
          </a:bodyPr>
          <a:lstStyle/>
          <a:p>
            <a:pPr defTabSz="1083945">
              <a:defRPr/>
            </a:pPr>
            <a:r>
              <a:rPr lang="zh-CN" altLang="en-US" sz="1600" b="0" dirty="0">
                <a:solidFill>
                  <a:srgbClr val="0000FF"/>
                </a:solidFill>
                <a:latin typeface="+mn-ea"/>
                <a:ea typeface="+mn-ea"/>
              </a:rPr>
              <a:t>按</a:t>
            </a:r>
            <a:r>
              <a:rPr lang="en-US" altLang="zh-CN" sz="1600" b="0" dirty="0">
                <a:solidFill>
                  <a:srgbClr val="0000FF"/>
                </a:solidFill>
                <a:latin typeface="+mn-ea"/>
                <a:ea typeface="+mn-ea"/>
              </a:rPr>
              <a:t>L</a:t>
            </a:r>
            <a:r>
              <a:rPr lang="zh-CN" altLang="en-US" sz="1600" b="0" dirty="0">
                <a:solidFill>
                  <a:srgbClr val="0000FF"/>
                </a:solidFill>
                <a:latin typeface="+mn-ea"/>
                <a:ea typeface="+mn-ea"/>
              </a:rPr>
              <a:t>中的次序</a:t>
            </a:r>
            <a:endParaRPr lang="zh-CN" altLang="en-US" sz="1600" b="0" dirty="0">
              <a:solidFill>
                <a:srgbClr val="0000FF"/>
              </a:solidFill>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35" grpId="0" animBg="1"/>
      <p:bldP spid="37" grpId="0"/>
      <p:bldP spid="39" grpId="0" animBg="1"/>
      <p:bldP spid="41" grpId="0"/>
      <p:bldP spid="43" grpId="0" animBg="1"/>
      <p:bldP spid="45" grpId="0"/>
      <p:bldP spid="53" grpId="0"/>
      <p:bldP spid="57" grpId="0"/>
      <p:bldP spid="5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a:t>
            </a:r>
            <a:r>
              <a:rPr lang="en-US" altLang="zh-CN" sz="4400" dirty="0">
                <a:latin typeface="楷体" panose="02010609060101010101" pitchFamily="49" charset="-122"/>
                <a:ea typeface="楷体" panose="02010609060101010101" pitchFamily="49" charset="-122"/>
              </a:rPr>
              <a:t>6.2 </a:t>
            </a:r>
            <a:r>
              <a:rPr lang="zh-CN" altLang="en-US" sz="4400" dirty="0">
                <a:latin typeface="楷体" panose="02010609060101010101" pitchFamily="49" charset="-122"/>
                <a:ea typeface="楷体" panose="02010609060101010101" pitchFamily="49" charset="-122"/>
              </a:rPr>
              <a:t>频繁项集挖掘方法</a:t>
            </a:r>
            <a:endParaRPr lang="zh-CN" altLang="en-US" sz="4400" dirty="0">
              <a:latin typeface="楷体" panose="02010609060101010101" pitchFamily="49" charset="-122"/>
              <a:ea typeface="楷体" panose="02010609060101010101" pitchFamily="49" charset="-122"/>
            </a:endParaRPr>
          </a:p>
        </p:txBody>
      </p:sp>
      <p:sp>
        <p:nvSpPr>
          <p:cNvPr id="4" name="Rectangle 3"/>
          <p:cNvSpPr>
            <a:spLocks noGrp="1" noChangeArrowheads="1"/>
          </p:cNvSpPr>
          <p:nvPr>
            <p:ph idx="1"/>
          </p:nvPr>
        </p:nvSpPr>
        <p:spPr>
          <a:xfrm>
            <a:off x="522288" y="1160463"/>
            <a:ext cx="9906000" cy="806450"/>
          </a:xfrm>
        </p:spPr>
        <p:txBody>
          <a:bodyPr/>
          <a:lstStyle/>
          <a:p>
            <a:pPr marL="0" indent="0" defTabSz="868680" eaLnBrk="1" hangingPunct="1">
              <a:buFont typeface="Arial" panose="020B0604020202020204" pitchFamily="34" charset="0"/>
              <a:buNone/>
              <a:defRPr/>
            </a:pPr>
            <a:r>
              <a:rPr lang="en-US" altLang="zh-CN" sz="2400" b="1" dirty="0">
                <a:solidFill>
                  <a:srgbClr val="0000FF"/>
                </a:solidFill>
                <a:latin typeface="+mn-ea"/>
                <a:ea typeface="+mn-ea"/>
                <a:cs typeface="Times New Roman" panose="02020603050405020304" pitchFamily="18" charset="0"/>
              </a:rPr>
              <a:t>4</a:t>
            </a:r>
            <a:r>
              <a:rPr lang="zh-CN" altLang="en-US" sz="2400" b="1" dirty="0">
                <a:solidFill>
                  <a:srgbClr val="0000FF"/>
                </a:solidFill>
                <a:latin typeface="+mn-ea"/>
                <a:ea typeface="+mn-ea"/>
                <a:cs typeface="Times New Roman" panose="02020603050405020304" pitchFamily="18" charset="0"/>
              </a:rPr>
              <a:t>、挖掘频繁项集的模式增长方法</a:t>
            </a:r>
            <a:endParaRPr lang="en-US" altLang="zh-CN" sz="2400" b="1" dirty="0">
              <a:solidFill>
                <a:srgbClr val="0000FF"/>
              </a:solidFill>
              <a:latin typeface="+mn-ea"/>
              <a:ea typeface="+mn-ea"/>
              <a:cs typeface="Times New Roman" panose="02020603050405020304" pitchFamily="18" charset="0"/>
            </a:endParaRPr>
          </a:p>
          <a:p>
            <a:pPr marL="0" indent="0" defTabSz="868680" eaLnBrk="1" hangingPunct="1">
              <a:buFont typeface="Arial" panose="020B0604020202020204" pitchFamily="34" charset="0"/>
              <a:buNone/>
              <a:defRPr/>
            </a:pPr>
            <a:r>
              <a:rPr lang="zh-CN" altLang="en-US" sz="2400" b="1" dirty="0">
                <a:latin typeface="+mn-ea"/>
                <a:ea typeface="+mn-ea"/>
                <a:cs typeface="Times New Roman" panose="02020603050405020304" pitchFamily="18" charset="0"/>
              </a:rPr>
              <a:t>例：</a:t>
            </a:r>
            <a:endParaRPr lang="zh-CN" altLang="en-US" sz="2400" b="1" dirty="0">
              <a:latin typeface="+mn-ea"/>
              <a:ea typeface="+mn-ea"/>
              <a:cs typeface="Times New Roman" panose="02020603050405020304" pitchFamily="18" charset="0"/>
            </a:endParaRPr>
          </a:p>
        </p:txBody>
      </p:sp>
      <p:sp>
        <p:nvSpPr>
          <p:cNvPr id="5" name="矩形 4"/>
          <p:cNvSpPr/>
          <p:nvPr/>
        </p:nvSpPr>
        <p:spPr>
          <a:xfrm>
            <a:off x="1206500" y="1812925"/>
            <a:ext cx="1582738" cy="460375"/>
          </a:xfrm>
          <a:prstGeom prst="rect">
            <a:avLst/>
          </a:prstGeom>
        </p:spPr>
        <p:txBody>
          <a:bodyPr wrap="none">
            <a:spAutoFit/>
          </a:bodyPr>
          <a:lstStyle/>
          <a:p>
            <a:pPr defTabSz="1083945">
              <a:defRPr/>
            </a:pPr>
            <a:r>
              <a:rPr lang="en-US" altLang="zh-CN" sz="2400" dirty="0" err="1">
                <a:solidFill>
                  <a:srgbClr val="FF0000"/>
                </a:solidFill>
                <a:latin typeface="+mn-ea"/>
                <a:ea typeface="+mn-ea"/>
              </a:rPr>
              <a:t>min_sup</a:t>
            </a:r>
            <a:r>
              <a:rPr lang="en-US" altLang="zh-CN" sz="2400" dirty="0">
                <a:solidFill>
                  <a:srgbClr val="FF0000"/>
                </a:solidFill>
                <a:latin typeface="+mn-ea"/>
                <a:ea typeface="+mn-ea"/>
              </a:rPr>
              <a:t>=2</a:t>
            </a:r>
            <a:endParaRPr lang="zh-CN" altLang="en-US" sz="2400" dirty="0">
              <a:solidFill>
                <a:srgbClr val="FF0000"/>
              </a:solidFill>
              <a:latin typeface="+mn-ea"/>
              <a:ea typeface="+mn-ea"/>
            </a:endParaRPr>
          </a:p>
        </p:txBody>
      </p:sp>
      <p:grpSp>
        <p:nvGrpSpPr>
          <p:cNvPr id="51205" name="组合 5"/>
          <p:cNvGrpSpPr/>
          <p:nvPr/>
        </p:nvGrpSpPr>
        <p:grpSpPr bwMode="auto">
          <a:xfrm>
            <a:off x="1179513" y="2312988"/>
            <a:ext cx="1704975" cy="2541587"/>
            <a:chOff x="1102723" y="2429669"/>
            <a:chExt cx="1406830" cy="2329050"/>
          </a:xfrm>
        </p:grpSpPr>
        <p:pic>
          <p:nvPicPr>
            <p:cNvPr id="51255" name="图片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06531" y="2429669"/>
              <a:ext cx="342857" cy="140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56" name="图片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9388" y="2435701"/>
              <a:ext cx="1009524" cy="140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57" name="图片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723" y="3863481"/>
              <a:ext cx="380952" cy="895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58" name="图片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5743" y="3864588"/>
              <a:ext cx="923810" cy="866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直接连接符 10"/>
            <p:cNvCxnSpPr/>
            <p:nvPr/>
          </p:nvCxnSpPr>
          <p:spPr>
            <a:xfrm>
              <a:off x="1102723" y="4742717"/>
              <a:ext cx="1355744"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2" name="矩形 1"/>
          <p:cNvSpPr/>
          <p:nvPr/>
        </p:nvSpPr>
        <p:spPr>
          <a:xfrm>
            <a:off x="3473450" y="1966913"/>
            <a:ext cx="6954838" cy="923925"/>
          </a:xfrm>
          <a:prstGeom prst="rect">
            <a:avLst/>
          </a:prstGeom>
        </p:spPr>
        <p:txBody>
          <a:bodyPr>
            <a:spAutoFit/>
          </a:bodyPr>
          <a:lstStyle/>
          <a:p>
            <a:pPr>
              <a:defRPr/>
            </a:pPr>
            <a:r>
              <a:rPr lang="zh-CN" altLang="en-US" sz="1800" dirty="0">
                <a:latin typeface="+mn-ea"/>
                <a:ea typeface="+mn-ea"/>
              </a:rPr>
              <a:t>第</a:t>
            </a:r>
            <a:r>
              <a:rPr lang="en-US" altLang="zh-CN" sz="1800" dirty="0">
                <a:latin typeface="+mn-ea"/>
                <a:ea typeface="+mn-ea"/>
              </a:rPr>
              <a:t>1</a:t>
            </a:r>
            <a:r>
              <a:rPr lang="zh-CN" altLang="en-US" sz="1800" dirty="0">
                <a:latin typeface="+mn-ea"/>
                <a:ea typeface="+mn-ea"/>
              </a:rPr>
              <a:t>步</a:t>
            </a:r>
            <a:r>
              <a:rPr lang="zh-CN" altLang="en-US" sz="1800" b="0" dirty="0">
                <a:latin typeface="+mn-ea"/>
                <a:ea typeface="+mn-ea"/>
              </a:rPr>
              <a:t>，扫描数据库，导出所有的频繁项(1项集)的集合，计算支持度取阈值以上，按照支持度</a:t>
            </a:r>
            <a:r>
              <a:rPr lang="zh-CN" altLang="en-US" sz="1800" dirty="0">
                <a:solidFill>
                  <a:srgbClr val="FF0000"/>
                </a:solidFill>
                <a:latin typeface="+mn-ea"/>
                <a:ea typeface="+mn-ea"/>
              </a:rPr>
              <a:t>递减</a:t>
            </a:r>
            <a:r>
              <a:rPr lang="zh-CN" altLang="en-US" sz="1800" b="0" dirty="0">
                <a:latin typeface="+mn-ea"/>
                <a:ea typeface="+mn-ea"/>
              </a:rPr>
              <a:t>的顺序排序。排序结果为L={{I2:7},{I1:6},{I3:6},{I4:2},{I5:2}}</a:t>
            </a:r>
            <a:endParaRPr lang="zh-CN" altLang="en-US" sz="1800" b="0" dirty="0">
              <a:latin typeface="+mn-ea"/>
              <a:ea typeface="+mn-ea"/>
            </a:endParaRPr>
          </a:p>
        </p:txBody>
      </p:sp>
      <p:pic>
        <p:nvPicPr>
          <p:cNvPr id="51207" name="图片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68400" y="5103813"/>
            <a:ext cx="1419225"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3473450" y="3059113"/>
            <a:ext cx="6954838" cy="646112"/>
          </a:xfrm>
          <a:prstGeom prst="rect">
            <a:avLst/>
          </a:prstGeom>
        </p:spPr>
        <p:txBody>
          <a:bodyPr>
            <a:spAutoFit/>
          </a:bodyPr>
          <a:lstStyle/>
          <a:p>
            <a:pPr>
              <a:defRPr/>
            </a:pPr>
            <a:r>
              <a:rPr lang="zh-CN" altLang="en-US" sz="1800" dirty="0">
                <a:latin typeface="+mn-ea"/>
                <a:ea typeface="+mn-ea"/>
              </a:rPr>
              <a:t>第</a:t>
            </a:r>
            <a:r>
              <a:rPr lang="en-US" altLang="zh-CN" sz="1800" dirty="0">
                <a:latin typeface="+mn-ea"/>
                <a:ea typeface="+mn-ea"/>
              </a:rPr>
              <a:t>2</a:t>
            </a:r>
            <a:r>
              <a:rPr lang="zh-CN" altLang="en-US" sz="1800" dirty="0">
                <a:latin typeface="+mn-ea"/>
                <a:ea typeface="+mn-ea"/>
              </a:rPr>
              <a:t>步</a:t>
            </a:r>
            <a:r>
              <a:rPr lang="zh-CN" altLang="en-US" sz="1800" b="0" dirty="0">
                <a:latin typeface="+mn-ea"/>
                <a:ea typeface="+mn-ea"/>
              </a:rPr>
              <a:t>，构造FP树。首先，创建树的根节点，用”null”标记。再次扫描数据库，对每个事务TID中的项按照L中次序处理形成结点。</a:t>
            </a:r>
            <a:endParaRPr lang="zh-CN" altLang="en-US" sz="1800" b="0" dirty="0">
              <a:latin typeface="+mn-ea"/>
              <a:ea typeface="+mn-ea"/>
            </a:endParaRPr>
          </a:p>
        </p:txBody>
      </p:sp>
      <p:graphicFrame>
        <p:nvGraphicFramePr>
          <p:cNvPr id="13" name="表格 12"/>
          <p:cNvGraphicFramePr>
            <a:graphicFrameLocks noGrp="1"/>
          </p:cNvGraphicFramePr>
          <p:nvPr/>
        </p:nvGraphicFramePr>
        <p:xfrm>
          <a:off x="3473450" y="4830763"/>
          <a:ext cx="784226" cy="1854200"/>
        </p:xfrm>
        <a:graphic>
          <a:graphicData uri="http://schemas.openxmlformats.org/drawingml/2006/table">
            <a:tbl>
              <a:tblPr firstRow="1" bandRow="1">
                <a:tableStyleId>{5C22544A-7EE6-4342-B048-85BDC9FD1C3A}</a:tableStyleId>
              </a:tblPr>
              <a:tblGrid>
                <a:gridCol w="392113"/>
                <a:gridCol w="392113"/>
              </a:tblGrid>
              <a:tr h="370840">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I2</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573" marR="91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7</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573" marR="91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I1</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573" marR="91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6</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573" marR="91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I3</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573" marR="91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6</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573" marR="91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I4</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573" marR="91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2</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573" marR="91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I5</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573" marR="91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2</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573" marR="91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cxnSp>
        <p:nvCxnSpPr>
          <p:cNvPr id="28" name="直接箭头连接符 27"/>
          <p:cNvCxnSpPr>
            <a:stCxn id="51207" idx="3"/>
            <a:endCxn id="13" idx="1"/>
          </p:cNvCxnSpPr>
          <p:nvPr/>
        </p:nvCxnSpPr>
        <p:spPr>
          <a:xfrm flipV="1">
            <a:off x="2587625" y="5757863"/>
            <a:ext cx="885825" cy="317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51230" name="组合 28"/>
          <p:cNvGrpSpPr/>
          <p:nvPr/>
        </p:nvGrpSpPr>
        <p:grpSpPr bwMode="auto">
          <a:xfrm>
            <a:off x="7285038" y="3963988"/>
            <a:ext cx="968375" cy="366712"/>
            <a:chOff x="7285831" y="3963374"/>
            <a:chExt cx="968375" cy="367802"/>
          </a:xfrm>
        </p:grpSpPr>
        <p:sp>
          <p:nvSpPr>
            <p:cNvPr id="51253" name="Oval 5"/>
            <p:cNvSpPr>
              <a:spLocks noChangeArrowheads="1"/>
            </p:cNvSpPr>
            <p:nvPr/>
          </p:nvSpPr>
          <p:spPr bwMode="auto">
            <a:xfrm>
              <a:off x="7285831" y="4052508"/>
              <a:ext cx="228600" cy="228291"/>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400" b="0">
                <a:solidFill>
                  <a:srgbClr val="000000"/>
                </a:solidFill>
                <a:latin typeface="Tahoma" panose="020B0604030504040204" pitchFamily="34" charset="0"/>
              </a:endParaRPr>
            </a:p>
          </p:txBody>
        </p:sp>
        <p:sp>
          <p:nvSpPr>
            <p:cNvPr id="51254" name="Text Box 6"/>
            <p:cNvSpPr txBox="1">
              <a:spLocks noChangeArrowheads="1"/>
            </p:cNvSpPr>
            <p:nvPr/>
          </p:nvSpPr>
          <p:spPr bwMode="auto">
            <a:xfrm>
              <a:off x="7533481" y="3963374"/>
              <a:ext cx="720725" cy="367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null{}</a:t>
              </a:r>
              <a:endParaRPr lang="en-US" altLang="zh-CN" sz="1800" b="0">
                <a:solidFill>
                  <a:srgbClr val="000000"/>
                </a:solidFill>
                <a:latin typeface="Tahoma" panose="020B0604030504040204" pitchFamily="34" charset="0"/>
                <a:ea typeface="宋体" panose="02010600030101010101" pitchFamily="2" charset="-122"/>
              </a:endParaRPr>
            </a:p>
          </p:txBody>
        </p:sp>
      </p:grpSp>
      <p:sp>
        <p:nvSpPr>
          <p:cNvPr id="51231" name="Oval 10"/>
          <p:cNvSpPr>
            <a:spLocks noChangeArrowheads="1"/>
          </p:cNvSpPr>
          <p:nvPr/>
        </p:nvSpPr>
        <p:spPr bwMode="auto">
          <a:xfrm>
            <a:off x="6831013" y="4814888"/>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1232" name="AutoShape 11"/>
          <p:cNvCxnSpPr>
            <a:cxnSpLocks noChangeShapeType="1"/>
            <a:stCxn id="51253" idx="3"/>
            <a:endCxn id="51231" idx="7"/>
          </p:cNvCxnSpPr>
          <p:nvPr/>
        </p:nvCxnSpPr>
        <p:spPr bwMode="auto">
          <a:xfrm flipH="1">
            <a:off x="7024688" y="4248150"/>
            <a:ext cx="295275" cy="601663"/>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1233" name="Text Box 12"/>
          <p:cNvSpPr txBox="1">
            <a:spLocks noChangeArrowheads="1"/>
          </p:cNvSpPr>
          <p:nvPr/>
        </p:nvSpPr>
        <p:spPr bwMode="auto">
          <a:xfrm>
            <a:off x="6094413" y="4692650"/>
            <a:ext cx="755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I2</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000000"/>
                </a:solidFill>
                <a:latin typeface="Tahoma" panose="020B0604030504040204" pitchFamily="34" charset="0"/>
                <a:ea typeface="宋体" panose="02010600030101010101" pitchFamily="2" charset="-122"/>
              </a:rPr>
              <a:t>1</a:t>
            </a:r>
            <a:endParaRPr lang="en-US" altLang="zh-CN" sz="1800" b="0">
              <a:solidFill>
                <a:srgbClr val="000000"/>
              </a:solidFill>
              <a:latin typeface="Tahoma" panose="020B0604030504040204" pitchFamily="34" charset="0"/>
              <a:ea typeface="宋体" panose="02010600030101010101" pitchFamily="2" charset="-122"/>
            </a:endParaRPr>
          </a:p>
        </p:txBody>
      </p:sp>
      <p:sp>
        <p:nvSpPr>
          <p:cNvPr id="51234" name="Oval 14"/>
          <p:cNvSpPr>
            <a:spLocks noChangeArrowheads="1"/>
          </p:cNvSpPr>
          <p:nvPr/>
        </p:nvSpPr>
        <p:spPr bwMode="auto">
          <a:xfrm>
            <a:off x="6215063" y="5500688"/>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1235" name="AutoShape 15"/>
          <p:cNvCxnSpPr>
            <a:cxnSpLocks noChangeShapeType="1"/>
            <a:stCxn id="51231" idx="3"/>
            <a:endCxn id="51234" idx="7"/>
          </p:cNvCxnSpPr>
          <p:nvPr/>
        </p:nvCxnSpPr>
        <p:spPr bwMode="auto">
          <a:xfrm flipH="1">
            <a:off x="6410325" y="5010150"/>
            <a:ext cx="454025" cy="525463"/>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1236" name="Text Box 16"/>
          <p:cNvSpPr txBox="1">
            <a:spLocks noChangeArrowheads="1"/>
          </p:cNvSpPr>
          <p:nvPr/>
        </p:nvSpPr>
        <p:spPr bwMode="auto">
          <a:xfrm>
            <a:off x="5446713" y="5410200"/>
            <a:ext cx="754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I1</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000000"/>
                </a:solidFill>
                <a:latin typeface="Tahoma" panose="020B0604030504040204" pitchFamily="34" charset="0"/>
                <a:ea typeface="宋体" panose="02010600030101010101" pitchFamily="2" charset="-122"/>
              </a:rPr>
              <a:t>1</a:t>
            </a:r>
            <a:endParaRPr lang="en-US" altLang="zh-CN" sz="1800" b="0">
              <a:solidFill>
                <a:srgbClr val="000000"/>
              </a:solidFill>
              <a:latin typeface="Tahoma" panose="020B0604030504040204" pitchFamily="34" charset="0"/>
              <a:ea typeface="宋体" panose="02010600030101010101" pitchFamily="2" charset="-122"/>
            </a:endParaRPr>
          </a:p>
        </p:txBody>
      </p:sp>
      <p:sp>
        <p:nvSpPr>
          <p:cNvPr id="51237" name="Oval 18"/>
          <p:cNvSpPr>
            <a:spLocks noChangeArrowheads="1"/>
          </p:cNvSpPr>
          <p:nvPr/>
        </p:nvSpPr>
        <p:spPr bwMode="auto">
          <a:xfrm>
            <a:off x="5681663" y="6186488"/>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1238" name="AutoShape 19"/>
          <p:cNvCxnSpPr>
            <a:cxnSpLocks noChangeShapeType="1"/>
            <a:stCxn id="51234" idx="3"/>
            <a:endCxn id="51237" idx="7"/>
          </p:cNvCxnSpPr>
          <p:nvPr/>
        </p:nvCxnSpPr>
        <p:spPr bwMode="auto">
          <a:xfrm flipH="1">
            <a:off x="5876925" y="5695950"/>
            <a:ext cx="371475" cy="525463"/>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1239" name="Text Box 20"/>
          <p:cNvSpPr txBox="1">
            <a:spLocks noChangeArrowheads="1"/>
          </p:cNvSpPr>
          <p:nvPr/>
        </p:nvSpPr>
        <p:spPr bwMode="auto">
          <a:xfrm>
            <a:off x="4927600" y="6094413"/>
            <a:ext cx="755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I5</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000000"/>
                </a:solidFill>
                <a:latin typeface="Tahoma" panose="020B0604030504040204" pitchFamily="34" charset="0"/>
                <a:ea typeface="宋体" panose="02010600030101010101" pitchFamily="2" charset="-122"/>
              </a:rPr>
              <a:t>1</a:t>
            </a:r>
            <a:endParaRPr lang="en-US" altLang="zh-CN" sz="1800" b="0">
              <a:solidFill>
                <a:srgbClr val="000000"/>
              </a:solidFill>
              <a:latin typeface="Tahoma" panose="020B0604030504040204" pitchFamily="34" charset="0"/>
              <a:ea typeface="宋体" panose="02010600030101010101" pitchFamily="2" charset="-122"/>
            </a:endParaRPr>
          </a:p>
        </p:txBody>
      </p:sp>
      <p:sp>
        <p:nvSpPr>
          <p:cNvPr id="51240" name="Rectangle 22"/>
          <p:cNvSpPr>
            <a:spLocks noChangeArrowheads="1"/>
          </p:cNvSpPr>
          <p:nvPr/>
        </p:nvSpPr>
        <p:spPr bwMode="auto">
          <a:xfrm>
            <a:off x="5035550" y="5526088"/>
            <a:ext cx="1841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20000"/>
              </a:spcBef>
              <a:buClr>
                <a:srgbClr val="3333CC"/>
              </a:buClr>
              <a:buSzPct val="60000"/>
            </a:pPr>
            <a:endParaRPr lang="en-AU" altLang="zh-CN" sz="1600" b="0">
              <a:solidFill>
                <a:srgbClr val="000000"/>
              </a:solidFill>
              <a:latin typeface="楷体_GB2312" pitchFamily="49" charset="-122"/>
            </a:endParaRPr>
          </a:p>
        </p:txBody>
      </p:sp>
      <p:sp>
        <p:nvSpPr>
          <p:cNvPr id="51241" name="Rectangle 25"/>
          <p:cNvSpPr>
            <a:spLocks noChangeArrowheads="1"/>
          </p:cNvSpPr>
          <p:nvPr/>
        </p:nvSpPr>
        <p:spPr bwMode="auto">
          <a:xfrm>
            <a:off x="5192713" y="5160963"/>
            <a:ext cx="1841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20000"/>
              </a:spcBef>
              <a:buClr>
                <a:srgbClr val="3333CC"/>
              </a:buClr>
              <a:buSzPct val="60000"/>
            </a:pPr>
            <a:endParaRPr lang="en-AU" altLang="zh-CN" sz="1600" b="0">
              <a:solidFill>
                <a:srgbClr val="000000"/>
              </a:solidFill>
              <a:latin typeface="楷体_GB2312" pitchFamily="49" charset="-122"/>
            </a:endParaRPr>
          </a:p>
        </p:txBody>
      </p:sp>
      <p:sp>
        <p:nvSpPr>
          <p:cNvPr id="51242" name="Rectangle 28"/>
          <p:cNvSpPr>
            <a:spLocks noChangeArrowheads="1"/>
          </p:cNvSpPr>
          <p:nvPr/>
        </p:nvSpPr>
        <p:spPr bwMode="auto">
          <a:xfrm>
            <a:off x="5192713" y="4795838"/>
            <a:ext cx="1841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20000"/>
              </a:spcBef>
              <a:buClr>
                <a:srgbClr val="3333CC"/>
              </a:buClr>
              <a:buSzPct val="60000"/>
            </a:pPr>
            <a:endParaRPr lang="en-AU" altLang="zh-CN" sz="1600" b="0">
              <a:solidFill>
                <a:srgbClr val="000000"/>
              </a:solidFill>
              <a:latin typeface="楷体_GB2312" pitchFamily="49" charset="-122"/>
            </a:endParaRPr>
          </a:p>
        </p:txBody>
      </p:sp>
      <p:sp>
        <p:nvSpPr>
          <p:cNvPr id="51243" name="Rectangle 31"/>
          <p:cNvSpPr>
            <a:spLocks noChangeArrowheads="1"/>
          </p:cNvSpPr>
          <p:nvPr/>
        </p:nvSpPr>
        <p:spPr bwMode="auto">
          <a:xfrm>
            <a:off x="5192713" y="4430713"/>
            <a:ext cx="1841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20000"/>
              </a:spcBef>
              <a:buClr>
                <a:srgbClr val="3333CC"/>
              </a:buClr>
              <a:buSzPct val="60000"/>
            </a:pPr>
            <a:endParaRPr lang="en-AU" altLang="zh-CN" sz="1600" b="0">
              <a:solidFill>
                <a:srgbClr val="000000"/>
              </a:solidFill>
              <a:latin typeface="楷体_GB2312" pitchFamily="49" charset="-122"/>
            </a:endParaRPr>
          </a:p>
        </p:txBody>
      </p:sp>
      <p:sp>
        <p:nvSpPr>
          <p:cNvPr id="51244" name="Rectangle 34"/>
          <p:cNvSpPr>
            <a:spLocks noChangeArrowheads="1"/>
          </p:cNvSpPr>
          <p:nvPr/>
        </p:nvSpPr>
        <p:spPr bwMode="auto">
          <a:xfrm>
            <a:off x="5192713" y="4065588"/>
            <a:ext cx="1841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20000"/>
              </a:spcBef>
              <a:buClr>
                <a:srgbClr val="3333CC"/>
              </a:buClr>
              <a:buSzPct val="60000"/>
            </a:pPr>
            <a:endParaRPr lang="en-AU" altLang="zh-CN" sz="1600" b="0">
              <a:solidFill>
                <a:srgbClr val="000000"/>
              </a:solidFill>
              <a:latin typeface="楷体_GB2312" pitchFamily="49" charset="-122"/>
            </a:endParaRPr>
          </a:p>
        </p:txBody>
      </p:sp>
      <p:sp>
        <p:nvSpPr>
          <p:cNvPr id="53" name="矩形 52"/>
          <p:cNvSpPr>
            <a:spLocks noChangeArrowheads="1"/>
          </p:cNvSpPr>
          <p:nvPr/>
        </p:nvSpPr>
        <p:spPr bwMode="auto">
          <a:xfrm>
            <a:off x="8674100" y="3954463"/>
            <a:ext cx="1517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1082675">
              <a:spcBef>
                <a:spcPct val="20000"/>
              </a:spcBef>
              <a:buFont typeface="Arial" panose="020B0604020202020204" pitchFamily="34" charset="0"/>
              <a:buChar char="•"/>
              <a:defRPr sz="3000">
                <a:solidFill>
                  <a:schemeClr val="tx1"/>
                </a:solidFill>
                <a:latin typeface="Calibri" panose="020F0502020204030204" pitchFamily="34" charset="0"/>
                <a:ea typeface="PMingLiU" panose="02020500000000000000" pitchFamily="18" charset="-120"/>
              </a:defRPr>
            </a:lvl1pPr>
            <a:lvl2pPr marL="706755" indent="-271780" defTabSz="1082675">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2pPr>
            <a:lvl3pPr marL="1085850" indent="-215900" defTabSz="1082675">
              <a:spcBef>
                <a:spcPct val="20000"/>
              </a:spcBef>
              <a:buFont typeface="Arial" panose="020B0604020202020204" pitchFamily="34" charset="0"/>
              <a:buChar char="•"/>
              <a:defRPr sz="2200">
                <a:solidFill>
                  <a:schemeClr val="tx1"/>
                </a:solidFill>
                <a:latin typeface="Calibri" panose="020F0502020204030204" pitchFamily="34" charset="0"/>
                <a:ea typeface="PMingLiU" panose="02020500000000000000" pitchFamily="18" charset="-120"/>
              </a:defRPr>
            </a:lvl3pPr>
            <a:lvl4pPr marL="1522730" indent="-215900" defTabSz="1082675">
              <a:spcBef>
                <a:spcPct val="20000"/>
              </a:spcBef>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4pPr>
            <a:lvl5pPr marL="1955800" indent="-215900" defTabSz="1082675">
              <a:spcBef>
                <a:spcPct val="20000"/>
              </a:spcBef>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5pPr>
            <a:lvl6pPr marL="2413000" indent="-215900" defTabSz="1082675" eaLnBrk="0" fontAlgn="base" hangingPunct="0">
              <a:spcBef>
                <a:spcPct val="20000"/>
              </a:spcBef>
              <a:spcAft>
                <a:spcPct val="0"/>
              </a:spcAft>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6pPr>
            <a:lvl7pPr marL="2870200" indent="-215900" defTabSz="1082675" eaLnBrk="0" fontAlgn="base" hangingPunct="0">
              <a:spcBef>
                <a:spcPct val="20000"/>
              </a:spcBef>
              <a:spcAft>
                <a:spcPct val="0"/>
              </a:spcAft>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7pPr>
            <a:lvl8pPr marL="3327400" indent="-215900" defTabSz="1082675" eaLnBrk="0" fontAlgn="base" hangingPunct="0">
              <a:spcBef>
                <a:spcPct val="20000"/>
              </a:spcBef>
              <a:spcAft>
                <a:spcPct val="0"/>
              </a:spcAft>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8pPr>
            <a:lvl9pPr marL="3784600" indent="-215900" defTabSz="1082675" eaLnBrk="0" fontAlgn="base" hangingPunct="0">
              <a:spcBef>
                <a:spcPct val="20000"/>
              </a:spcBef>
              <a:spcAft>
                <a:spcPct val="0"/>
              </a:spcAft>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9pPr>
          </a:lstStyle>
          <a:p>
            <a:pPr>
              <a:spcBef>
                <a:spcPct val="0"/>
              </a:spcBef>
              <a:buFontTx/>
              <a:buNone/>
            </a:pPr>
            <a:r>
              <a:rPr lang="en-US" altLang="zh-CN" sz="1800" b="0">
                <a:latin typeface="Times New Roman" panose="02020603050405020304" pitchFamily="18" charset="0"/>
                <a:ea typeface="楷体_GB2312" pitchFamily="49" charset="-122"/>
              </a:rPr>
              <a:t>T200</a:t>
            </a:r>
            <a:r>
              <a:rPr lang="zh-CN" altLang="en-US" sz="1800" b="0">
                <a:latin typeface="Times New Roman" panose="02020603050405020304" pitchFamily="18" charset="0"/>
                <a:ea typeface="楷体_GB2312" pitchFamily="49" charset="-122"/>
              </a:rPr>
              <a:t>：</a:t>
            </a:r>
            <a:r>
              <a:rPr lang="en-US" altLang="zh-CN" sz="1800" b="0">
                <a:latin typeface="Times New Roman" panose="02020603050405020304" pitchFamily="18" charset="0"/>
                <a:ea typeface="楷体_GB2312" pitchFamily="49" charset="-122"/>
              </a:rPr>
              <a:t>I2</a:t>
            </a:r>
            <a:r>
              <a:rPr lang="zh-CN" altLang="en-US" sz="1800" b="0">
                <a:latin typeface="Times New Roman" panose="02020603050405020304" pitchFamily="18" charset="0"/>
                <a:ea typeface="楷体_GB2312" pitchFamily="49" charset="-122"/>
              </a:rPr>
              <a:t>，</a:t>
            </a:r>
            <a:r>
              <a:rPr lang="en-US" altLang="zh-CN" sz="1800" b="0">
                <a:latin typeface="Times New Roman" panose="02020603050405020304" pitchFamily="18" charset="0"/>
                <a:ea typeface="楷体_GB2312" pitchFamily="49" charset="-122"/>
              </a:rPr>
              <a:t>I4</a:t>
            </a:r>
            <a:endParaRPr lang="zh-CN" altLang="en-US" sz="1800" b="0">
              <a:latin typeface="Times New Roman" panose="02020603050405020304" pitchFamily="18" charset="0"/>
              <a:ea typeface="楷体_GB2312" pitchFamily="49" charset="-122"/>
            </a:endParaRPr>
          </a:p>
        </p:txBody>
      </p:sp>
      <p:cxnSp>
        <p:nvCxnSpPr>
          <p:cNvPr id="55" name="直接箭头连接符 54"/>
          <p:cNvCxnSpPr>
            <a:stCxn id="53" idx="2"/>
            <a:endCxn id="57" idx="0"/>
          </p:cNvCxnSpPr>
          <p:nvPr/>
        </p:nvCxnSpPr>
        <p:spPr>
          <a:xfrm>
            <a:off x="9432925" y="4324350"/>
            <a:ext cx="7938" cy="439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矩形 56"/>
          <p:cNvSpPr>
            <a:spLocks noChangeArrowheads="1"/>
          </p:cNvSpPr>
          <p:nvPr/>
        </p:nvSpPr>
        <p:spPr bwMode="auto">
          <a:xfrm>
            <a:off x="8682038" y="4764088"/>
            <a:ext cx="1517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1082675">
              <a:spcBef>
                <a:spcPct val="20000"/>
              </a:spcBef>
              <a:buFont typeface="Arial" panose="020B0604020202020204" pitchFamily="34" charset="0"/>
              <a:buChar char="•"/>
              <a:defRPr sz="3000">
                <a:solidFill>
                  <a:schemeClr val="tx1"/>
                </a:solidFill>
                <a:latin typeface="Calibri" panose="020F0502020204030204" pitchFamily="34" charset="0"/>
                <a:ea typeface="PMingLiU" panose="02020500000000000000" pitchFamily="18" charset="-120"/>
              </a:defRPr>
            </a:lvl1pPr>
            <a:lvl2pPr marL="706755" indent="-271780" defTabSz="1082675">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2pPr>
            <a:lvl3pPr marL="1085850" indent="-215900" defTabSz="1082675">
              <a:spcBef>
                <a:spcPct val="20000"/>
              </a:spcBef>
              <a:buFont typeface="Arial" panose="020B0604020202020204" pitchFamily="34" charset="0"/>
              <a:buChar char="•"/>
              <a:defRPr sz="2200">
                <a:solidFill>
                  <a:schemeClr val="tx1"/>
                </a:solidFill>
                <a:latin typeface="Calibri" panose="020F0502020204030204" pitchFamily="34" charset="0"/>
                <a:ea typeface="PMingLiU" panose="02020500000000000000" pitchFamily="18" charset="-120"/>
              </a:defRPr>
            </a:lvl3pPr>
            <a:lvl4pPr marL="1522730" indent="-215900" defTabSz="1082675">
              <a:spcBef>
                <a:spcPct val="20000"/>
              </a:spcBef>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4pPr>
            <a:lvl5pPr marL="1955800" indent="-215900" defTabSz="1082675">
              <a:spcBef>
                <a:spcPct val="20000"/>
              </a:spcBef>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5pPr>
            <a:lvl6pPr marL="2413000" indent="-215900" defTabSz="1082675" eaLnBrk="0" fontAlgn="base" hangingPunct="0">
              <a:spcBef>
                <a:spcPct val="20000"/>
              </a:spcBef>
              <a:spcAft>
                <a:spcPct val="0"/>
              </a:spcAft>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6pPr>
            <a:lvl7pPr marL="2870200" indent="-215900" defTabSz="1082675" eaLnBrk="0" fontAlgn="base" hangingPunct="0">
              <a:spcBef>
                <a:spcPct val="20000"/>
              </a:spcBef>
              <a:spcAft>
                <a:spcPct val="0"/>
              </a:spcAft>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7pPr>
            <a:lvl8pPr marL="3327400" indent="-215900" defTabSz="1082675" eaLnBrk="0" fontAlgn="base" hangingPunct="0">
              <a:spcBef>
                <a:spcPct val="20000"/>
              </a:spcBef>
              <a:spcAft>
                <a:spcPct val="0"/>
              </a:spcAft>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8pPr>
            <a:lvl9pPr marL="3784600" indent="-215900" defTabSz="1082675" eaLnBrk="0" fontAlgn="base" hangingPunct="0">
              <a:spcBef>
                <a:spcPct val="20000"/>
              </a:spcBef>
              <a:spcAft>
                <a:spcPct val="0"/>
              </a:spcAft>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9pPr>
          </a:lstStyle>
          <a:p>
            <a:pPr>
              <a:spcBef>
                <a:spcPct val="0"/>
              </a:spcBef>
              <a:buFontTx/>
              <a:buNone/>
            </a:pPr>
            <a:r>
              <a:rPr lang="en-US" altLang="zh-CN" sz="1800" b="0">
                <a:latin typeface="Times New Roman" panose="02020603050405020304" pitchFamily="18" charset="0"/>
                <a:ea typeface="楷体_GB2312" pitchFamily="49" charset="-122"/>
              </a:rPr>
              <a:t>T200</a:t>
            </a:r>
            <a:r>
              <a:rPr lang="zh-CN" altLang="en-US" sz="1800" b="0">
                <a:latin typeface="Times New Roman" panose="02020603050405020304" pitchFamily="18" charset="0"/>
                <a:ea typeface="楷体_GB2312" pitchFamily="49" charset="-122"/>
              </a:rPr>
              <a:t>：</a:t>
            </a:r>
            <a:r>
              <a:rPr lang="en-US" altLang="zh-CN" sz="1800" b="0">
                <a:latin typeface="Times New Roman" panose="02020603050405020304" pitchFamily="18" charset="0"/>
                <a:ea typeface="楷体_GB2312" pitchFamily="49" charset="-122"/>
              </a:rPr>
              <a:t>I2</a:t>
            </a:r>
            <a:r>
              <a:rPr lang="zh-CN" altLang="en-US" sz="1800" b="0">
                <a:latin typeface="Times New Roman" panose="02020603050405020304" pitchFamily="18" charset="0"/>
                <a:ea typeface="楷体_GB2312" pitchFamily="49" charset="-122"/>
              </a:rPr>
              <a:t>，</a:t>
            </a:r>
            <a:r>
              <a:rPr lang="en-US" altLang="zh-CN" sz="1800" b="0">
                <a:latin typeface="Times New Roman" panose="02020603050405020304" pitchFamily="18" charset="0"/>
                <a:ea typeface="楷体_GB2312" pitchFamily="49" charset="-122"/>
              </a:rPr>
              <a:t>I4</a:t>
            </a:r>
            <a:endParaRPr lang="zh-CN" altLang="en-US" sz="1800" b="0">
              <a:latin typeface="Times New Roman" panose="02020603050405020304" pitchFamily="18" charset="0"/>
              <a:ea typeface="楷体_GB2312" pitchFamily="49" charset="-122"/>
            </a:endParaRPr>
          </a:p>
        </p:txBody>
      </p:sp>
      <p:sp>
        <p:nvSpPr>
          <p:cNvPr id="56" name="矩形 55"/>
          <p:cNvSpPr/>
          <p:nvPr/>
        </p:nvSpPr>
        <p:spPr>
          <a:xfrm>
            <a:off x="9456738" y="4375150"/>
            <a:ext cx="1343025" cy="338138"/>
          </a:xfrm>
          <a:prstGeom prst="rect">
            <a:avLst/>
          </a:prstGeom>
        </p:spPr>
        <p:txBody>
          <a:bodyPr wrap="none">
            <a:spAutoFit/>
          </a:bodyPr>
          <a:lstStyle/>
          <a:p>
            <a:pPr defTabSz="1083945">
              <a:defRPr/>
            </a:pPr>
            <a:r>
              <a:rPr lang="zh-CN" altLang="en-US" sz="1600" b="0" dirty="0">
                <a:solidFill>
                  <a:srgbClr val="0000FF"/>
                </a:solidFill>
                <a:latin typeface="+mn-ea"/>
                <a:ea typeface="+mn-ea"/>
              </a:rPr>
              <a:t>按</a:t>
            </a:r>
            <a:r>
              <a:rPr lang="en-US" altLang="zh-CN" sz="1600" b="0" dirty="0">
                <a:solidFill>
                  <a:srgbClr val="0000FF"/>
                </a:solidFill>
                <a:latin typeface="+mn-ea"/>
                <a:ea typeface="+mn-ea"/>
              </a:rPr>
              <a:t>L</a:t>
            </a:r>
            <a:r>
              <a:rPr lang="zh-CN" altLang="en-US" sz="1600" b="0" dirty="0">
                <a:solidFill>
                  <a:srgbClr val="0000FF"/>
                </a:solidFill>
                <a:latin typeface="+mn-ea"/>
                <a:ea typeface="+mn-ea"/>
              </a:rPr>
              <a:t>中的次序</a:t>
            </a:r>
            <a:endParaRPr lang="zh-CN" altLang="en-US" sz="1600" b="0" dirty="0">
              <a:solidFill>
                <a:srgbClr val="0000FF"/>
              </a:solidFill>
              <a:latin typeface="+mn-ea"/>
              <a:ea typeface="+mn-ea"/>
            </a:endParaRPr>
          </a:p>
        </p:txBody>
      </p:sp>
      <p:sp>
        <p:nvSpPr>
          <p:cNvPr id="38" name="Oval 45"/>
          <p:cNvSpPr>
            <a:spLocks noChangeArrowheads="1"/>
          </p:cNvSpPr>
          <p:nvPr/>
        </p:nvSpPr>
        <p:spPr bwMode="auto">
          <a:xfrm>
            <a:off x="7589838" y="5502275"/>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42" name="AutoShape 46"/>
          <p:cNvCxnSpPr>
            <a:cxnSpLocks noChangeShapeType="1"/>
            <a:stCxn id="51231" idx="5"/>
            <a:endCxn id="38" idx="1"/>
          </p:cNvCxnSpPr>
          <p:nvPr/>
        </p:nvCxnSpPr>
        <p:spPr bwMode="auto">
          <a:xfrm>
            <a:off x="7024688" y="5010150"/>
            <a:ext cx="598487" cy="525463"/>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1" name="Text Box 47"/>
          <p:cNvSpPr txBox="1">
            <a:spLocks noChangeArrowheads="1"/>
          </p:cNvSpPr>
          <p:nvPr/>
        </p:nvSpPr>
        <p:spPr bwMode="auto">
          <a:xfrm>
            <a:off x="7840663" y="5427663"/>
            <a:ext cx="7461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I4</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000000"/>
                </a:solidFill>
                <a:latin typeface="Tahoma" panose="020B0604030504040204" pitchFamily="34" charset="0"/>
                <a:ea typeface="宋体" panose="02010600030101010101" pitchFamily="2" charset="-122"/>
              </a:rPr>
              <a:t>1</a:t>
            </a:r>
            <a:endParaRPr lang="en-US" altLang="zh-CN" sz="1800" b="0">
              <a:solidFill>
                <a:srgbClr val="000000"/>
              </a:solidFill>
              <a:latin typeface="Tahoma" panose="020B0604030504040204" pitchFamily="34" charset="0"/>
              <a:ea typeface="宋体" panose="02010600030101010101" pitchFamily="2" charset="-122"/>
            </a:endParaRPr>
          </a:p>
        </p:txBody>
      </p:sp>
      <p:sp>
        <p:nvSpPr>
          <p:cNvPr id="52" name="Text Box 12"/>
          <p:cNvSpPr txBox="1">
            <a:spLocks noChangeArrowheads="1"/>
          </p:cNvSpPr>
          <p:nvPr/>
        </p:nvSpPr>
        <p:spPr bwMode="auto">
          <a:xfrm>
            <a:off x="6530975" y="4706938"/>
            <a:ext cx="209550" cy="369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zh-CN" sz="1800" b="0">
                <a:solidFill>
                  <a:srgbClr val="FF0000"/>
                </a:solidFill>
                <a:latin typeface="Tahoma" panose="020B0604030504040204" pitchFamily="34" charset="0"/>
                <a:ea typeface="宋体" panose="02010600030101010101" pitchFamily="2" charset="-122"/>
              </a:rPr>
              <a:t>2</a:t>
            </a:r>
            <a:endParaRPr lang="en-US" altLang="zh-CN" sz="1800" b="0">
              <a:solidFill>
                <a:srgbClr val="FF0000"/>
              </a:solidFill>
              <a:latin typeface="Tahoma" panose="020B060403050404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57" grpId="0"/>
      <p:bldP spid="56" grpId="0"/>
      <p:bldP spid="38" grpId="0" animBg="1"/>
      <p:bldP spid="51" grpId="0"/>
      <p:bldP spid="5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a:t>
            </a:r>
            <a:r>
              <a:rPr lang="en-US" altLang="zh-CN" sz="4400" dirty="0">
                <a:latin typeface="楷体" panose="02010609060101010101" pitchFamily="49" charset="-122"/>
                <a:ea typeface="楷体" panose="02010609060101010101" pitchFamily="49" charset="-122"/>
              </a:rPr>
              <a:t>6.2 </a:t>
            </a:r>
            <a:r>
              <a:rPr lang="zh-CN" altLang="en-US" sz="4400" dirty="0">
                <a:latin typeface="楷体" panose="02010609060101010101" pitchFamily="49" charset="-122"/>
                <a:ea typeface="楷体" panose="02010609060101010101" pitchFamily="49" charset="-122"/>
              </a:rPr>
              <a:t>频繁项集挖掘方法</a:t>
            </a:r>
            <a:endParaRPr lang="zh-CN" altLang="en-US" sz="4400" dirty="0">
              <a:latin typeface="楷体" panose="02010609060101010101" pitchFamily="49" charset="-122"/>
              <a:ea typeface="楷体" panose="02010609060101010101" pitchFamily="49" charset="-122"/>
            </a:endParaRPr>
          </a:p>
        </p:txBody>
      </p:sp>
      <p:sp>
        <p:nvSpPr>
          <p:cNvPr id="4" name="Rectangle 3"/>
          <p:cNvSpPr>
            <a:spLocks noGrp="1" noChangeArrowheads="1"/>
          </p:cNvSpPr>
          <p:nvPr>
            <p:ph idx="1"/>
          </p:nvPr>
        </p:nvSpPr>
        <p:spPr>
          <a:xfrm>
            <a:off x="522288" y="1160463"/>
            <a:ext cx="9906000" cy="806450"/>
          </a:xfrm>
        </p:spPr>
        <p:txBody>
          <a:bodyPr/>
          <a:lstStyle/>
          <a:p>
            <a:pPr marL="0" indent="0" defTabSz="868680" eaLnBrk="1" hangingPunct="1">
              <a:buFont typeface="Arial" panose="020B0604020202020204" pitchFamily="34" charset="0"/>
              <a:buNone/>
              <a:defRPr/>
            </a:pPr>
            <a:r>
              <a:rPr lang="en-US" altLang="zh-CN" sz="2400" b="1" dirty="0">
                <a:solidFill>
                  <a:srgbClr val="0000FF"/>
                </a:solidFill>
                <a:latin typeface="+mn-ea"/>
                <a:ea typeface="+mn-ea"/>
                <a:cs typeface="Times New Roman" panose="02020603050405020304" pitchFamily="18" charset="0"/>
              </a:rPr>
              <a:t>4</a:t>
            </a:r>
            <a:r>
              <a:rPr lang="zh-CN" altLang="en-US" sz="2400" b="1" dirty="0">
                <a:solidFill>
                  <a:srgbClr val="0000FF"/>
                </a:solidFill>
                <a:latin typeface="+mn-ea"/>
                <a:ea typeface="+mn-ea"/>
                <a:cs typeface="Times New Roman" panose="02020603050405020304" pitchFamily="18" charset="0"/>
              </a:rPr>
              <a:t>、挖掘频繁项集的模式增长方法</a:t>
            </a:r>
            <a:endParaRPr lang="en-US" altLang="zh-CN" sz="2400" b="1" dirty="0">
              <a:solidFill>
                <a:srgbClr val="0000FF"/>
              </a:solidFill>
              <a:latin typeface="+mn-ea"/>
              <a:ea typeface="+mn-ea"/>
              <a:cs typeface="Times New Roman" panose="02020603050405020304" pitchFamily="18" charset="0"/>
            </a:endParaRPr>
          </a:p>
          <a:p>
            <a:pPr marL="0" indent="0" defTabSz="868680" eaLnBrk="1" hangingPunct="1">
              <a:buFont typeface="Arial" panose="020B0604020202020204" pitchFamily="34" charset="0"/>
              <a:buNone/>
              <a:defRPr/>
            </a:pPr>
            <a:r>
              <a:rPr lang="zh-CN" altLang="en-US" sz="2400" b="1" dirty="0">
                <a:latin typeface="+mn-ea"/>
                <a:ea typeface="+mn-ea"/>
                <a:cs typeface="Times New Roman" panose="02020603050405020304" pitchFamily="18" charset="0"/>
              </a:rPr>
              <a:t>例：</a:t>
            </a:r>
            <a:endParaRPr lang="zh-CN" altLang="en-US" sz="2400" b="1" dirty="0">
              <a:latin typeface="+mn-ea"/>
              <a:ea typeface="+mn-ea"/>
              <a:cs typeface="Times New Roman" panose="02020603050405020304" pitchFamily="18" charset="0"/>
            </a:endParaRPr>
          </a:p>
        </p:txBody>
      </p:sp>
      <p:sp>
        <p:nvSpPr>
          <p:cNvPr id="5" name="矩形 4"/>
          <p:cNvSpPr/>
          <p:nvPr/>
        </p:nvSpPr>
        <p:spPr>
          <a:xfrm>
            <a:off x="1206500" y="1812925"/>
            <a:ext cx="1582738" cy="460375"/>
          </a:xfrm>
          <a:prstGeom prst="rect">
            <a:avLst/>
          </a:prstGeom>
        </p:spPr>
        <p:txBody>
          <a:bodyPr wrap="none">
            <a:spAutoFit/>
          </a:bodyPr>
          <a:lstStyle/>
          <a:p>
            <a:pPr defTabSz="1083945">
              <a:defRPr/>
            </a:pPr>
            <a:r>
              <a:rPr lang="en-US" altLang="zh-CN" sz="2400" dirty="0" err="1">
                <a:solidFill>
                  <a:srgbClr val="FF0000"/>
                </a:solidFill>
                <a:latin typeface="+mn-ea"/>
                <a:ea typeface="+mn-ea"/>
              </a:rPr>
              <a:t>min_sup</a:t>
            </a:r>
            <a:r>
              <a:rPr lang="en-US" altLang="zh-CN" sz="2400" dirty="0">
                <a:solidFill>
                  <a:srgbClr val="FF0000"/>
                </a:solidFill>
                <a:latin typeface="+mn-ea"/>
                <a:ea typeface="+mn-ea"/>
              </a:rPr>
              <a:t>=2</a:t>
            </a:r>
            <a:endParaRPr lang="zh-CN" altLang="en-US" sz="2400" dirty="0">
              <a:solidFill>
                <a:srgbClr val="FF0000"/>
              </a:solidFill>
              <a:latin typeface="+mn-ea"/>
              <a:ea typeface="+mn-ea"/>
            </a:endParaRPr>
          </a:p>
        </p:txBody>
      </p:sp>
      <p:grpSp>
        <p:nvGrpSpPr>
          <p:cNvPr id="53253" name="组合 5"/>
          <p:cNvGrpSpPr/>
          <p:nvPr/>
        </p:nvGrpSpPr>
        <p:grpSpPr bwMode="auto">
          <a:xfrm>
            <a:off x="1179513" y="2312988"/>
            <a:ext cx="1704975" cy="2541587"/>
            <a:chOff x="1102723" y="2429669"/>
            <a:chExt cx="1406830" cy="2329050"/>
          </a:xfrm>
        </p:grpSpPr>
        <p:pic>
          <p:nvPicPr>
            <p:cNvPr id="53316" name="图片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06531" y="2429669"/>
              <a:ext cx="342857" cy="140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317" name="图片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9388" y="2435701"/>
              <a:ext cx="1009524" cy="140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318" name="图片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723" y="3863481"/>
              <a:ext cx="380952" cy="895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319" name="图片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5743" y="3864588"/>
              <a:ext cx="923810" cy="866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直接连接符 10"/>
            <p:cNvCxnSpPr/>
            <p:nvPr/>
          </p:nvCxnSpPr>
          <p:spPr>
            <a:xfrm>
              <a:off x="1102723" y="4742717"/>
              <a:ext cx="1355744"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2" name="矩形 1"/>
          <p:cNvSpPr/>
          <p:nvPr/>
        </p:nvSpPr>
        <p:spPr>
          <a:xfrm>
            <a:off x="3473450" y="1966913"/>
            <a:ext cx="6954838" cy="923925"/>
          </a:xfrm>
          <a:prstGeom prst="rect">
            <a:avLst/>
          </a:prstGeom>
        </p:spPr>
        <p:txBody>
          <a:bodyPr>
            <a:spAutoFit/>
          </a:bodyPr>
          <a:lstStyle/>
          <a:p>
            <a:pPr>
              <a:defRPr/>
            </a:pPr>
            <a:r>
              <a:rPr lang="zh-CN" altLang="en-US" sz="1800" dirty="0">
                <a:latin typeface="+mn-ea"/>
                <a:ea typeface="+mn-ea"/>
              </a:rPr>
              <a:t>第</a:t>
            </a:r>
            <a:r>
              <a:rPr lang="en-US" altLang="zh-CN" sz="1800" dirty="0">
                <a:latin typeface="+mn-ea"/>
                <a:ea typeface="+mn-ea"/>
              </a:rPr>
              <a:t>1</a:t>
            </a:r>
            <a:r>
              <a:rPr lang="zh-CN" altLang="en-US" sz="1800" dirty="0">
                <a:latin typeface="+mn-ea"/>
                <a:ea typeface="+mn-ea"/>
              </a:rPr>
              <a:t>步</a:t>
            </a:r>
            <a:r>
              <a:rPr lang="zh-CN" altLang="en-US" sz="1800" b="0" dirty="0">
                <a:latin typeface="+mn-ea"/>
                <a:ea typeface="+mn-ea"/>
              </a:rPr>
              <a:t>，扫描数据库，导出所有的频繁项(1项集)的集合，计算支持度取阈值以上，按照支持度</a:t>
            </a:r>
            <a:r>
              <a:rPr lang="zh-CN" altLang="en-US" sz="1800" dirty="0">
                <a:solidFill>
                  <a:srgbClr val="FF0000"/>
                </a:solidFill>
                <a:latin typeface="+mn-ea"/>
                <a:ea typeface="+mn-ea"/>
              </a:rPr>
              <a:t>递减</a:t>
            </a:r>
            <a:r>
              <a:rPr lang="zh-CN" altLang="en-US" sz="1800" b="0" dirty="0">
                <a:latin typeface="+mn-ea"/>
                <a:ea typeface="+mn-ea"/>
              </a:rPr>
              <a:t>的顺序排序。排序结果为L={{I2:7},{I1:6},{I3:6},{I4:2},{I5:2}}</a:t>
            </a:r>
            <a:endParaRPr lang="zh-CN" altLang="en-US" sz="1800" b="0" dirty="0">
              <a:latin typeface="+mn-ea"/>
              <a:ea typeface="+mn-ea"/>
            </a:endParaRPr>
          </a:p>
        </p:txBody>
      </p:sp>
      <p:pic>
        <p:nvPicPr>
          <p:cNvPr id="53255" name="图片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68400" y="5103813"/>
            <a:ext cx="1419225"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3473450" y="3059113"/>
            <a:ext cx="6954838" cy="646112"/>
          </a:xfrm>
          <a:prstGeom prst="rect">
            <a:avLst/>
          </a:prstGeom>
        </p:spPr>
        <p:txBody>
          <a:bodyPr>
            <a:spAutoFit/>
          </a:bodyPr>
          <a:lstStyle/>
          <a:p>
            <a:pPr>
              <a:defRPr/>
            </a:pPr>
            <a:r>
              <a:rPr lang="zh-CN" altLang="en-US" sz="1800" dirty="0">
                <a:latin typeface="+mn-ea"/>
                <a:ea typeface="+mn-ea"/>
              </a:rPr>
              <a:t>第</a:t>
            </a:r>
            <a:r>
              <a:rPr lang="en-US" altLang="zh-CN" sz="1800" dirty="0">
                <a:latin typeface="+mn-ea"/>
                <a:ea typeface="+mn-ea"/>
              </a:rPr>
              <a:t>2</a:t>
            </a:r>
            <a:r>
              <a:rPr lang="zh-CN" altLang="en-US" sz="1800" dirty="0">
                <a:latin typeface="+mn-ea"/>
                <a:ea typeface="+mn-ea"/>
              </a:rPr>
              <a:t>步</a:t>
            </a:r>
            <a:r>
              <a:rPr lang="zh-CN" altLang="en-US" sz="1800" b="0" dirty="0">
                <a:latin typeface="+mn-ea"/>
                <a:ea typeface="+mn-ea"/>
              </a:rPr>
              <a:t>，构造FP树。首先，创建树的根节点，用”null”标记。再次扫描数据库，对每个事务TID中的项按照L中次序处理形成结点。</a:t>
            </a:r>
            <a:endParaRPr lang="zh-CN" altLang="en-US" sz="1800" b="0" dirty="0">
              <a:latin typeface="+mn-ea"/>
              <a:ea typeface="+mn-ea"/>
            </a:endParaRPr>
          </a:p>
        </p:txBody>
      </p:sp>
      <p:graphicFrame>
        <p:nvGraphicFramePr>
          <p:cNvPr id="13" name="表格 12"/>
          <p:cNvGraphicFramePr>
            <a:graphicFrameLocks noGrp="1"/>
          </p:cNvGraphicFramePr>
          <p:nvPr/>
        </p:nvGraphicFramePr>
        <p:xfrm>
          <a:off x="3473450" y="4830763"/>
          <a:ext cx="784226" cy="1854200"/>
        </p:xfrm>
        <a:graphic>
          <a:graphicData uri="http://schemas.openxmlformats.org/drawingml/2006/table">
            <a:tbl>
              <a:tblPr firstRow="1" bandRow="1">
                <a:tableStyleId>{5C22544A-7EE6-4342-B048-85BDC9FD1C3A}</a:tableStyleId>
              </a:tblPr>
              <a:tblGrid>
                <a:gridCol w="392113"/>
                <a:gridCol w="392113"/>
              </a:tblGrid>
              <a:tr h="370840">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I2</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573" marR="91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7</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573" marR="91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I1</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573" marR="91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6</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573" marR="91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I3</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573" marR="91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6</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573" marR="91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I4</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573" marR="91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2</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573" marR="91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I5</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573" marR="91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2</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573" marR="91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cxnSp>
        <p:nvCxnSpPr>
          <p:cNvPr id="28" name="直接箭头连接符 27"/>
          <p:cNvCxnSpPr>
            <a:stCxn id="53255" idx="3"/>
            <a:endCxn id="13" idx="1"/>
          </p:cNvCxnSpPr>
          <p:nvPr/>
        </p:nvCxnSpPr>
        <p:spPr>
          <a:xfrm flipV="1">
            <a:off x="2587625" y="5757863"/>
            <a:ext cx="885825" cy="317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53278" name="组合 28"/>
          <p:cNvGrpSpPr/>
          <p:nvPr/>
        </p:nvGrpSpPr>
        <p:grpSpPr bwMode="auto">
          <a:xfrm>
            <a:off x="7285038" y="3963988"/>
            <a:ext cx="968375" cy="366712"/>
            <a:chOff x="7285831" y="3963374"/>
            <a:chExt cx="968375" cy="367802"/>
          </a:xfrm>
        </p:grpSpPr>
        <p:sp>
          <p:nvSpPr>
            <p:cNvPr id="53314" name="Oval 5"/>
            <p:cNvSpPr>
              <a:spLocks noChangeArrowheads="1"/>
            </p:cNvSpPr>
            <p:nvPr/>
          </p:nvSpPr>
          <p:spPr bwMode="auto">
            <a:xfrm>
              <a:off x="7285831" y="4052508"/>
              <a:ext cx="228600" cy="228291"/>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400" b="0">
                <a:solidFill>
                  <a:srgbClr val="000000"/>
                </a:solidFill>
                <a:latin typeface="Tahoma" panose="020B0604030504040204" pitchFamily="34" charset="0"/>
              </a:endParaRPr>
            </a:p>
          </p:txBody>
        </p:sp>
        <p:sp>
          <p:nvSpPr>
            <p:cNvPr id="53315" name="Text Box 6"/>
            <p:cNvSpPr txBox="1">
              <a:spLocks noChangeArrowheads="1"/>
            </p:cNvSpPr>
            <p:nvPr/>
          </p:nvSpPr>
          <p:spPr bwMode="auto">
            <a:xfrm>
              <a:off x="7533481" y="3963374"/>
              <a:ext cx="720725" cy="367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null{}</a:t>
              </a:r>
              <a:endParaRPr lang="en-US" altLang="zh-CN" sz="1800" b="0">
                <a:solidFill>
                  <a:srgbClr val="000000"/>
                </a:solidFill>
                <a:latin typeface="Tahoma" panose="020B0604030504040204" pitchFamily="34" charset="0"/>
                <a:ea typeface="宋体" panose="02010600030101010101" pitchFamily="2" charset="-122"/>
              </a:endParaRPr>
            </a:p>
          </p:txBody>
        </p:sp>
      </p:grpSp>
      <p:sp>
        <p:nvSpPr>
          <p:cNvPr id="53279" name="Oval 10"/>
          <p:cNvSpPr>
            <a:spLocks noChangeArrowheads="1"/>
          </p:cNvSpPr>
          <p:nvPr/>
        </p:nvSpPr>
        <p:spPr bwMode="auto">
          <a:xfrm>
            <a:off x="6831013" y="4814888"/>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3280" name="AutoShape 11"/>
          <p:cNvCxnSpPr>
            <a:cxnSpLocks noChangeShapeType="1"/>
            <a:stCxn id="53314" idx="3"/>
            <a:endCxn id="53279" idx="7"/>
          </p:cNvCxnSpPr>
          <p:nvPr/>
        </p:nvCxnSpPr>
        <p:spPr bwMode="auto">
          <a:xfrm flipH="1">
            <a:off x="7024688" y="4248150"/>
            <a:ext cx="295275" cy="601663"/>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3281" name="Text Box 12"/>
          <p:cNvSpPr txBox="1">
            <a:spLocks noChangeArrowheads="1"/>
          </p:cNvSpPr>
          <p:nvPr/>
        </p:nvSpPr>
        <p:spPr bwMode="auto">
          <a:xfrm>
            <a:off x="6094413" y="4692650"/>
            <a:ext cx="755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I2</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7</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53282" name="Oval 14"/>
          <p:cNvSpPr>
            <a:spLocks noChangeArrowheads="1"/>
          </p:cNvSpPr>
          <p:nvPr/>
        </p:nvSpPr>
        <p:spPr bwMode="auto">
          <a:xfrm>
            <a:off x="6215063" y="5500688"/>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3283" name="AutoShape 15"/>
          <p:cNvCxnSpPr>
            <a:cxnSpLocks noChangeShapeType="1"/>
            <a:stCxn id="53279" idx="3"/>
            <a:endCxn id="53282" idx="7"/>
          </p:cNvCxnSpPr>
          <p:nvPr/>
        </p:nvCxnSpPr>
        <p:spPr bwMode="auto">
          <a:xfrm flipH="1">
            <a:off x="6410325" y="5010150"/>
            <a:ext cx="454025" cy="525463"/>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3284" name="Text Box 16"/>
          <p:cNvSpPr txBox="1">
            <a:spLocks noChangeArrowheads="1"/>
          </p:cNvSpPr>
          <p:nvPr/>
        </p:nvSpPr>
        <p:spPr bwMode="auto">
          <a:xfrm>
            <a:off x="5446713" y="5410200"/>
            <a:ext cx="754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I1</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4</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53285" name="Oval 18"/>
          <p:cNvSpPr>
            <a:spLocks noChangeArrowheads="1"/>
          </p:cNvSpPr>
          <p:nvPr/>
        </p:nvSpPr>
        <p:spPr bwMode="auto">
          <a:xfrm>
            <a:off x="5681663" y="6186488"/>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3286" name="AutoShape 19"/>
          <p:cNvCxnSpPr>
            <a:cxnSpLocks noChangeShapeType="1"/>
            <a:stCxn id="53282" idx="3"/>
            <a:endCxn id="53285" idx="7"/>
          </p:cNvCxnSpPr>
          <p:nvPr/>
        </p:nvCxnSpPr>
        <p:spPr bwMode="auto">
          <a:xfrm flipH="1">
            <a:off x="5876925" y="5695950"/>
            <a:ext cx="371475" cy="525463"/>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3287" name="Text Box 20"/>
          <p:cNvSpPr txBox="1">
            <a:spLocks noChangeArrowheads="1"/>
          </p:cNvSpPr>
          <p:nvPr/>
        </p:nvSpPr>
        <p:spPr bwMode="auto">
          <a:xfrm>
            <a:off x="4927600" y="6094413"/>
            <a:ext cx="755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I5</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1</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53288" name="Rectangle 22"/>
          <p:cNvSpPr>
            <a:spLocks noChangeArrowheads="1"/>
          </p:cNvSpPr>
          <p:nvPr/>
        </p:nvSpPr>
        <p:spPr bwMode="auto">
          <a:xfrm>
            <a:off x="5035550" y="5526088"/>
            <a:ext cx="1841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20000"/>
              </a:spcBef>
              <a:buClr>
                <a:srgbClr val="3333CC"/>
              </a:buClr>
              <a:buSzPct val="60000"/>
            </a:pPr>
            <a:endParaRPr lang="en-AU" altLang="zh-CN" sz="1600" b="0">
              <a:solidFill>
                <a:srgbClr val="000000"/>
              </a:solidFill>
              <a:latin typeface="楷体_GB2312" pitchFamily="49" charset="-122"/>
            </a:endParaRPr>
          </a:p>
        </p:txBody>
      </p:sp>
      <p:sp>
        <p:nvSpPr>
          <p:cNvPr id="53289" name="Rectangle 25"/>
          <p:cNvSpPr>
            <a:spLocks noChangeArrowheads="1"/>
          </p:cNvSpPr>
          <p:nvPr/>
        </p:nvSpPr>
        <p:spPr bwMode="auto">
          <a:xfrm>
            <a:off x="5192713" y="5160963"/>
            <a:ext cx="1841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20000"/>
              </a:spcBef>
              <a:buClr>
                <a:srgbClr val="3333CC"/>
              </a:buClr>
              <a:buSzPct val="60000"/>
            </a:pPr>
            <a:endParaRPr lang="en-AU" altLang="zh-CN" sz="1600" b="0">
              <a:solidFill>
                <a:srgbClr val="000000"/>
              </a:solidFill>
              <a:latin typeface="楷体_GB2312" pitchFamily="49" charset="-122"/>
            </a:endParaRPr>
          </a:p>
        </p:txBody>
      </p:sp>
      <p:sp>
        <p:nvSpPr>
          <p:cNvPr id="53290" name="Rectangle 28"/>
          <p:cNvSpPr>
            <a:spLocks noChangeArrowheads="1"/>
          </p:cNvSpPr>
          <p:nvPr/>
        </p:nvSpPr>
        <p:spPr bwMode="auto">
          <a:xfrm>
            <a:off x="5192713" y="4795838"/>
            <a:ext cx="1841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20000"/>
              </a:spcBef>
              <a:buClr>
                <a:srgbClr val="3333CC"/>
              </a:buClr>
              <a:buSzPct val="60000"/>
            </a:pPr>
            <a:endParaRPr lang="en-AU" altLang="zh-CN" sz="1600" b="0">
              <a:solidFill>
                <a:srgbClr val="000000"/>
              </a:solidFill>
              <a:latin typeface="楷体_GB2312" pitchFamily="49" charset="-122"/>
            </a:endParaRPr>
          </a:p>
        </p:txBody>
      </p:sp>
      <p:sp>
        <p:nvSpPr>
          <p:cNvPr id="53291" name="Rectangle 31"/>
          <p:cNvSpPr>
            <a:spLocks noChangeArrowheads="1"/>
          </p:cNvSpPr>
          <p:nvPr/>
        </p:nvSpPr>
        <p:spPr bwMode="auto">
          <a:xfrm>
            <a:off x="5192713" y="4430713"/>
            <a:ext cx="1841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20000"/>
              </a:spcBef>
              <a:buClr>
                <a:srgbClr val="3333CC"/>
              </a:buClr>
              <a:buSzPct val="60000"/>
            </a:pPr>
            <a:endParaRPr lang="en-AU" altLang="zh-CN" sz="1600" b="0">
              <a:solidFill>
                <a:srgbClr val="000000"/>
              </a:solidFill>
              <a:latin typeface="楷体_GB2312" pitchFamily="49" charset="-122"/>
            </a:endParaRPr>
          </a:p>
        </p:txBody>
      </p:sp>
      <p:sp>
        <p:nvSpPr>
          <p:cNvPr id="53292" name="Rectangle 34"/>
          <p:cNvSpPr>
            <a:spLocks noChangeArrowheads="1"/>
          </p:cNvSpPr>
          <p:nvPr/>
        </p:nvSpPr>
        <p:spPr bwMode="auto">
          <a:xfrm>
            <a:off x="5192713" y="4065588"/>
            <a:ext cx="1841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20000"/>
              </a:spcBef>
              <a:buClr>
                <a:srgbClr val="3333CC"/>
              </a:buClr>
              <a:buSzPct val="60000"/>
            </a:pPr>
            <a:endParaRPr lang="en-AU" altLang="zh-CN" sz="1600" b="0">
              <a:solidFill>
                <a:srgbClr val="000000"/>
              </a:solidFill>
              <a:latin typeface="楷体_GB2312" pitchFamily="49" charset="-122"/>
            </a:endParaRPr>
          </a:p>
        </p:txBody>
      </p:sp>
      <p:sp>
        <p:nvSpPr>
          <p:cNvPr id="53293" name="Oval 45"/>
          <p:cNvSpPr>
            <a:spLocks noChangeArrowheads="1"/>
          </p:cNvSpPr>
          <p:nvPr/>
        </p:nvSpPr>
        <p:spPr bwMode="auto">
          <a:xfrm>
            <a:off x="7589838" y="5502275"/>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3294" name="AutoShape 46"/>
          <p:cNvCxnSpPr>
            <a:cxnSpLocks noChangeShapeType="1"/>
            <a:stCxn id="53279" idx="5"/>
            <a:endCxn id="53293" idx="1"/>
          </p:cNvCxnSpPr>
          <p:nvPr/>
        </p:nvCxnSpPr>
        <p:spPr bwMode="auto">
          <a:xfrm>
            <a:off x="7024688" y="5010150"/>
            <a:ext cx="598487" cy="525463"/>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3295" name="Text Box 47"/>
          <p:cNvSpPr txBox="1">
            <a:spLocks noChangeArrowheads="1"/>
          </p:cNvSpPr>
          <p:nvPr/>
        </p:nvSpPr>
        <p:spPr bwMode="auto">
          <a:xfrm>
            <a:off x="7840663" y="5427663"/>
            <a:ext cx="755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I4</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1</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53296" name="Oval 45"/>
          <p:cNvSpPr>
            <a:spLocks noChangeArrowheads="1"/>
          </p:cNvSpPr>
          <p:nvPr/>
        </p:nvSpPr>
        <p:spPr bwMode="auto">
          <a:xfrm>
            <a:off x="6726238" y="5489575"/>
            <a:ext cx="228600" cy="238125"/>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3297" name="AutoShape 46"/>
          <p:cNvCxnSpPr>
            <a:cxnSpLocks noChangeShapeType="1"/>
            <a:stCxn id="53279" idx="4"/>
            <a:endCxn id="53296" idx="0"/>
          </p:cNvCxnSpPr>
          <p:nvPr/>
        </p:nvCxnSpPr>
        <p:spPr bwMode="auto">
          <a:xfrm flipH="1">
            <a:off x="6840538" y="5043488"/>
            <a:ext cx="104775" cy="446087"/>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3298" name="Text Box 47"/>
          <p:cNvSpPr txBox="1">
            <a:spLocks noChangeArrowheads="1"/>
          </p:cNvSpPr>
          <p:nvPr/>
        </p:nvSpPr>
        <p:spPr bwMode="auto">
          <a:xfrm>
            <a:off x="6878638" y="5287963"/>
            <a:ext cx="6064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I3:</a:t>
            </a:r>
            <a:r>
              <a:rPr lang="en-US" altLang="zh-CN" sz="1800" b="0">
                <a:solidFill>
                  <a:srgbClr val="FF0000"/>
                </a:solidFill>
                <a:latin typeface="Tahoma" panose="020B0604030504040204" pitchFamily="34" charset="0"/>
                <a:ea typeface="宋体" panose="02010600030101010101" pitchFamily="2" charset="-122"/>
              </a:rPr>
              <a:t>2</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53299" name="Oval 45"/>
          <p:cNvSpPr>
            <a:spLocks noChangeArrowheads="1"/>
          </p:cNvSpPr>
          <p:nvPr/>
        </p:nvSpPr>
        <p:spPr bwMode="auto">
          <a:xfrm>
            <a:off x="6845300" y="6175375"/>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3300" name="AutoShape 46"/>
          <p:cNvCxnSpPr>
            <a:cxnSpLocks noChangeShapeType="1"/>
            <a:stCxn id="53279" idx="4"/>
            <a:endCxn id="53299" idx="1"/>
          </p:cNvCxnSpPr>
          <p:nvPr/>
        </p:nvCxnSpPr>
        <p:spPr bwMode="auto">
          <a:xfrm>
            <a:off x="6434138" y="5681663"/>
            <a:ext cx="444500" cy="52705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3301" name="Text Box 47"/>
          <p:cNvSpPr txBox="1">
            <a:spLocks noChangeArrowheads="1"/>
          </p:cNvSpPr>
          <p:nvPr/>
        </p:nvSpPr>
        <p:spPr bwMode="auto">
          <a:xfrm>
            <a:off x="7064375" y="6105525"/>
            <a:ext cx="755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I4</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1</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53302" name="Oval 45"/>
          <p:cNvSpPr>
            <a:spLocks noChangeArrowheads="1"/>
          </p:cNvSpPr>
          <p:nvPr/>
        </p:nvSpPr>
        <p:spPr bwMode="auto">
          <a:xfrm>
            <a:off x="6223000" y="6170613"/>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3303" name="AutoShape 46"/>
          <p:cNvCxnSpPr>
            <a:cxnSpLocks noChangeShapeType="1"/>
            <a:stCxn id="53282" idx="4"/>
            <a:endCxn id="53302" idx="0"/>
          </p:cNvCxnSpPr>
          <p:nvPr/>
        </p:nvCxnSpPr>
        <p:spPr bwMode="auto">
          <a:xfrm>
            <a:off x="6329363" y="5729288"/>
            <a:ext cx="7937" cy="441325"/>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3304" name="Text Box 47"/>
          <p:cNvSpPr txBox="1">
            <a:spLocks noChangeArrowheads="1"/>
          </p:cNvSpPr>
          <p:nvPr/>
        </p:nvSpPr>
        <p:spPr bwMode="auto">
          <a:xfrm>
            <a:off x="5861050" y="6383338"/>
            <a:ext cx="6048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I3:</a:t>
            </a:r>
            <a:r>
              <a:rPr lang="en-US" altLang="zh-CN" sz="1800" b="0">
                <a:solidFill>
                  <a:srgbClr val="FF0000"/>
                </a:solidFill>
                <a:latin typeface="Tahoma" panose="020B0604030504040204" pitchFamily="34" charset="0"/>
                <a:ea typeface="宋体" panose="02010600030101010101" pitchFamily="2" charset="-122"/>
              </a:rPr>
              <a:t>2</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53305" name="Oval 45"/>
          <p:cNvSpPr>
            <a:spLocks noChangeArrowheads="1"/>
          </p:cNvSpPr>
          <p:nvPr/>
        </p:nvSpPr>
        <p:spPr bwMode="auto">
          <a:xfrm>
            <a:off x="6542088" y="6842125"/>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3306" name="AutoShape 46"/>
          <p:cNvCxnSpPr>
            <a:cxnSpLocks noChangeShapeType="1"/>
            <a:stCxn id="53302" idx="4"/>
            <a:endCxn id="53305" idx="1"/>
          </p:cNvCxnSpPr>
          <p:nvPr/>
        </p:nvCxnSpPr>
        <p:spPr bwMode="auto">
          <a:xfrm>
            <a:off x="6337300" y="6399213"/>
            <a:ext cx="239713" cy="47625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3307" name="Text Box 47"/>
          <p:cNvSpPr txBox="1">
            <a:spLocks noChangeArrowheads="1"/>
          </p:cNvSpPr>
          <p:nvPr/>
        </p:nvSpPr>
        <p:spPr bwMode="auto">
          <a:xfrm>
            <a:off x="6792913" y="6765925"/>
            <a:ext cx="755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I5</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1</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53308" name="Oval 45"/>
          <p:cNvSpPr>
            <a:spLocks noChangeArrowheads="1"/>
          </p:cNvSpPr>
          <p:nvPr/>
        </p:nvSpPr>
        <p:spPr bwMode="auto">
          <a:xfrm>
            <a:off x="8013700" y="4754563"/>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3309" name="AutoShape 46"/>
          <p:cNvCxnSpPr>
            <a:cxnSpLocks noChangeShapeType="1"/>
            <a:stCxn id="53314" idx="5"/>
            <a:endCxn id="53308" idx="1"/>
          </p:cNvCxnSpPr>
          <p:nvPr/>
        </p:nvCxnSpPr>
        <p:spPr bwMode="auto">
          <a:xfrm>
            <a:off x="7480300" y="4248150"/>
            <a:ext cx="566738" cy="53975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3310" name="Text Box 47"/>
          <p:cNvSpPr txBox="1">
            <a:spLocks noChangeArrowheads="1"/>
          </p:cNvSpPr>
          <p:nvPr/>
        </p:nvSpPr>
        <p:spPr bwMode="auto">
          <a:xfrm>
            <a:off x="8264525" y="4679950"/>
            <a:ext cx="755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I1</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2</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53311" name="Oval 45"/>
          <p:cNvSpPr>
            <a:spLocks noChangeArrowheads="1"/>
          </p:cNvSpPr>
          <p:nvPr/>
        </p:nvSpPr>
        <p:spPr bwMode="auto">
          <a:xfrm>
            <a:off x="8769350" y="5467350"/>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3312" name="AutoShape 46"/>
          <p:cNvCxnSpPr>
            <a:cxnSpLocks noChangeShapeType="1"/>
            <a:stCxn id="53308" idx="5"/>
            <a:endCxn id="53311" idx="1"/>
          </p:cNvCxnSpPr>
          <p:nvPr/>
        </p:nvCxnSpPr>
        <p:spPr bwMode="auto">
          <a:xfrm>
            <a:off x="8208963" y="4949825"/>
            <a:ext cx="593725" cy="550863"/>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3313" name="Text Box 47"/>
          <p:cNvSpPr txBox="1">
            <a:spLocks noChangeArrowheads="1"/>
          </p:cNvSpPr>
          <p:nvPr/>
        </p:nvSpPr>
        <p:spPr bwMode="auto">
          <a:xfrm>
            <a:off x="9020175" y="5392738"/>
            <a:ext cx="755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I3</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2</a:t>
            </a:r>
            <a:endParaRPr lang="en-US" altLang="zh-CN" sz="1800" b="0">
              <a:solidFill>
                <a:srgbClr val="FF0000"/>
              </a:solidFill>
              <a:latin typeface="Tahoma" panose="020B0604030504040204" pitchFamily="34" charset="0"/>
              <a:ea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a:t>
            </a:r>
            <a:r>
              <a:rPr lang="en-US" altLang="zh-CN" sz="4400" dirty="0">
                <a:latin typeface="楷体" panose="02010609060101010101" pitchFamily="49" charset="-122"/>
                <a:ea typeface="楷体" panose="02010609060101010101" pitchFamily="49" charset="-122"/>
              </a:rPr>
              <a:t>6.2 </a:t>
            </a:r>
            <a:r>
              <a:rPr lang="zh-CN" altLang="en-US" sz="4400" dirty="0">
                <a:latin typeface="楷体" panose="02010609060101010101" pitchFamily="49" charset="-122"/>
                <a:ea typeface="楷体" panose="02010609060101010101" pitchFamily="49" charset="-122"/>
              </a:rPr>
              <a:t>频繁项集挖掘方法</a:t>
            </a:r>
            <a:endParaRPr lang="zh-CN" altLang="en-US" sz="4400" dirty="0">
              <a:latin typeface="楷体" panose="02010609060101010101" pitchFamily="49" charset="-122"/>
              <a:ea typeface="楷体" panose="02010609060101010101" pitchFamily="49" charset="-122"/>
            </a:endParaRPr>
          </a:p>
        </p:txBody>
      </p:sp>
      <p:sp>
        <p:nvSpPr>
          <p:cNvPr id="4" name="Rectangle 3"/>
          <p:cNvSpPr>
            <a:spLocks noGrp="1" noChangeArrowheads="1"/>
          </p:cNvSpPr>
          <p:nvPr>
            <p:ph idx="1"/>
          </p:nvPr>
        </p:nvSpPr>
        <p:spPr>
          <a:xfrm>
            <a:off x="522288" y="1160463"/>
            <a:ext cx="9906000" cy="806450"/>
          </a:xfrm>
        </p:spPr>
        <p:txBody>
          <a:bodyPr/>
          <a:lstStyle/>
          <a:p>
            <a:pPr marL="0" indent="0" defTabSz="868680" eaLnBrk="1" hangingPunct="1">
              <a:buFont typeface="Arial" panose="020B0604020202020204" pitchFamily="34" charset="0"/>
              <a:buNone/>
              <a:defRPr/>
            </a:pPr>
            <a:r>
              <a:rPr lang="en-US" altLang="zh-CN" sz="2400" b="1" dirty="0">
                <a:solidFill>
                  <a:srgbClr val="0000FF"/>
                </a:solidFill>
                <a:latin typeface="+mn-ea"/>
                <a:ea typeface="+mn-ea"/>
                <a:cs typeface="Times New Roman" panose="02020603050405020304" pitchFamily="18" charset="0"/>
              </a:rPr>
              <a:t>4</a:t>
            </a:r>
            <a:r>
              <a:rPr lang="zh-CN" altLang="en-US" sz="2400" b="1" dirty="0">
                <a:solidFill>
                  <a:srgbClr val="0000FF"/>
                </a:solidFill>
                <a:latin typeface="+mn-ea"/>
                <a:ea typeface="+mn-ea"/>
                <a:cs typeface="Times New Roman" panose="02020603050405020304" pitchFamily="18" charset="0"/>
              </a:rPr>
              <a:t>、挖掘频繁项集的模式增长方法</a:t>
            </a:r>
            <a:endParaRPr lang="en-US" altLang="zh-CN" sz="2400" b="1" dirty="0">
              <a:solidFill>
                <a:srgbClr val="0000FF"/>
              </a:solidFill>
              <a:latin typeface="+mn-ea"/>
              <a:ea typeface="+mn-ea"/>
              <a:cs typeface="Times New Roman" panose="02020603050405020304" pitchFamily="18" charset="0"/>
            </a:endParaRPr>
          </a:p>
          <a:p>
            <a:pPr marL="0" indent="0" defTabSz="868680" eaLnBrk="1" hangingPunct="1">
              <a:buFont typeface="Arial" panose="020B0604020202020204" pitchFamily="34" charset="0"/>
              <a:buNone/>
              <a:defRPr/>
            </a:pPr>
            <a:r>
              <a:rPr lang="zh-CN" altLang="en-US" sz="2400" b="1" dirty="0">
                <a:latin typeface="+mn-ea"/>
                <a:ea typeface="+mn-ea"/>
                <a:cs typeface="Times New Roman" panose="02020603050405020304" pitchFamily="18" charset="0"/>
              </a:rPr>
              <a:t>例：</a:t>
            </a:r>
            <a:endParaRPr lang="zh-CN" altLang="en-US" sz="2400" b="1" dirty="0">
              <a:latin typeface="+mn-ea"/>
              <a:ea typeface="+mn-ea"/>
              <a:cs typeface="Times New Roman" panose="02020603050405020304" pitchFamily="18" charset="0"/>
            </a:endParaRPr>
          </a:p>
        </p:txBody>
      </p:sp>
      <p:sp>
        <p:nvSpPr>
          <p:cNvPr id="5" name="矩形 4"/>
          <p:cNvSpPr/>
          <p:nvPr/>
        </p:nvSpPr>
        <p:spPr>
          <a:xfrm>
            <a:off x="1206500" y="1812925"/>
            <a:ext cx="1582738" cy="460375"/>
          </a:xfrm>
          <a:prstGeom prst="rect">
            <a:avLst/>
          </a:prstGeom>
        </p:spPr>
        <p:txBody>
          <a:bodyPr wrap="none">
            <a:spAutoFit/>
          </a:bodyPr>
          <a:lstStyle/>
          <a:p>
            <a:pPr defTabSz="1083945">
              <a:defRPr/>
            </a:pPr>
            <a:r>
              <a:rPr lang="en-US" altLang="zh-CN" sz="2400" dirty="0" err="1">
                <a:solidFill>
                  <a:srgbClr val="FF0000"/>
                </a:solidFill>
                <a:latin typeface="+mn-ea"/>
                <a:ea typeface="+mn-ea"/>
              </a:rPr>
              <a:t>min_sup</a:t>
            </a:r>
            <a:r>
              <a:rPr lang="en-US" altLang="zh-CN" sz="2400" dirty="0">
                <a:solidFill>
                  <a:srgbClr val="FF0000"/>
                </a:solidFill>
                <a:latin typeface="+mn-ea"/>
                <a:ea typeface="+mn-ea"/>
              </a:rPr>
              <a:t>=2</a:t>
            </a:r>
            <a:endParaRPr lang="zh-CN" altLang="en-US" sz="2400" dirty="0">
              <a:solidFill>
                <a:srgbClr val="FF0000"/>
              </a:solidFill>
              <a:latin typeface="+mn-ea"/>
              <a:ea typeface="+mn-ea"/>
            </a:endParaRPr>
          </a:p>
        </p:txBody>
      </p:sp>
      <p:grpSp>
        <p:nvGrpSpPr>
          <p:cNvPr id="55301" name="组合 5"/>
          <p:cNvGrpSpPr/>
          <p:nvPr/>
        </p:nvGrpSpPr>
        <p:grpSpPr bwMode="auto">
          <a:xfrm>
            <a:off x="1179513" y="2312988"/>
            <a:ext cx="1704975" cy="2541587"/>
            <a:chOff x="1102723" y="2429669"/>
            <a:chExt cx="1406830" cy="2329050"/>
          </a:xfrm>
        </p:grpSpPr>
        <p:pic>
          <p:nvPicPr>
            <p:cNvPr id="55386" name="图片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06531" y="2429669"/>
              <a:ext cx="342857" cy="140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87" name="图片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9388" y="2435701"/>
              <a:ext cx="1009524" cy="140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88" name="图片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723" y="3863481"/>
              <a:ext cx="380952" cy="895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89" name="图片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5743" y="3864588"/>
              <a:ext cx="923810" cy="866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直接连接符 10"/>
            <p:cNvCxnSpPr/>
            <p:nvPr/>
          </p:nvCxnSpPr>
          <p:spPr>
            <a:xfrm>
              <a:off x="1102723" y="4742717"/>
              <a:ext cx="1355744"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2" name="矩形 1"/>
          <p:cNvSpPr/>
          <p:nvPr/>
        </p:nvSpPr>
        <p:spPr>
          <a:xfrm>
            <a:off x="3473450" y="1966913"/>
            <a:ext cx="6954838" cy="923925"/>
          </a:xfrm>
          <a:prstGeom prst="rect">
            <a:avLst/>
          </a:prstGeom>
        </p:spPr>
        <p:txBody>
          <a:bodyPr>
            <a:spAutoFit/>
          </a:bodyPr>
          <a:lstStyle/>
          <a:p>
            <a:pPr>
              <a:defRPr/>
            </a:pPr>
            <a:r>
              <a:rPr lang="zh-CN" altLang="en-US" sz="1800" dirty="0">
                <a:latin typeface="+mn-ea"/>
                <a:ea typeface="+mn-ea"/>
              </a:rPr>
              <a:t>第</a:t>
            </a:r>
            <a:r>
              <a:rPr lang="en-US" altLang="zh-CN" sz="1800" dirty="0">
                <a:latin typeface="+mn-ea"/>
                <a:ea typeface="+mn-ea"/>
              </a:rPr>
              <a:t>1</a:t>
            </a:r>
            <a:r>
              <a:rPr lang="zh-CN" altLang="en-US" sz="1800" dirty="0">
                <a:latin typeface="+mn-ea"/>
                <a:ea typeface="+mn-ea"/>
              </a:rPr>
              <a:t>步</a:t>
            </a:r>
            <a:r>
              <a:rPr lang="zh-CN" altLang="en-US" sz="1800" b="0" dirty="0">
                <a:latin typeface="+mn-ea"/>
                <a:ea typeface="+mn-ea"/>
              </a:rPr>
              <a:t>，扫描数据库，导出所有的频繁项(1项集)的集合，计算支持度取阈值以上，按照支持度</a:t>
            </a:r>
            <a:r>
              <a:rPr lang="zh-CN" altLang="en-US" sz="1800" dirty="0">
                <a:solidFill>
                  <a:srgbClr val="FF0000"/>
                </a:solidFill>
                <a:latin typeface="+mn-ea"/>
                <a:ea typeface="+mn-ea"/>
              </a:rPr>
              <a:t>递减</a:t>
            </a:r>
            <a:r>
              <a:rPr lang="zh-CN" altLang="en-US" sz="1800" b="0" dirty="0">
                <a:latin typeface="+mn-ea"/>
                <a:ea typeface="+mn-ea"/>
              </a:rPr>
              <a:t>的顺序排序。排序结果为L={{I2:7},{I1:6},{I3:6},{I4:2},{I5:2}}</a:t>
            </a:r>
            <a:endParaRPr lang="zh-CN" altLang="en-US" sz="1800" b="0" dirty="0">
              <a:latin typeface="+mn-ea"/>
              <a:ea typeface="+mn-ea"/>
            </a:endParaRPr>
          </a:p>
        </p:txBody>
      </p:sp>
      <p:pic>
        <p:nvPicPr>
          <p:cNvPr id="55303" name="图片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68400" y="5103813"/>
            <a:ext cx="1419225"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p:cNvSpPr/>
          <p:nvPr/>
        </p:nvSpPr>
        <p:spPr>
          <a:xfrm>
            <a:off x="3473450" y="3059113"/>
            <a:ext cx="6954838" cy="646112"/>
          </a:xfrm>
          <a:prstGeom prst="rect">
            <a:avLst/>
          </a:prstGeom>
        </p:spPr>
        <p:txBody>
          <a:bodyPr>
            <a:spAutoFit/>
          </a:bodyPr>
          <a:lstStyle/>
          <a:p>
            <a:pPr>
              <a:defRPr/>
            </a:pPr>
            <a:r>
              <a:rPr lang="zh-CN" altLang="en-US" sz="1800" dirty="0">
                <a:latin typeface="+mn-ea"/>
                <a:ea typeface="+mn-ea"/>
              </a:rPr>
              <a:t>第</a:t>
            </a:r>
            <a:r>
              <a:rPr lang="en-US" altLang="zh-CN" sz="1800" dirty="0">
                <a:latin typeface="+mn-ea"/>
                <a:ea typeface="+mn-ea"/>
              </a:rPr>
              <a:t>2</a:t>
            </a:r>
            <a:r>
              <a:rPr lang="zh-CN" altLang="en-US" sz="1800" dirty="0">
                <a:latin typeface="+mn-ea"/>
                <a:ea typeface="+mn-ea"/>
              </a:rPr>
              <a:t>步，构造FP树</a:t>
            </a:r>
            <a:r>
              <a:rPr lang="zh-CN" altLang="en-US" sz="1800" b="0" dirty="0">
                <a:latin typeface="+mn-ea"/>
                <a:ea typeface="+mn-ea"/>
              </a:rPr>
              <a:t>。首先，创建树的根节点，用”null”标记。再次扫描数据库，对每个事务TID中的项按照L中次序处理形成结点。</a:t>
            </a:r>
            <a:endParaRPr lang="zh-CN" altLang="en-US" sz="1800" b="0" dirty="0">
              <a:latin typeface="+mn-ea"/>
              <a:ea typeface="+mn-ea"/>
            </a:endParaRPr>
          </a:p>
        </p:txBody>
      </p:sp>
      <p:graphicFrame>
        <p:nvGraphicFramePr>
          <p:cNvPr id="13" name="表格 12"/>
          <p:cNvGraphicFramePr>
            <a:graphicFrameLocks noGrp="1"/>
          </p:cNvGraphicFramePr>
          <p:nvPr/>
        </p:nvGraphicFramePr>
        <p:xfrm>
          <a:off x="3473450" y="4830763"/>
          <a:ext cx="1193799" cy="1854200"/>
        </p:xfrm>
        <a:graphic>
          <a:graphicData uri="http://schemas.openxmlformats.org/drawingml/2006/table">
            <a:tbl>
              <a:tblPr firstRow="1" bandRow="1">
                <a:tableStyleId>{5C22544A-7EE6-4342-B048-85BDC9FD1C3A}</a:tableStyleId>
              </a:tblPr>
              <a:tblGrid>
                <a:gridCol w="397933"/>
                <a:gridCol w="397933"/>
                <a:gridCol w="397933"/>
              </a:tblGrid>
              <a:tr h="370840">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I2</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7</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I1</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6</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I3</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6</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I4</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2</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I5</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2</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cxnSp>
        <p:nvCxnSpPr>
          <p:cNvPr id="28" name="直接箭头连接符 27"/>
          <p:cNvCxnSpPr>
            <a:stCxn id="55303" idx="3"/>
            <a:endCxn id="13" idx="1"/>
          </p:cNvCxnSpPr>
          <p:nvPr/>
        </p:nvCxnSpPr>
        <p:spPr>
          <a:xfrm flipV="1">
            <a:off x="2587625" y="5757863"/>
            <a:ext cx="885825" cy="317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55332" name="组合 28"/>
          <p:cNvGrpSpPr/>
          <p:nvPr/>
        </p:nvGrpSpPr>
        <p:grpSpPr bwMode="auto">
          <a:xfrm>
            <a:off x="7285038" y="3963988"/>
            <a:ext cx="968375" cy="366712"/>
            <a:chOff x="7285831" y="3963374"/>
            <a:chExt cx="968375" cy="367802"/>
          </a:xfrm>
        </p:grpSpPr>
        <p:sp>
          <p:nvSpPr>
            <p:cNvPr id="55384" name="Oval 5"/>
            <p:cNvSpPr>
              <a:spLocks noChangeArrowheads="1"/>
            </p:cNvSpPr>
            <p:nvPr/>
          </p:nvSpPr>
          <p:spPr bwMode="auto">
            <a:xfrm>
              <a:off x="7285831" y="4052508"/>
              <a:ext cx="228600" cy="228291"/>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400" b="0">
                <a:solidFill>
                  <a:srgbClr val="000000"/>
                </a:solidFill>
                <a:latin typeface="Tahoma" panose="020B0604030504040204" pitchFamily="34" charset="0"/>
              </a:endParaRPr>
            </a:p>
          </p:txBody>
        </p:sp>
        <p:sp>
          <p:nvSpPr>
            <p:cNvPr id="55385" name="Text Box 6"/>
            <p:cNvSpPr txBox="1">
              <a:spLocks noChangeArrowheads="1"/>
            </p:cNvSpPr>
            <p:nvPr/>
          </p:nvSpPr>
          <p:spPr bwMode="auto">
            <a:xfrm>
              <a:off x="7533481" y="3963374"/>
              <a:ext cx="720725" cy="367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null{}</a:t>
              </a:r>
              <a:endParaRPr lang="en-US" altLang="zh-CN" sz="1800" b="0">
                <a:solidFill>
                  <a:srgbClr val="000000"/>
                </a:solidFill>
                <a:latin typeface="Tahoma" panose="020B0604030504040204" pitchFamily="34" charset="0"/>
                <a:ea typeface="宋体" panose="02010600030101010101" pitchFamily="2" charset="-122"/>
              </a:endParaRPr>
            </a:p>
          </p:txBody>
        </p:sp>
      </p:grpSp>
      <p:sp>
        <p:nvSpPr>
          <p:cNvPr id="55333" name="Oval 10"/>
          <p:cNvSpPr>
            <a:spLocks noChangeArrowheads="1"/>
          </p:cNvSpPr>
          <p:nvPr/>
        </p:nvSpPr>
        <p:spPr bwMode="auto">
          <a:xfrm>
            <a:off x="6831013" y="4814888"/>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5334" name="AutoShape 11"/>
          <p:cNvCxnSpPr>
            <a:cxnSpLocks noChangeShapeType="1"/>
            <a:stCxn id="55384" idx="3"/>
            <a:endCxn id="55333" idx="7"/>
          </p:cNvCxnSpPr>
          <p:nvPr/>
        </p:nvCxnSpPr>
        <p:spPr bwMode="auto">
          <a:xfrm flipH="1">
            <a:off x="7024688" y="4248150"/>
            <a:ext cx="295275" cy="601663"/>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5335" name="Text Box 12"/>
          <p:cNvSpPr txBox="1">
            <a:spLocks noChangeArrowheads="1"/>
          </p:cNvSpPr>
          <p:nvPr/>
        </p:nvSpPr>
        <p:spPr bwMode="auto">
          <a:xfrm>
            <a:off x="6094413" y="4692650"/>
            <a:ext cx="755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I2</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7</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55336" name="Oval 14"/>
          <p:cNvSpPr>
            <a:spLocks noChangeArrowheads="1"/>
          </p:cNvSpPr>
          <p:nvPr/>
        </p:nvSpPr>
        <p:spPr bwMode="auto">
          <a:xfrm>
            <a:off x="6215063" y="5500688"/>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5337" name="AutoShape 15"/>
          <p:cNvCxnSpPr>
            <a:cxnSpLocks noChangeShapeType="1"/>
            <a:stCxn id="55333" idx="3"/>
            <a:endCxn id="55336" idx="7"/>
          </p:cNvCxnSpPr>
          <p:nvPr/>
        </p:nvCxnSpPr>
        <p:spPr bwMode="auto">
          <a:xfrm flipH="1">
            <a:off x="6410325" y="5010150"/>
            <a:ext cx="454025" cy="525463"/>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5338" name="Text Box 16"/>
          <p:cNvSpPr txBox="1">
            <a:spLocks noChangeArrowheads="1"/>
          </p:cNvSpPr>
          <p:nvPr/>
        </p:nvSpPr>
        <p:spPr bwMode="auto">
          <a:xfrm>
            <a:off x="5446713" y="5410200"/>
            <a:ext cx="754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I1</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4</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55339" name="Oval 18"/>
          <p:cNvSpPr>
            <a:spLocks noChangeArrowheads="1"/>
          </p:cNvSpPr>
          <p:nvPr/>
        </p:nvSpPr>
        <p:spPr bwMode="auto">
          <a:xfrm>
            <a:off x="5681663" y="6186488"/>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5340" name="AutoShape 19"/>
          <p:cNvCxnSpPr>
            <a:cxnSpLocks noChangeShapeType="1"/>
            <a:stCxn id="55336" idx="3"/>
            <a:endCxn id="55339" idx="7"/>
          </p:cNvCxnSpPr>
          <p:nvPr/>
        </p:nvCxnSpPr>
        <p:spPr bwMode="auto">
          <a:xfrm flipH="1">
            <a:off x="5876925" y="5695950"/>
            <a:ext cx="371475" cy="525463"/>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5341" name="Text Box 20"/>
          <p:cNvSpPr txBox="1">
            <a:spLocks noChangeArrowheads="1"/>
          </p:cNvSpPr>
          <p:nvPr/>
        </p:nvSpPr>
        <p:spPr bwMode="auto">
          <a:xfrm>
            <a:off x="4927600" y="6094413"/>
            <a:ext cx="755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I5</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1</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55342" name="Rectangle 22"/>
          <p:cNvSpPr>
            <a:spLocks noChangeArrowheads="1"/>
          </p:cNvSpPr>
          <p:nvPr/>
        </p:nvSpPr>
        <p:spPr bwMode="auto">
          <a:xfrm>
            <a:off x="5035550" y="5526088"/>
            <a:ext cx="1841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20000"/>
              </a:spcBef>
              <a:buClr>
                <a:srgbClr val="3333CC"/>
              </a:buClr>
              <a:buSzPct val="60000"/>
            </a:pPr>
            <a:endParaRPr lang="en-AU" altLang="zh-CN" sz="1600" b="0">
              <a:solidFill>
                <a:srgbClr val="000000"/>
              </a:solidFill>
              <a:latin typeface="楷体_GB2312" pitchFamily="49" charset="-122"/>
            </a:endParaRPr>
          </a:p>
        </p:txBody>
      </p:sp>
      <p:sp>
        <p:nvSpPr>
          <p:cNvPr id="55343" name="Rectangle 25"/>
          <p:cNvSpPr>
            <a:spLocks noChangeArrowheads="1"/>
          </p:cNvSpPr>
          <p:nvPr/>
        </p:nvSpPr>
        <p:spPr bwMode="auto">
          <a:xfrm>
            <a:off x="5192713" y="5160963"/>
            <a:ext cx="1841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20000"/>
              </a:spcBef>
              <a:buClr>
                <a:srgbClr val="3333CC"/>
              </a:buClr>
              <a:buSzPct val="60000"/>
            </a:pPr>
            <a:endParaRPr lang="en-AU" altLang="zh-CN" sz="1600" b="0">
              <a:solidFill>
                <a:srgbClr val="000000"/>
              </a:solidFill>
              <a:latin typeface="楷体_GB2312" pitchFamily="49" charset="-122"/>
            </a:endParaRPr>
          </a:p>
        </p:txBody>
      </p:sp>
      <p:sp>
        <p:nvSpPr>
          <p:cNvPr id="55344" name="Rectangle 28"/>
          <p:cNvSpPr>
            <a:spLocks noChangeArrowheads="1"/>
          </p:cNvSpPr>
          <p:nvPr/>
        </p:nvSpPr>
        <p:spPr bwMode="auto">
          <a:xfrm>
            <a:off x="5192713" y="4795838"/>
            <a:ext cx="1841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20000"/>
              </a:spcBef>
              <a:buClr>
                <a:srgbClr val="3333CC"/>
              </a:buClr>
              <a:buSzPct val="60000"/>
            </a:pPr>
            <a:endParaRPr lang="en-AU" altLang="zh-CN" sz="1600" b="0">
              <a:solidFill>
                <a:srgbClr val="000000"/>
              </a:solidFill>
              <a:latin typeface="楷体_GB2312" pitchFamily="49" charset="-122"/>
            </a:endParaRPr>
          </a:p>
        </p:txBody>
      </p:sp>
      <p:sp>
        <p:nvSpPr>
          <p:cNvPr id="55345" name="Rectangle 34"/>
          <p:cNvSpPr>
            <a:spLocks noChangeArrowheads="1"/>
          </p:cNvSpPr>
          <p:nvPr/>
        </p:nvSpPr>
        <p:spPr bwMode="auto">
          <a:xfrm>
            <a:off x="5192713" y="4065588"/>
            <a:ext cx="1841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20000"/>
              </a:spcBef>
              <a:buClr>
                <a:srgbClr val="3333CC"/>
              </a:buClr>
              <a:buSzPct val="60000"/>
            </a:pPr>
            <a:endParaRPr lang="en-AU" altLang="zh-CN" sz="1600" b="0">
              <a:solidFill>
                <a:srgbClr val="000000"/>
              </a:solidFill>
              <a:latin typeface="楷体_GB2312" pitchFamily="49" charset="-122"/>
            </a:endParaRPr>
          </a:p>
        </p:txBody>
      </p:sp>
      <p:sp>
        <p:nvSpPr>
          <p:cNvPr id="55346" name="Oval 45"/>
          <p:cNvSpPr>
            <a:spLocks noChangeArrowheads="1"/>
          </p:cNvSpPr>
          <p:nvPr/>
        </p:nvSpPr>
        <p:spPr bwMode="auto">
          <a:xfrm>
            <a:off x="7589838" y="5502275"/>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5347" name="AutoShape 46"/>
          <p:cNvCxnSpPr>
            <a:cxnSpLocks noChangeShapeType="1"/>
            <a:stCxn id="55333" idx="5"/>
            <a:endCxn id="55346" idx="1"/>
          </p:cNvCxnSpPr>
          <p:nvPr/>
        </p:nvCxnSpPr>
        <p:spPr bwMode="auto">
          <a:xfrm>
            <a:off x="7024688" y="5010150"/>
            <a:ext cx="598487" cy="525463"/>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5348" name="Text Box 47"/>
          <p:cNvSpPr txBox="1">
            <a:spLocks noChangeArrowheads="1"/>
          </p:cNvSpPr>
          <p:nvPr/>
        </p:nvSpPr>
        <p:spPr bwMode="auto">
          <a:xfrm>
            <a:off x="7840663" y="5427663"/>
            <a:ext cx="755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I4</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1</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55349" name="Oval 45"/>
          <p:cNvSpPr>
            <a:spLocks noChangeArrowheads="1"/>
          </p:cNvSpPr>
          <p:nvPr/>
        </p:nvSpPr>
        <p:spPr bwMode="auto">
          <a:xfrm>
            <a:off x="6726238" y="5489575"/>
            <a:ext cx="228600" cy="238125"/>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5350" name="AutoShape 46"/>
          <p:cNvCxnSpPr>
            <a:cxnSpLocks noChangeShapeType="1"/>
            <a:stCxn id="55333" idx="4"/>
            <a:endCxn id="55349" idx="0"/>
          </p:cNvCxnSpPr>
          <p:nvPr/>
        </p:nvCxnSpPr>
        <p:spPr bwMode="auto">
          <a:xfrm flipH="1">
            <a:off x="6840538" y="5043488"/>
            <a:ext cx="104775" cy="446087"/>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5351" name="Text Box 47"/>
          <p:cNvSpPr txBox="1">
            <a:spLocks noChangeArrowheads="1"/>
          </p:cNvSpPr>
          <p:nvPr/>
        </p:nvSpPr>
        <p:spPr bwMode="auto">
          <a:xfrm>
            <a:off x="6878638" y="5287963"/>
            <a:ext cx="6064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I3:</a:t>
            </a:r>
            <a:r>
              <a:rPr lang="en-US" altLang="zh-CN" sz="1800" b="0">
                <a:solidFill>
                  <a:srgbClr val="FF0000"/>
                </a:solidFill>
                <a:latin typeface="Tahoma" panose="020B0604030504040204" pitchFamily="34" charset="0"/>
                <a:ea typeface="宋体" panose="02010600030101010101" pitchFamily="2" charset="-122"/>
              </a:rPr>
              <a:t>2</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55352" name="Oval 45"/>
          <p:cNvSpPr>
            <a:spLocks noChangeArrowheads="1"/>
          </p:cNvSpPr>
          <p:nvPr/>
        </p:nvSpPr>
        <p:spPr bwMode="auto">
          <a:xfrm>
            <a:off x="6845300" y="6175375"/>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5353" name="AutoShape 46"/>
          <p:cNvCxnSpPr>
            <a:cxnSpLocks noChangeShapeType="1"/>
            <a:stCxn id="55333" idx="4"/>
            <a:endCxn id="55352" idx="1"/>
          </p:cNvCxnSpPr>
          <p:nvPr/>
        </p:nvCxnSpPr>
        <p:spPr bwMode="auto">
          <a:xfrm>
            <a:off x="6434138" y="5681663"/>
            <a:ext cx="444500" cy="52705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5354" name="Text Box 47"/>
          <p:cNvSpPr txBox="1">
            <a:spLocks noChangeArrowheads="1"/>
          </p:cNvSpPr>
          <p:nvPr/>
        </p:nvSpPr>
        <p:spPr bwMode="auto">
          <a:xfrm>
            <a:off x="7064375" y="6105525"/>
            <a:ext cx="755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I4</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1</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55355" name="Oval 45"/>
          <p:cNvSpPr>
            <a:spLocks noChangeArrowheads="1"/>
          </p:cNvSpPr>
          <p:nvPr/>
        </p:nvSpPr>
        <p:spPr bwMode="auto">
          <a:xfrm>
            <a:off x="6223000" y="6170613"/>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5356" name="AutoShape 46"/>
          <p:cNvCxnSpPr>
            <a:cxnSpLocks noChangeShapeType="1"/>
            <a:stCxn id="55336" idx="4"/>
            <a:endCxn id="55355" idx="0"/>
          </p:cNvCxnSpPr>
          <p:nvPr/>
        </p:nvCxnSpPr>
        <p:spPr bwMode="auto">
          <a:xfrm>
            <a:off x="6329363" y="5729288"/>
            <a:ext cx="7937" cy="441325"/>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5357" name="Text Box 47"/>
          <p:cNvSpPr txBox="1">
            <a:spLocks noChangeArrowheads="1"/>
          </p:cNvSpPr>
          <p:nvPr/>
        </p:nvSpPr>
        <p:spPr bwMode="auto">
          <a:xfrm>
            <a:off x="5861050" y="6383338"/>
            <a:ext cx="6048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I3:</a:t>
            </a:r>
            <a:r>
              <a:rPr lang="en-US" altLang="zh-CN" sz="1800" b="0">
                <a:solidFill>
                  <a:srgbClr val="FF0000"/>
                </a:solidFill>
                <a:latin typeface="Tahoma" panose="020B0604030504040204" pitchFamily="34" charset="0"/>
                <a:ea typeface="宋体" panose="02010600030101010101" pitchFamily="2" charset="-122"/>
              </a:rPr>
              <a:t>2</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55358" name="Oval 45"/>
          <p:cNvSpPr>
            <a:spLocks noChangeArrowheads="1"/>
          </p:cNvSpPr>
          <p:nvPr/>
        </p:nvSpPr>
        <p:spPr bwMode="auto">
          <a:xfrm>
            <a:off x="6542088" y="6842125"/>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5359" name="AutoShape 46"/>
          <p:cNvCxnSpPr>
            <a:cxnSpLocks noChangeShapeType="1"/>
            <a:stCxn id="55355" idx="4"/>
            <a:endCxn id="55358" idx="1"/>
          </p:cNvCxnSpPr>
          <p:nvPr/>
        </p:nvCxnSpPr>
        <p:spPr bwMode="auto">
          <a:xfrm>
            <a:off x="6337300" y="6399213"/>
            <a:ext cx="239713" cy="47625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5360" name="Text Box 47"/>
          <p:cNvSpPr txBox="1">
            <a:spLocks noChangeArrowheads="1"/>
          </p:cNvSpPr>
          <p:nvPr/>
        </p:nvSpPr>
        <p:spPr bwMode="auto">
          <a:xfrm>
            <a:off x="6792913" y="6765925"/>
            <a:ext cx="755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I5</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1</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55361" name="Oval 45"/>
          <p:cNvSpPr>
            <a:spLocks noChangeArrowheads="1"/>
          </p:cNvSpPr>
          <p:nvPr/>
        </p:nvSpPr>
        <p:spPr bwMode="auto">
          <a:xfrm>
            <a:off x="8013700" y="4754563"/>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5362" name="AutoShape 46"/>
          <p:cNvCxnSpPr>
            <a:cxnSpLocks noChangeShapeType="1"/>
            <a:stCxn id="55384" idx="5"/>
            <a:endCxn id="55361" idx="1"/>
          </p:cNvCxnSpPr>
          <p:nvPr/>
        </p:nvCxnSpPr>
        <p:spPr bwMode="auto">
          <a:xfrm>
            <a:off x="7480300" y="4248150"/>
            <a:ext cx="566738" cy="53975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5363" name="Text Box 47"/>
          <p:cNvSpPr txBox="1">
            <a:spLocks noChangeArrowheads="1"/>
          </p:cNvSpPr>
          <p:nvPr/>
        </p:nvSpPr>
        <p:spPr bwMode="auto">
          <a:xfrm>
            <a:off x="8264525" y="4679950"/>
            <a:ext cx="755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I1</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2</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55364" name="Oval 45"/>
          <p:cNvSpPr>
            <a:spLocks noChangeArrowheads="1"/>
          </p:cNvSpPr>
          <p:nvPr/>
        </p:nvSpPr>
        <p:spPr bwMode="auto">
          <a:xfrm>
            <a:off x="8769350" y="5467350"/>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5365" name="AutoShape 46"/>
          <p:cNvCxnSpPr>
            <a:cxnSpLocks noChangeShapeType="1"/>
            <a:stCxn id="55361" idx="5"/>
            <a:endCxn id="55364" idx="1"/>
          </p:cNvCxnSpPr>
          <p:nvPr/>
        </p:nvCxnSpPr>
        <p:spPr bwMode="auto">
          <a:xfrm>
            <a:off x="8208963" y="4949825"/>
            <a:ext cx="593725" cy="550863"/>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5366" name="Text Box 47"/>
          <p:cNvSpPr txBox="1">
            <a:spLocks noChangeArrowheads="1"/>
          </p:cNvSpPr>
          <p:nvPr/>
        </p:nvSpPr>
        <p:spPr bwMode="auto">
          <a:xfrm>
            <a:off x="9020175" y="5392738"/>
            <a:ext cx="755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I3</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2</a:t>
            </a:r>
            <a:endParaRPr lang="en-US" altLang="zh-CN" sz="1800" b="0">
              <a:solidFill>
                <a:srgbClr val="FF0000"/>
              </a:solidFill>
              <a:latin typeface="Tahoma" panose="020B0604030504040204" pitchFamily="34" charset="0"/>
              <a:ea typeface="宋体" panose="02010600030101010101" pitchFamily="2" charset="-122"/>
            </a:endParaRPr>
          </a:p>
        </p:txBody>
      </p:sp>
      <p:cxnSp>
        <p:nvCxnSpPr>
          <p:cNvPr id="55368" name="AutoShape 42"/>
          <p:cNvCxnSpPr>
            <a:cxnSpLocks noChangeShapeType="1"/>
            <a:stCxn id="55361" idx="5"/>
            <a:endCxn id="55333" idx="3"/>
          </p:cNvCxnSpPr>
          <p:nvPr/>
        </p:nvCxnSpPr>
        <p:spPr bwMode="auto">
          <a:xfrm flipV="1">
            <a:off x="4486275" y="5010150"/>
            <a:ext cx="2378075" cy="50800"/>
          </a:xfrm>
          <a:prstGeom prst="curvedConnector2">
            <a:avLst/>
          </a:prstGeom>
          <a:noFill/>
          <a:ln w="9525">
            <a:solidFill>
              <a:srgbClr val="B3A2C7"/>
            </a:solidFill>
            <a:prstDash val="lgDash"/>
            <a:round/>
            <a:tailEnd type="triangle" w="med" len="med"/>
          </a:ln>
          <a:extLst>
            <a:ext uri="{909E8E84-426E-40DD-AFC4-6F175D3DCCD1}">
              <a14:hiddenFill xmlns:a14="http://schemas.microsoft.com/office/drawing/2010/main">
                <a:noFill/>
              </a14:hiddenFill>
            </a:ext>
          </a:extLst>
        </p:spPr>
      </p:cxnSp>
      <p:cxnSp>
        <p:nvCxnSpPr>
          <p:cNvPr id="55369" name="AutoShape 42"/>
          <p:cNvCxnSpPr>
            <a:cxnSpLocks noChangeShapeType="1"/>
            <a:stCxn id="55361" idx="5"/>
            <a:endCxn id="55336" idx="1"/>
          </p:cNvCxnSpPr>
          <p:nvPr/>
        </p:nvCxnSpPr>
        <p:spPr bwMode="auto">
          <a:xfrm>
            <a:off x="4486275" y="5427663"/>
            <a:ext cx="1762125" cy="107950"/>
          </a:xfrm>
          <a:prstGeom prst="curvedConnector2">
            <a:avLst/>
          </a:prstGeom>
          <a:noFill/>
          <a:ln w="9525">
            <a:solidFill>
              <a:srgbClr val="B3A2C7"/>
            </a:solidFill>
            <a:prstDash val="lgDash"/>
            <a:round/>
            <a:tailEnd type="triangle" w="med" len="med"/>
          </a:ln>
          <a:extLst>
            <a:ext uri="{909E8E84-426E-40DD-AFC4-6F175D3DCCD1}">
              <a14:hiddenFill xmlns:a14="http://schemas.microsoft.com/office/drawing/2010/main">
                <a:noFill/>
              </a14:hiddenFill>
            </a:ext>
          </a:extLst>
        </p:spPr>
      </p:cxnSp>
      <p:cxnSp>
        <p:nvCxnSpPr>
          <p:cNvPr id="27" name="直接箭头连接符 26"/>
          <p:cNvCxnSpPr>
            <a:stCxn id="55336" idx="6"/>
            <a:endCxn id="55361" idx="2"/>
          </p:cNvCxnSpPr>
          <p:nvPr/>
        </p:nvCxnSpPr>
        <p:spPr>
          <a:xfrm flipV="1">
            <a:off x="6443663" y="4868863"/>
            <a:ext cx="1570037" cy="746125"/>
          </a:xfrm>
          <a:prstGeom prst="straightConnector1">
            <a:avLst/>
          </a:prstGeom>
          <a:ln>
            <a:solidFill>
              <a:schemeClr val="accent4">
                <a:lumMod val="60000"/>
                <a:lumOff val="40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55371" name="AutoShape 42"/>
          <p:cNvCxnSpPr>
            <a:cxnSpLocks noChangeShapeType="1"/>
            <a:stCxn id="55336" idx="6"/>
            <a:endCxn id="55355" idx="1"/>
          </p:cNvCxnSpPr>
          <p:nvPr/>
        </p:nvCxnSpPr>
        <p:spPr bwMode="auto">
          <a:xfrm>
            <a:off x="4484688" y="5784850"/>
            <a:ext cx="1771650" cy="419100"/>
          </a:xfrm>
          <a:prstGeom prst="curvedConnector2">
            <a:avLst/>
          </a:prstGeom>
          <a:noFill/>
          <a:ln w="9525">
            <a:solidFill>
              <a:srgbClr val="B3A2C7"/>
            </a:solidFill>
            <a:prstDash val="lgDash"/>
            <a:round/>
            <a:tailEnd type="triangle" w="med" len="med"/>
          </a:ln>
          <a:extLst>
            <a:ext uri="{909E8E84-426E-40DD-AFC4-6F175D3DCCD1}">
              <a14:hiddenFill xmlns:a14="http://schemas.microsoft.com/office/drawing/2010/main">
                <a:noFill/>
              </a14:hiddenFill>
            </a:ext>
          </a:extLst>
        </p:spPr>
      </p:cxnSp>
      <p:cxnSp>
        <p:nvCxnSpPr>
          <p:cNvPr id="55372" name="AutoShape 42"/>
          <p:cNvCxnSpPr>
            <a:cxnSpLocks noChangeShapeType="1"/>
            <a:stCxn id="55355" idx="6"/>
            <a:endCxn id="55349" idx="3"/>
          </p:cNvCxnSpPr>
          <p:nvPr/>
        </p:nvCxnSpPr>
        <p:spPr bwMode="auto">
          <a:xfrm flipV="1">
            <a:off x="6451600" y="5692775"/>
            <a:ext cx="307975" cy="592138"/>
          </a:xfrm>
          <a:prstGeom prst="curvedConnector2">
            <a:avLst/>
          </a:prstGeom>
          <a:noFill/>
          <a:ln w="9525">
            <a:solidFill>
              <a:srgbClr val="B3A2C7"/>
            </a:solidFill>
            <a:prstDash val="lgDash"/>
            <a:round/>
            <a:tailEnd type="triangle" w="med" len="med"/>
          </a:ln>
          <a:extLst>
            <a:ext uri="{909E8E84-426E-40DD-AFC4-6F175D3DCCD1}">
              <a14:hiddenFill xmlns:a14="http://schemas.microsoft.com/office/drawing/2010/main">
                <a:noFill/>
              </a14:hiddenFill>
            </a:ext>
          </a:extLst>
        </p:spPr>
      </p:cxnSp>
      <p:cxnSp>
        <p:nvCxnSpPr>
          <p:cNvPr id="81" name="AutoShape 42"/>
          <p:cNvCxnSpPr>
            <a:cxnSpLocks noChangeShapeType="1"/>
            <a:stCxn id="55349" idx="5"/>
            <a:endCxn id="55364" idx="4"/>
          </p:cNvCxnSpPr>
          <p:nvPr/>
        </p:nvCxnSpPr>
        <p:spPr bwMode="auto">
          <a:xfrm rot="16200000" flipH="1">
            <a:off x="7900987" y="4713288"/>
            <a:ext cx="3175" cy="1962150"/>
          </a:xfrm>
          <a:prstGeom prst="curvedConnector3">
            <a:avLst>
              <a:gd name="adj1" fmla="val 7413273"/>
            </a:avLst>
          </a:prstGeom>
          <a:noFill/>
          <a:ln w="9525">
            <a:solidFill>
              <a:schemeClr val="accent4">
                <a:lumMod val="60000"/>
                <a:lumOff val="40000"/>
              </a:schemeClr>
            </a:solidFill>
            <a:prstDash val="lg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AutoShape 42"/>
          <p:cNvCxnSpPr>
            <a:cxnSpLocks noChangeShapeType="1"/>
            <a:stCxn id="55349" idx="5"/>
            <a:endCxn id="55352" idx="4"/>
          </p:cNvCxnSpPr>
          <p:nvPr/>
        </p:nvCxnSpPr>
        <p:spPr bwMode="auto">
          <a:xfrm>
            <a:off x="4486275" y="6129338"/>
            <a:ext cx="2473325" cy="274637"/>
          </a:xfrm>
          <a:prstGeom prst="curvedConnector4">
            <a:avLst>
              <a:gd name="adj1" fmla="val 19958"/>
              <a:gd name="adj2" fmla="val 233466"/>
            </a:avLst>
          </a:prstGeom>
          <a:noFill/>
          <a:ln w="9525">
            <a:solidFill>
              <a:schemeClr val="accent4">
                <a:lumMod val="60000"/>
                <a:lumOff val="40000"/>
              </a:schemeClr>
            </a:solidFill>
            <a:prstDash val="lg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AutoShape 42"/>
          <p:cNvCxnSpPr>
            <a:cxnSpLocks noChangeShapeType="1"/>
            <a:stCxn id="55352" idx="7"/>
            <a:endCxn id="55346" idx="4"/>
          </p:cNvCxnSpPr>
          <p:nvPr/>
        </p:nvCxnSpPr>
        <p:spPr bwMode="auto">
          <a:xfrm rot="5400000" flipH="1" flipV="1">
            <a:off x="7133432" y="5638006"/>
            <a:ext cx="477838" cy="663575"/>
          </a:xfrm>
          <a:prstGeom prst="curvedConnector3">
            <a:avLst>
              <a:gd name="adj1" fmla="val 50000"/>
            </a:avLst>
          </a:prstGeom>
          <a:noFill/>
          <a:ln w="9525">
            <a:solidFill>
              <a:schemeClr val="accent4">
                <a:lumMod val="60000"/>
                <a:lumOff val="40000"/>
              </a:schemeClr>
            </a:solidFill>
            <a:prstDash val="lg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376" name="AutoShape 42"/>
          <p:cNvCxnSpPr>
            <a:cxnSpLocks noChangeShapeType="1"/>
            <a:stCxn id="55352" idx="7"/>
            <a:endCxn id="55339" idx="3"/>
          </p:cNvCxnSpPr>
          <p:nvPr/>
        </p:nvCxnSpPr>
        <p:spPr bwMode="auto">
          <a:xfrm flipV="1">
            <a:off x="4486275" y="6381750"/>
            <a:ext cx="1228725" cy="127000"/>
          </a:xfrm>
          <a:prstGeom prst="curvedConnector2">
            <a:avLst/>
          </a:prstGeom>
          <a:noFill/>
          <a:ln w="9525">
            <a:solidFill>
              <a:srgbClr val="B3A2C7"/>
            </a:solidFill>
            <a:prstDash val="lgDash"/>
            <a:round/>
            <a:tailEnd type="triangle" w="med" len="med"/>
          </a:ln>
          <a:extLst>
            <a:ext uri="{909E8E84-426E-40DD-AFC4-6F175D3DCCD1}">
              <a14:hiddenFill xmlns:a14="http://schemas.microsoft.com/office/drawing/2010/main">
                <a:noFill/>
              </a14:hiddenFill>
            </a:ext>
          </a:extLst>
        </p:spPr>
      </p:cxnSp>
      <p:cxnSp>
        <p:nvCxnSpPr>
          <p:cNvPr id="55377" name="AutoShape 42"/>
          <p:cNvCxnSpPr>
            <a:cxnSpLocks noChangeShapeType="1"/>
            <a:stCxn id="55339" idx="4"/>
            <a:endCxn id="55358" idx="2"/>
          </p:cNvCxnSpPr>
          <p:nvPr/>
        </p:nvCxnSpPr>
        <p:spPr bwMode="auto">
          <a:xfrm rot="16200000" flipH="1">
            <a:off x="5894388" y="6310313"/>
            <a:ext cx="542925" cy="746125"/>
          </a:xfrm>
          <a:prstGeom prst="curvedConnector2">
            <a:avLst/>
          </a:prstGeom>
          <a:noFill/>
          <a:ln w="9525">
            <a:solidFill>
              <a:srgbClr val="B3A2C7"/>
            </a:solidFill>
            <a:prstDash val="lgDash"/>
            <a:round/>
            <a:tailEnd type="triangle" w="med" len="med"/>
          </a:ln>
          <a:extLst>
            <a:ext uri="{909E8E84-426E-40DD-AFC4-6F175D3DCCD1}">
              <a14:hiddenFill xmlns:a14="http://schemas.microsoft.com/office/drawing/2010/main">
                <a:noFill/>
              </a14:hiddenFill>
            </a:ext>
          </a:extLst>
        </p:spPr>
      </p:cxnSp>
      <p:sp>
        <p:nvSpPr>
          <p:cNvPr id="103" name="矩形 102"/>
          <p:cNvSpPr/>
          <p:nvPr/>
        </p:nvSpPr>
        <p:spPr>
          <a:xfrm>
            <a:off x="4403725" y="4311650"/>
            <a:ext cx="804863" cy="338138"/>
          </a:xfrm>
          <a:prstGeom prst="rect">
            <a:avLst/>
          </a:prstGeom>
        </p:spPr>
        <p:txBody>
          <a:bodyPr wrap="none">
            <a:spAutoFit/>
          </a:bodyPr>
          <a:lstStyle/>
          <a:p>
            <a:pPr>
              <a:defRPr/>
            </a:pPr>
            <a:r>
              <a:rPr lang="zh-CN" altLang="en-US" sz="1600" b="0" dirty="0">
                <a:solidFill>
                  <a:srgbClr val="0000FF"/>
                </a:solidFill>
                <a:latin typeface="+mn-ea"/>
                <a:ea typeface="+mn-ea"/>
              </a:rPr>
              <a:t>结点链</a:t>
            </a:r>
            <a:endParaRPr lang="zh-CN" altLang="en-US" b="0" dirty="0">
              <a:solidFill>
                <a:srgbClr val="0000FF"/>
              </a:solidFill>
              <a:latin typeface="+mn-ea"/>
              <a:ea typeface="+mn-ea"/>
            </a:endParaRPr>
          </a:p>
        </p:txBody>
      </p:sp>
      <p:sp>
        <p:nvSpPr>
          <p:cNvPr id="105" name="矩形 104"/>
          <p:cNvSpPr/>
          <p:nvPr/>
        </p:nvSpPr>
        <p:spPr>
          <a:xfrm>
            <a:off x="3570288" y="4065588"/>
            <a:ext cx="877887" cy="584200"/>
          </a:xfrm>
          <a:prstGeom prst="rect">
            <a:avLst/>
          </a:prstGeom>
        </p:spPr>
        <p:txBody>
          <a:bodyPr>
            <a:spAutoFit/>
          </a:bodyPr>
          <a:lstStyle/>
          <a:p>
            <a:pPr algn="ctr">
              <a:defRPr/>
            </a:pPr>
            <a:r>
              <a:rPr lang="zh-CN" altLang="en-US" sz="1600" b="0" dirty="0">
                <a:solidFill>
                  <a:srgbClr val="0000FF"/>
                </a:solidFill>
                <a:latin typeface="+mn-ea"/>
                <a:ea typeface="+mn-ea"/>
              </a:rPr>
              <a:t>支持度计数</a:t>
            </a:r>
            <a:endParaRPr lang="zh-CN" altLang="en-US" b="0" dirty="0">
              <a:solidFill>
                <a:srgbClr val="0000FF"/>
              </a:solidFill>
              <a:latin typeface="+mn-ea"/>
              <a:ea typeface="+mn-ea"/>
            </a:endParaRPr>
          </a:p>
        </p:txBody>
      </p:sp>
      <p:sp>
        <p:nvSpPr>
          <p:cNvPr id="106" name="矩形 105"/>
          <p:cNvSpPr/>
          <p:nvPr/>
        </p:nvSpPr>
        <p:spPr>
          <a:xfrm>
            <a:off x="2940050" y="4327525"/>
            <a:ext cx="846138" cy="322263"/>
          </a:xfrm>
          <a:prstGeom prst="rect">
            <a:avLst/>
          </a:prstGeom>
        </p:spPr>
        <p:txBody>
          <a:bodyPr>
            <a:spAutoFit/>
          </a:bodyPr>
          <a:lstStyle/>
          <a:p>
            <a:pPr>
              <a:defRPr/>
            </a:pPr>
            <a:r>
              <a:rPr lang="zh-CN" altLang="en-US" b="0" dirty="0">
                <a:solidFill>
                  <a:srgbClr val="0000FF"/>
                </a:solidFill>
                <a:latin typeface="+mn-ea"/>
                <a:ea typeface="+mn-ea"/>
              </a:rPr>
              <a:t>项</a:t>
            </a:r>
            <a:r>
              <a:rPr lang="en-US" altLang="zh-CN" b="0" dirty="0">
                <a:solidFill>
                  <a:srgbClr val="0000FF"/>
                </a:solidFill>
                <a:latin typeface="+mn-ea"/>
                <a:ea typeface="+mn-ea"/>
              </a:rPr>
              <a:t>ID</a:t>
            </a:r>
            <a:endParaRPr lang="zh-CN" altLang="en-US" b="0" dirty="0">
              <a:solidFill>
                <a:srgbClr val="0000FF"/>
              </a:solidFill>
              <a:latin typeface="+mn-ea"/>
              <a:ea typeface="+mn-ea"/>
            </a:endParaRPr>
          </a:p>
        </p:txBody>
      </p:sp>
      <p:cxnSp>
        <p:nvCxnSpPr>
          <p:cNvPr id="107" name="直接箭头连接符 106"/>
          <p:cNvCxnSpPr>
            <a:stCxn id="106" idx="2"/>
            <a:endCxn id="55358" idx="2"/>
          </p:cNvCxnSpPr>
          <p:nvPr/>
        </p:nvCxnSpPr>
        <p:spPr>
          <a:xfrm>
            <a:off x="3363913" y="4649788"/>
            <a:ext cx="206375" cy="1381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9" name="直接箭头连接符 108"/>
          <p:cNvCxnSpPr>
            <a:stCxn id="105" idx="2"/>
            <a:endCxn id="13" idx="0"/>
          </p:cNvCxnSpPr>
          <p:nvPr/>
        </p:nvCxnSpPr>
        <p:spPr>
          <a:xfrm>
            <a:off x="4009232" y="4649788"/>
            <a:ext cx="61117" cy="1809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1" name="直接箭头连接符 110"/>
          <p:cNvCxnSpPr/>
          <p:nvPr/>
        </p:nvCxnSpPr>
        <p:spPr>
          <a:xfrm flipH="1">
            <a:off x="4403725" y="4633119"/>
            <a:ext cx="402432" cy="200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3473450" y="3720540"/>
            <a:ext cx="6308725" cy="323165"/>
          </a:xfrm>
          <a:prstGeom prst="rect">
            <a:avLst/>
          </a:prstGeom>
          <a:noFill/>
        </p:spPr>
        <p:txBody>
          <a:bodyPr wrap="square">
            <a:spAutoFit/>
          </a:bodyPr>
          <a:lstStyle/>
          <a:p>
            <a:r>
              <a:rPr lang="zh-CN" altLang="en-US" b="0" dirty="0">
                <a:solidFill>
                  <a:srgbClr val="0000FF"/>
                </a:solidFill>
              </a:rPr>
              <a:t>为方便树的遍历，使每项通过一个结点链指向它在树中的位置。</a:t>
            </a:r>
            <a:endParaRPr lang="zh-CN" altLang="en-US" b="0" dirty="0">
              <a:solidFill>
                <a:srgbClr val="0000FF"/>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a:t>
            </a:r>
            <a:r>
              <a:rPr lang="en-US" altLang="zh-CN" sz="4400" dirty="0">
                <a:latin typeface="楷体" panose="02010609060101010101" pitchFamily="49" charset="-122"/>
                <a:ea typeface="楷体" panose="02010609060101010101" pitchFamily="49" charset="-122"/>
              </a:rPr>
              <a:t>6.2 </a:t>
            </a:r>
            <a:r>
              <a:rPr lang="zh-CN" altLang="en-US" sz="4400" dirty="0">
                <a:latin typeface="楷体" panose="02010609060101010101" pitchFamily="49" charset="-122"/>
                <a:ea typeface="楷体" panose="02010609060101010101" pitchFamily="49" charset="-122"/>
              </a:rPr>
              <a:t>频繁项集挖掘方法</a:t>
            </a:r>
            <a:endParaRPr lang="zh-CN" altLang="en-US" sz="4400" dirty="0">
              <a:latin typeface="楷体" panose="02010609060101010101" pitchFamily="49" charset="-122"/>
              <a:ea typeface="楷体" panose="02010609060101010101" pitchFamily="49" charset="-122"/>
            </a:endParaRPr>
          </a:p>
        </p:txBody>
      </p:sp>
      <p:sp>
        <p:nvSpPr>
          <p:cNvPr id="4" name="Rectangle 3"/>
          <p:cNvSpPr>
            <a:spLocks noGrp="1" noChangeArrowheads="1"/>
          </p:cNvSpPr>
          <p:nvPr>
            <p:ph idx="1"/>
          </p:nvPr>
        </p:nvSpPr>
        <p:spPr>
          <a:xfrm>
            <a:off x="522288" y="1160463"/>
            <a:ext cx="9906000" cy="806450"/>
          </a:xfrm>
        </p:spPr>
        <p:txBody>
          <a:bodyPr/>
          <a:lstStyle/>
          <a:p>
            <a:pPr marL="0" indent="0" defTabSz="868680" eaLnBrk="1" hangingPunct="1">
              <a:buFont typeface="Arial" panose="020B0604020202020204" pitchFamily="34" charset="0"/>
              <a:buNone/>
              <a:defRPr/>
            </a:pPr>
            <a:r>
              <a:rPr lang="en-US" altLang="zh-CN" sz="2400" b="1" dirty="0">
                <a:solidFill>
                  <a:srgbClr val="0000FF"/>
                </a:solidFill>
                <a:latin typeface="+mn-ea"/>
                <a:ea typeface="+mn-ea"/>
                <a:cs typeface="Times New Roman" panose="02020603050405020304" pitchFamily="18" charset="0"/>
              </a:rPr>
              <a:t>4</a:t>
            </a:r>
            <a:r>
              <a:rPr lang="zh-CN" altLang="en-US" sz="2400" b="1" dirty="0">
                <a:solidFill>
                  <a:srgbClr val="0000FF"/>
                </a:solidFill>
                <a:latin typeface="+mn-ea"/>
                <a:ea typeface="+mn-ea"/>
                <a:cs typeface="Times New Roman" panose="02020603050405020304" pitchFamily="18" charset="0"/>
              </a:rPr>
              <a:t>、挖掘频繁项集的模式增长方法</a:t>
            </a:r>
            <a:endParaRPr lang="en-US" altLang="zh-CN" sz="2400" b="1" dirty="0">
              <a:solidFill>
                <a:srgbClr val="0000FF"/>
              </a:solidFill>
              <a:latin typeface="+mn-ea"/>
              <a:ea typeface="+mn-ea"/>
              <a:cs typeface="Times New Roman" panose="02020603050405020304" pitchFamily="18" charset="0"/>
            </a:endParaRPr>
          </a:p>
          <a:p>
            <a:pPr marL="0" indent="0" defTabSz="868680" eaLnBrk="1" hangingPunct="1">
              <a:buFont typeface="Arial" panose="020B0604020202020204" pitchFamily="34" charset="0"/>
              <a:buNone/>
              <a:defRPr/>
            </a:pPr>
            <a:r>
              <a:rPr lang="zh-CN" altLang="en-US" sz="2400" b="1" dirty="0">
                <a:latin typeface="+mn-ea"/>
                <a:ea typeface="+mn-ea"/>
                <a:cs typeface="Times New Roman" panose="02020603050405020304" pitchFamily="18" charset="0"/>
              </a:rPr>
              <a:t>例：</a:t>
            </a:r>
            <a:endParaRPr lang="zh-CN" altLang="en-US" sz="2400" b="1" dirty="0">
              <a:latin typeface="+mn-ea"/>
              <a:ea typeface="+mn-ea"/>
              <a:cs typeface="Times New Roman" panose="02020603050405020304" pitchFamily="18" charset="0"/>
            </a:endParaRPr>
          </a:p>
        </p:txBody>
      </p:sp>
      <p:sp>
        <p:nvSpPr>
          <p:cNvPr id="5" name="矩形 4"/>
          <p:cNvSpPr/>
          <p:nvPr/>
        </p:nvSpPr>
        <p:spPr>
          <a:xfrm>
            <a:off x="1206500" y="1812925"/>
            <a:ext cx="1582738" cy="460375"/>
          </a:xfrm>
          <a:prstGeom prst="rect">
            <a:avLst/>
          </a:prstGeom>
        </p:spPr>
        <p:txBody>
          <a:bodyPr wrap="none">
            <a:spAutoFit/>
          </a:bodyPr>
          <a:lstStyle/>
          <a:p>
            <a:pPr defTabSz="1083945">
              <a:defRPr/>
            </a:pPr>
            <a:r>
              <a:rPr lang="en-US" altLang="zh-CN" sz="2400" dirty="0" err="1">
                <a:solidFill>
                  <a:srgbClr val="FF0000"/>
                </a:solidFill>
                <a:latin typeface="+mn-ea"/>
                <a:ea typeface="+mn-ea"/>
              </a:rPr>
              <a:t>min_sup</a:t>
            </a:r>
            <a:r>
              <a:rPr lang="en-US" altLang="zh-CN" sz="2400" dirty="0">
                <a:solidFill>
                  <a:srgbClr val="FF0000"/>
                </a:solidFill>
                <a:latin typeface="+mn-ea"/>
                <a:ea typeface="+mn-ea"/>
              </a:rPr>
              <a:t>=2</a:t>
            </a:r>
            <a:endParaRPr lang="zh-CN" altLang="en-US" sz="2400" dirty="0">
              <a:solidFill>
                <a:srgbClr val="FF0000"/>
              </a:solidFill>
              <a:latin typeface="+mn-ea"/>
              <a:ea typeface="+mn-ea"/>
            </a:endParaRPr>
          </a:p>
        </p:txBody>
      </p:sp>
      <p:grpSp>
        <p:nvGrpSpPr>
          <p:cNvPr id="57349" name="组合 5"/>
          <p:cNvGrpSpPr/>
          <p:nvPr/>
        </p:nvGrpSpPr>
        <p:grpSpPr bwMode="auto">
          <a:xfrm>
            <a:off x="1179513" y="2312988"/>
            <a:ext cx="1704975" cy="2541587"/>
            <a:chOff x="1102723" y="2429669"/>
            <a:chExt cx="1406830" cy="2329050"/>
          </a:xfrm>
        </p:grpSpPr>
        <p:pic>
          <p:nvPicPr>
            <p:cNvPr id="57432" name="图片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06531" y="2429669"/>
              <a:ext cx="342857" cy="140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433" name="图片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9388" y="2435701"/>
              <a:ext cx="1009524" cy="140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434" name="图片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723" y="3863481"/>
              <a:ext cx="380952" cy="895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435" name="图片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5743" y="3864588"/>
              <a:ext cx="923810" cy="866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直接连接符 10"/>
            <p:cNvCxnSpPr/>
            <p:nvPr/>
          </p:nvCxnSpPr>
          <p:spPr>
            <a:xfrm>
              <a:off x="1102723" y="4742717"/>
              <a:ext cx="1355744"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2" name="矩形 1"/>
          <p:cNvSpPr/>
          <p:nvPr/>
        </p:nvSpPr>
        <p:spPr>
          <a:xfrm>
            <a:off x="3473450" y="1966913"/>
            <a:ext cx="6954838" cy="1200150"/>
          </a:xfrm>
          <a:prstGeom prst="rect">
            <a:avLst/>
          </a:prstGeom>
        </p:spPr>
        <p:txBody>
          <a:bodyPr>
            <a:spAutoFit/>
          </a:bodyPr>
          <a:lstStyle/>
          <a:p>
            <a:pPr>
              <a:defRPr/>
            </a:pPr>
            <a:r>
              <a:rPr lang="zh-CN" altLang="en-US" sz="1800" dirty="0">
                <a:latin typeface="+mn-ea"/>
                <a:ea typeface="+mn-ea"/>
              </a:rPr>
              <a:t>第</a:t>
            </a:r>
            <a:r>
              <a:rPr lang="en-US" altLang="zh-CN" sz="1800" dirty="0">
                <a:latin typeface="+mn-ea"/>
                <a:ea typeface="+mn-ea"/>
              </a:rPr>
              <a:t>3</a:t>
            </a:r>
            <a:r>
              <a:rPr lang="zh-CN" altLang="en-US" sz="1800" dirty="0">
                <a:latin typeface="+mn-ea"/>
                <a:ea typeface="+mn-ea"/>
              </a:rPr>
              <a:t>步，</a:t>
            </a:r>
            <a:r>
              <a:rPr lang="en-US" altLang="zh-CN" sz="1800" dirty="0">
                <a:latin typeface="+mn-ea"/>
                <a:ea typeface="+mn-ea"/>
              </a:rPr>
              <a:t>FP</a:t>
            </a:r>
            <a:r>
              <a:rPr lang="zh-CN" altLang="en-US" sz="1800" dirty="0">
                <a:latin typeface="+mn-ea"/>
                <a:ea typeface="+mn-ea"/>
              </a:rPr>
              <a:t>树的挖掘。</a:t>
            </a:r>
            <a:r>
              <a:rPr lang="zh-CN" altLang="en-US" sz="1800" b="0" dirty="0">
                <a:latin typeface="+mn-ea"/>
                <a:ea typeface="+mn-ea"/>
              </a:rPr>
              <a:t>自底向上，由长度为</a:t>
            </a:r>
            <a:r>
              <a:rPr lang="en-US" altLang="zh-CN" sz="1800" b="0" dirty="0">
                <a:latin typeface="+mn-ea"/>
                <a:ea typeface="+mn-ea"/>
              </a:rPr>
              <a:t>1</a:t>
            </a:r>
            <a:r>
              <a:rPr lang="zh-CN" altLang="en-US" sz="1800" b="0" dirty="0">
                <a:latin typeface="+mn-ea"/>
                <a:ea typeface="+mn-ea"/>
              </a:rPr>
              <a:t>的频繁模式开始，构造它的</a:t>
            </a:r>
            <a:r>
              <a:rPr lang="zh-CN" altLang="en-US" sz="1800" b="0" dirty="0">
                <a:solidFill>
                  <a:srgbClr val="FF0000"/>
                </a:solidFill>
                <a:latin typeface="+mn-ea"/>
                <a:ea typeface="+mn-ea"/>
              </a:rPr>
              <a:t>条件模式基</a:t>
            </a:r>
            <a:r>
              <a:rPr lang="en-US" altLang="zh-CN" sz="1800" b="0" dirty="0">
                <a:latin typeface="+mn-ea"/>
                <a:ea typeface="+mn-ea"/>
              </a:rPr>
              <a:t>(</a:t>
            </a:r>
            <a:r>
              <a:rPr lang="zh-CN" altLang="en-US" sz="1800" b="0" dirty="0">
                <a:latin typeface="+mn-ea"/>
                <a:ea typeface="+mn-ea"/>
              </a:rPr>
              <a:t>一个子数据库，由改后缀模式与其前缀路径集组成</a:t>
            </a:r>
            <a:r>
              <a:rPr lang="en-US" altLang="zh-CN" sz="1800" b="0" dirty="0">
                <a:latin typeface="+mn-ea"/>
                <a:ea typeface="+mn-ea"/>
              </a:rPr>
              <a:t>)</a:t>
            </a:r>
            <a:r>
              <a:rPr lang="zh-CN" altLang="en-US" sz="1800" b="0" dirty="0">
                <a:latin typeface="+mn-ea"/>
                <a:ea typeface="+mn-ea"/>
              </a:rPr>
              <a:t>。然后</a:t>
            </a:r>
            <a:r>
              <a:rPr lang="zh-CN" altLang="en-US" sz="1800" b="0" dirty="0">
                <a:solidFill>
                  <a:srgbClr val="FF0000"/>
                </a:solidFill>
                <a:latin typeface="+mn-ea"/>
                <a:ea typeface="+mn-ea"/>
              </a:rPr>
              <a:t>构建它的</a:t>
            </a:r>
            <a:r>
              <a:rPr lang="en-US" altLang="zh-CN" sz="1800" b="0" dirty="0">
                <a:solidFill>
                  <a:srgbClr val="FF0000"/>
                </a:solidFill>
                <a:latin typeface="+mn-ea"/>
                <a:ea typeface="+mn-ea"/>
              </a:rPr>
              <a:t>(</a:t>
            </a:r>
            <a:r>
              <a:rPr lang="zh-CN" altLang="en-US" sz="1800" b="0" dirty="0">
                <a:solidFill>
                  <a:srgbClr val="FF0000"/>
                </a:solidFill>
                <a:latin typeface="+mn-ea"/>
                <a:ea typeface="+mn-ea"/>
              </a:rPr>
              <a:t>条件</a:t>
            </a:r>
            <a:r>
              <a:rPr lang="en-US" altLang="zh-CN" sz="1800" b="0" dirty="0">
                <a:solidFill>
                  <a:srgbClr val="FF0000"/>
                </a:solidFill>
                <a:latin typeface="+mn-ea"/>
                <a:ea typeface="+mn-ea"/>
              </a:rPr>
              <a:t>)FP</a:t>
            </a:r>
            <a:r>
              <a:rPr lang="zh-CN" altLang="en-US" sz="1800" b="0" dirty="0">
                <a:solidFill>
                  <a:srgbClr val="FF0000"/>
                </a:solidFill>
                <a:latin typeface="+mn-ea"/>
                <a:ea typeface="+mn-ea"/>
              </a:rPr>
              <a:t>树</a:t>
            </a:r>
            <a:r>
              <a:rPr lang="zh-CN" altLang="en-US" sz="1800" b="0" dirty="0">
                <a:latin typeface="+mn-ea"/>
                <a:ea typeface="+mn-ea"/>
              </a:rPr>
              <a:t>，依次递归在该树上进行挖掘。模式增长通过后缀模式与条件</a:t>
            </a:r>
            <a:r>
              <a:rPr lang="en-US" altLang="zh-CN" sz="1800" b="0" dirty="0">
                <a:latin typeface="+mn-ea"/>
                <a:ea typeface="+mn-ea"/>
              </a:rPr>
              <a:t>FP</a:t>
            </a:r>
            <a:r>
              <a:rPr lang="zh-CN" altLang="en-US" sz="1800" b="0" dirty="0">
                <a:latin typeface="+mn-ea"/>
                <a:ea typeface="+mn-ea"/>
              </a:rPr>
              <a:t>树产生的频繁模式连接实现。</a:t>
            </a:r>
            <a:endParaRPr lang="zh-CN" altLang="en-US" sz="1800" b="0" dirty="0">
              <a:latin typeface="+mn-ea"/>
              <a:ea typeface="+mn-ea"/>
            </a:endParaRPr>
          </a:p>
        </p:txBody>
      </p:sp>
      <p:pic>
        <p:nvPicPr>
          <p:cNvPr id="57351" name="图片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68400" y="5103813"/>
            <a:ext cx="1419225"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3" name="表格 12"/>
          <p:cNvGraphicFramePr>
            <a:graphicFrameLocks noGrp="1"/>
          </p:cNvGraphicFramePr>
          <p:nvPr/>
        </p:nvGraphicFramePr>
        <p:xfrm>
          <a:off x="3473450" y="4830763"/>
          <a:ext cx="1193799" cy="1854200"/>
        </p:xfrm>
        <a:graphic>
          <a:graphicData uri="http://schemas.openxmlformats.org/drawingml/2006/table">
            <a:tbl>
              <a:tblPr firstRow="1" bandRow="1">
                <a:tableStyleId>{5C22544A-7EE6-4342-B048-85BDC9FD1C3A}</a:tableStyleId>
              </a:tblPr>
              <a:tblGrid>
                <a:gridCol w="397933"/>
                <a:gridCol w="397933"/>
                <a:gridCol w="397933"/>
              </a:tblGrid>
              <a:tr h="370840">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I2</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7</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I1</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6</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I3</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6</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I4</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2</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I5</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2</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cxnSp>
        <p:nvCxnSpPr>
          <p:cNvPr id="28" name="直接箭头连接符 27"/>
          <p:cNvCxnSpPr>
            <a:stCxn id="57351" idx="3"/>
            <a:endCxn id="13" idx="1"/>
          </p:cNvCxnSpPr>
          <p:nvPr/>
        </p:nvCxnSpPr>
        <p:spPr>
          <a:xfrm flipV="1">
            <a:off x="2587625" y="5757863"/>
            <a:ext cx="885825" cy="317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57379" name="组合 28"/>
          <p:cNvGrpSpPr/>
          <p:nvPr/>
        </p:nvGrpSpPr>
        <p:grpSpPr bwMode="auto">
          <a:xfrm>
            <a:off x="7285038" y="3963988"/>
            <a:ext cx="968375" cy="366712"/>
            <a:chOff x="7285831" y="3963374"/>
            <a:chExt cx="968375" cy="367802"/>
          </a:xfrm>
        </p:grpSpPr>
        <p:sp>
          <p:nvSpPr>
            <p:cNvPr id="57430" name="Oval 5"/>
            <p:cNvSpPr>
              <a:spLocks noChangeArrowheads="1"/>
            </p:cNvSpPr>
            <p:nvPr/>
          </p:nvSpPr>
          <p:spPr bwMode="auto">
            <a:xfrm>
              <a:off x="7285831" y="4052508"/>
              <a:ext cx="228600" cy="228291"/>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400" b="0">
                <a:solidFill>
                  <a:srgbClr val="000000"/>
                </a:solidFill>
                <a:latin typeface="Tahoma" panose="020B0604030504040204" pitchFamily="34" charset="0"/>
              </a:endParaRPr>
            </a:p>
          </p:txBody>
        </p:sp>
        <p:sp>
          <p:nvSpPr>
            <p:cNvPr id="57431" name="Text Box 6"/>
            <p:cNvSpPr txBox="1">
              <a:spLocks noChangeArrowheads="1"/>
            </p:cNvSpPr>
            <p:nvPr/>
          </p:nvSpPr>
          <p:spPr bwMode="auto">
            <a:xfrm>
              <a:off x="7533481" y="3963374"/>
              <a:ext cx="720725" cy="367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null{}</a:t>
              </a:r>
              <a:endParaRPr lang="en-US" altLang="zh-CN" sz="1800" b="0">
                <a:solidFill>
                  <a:srgbClr val="000000"/>
                </a:solidFill>
                <a:latin typeface="Tahoma" panose="020B0604030504040204" pitchFamily="34" charset="0"/>
                <a:ea typeface="宋体" panose="02010600030101010101" pitchFamily="2" charset="-122"/>
              </a:endParaRPr>
            </a:p>
          </p:txBody>
        </p:sp>
      </p:grpSp>
      <p:sp>
        <p:nvSpPr>
          <p:cNvPr id="57380" name="Oval 10"/>
          <p:cNvSpPr>
            <a:spLocks noChangeArrowheads="1"/>
          </p:cNvSpPr>
          <p:nvPr/>
        </p:nvSpPr>
        <p:spPr bwMode="auto">
          <a:xfrm>
            <a:off x="6831013" y="4814888"/>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7381" name="AutoShape 11"/>
          <p:cNvCxnSpPr>
            <a:cxnSpLocks noChangeShapeType="1"/>
            <a:stCxn id="57430" idx="3"/>
            <a:endCxn id="57380" idx="7"/>
          </p:cNvCxnSpPr>
          <p:nvPr/>
        </p:nvCxnSpPr>
        <p:spPr bwMode="auto">
          <a:xfrm flipH="1">
            <a:off x="7024688" y="4248150"/>
            <a:ext cx="295275" cy="601663"/>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7382" name="Text Box 12"/>
          <p:cNvSpPr txBox="1">
            <a:spLocks noChangeArrowheads="1"/>
          </p:cNvSpPr>
          <p:nvPr/>
        </p:nvSpPr>
        <p:spPr bwMode="auto">
          <a:xfrm>
            <a:off x="6094413" y="4692650"/>
            <a:ext cx="755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I2</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7</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57383" name="Oval 14"/>
          <p:cNvSpPr>
            <a:spLocks noChangeArrowheads="1"/>
          </p:cNvSpPr>
          <p:nvPr/>
        </p:nvSpPr>
        <p:spPr bwMode="auto">
          <a:xfrm>
            <a:off x="6215063" y="5500688"/>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7384" name="AutoShape 15"/>
          <p:cNvCxnSpPr>
            <a:cxnSpLocks noChangeShapeType="1"/>
            <a:stCxn id="57380" idx="3"/>
            <a:endCxn id="57383" idx="7"/>
          </p:cNvCxnSpPr>
          <p:nvPr/>
        </p:nvCxnSpPr>
        <p:spPr bwMode="auto">
          <a:xfrm flipH="1">
            <a:off x="6410325" y="5010150"/>
            <a:ext cx="454025" cy="525463"/>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7385" name="Text Box 16"/>
          <p:cNvSpPr txBox="1">
            <a:spLocks noChangeArrowheads="1"/>
          </p:cNvSpPr>
          <p:nvPr/>
        </p:nvSpPr>
        <p:spPr bwMode="auto">
          <a:xfrm>
            <a:off x="5446713" y="5410200"/>
            <a:ext cx="754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I1</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4</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57386" name="Oval 18"/>
          <p:cNvSpPr>
            <a:spLocks noChangeArrowheads="1"/>
          </p:cNvSpPr>
          <p:nvPr/>
        </p:nvSpPr>
        <p:spPr bwMode="auto">
          <a:xfrm>
            <a:off x="5681663" y="6186488"/>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7387" name="AutoShape 19"/>
          <p:cNvCxnSpPr>
            <a:cxnSpLocks noChangeShapeType="1"/>
            <a:stCxn id="57383" idx="3"/>
            <a:endCxn id="57386" idx="7"/>
          </p:cNvCxnSpPr>
          <p:nvPr/>
        </p:nvCxnSpPr>
        <p:spPr bwMode="auto">
          <a:xfrm flipH="1">
            <a:off x="5876925" y="5695950"/>
            <a:ext cx="371475" cy="525463"/>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7388" name="Text Box 20"/>
          <p:cNvSpPr txBox="1">
            <a:spLocks noChangeArrowheads="1"/>
          </p:cNvSpPr>
          <p:nvPr/>
        </p:nvSpPr>
        <p:spPr bwMode="auto">
          <a:xfrm>
            <a:off x="4927600" y="6094413"/>
            <a:ext cx="755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I5</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1</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57389" name="Rectangle 22"/>
          <p:cNvSpPr>
            <a:spLocks noChangeArrowheads="1"/>
          </p:cNvSpPr>
          <p:nvPr/>
        </p:nvSpPr>
        <p:spPr bwMode="auto">
          <a:xfrm>
            <a:off x="5035550" y="5526088"/>
            <a:ext cx="1841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20000"/>
              </a:spcBef>
              <a:buClr>
                <a:srgbClr val="3333CC"/>
              </a:buClr>
              <a:buSzPct val="60000"/>
            </a:pPr>
            <a:endParaRPr lang="en-AU" altLang="zh-CN" sz="1600" b="0">
              <a:solidFill>
                <a:srgbClr val="000000"/>
              </a:solidFill>
              <a:latin typeface="楷体_GB2312" pitchFamily="49" charset="-122"/>
            </a:endParaRPr>
          </a:p>
        </p:txBody>
      </p:sp>
      <p:sp>
        <p:nvSpPr>
          <p:cNvPr id="57390" name="Rectangle 25"/>
          <p:cNvSpPr>
            <a:spLocks noChangeArrowheads="1"/>
          </p:cNvSpPr>
          <p:nvPr/>
        </p:nvSpPr>
        <p:spPr bwMode="auto">
          <a:xfrm>
            <a:off x="5192713" y="5160963"/>
            <a:ext cx="1841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20000"/>
              </a:spcBef>
              <a:buClr>
                <a:srgbClr val="3333CC"/>
              </a:buClr>
              <a:buSzPct val="60000"/>
            </a:pPr>
            <a:endParaRPr lang="en-AU" altLang="zh-CN" sz="1600" b="0">
              <a:solidFill>
                <a:srgbClr val="000000"/>
              </a:solidFill>
              <a:latin typeface="楷体_GB2312" pitchFamily="49" charset="-122"/>
            </a:endParaRPr>
          </a:p>
        </p:txBody>
      </p:sp>
      <p:sp>
        <p:nvSpPr>
          <p:cNvPr id="57391" name="Rectangle 28"/>
          <p:cNvSpPr>
            <a:spLocks noChangeArrowheads="1"/>
          </p:cNvSpPr>
          <p:nvPr/>
        </p:nvSpPr>
        <p:spPr bwMode="auto">
          <a:xfrm>
            <a:off x="5192713" y="4795838"/>
            <a:ext cx="1841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20000"/>
              </a:spcBef>
              <a:buClr>
                <a:srgbClr val="3333CC"/>
              </a:buClr>
              <a:buSzPct val="60000"/>
            </a:pPr>
            <a:endParaRPr lang="en-AU" altLang="zh-CN" sz="1600" b="0">
              <a:solidFill>
                <a:srgbClr val="000000"/>
              </a:solidFill>
              <a:latin typeface="楷体_GB2312" pitchFamily="49" charset="-122"/>
            </a:endParaRPr>
          </a:p>
        </p:txBody>
      </p:sp>
      <p:sp>
        <p:nvSpPr>
          <p:cNvPr id="57392" name="Rectangle 34"/>
          <p:cNvSpPr>
            <a:spLocks noChangeArrowheads="1"/>
          </p:cNvSpPr>
          <p:nvPr/>
        </p:nvSpPr>
        <p:spPr bwMode="auto">
          <a:xfrm>
            <a:off x="5192713" y="4065588"/>
            <a:ext cx="1841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20000"/>
              </a:spcBef>
              <a:buClr>
                <a:srgbClr val="3333CC"/>
              </a:buClr>
              <a:buSzPct val="60000"/>
            </a:pPr>
            <a:endParaRPr lang="en-AU" altLang="zh-CN" sz="1600" b="0">
              <a:solidFill>
                <a:srgbClr val="000000"/>
              </a:solidFill>
              <a:latin typeface="楷体_GB2312" pitchFamily="49" charset="-122"/>
            </a:endParaRPr>
          </a:p>
        </p:txBody>
      </p:sp>
      <p:sp>
        <p:nvSpPr>
          <p:cNvPr id="57393" name="Oval 45"/>
          <p:cNvSpPr>
            <a:spLocks noChangeArrowheads="1"/>
          </p:cNvSpPr>
          <p:nvPr/>
        </p:nvSpPr>
        <p:spPr bwMode="auto">
          <a:xfrm>
            <a:off x="7589838" y="5502275"/>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7394" name="AutoShape 46"/>
          <p:cNvCxnSpPr>
            <a:cxnSpLocks noChangeShapeType="1"/>
            <a:stCxn id="57380" idx="5"/>
            <a:endCxn id="57393" idx="1"/>
          </p:cNvCxnSpPr>
          <p:nvPr/>
        </p:nvCxnSpPr>
        <p:spPr bwMode="auto">
          <a:xfrm>
            <a:off x="7024688" y="5010150"/>
            <a:ext cx="598487" cy="525463"/>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7395" name="Text Box 47"/>
          <p:cNvSpPr txBox="1">
            <a:spLocks noChangeArrowheads="1"/>
          </p:cNvSpPr>
          <p:nvPr/>
        </p:nvSpPr>
        <p:spPr bwMode="auto">
          <a:xfrm>
            <a:off x="7840663" y="5427663"/>
            <a:ext cx="755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I4</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1</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57396" name="Oval 45"/>
          <p:cNvSpPr>
            <a:spLocks noChangeArrowheads="1"/>
          </p:cNvSpPr>
          <p:nvPr/>
        </p:nvSpPr>
        <p:spPr bwMode="auto">
          <a:xfrm>
            <a:off x="6726238" y="5489575"/>
            <a:ext cx="228600" cy="238125"/>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7397" name="AutoShape 46"/>
          <p:cNvCxnSpPr>
            <a:cxnSpLocks noChangeShapeType="1"/>
            <a:stCxn id="57380" idx="4"/>
            <a:endCxn id="57396" idx="0"/>
          </p:cNvCxnSpPr>
          <p:nvPr/>
        </p:nvCxnSpPr>
        <p:spPr bwMode="auto">
          <a:xfrm flipH="1">
            <a:off x="6840538" y="5043488"/>
            <a:ext cx="104775" cy="446087"/>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7398" name="Text Box 47"/>
          <p:cNvSpPr txBox="1">
            <a:spLocks noChangeArrowheads="1"/>
          </p:cNvSpPr>
          <p:nvPr/>
        </p:nvSpPr>
        <p:spPr bwMode="auto">
          <a:xfrm>
            <a:off x="6878638" y="5287963"/>
            <a:ext cx="6064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I3:</a:t>
            </a:r>
            <a:r>
              <a:rPr lang="en-US" altLang="zh-CN" sz="1800" b="0">
                <a:solidFill>
                  <a:srgbClr val="FF0000"/>
                </a:solidFill>
                <a:latin typeface="Tahoma" panose="020B0604030504040204" pitchFamily="34" charset="0"/>
                <a:ea typeface="宋体" panose="02010600030101010101" pitchFamily="2" charset="-122"/>
              </a:rPr>
              <a:t>2</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57399" name="Oval 45"/>
          <p:cNvSpPr>
            <a:spLocks noChangeArrowheads="1"/>
          </p:cNvSpPr>
          <p:nvPr/>
        </p:nvSpPr>
        <p:spPr bwMode="auto">
          <a:xfrm>
            <a:off x="6845300" y="6175375"/>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7400" name="AutoShape 46"/>
          <p:cNvCxnSpPr>
            <a:cxnSpLocks noChangeShapeType="1"/>
            <a:stCxn id="57380" idx="4"/>
            <a:endCxn id="57399" idx="1"/>
          </p:cNvCxnSpPr>
          <p:nvPr/>
        </p:nvCxnSpPr>
        <p:spPr bwMode="auto">
          <a:xfrm>
            <a:off x="6434138" y="5681663"/>
            <a:ext cx="444500" cy="52705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7401" name="Text Box 47"/>
          <p:cNvSpPr txBox="1">
            <a:spLocks noChangeArrowheads="1"/>
          </p:cNvSpPr>
          <p:nvPr/>
        </p:nvSpPr>
        <p:spPr bwMode="auto">
          <a:xfrm>
            <a:off x="7064375" y="6105525"/>
            <a:ext cx="755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I4</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1</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57402" name="Oval 45"/>
          <p:cNvSpPr>
            <a:spLocks noChangeArrowheads="1"/>
          </p:cNvSpPr>
          <p:nvPr/>
        </p:nvSpPr>
        <p:spPr bwMode="auto">
          <a:xfrm>
            <a:off x="6223000" y="6170613"/>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7403" name="AutoShape 46"/>
          <p:cNvCxnSpPr>
            <a:cxnSpLocks noChangeShapeType="1"/>
            <a:stCxn id="57383" idx="4"/>
            <a:endCxn id="57402" idx="0"/>
          </p:cNvCxnSpPr>
          <p:nvPr/>
        </p:nvCxnSpPr>
        <p:spPr bwMode="auto">
          <a:xfrm>
            <a:off x="6329363" y="5729288"/>
            <a:ext cx="7937" cy="441325"/>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7404" name="Text Box 47"/>
          <p:cNvSpPr txBox="1">
            <a:spLocks noChangeArrowheads="1"/>
          </p:cNvSpPr>
          <p:nvPr/>
        </p:nvSpPr>
        <p:spPr bwMode="auto">
          <a:xfrm>
            <a:off x="5861050" y="6383338"/>
            <a:ext cx="6048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I3:</a:t>
            </a:r>
            <a:r>
              <a:rPr lang="en-US" altLang="zh-CN" sz="1800" b="0">
                <a:solidFill>
                  <a:srgbClr val="FF0000"/>
                </a:solidFill>
                <a:latin typeface="Tahoma" panose="020B0604030504040204" pitchFamily="34" charset="0"/>
                <a:ea typeface="宋体" panose="02010600030101010101" pitchFamily="2" charset="-122"/>
              </a:rPr>
              <a:t>2</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57405" name="Oval 45"/>
          <p:cNvSpPr>
            <a:spLocks noChangeArrowheads="1"/>
          </p:cNvSpPr>
          <p:nvPr/>
        </p:nvSpPr>
        <p:spPr bwMode="auto">
          <a:xfrm>
            <a:off x="6542088" y="6842125"/>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7406" name="AutoShape 46"/>
          <p:cNvCxnSpPr>
            <a:cxnSpLocks noChangeShapeType="1"/>
            <a:stCxn id="57402" idx="4"/>
            <a:endCxn id="57405" idx="1"/>
          </p:cNvCxnSpPr>
          <p:nvPr/>
        </p:nvCxnSpPr>
        <p:spPr bwMode="auto">
          <a:xfrm>
            <a:off x="6337300" y="6399213"/>
            <a:ext cx="239713" cy="47625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7407" name="Text Box 47"/>
          <p:cNvSpPr txBox="1">
            <a:spLocks noChangeArrowheads="1"/>
          </p:cNvSpPr>
          <p:nvPr/>
        </p:nvSpPr>
        <p:spPr bwMode="auto">
          <a:xfrm>
            <a:off x="6792913" y="6765925"/>
            <a:ext cx="755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I5</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1</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57408" name="Oval 45"/>
          <p:cNvSpPr>
            <a:spLocks noChangeArrowheads="1"/>
          </p:cNvSpPr>
          <p:nvPr/>
        </p:nvSpPr>
        <p:spPr bwMode="auto">
          <a:xfrm>
            <a:off x="8013700" y="4754563"/>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7409" name="AutoShape 46"/>
          <p:cNvCxnSpPr>
            <a:cxnSpLocks noChangeShapeType="1"/>
            <a:stCxn id="57430" idx="5"/>
            <a:endCxn id="57408" idx="1"/>
          </p:cNvCxnSpPr>
          <p:nvPr/>
        </p:nvCxnSpPr>
        <p:spPr bwMode="auto">
          <a:xfrm>
            <a:off x="7480300" y="4248150"/>
            <a:ext cx="566738" cy="53975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7410" name="Text Box 47"/>
          <p:cNvSpPr txBox="1">
            <a:spLocks noChangeArrowheads="1"/>
          </p:cNvSpPr>
          <p:nvPr/>
        </p:nvSpPr>
        <p:spPr bwMode="auto">
          <a:xfrm>
            <a:off x="8264525" y="4679950"/>
            <a:ext cx="755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I1</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2</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57411" name="Oval 45"/>
          <p:cNvSpPr>
            <a:spLocks noChangeArrowheads="1"/>
          </p:cNvSpPr>
          <p:nvPr/>
        </p:nvSpPr>
        <p:spPr bwMode="auto">
          <a:xfrm>
            <a:off x="8769350" y="5467350"/>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7412" name="AutoShape 46"/>
          <p:cNvCxnSpPr>
            <a:cxnSpLocks noChangeShapeType="1"/>
            <a:stCxn id="57408" idx="5"/>
            <a:endCxn id="57411" idx="1"/>
          </p:cNvCxnSpPr>
          <p:nvPr/>
        </p:nvCxnSpPr>
        <p:spPr bwMode="auto">
          <a:xfrm>
            <a:off x="8208963" y="4949825"/>
            <a:ext cx="593725" cy="550863"/>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7413" name="Text Box 47"/>
          <p:cNvSpPr txBox="1">
            <a:spLocks noChangeArrowheads="1"/>
          </p:cNvSpPr>
          <p:nvPr/>
        </p:nvSpPr>
        <p:spPr bwMode="auto">
          <a:xfrm>
            <a:off x="9020175" y="5392738"/>
            <a:ext cx="755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I3</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2</a:t>
            </a:r>
            <a:endParaRPr lang="en-US" altLang="zh-CN" sz="1800" b="0">
              <a:solidFill>
                <a:srgbClr val="FF0000"/>
              </a:solidFill>
              <a:latin typeface="Tahoma" panose="020B0604030504040204" pitchFamily="34" charset="0"/>
              <a:ea typeface="宋体" panose="02010600030101010101" pitchFamily="2" charset="-122"/>
            </a:endParaRPr>
          </a:p>
        </p:txBody>
      </p:sp>
      <p:cxnSp>
        <p:nvCxnSpPr>
          <p:cNvPr id="57414" name="AutoShape 42"/>
          <p:cNvCxnSpPr>
            <a:cxnSpLocks noChangeShapeType="1"/>
            <a:stCxn id="57408" idx="5"/>
            <a:endCxn id="57380" idx="3"/>
          </p:cNvCxnSpPr>
          <p:nvPr/>
        </p:nvCxnSpPr>
        <p:spPr bwMode="auto">
          <a:xfrm flipV="1">
            <a:off x="4486275" y="5010150"/>
            <a:ext cx="2378075" cy="50800"/>
          </a:xfrm>
          <a:prstGeom prst="curvedConnector2">
            <a:avLst/>
          </a:prstGeom>
          <a:noFill/>
          <a:ln w="9525">
            <a:solidFill>
              <a:srgbClr val="B3A2C7"/>
            </a:solidFill>
            <a:prstDash val="lgDash"/>
            <a:round/>
            <a:tailEnd type="triangle" w="med" len="med"/>
          </a:ln>
          <a:extLst>
            <a:ext uri="{909E8E84-426E-40DD-AFC4-6F175D3DCCD1}">
              <a14:hiddenFill xmlns:a14="http://schemas.microsoft.com/office/drawing/2010/main">
                <a:noFill/>
              </a14:hiddenFill>
            </a:ext>
          </a:extLst>
        </p:spPr>
      </p:cxnSp>
      <p:cxnSp>
        <p:nvCxnSpPr>
          <p:cNvPr id="57415" name="AutoShape 42"/>
          <p:cNvCxnSpPr>
            <a:cxnSpLocks noChangeShapeType="1"/>
            <a:stCxn id="57408" idx="5"/>
            <a:endCxn id="57383" idx="1"/>
          </p:cNvCxnSpPr>
          <p:nvPr/>
        </p:nvCxnSpPr>
        <p:spPr bwMode="auto">
          <a:xfrm>
            <a:off x="4486275" y="5427663"/>
            <a:ext cx="1762125" cy="107950"/>
          </a:xfrm>
          <a:prstGeom prst="curvedConnector2">
            <a:avLst/>
          </a:prstGeom>
          <a:noFill/>
          <a:ln w="9525">
            <a:solidFill>
              <a:srgbClr val="B3A2C7"/>
            </a:solidFill>
            <a:prstDash val="lgDash"/>
            <a:round/>
            <a:tailEnd type="triangle" w="med" len="med"/>
          </a:ln>
          <a:extLst>
            <a:ext uri="{909E8E84-426E-40DD-AFC4-6F175D3DCCD1}">
              <a14:hiddenFill xmlns:a14="http://schemas.microsoft.com/office/drawing/2010/main">
                <a:noFill/>
              </a14:hiddenFill>
            </a:ext>
          </a:extLst>
        </p:spPr>
      </p:cxnSp>
      <p:cxnSp>
        <p:nvCxnSpPr>
          <p:cNvPr id="27" name="直接箭头连接符 26"/>
          <p:cNvCxnSpPr>
            <a:stCxn id="57383" idx="6"/>
            <a:endCxn id="57408" idx="2"/>
          </p:cNvCxnSpPr>
          <p:nvPr/>
        </p:nvCxnSpPr>
        <p:spPr>
          <a:xfrm flipV="1">
            <a:off x="6443663" y="4868863"/>
            <a:ext cx="1570037" cy="746125"/>
          </a:xfrm>
          <a:prstGeom prst="straightConnector1">
            <a:avLst/>
          </a:prstGeom>
          <a:ln>
            <a:solidFill>
              <a:schemeClr val="accent4">
                <a:lumMod val="60000"/>
                <a:lumOff val="40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57417" name="AutoShape 42"/>
          <p:cNvCxnSpPr>
            <a:cxnSpLocks noChangeShapeType="1"/>
            <a:stCxn id="57383" idx="6"/>
            <a:endCxn id="57402" idx="1"/>
          </p:cNvCxnSpPr>
          <p:nvPr/>
        </p:nvCxnSpPr>
        <p:spPr bwMode="auto">
          <a:xfrm>
            <a:off x="4484688" y="5784850"/>
            <a:ext cx="1771650" cy="419100"/>
          </a:xfrm>
          <a:prstGeom prst="curvedConnector2">
            <a:avLst/>
          </a:prstGeom>
          <a:noFill/>
          <a:ln w="9525">
            <a:solidFill>
              <a:srgbClr val="B3A2C7"/>
            </a:solidFill>
            <a:prstDash val="lgDash"/>
            <a:round/>
            <a:tailEnd type="triangle" w="med" len="med"/>
          </a:ln>
          <a:extLst>
            <a:ext uri="{909E8E84-426E-40DD-AFC4-6F175D3DCCD1}">
              <a14:hiddenFill xmlns:a14="http://schemas.microsoft.com/office/drawing/2010/main">
                <a:noFill/>
              </a14:hiddenFill>
            </a:ext>
          </a:extLst>
        </p:spPr>
      </p:cxnSp>
      <p:cxnSp>
        <p:nvCxnSpPr>
          <p:cNvPr id="57418" name="AutoShape 42"/>
          <p:cNvCxnSpPr>
            <a:cxnSpLocks noChangeShapeType="1"/>
            <a:stCxn id="57402" idx="6"/>
            <a:endCxn id="57396" idx="3"/>
          </p:cNvCxnSpPr>
          <p:nvPr/>
        </p:nvCxnSpPr>
        <p:spPr bwMode="auto">
          <a:xfrm flipV="1">
            <a:off x="6451600" y="5692775"/>
            <a:ext cx="307975" cy="592138"/>
          </a:xfrm>
          <a:prstGeom prst="curvedConnector2">
            <a:avLst/>
          </a:prstGeom>
          <a:noFill/>
          <a:ln w="9525">
            <a:solidFill>
              <a:srgbClr val="B3A2C7"/>
            </a:solidFill>
            <a:prstDash val="lgDash"/>
            <a:round/>
            <a:tailEnd type="triangle" w="med" len="med"/>
          </a:ln>
          <a:extLst>
            <a:ext uri="{909E8E84-426E-40DD-AFC4-6F175D3DCCD1}">
              <a14:hiddenFill xmlns:a14="http://schemas.microsoft.com/office/drawing/2010/main">
                <a:noFill/>
              </a14:hiddenFill>
            </a:ext>
          </a:extLst>
        </p:spPr>
      </p:cxnSp>
      <p:cxnSp>
        <p:nvCxnSpPr>
          <p:cNvPr id="81" name="AutoShape 42"/>
          <p:cNvCxnSpPr>
            <a:cxnSpLocks noChangeShapeType="1"/>
            <a:stCxn id="57396" idx="5"/>
            <a:endCxn id="57411" idx="4"/>
          </p:cNvCxnSpPr>
          <p:nvPr/>
        </p:nvCxnSpPr>
        <p:spPr bwMode="auto">
          <a:xfrm rot="16200000" flipH="1">
            <a:off x="7900987" y="4713288"/>
            <a:ext cx="3175" cy="1962150"/>
          </a:xfrm>
          <a:prstGeom prst="curvedConnector3">
            <a:avLst>
              <a:gd name="adj1" fmla="val 7413273"/>
            </a:avLst>
          </a:prstGeom>
          <a:noFill/>
          <a:ln w="9525">
            <a:solidFill>
              <a:schemeClr val="accent4">
                <a:lumMod val="60000"/>
                <a:lumOff val="40000"/>
              </a:schemeClr>
            </a:solidFill>
            <a:prstDash val="lg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AutoShape 42"/>
          <p:cNvCxnSpPr>
            <a:cxnSpLocks noChangeShapeType="1"/>
            <a:stCxn id="57396" idx="5"/>
            <a:endCxn id="57399" idx="4"/>
          </p:cNvCxnSpPr>
          <p:nvPr/>
        </p:nvCxnSpPr>
        <p:spPr bwMode="auto">
          <a:xfrm>
            <a:off x="4486275" y="6129338"/>
            <a:ext cx="2473325" cy="274637"/>
          </a:xfrm>
          <a:prstGeom prst="curvedConnector4">
            <a:avLst>
              <a:gd name="adj1" fmla="val 19958"/>
              <a:gd name="adj2" fmla="val 233466"/>
            </a:avLst>
          </a:prstGeom>
          <a:noFill/>
          <a:ln w="9525">
            <a:solidFill>
              <a:schemeClr val="accent4">
                <a:lumMod val="60000"/>
                <a:lumOff val="40000"/>
              </a:schemeClr>
            </a:solidFill>
            <a:prstDash val="lg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AutoShape 42"/>
          <p:cNvCxnSpPr>
            <a:cxnSpLocks noChangeShapeType="1"/>
            <a:stCxn id="57399" idx="7"/>
            <a:endCxn id="57393" idx="4"/>
          </p:cNvCxnSpPr>
          <p:nvPr/>
        </p:nvCxnSpPr>
        <p:spPr bwMode="auto">
          <a:xfrm rot="5400000" flipH="1" flipV="1">
            <a:off x="7133432" y="5638006"/>
            <a:ext cx="477838" cy="663575"/>
          </a:xfrm>
          <a:prstGeom prst="curvedConnector3">
            <a:avLst>
              <a:gd name="adj1" fmla="val 50000"/>
            </a:avLst>
          </a:prstGeom>
          <a:noFill/>
          <a:ln w="9525">
            <a:solidFill>
              <a:schemeClr val="accent4">
                <a:lumMod val="60000"/>
                <a:lumOff val="40000"/>
              </a:schemeClr>
            </a:solidFill>
            <a:prstDash val="lg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422" name="AutoShape 42"/>
          <p:cNvCxnSpPr>
            <a:cxnSpLocks noChangeShapeType="1"/>
            <a:stCxn id="57399" idx="7"/>
            <a:endCxn id="57386" idx="3"/>
          </p:cNvCxnSpPr>
          <p:nvPr/>
        </p:nvCxnSpPr>
        <p:spPr bwMode="auto">
          <a:xfrm flipV="1">
            <a:off x="4486275" y="6381750"/>
            <a:ext cx="1228725" cy="127000"/>
          </a:xfrm>
          <a:prstGeom prst="curvedConnector2">
            <a:avLst/>
          </a:prstGeom>
          <a:noFill/>
          <a:ln w="9525">
            <a:solidFill>
              <a:srgbClr val="B3A2C7"/>
            </a:solidFill>
            <a:prstDash val="lgDash"/>
            <a:round/>
            <a:tailEnd type="triangle" w="med" len="med"/>
          </a:ln>
          <a:extLst>
            <a:ext uri="{909E8E84-426E-40DD-AFC4-6F175D3DCCD1}">
              <a14:hiddenFill xmlns:a14="http://schemas.microsoft.com/office/drawing/2010/main">
                <a:noFill/>
              </a14:hiddenFill>
            </a:ext>
          </a:extLst>
        </p:spPr>
      </p:cxnSp>
      <p:cxnSp>
        <p:nvCxnSpPr>
          <p:cNvPr id="57423" name="AutoShape 42"/>
          <p:cNvCxnSpPr>
            <a:cxnSpLocks noChangeShapeType="1"/>
            <a:stCxn id="57386" idx="4"/>
            <a:endCxn id="57405" idx="2"/>
          </p:cNvCxnSpPr>
          <p:nvPr/>
        </p:nvCxnSpPr>
        <p:spPr bwMode="auto">
          <a:xfrm rot="16200000" flipH="1">
            <a:off x="5894388" y="6310313"/>
            <a:ext cx="542925" cy="746125"/>
          </a:xfrm>
          <a:prstGeom prst="curvedConnector2">
            <a:avLst/>
          </a:prstGeom>
          <a:noFill/>
          <a:ln w="9525">
            <a:solidFill>
              <a:srgbClr val="B3A2C7"/>
            </a:solidFill>
            <a:prstDash val="lgDash"/>
            <a:round/>
            <a:tailEnd type="triangle" w="med" len="med"/>
          </a:ln>
          <a:extLst>
            <a:ext uri="{909E8E84-426E-40DD-AFC4-6F175D3DCCD1}">
              <a14:hiddenFill xmlns:a14="http://schemas.microsoft.com/office/drawing/2010/main">
                <a:noFill/>
              </a14:hiddenFill>
            </a:ext>
          </a:extLst>
        </p:spPr>
      </p:cxnSp>
      <p:sp>
        <p:nvSpPr>
          <p:cNvPr id="103" name="矩形 102"/>
          <p:cNvSpPr/>
          <p:nvPr/>
        </p:nvSpPr>
        <p:spPr>
          <a:xfrm>
            <a:off x="4403725" y="4311650"/>
            <a:ext cx="804863" cy="338138"/>
          </a:xfrm>
          <a:prstGeom prst="rect">
            <a:avLst/>
          </a:prstGeom>
        </p:spPr>
        <p:txBody>
          <a:bodyPr wrap="none">
            <a:spAutoFit/>
          </a:bodyPr>
          <a:lstStyle/>
          <a:p>
            <a:pPr>
              <a:defRPr/>
            </a:pPr>
            <a:r>
              <a:rPr lang="zh-CN" altLang="en-US" sz="1600" b="0" dirty="0">
                <a:solidFill>
                  <a:srgbClr val="0000FF"/>
                </a:solidFill>
                <a:latin typeface="+mn-ea"/>
                <a:ea typeface="+mn-ea"/>
              </a:rPr>
              <a:t>结点链</a:t>
            </a:r>
            <a:endParaRPr lang="zh-CN" altLang="en-US" b="0" dirty="0">
              <a:solidFill>
                <a:srgbClr val="0000FF"/>
              </a:solidFill>
              <a:latin typeface="+mn-ea"/>
              <a:ea typeface="+mn-ea"/>
            </a:endParaRPr>
          </a:p>
        </p:txBody>
      </p:sp>
      <p:sp>
        <p:nvSpPr>
          <p:cNvPr id="105" name="矩形 104"/>
          <p:cNvSpPr/>
          <p:nvPr/>
        </p:nvSpPr>
        <p:spPr>
          <a:xfrm>
            <a:off x="3570288" y="4065588"/>
            <a:ext cx="877887" cy="584200"/>
          </a:xfrm>
          <a:prstGeom prst="rect">
            <a:avLst/>
          </a:prstGeom>
        </p:spPr>
        <p:txBody>
          <a:bodyPr>
            <a:spAutoFit/>
          </a:bodyPr>
          <a:lstStyle/>
          <a:p>
            <a:pPr algn="ctr">
              <a:defRPr/>
            </a:pPr>
            <a:r>
              <a:rPr lang="zh-CN" altLang="en-US" sz="1600" b="0" dirty="0">
                <a:solidFill>
                  <a:srgbClr val="0000FF"/>
                </a:solidFill>
                <a:latin typeface="+mn-ea"/>
                <a:ea typeface="+mn-ea"/>
              </a:rPr>
              <a:t>支持度计数</a:t>
            </a:r>
            <a:endParaRPr lang="zh-CN" altLang="en-US" b="0" dirty="0">
              <a:solidFill>
                <a:srgbClr val="0000FF"/>
              </a:solidFill>
              <a:latin typeface="+mn-ea"/>
              <a:ea typeface="+mn-ea"/>
            </a:endParaRPr>
          </a:p>
        </p:txBody>
      </p:sp>
      <p:sp>
        <p:nvSpPr>
          <p:cNvPr id="106" name="矩形 105"/>
          <p:cNvSpPr/>
          <p:nvPr/>
        </p:nvSpPr>
        <p:spPr>
          <a:xfrm>
            <a:off x="2940050" y="4327525"/>
            <a:ext cx="846138" cy="322263"/>
          </a:xfrm>
          <a:prstGeom prst="rect">
            <a:avLst/>
          </a:prstGeom>
        </p:spPr>
        <p:txBody>
          <a:bodyPr>
            <a:spAutoFit/>
          </a:bodyPr>
          <a:lstStyle/>
          <a:p>
            <a:pPr>
              <a:defRPr/>
            </a:pPr>
            <a:r>
              <a:rPr lang="zh-CN" altLang="en-US" b="0" dirty="0">
                <a:solidFill>
                  <a:srgbClr val="0000FF"/>
                </a:solidFill>
                <a:latin typeface="+mn-ea"/>
                <a:ea typeface="+mn-ea"/>
              </a:rPr>
              <a:t>项</a:t>
            </a:r>
            <a:r>
              <a:rPr lang="en-US" altLang="zh-CN" b="0" dirty="0">
                <a:solidFill>
                  <a:srgbClr val="0000FF"/>
                </a:solidFill>
                <a:latin typeface="+mn-ea"/>
                <a:ea typeface="+mn-ea"/>
              </a:rPr>
              <a:t>ID</a:t>
            </a:r>
            <a:endParaRPr lang="zh-CN" altLang="en-US" b="0" dirty="0">
              <a:solidFill>
                <a:srgbClr val="0000FF"/>
              </a:solidFill>
              <a:latin typeface="+mn-ea"/>
              <a:ea typeface="+mn-ea"/>
            </a:endParaRPr>
          </a:p>
        </p:txBody>
      </p:sp>
      <p:cxnSp>
        <p:nvCxnSpPr>
          <p:cNvPr id="107" name="直接箭头连接符 106"/>
          <p:cNvCxnSpPr>
            <a:stCxn id="106" idx="2"/>
            <a:endCxn id="57405" idx="2"/>
          </p:cNvCxnSpPr>
          <p:nvPr/>
        </p:nvCxnSpPr>
        <p:spPr>
          <a:xfrm>
            <a:off x="3363913" y="4649788"/>
            <a:ext cx="206375" cy="1381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9" name="直接箭头连接符 108"/>
          <p:cNvCxnSpPr>
            <a:stCxn id="105" idx="2"/>
            <a:endCxn id="13" idx="0"/>
          </p:cNvCxnSpPr>
          <p:nvPr/>
        </p:nvCxnSpPr>
        <p:spPr>
          <a:xfrm>
            <a:off x="4009232" y="4649788"/>
            <a:ext cx="61117" cy="1809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直接箭头连接符 67"/>
          <p:cNvCxnSpPr/>
          <p:nvPr/>
        </p:nvCxnSpPr>
        <p:spPr>
          <a:xfrm flipH="1">
            <a:off x="4403725" y="4633119"/>
            <a:ext cx="402432" cy="200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a:t>
            </a:r>
            <a:r>
              <a:rPr lang="en-US" altLang="zh-CN" sz="4400" dirty="0">
                <a:latin typeface="楷体" panose="02010609060101010101" pitchFamily="49" charset="-122"/>
                <a:ea typeface="楷体" panose="02010609060101010101" pitchFamily="49" charset="-122"/>
              </a:rPr>
              <a:t>6.2 </a:t>
            </a:r>
            <a:r>
              <a:rPr lang="zh-CN" altLang="en-US" sz="4400" dirty="0">
                <a:latin typeface="楷体" panose="02010609060101010101" pitchFamily="49" charset="-122"/>
                <a:ea typeface="楷体" panose="02010609060101010101" pitchFamily="49" charset="-122"/>
              </a:rPr>
              <a:t>频繁项集挖掘方法</a:t>
            </a:r>
            <a:endParaRPr lang="zh-CN" altLang="en-US" sz="4400" dirty="0">
              <a:latin typeface="楷体" panose="02010609060101010101" pitchFamily="49" charset="-122"/>
              <a:ea typeface="楷体" panose="02010609060101010101" pitchFamily="49" charset="-122"/>
            </a:endParaRPr>
          </a:p>
        </p:txBody>
      </p:sp>
      <p:sp>
        <p:nvSpPr>
          <p:cNvPr id="4" name="Rectangle 3"/>
          <p:cNvSpPr>
            <a:spLocks noGrp="1" noChangeArrowheads="1"/>
          </p:cNvSpPr>
          <p:nvPr>
            <p:ph idx="1"/>
          </p:nvPr>
        </p:nvSpPr>
        <p:spPr>
          <a:xfrm>
            <a:off x="522288" y="1160463"/>
            <a:ext cx="9906000" cy="806450"/>
          </a:xfrm>
        </p:spPr>
        <p:txBody>
          <a:bodyPr/>
          <a:lstStyle/>
          <a:p>
            <a:pPr marL="0" indent="0" defTabSz="868680" eaLnBrk="1" hangingPunct="1">
              <a:buFont typeface="Arial" panose="020B0604020202020204" pitchFamily="34" charset="0"/>
              <a:buNone/>
              <a:defRPr/>
            </a:pPr>
            <a:r>
              <a:rPr lang="en-US" altLang="zh-CN" sz="2400" b="1" dirty="0">
                <a:solidFill>
                  <a:srgbClr val="0000FF"/>
                </a:solidFill>
                <a:latin typeface="+mn-ea"/>
                <a:ea typeface="+mn-ea"/>
                <a:cs typeface="Times New Roman" panose="02020603050405020304" pitchFamily="18" charset="0"/>
              </a:rPr>
              <a:t>4</a:t>
            </a:r>
            <a:r>
              <a:rPr lang="zh-CN" altLang="en-US" sz="2400" b="1" dirty="0">
                <a:solidFill>
                  <a:srgbClr val="0000FF"/>
                </a:solidFill>
                <a:latin typeface="+mn-ea"/>
                <a:ea typeface="+mn-ea"/>
                <a:cs typeface="Times New Roman" panose="02020603050405020304" pitchFamily="18" charset="0"/>
              </a:rPr>
              <a:t>、挖掘频繁项集的模式增长方法</a:t>
            </a:r>
            <a:endParaRPr lang="en-US" altLang="zh-CN" sz="2400" b="1" dirty="0">
              <a:solidFill>
                <a:srgbClr val="0000FF"/>
              </a:solidFill>
              <a:latin typeface="+mn-ea"/>
              <a:ea typeface="+mn-ea"/>
              <a:cs typeface="Times New Roman" panose="02020603050405020304" pitchFamily="18" charset="0"/>
            </a:endParaRPr>
          </a:p>
          <a:p>
            <a:pPr marL="0" indent="0" defTabSz="868680" eaLnBrk="1" hangingPunct="1">
              <a:buFont typeface="Arial" panose="020B0604020202020204" pitchFamily="34" charset="0"/>
              <a:buNone/>
              <a:defRPr/>
            </a:pPr>
            <a:r>
              <a:rPr lang="zh-CN" altLang="en-US" sz="2400" b="1" dirty="0">
                <a:latin typeface="+mn-ea"/>
                <a:ea typeface="+mn-ea"/>
                <a:cs typeface="Times New Roman" panose="02020603050405020304" pitchFamily="18" charset="0"/>
              </a:rPr>
              <a:t>例：</a:t>
            </a:r>
            <a:endParaRPr lang="zh-CN" altLang="en-US" sz="2400" b="1" dirty="0">
              <a:latin typeface="+mn-ea"/>
              <a:ea typeface="+mn-ea"/>
              <a:cs typeface="Times New Roman" panose="02020603050405020304" pitchFamily="18" charset="0"/>
            </a:endParaRPr>
          </a:p>
        </p:txBody>
      </p:sp>
      <p:pic>
        <p:nvPicPr>
          <p:cNvPr id="59396" name="图片 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68400" y="5103813"/>
            <a:ext cx="1419225"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3" name="表格 12"/>
          <p:cNvGraphicFramePr>
            <a:graphicFrameLocks noGrp="1"/>
          </p:cNvGraphicFramePr>
          <p:nvPr/>
        </p:nvGraphicFramePr>
        <p:xfrm>
          <a:off x="3473450" y="4830763"/>
          <a:ext cx="1193799" cy="1854200"/>
        </p:xfrm>
        <a:graphic>
          <a:graphicData uri="http://schemas.openxmlformats.org/drawingml/2006/table">
            <a:tbl>
              <a:tblPr firstRow="1" bandRow="1">
                <a:tableStyleId>{5C22544A-7EE6-4342-B048-85BDC9FD1C3A}</a:tableStyleId>
              </a:tblPr>
              <a:tblGrid>
                <a:gridCol w="397933"/>
                <a:gridCol w="397933"/>
                <a:gridCol w="397933"/>
              </a:tblGrid>
              <a:tr h="370840">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I2</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7</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I1</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6</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I3</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6</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I4</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2</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I5</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2</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cxnSp>
        <p:nvCxnSpPr>
          <p:cNvPr id="28" name="直接箭头连接符 27"/>
          <p:cNvCxnSpPr>
            <a:stCxn id="59396" idx="3"/>
            <a:endCxn id="13" idx="1"/>
          </p:cNvCxnSpPr>
          <p:nvPr/>
        </p:nvCxnSpPr>
        <p:spPr>
          <a:xfrm flipV="1">
            <a:off x="2587625" y="5757863"/>
            <a:ext cx="885825" cy="317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59424" name="组合 28"/>
          <p:cNvGrpSpPr/>
          <p:nvPr/>
        </p:nvGrpSpPr>
        <p:grpSpPr bwMode="auto">
          <a:xfrm>
            <a:off x="7285038" y="3963988"/>
            <a:ext cx="968375" cy="366712"/>
            <a:chOff x="7285831" y="3963374"/>
            <a:chExt cx="968375" cy="367802"/>
          </a:xfrm>
        </p:grpSpPr>
        <p:sp>
          <p:nvSpPr>
            <p:cNvPr id="59501" name="Oval 5"/>
            <p:cNvSpPr>
              <a:spLocks noChangeArrowheads="1"/>
            </p:cNvSpPr>
            <p:nvPr/>
          </p:nvSpPr>
          <p:spPr bwMode="auto">
            <a:xfrm>
              <a:off x="7285831" y="4052508"/>
              <a:ext cx="228600" cy="228291"/>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400" b="0">
                <a:solidFill>
                  <a:srgbClr val="000000"/>
                </a:solidFill>
                <a:latin typeface="Tahoma" panose="020B0604030504040204" pitchFamily="34" charset="0"/>
              </a:endParaRPr>
            </a:p>
          </p:txBody>
        </p:sp>
        <p:sp>
          <p:nvSpPr>
            <p:cNvPr id="59502" name="Text Box 6"/>
            <p:cNvSpPr txBox="1">
              <a:spLocks noChangeArrowheads="1"/>
            </p:cNvSpPr>
            <p:nvPr/>
          </p:nvSpPr>
          <p:spPr bwMode="auto">
            <a:xfrm>
              <a:off x="7533481" y="3963374"/>
              <a:ext cx="720725" cy="367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null{}</a:t>
              </a:r>
              <a:endParaRPr lang="en-US" altLang="zh-CN" sz="1800" b="0">
                <a:solidFill>
                  <a:srgbClr val="000000"/>
                </a:solidFill>
                <a:latin typeface="Tahoma" panose="020B0604030504040204" pitchFamily="34" charset="0"/>
                <a:ea typeface="宋体" panose="02010600030101010101" pitchFamily="2" charset="-122"/>
              </a:endParaRPr>
            </a:p>
          </p:txBody>
        </p:sp>
      </p:grpSp>
      <p:sp>
        <p:nvSpPr>
          <p:cNvPr id="59425" name="Oval 10"/>
          <p:cNvSpPr>
            <a:spLocks noChangeArrowheads="1"/>
          </p:cNvSpPr>
          <p:nvPr/>
        </p:nvSpPr>
        <p:spPr bwMode="auto">
          <a:xfrm>
            <a:off x="6831013" y="4814888"/>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9426" name="AutoShape 11"/>
          <p:cNvCxnSpPr>
            <a:cxnSpLocks noChangeShapeType="1"/>
            <a:stCxn id="59501" idx="3"/>
            <a:endCxn id="59425" idx="7"/>
          </p:cNvCxnSpPr>
          <p:nvPr/>
        </p:nvCxnSpPr>
        <p:spPr bwMode="auto">
          <a:xfrm flipH="1">
            <a:off x="7024688" y="4248150"/>
            <a:ext cx="295275" cy="601663"/>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9427" name="Text Box 12"/>
          <p:cNvSpPr txBox="1">
            <a:spLocks noChangeArrowheads="1"/>
          </p:cNvSpPr>
          <p:nvPr/>
        </p:nvSpPr>
        <p:spPr bwMode="auto">
          <a:xfrm>
            <a:off x="6094413" y="4692650"/>
            <a:ext cx="755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I2</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7</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59428" name="Oval 14"/>
          <p:cNvSpPr>
            <a:spLocks noChangeArrowheads="1"/>
          </p:cNvSpPr>
          <p:nvPr/>
        </p:nvSpPr>
        <p:spPr bwMode="auto">
          <a:xfrm>
            <a:off x="6215063" y="5500688"/>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9429" name="AutoShape 15"/>
          <p:cNvCxnSpPr>
            <a:cxnSpLocks noChangeShapeType="1"/>
            <a:stCxn id="59425" idx="3"/>
            <a:endCxn id="59428" idx="7"/>
          </p:cNvCxnSpPr>
          <p:nvPr/>
        </p:nvCxnSpPr>
        <p:spPr bwMode="auto">
          <a:xfrm flipH="1">
            <a:off x="6410325" y="5010150"/>
            <a:ext cx="454025" cy="525463"/>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9430" name="Text Box 16"/>
          <p:cNvSpPr txBox="1">
            <a:spLocks noChangeArrowheads="1"/>
          </p:cNvSpPr>
          <p:nvPr/>
        </p:nvSpPr>
        <p:spPr bwMode="auto">
          <a:xfrm>
            <a:off x="5446713" y="5410200"/>
            <a:ext cx="754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I1</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4</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59431" name="Oval 18"/>
          <p:cNvSpPr>
            <a:spLocks noChangeArrowheads="1"/>
          </p:cNvSpPr>
          <p:nvPr/>
        </p:nvSpPr>
        <p:spPr bwMode="auto">
          <a:xfrm>
            <a:off x="5681663" y="6186488"/>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9432" name="AutoShape 19"/>
          <p:cNvCxnSpPr>
            <a:cxnSpLocks noChangeShapeType="1"/>
            <a:stCxn id="59428" idx="3"/>
            <a:endCxn id="59431" idx="7"/>
          </p:cNvCxnSpPr>
          <p:nvPr/>
        </p:nvCxnSpPr>
        <p:spPr bwMode="auto">
          <a:xfrm flipH="1">
            <a:off x="5876925" y="5695950"/>
            <a:ext cx="371475" cy="525463"/>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9433" name="Text Box 20"/>
          <p:cNvSpPr txBox="1">
            <a:spLocks noChangeArrowheads="1"/>
          </p:cNvSpPr>
          <p:nvPr/>
        </p:nvSpPr>
        <p:spPr bwMode="auto">
          <a:xfrm>
            <a:off x="4927600" y="6094413"/>
            <a:ext cx="755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I5</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1</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59434" name="Rectangle 22"/>
          <p:cNvSpPr>
            <a:spLocks noChangeArrowheads="1"/>
          </p:cNvSpPr>
          <p:nvPr/>
        </p:nvSpPr>
        <p:spPr bwMode="auto">
          <a:xfrm>
            <a:off x="5035550" y="5526088"/>
            <a:ext cx="1841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20000"/>
              </a:spcBef>
              <a:buClr>
                <a:srgbClr val="3333CC"/>
              </a:buClr>
              <a:buSzPct val="60000"/>
            </a:pPr>
            <a:endParaRPr lang="en-AU" altLang="zh-CN" sz="1600" b="0">
              <a:solidFill>
                <a:srgbClr val="000000"/>
              </a:solidFill>
              <a:latin typeface="楷体_GB2312" pitchFamily="49" charset="-122"/>
            </a:endParaRPr>
          </a:p>
        </p:txBody>
      </p:sp>
      <p:sp>
        <p:nvSpPr>
          <p:cNvPr id="59435" name="Rectangle 25"/>
          <p:cNvSpPr>
            <a:spLocks noChangeArrowheads="1"/>
          </p:cNvSpPr>
          <p:nvPr/>
        </p:nvSpPr>
        <p:spPr bwMode="auto">
          <a:xfrm>
            <a:off x="5192713" y="5160963"/>
            <a:ext cx="1841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20000"/>
              </a:spcBef>
              <a:buClr>
                <a:srgbClr val="3333CC"/>
              </a:buClr>
              <a:buSzPct val="60000"/>
            </a:pPr>
            <a:endParaRPr lang="en-AU" altLang="zh-CN" sz="1600" b="0">
              <a:solidFill>
                <a:srgbClr val="000000"/>
              </a:solidFill>
              <a:latin typeface="楷体_GB2312" pitchFamily="49" charset="-122"/>
            </a:endParaRPr>
          </a:p>
        </p:txBody>
      </p:sp>
      <p:sp>
        <p:nvSpPr>
          <p:cNvPr id="59436" name="Rectangle 28"/>
          <p:cNvSpPr>
            <a:spLocks noChangeArrowheads="1"/>
          </p:cNvSpPr>
          <p:nvPr/>
        </p:nvSpPr>
        <p:spPr bwMode="auto">
          <a:xfrm>
            <a:off x="5192713" y="4795838"/>
            <a:ext cx="1841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20000"/>
              </a:spcBef>
              <a:buClr>
                <a:srgbClr val="3333CC"/>
              </a:buClr>
              <a:buSzPct val="60000"/>
            </a:pPr>
            <a:endParaRPr lang="en-AU" altLang="zh-CN" sz="1600" b="0">
              <a:solidFill>
                <a:srgbClr val="000000"/>
              </a:solidFill>
              <a:latin typeface="楷体_GB2312" pitchFamily="49" charset="-122"/>
            </a:endParaRPr>
          </a:p>
        </p:txBody>
      </p:sp>
      <p:sp>
        <p:nvSpPr>
          <p:cNvPr id="59437" name="Rectangle 34"/>
          <p:cNvSpPr>
            <a:spLocks noChangeArrowheads="1"/>
          </p:cNvSpPr>
          <p:nvPr/>
        </p:nvSpPr>
        <p:spPr bwMode="auto">
          <a:xfrm>
            <a:off x="5192713" y="4065588"/>
            <a:ext cx="1841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20000"/>
              </a:spcBef>
              <a:buClr>
                <a:srgbClr val="3333CC"/>
              </a:buClr>
              <a:buSzPct val="60000"/>
            </a:pPr>
            <a:endParaRPr lang="en-AU" altLang="zh-CN" sz="1600" b="0">
              <a:solidFill>
                <a:srgbClr val="000000"/>
              </a:solidFill>
              <a:latin typeface="楷体_GB2312" pitchFamily="49" charset="-122"/>
            </a:endParaRPr>
          </a:p>
        </p:txBody>
      </p:sp>
      <p:sp>
        <p:nvSpPr>
          <p:cNvPr id="59438" name="Oval 45"/>
          <p:cNvSpPr>
            <a:spLocks noChangeArrowheads="1"/>
          </p:cNvSpPr>
          <p:nvPr/>
        </p:nvSpPr>
        <p:spPr bwMode="auto">
          <a:xfrm>
            <a:off x="7589838" y="5502275"/>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9439" name="AutoShape 46"/>
          <p:cNvCxnSpPr>
            <a:cxnSpLocks noChangeShapeType="1"/>
            <a:stCxn id="59425" idx="5"/>
            <a:endCxn id="59438" idx="1"/>
          </p:cNvCxnSpPr>
          <p:nvPr/>
        </p:nvCxnSpPr>
        <p:spPr bwMode="auto">
          <a:xfrm>
            <a:off x="7024688" y="5010150"/>
            <a:ext cx="598487" cy="525463"/>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9440" name="Text Box 47"/>
          <p:cNvSpPr txBox="1">
            <a:spLocks noChangeArrowheads="1"/>
          </p:cNvSpPr>
          <p:nvPr/>
        </p:nvSpPr>
        <p:spPr bwMode="auto">
          <a:xfrm>
            <a:off x="7840663" y="5427663"/>
            <a:ext cx="755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I4</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1</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59441" name="Oval 45"/>
          <p:cNvSpPr>
            <a:spLocks noChangeArrowheads="1"/>
          </p:cNvSpPr>
          <p:nvPr/>
        </p:nvSpPr>
        <p:spPr bwMode="auto">
          <a:xfrm>
            <a:off x="6726238" y="5489575"/>
            <a:ext cx="228600" cy="238125"/>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9442" name="AutoShape 46"/>
          <p:cNvCxnSpPr>
            <a:cxnSpLocks noChangeShapeType="1"/>
            <a:stCxn id="59425" idx="4"/>
            <a:endCxn id="59441" idx="0"/>
          </p:cNvCxnSpPr>
          <p:nvPr/>
        </p:nvCxnSpPr>
        <p:spPr bwMode="auto">
          <a:xfrm flipH="1">
            <a:off x="6840538" y="5043488"/>
            <a:ext cx="104775" cy="446087"/>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9443" name="Text Box 47"/>
          <p:cNvSpPr txBox="1">
            <a:spLocks noChangeArrowheads="1"/>
          </p:cNvSpPr>
          <p:nvPr/>
        </p:nvSpPr>
        <p:spPr bwMode="auto">
          <a:xfrm>
            <a:off x="6878638" y="5287963"/>
            <a:ext cx="6064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I3:</a:t>
            </a:r>
            <a:r>
              <a:rPr lang="en-US" altLang="zh-CN" sz="1800" b="0">
                <a:solidFill>
                  <a:srgbClr val="FF0000"/>
                </a:solidFill>
                <a:latin typeface="Tahoma" panose="020B0604030504040204" pitchFamily="34" charset="0"/>
                <a:ea typeface="宋体" panose="02010600030101010101" pitchFamily="2" charset="-122"/>
              </a:rPr>
              <a:t>2</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59444" name="Oval 45"/>
          <p:cNvSpPr>
            <a:spLocks noChangeArrowheads="1"/>
          </p:cNvSpPr>
          <p:nvPr/>
        </p:nvSpPr>
        <p:spPr bwMode="auto">
          <a:xfrm>
            <a:off x="6845300" y="6175375"/>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9445" name="AutoShape 46"/>
          <p:cNvCxnSpPr>
            <a:cxnSpLocks noChangeShapeType="1"/>
            <a:stCxn id="59425" idx="4"/>
            <a:endCxn id="59444" idx="1"/>
          </p:cNvCxnSpPr>
          <p:nvPr/>
        </p:nvCxnSpPr>
        <p:spPr bwMode="auto">
          <a:xfrm>
            <a:off x="6434138" y="5681663"/>
            <a:ext cx="444500" cy="52705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9446" name="Text Box 47"/>
          <p:cNvSpPr txBox="1">
            <a:spLocks noChangeArrowheads="1"/>
          </p:cNvSpPr>
          <p:nvPr/>
        </p:nvSpPr>
        <p:spPr bwMode="auto">
          <a:xfrm>
            <a:off x="7064375" y="6105525"/>
            <a:ext cx="755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I4</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1</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59447" name="Oval 45"/>
          <p:cNvSpPr>
            <a:spLocks noChangeArrowheads="1"/>
          </p:cNvSpPr>
          <p:nvPr/>
        </p:nvSpPr>
        <p:spPr bwMode="auto">
          <a:xfrm>
            <a:off x="6223000" y="6170613"/>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9448" name="AutoShape 46"/>
          <p:cNvCxnSpPr>
            <a:cxnSpLocks noChangeShapeType="1"/>
            <a:stCxn id="59428" idx="4"/>
            <a:endCxn id="59447" idx="0"/>
          </p:cNvCxnSpPr>
          <p:nvPr/>
        </p:nvCxnSpPr>
        <p:spPr bwMode="auto">
          <a:xfrm>
            <a:off x="6329363" y="5729288"/>
            <a:ext cx="7937" cy="441325"/>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9449" name="Text Box 47"/>
          <p:cNvSpPr txBox="1">
            <a:spLocks noChangeArrowheads="1"/>
          </p:cNvSpPr>
          <p:nvPr/>
        </p:nvSpPr>
        <p:spPr bwMode="auto">
          <a:xfrm>
            <a:off x="5861050" y="6383338"/>
            <a:ext cx="6048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I3:</a:t>
            </a:r>
            <a:r>
              <a:rPr lang="en-US" altLang="zh-CN" sz="1800" b="0">
                <a:solidFill>
                  <a:srgbClr val="FF0000"/>
                </a:solidFill>
                <a:latin typeface="Tahoma" panose="020B0604030504040204" pitchFamily="34" charset="0"/>
                <a:ea typeface="宋体" panose="02010600030101010101" pitchFamily="2" charset="-122"/>
              </a:rPr>
              <a:t>2</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59450" name="Oval 45"/>
          <p:cNvSpPr>
            <a:spLocks noChangeArrowheads="1"/>
          </p:cNvSpPr>
          <p:nvPr/>
        </p:nvSpPr>
        <p:spPr bwMode="auto">
          <a:xfrm>
            <a:off x="6542088" y="6842125"/>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9451" name="AutoShape 46"/>
          <p:cNvCxnSpPr>
            <a:cxnSpLocks noChangeShapeType="1"/>
            <a:stCxn id="59447" idx="4"/>
            <a:endCxn id="59450" idx="1"/>
          </p:cNvCxnSpPr>
          <p:nvPr/>
        </p:nvCxnSpPr>
        <p:spPr bwMode="auto">
          <a:xfrm>
            <a:off x="6337300" y="6399213"/>
            <a:ext cx="239713" cy="47625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9452" name="Text Box 47"/>
          <p:cNvSpPr txBox="1">
            <a:spLocks noChangeArrowheads="1"/>
          </p:cNvSpPr>
          <p:nvPr/>
        </p:nvSpPr>
        <p:spPr bwMode="auto">
          <a:xfrm>
            <a:off x="6792913" y="6765925"/>
            <a:ext cx="755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I5</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1</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59453" name="Oval 45"/>
          <p:cNvSpPr>
            <a:spLocks noChangeArrowheads="1"/>
          </p:cNvSpPr>
          <p:nvPr/>
        </p:nvSpPr>
        <p:spPr bwMode="auto">
          <a:xfrm>
            <a:off x="8013700" y="4754563"/>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9454" name="AutoShape 46"/>
          <p:cNvCxnSpPr>
            <a:cxnSpLocks noChangeShapeType="1"/>
            <a:stCxn id="59501" idx="5"/>
            <a:endCxn id="59453" idx="1"/>
          </p:cNvCxnSpPr>
          <p:nvPr/>
        </p:nvCxnSpPr>
        <p:spPr bwMode="auto">
          <a:xfrm>
            <a:off x="7480300" y="4248150"/>
            <a:ext cx="566738" cy="53975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9455" name="Text Box 47"/>
          <p:cNvSpPr txBox="1">
            <a:spLocks noChangeArrowheads="1"/>
          </p:cNvSpPr>
          <p:nvPr/>
        </p:nvSpPr>
        <p:spPr bwMode="auto">
          <a:xfrm>
            <a:off x="8264525" y="4679950"/>
            <a:ext cx="755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I1</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2</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59456" name="Oval 45"/>
          <p:cNvSpPr>
            <a:spLocks noChangeArrowheads="1"/>
          </p:cNvSpPr>
          <p:nvPr/>
        </p:nvSpPr>
        <p:spPr bwMode="auto">
          <a:xfrm>
            <a:off x="8769350" y="5467350"/>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59457" name="AutoShape 46"/>
          <p:cNvCxnSpPr>
            <a:cxnSpLocks noChangeShapeType="1"/>
            <a:stCxn id="59453" idx="5"/>
            <a:endCxn id="59456" idx="1"/>
          </p:cNvCxnSpPr>
          <p:nvPr/>
        </p:nvCxnSpPr>
        <p:spPr bwMode="auto">
          <a:xfrm>
            <a:off x="8208963" y="4949825"/>
            <a:ext cx="593725" cy="550863"/>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59458" name="Text Box 47"/>
          <p:cNvSpPr txBox="1">
            <a:spLocks noChangeArrowheads="1"/>
          </p:cNvSpPr>
          <p:nvPr/>
        </p:nvSpPr>
        <p:spPr bwMode="auto">
          <a:xfrm>
            <a:off x="9020175" y="5392738"/>
            <a:ext cx="755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I3</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2</a:t>
            </a:r>
            <a:endParaRPr lang="en-US" altLang="zh-CN" sz="1800" b="0">
              <a:solidFill>
                <a:srgbClr val="FF0000"/>
              </a:solidFill>
              <a:latin typeface="Tahoma" panose="020B0604030504040204" pitchFamily="34" charset="0"/>
              <a:ea typeface="宋体" panose="02010600030101010101" pitchFamily="2" charset="-122"/>
            </a:endParaRPr>
          </a:p>
        </p:txBody>
      </p:sp>
      <p:cxnSp>
        <p:nvCxnSpPr>
          <p:cNvPr id="59459" name="AutoShape 42"/>
          <p:cNvCxnSpPr>
            <a:cxnSpLocks noChangeShapeType="1"/>
            <a:stCxn id="59453" idx="5"/>
            <a:endCxn id="59425" idx="3"/>
          </p:cNvCxnSpPr>
          <p:nvPr/>
        </p:nvCxnSpPr>
        <p:spPr bwMode="auto">
          <a:xfrm flipV="1">
            <a:off x="4486275" y="5010150"/>
            <a:ext cx="2378075" cy="50800"/>
          </a:xfrm>
          <a:prstGeom prst="curvedConnector2">
            <a:avLst/>
          </a:prstGeom>
          <a:noFill/>
          <a:ln w="9525">
            <a:solidFill>
              <a:srgbClr val="B3A2C7"/>
            </a:solidFill>
            <a:prstDash val="lgDash"/>
            <a:round/>
            <a:tailEnd type="triangle" w="med" len="med"/>
          </a:ln>
          <a:extLst>
            <a:ext uri="{909E8E84-426E-40DD-AFC4-6F175D3DCCD1}">
              <a14:hiddenFill xmlns:a14="http://schemas.microsoft.com/office/drawing/2010/main">
                <a:noFill/>
              </a14:hiddenFill>
            </a:ext>
          </a:extLst>
        </p:spPr>
      </p:cxnSp>
      <p:cxnSp>
        <p:nvCxnSpPr>
          <p:cNvPr id="59460" name="AutoShape 42"/>
          <p:cNvCxnSpPr>
            <a:cxnSpLocks noChangeShapeType="1"/>
            <a:stCxn id="59453" idx="5"/>
            <a:endCxn id="59428" idx="1"/>
          </p:cNvCxnSpPr>
          <p:nvPr/>
        </p:nvCxnSpPr>
        <p:spPr bwMode="auto">
          <a:xfrm>
            <a:off x="4486275" y="5427663"/>
            <a:ext cx="1762125" cy="107950"/>
          </a:xfrm>
          <a:prstGeom prst="curvedConnector2">
            <a:avLst/>
          </a:prstGeom>
          <a:noFill/>
          <a:ln w="9525">
            <a:solidFill>
              <a:srgbClr val="B3A2C7"/>
            </a:solidFill>
            <a:prstDash val="lgDash"/>
            <a:round/>
            <a:tailEnd type="triangle" w="med" len="med"/>
          </a:ln>
          <a:extLst>
            <a:ext uri="{909E8E84-426E-40DD-AFC4-6F175D3DCCD1}">
              <a14:hiddenFill xmlns:a14="http://schemas.microsoft.com/office/drawing/2010/main">
                <a:noFill/>
              </a14:hiddenFill>
            </a:ext>
          </a:extLst>
        </p:spPr>
      </p:cxnSp>
      <p:cxnSp>
        <p:nvCxnSpPr>
          <p:cNvPr id="27" name="直接箭头连接符 26"/>
          <p:cNvCxnSpPr>
            <a:stCxn id="59428" idx="6"/>
            <a:endCxn id="59453" idx="2"/>
          </p:cNvCxnSpPr>
          <p:nvPr/>
        </p:nvCxnSpPr>
        <p:spPr>
          <a:xfrm flipV="1">
            <a:off x="6443663" y="4868863"/>
            <a:ext cx="1570037" cy="746125"/>
          </a:xfrm>
          <a:prstGeom prst="straightConnector1">
            <a:avLst/>
          </a:prstGeom>
          <a:ln>
            <a:solidFill>
              <a:schemeClr val="accent4">
                <a:lumMod val="60000"/>
                <a:lumOff val="40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59462" name="AutoShape 42"/>
          <p:cNvCxnSpPr>
            <a:cxnSpLocks noChangeShapeType="1"/>
            <a:stCxn id="59428" idx="6"/>
            <a:endCxn id="59447" idx="1"/>
          </p:cNvCxnSpPr>
          <p:nvPr/>
        </p:nvCxnSpPr>
        <p:spPr bwMode="auto">
          <a:xfrm>
            <a:off x="4484688" y="5784850"/>
            <a:ext cx="1771650" cy="419100"/>
          </a:xfrm>
          <a:prstGeom prst="curvedConnector2">
            <a:avLst/>
          </a:prstGeom>
          <a:noFill/>
          <a:ln w="9525">
            <a:solidFill>
              <a:srgbClr val="B3A2C7"/>
            </a:solidFill>
            <a:prstDash val="lgDash"/>
            <a:round/>
            <a:tailEnd type="triangle" w="med" len="med"/>
          </a:ln>
          <a:extLst>
            <a:ext uri="{909E8E84-426E-40DD-AFC4-6F175D3DCCD1}">
              <a14:hiddenFill xmlns:a14="http://schemas.microsoft.com/office/drawing/2010/main">
                <a:noFill/>
              </a14:hiddenFill>
            </a:ext>
          </a:extLst>
        </p:spPr>
      </p:cxnSp>
      <p:cxnSp>
        <p:nvCxnSpPr>
          <p:cNvPr id="59463" name="AutoShape 42"/>
          <p:cNvCxnSpPr>
            <a:cxnSpLocks noChangeShapeType="1"/>
            <a:stCxn id="59447" idx="6"/>
            <a:endCxn id="59441" idx="3"/>
          </p:cNvCxnSpPr>
          <p:nvPr/>
        </p:nvCxnSpPr>
        <p:spPr bwMode="auto">
          <a:xfrm flipV="1">
            <a:off x="6451600" y="5692775"/>
            <a:ext cx="307975" cy="592138"/>
          </a:xfrm>
          <a:prstGeom prst="curvedConnector2">
            <a:avLst/>
          </a:prstGeom>
          <a:noFill/>
          <a:ln w="9525">
            <a:solidFill>
              <a:srgbClr val="B3A2C7"/>
            </a:solidFill>
            <a:prstDash val="lgDash"/>
            <a:round/>
            <a:tailEnd type="triangle" w="med" len="med"/>
          </a:ln>
          <a:extLst>
            <a:ext uri="{909E8E84-426E-40DD-AFC4-6F175D3DCCD1}">
              <a14:hiddenFill xmlns:a14="http://schemas.microsoft.com/office/drawing/2010/main">
                <a:noFill/>
              </a14:hiddenFill>
            </a:ext>
          </a:extLst>
        </p:spPr>
      </p:cxnSp>
      <p:cxnSp>
        <p:nvCxnSpPr>
          <p:cNvPr id="81" name="AutoShape 42"/>
          <p:cNvCxnSpPr>
            <a:cxnSpLocks noChangeShapeType="1"/>
            <a:stCxn id="59441" idx="5"/>
            <a:endCxn id="59456" idx="4"/>
          </p:cNvCxnSpPr>
          <p:nvPr/>
        </p:nvCxnSpPr>
        <p:spPr bwMode="auto">
          <a:xfrm rot="16200000" flipH="1">
            <a:off x="7900987" y="4713288"/>
            <a:ext cx="3175" cy="1962150"/>
          </a:xfrm>
          <a:prstGeom prst="curvedConnector3">
            <a:avLst>
              <a:gd name="adj1" fmla="val 7413273"/>
            </a:avLst>
          </a:prstGeom>
          <a:noFill/>
          <a:ln w="9525">
            <a:solidFill>
              <a:schemeClr val="accent4">
                <a:lumMod val="60000"/>
                <a:lumOff val="40000"/>
              </a:schemeClr>
            </a:solidFill>
            <a:prstDash val="lg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AutoShape 42"/>
          <p:cNvCxnSpPr>
            <a:cxnSpLocks noChangeShapeType="1"/>
            <a:stCxn id="59441" idx="5"/>
            <a:endCxn id="59444" idx="4"/>
          </p:cNvCxnSpPr>
          <p:nvPr/>
        </p:nvCxnSpPr>
        <p:spPr bwMode="auto">
          <a:xfrm>
            <a:off x="4486275" y="6129338"/>
            <a:ext cx="2473325" cy="274637"/>
          </a:xfrm>
          <a:prstGeom prst="curvedConnector4">
            <a:avLst>
              <a:gd name="adj1" fmla="val 19958"/>
              <a:gd name="adj2" fmla="val 233466"/>
            </a:avLst>
          </a:prstGeom>
          <a:noFill/>
          <a:ln w="9525">
            <a:solidFill>
              <a:schemeClr val="accent4">
                <a:lumMod val="60000"/>
                <a:lumOff val="40000"/>
              </a:schemeClr>
            </a:solidFill>
            <a:prstDash val="lg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AutoShape 42"/>
          <p:cNvCxnSpPr>
            <a:cxnSpLocks noChangeShapeType="1"/>
            <a:stCxn id="59444" idx="7"/>
            <a:endCxn id="59438" idx="4"/>
          </p:cNvCxnSpPr>
          <p:nvPr/>
        </p:nvCxnSpPr>
        <p:spPr bwMode="auto">
          <a:xfrm rot="5400000" flipH="1" flipV="1">
            <a:off x="7133432" y="5638006"/>
            <a:ext cx="477838" cy="663575"/>
          </a:xfrm>
          <a:prstGeom prst="curvedConnector3">
            <a:avLst>
              <a:gd name="adj1" fmla="val 50000"/>
            </a:avLst>
          </a:prstGeom>
          <a:noFill/>
          <a:ln w="9525">
            <a:solidFill>
              <a:schemeClr val="accent4">
                <a:lumMod val="60000"/>
                <a:lumOff val="40000"/>
              </a:schemeClr>
            </a:solidFill>
            <a:prstDash val="lg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467" name="AutoShape 42"/>
          <p:cNvCxnSpPr>
            <a:cxnSpLocks noChangeShapeType="1"/>
            <a:stCxn id="59444" idx="7"/>
            <a:endCxn id="59431" idx="3"/>
          </p:cNvCxnSpPr>
          <p:nvPr/>
        </p:nvCxnSpPr>
        <p:spPr bwMode="auto">
          <a:xfrm flipV="1">
            <a:off x="4486275" y="6381750"/>
            <a:ext cx="1228725" cy="127000"/>
          </a:xfrm>
          <a:prstGeom prst="curvedConnector2">
            <a:avLst/>
          </a:prstGeom>
          <a:noFill/>
          <a:ln w="9525">
            <a:solidFill>
              <a:srgbClr val="B3A2C7"/>
            </a:solidFill>
            <a:prstDash val="lgDash"/>
            <a:round/>
            <a:tailEnd type="triangle" w="med" len="med"/>
          </a:ln>
          <a:extLst>
            <a:ext uri="{909E8E84-426E-40DD-AFC4-6F175D3DCCD1}">
              <a14:hiddenFill xmlns:a14="http://schemas.microsoft.com/office/drawing/2010/main">
                <a:noFill/>
              </a14:hiddenFill>
            </a:ext>
          </a:extLst>
        </p:spPr>
      </p:cxnSp>
      <p:cxnSp>
        <p:nvCxnSpPr>
          <p:cNvPr id="59468" name="AutoShape 42"/>
          <p:cNvCxnSpPr>
            <a:cxnSpLocks noChangeShapeType="1"/>
            <a:stCxn id="59431" idx="4"/>
            <a:endCxn id="59450" idx="2"/>
          </p:cNvCxnSpPr>
          <p:nvPr/>
        </p:nvCxnSpPr>
        <p:spPr bwMode="auto">
          <a:xfrm rot="16200000" flipH="1">
            <a:off x="5894388" y="6310313"/>
            <a:ext cx="542925" cy="746125"/>
          </a:xfrm>
          <a:prstGeom prst="curvedConnector2">
            <a:avLst/>
          </a:prstGeom>
          <a:noFill/>
          <a:ln w="9525">
            <a:solidFill>
              <a:srgbClr val="B3A2C7"/>
            </a:solidFill>
            <a:prstDash val="lgDash"/>
            <a:round/>
            <a:tailEnd type="triangle" w="med" len="med"/>
          </a:ln>
          <a:extLst>
            <a:ext uri="{909E8E84-426E-40DD-AFC4-6F175D3DCCD1}">
              <a14:hiddenFill xmlns:a14="http://schemas.microsoft.com/office/drawing/2010/main">
                <a:noFill/>
              </a14:hiddenFill>
            </a:ext>
          </a:extLst>
        </p:spPr>
      </p:cxnSp>
      <p:sp>
        <p:nvSpPr>
          <p:cNvPr id="103" name="矩形 102"/>
          <p:cNvSpPr/>
          <p:nvPr/>
        </p:nvSpPr>
        <p:spPr>
          <a:xfrm>
            <a:off x="4403725" y="4311650"/>
            <a:ext cx="804863" cy="338138"/>
          </a:xfrm>
          <a:prstGeom prst="rect">
            <a:avLst/>
          </a:prstGeom>
        </p:spPr>
        <p:txBody>
          <a:bodyPr wrap="none">
            <a:spAutoFit/>
          </a:bodyPr>
          <a:lstStyle/>
          <a:p>
            <a:pPr>
              <a:defRPr/>
            </a:pPr>
            <a:r>
              <a:rPr lang="zh-CN" altLang="en-US" sz="1600" b="0" dirty="0">
                <a:solidFill>
                  <a:srgbClr val="0000FF"/>
                </a:solidFill>
                <a:latin typeface="+mn-ea"/>
                <a:ea typeface="+mn-ea"/>
              </a:rPr>
              <a:t>结点链</a:t>
            </a:r>
            <a:endParaRPr lang="zh-CN" altLang="en-US" b="0" dirty="0">
              <a:solidFill>
                <a:srgbClr val="0000FF"/>
              </a:solidFill>
              <a:latin typeface="+mn-ea"/>
              <a:ea typeface="+mn-ea"/>
            </a:endParaRPr>
          </a:p>
        </p:txBody>
      </p:sp>
      <p:sp>
        <p:nvSpPr>
          <p:cNvPr id="105" name="矩形 104"/>
          <p:cNvSpPr/>
          <p:nvPr/>
        </p:nvSpPr>
        <p:spPr>
          <a:xfrm>
            <a:off x="3570288" y="4065588"/>
            <a:ext cx="877887" cy="584200"/>
          </a:xfrm>
          <a:prstGeom prst="rect">
            <a:avLst/>
          </a:prstGeom>
        </p:spPr>
        <p:txBody>
          <a:bodyPr>
            <a:spAutoFit/>
          </a:bodyPr>
          <a:lstStyle/>
          <a:p>
            <a:pPr algn="ctr">
              <a:defRPr/>
            </a:pPr>
            <a:r>
              <a:rPr lang="zh-CN" altLang="en-US" sz="1600" b="0" dirty="0">
                <a:solidFill>
                  <a:srgbClr val="0000FF"/>
                </a:solidFill>
                <a:latin typeface="+mn-ea"/>
                <a:ea typeface="+mn-ea"/>
              </a:rPr>
              <a:t>支持度计数</a:t>
            </a:r>
            <a:endParaRPr lang="zh-CN" altLang="en-US" b="0" dirty="0">
              <a:solidFill>
                <a:srgbClr val="0000FF"/>
              </a:solidFill>
              <a:latin typeface="+mn-ea"/>
              <a:ea typeface="+mn-ea"/>
            </a:endParaRPr>
          </a:p>
        </p:txBody>
      </p:sp>
      <p:sp>
        <p:nvSpPr>
          <p:cNvPr id="106" name="矩形 105"/>
          <p:cNvSpPr/>
          <p:nvPr/>
        </p:nvSpPr>
        <p:spPr>
          <a:xfrm>
            <a:off x="2940050" y="4327525"/>
            <a:ext cx="846138" cy="322263"/>
          </a:xfrm>
          <a:prstGeom prst="rect">
            <a:avLst/>
          </a:prstGeom>
        </p:spPr>
        <p:txBody>
          <a:bodyPr>
            <a:spAutoFit/>
          </a:bodyPr>
          <a:lstStyle/>
          <a:p>
            <a:pPr>
              <a:defRPr/>
            </a:pPr>
            <a:r>
              <a:rPr lang="zh-CN" altLang="en-US" b="0" dirty="0">
                <a:solidFill>
                  <a:srgbClr val="0000FF"/>
                </a:solidFill>
                <a:latin typeface="+mn-ea"/>
                <a:ea typeface="+mn-ea"/>
              </a:rPr>
              <a:t>项</a:t>
            </a:r>
            <a:r>
              <a:rPr lang="en-US" altLang="zh-CN" b="0" dirty="0">
                <a:solidFill>
                  <a:srgbClr val="0000FF"/>
                </a:solidFill>
                <a:latin typeface="+mn-ea"/>
                <a:ea typeface="+mn-ea"/>
              </a:rPr>
              <a:t>ID</a:t>
            </a:r>
            <a:endParaRPr lang="zh-CN" altLang="en-US" b="0" dirty="0">
              <a:solidFill>
                <a:srgbClr val="0000FF"/>
              </a:solidFill>
              <a:latin typeface="+mn-ea"/>
              <a:ea typeface="+mn-ea"/>
            </a:endParaRPr>
          </a:p>
        </p:txBody>
      </p:sp>
      <p:cxnSp>
        <p:nvCxnSpPr>
          <p:cNvPr id="107" name="直接箭头连接符 106"/>
          <p:cNvCxnSpPr>
            <a:stCxn id="106" idx="2"/>
            <a:endCxn id="59450" idx="2"/>
          </p:cNvCxnSpPr>
          <p:nvPr/>
        </p:nvCxnSpPr>
        <p:spPr>
          <a:xfrm>
            <a:off x="3363913" y="4649788"/>
            <a:ext cx="206375" cy="1381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9" name="直接箭头连接符 108"/>
          <p:cNvCxnSpPr>
            <a:stCxn id="105" idx="2"/>
            <a:endCxn id="13" idx="0"/>
          </p:cNvCxnSpPr>
          <p:nvPr/>
        </p:nvCxnSpPr>
        <p:spPr>
          <a:xfrm>
            <a:off x="4009232" y="4649788"/>
            <a:ext cx="61117" cy="1809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1139825" y="1793875"/>
            <a:ext cx="5426075" cy="2308225"/>
          </a:xfrm>
          <a:prstGeom prst="rect">
            <a:avLst/>
          </a:prstGeom>
        </p:spPr>
        <p:txBody>
          <a:bodyPr>
            <a:spAutoFit/>
          </a:bodyPr>
          <a:lstStyle/>
          <a:p>
            <a:pPr>
              <a:defRPr/>
            </a:pPr>
            <a:r>
              <a:rPr lang="zh-CN" altLang="en-US" sz="1800" b="0" dirty="0">
                <a:latin typeface="+mn-ea"/>
                <a:ea typeface="+mn-ea"/>
              </a:rPr>
              <a:t>I5分支路径为</a:t>
            </a:r>
            <a:r>
              <a:rPr lang="zh-CN" altLang="en-US" sz="1800" b="0" dirty="0">
                <a:latin typeface="+mn-ea"/>
              </a:rPr>
              <a:t>&lt;I2,I1</a:t>
            </a:r>
            <a:r>
              <a:rPr lang="en-US" altLang="zh-CN" sz="1800" b="0" dirty="0">
                <a:latin typeface="+mn-ea"/>
              </a:rPr>
              <a:t>,I5</a:t>
            </a:r>
            <a:r>
              <a:rPr lang="zh-CN" altLang="en-US" sz="1800" b="0" dirty="0">
                <a:latin typeface="+mn-ea"/>
              </a:rPr>
              <a:t>:1&gt; 和&lt;I2,I1,I3</a:t>
            </a:r>
            <a:r>
              <a:rPr lang="en-US" altLang="zh-CN" sz="1800" b="0" dirty="0">
                <a:latin typeface="+mn-ea"/>
              </a:rPr>
              <a:t>,I5</a:t>
            </a:r>
            <a:r>
              <a:rPr lang="zh-CN" altLang="en-US" sz="1800" b="0" dirty="0">
                <a:latin typeface="+mn-ea"/>
              </a:rPr>
              <a:t>:1&gt;</a:t>
            </a:r>
            <a:endParaRPr lang="en-US" altLang="zh-CN" sz="1800" b="0" dirty="0">
              <a:latin typeface="+mn-ea"/>
              <a:ea typeface="+mn-ea"/>
            </a:endParaRPr>
          </a:p>
          <a:p>
            <a:pPr marL="285750" indent="-285750">
              <a:buFont typeface="Wingdings" panose="05000000000000000000" pitchFamily="2" charset="2"/>
              <a:buChar char="Ø"/>
              <a:defRPr/>
            </a:pPr>
            <a:r>
              <a:rPr lang="zh-CN" altLang="en-US" sz="1800" b="0" dirty="0">
                <a:latin typeface="+mn-ea"/>
                <a:ea typeface="+mn-ea"/>
              </a:rPr>
              <a:t>对应的前缀路径是&lt;I2,I1:1&gt; 和&lt;I2,I1,I3:1&gt;形成I5的</a:t>
            </a:r>
            <a:r>
              <a:rPr lang="zh-CN" altLang="en-US" sz="1800" dirty="0">
                <a:latin typeface="+mn-ea"/>
                <a:ea typeface="+mn-ea"/>
              </a:rPr>
              <a:t>条件模式基</a:t>
            </a:r>
            <a:r>
              <a:rPr lang="zh-CN" altLang="en-US" sz="1800" b="0" dirty="0">
                <a:latin typeface="+mn-ea"/>
                <a:ea typeface="+mn-ea"/>
              </a:rPr>
              <a:t>。</a:t>
            </a:r>
            <a:endParaRPr lang="en-US" altLang="zh-CN" sz="1800" b="0" dirty="0">
              <a:latin typeface="+mn-ea"/>
              <a:ea typeface="+mn-ea"/>
            </a:endParaRPr>
          </a:p>
          <a:p>
            <a:pPr marL="285750" indent="-285750">
              <a:buFont typeface="Wingdings" panose="05000000000000000000" pitchFamily="2" charset="2"/>
              <a:buChar char="Ø"/>
              <a:defRPr/>
            </a:pPr>
            <a:r>
              <a:rPr lang="zh-CN" altLang="en-US" sz="1800" b="0" dirty="0">
                <a:latin typeface="+mn-ea"/>
                <a:ea typeface="+mn-ea"/>
              </a:rPr>
              <a:t>使用这些条件模式基作为新的事务数据库，</a:t>
            </a:r>
            <a:r>
              <a:rPr lang="zh-CN" altLang="en-US" sz="1800" dirty="0">
                <a:latin typeface="+mn-ea"/>
                <a:ea typeface="+mn-ea"/>
              </a:rPr>
              <a:t>构造I5的条件FP树</a:t>
            </a:r>
            <a:r>
              <a:rPr lang="zh-CN" altLang="en-US" sz="1800" b="0" dirty="0">
                <a:latin typeface="+mn-ea"/>
                <a:ea typeface="+mn-ea"/>
              </a:rPr>
              <a:t>，由于最小支持度为2，I3的支持度计数为1，则该树只包含单个路径&lt;I2:2,I1:2&gt;。</a:t>
            </a:r>
            <a:endParaRPr lang="en-US" altLang="zh-CN" sz="1800" b="0" dirty="0">
              <a:latin typeface="+mn-ea"/>
              <a:ea typeface="+mn-ea"/>
            </a:endParaRPr>
          </a:p>
          <a:p>
            <a:pPr marL="285750" indent="-285750">
              <a:buFont typeface="Wingdings" panose="05000000000000000000" pitchFamily="2" charset="2"/>
              <a:buChar char="Ø"/>
              <a:defRPr/>
            </a:pPr>
            <a:r>
              <a:rPr lang="zh-CN" altLang="en-US" sz="1800" b="0" dirty="0">
                <a:latin typeface="+mn-ea"/>
                <a:ea typeface="+mn-ea"/>
              </a:rPr>
              <a:t>该单个路径</a:t>
            </a:r>
            <a:r>
              <a:rPr lang="zh-CN" altLang="en-US" sz="1800" dirty="0">
                <a:latin typeface="+mn-ea"/>
                <a:ea typeface="+mn-ea"/>
              </a:rPr>
              <a:t>产生频繁模式</a:t>
            </a:r>
            <a:r>
              <a:rPr lang="zh-CN" altLang="en-US" sz="1800" b="0" dirty="0">
                <a:latin typeface="+mn-ea"/>
                <a:ea typeface="+mn-ea"/>
              </a:rPr>
              <a:t>的所有组合：</a:t>
            </a:r>
            <a:r>
              <a:rPr lang="en-US" altLang="zh-CN" sz="1800" b="0" dirty="0">
                <a:latin typeface="+mn-ea"/>
                <a:ea typeface="+mn-ea"/>
              </a:rPr>
              <a:t>{</a:t>
            </a:r>
            <a:r>
              <a:rPr lang="zh-CN" altLang="en-US" sz="1800" b="0" dirty="0">
                <a:latin typeface="+mn-ea"/>
                <a:ea typeface="+mn-ea"/>
              </a:rPr>
              <a:t>I2,I5:2</a:t>
            </a:r>
            <a:r>
              <a:rPr lang="en-US" altLang="zh-CN" sz="1800" b="0" dirty="0">
                <a:latin typeface="+mn-ea"/>
                <a:ea typeface="+mn-ea"/>
              </a:rPr>
              <a:t>}</a:t>
            </a:r>
            <a:r>
              <a:rPr lang="zh-CN" altLang="en-US" sz="1800" b="0" dirty="0">
                <a:latin typeface="+mn-ea"/>
                <a:ea typeface="+mn-ea"/>
              </a:rPr>
              <a:t> 、</a:t>
            </a:r>
            <a:r>
              <a:rPr lang="en-US" altLang="zh-CN" sz="1800" b="0" dirty="0">
                <a:latin typeface="+mn-ea"/>
                <a:ea typeface="+mn-ea"/>
              </a:rPr>
              <a:t>{</a:t>
            </a:r>
            <a:r>
              <a:rPr lang="zh-CN" altLang="en-US" sz="1800" b="0" dirty="0">
                <a:latin typeface="+mn-ea"/>
                <a:ea typeface="+mn-ea"/>
              </a:rPr>
              <a:t>I1,I5:2</a:t>
            </a:r>
            <a:r>
              <a:rPr lang="en-US" altLang="zh-CN" sz="1800" b="0" dirty="0">
                <a:latin typeface="+mn-ea"/>
                <a:ea typeface="+mn-ea"/>
              </a:rPr>
              <a:t>}</a:t>
            </a:r>
            <a:r>
              <a:rPr lang="zh-CN" altLang="en-US" sz="1800" b="0" dirty="0">
                <a:latin typeface="+mn-ea"/>
                <a:ea typeface="+mn-ea"/>
              </a:rPr>
              <a:t> 、</a:t>
            </a:r>
            <a:r>
              <a:rPr lang="en-US" altLang="zh-CN" sz="1800" b="0" dirty="0">
                <a:latin typeface="+mn-ea"/>
                <a:ea typeface="+mn-ea"/>
              </a:rPr>
              <a:t>{</a:t>
            </a:r>
            <a:r>
              <a:rPr lang="zh-CN" altLang="en-US" sz="1800" b="0" dirty="0">
                <a:latin typeface="+mn-ea"/>
                <a:ea typeface="+mn-ea"/>
              </a:rPr>
              <a:t>I2,I1,I5:2</a:t>
            </a:r>
            <a:r>
              <a:rPr lang="en-US" altLang="zh-CN" sz="1800" b="0" dirty="0">
                <a:latin typeface="+mn-ea"/>
                <a:ea typeface="+mn-ea"/>
              </a:rPr>
              <a:t>}</a:t>
            </a:r>
            <a:r>
              <a:rPr lang="zh-CN" altLang="en-US" sz="1800" b="0" dirty="0">
                <a:latin typeface="+mn-ea"/>
                <a:ea typeface="+mn-ea"/>
              </a:rPr>
              <a:t> 。</a:t>
            </a:r>
            <a:endParaRPr lang="zh-CN" altLang="en-US" sz="1800" b="0" dirty="0">
              <a:latin typeface="+mn-ea"/>
              <a:ea typeface="+mn-ea"/>
            </a:endParaRPr>
          </a:p>
        </p:txBody>
      </p:sp>
      <p:graphicFrame>
        <p:nvGraphicFramePr>
          <p:cNvPr id="78" name="表格 77"/>
          <p:cNvGraphicFramePr>
            <a:graphicFrameLocks noGrp="1"/>
          </p:cNvGraphicFramePr>
          <p:nvPr/>
        </p:nvGraphicFramePr>
        <p:xfrm>
          <a:off x="6823075" y="2300288"/>
          <a:ext cx="1192212" cy="741362"/>
        </p:xfrm>
        <a:graphic>
          <a:graphicData uri="http://schemas.openxmlformats.org/drawingml/2006/table">
            <a:tbl>
              <a:tblPr firstRow="1" bandRow="1">
                <a:tableStyleId>{5C22544A-7EE6-4342-B048-85BDC9FD1C3A}</a:tableStyleId>
              </a:tblPr>
              <a:tblGrid>
                <a:gridCol w="397404"/>
                <a:gridCol w="397404"/>
                <a:gridCol w="397404"/>
              </a:tblGrid>
              <a:tr h="370681">
                <a:tc>
                  <a:txBody>
                    <a:bodyPr/>
                    <a:lstStyle/>
                    <a:p>
                      <a:pPr algn="ctr"/>
                      <a:r>
                        <a:rPr lang="en-US" altLang="zh-CN" sz="1700" b="0" dirty="0">
                          <a:solidFill>
                            <a:schemeClr val="tx1"/>
                          </a:solidFill>
                          <a:latin typeface="Times New Roman" panose="02020603050405020304" pitchFamily="18" charset="0"/>
                          <a:cs typeface="Times New Roman" panose="02020603050405020304" pitchFamily="18" charset="0"/>
                        </a:rPr>
                        <a:t>I2</a:t>
                      </a:r>
                      <a:endParaRPr lang="zh-CN" altLang="en-US" sz="1700" b="0" dirty="0">
                        <a:solidFill>
                          <a:schemeClr val="tx1"/>
                        </a:solidFill>
                        <a:latin typeface="Times New Roman" panose="02020603050405020304" pitchFamily="18" charset="0"/>
                        <a:cs typeface="Times New Roman" panose="02020603050405020304" pitchFamily="18" charset="0"/>
                      </a:endParaRPr>
                    </a:p>
                  </a:txBody>
                  <a:tcPr marL="91368" marR="91368"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700" b="0" dirty="0">
                          <a:solidFill>
                            <a:schemeClr val="tx1"/>
                          </a:solidFill>
                          <a:latin typeface="Times New Roman" panose="02020603050405020304" pitchFamily="18" charset="0"/>
                          <a:cs typeface="Times New Roman" panose="02020603050405020304" pitchFamily="18" charset="0"/>
                        </a:rPr>
                        <a:t>2</a:t>
                      </a:r>
                      <a:endParaRPr lang="zh-CN" altLang="en-US" sz="1700" b="0" dirty="0">
                        <a:solidFill>
                          <a:schemeClr val="tx1"/>
                        </a:solidFill>
                        <a:latin typeface="Times New Roman" panose="02020603050405020304" pitchFamily="18" charset="0"/>
                        <a:cs typeface="Times New Roman" panose="02020603050405020304" pitchFamily="18" charset="0"/>
                      </a:endParaRPr>
                    </a:p>
                  </a:txBody>
                  <a:tcPr marL="91368" marR="91368"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700" b="0" dirty="0">
                        <a:solidFill>
                          <a:schemeClr val="tx1"/>
                        </a:solidFill>
                        <a:latin typeface="Times New Roman" panose="02020603050405020304" pitchFamily="18" charset="0"/>
                        <a:cs typeface="Times New Roman" panose="02020603050405020304" pitchFamily="18" charset="0"/>
                      </a:endParaRPr>
                    </a:p>
                  </a:txBody>
                  <a:tcPr marL="91368" marR="91368"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681">
                <a:tc>
                  <a:txBody>
                    <a:bodyPr/>
                    <a:lstStyle/>
                    <a:p>
                      <a:pPr algn="ctr"/>
                      <a:r>
                        <a:rPr lang="en-US" altLang="zh-CN" sz="1700" b="0" dirty="0">
                          <a:solidFill>
                            <a:schemeClr val="tx1"/>
                          </a:solidFill>
                          <a:latin typeface="Times New Roman" panose="02020603050405020304" pitchFamily="18" charset="0"/>
                          <a:cs typeface="Times New Roman" panose="02020603050405020304" pitchFamily="18" charset="0"/>
                        </a:rPr>
                        <a:t>I1</a:t>
                      </a:r>
                      <a:endParaRPr lang="zh-CN" altLang="en-US" sz="1700" b="0" dirty="0">
                        <a:solidFill>
                          <a:schemeClr val="tx1"/>
                        </a:solidFill>
                        <a:latin typeface="Times New Roman" panose="02020603050405020304" pitchFamily="18" charset="0"/>
                        <a:cs typeface="Times New Roman" panose="02020603050405020304" pitchFamily="18" charset="0"/>
                      </a:endParaRPr>
                    </a:p>
                  </a:txBody>
                  <a:tcPr marL="91368" marR="91368"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700" b="0" dirty="0">
                          <a:solidFill>
                            <a:schemeClr val="tx1"/>
                          </a:solidFill>
                          <a:latin typeface="Times New Roman" panose="02020603050405020304" pitchFamily="18" charset="0"/>
                          <a:cs typeface="Times New Roman" panose="02020603050405020304" pitchFamily="18" charset="0"/>
                        </a:rPr>
                        <a:t>2</a:t>
                      </a:r>
                      <a:endParaRPr lang="zh-CN" altLang="en-US" sz="1700" b="0" dirty="0">
                        <a:solidFill>
                          <a:schemeClr val="tx1"/>
                        </a:solidFill>
                        <a:latin typeface="Times New Roman" panose="02020603050405020304" pitchFamily="18" charset="0"/>
                        <a:cs typeface="Times New Roman" panose="02020603050405020304" pitchFamily="18" charset="0"/>
                      </a:endParaRPr>
                    </a:p>
                  </a:txBody>
                  <a:tcPr marL="91368" marR="91368"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sz="1700" b="0" dirty="0">
                        <a:solidFill>
                          <a:schemeClr val="tx1"/>
                        </a:solidFill>
                        <a:latin typeface="Times New Roman" panose="02020603050405020304" pitchFamily="18" charset="0"/>
                        <a:cs typeface="Times New Roman" panose="02020603050405020304" pitchFamily="18" charset="0"/>
                      </a:endParaRPr>
                    </a:p>
                  </a:txBody>
                  <a:tcPr marL="91368" marR="91368" marT="45700" marB="457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pSp>
        <p:nvGrpSpPr>
          <p:cNvPr id="82" name="组合 81"/>
          <p:cNvGrpSpPr/>
          <p:nvPr/>
        </p:nvGrpSpPr>
        <p:grpSpPr bwMode="auto">
          <a:xfrm>
            <a:off x="9132888" y="1122363"/>
            <a:ext cx="968375" cy="368300"/>
            <a:chOff x="7285831" y="3963374"/>
            <a:chExt cx="968375" cy="367802"/>
          </a:xfrm>
        </p:grpSpPr>
        <p:sp>
          <p:nvSpPr>
            <p:cNvPr id="59499" name="Oval 5"/>
            <p:cNvSpPr>
              <a:spLocks noChangeArrowheads="1"/>
            </p:cNvSpPr>
            <p:nvPr/>
          </p:nvSpPr>
          <p:spPr bwMode="auto">
            <a:xfrm>
              <a:off x="7285831" y="4052508"/>
              <a:ext cx="228600" cy="228291"/>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400" b="0">
                <a:solidFill>
                  <a:srgbClr val="000000"/>
                </a:solidFill>
                <a:latin typeface="Tahoma" panose="020B0604030504040204" pitchFamily="34" charset="0"/>
              </a:endParaRPr>
            </a:p>
          </p:txBody>
        </p:sp>
        <p:sp>
          <p:nvSpPr>
            <p:cNvPr id="59500" name="Text Box 6"/>
            <p:cNvSpPr txBox="1">
              <a:spLocks noChangeArrowheads="1"/>
            </p:cNvSpPr>
            <p:nvPr/>
          </p:nvSpPr>
          <p:spPr bwMode="auto">
            <a:xfrm>
              <a:off x="7533481" y="3963374"/>
              <a:ext cx="720725" cy="367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null{}</a:t>
              </a:r>
              <a:endParaRPr lang="en-US" altLang="zh-CN" sz="1800" b="0">
                <a:solidFill>
                  <a:srgbClr val="000000"/>
                </a:solidFill>
                <a:latin typeface="Tahoma" panose="020B0604030504040204" pitchFamily="34" charset="0"/>
                <a:ea typeface="宋体" panose="02010600030101010101" pitchFamily="2" charset="-122"/>
              </a:endParaRPr>
            </a:p>
          </p:txBody>
        </p:sp>
      </p:grpSp>
      <p:cxnSp>
        <p:nvCxnSpPr>
          <p:cNvPr id="85" name="AutoShape 11"/>
          <p:cNvCxnSpPr>
            <a:cxnSpLocks noChangeShapeType="1"/>
            <a:stCxn id="103" idx="2"/>
            <a:endCxn id="92" idx="0"/>
          </p:cNvCxnSpPr>
          <p:nvPr/>
        </p:nvCxnSpPr>
        <p:spPr bwMode="auto">
          <a:xfrm flipH="1">
            <a:off x="9247188" y="1438275"/>
            <a:ext cx="38100" cy="60960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86" name="Text Box 12"/>
          <p:cNvSpPr txBox="1">
            <a:spLocks noChangeArrowheads="1"/>
          </p:cNvSpPr>
          <p:nvPr/>
        </p:nvSpPr>
        <p:spPr bwMode="auto">
          <a:xfrm>
            <a:off x="9398000" y="1990725"/>
            <a:ext cx="755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I2</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2</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87" name="Oval 14"/>
          <p:cNvSpPr>
            <a:spLocks noChangeArrowheads="1"/>
          </p:cNvSpPr>
          <p:nvPr/>
        </p:nvSpPr>
        <p:spPr bwMode="auto">
          <a:xfrm>
            <a:off x="8639175" y="2797175"/>
            <a:ext cx="230188"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89" name="AutoShape 15"/>
          <p:cNvCxnSpPr>
            <a:cxnSpLocks noChangeShapeType="1"/>
            <a:stCxn id="103" idx="2"/>
            <a:endCxn id="92" idx="0"/>
          </p:cNvCxnSpPr>
          <p:nvPr/>
        </p:nvCxnSpPr>
        <p:spPr bwMode="auto">
          <a:xfrm flipH="1">
            <a:off x="8772525" y="2290763"/>
            <a:ext cx="452438" cy="523875"/>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90" name="Text Box 16"/>
          <p:cNvSpPr txBox="1">
            <a:spLocks noChangeArrowheads="1"/>
          </p:cNvSpPr>
          <p:nvPr/>
        </p:nvSpPr>
        <p:spPr bwMode="auto">
          <a:xfrm>
            <a:off x="8980488" y="2755900"/>
            <a:ext cx="755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I1</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2</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92" name="Oval 14"/>
          <p:cNvSpPr>
            <a:spLocks noChangeArrowheads="1"/>
          </p:cNvSpPr>
          <p:nvPr/>
        </p:nvSpPr>
        <p:spPr bwMode="auto">
          <a:xfrm>
            <a:off x="9132888" y="2047875"/>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97" name="AutoShape 42"/>
          <p:cNvCxnSpPr>
            <a:cxnSpLocks noChangeShapeType="1"/>
            <a:stCxn id="103" idx="2"/>
            <a:endCxn id="92" idx="2"/>
          </p:cNvCxnSpPr>
          <p:nvPr/>
        </p:nvCxnSpPr>
        <p:spPr bwMode="auto">
          <a:xfrm flipV="1">
            <a:off x="7775575" y="2162175"/>
            <a:ext cx="1357313" cy="338138"/>
          </a:xfrm>
          <a:prstGeom prst="curvedConnector3">
            <a:avLst>
              <a:gd name="adj1" fmla="val 50000"/>
            </a:avLst>
          </a:prstGeom>
          <a:noFill/>
          <a:ln w="9525">
            <a:solidFill>
              <a:schemeClr val="accent4">
                <a:lumMod val="60000"/>
                <a:lumOff val="40000"/>
              </a:schemeClr>
            </a:solidFill>
            <a:prstDash val="lg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 name="AutoShape 42"/>
          <p:cNvCxnSpPr>
            <a:cxnSpLocks noChangeShapeType="1"/>
            <a:stCxn id="103" idx="2"/>
            <a:endCxn id="87" idx="2"/>
          </p:cNvCxnSpPr>
          <p:nvPr/>
        </p:nvCxnSpPr>
        <p:spPr bwMode="auto">
          <a:xfrm>
            <a:off x="7775575" y="2881313"/>
            <a:ext cx="863600" cy="30162"/>
          </a:xfrm>
          <a:prstGeom prst="curvedConnector3">
            <a:avLst>
              <a:gd name="adj1" fmla="val 50000"/>
            </a:avLst>
          </a:prstGeom>
          <a:noFill/>
          <a:ln w="9525">
            <a:solidFill>
              <a:schemeClr val="accent4">
                <a:lumMod val="60000"/>
                <a:lumOff val="40000"/>
              </a:schemeClr>
            </a:solidFill>
            <a:prstDash val="lg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 name="直接箭头连接符 72"/>
          <p:cNvCxnSpPr/>
          <p:nvPr/>
        </p:nvCxnSpPr>
        <p:spPr>
          <a:xfrm flipH="1">
            <a:off x="4403725" y="4633119"/>
            <a:ext cx="402432" cy="200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p:bldP spid="87" grpId="0" animBg="1"/>
      <p:bldP spid="90" grpId="0"/>
      <p:bldP spid="9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a:t>
            </a:r>
            <a:r>
              <a:rPr lang="en-US" altLang="zh-CN" sz="4400" dirty="0">
                <a:latin typeface="楷体" panose="02010609060101010101" pitchFamily="49" charset="-122"/>
                <a:ea typeface="楷体" panose="02010609060101010101" pitchFamily="49" charset="-122"/>
              </a:rPr>
              <a:t>6.2 </a:t>
            </a:r>
            <a:r>
              <a:rPr lang="zh-CN" altLang="en-US" sz="4400" dirty="0">
                <a:latin typeface="楷体" panose="02010609060101010101" pitchFamily="49" charset="-122"/>
                <a:ea typeface="楷体" panose="02010609060101010101" pitchFamily="49" charset="-122"/>
              </a:rPr>
              <a:t>频繁项集挖掘方法</a:t>
            </a:r>
            <a:endParaRPr lang="zh-CN" altLang="en-US" sz="4400" dirty="0">
              <a:latin typeface="楷体" panose="02010609060101010101" pitchFamily="49" charset="-122"/>
              <a:ea typeface="楷体" panose="02010609060101010101" pitchFamily="49" charset="-122"/>
            </a:endParaRPr>
          </a:p>
        </p:txBody>
      </p:sp>
      <p:sp>
        <p:nvSpPr>
          <p:cNvPr id="4" name="Rectangle 3"/>
          <p:cNvSpPr>
            <a:spLocks noGrp="1" noChangeArrowheads="1"/>
          </p:cNvSpPr>
          <p:nvPr>
            <p:ph idx="1"/>
          </p:nvPr>
        </p:nvSpPr>
        <p:spPr>
          <a:xfrm>
            <a:off x="522288" y="1160463"/>
            <a:ext cx="9906000" cy="806450"/>
          </a:xfrm>
        </p:spPr>
        <p:txBody>
          <a:bodyPr/>
          <a:lstStyle/>
          <a:p>
            <a:pPr marL="0" indent="0" defTabSz="868680" eaLnBrk="1" hangingPunct="1">
              <a:buFont typeface="Arial" panose="020B0604020202020204" pitchFamily="34" charset="0"/>
              <a:buNone/>
              <a:defRPr/>
            </a:pPr>
            <a:r>
              <a:rPr lang="en-US" altLang="zh-CN" sz="2400" b="1" dirty="0">
                <a:solidFill>
                  <a:srgbClr val="0000FF"/>
                </a:solidFill>
                <a:latin typeface="+mn-ea"/>
                <a:ea typeface="+mn-ea"/>
                <a:cs typeface="Times New Roman" panose="02020603050405020304" pitchFamily="18" charset="0"/>
              </a:rPr>
              <a:t>4</a:t>
            </a:r>
            <a:r>
              <a:rPr lang="zh-CN" altLang="en-US" sz="2400" b="1" dirty="0">
                <a:solidFill>
                  <a:srgbClr val="0000FF"/>
                </a:solidFill>
                <a:latin typeface="+mn-ea"/>
                <a:ea typeface="+mn-ea"/>
                <a:cs typeface="Times New Roman" panose="02020603050405020304" pitchFamily="18" charset="0"/>
              </a:rPr>
              <a:t>、挖掘频繁项集的模式增长方法</a:t>
            </a:r>
            <a:endParaRPr lang="en-US" altLang="zh-CN" sz="2400" b="1" dirty="0">
              <a:solidFill>
                <a:srgbClr val="0000FF"/>
              </a:solidFill>
              <a:latin typeface="+mn-ea"/>
              <a:ea typeface="+mn-ea"/>
              <a:cs typeface="Times New Roman" panose="02020603050405020304" pitchFamily="18" charset="0"/>
            </a:endParaRPr>
          </a:p>
          <a:p>
            <a:pPr marL="0" indent="0" defTabSz="868680" eaLnBrk="1" hangingPunct="1">
              <a:buFont typeface="Arial" panose="020B0604020202020204" pitchFamily="34" charset="0"/>
              <a:buNone/>
              <a:defRPr/>
            </a:pPr>
            <a:r>
              <a:rPr lang="zh-CN" altLang="en-US" sz="2400" b="1" dirty="0">
                <a:latin typeface="+mn-ea"/>
                <a:ea typeface="+mn-ea"/>
                <a:cs typeface="Times New Roman" panose="02020603050405020304" pitchFamily="18" charset="0"/>
              </a:rPr>
              <a:t>例</a:t>
            </a:r>
            <a:r>
              <a:rPr lang="en-US" altLang="zh-CN" sz="2400" b="1" dirty="0">
                <a:latin typeface="+mn-ea"/>
                <a:ea typeface="+mn-ea"/>
                <a:cs typeface="Times New Roman" panose="02020603050405020304" pitchFamily="18" charset="0"/>
              </a:rPr>
              <a:t>1</a:t>
            </a:r>
            <a:r>
              <a:rPr lang="zh-CN" altLang="en-US" sz="2400" b="1" dirty="0">
                <a:latin typeface="+mn-ea"/>
                <a:ea typeface="+mn-ea"/>
                <a:cs typeface="Times New Roman" panose="02020603050405020304" pitchFamily="18" charset="0"/>
              </a:rPr>
              <a:t>：</a:t>
            </a:r>
            <a:endParaRPr lang="zh-CN" altLang="en-US" sz="2400" b="1" dirty="0">
              <a:latin typeface="+mn-ea"/>
              <a:ea typeface="+mn-ea"/>
              <a:cs typeface="Times New Roman" panose="02020603050405020304" pitchFamily="18" charset="0"/>
            </a:endParaRPr>
          </a:p>
        </p:txBody>
      </p:sp>
      <p:pic>
        <p:nvPicPr>
          <p:cNvPr id="61444" name="图片 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68400" y="5103813"/>
            <a:ext cx="1419225"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3" name="表格 12"/>
          <p:cNvGraphicFramePr>
            <a:graphicFrameLocks noGrp="1"/>
          </p:cNvGraphicFramePr>
          <p:nvPr/>
        </p:nvGraphicFramePr>
        <p:xfrm>
          <a:off x="3473450" y="4830763"/>
          <a:ext cx="1193799" cy="1854200"/>
        </p:xfrm>
        <a:graphic>
          <a:graphicData uri="http://schemas.openxmlformats.org/drawingml/2006/table">
            <a:tbl>
              <a:tblPr firstRow="1" bandRow="1">
                <a:tableStyleId>{5C22544A-7EE6-4342-B048-85BDC9FD1C3A}</a:tableStyleId>
              </a:tblPr>
              <a:tblGrid>
                <a:gridCol w="397933"/>
                <a:gridCol w="397933"/>
                <a:gridCol w="397933"/>
              </a:tblGrid>
              <a:tr h="370840">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I2</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7</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I1</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6</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I3</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6</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I4</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2</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0840">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I5</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b="0" dirty="0">
                          <a:solidFill>
                            <a:schemeClr val="tx1"/>
                          </a:solidFill>
                          <a:latin typeface="Times New Roman" panose="02020603050405020304" pitchFamily="18" charset="0"/>
                          <a:cs typeface="Times New Roman" panose="02020603050405020304" pitchFamily="18" charset="0"/>
                        </a:rPr>
                        <a:t>2</a:t>
                      </a: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CN" altLang="en-US" b="0" dirty="0">
                        <a:solidFill>
                          <a:schemeClr val="tx1"/>
                        </a:solidFill>
                        <a:latin typeface="Times New Roman" panose="02020603050405020304" pitchFamily="18" charset="0"/>
                        <a:cs typeface="Times New Roman" panose="02020603050405020304" pitchFamily="18" charset="0"/>
                      </a:endParaRPr>
                    </a:p>
                  </a:txBody>
                  <a:tcPr marL="91490" marR="914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cxnSp>
        <p:nvCxnSpPr>
          <p:cNvPr id="28" name="直接箭头连接符 27"/>
          <p:cNvCxnSpPr>
            <a:stCxn id="61444" idx="3"/>
            <a:endCxn id="13" idx="1"/>
          </p:cNvCxnSpPr>
          <p:nvPr/>
        </p:nvCxnSpPr>
        <p:spPr>
          <a:xfrm flipV="1">
            <a:off x="2587625" y="5757863"/>
            <a:ext cx="885825" cy="317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61472" name="组合 28"/>
          <p:cNvGrpSpPr/>
          <p:nvPr/>
        </p:nvGrpSpPr>
        <p:grpSpPr bwMode="auto">
          <a:xfrm>
            <a:off x="7285038" y="3963988"/>
            <a:ext cx="968375" cy="366712"/>
            <a:chOff x="7285831" y="3963374"/>
            <a:chExt cx="968375" cy="367802"/>
          </a:xfrm>
        </p:grpSpPr>
        <p:sp>
          <p:nvSpPr>
            <p:cNvPr id="61524" name="Oval 5"/>
            <p:cNvSpPr>
              <a:spLocks noChangeArrowheads="1"/>
            </p:cNvSpPr>
            <p:nvPr/>
          </p:nvSpPr>
          <p:spPr bwMode="auto">
            <a:xfrm>
              <a:off x="7285831" y="4052508"/>
              <a:ext cx="228600" cy="228291"/>
            </a:xfrm>
            <a:prstGeom prst="ellipse">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sz="2400" b="0">
                <a:solidFill>
                  <a:srgbClr val="000000"/>
                </a:solidFill>
                <a:latin typeface="Tahoma" panose="020B0604030504040204" pitchFamily="34" charset="0"/>
              </a:endParaRPr>
            </a:p>
          </p:txBody>
        </p:sp>
        <p:sp>
          <p:nvSpPr>
            <p:cNvPr id="61525" name="Text Box 6"/>
            <p:cNvSpPr txBox="1">
              <a:spLocks noChangeArrowheads="1"/>
            </p:cNvSpPr>
            <p:nvPr/>
          </p:nvSpPr>
          <p:spPr bwMode="auto">
            <a:xfrm>
              <a:off x="7533481" y="3963374"/>
              <a:ext cx="720725" cy="367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null{}</a:t>
              </a:r>
              <a:endParaRPr lang="en-US" altLang="zh-CN" sz="1800" b="0">
                <a:solidFill>
                  <a:srgbClr val="000000"/>
                </a:solidFill>
                <a:latin typeface="Tahoma" panose="020B0604030504040204" pitchFamily="34" charset="0"/>
                <a:ea typeface="宋体" panose="02010600030101010101" pitchFamily="2" charset="-122"/>
              </a:endParaRPr>
            </a:p>
          </p:txBody>
        </p:sp>
      </p:grpSp>
      <p:sp>
        <p:nvSpPr>
          <p:cNvPr id="61473" name="Oval 10"/>
          <p:cNvSpPr>
            <a:spLocks noChangeArrowheads="1"/>
          </p:cNvSpPr>
          <p:nvPr/>
        </p:nvSpPr>
        <p:spPr bwMode="auto">
          <a:xfrm>
            <a:off x="6831013" y="4814888"/>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61474" name="AutoShape 11"/>
          <p:cNvCxnSpPr>
            <a:cxnSpLocks noChangeShapeType="1"/>
            <a:stCxn id="61524" idx="3"/>
            <a:endCxn id="61473" idx="7"/>
          </p:cNvCxnSpPr>
          <p:nvPr/>
        </p:nvCxnSpPr>
        <p:spPr bwMode="auto">
          <a:xfrm flipH="1">
            <a:off x="7024688" y="4248150"/>
            <a:ext cx="295275" cy="601663"/>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61475" name="Text Box 12"/>
          <p:cNvSpPr txBox="1">
            <a:spLocks noChangeArrowheads="1"/>
          </p:cNvSpPr>
          <p:nvPr/>
        </p:nvSpPr>
        <p:spPr bwMode="auto">
          <a:xfrm>
            <a:off x="6094413" y="4692650"/>
            <a:ext cx="755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I2</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7</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61476" name="Oval 14"/>
          <p:cNvSpPr>
            <a:spLocks noChangeArrowheads="1"/>
          </p:cNvSpPr>
          <p:nvPr/>
        </p:nvSpPr>
        <p:spPr bwMode="auto">
          <a:xfrm>
            <a:off x="6215063" y="5500688"/>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61477" name="AutoShape 15"/>
          <p:cNvCxnSpPr>
            <a:cxnSpLocks noChangeShapeType="1"/>
            <a:stCxn id="61473" idx="3"/>
            <a:endCxn id="61476" idx="7"/>
          </p:cNvCxnSpPr>
          <p:nvPr/>
        </p:nvCxnSpPr>
        <p:spPr bwMode="auto">
          <a:xfrm flipH="1">
            <a:off x="6410325" y="5010150"/>
            <a:ext cx="454025" cy="525463"/>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61478" name="Text Box 16"/>
          <p:cNvSpPr txBox="1">
            <a:spLocks noChangeArrowheads="1"/>
          </p:cNvSpPr>
          <p:nvPr/>
        </p:nvSpPr>
        <p:spPr bwMode="auto">
          <a:xfrm>
            <a:off x="5446713" y="5410200"/>
            <a:ext cx="7540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I1</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4</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61479" name="Oval 18"/>
          <p:cNvSpPr>
            <a:spLocks noChangeArrowheads="1"/>
          </p:cNvSpPr>
          <p:nvPr/>
        </p:nvSpPr>
        <p:spPr bwMode="auto">
          <a:xfrm>
            <a:off x="5681663" y="6186488"/>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61480" name="AutoShape 19"/>
          <p:cNvCxnSpPr>
            <a:cxnSpLocks noChangeShapeType="1"/>
            <a:stCxn id="61476" idx="3"/>
            <a:endCxn id="61479" idx="7"/>
          </p:cNvCxnSpPr>
          <p:nvPr/>
        </p:nvCxnSpPr>
        <p:spPr bwMode="auto">
          <a:xfrm flipH="1">
            <a:off x="5876925" y="5695950"/>
            <a:ext cx="371475" cy="525463"/>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61481" name="Text Box 20"/>
          <p:cNvSpPr txBox="1">
            <a:spLocks noChangeArrowheads="1"/>
          </p:cNvSpPr>
          <p:nvPr/>
        </p:nvSpPr>
        <p:spPr bwMode="auto">
          <a:xfrm>
            <a:off x="4927600" y="6094413"/>
            <a:ext cx="755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I5</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1</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61482" name="Rectangle 22"/>
          <p:cNvSpPr>
            <a:spLocks noChangeArrowheads="1"/>
          </p:cNvSpPr>
          <p:nvPr/>
        </p:nvSpPr>
        <p:spPr bwMode="auto">
          <a:xfrm>
            <a:off x="5035550" y="5526088"/>
            <a:ext cx="1841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20000"/>
              </a:spcBef>
              <a:buClr>
                <a:srgbClr val="3333CC"/>
              </a:buClr>
              <a:buSzPct val="60000"/>
            </a:pPr>
            <a:endParaRPr lang="en-AU" altLang="zh-CN" sz="1600" b="0">
              <a:solidFill>
                <a:srgbClr val="000000"/>
              </a:solidFill>
              <a:latin typeface="楷体_GB2312" pitchFamily="49" charset="-122"/>
            </a:endParaRPr>
          </a:p>
        </p:txBody>
      </p:sp>
      <p:sp>
        <p:nvSpPr>
          <p:cNvPr id="61483" name="Rectangle 25"/>
          <p:cNvSpPr>
            <a:spLocks noChangeArrowheads="1"/>
          </p:cNvSpPr>
          <p:nvPr/>
        </p:nvSpPr>
        <p:spPr bwMode="auto">
          <a:xfrm>
            <a:off x="5192713" y="5160963"/>
            <a:ext cx="1841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20000"/>
              </a:spcBef>
              <a:buClr>
                <a:srgbClr val="3333CC"/>
              </a:buClr>
              <a:buSzPct val="60000"/>
            </a:pPr>
            <a:endParaRPr lang="en-AU" altLang="zh-CN" sz="1600" b="0">
              <a:solidFill>
                <a:srgbClr val="000000"/>
              </a:solidFill>
              <a:latin typeface="楷体_GB2312" pitchFamily="49" charset="-122"/>
            </a:endParaRPr>
          </a:p>
        </p:txBody>
      </p:sp>
      <p:sp>
        <p:nvSpPr>
          <p:cNvPr id="61484" name="Rectangle 28"/>
          <p:cNvSpPr>
            <a:spLocks noChangeArrowheads="1"/>
          </p:cNvSpPr>
          <p:nvPr/>
        </p:nvSpPr>
        <p:spPr bwMode="auto">
          <a:xfrm>
            <a:off x="5192713" y="4795838"/>
            <a:ext cx="1841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20000"/>
              </a:spcBef>
              <a:buClr>
                <a:srgbClr val="3333CC"/>
              </a:buClr>
              <a:buSzPct val="60000"/>
            </a:pPr>
            <a:endParaRPr lang="en-AU" altLang="zh-CN" sz="1600" b="0">
              <a:solidFill>
                <a:srgbClr val="000000"/>
              </a:solidFill>
              <a:latin typeface="楷体_GB2312" pitchFamily="49" charset="-122"/>
            </a:endParaRPr>
          </a:p>
        </p:txBody>
      </p:sp>
      <p:sp>
        <p:nvSpPr>
          <p:cNvPr id="61485" name="Rectangle 34"/>
          <p:cNvSpPr>
            <a:spLocks noChangeArrowheads="1"/>
          </p:cNvSpPr>
          <p:nvPr/>
        </p:nvSpPr>
        <p:spPr bwMode="auto">
          <a:xfrm>
            <a:off x="5192713" y="4065588"/>
            <a:ext cx="1841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20000"/>
              </a:spcBef>
              <a:buClr>
                <a:srgbClr val="3333CC"/>
              </a:buClr>
              <a:buSzPct val="60000"/>
            </a:pPr>
            <a:endParaRPr lang="en-AU" altLang="zh-CN" sz="1600" b="0">
              <a:solidFill>
                <a:srgbClr val="000000"/>
              </a:solidFill>
              <a:latin typeface="楷体_GB2312" pitchFamily="49" charset="-122"/>
            </a:endParaRPr>
          </a:p>
        </p:txBody>
      </p:sp>
      <p:sp>
        <p:nvSpPr>
          <p:cNvPr id="61486" name="Oval 45"/>
          <p:cNvSpPr>
            <a:spLocks noChangeArrowheads="1"/>
          </p:cNvSpPr>
          <p:nvPr/>
        </p:nvSpPr>
        <p:spPr bwMode="auto">
          <a:xfrm>
            <a:off x="7589838" y="5502275"/>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61487" name="AutoShape 46"/>
          <p:cNvCxnSpPr>
            <a:cxnSpLocks noChangeShapeType="1"/>
            <a:stCxn id="61473" idx="5"/>
            <a:endCxn id="61486" idx="1"/>
          </p:cNvCxnSpPr>
          <p:nvPr/>
        </p:nvCxnSpPr>
        <p:spPr bwMode="auto">
          <a:xfrm>
            <a:off x="7024688" y="5010150"/>
            <a:ext cx="598487" cy="525463"/>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61488" name="Text Box 47"/>
          <p:cNvSpPr txBox="1">
            <a:spLocks noChangeArrowheads="1"/>
          </p:cNvSpPr>
          <p:nvPr/>
        </p:nvSpPr>
        <p:spPr bwMode="auto">
          <a:xfrm>
            <a:off x="7840663" y="5427663"/>
            <a:ext cx="755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I4</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1</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61489" name="Oval 45"/>
          <p:cNvSpPr>
            <a:spLocks noChangeArrowheads="1"/>
          </p:cNvSpPr>
          <p:nvPr/>
        </p:nvSpPr>
        <p:spPr bwMode="auto">
          <a:xfrm>
            <a:off x="6726238" y="5489575"/>
            <a:ext cx="228600" cy="238125"/>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61490" name="AutoShape 46"/>
          <p:cNvCxnSpPr>
            <a:cxnSpLocks noChangeShapeType="1"/>
            <a:stCxn id="61473" idx="4"/>
            <a:endCxn id="61489" idx="0"/>
          </p:cNvCxnSpPr>
          <p:nvPr/>
        </p:nvCxnSpPr>
        <p:spPr bwMode="auto">
          <a:xfrm flipH="1">
            <a:off x="6840538" y="5043488"/>
            <a:ext cx="104775" cy="446087"/>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61491" name="Text Box 47"/>
          <p:cNvSpPr txBox="1">
            <a:spLocks noChangeArrowheads="1"/>
          </p:cNvSpPr>
          <p:nvPr/>
        </p:nvSpPr>
        <p:spPr bwMode="auto">
          <a:xfrm>
            <a:off x="6878638" y="5287963"/>
            <a:ext cx="6064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I3:</a:t>
            </a:r>
            <a:r>
              <a:rPr lang="en-US" altLang="zh-CN" sz="1800" b="0">
                <a:solidFill>
                  <a:srgbClr val="FF0000"/>
                </a:solidFill>
                <a:latin typeface="Tahoma" panose="020B0604030504040204" pitchFamily="34" charset="0"/>
                <a:ea typeface="宋体" panose="02010600030101010101" pitchFamily="2" charset="-122"/>
              </a:rPr>
              <a:t>2</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61492" name="Oval 45"/>
          <p:cNvSpPr>
            <a:spLocks noChangeArrowheads="1"/>
          </p:cNvSpPr>
          <p:nvPr/>
        </p:nvSpPr>
        <p:spPr bwMode="auto">
          <a:xfrm>
            <a:off x="6845300" y="6175375"/>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61493" name="AutoShape 46"/>
          <p:cNvCxnSpPr>
            <a:cxnSpLocks noChangeShapeType="1"/>
            <a:stCxn id="61473" idx="4"/>
            <a:endCxn id="61492" idx="1"/>
          </p:cNvCxnSpPr>
          <p:nvPr/>
        </p:nvCxnSpPr>
        <p:spPr bwMode="auto">
          <a:xfrm>
            <a:off x="6434138" y="5681663"/>
            <a:ext cx="444500" cy="52705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61494" name="Text Box 47"/>
          <p:cNvSpPr txBox="1">
            <a:spLocks noChangeArrowheads="1"/>
          </p:cNvSpPr>
          <p:nvPr/>
        </p:nvSpPr>
        <p:spPr bwMode="auto">
          <a:xfrm>
            <a:off x="7064375" y="6105525"/>
            <a:ext cx="755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I4</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1</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61495" name="Oval 45"/>
          <p:cNvSpPr>
            <a:spLocks noChangeArrowheads="1"/>
          </p:cNvSpPr>
          <p:nvPr/>
        </p:nvSpPr>
        <p:spPr bwMode="auto">
          <a:xfrm>
            <a:off x="6223000" y="6170613"/>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61496" name="AutoShape 46"/>
          <p:cNvCxnSpPr>
            <a:cxnSpLocks noChangeShapeType="1"/>
            <a:stCxn id="61476" idx="4"/>
            <a:endCxn id="61495" idx="0"/>
          </p:cNvCxnSpPr>
          <p:nvPr/>
        </p:nvCxnSpPr>
        <p:spPr bwMode="auto">
          <a:xfrm>
            <a:off x="6329363" y="5729288"/>
            <a:ext cx="7937" cy="441325"/>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61497" name="Text Box 47"/>
          <p:cNvSpPr txBox="1">
            <a:spLocks noChangeArrowheads="1"/>
          </p:cNvSpPr>
          <p:nvPr/>
        </p:nvSpPr>
        <p:spPr bwMode="auto">
          <a:xfrm>
            <a:off x="5861050" y="6383338"/>
            <a:ext cx="6048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I3:</a:t>
            </a:r>
            <a:r>
              <a:rPr lang="en-US" altLang="zh-CN" sz="1800" b="0">
                <a:solidFill>
                  <a:srgbClr val="FF0000"/>
                </a:solidFill>
                <a:latin typeface="Tahoma" panose="020B0604030504040204" pitchFamily="34" charset="0"/>
                <a:ea typeface="宋体" panose="02010600030101010101" pitchFamily="2" charset="-122"/>
              </a:rPr>
              <a:t>2</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61498" name="Oval 45"/>
          <p:cNvSpPr>
            <a:spLocks noChangeArrowheads="1"/>
          </p:cNvSpPr>
          <p:nvPr/>
        </p:nvSpPr>
        <p:spPr bwMode="auto">
          <a:xfrm>
            <a:off x="6542088" y="6842125"/>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61499" name="AutoShape 46"/>
          <p:cNvCxnSpPr>
            <a:cxnSpLocks noChangeShapeType="1"/>
            <a:stCxn id="61495" idx="4"/>
            <a:endCxn id="61498" idx="1"/>
          </p:cNvCxnSpPr>
          <p:nvPr/>
        </p:nvCxnSpPr>
        <p:spPr bwMode="auto">
          <a:xfrm>
            <a:off x="6337300" y="6399213"/>
            <a:ext cx="239713" cy="47625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61500" name="Text Box 47"/>
          <p:cNvSpPr txBox="1">
            <a:spLocks noChangeArrowheads="1"/>
          </p:cNvSpPr>
          <p:nvPr/>
        </p:nvSpPr>
        <p:spPr bwMode="auto">
          <a:xfrm>
            <a:off x="6792913" y="6765925"/>
            <a:ext cx="755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I5</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1</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61501" name="Oval 45"/>
          <p:cNvSpPr>
            <a:spLocks noChangeArrowheads="1"/>
          </p:cNvSpPr>
          <p:nvPr/>
        </p:nvSpPr>
        <p:spPr bwMode="auto">
          <a:xfrm>
            <a:off x="8013700" y="4754563"/>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61502" name="AutoShape 46"/>
          <p:cNvCxnSpPr>
            <a:cxnSpLocks noChangeShapeType="1"/>
            <a:stCxn id="61524" idx="5"/>
            <a:endCxn id="61501" idx="1"/>
          </p:cNvCxnSpPr>
          <p:nvPr/>
        </p:nvCxnSpPr>
        <p:spPr bwMode="auto">
          <a:xfrm>
            <a:off x="7480300" y="4248150"/>
            <a:ext cx="566738" cy="53975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61503" name="Text Box 47"/>
          <p:cNvSpPr txBox="1">
            <a:spLocks noChangeArrowheads="1"/>
          </p:cNvSpPr>
          <p:nvPr/>
        </p:nvSpPr>
        <p:spPr bwMode="auto">
          <a:xfrm>
            <a:off x="8264525" y="4679950"/>
            <a:ext cx="755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I1</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2</a:t>
            </a:r>
            <a:endParaRPr lang="en-US" altLang="zh-CN" sz="1800" b="0">
              <a:solidFill>
                <a:srgbClr val="FF0000"/>
              </a:solidFill>
              <a:latin typeface="Tahoma" panose="020B0604030504040204" pitchFamily="34" charset="0"/>
              <a:ea typeface="宋体" panose="02010600030101010101" pitchFamily="2" charset="-122"/>
            </a:endParaRPr>
          </a:p>
        </p:txBody>
      </p:sp>
      <p:sp>
        <p:nvSpPr>
          <p:cNvPr id="61504" name="Oval 45"/>
          <p:cNvSpPr>
            <a:spLocks noChangeArrowheads="1"/>
          </p:cNvSpPr>
          <p:nvPr/>
        </p:nvSpPr>
        <p:spPr bwMode="auto">
          <a:xfrm>
            <a:off x="8769350" y="5467350"/>
            <a:ext cx="228600" cy="228600"/>
          </a:xfrm>
          <a:prstGeom prst="ellipse">
            <a:avLst/>
          </a:prstGeom>
          <a:solidFill>
            <a:schemeClr val="accent1"/>
          </a:solidFill>
          <a:ln w="9525">
            <a:solidFill>
              <a:schemeClr val="tx1"/>
            </a:solidFill>
            <a:round/>
          </a:ln>
        </p:spPr>
        <p:txBody>
          <a:bodyPr wrap="none" anchor="ctr"/>
          <a:lstStyle/>
          <a:p>
            <a:pPr eaLnBrk="1" hangingPunct="1"/>
            <a:endParaRPr lang="zh-CN" altLang="en-US" sz="2400" b="0">
              <a:solidFill>
                <a:srgbClr val="000000"/>
              </a:solidFill>
              <a:latin typeface="Tahoma" panose="020B0604030504040204" pitchFamily="34" charset="0"/>
            </a:endParaRPr>
          </a:p>
        </p:txBody>
      </p:sp>
      <p:cxnSp>
        <p:nvCxnSpPr>
          <p:cNvPr id="61505" name="AutoShape 46"/>
          <p:cNvCxnSpPr>
            <a:cxnSpLocks noChangeShapeType="1"/>
            <a:stCxn id="61501" idx="5"/>
            <a:endCxn id="61504" idx="1"/>
          </p:cNvCxnSpPr>
          <p:nvPr/>
        </p:nvCxnSpPr>
        <p:spPr bwMode="auto">
          <a:xfrm>
            <a:off x="8208963" y="4949825"/>
            <a:ext cx="593725" cy="550863"/>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61506" name="Text Box 47"/>
          <p:cNvSpPr txBox="1">
            <a:spLocks noChangeArrowheads="1"/>
          </p:cNvSpPr>
          <p:nvPr/>
        </p:nvSpPr>
        <p:spPr bwMode="auto">
          <a:xfrm>
            <a:off x="9020175" y="5392738"/>
            <a:ext cx="755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zh-CN" sz="1800" b="0">
                <a:solidFill>
                  <a:srgbClr val="000000"/>
                </a:solidFill>
                <a:latin typeface="Tahoma" panose="020B0604030504040204" pitchFamily="34" charset="0"/>
                <a:ea typeface="宋体" panose="02010600030101010101" pitchFamily="2" charset="-122"/>
              </a:rPr>
              <a:t>I3</a:t>
            </a:r>
            <a:r>
              <a:rPr lang="zh-CN" altLang="en-US" sz="1800" b="0">
                <a:solidFill>
                  <a:srgbClr val="000000"/>
                </a:solidFill>
                <a:latin typeface="Tahoma" panose="020B0604030504040204" pitchFamily="34" charset="0"/>
                <a:ea typeface="宋体" panose="02010600030101010101" pitchFamily="2" charset="-122"/>
              </a:rPr>
              <a:t>：</a:t>
            </a:r>
            <a:r>
              <a:rPr lang="en-US" altLang="zh-CN" sz="1800" b="0">
                <a:solidFill>
                  <a:srgbClr val="FF0000"/>
                </a:solidFill>
                <a:latin typeface="Tahoma" panose="020B0604030504040204" pitchFamily="34" charset="0"/>
                <a:ea typeface="宋体" panose="02010600030101010101" pitchFamily="2" charset="-122"/>
              </a:rPr>
              <a:t>2</a:t>
            </a:r>
            <a:endParaRPr lang="en-US" altLang="zh-CN" sz="1800" b="0">
              <a:solidFill>
                <a:srgbClr val="FF0000"/>
              </a:solidFill>
              <a:latin typeface="Tahoma" panose="020B0604030504040204" pitchFamily="34" charset="0"/>
              <a:ea typeface="宋体" panose="02010600030101010101" pitchFamily="2" charset="-122"/>
            </a:endParaRPr>
          </a:p>
        </p:txBody>
      </p:sp>
      <p:cxnSp>
        <p:nvCxnSpPr>
          <p:cNvPr id="61507" name="AutoShape 42"/>
          <p:cNvCxnSpPr>
            <a:cxnSpLocks noChangeShapeType="1"/>
            <a:stCxn id="61501" idx="5"/>
            <a:endCxn id="61473" idx="3"/>
          </p:cNvCxnSpPr>
          <p:nvPr/>
        </p:nvCxnSpPr>
        <p:spPr bwMode="auto">
          <a:xfrm flipV="1">
            <a:off x="4486275" y="5010150"/>
            <a:ext cx="2378075" cy="50800"/>
          </a:xfrm>
          <a:prstGeom prst="curvedConnector2">
            <a:avLst/>
          </a:prstGeom>
          <a:noFill/>
          <a:ln w="9525">
            <a:solidFill>
              <a:srgbClr val="B3A2C7"/>
            </a:solidFill>
            <a:prstDash val="lgDash"/>
            <a:round/>
            <a:tailEnd type="triangle" w="med" len="med"/>
          </a:ln>
          <a:extLst>
            <a:ext uri="{909E8E84-426E-40DD-AFC4-6F175D3DCCD1}">
              <a14:hiddenFill xmlns:a14="http://schemas.microsoft.com/office/drawing/2010/main">
                <a:noFill/>
              </a14:hiddenFill>
            </a:ext>
          </a:extLst>
        </p:spPr>
      </p:cxnSp>
      <p:cxnSp>
        <p:nvCxnSpPr>
          <p:cNvPr id="61508" name="AutoShape 42"/>
          <p:cNvCxnSpPr>
            <a:cxnSpLocks noChangeShapeType="1"/>
            <a:stCxn id="61501" idx="5"/>
            <a:endCxn id="61476" idx="1"/>
          </p:cNvCxnSpPr>
          <p:nvPr/>
        </p:nvCxnSpPr>
        <p:spPr bwMode="auto">
          <a:xfrm>
            <a:off x="4486275" y="5427663"/>
            <a:ext cx="1762125" cy="107950"/>
          </a:xfrm>
          <a:prstGeom prst="curvedConnector2">
            <a:avLst/>
          </a:prstGeom>
          <a:noFill/>
          <a:ln w="9525">
            <a:solidFill>
              <a:srgbClr val="B3A2C7"/>
            </a:solidFill>
            <a:prstDash val="lgDash"/>
            <a:round/>
            <a:tailEnd type="triangle" w="med" len="med"/>
          </a:ln>
          <a:extLst>
            <a:ext uri="{909E8E84-426E-40DD-AFC4-6F175D3DCCD1}">
              <a14:hiddenFill xmlns:a14="http://schemas.microsoft.com/office/drawing/2010/main">
                <a:noFill/>
              </a14:hiddenFill>
            </a:ext>
          </a:extLst>
        </p:spPr>
      </p:cxnSp>
      <p:cxnSp>
        <p:nvCxnSpPr>
          <p:cNvPr id="27" name="直接箭头连接符 26"/>
          <p:cNvCxnSpPr>
            <a:stCxn id="61476" idx="6"/>
            <a:endCxn id="61501" idx="2"/>
          </p:cNvCxnSpPr>
          <p:nvPr/>
        </p:nvCxnSpPr>
        <p:spPr>
          <a:xfrm flipV="1">
            <a:off x="6443663" y="4868863"/>
            <a:ext cx="1570037" cy="746125"/>
          </a:xfrm>
          <a:prstGeom prst="straightConnector1">
            <a:avLst/>
          </a:prstGeom>
          <a:ln>
            <a:solidFill>
              <a:schemeClr val="accent4">
                <a:lumMod val="60000"/>
                <a:lumOff val="40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61510" name="AutoShape 42"/>
          <p:cNvCxnSpPr>
            <a:cxnSpLocks noChangeShapeType="1"/>
            <a:stCxn id="61476" idx="6"/>
            <a:endCxn id="61495" idx="1"/>
          </p:cNvCxnSpPr>
          <p:nvPr/>
        </p:nvCxnSpPr>
        <p:spPr bwMode="auto">
          <a:xfrm>
            <a:off x="4484688" y="5784850"/>
            <a:ext cx="1771650" cy="419100"/>
          </a:xfrm>
          <a:prstGeom prst="curvedConnector2">
            <a:avLst/>
          </a:prstGeom>
          <a:noFill/>
          <a:ln w="9525">
            <a:solidFill>
              <a:srgbClr val="B3A2C7"/>
            </a:solidFill>
            <a:prstDash val="lgDash"/>
            <a:round/>
            <a:tailEnd type="triangle" w="med" len="med"/>
          </a:ln>
          <a:extLst>
            <a:ext uri="{909E8E84-426E-40DD-AFC4-6F175D3DCCD1}">
              <a14:hiddenFill xmlns:a14="http://schemas.microsoft.com/office/drawing/2010/main">
                <a:noFill/>
              </a14:hiddenFill>
            </a:ext>
          </a:extLst>
        </p:spPr>
      </p:cxnSp>
      <p:cxnSp>
        <p:nvCxnSpPr>
          <p:cNvPr id="61511" name="AutoShape 42"/>
          <p:cNvCxnSpPr>
            <a:cxnSpLocks noChangeShapeType="1"/>
            <a:stCxn id="61495" idx="6"/>
            <a:endCxn id="61489" idx="3"/>
          </p:cNvCxnSpPr>
          <p:nvPr/>
        </p:nvCxnSpPr>
        <p:spPr bwMode="auto">
          <a:xfrm flipV="1">
            <a:off x="6451600" y="5692775"/>
            <a:ext cx="307975" cy="592138"/>
          </a:xfrm>
          <a:prstGeom prst="curvedConnector2">
            <a:avLst/>
          </a:prstGeom>
          <a:noFill/>
          <a:ln w="9525">
            <a:solidFill>
              <a:srgbClr val="B3A2C7"/>
            </a:solidFill>
            <a:prstDash val="lgDash"/>
            <a:round/>
            <a:tailEnd type="triangle" w="med" len="med"/>
          </a:ln>
          <a:extLst>
            <a:ext uri="{909E8E84-426E-40DD-AFC4-6F175D3DCCD1}">
              <a14:hiddenFill xmlns:a14="http://schemas.microsoft.com/office/drawing/2010/main">
                <a:noFill/>
              </a14:hiddenFill>
            </a:ext>
          </a:extLst>
        </p:spPr>
      </p:cxnSp>
      <p:cxnSp>
        <p:nvCxnSpPr>
          <p:cNvPr id="81" name="AutoShape 42"/>
          <p:cNvCxnSpPr>
            <a:cxnSpLocks noChangeShapeType="1"/>
            <a:stCxn id="61489" idx="5"/>
            <a:endCxn id="61504" idx="4"/>
          </p:cNvCxnSpPr>
          <p:nvPr/>
        </p:nvCxnSpPr>
        <p:spPr bwMode="auto">
          <a:xfrm rot="16200000" flipH="1">
            <a:off x="7900987" y="4713288"/>
            <a:ext cx="3175" cy="1962150"/>
          </a:xfrm>
          <a:prstGeom prst="curvedConnector3">
            <a:avLst>
              <a:gd name="adj1" fmla="val 7413273"/>
            </a:avLst>
          </a:prstGeom>
          <a:noFill/>
          <a:ln w="9525">
            <a:solidFill>
              <a:schemeClr val="accent4">
                <a:lumMod val="60000"/>
                <a:lumOff val="40000"/>
              </a:schemeClr>
            </a:solidFill>
            <a:prstDash val="lg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AutoShape 42"/>
          <p:cNvCxnSpPr>
            <a:cxnSpLocks noChangeShapeType="1"/>
            <a:stCxn id="61489" idx="5"/>
            <a:endCxn id="61492" idx="4"/>
          </p:cNvCxnSpPr>
          <p:nvPr/>
        </p:nvCxnSpPr>
        <p:spPr bwMode="auto">
          <a:xfrm>
            <a:off x="4486275" y="6129338"/>
            <a:ext cx="2473325" cy="274637"/>
          </a:xfrm>
          <a:prstGeom prst="curvedConnector4">
            <a:avLst>
              <a:gd name="adj1" fmla="val 19958"/>
              <a:gd name="adj2" fmla="val 233466"/>
            </a:avLst>
          </a:prstGeom>
          <a:noFill/>
          <a:ln w="9525">
            <a:solidFill>
              <a:schemeClr val="accent4">
                <a:lumMod val="60000"/>
                <a:lumOff val="40000"/>
              </a:schemeClr>
            </a:solidFill>
            <a:prstDash val="lg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AutoShape 42"/>
          <p:cNvCxnSpPr>
            <a:cxnSpLocks noChangeShapeType="1"/>
            <a:stCxn id="61492" idx="7"/>
            <a:endCxn id="61486" idx="4"/>
          </p:cNvCxnSpPr>
          <p:nvPr/>
        </p:nvCxnSpPr>
        <p:spPr bwMode="auto">
          <a:xfrm rot="5400000" flipH="1" flipV="1">
            <a:off x="7133432" y="5638006"/>
            <a:ext cx="477838" cy="663575"/>
          </a:xfrm>
          <a:prstGeom prst="curvedConnector3">
            <a:avLst>
              <a:gd name="adj1" fmla="val 50000"/>
            </a:avLst>
          </a:prstGeom>
          <a:noFill/>
          <a:ln w="9525">
            <a:solidFill>
              <a:schemeClr val="accent4">
                <a:lumMod val="60000"/>
                <a:lumOff val="40000"/>
              </a:schemeClr>
            </a:solidFill>
            <a:prstDash val="lg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515" name="AutoShape 42"/>
          <p:cNvCxnSpPr>
            <a:cxnSpLocks noChangeShapeType="1"/>
            <a:stCxn id="61492" idx="7"/>
            <a:endCxn id="61479" idx="3"/>
          </p:cNvCxnSpPr>
          <p:nvPr/>
        </p:nvCxnSpPr>
        <p:spPr bwMode="auto">
          <a:xfrm flipV="1">
            <a:off x="4486275" y="6381750"/>
            <a:ext cx="1228725" cy="127000"/>
          </a:xfrm>
          <a:prstGeom prst="curvedConnector2">
            <a:avLst/>
          </a:prstGeom>
          <a:noFill/>
          <a:ln w="9525">
            <a:solidFill>
              <a:srgbClr val="B3A2C7"/>
            </a:solidFill>
            <a:prstDash val="lgDash"/>
            <a:round/>
            <a:tailEnd type="triangle" w="med" len="med"/>
          </a:ln>
          <a:extLst>
            <a:ext uri="{909E8E84-426E-40DD-AFC4-6F175D3DCCD1}">
              <a14:hiddenFill xmlns:a14="http://schemas.microsoft.com/office/drawing/2010/main">
                <a:noFill/>
              </a14:hiddenFill>
            </a:ext>
          </a:extLst>
        </p:spPr>
      </p:cxnSp>
      <p:cxnSp>
        <p:nvCxnSpPr>
          <p:cNvPr id="61516" name="AutoShape 42"/>
          <p:cNvCxnSpPr>
            <a:cxnSpLocks noChangeShapeType="1"/>
            <a:stCxn id="61479" idx="4"/>
            <a:endCxn id="61498" idx="2"/>
          </p:cNvCxnSpPr>
          <p:nvPr/>
        </p:nvCxnSpPr>
        <p:spPr bwMode="auto">
          <a:xfrm rot="16200000" flipH="1">
            <a:off x="5894388" y="6310313"/>
            <a:ext cx="542925" cy="746125"/>
          </a:xfrm>
          <a:prstGeom prst="curvedConnector2">
            <a:avLst/>
          </a:prstGeom>
          <a:noFill/>
          <a:ln w="9525">
            <a:solidFill>
              <a:srgbClr val="B3A2C7"/>
            </a:solidFill>
            <a:prstDash val="lgDash"/>
            <a:round/>
            <a:tailEnd type="triangle" w="med" len="med"/>
          </a:ln>
          <a:extLst>
            <a:ext uri="{909E8E84-426E-40DD-AFC4-6F175D3DCCD1}">
              <a14:hiddenFill xmlns:a14="http://schemas.microsoft.com/office/drawing/2010/main">
                <a:noFill/>
              </a14:hiddenFill>
            </a:ext>
          </a:extLst>
        </p:spPr>
      </p:cxnSp>
      <p:sp>
        <p:nvSpPr>
          <p:cNvPr id="103" name="矩形 102"/>
          <p:cNvSpPr/>
          <p:nvPr/>
        </p:nvSpPr>
        <p:spPr>
          <a:xfrm>
            <a:off x="4403725" y="4311650"/>
            <a:ext cx="804863" cy="338138"/>
          </a:xfrm>
          <a:prstGeom prst="rect">
            <a:avLst/>
          </a:prstGeom>
        </p:spPr>
        <p:txBody>
          <a:bodyPr wrap="none">
            <a:spAutoFit/>
          </a:bodyPr>
          <a:lstStyle/>
          <a:p>
            <a:pPr>
              <a:defRPr/>
            </a:pPr>
            <a:r>
              <a:rPr lang="zh-CN" altLang="en-US" sz="1600" b="0" dirty="0">
                <a:solidFill>
                  <a:srgbClr val="0000FF"/>
                </a:solidFill>
                <a:latin typeface="+mn-ea"/>
                <a:ea typeface="+mn-ea"/>
              </a:rPr>
              <a:t>结点链</a:t>
            </a:r>
            <a:endParaRPr lang="zh-CN" altLang="en-US" b="0" dirty="0">
              <a:solidFill>
                <a:srgbClr val="0000FF"/>
              </a:solidFill>
              <a:latin typeface="+mn-ea"/>
              <a:ea typeface="+mn-ea"/>
            </a:endParaRPr>
          </a:p>
        </p:txBody>
      </p:sp>
      <p:sp>
        <p:nvSpPr>
          <p:cNvPr id="105" name="矩形 104"/>
          <p:cNvSpPr/>
          <p:nvPr/>
        </p:nvSpPr>
        <p:spPr>
          <a:xfrm>
            <a:off x="3570288" y="4065588"/>
            <a:ext cx="877887" cy="584200"/>
          </a:xfrm>
          <a:prstGeom prst="rect">
            <a:avLst/>
          </a:prstGeom>
        </p:spPr>
        <p:txBody>
          <a:bodyPr>
            <a:spAutoFit/>
          </a:bodyPr>
          <a:lstStyle/>
          <a:p>
            <a:pPr algn="ctr">
              <a:defRPr/>
            </a:pPr>
            <a:r>
              <a:rPr lang="zh-CN" altLang="en-US" sz="1600" b="0" dirty="0">
                <a:solidFill>
                  <a:srgbClr val="0000FF"/>
                </a:solidFill>
                <a:latin typeface="+mn-ea"/>
                <a:ea typeface="+mn-ea"/>
              </a:rPr>
              <a:t>支持度计数</a:t>
            </a:r>
            <a:endParaRPr lang="zh-CN" altLang="en-US" b="0" dirty="0">
              <a:solidFill>
                <a:srgbClr val="0000FF"/>
              </a:solidFill>
              <a:latin typeface="+mn-ea"/>
              <a:ea typeface="+mn-ea"/>
            </a:endParaRPr>
          </a:p>
        </p:txBody>
      </p:sp>
      <p:sp>
        <p:nvSpPr>
          <p:cNvPr id="106" name="矩形 105"/>
          <p:cNvSpPr/>
          <p:nvPr/>
        </p:nvSpPr>
        <p:spPr>
          <a:xfrm>
            <a:off x="2940050" y="4327525"/>
            <a:ext cx="846138" cy="322263"/>
          </a:xfrm>
          <a:prstGeom prst="rect">
            <a:avLst/>
          </a:prstGeom>
        </p:spPr>
        <p:txBody>
          <a:bodyPr>
            <a:spAutoFit/>
          </a:bodyPr>
          <a:lstStyle/>
          <a:p>
            <a:pPr>
              <a:defRPr/>
            </a:pPr>
            <a:r>
              <a:rPr lang="zh-CN" altLang="en-US" b="0" dirty="0">
                <a:solidFill>
                  <a:srgbClr val="0000FF"/>
                </a:solidFill>
                <a:latin typeface="+mn-ea"/>
                <a:ea typeface="+mn-ea"/>
              </a:rPr>
              <a:t>项</a:t>
            </a:r>
            <a:r>
              <a:rPr lang="en-US" altLang="zh-CN" b="0" dirty="0">
                <a:solidFill>
                  <a:srgbClr val="0000FF"/>
                </a:solidFill>
                <a:latin typeface="+mn-ea"/>
                <a:ea typeface="+mn-ea"/>
              </a:rPr>
              <a:t>ID</a:t>
            </a:r>
            <a:endParaRPr lang="zh-CN" altLang="en-US" b="0" dirty="0">
              <a:solidFill>
                <a:srgbClr val="0000FF"/>
              </a:solidFill>
              <a:latin typeface="+mn-ea"/>
              <a:ea typeface="+mn-ea"/>
            </a:endParaRPr>
          </a:p>
        </p:txBody>
      </p:sp>
      <p:cxnSp>
        <p:nvCxnSpPr>
          <p:cNvPr id="107" name="直接箭头连接符 106"/>
          <p:cNvCxnSpPr>
            <a:stCxn id="106" idx="2"/>
            <a:endCxn id="61498" idx="2"/>
          </p:cNvCxnSpPr>
          <p:nvPr/>
        </p:nvCxnSpPr>
        <p:spPr>
          <a:xfrm>
            <a:off x="3363913" y="4649788"/>
            <a:ext cx="206375" cy="1381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9" name="直接箭头连接符 108"/>
          <p:cNvCxnSpPr>
            <a:stCxn id="105" idx="2"/>
            <a:endCxn id="13" idx="0"/>
          </p:cNvCxnSpPr>
          <p:nvPr/>
        </p:nvCxnSpPr>
        <p:spPr>
          <a:xfrm>
            <a:off x="4009232" y="4649788"/>
            <a:ext cx="61117" cy="1809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61523"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9838" y="2014538"/>
            <a:ext cx="8883650" cy="159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1" name="直接箭头连接符 60"/>
          <p:cNvCxnSpPr/>
          <p:nvPr/>
        </p:nvCxnSpPr>
        <p:spPr>
          <a:xfrm flipH="1">
            <a:off x="4403725" y="4633119"/>
            <a:ext cx="402432" cy="200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a:t>
            </a:r>
            <a:r>
              <a:rPr lang="en-US" altLang="zh-CN" sz="4400" dirty="0">
                <a:latin typeface="楷体" panose="02010609060101010101" pitchFamily="49" charset="-122"/>
                <a:ea typeface="楷体" panose="02010609060101010101" pitchFamily="49" charset="-122"/>
              </a:rPr>
              <a:t>6.2 </a:t>
            </a:r>
            <a:r>
              <a:rPr lang="zh-CN" altLang="en-US" sz="4400" dirty="0">
                <a:latin typeface="楷体" panose="02010609060101010101" pitchFamily="49" charset="-122"/>
                <a:ea typeface="楷体" panose="02010609060101010101" pitchFamily="49" charset="-122"/>
              </a:rPr>
              <a:t>频繁项集挖掘方法</a:t>
            </a:r>
            <a:endParaRPr lang="zh-CN" altLang="en-US" sz="4400" dirty="0">
              <a:latin typeface="楷体" panose="02010609060101010101" pitchFamily="49" charset="-122"/>
              <a:ea typeface="楷体" panose="02010609060101010101" pitchFamily="49" charset="-122"/>
            </a:endParaRPr>
          </a:p>
        </p:txBody>
      </p:sp>
      <p:sp>
        <p:nvSpPr>
          <p:cNvPr id="4" name="Rectangle 3"/>
          <p:cNvSpPr>
            <a:spLocks noGrp="1" noChangeArrowheads="1"/>
          </p:cNvSpPr>
          <p:nvPr>
            <p:ph idx="1"/>
          </p:nvPr>
        </p:nvSpPr>
        <p:spPr>
          <a:xfrm>
            <a:off x="522288" y="1160463"/>
            <a:ext cx="9906000" cy="1250950"/>
          </a:xfrm>
        </p:spPr>
        <p:txBody>
          <a:bodyPr/>
          <a:lstStyle/>
          <a:p>
            <a:pPr marL="0" indent="0" defTabSz="868680" eaLnBrk="1" hangingPunct="1">
              <a:buFont typeface="Arial" panose="020B0604020202020204" pitchFamily="34" charset="0"/>
              <a:buNone/>
              <a:defRPr/>
            </a:pPr>
            <a:r>
              <a:rPr lang="en-US" altLang="zh-CN" sz="2400" b="1" dirty="0">
                <a:solidFill>
                  <a:srgbClr val="0000FF"/>
                </a:solidFill>
                <a:latin typeface="+mn-ea"/>
                <a:ea typeface="+mn-ea"/>
                <a:cs typeface="Times New Roman" panose="02020603050405020304" pitchFamily="18" charset="0"/>
                <a:sym typeface="+mn-ea"/>
              </a:rPr>
              <a:t>4</a:t>
            </a:r>
            <a:r>
              <a:rPr lang="zh-CN" altLang="en-US" sz="2400" b="1" dirty="0">
                <a:solidFill>
                  <a:srgbClr val="0000FF"/>
                </a:solidFill>
                <a:latin typeface="+mn-ea"/>
                <a:ea typeface="+mn-ea"/>
                <a:cs typeface="Times New Roman" panose="02020603050405020304" pitchFamily="18" charset="0"/>
                <a:sym typeface="+mn-ea"/>
              </a:rPr>
              <a:t>、挖掘频繁项集的模式增长方法</a:t>
            </a:r>
            <a:endParaRPr lang="en-US" altLang="zh-CN" sz="2400" b="1" dirty="0">
              <a:solidFill>
                <a:srgbClr val="0000FF"/>
              </a:solidFill>
              <a:latin typeface="+mn-ea"/>
              <a:ea typeface="+mn-ea"/>
              <a:cs typeface="Times New Roman" panose="02020603050405020304" pitchFamily="18" charset="0"/>
            </a:endParaRPr>
          </a:p>
          <a:p>
            <a:pPr marL="0" indent="0" defTabSz="868680" eaLnBrk="1" hangingPunct="1">
              <a:buFont typeface="Arial" panose="020B0604020202020204" pitchFamily="34" charset="0"/>
              <a:buNone/>
              <a:defRPr/>
            </a:pPr>
            <a:r>
              <a:rPr lang="zh-CN" altLang="en-US" sz="2400" b="1" dirty="0">
                <a:latin typeface="+mn-ea"/>
                <a:ea typeface="+mn-ea"/>
              </a:rPr>
              <a:t>例</a:t>
            </a:r>
            <a:r>
              <a:rPr lang="en-US" altLang="zh-CN" sz="2400" b="1" dirty="0">
                <a:latin typeface="+mn-ea"/>
                <a:ea typeface="+mn-ea"/>
              </a:rPr>
              <a:t>2</a:t>
            </a:r>
            <a:r>
              <a:rPr lang="zh-CN" altLang="en-US" sz="2400" b="1" dirty="0">
                <a:latin typeface="+mn-ea"/>
                <a:ea typeface="+mn-ea"/>
              </a:rPr>
              <a:t>：</a:t>
            </a:r>
            <a:endParaRPr lang="en-US" altLang="zh-CN" sz="2400" b="1" dirty="0">
              <a:latin typeface="+mn-ea"/>
              <a:ea typeface="+mn-ea"/>
            </a:endParaRPr>
          </a:p>
        </p:txBody>
      </p:sp>
      <p:sp>
        <p:nvSpPr>
          <p:cNvPr id="6" name="Text Box 3"/>
          <p:cNvSpPr txBox="1">
            <a:spLocks noChangeArrowheads="1"/>
          </p:cNvSpPr>
          <p:nvPr/>
        </p:nvSpPr>
        <p:spPr bwMode="auto">
          <a:xfrm>
            <a:off x="1271588" y="2146300"/>
            <a:ext cx="1984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a:r>
              <a:rPr lang="en-US" altLang="zh-CN" sz="2400" b="0">
                <a:solidFill>
                  <a:srgbClr val="000000"/>
                </a:solidFill>
                <a:latin typeface="Times New Roman" panose="02020603050405020304" pitchFamily="18" charset="0"/>
              </a:rPr>
              <a:t>Database TDB</a:t>
            </a:r>
            <a:endParaRPr lang="en-US" altLang="zh-CN" sz="2400" b="0">
              <a:solidFill>
                <a:srgbClr val="000000"/>
              </a:solidFill>
              <a:latin typeface="Times New Roman" panose="02020603050405020304" pitchFamily="18" charset="0"/>
            </a:endParaRPr>
          </a:p>
        </p:txBody>
      </p:sp>
      <p:graphicFrame>
        <p:nvGraphicFramePr>
          <p:cNvPr id="24" name="Group 21"/>
          <p:cNvGraphicFramePr>
            <a:graphicFrameLocks noGrp="1"/>
          </p:cNvGraphicFramePr>
          <p:nvPr/>
        </p:nvGraphicFramePr>
        <p:xfrm>
          <a:off x="1360488" y="2586038"/>
          <a:ext cx="1905000" cy="1622440"/>
        </p:xfrm>
        <a:graphic>
          <a:graphicData uri="http://schemas.openxmlformats.org/drawingml/2006/table">
            <a:tbl>
              <a:tblPr/>
              <a:tblGrid>
                <a:gridCol w="685800"/>
                <a:gridCol w="1219200"/>
              </a:tblGrid>
              <a:tr h="324485">
                <a:tc>
                  <a:txBody>
                    <a:body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1" i="0" u="none" strike="noStrike" cap="none" normalizeH="0" baseline="0" dirty="0" err="1">
                          <a:ln>
                            <a:noFill/>
                          </a:ln>
                          <a:solidFill>
                            <a:schemeClr val="bg1"/>
                          </a:solidFill>
                          <a:effectLst/>
                          <a:latin typeface="Arial" panose="020B0604020202020204" pitchFamily="34" charset="0"/>
                          <a:ea typeface="宋体" panose="02010600030101010101" pitchFamily="2" charset="-122"/>
                        </a:rPr>
                        <a:t>Tid</a:t>
                      </a:r>
                      <a:endParaRPr kumimoji="0" lang="en-US" altLang="zh-CN" sz="1700" b="1"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txBody>
                  <a:tcPr marT="45658" marB="4565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1" i="0" u="none" strike="noStrike" cap="none" normalizeH="0" baseline="0" dirty="0">
                          <a:ln>
                            <a:noFill/>
                          </a:ln>
                          <a:solidFill>
                            <a:schemeClr val="bg1"/>
                          </a:solidFill>
                          <a:effectLst/>
                          <a:latin typeface="Arial" panose="020B0604020202020204" pitchFamily="34" charset="0"/>
                          <a:ea typeface="宋体" panose="02010600030101010101" pitchFamily="2" charset="-122"/>
                        </a:rPr>
                        <a:t>Items</a:t>
                      </a:r>
                      <a:endParaRPr kumimoji="0" lang="en-US" altLang="zh-CN" sz="1700" b="1" i="0" u="none" strike="noStrike" cap="none" normalizeH="0" baseline="0" dirty="0">
                        <a:ln>
                          <a:noFill/>
                        </a:ln>
                        <a:solidFill>
                          <a:schemeClr val="bg1"/>
                        </a:solidFill>
                        <a:effectLst/>
                        <a:latin typeface="Arial" panose="020B0604020202020204" pitchFamily="34" charset="0"/>
                        <a:ea typeface="宋体" panose="02010600030101010101" pitchFamily="2" charset="-122"/>
                      </a:endParaRPr>
                    </a:p>
                  </a:txBody>
                  <a:tcPr marT="45658" marB="4565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accent1"/>
                    </a:solidFill>
                  </a:tcPr>
                </a:tc>
              </a:tr>
              <a:tr h="324485">
                <a:tc>
                  <a:txBody>
                    <a:body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10</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8" marB="4565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A, C, D</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8" marB="4565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24485">
                <a:tc>
                  <a:txBody>
                    <a:body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20</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8" marB="4565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B, C, E</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8" marB="4565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24485">
                <a:tc>
                  <a:txBody>
                    <a:body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30</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8" marB="4565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A, B, C, E</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8" marB="4565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24485">
                <a:tc>
                  <a:txBody>
                    <a:body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rPr>
                        <a:t>40</a:t>
                      </a:r>
                      <a:endParaRPr kumimoji="0" lang="en-US" altLang="zh-CN" sz="17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58" marB="4565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17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B, E</a:t>
                      </a:r>
                      <a:endParaRPr kumimoji="0" lang="en-US" altLang="zh-CN" sz="17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58" marB="45658"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2" name="矩形 1"/>
          <p:cNvSpPr/>
          <p:nvPr/>
        </p:nvSpPr>
        <p:spPr>
          <a:xfrm>
            <a:off x="1449388" y="1706563"/>
            <a:ext cx="1582737" cy="460375"/>
          </a:xfrm>
          <a:prstGeom prst="rect">
            <a:avLst/>
          </a:prstGeom>
        </p:spPr>
        <p:txBody>
          <a:bodyPr wrap="none">
            <a:spAutoFit/>
          </a:bodyPr>
          <a:lstStyle/>
          <a:p>
            <a:pPr defTabSz="1083945">
              <a:defRPr/>
            </a:pPr>
            <a:r>
              <a:rPr lang="en-US" altLang="zh-CN" sz="2400" dirty="0" err="1">
                <a:solidFill>
                  <a:srgbClr val="FF0000"/>
                </a:solidFill>
                <a:latin typeface="+mn-ea"/>
                <a:ea typeface="+mn-ea"/>
              </a:rPr>
              <a:t>min_sup</a:t>
            </a:r>
            <a:r>
              <a:rPr lang="en-US" altLang="zh-CN" sz="2400" dirty="0">
                <a:solidFill>
                  <a:srgbClr val="FF0000"/>
                </a:solidFill>
                <a:latin typeface="+mn-ea"/>
                <a:ea typeface="+mn-ea"/>
              </a:rPr>
              <a:t>=2</a:t>
            </a:r>
            <a:endParaRPr lang="zh-CN" altLang="en-US" sz="2400" dirty="0">
              <a:solidFill>
                <a:srgbClr val="FF0000"/>
              </a:solidFill>
              <a:latin typeface="+mn-ea"/>
              <a:ea typeface="+mn-ea"/>
            </a:endParaRPr>
          </a:p>
        </p:txBody>
      </p:sp>
      <p:graphicFrame>
        <p:nvGraphicFramePr>
          <p:cNvPr id="32" name="表格 31"/>
          <p:cNvGraphicFramePr/>
          <p:nvPr>
            <p:custDataLst>
              <p:tags r:id="rId1"/>
            </p:custDataLst>
          </p:nvPr>
        </p:nvGraphicFramePr>
        <p:xfrm>
          <a:off x="1209040" y="4818380"/>
          <a:ext cx="8740140" cy="1541780"/>
        </p:xfrm>
        <a:graphic>
          <a:graphicData uri="http://schemas.openxmlformats.org/drawingml/2006/table">
            <a:tbl>
              <a:tblPr firstRow="1" bandRow="1">
                <a:tableStyleId>{5C22544A-7EE6-4342-B048-85BDC9FD1C3A}</a:tableStyleId>
              </a:tblPr>
              <a:tblGrid>
                <a:gridCol w="2185035"/>
                <a:gridCol w="2185035"/>
                <a:gridCol w="2185035"/>
                <a:gridCol w="2185035"/>
              </a:tblGrid>
              <a:tr h="385445">
                <a:tc>
                  <a:txBody>
                    <a:bodyPr/>
                    <a:p>
                      <a:pPr algn="ctr">
                        <a:buNone/>
                      </a:pPr>
                      <a:r>
                        <a:rPr lang="zh-CN" altLang="en-US" sz="1695">
                          <a:solidFill>
                            <a:schemeClr val="tx1"/>
                          </a:solidFill>
                          <a:sym typeface="+mn-ea"/>
                        </a:rPr>
                        <a:t>项</a:t>
                      </a:r>
                      <a:endParaRPr lang="zh-CN" altLang="en-US">
                        <a:solidFill>
                          <a:schemeClr val="tx1"/>
                        </a:solidFill>
                      </a:endParaRPr>
                    </a:p>
                  </a:txBody>
                  <a:tcPr>
                    <a:lnT w="12700" cmpd="sng">
                      <a:solidFill>
                        <a:schemeClr val="tx1"/>
                      </a:solidFill>
                      <a:prstDash val="solid"/>
                    </a:lnT>
                    <a:lnB w="12700" cmpd="sng">
                      <a:solidFill>
                        <a:schemeClr val="tx1"/>
                      </a:solidFill>
                      <a:prstDash val="solid"/>
                    </a:lnB>
                    <a:noFill/>
                  </a:tcPr>
                </a:tc>
                <a:tc>
                  <a:txBody>
                    <a:bodyPr/>
                    <a:p>
                      <a:pPr algn="ctr">
                        <a:buNone/>
                      </a:pPr>
                      <a:r>
                        <a:rPr lang="zh-CN" altLang="en-US">
                          <a:solidFill>
                            <a:schemeClr val="tx1"/>
                          </a:solidFill>
                        </a:rPr>
                        <a:t>条件</a:t>
                      </a:r>
                      <a:r>
                        <a:rPr lang="zh-CN" altLang="en-US">
                          <a:solidFill>
                            <a:schemeClr val="tx1"/>
                          </a:solidFill>
                        </a:rPr>
                        <a:t>模式基</a:t>
                      </a:r>
                      <a:endParaRPr lang="zh-CN" altLang="en-US">
                        <a:solidFill>
                          <a:schemeClr val="tx1"/>
                        </a:solidFill>
                      </a:endParaRPr>
                    </a:p>
                  </a:txBody>
                  <a:tcPr>
                    <a:lnT w="12700" cmpd="sng">
                      <a:solidFill>
                        <a:schemeClr val="tx1"/>
                      </a:solidFill>
                      <a:prstDash val="solid"/>
                    </a:lnT>
                    <a:lnB w="12700" cmpd="sng">
                      <a:solidFill>
                        <a:schemeClr val="tx1"/>
                      </a:solidFill>
                      <a:prstDash val="solid"/>
                    </a:lnB>
                    <a:noFill/>
                  </a:tcPr>
                </a:tc>
                <a:tc>
                  <a:txBody>
                    <a:bodyPr/>
                    <a:p>
                      <a:pPr algn="ctr">
                        <a:buNone/>
                      </a:pPr>
                      <a:r>
                        <a:rPr lang="zh-CN" altLang="en-US">
                          <a:solidFill>
                            <a:schemeClr val="tx1"/>
                          </a:solidFill>
                        </a:rPr>
                        <a:t>条件</a:t>
                      </a:r>
                      <a:r>
                        <a:rPr lang="en-US" altLang="zh-CN">
                          <a:solidFill>
                            <a:schemeClr val="tx1"/>
                          </a:solidFill>
                        </a:rPr>
                        <a:t>FP</a:t>
                      </a:r>
                      <a:r>
                        <a:rPr lang="zh-CN" altLang="en-US">
                          <a:solidFill>
                            <a:schemeClr val="tx1"/>
                          </a:solidFill>
                        </a:rPr>
                        <a:t>树</a:t>
                      </a:r>
                      <a:endParaRPr lang="zh-CN" altLang="en-US">
                        <a:solidFill>
                          <a:schemeClr val="tx1"/>
                        </a:solidFill>
                      </a:endParaRPr>
                    </a:p>
                  </a:txBody>
                  <a:tcPr>
                    <a:lnT w="12700" cmpd="sng">
                      <a:solidFill>
                        <a:schemeClr val="tx1"/>
                      </a:solidFill>
                      <a:prstDash val="solid"/>
                    </a:lnT>
                    <a:lnB w="12700" cmpd="sng">
                      <a:solidFill>
                        <a:schemeClr val="tx1"/>
                      </a:solidFill>
                      <a:prstDash val="solid"/>
                    </a:lnB>
                    <a:noFill/>
                  </a:tcPr>
                </a:tc>
                <a:tc>
                  <a:txBody>
                    <a:bodyPr/>
                    <a:p>
                      <a:pPr algn="ctr">
                        <a:buNone/>
                      </a:pPr>
                      <a:r>
                        <a:rPr lang="zh-CN" altLang="en-US">
                          <a:solidFill>
                            <a:schemeClr val="tx1"/>
                          </a:solidFill>
                        </a:rPr>
                        <a:t>产生的频繁</a:t>
                      </a:r>
                      <a:r>
                        <a:rPr lang="zh-CN" altLang="en-US">
                          <a:solidFill>
                            <a:schemeClr val="tx1"/>
                          </a:solidFill>
                        </a:rPr>
                        <a:t>模式</a:t>
                      </a:r>
                      <a:endParaRPr lang="zh-CN" altLang="en-US">
                        <a:solidFill>
                          <a:schemeClr val="tx1"/>
                        </a:solidFill>
                      </a:endParaRPr>
                    </a:p>
                  </a:txBody>
                  <a:tcPr>
                    <a:lnT w="12700" cmpd="sng">
                      <a:solidFill>
                        <a:schemeClr val="tx1"/>
                      </a:solidFill>
                      <a:prstDash val="solid"/>
                    </a:lnT>
                    <a:lnB w="12700" cmpd="sng">
                      <a:solidFill>
                        <a:schemeClr val="tx1"/>
                      </a:solidFill>
                      <a:prstDash val="solid"/>
                    </a:lnB>
                    <a:noFill/>
                  </a:tcPr>
                </a:tc>
              </a:tr>
              <a:tr h="385445">
                <a:tc>
                  <a:txBody>
                    <a:bodyPr/>
                    <a:p>
                      <a:pPr>
                        <a:buNone/>
                      </a:pPr>
                      <a:endParaRPr lang="zh-CN" altLang="en-US"/>
                    </a:p>
                  </a:txBody>
                  <a:tcPr>
                    <a:lnT w="12700" cmpd="sng">
                      <a:solidFill>
                        <a:schemeClr val="tx1"/>
                      </a:solidFill>
                      <a:prstDash val="solid"/>
                    </a:lnT>
                    <a:lnB w="12700" cmpd="sng">
                      <a:solidFill>
                        <a:schemeClr val="tx1"/>
                      </a:solidFill>
                      <a:prstDash val="solid"/>
                    </a:lnB>
                    <a:noFill/>
                  </a:tcPr>
                </a:tc>
                <a:tc>
                  <a:txBody>
                    <a:bodyPr/>
                    <a:p>
                      <a:pPr>
                        <a:buNone/>
                      </a:pPr>
                      <a:endParaRPr lang="zh-CN" altLang="en-US"/>
                    </a:p>
                  </a:txBody>
                  <a:tcPr>
                    <a:lnT w="12700" cmpd="sng">
                      <a:solidFill>
                        <a:schemeClr val="tx1"/>
                      </a:solidFill>
                      <a:prstDash val="solid"/>
                    </a:lnT>
                    <a:lnB w="12700" cmpd="sng">
                      <a:solidFill>
                        <a:schemeClr val="tx1"/>
                      </a:solidFill>
                      <a:prstDash val="solid"/>
                    </a:lnB>
                    <a:noFill/>
                  </a:tcPr>
                </a:tc>
                <a:tc>
                  <a:txBody>
                    <a:bodyPr/>
                    <a:p>
                      <a:pPr>
                        <a:buNone/>
                      </a:pPr>
                      <a:endParaRPr lang="zh-CN" altLang="en-US"/>
                    </a:p>
                  </a:txBody>
                  <a:tcPr>
                    <a:lnT w="12700" cmpd="sng">
                      <a:solidFill>
                        <a:schemeClr val="tx1"/>
                      </a:solidFill>
                      <a:prstDash val="solid"/>
                    </a:lnT>
                    <a:lnB w="12700" cmpd="sng">
                      <a:solidFill>
                        <a:schemeClr val="tx1"/>
                      </a:solidFill>
                      <a:prstDash val="solid"/>
                    </a:lnB>
                    <a:noFill/>
                  </a:tcPr>
                </a:tc>
                <a:tc>
                  <a:txBody>
                    <a:bodyPr/>
                    <a:p>
                      <a:pPr>
                        <a:buNone/>
                      </a:pPr>
                      <a:endParaRPr lang="zh-CN" altLang="en-US"/>
                    </a:p>
                  </a:txBody>
                  <a:tcPr>
                    <a:lnT w="12700" cmpd="sng">
                      <a:solidFill>
                        <a:schemeClr val="tx1"/>
                      </a:solidFill>
                      <a:prstDash val="solid"/>
                    </a:lnT>
                    <a:lnB w="12700" cmpd="sng">
                      <a:solidFill>
                        <a:schemeClr val="tx1"/>
                      </a:solidFill>
                      <a:prstDash val="solid"/>
                    </a:lnB>
                    <a:noFill/>
                  </a:tcPr>
                </a:tc>
              </a:tr>
              <a:tr h="385445">
                <a:tc>
                  <a:txBody>
                    <a:bodyPr/>
                    <a:p>
                      <a:pPr>
                        <a:buNone/>
                      </a:pPr>
                      <a:endParaRPr lang="zh-CN" altLang="en-US"/>
                    </a:p>
                  </a:txBody>
                  <a:tcPr>
                    <a:lnT w="12700" cmpd="sng">
                      <a:solidFill>
                        <a:schemeClr val="tx1"/>
                      </a:solidFill>
                      <a:prstDash val="solid"/>
                    </a:lnT>
                    <a:lnB w="12700" cmpd="sng">
                      <a:solidFill>
                        <a:schemeClr val="tx1"/>
                      </a:solidFill>
                      <a:prstDash val="solid"/>
                    </a:lnB>
                    <a:noFill/>
                  </a:tcPr>
                </a:tc>
                <a:tc>
                  <a:txBody>
                    <a:bodyPr/>
                    <a:p>
                      <a:pPr>
                        <a:buNone/>
                      </a:pPr>
                      <a:endParaRPr lang="zh-CN" altLang="en-US"/>
                    </a:p>
                  </a:txBody>
                  <a:tcPr>
                    <a:lnT w="12700" cmpd="sng">
                      <a:solidFill>
                        <a:schemeClr val="tx1"/>
                      </a:solidFill>
                      <a:prstDash val="solid"/>
                    </a:lnT>
                    <a:lnB w="12700" cmpd="sng">
                      <a:solidFill>
                        <a:schemeClr val="tx1"/>
                      </a:solidFill>
                      <a:prstDash val="solid"/>
                    </a:lnB>
                    <a:noFill/>
                  </a:tcPr>
                </a:tc>
                <a:tc>
                  <a:txBody>
                    <a:bodyPr/>
                    <a:p>
                      <a:pPr>
                        <a:buNone/>
                      </a:pPr>
                      <a:endParaRPr lang="zh-CN" altLang="en-US"/>
                    </a:p>
                  </a:txBody>
                  <a:tcPr>
                    <a:lnT w="12700" cmpd="sng">
                      <a:solidFill>
                        <a:schemeClr val="tx1"/>
                      </a:solidFill>
                      <a:prstDash val="solid"/>
                    </a:lnT>
                    <a:lnB w="12700" cmpd="sng">
                      <a:solidFill>
                        <a:schemeClr val="tx1"/>
                      </a:solidFill>
                      <a:prstDash val="solid"/>
                    </a:lnB>
                    <a:noFill/>
                  </a:tcPr>
                </a:tc>
                <a:tc>
                  <a:txBody>
                    <a:bodyPr/>
                    <a:p>
                      <a:pPr>
                        <a:buNone/>
                      </a:pPr>
                      <a:endParaRPr lang="zh-CN" altLang="en-US"/>
                    </a:p>
                  </a:txBody>
                  <a:tcPr>
                    <a:lnT w="12700" cmpd="sng">
                      <a:solidFill>
                        <a:schemeClr val="tx1"/>
                      </a:solidFill>
                      <a:prstDash val="solid"/>
                    </a:lnT>
                    <a:lnB w="12700" cmpd="sng">
                      <a:solidFill>
                        <a:schemeClr val="tx1"/>
                      </a:solidFill>
                      <a:prstDash val="solid"/>
                    </a:lnB>
                    <a:noFill/>
                  </a:tcPr>
                </a:tc>
              </a:tr>
              <a:tr h="385445">
                <a:tc>
                  <a:txBody>
                    <a:bodyPr/>
                    <a:p>
                      <a:pPr>
                        <a:buNone/>
                      </a:pPr>
                      <a:endParaRPr lang="zh-CN" altLang="en-US"/>
                    </a:p>
                  </a:txBody>
                  <a:tcPr>
                    <a:lnT w="12700" cmpd="sng">
                      <a:solidFill>
                        <a:schemeClr val="tx1"/>
                      </a:solidFill>
                      <a:prstDash val="solid"/>
                    </a:lnT>
                    <a:lnB w="12700" cmpd="sng">
                      <a:solidFill>
                        <a:schemeClr val="tx1"/>
                      </a:solidFill>
                      <a:prstDash val="solid"/>
                    </a:lnB>
                    <a:noFill/>
                  </a:tcPr>
                </a:tc>
                <a:tc>
                  <a:txBody>
                    <a:bodyPr/>
                    <a:p>
                      <a:pPr>
                        <a:buNone/>
                      </a:pPr>
                      <a:endParaRPr lang="zh-CN" altLang="en-US"/>
                    </a:p>
                  </a:txBody>
                  <a:tcPr>
                    <a:lnT w="12700" cmpd="sng">
                      <a:solidFill>
                        <a:schemeClr val="tx1"/>
                      </a:solidFill>
                      <a:prstDash val="solid"/>
                    </a:lnT>
                    <a:lnB w="12700" cmpd="sng">
                      <a:solidFill>
                        <a:schemeClr val="tx1"/>
                      </a:solidFill>
                      <a:prstDash val="solid"/>
                    </a:lnB>
                    <a:noFill/>
                  </a:tcPr>
                </a:tc>
                <a:tc>
                  <a:txBody>
                    <a:bodyPr/>
                    <a:p>
                      <a:pPr>
                        <a:buNone/>
                      </a:pPr>
                      <a:endParaRPr lang="zh-CN" altLang="en-US"/>
                    </a:p>
                  </a:txBody>
                  <a:tcPr>
                    <a:lnT w="12700" cmpd="sng">
                      <a:solidFill>
                        <a:schemeClr val="tx1"/>
                      </a:solidFill>
                      <a:prstDash val="solid"/>
                    </a:lnT>
                    <a:lnB w="12700" cmpd="sng">
                      <a:solidFill>
                        <a:schemeClr val="tx1"/>
                      </a:solidFill>
                      <a:prstDash val="solid"/>
                    </a:lnB>
                    <a:noFill/>
                  </a:tcPr>
                </a:tc>
                <a:tc>
                  <a:txBody>
                    <a:bodyPr/>
                    <a:p>
                      <a:pPr>
                        <a:buNone/>
                      </a:pPr>
                      <a:endParaRPr lang="zh-CN" altLang="en-US"/>
                    </a:p>
                  </a:txBody>
                  <a:tcPr>
                    <a:lnT w="12700" cmpd="sng">
                      <a:solidFill>
                        <a:schemeClr val="tx1"/>
                      </a:solidFill>
                      <a:prstDash val="solid"/>
                    </a:lnT>
                    <a:lnB w="12700" cmpd="sng">
                      <a:solidFill>
                        <a:schemeClr val="tx1"/>
                      </a:solidFill>
                      <a:prstDash val="solid"/>
                    </a:lnB>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a:t>
            </a:r>
            <a:r>
              <a:rPr lang="en-US" altLang="zh-CN" sz="4400" dirty="0">
                <a:latin typeface="楷体" panose="02010609060101010101" pitchFamily="49" charset="-122"/>
                <a:ea typeface="楷体" panose="02010609060101010101" pitchFamily="49" charset="-122"/>
              </a:rPr>
              <a:t>6.2 </a:t>
            </a:r>
            <a:r>
              <a:rPr lang="zh-CN" altLang="en-US" sz="4400" dirty="0">
                <a:latin typeface="楷体" panose="02010609060101010101" pitchFamily="49" charset="-122"/>
                <a:ea typeface="楷体" panose="02010609060101010101" pitchFamily="49" charset="-122"/>
              </a:rPr>
              <a:t>频繁项集挖掘方法</a:t>
            </a:r>
            <a:endParaRPr lang="zh-CN" altLang="en-US" sz="4400" dirty="0">
              <a:latin typeface="楷体" panose="02010609060101010101" pitchFamily="49" charset="-122"/>
              <a:ea typeface="楷体" panose="02010609060101010101" pitchFamily="49" charset="-122"/>
            </a:endParaRPr>
          </a:p>
        </p:txBody>
      </p:sp>
      <p:sp>
        <p:nvSpPr>
          <p:cNvPr id="4" name="Rectangle 3"/>
          <p:cNvSpPr>
            <a:spLocks noGrp="1" noChangeArrowheads="1"/>
          </p:cNvSpPr>
          <p:nvPr>
            <p:ph idx="1"/>
          </p:nvPr>
        </p:nvSpPr>
        <p:spPr>
          <a:xfrm>
            <a:off x="522288" y="1160463"/>
            <a:ext cx="9906000" cy="5486400"/>
          </a:xfrm>
        </p:spPr>
        <p:txBody>
          <a:bodyPr/>
          <a:lstStyle/>
          <a:p>
            <a:pPr marL="0" indent="0" defTabSz="868680" eaLnBrk="1" hangingPunct="1">
              <a:buFont typeface="Arial" panose="020B0604020202020204" pitchFamily="34" charset="0"/>
              <a:buNone/>
              <a:defRPr/>
            </a:pPr>
            <a:r>
              <a:rPr lang="en-US" altLang="zh-CN" sz="2000" b="1" dirty="0">
                <a:solidFill>
                  <a:srgbClr val="0000FF"/>
                </a:solidFill>
                <a:latin typeface="+mn-ea"/>
                <a:ea typeface="+mn-ea"/>
                <a:cs typeface="Times New Roman" panose="02020603050405020304" pitchFamily="18" charset="0"/>
              </a:rPr>
              <a:t>4</a:t>
            </a:r>
            <a:r>
              <a:rPr lang="zh-CN" altLang="en-US" sz="2000" b="1" dirty="0">
                <a:solidFill>
                  <a:srgbClr val="0000FF"/>
                </a:solidFill>
                <a:latin typeface="+mn-ea"/>
                <a:ea typeface="+mn-ea"/>
                <a:cs typeface="Times New Roman" panose="02020603050405020304" pitchFamily="18" charset="0"/>
              </a:rPr>
              <a:t>、挖掘频繁项集的模式增长方法</a:t>
            </a:r>
            <a:endParaRPr lang="en-US" altLang="zh-CN" sz="2000" b="1" dirty="0">
              <a:solidFill>
                <a:srgbClr val="0000FF"/>
              </a:solidFill>
              <a:latin typeface="+mn-ea"/>
              <a:ea typeface="+mn-ea"/>
              <a:cs typeface="Times New Roman" panose="02020603050405020304" pitchFamily="18" charset="0"/>
            </a:endParaRPr>
          </a:p>
          <a:p>
            <a:pPr marL="0" indent="0" defTabSz="868680" eaLnBrk="1" hangingPunct="1">
              <a:buFont typeface="Arial" panose="020B0604020202020204" pitchFamily="34" charset="0"/>
              <a:buNone/>
              <a:defRPr/>
            </a:pPr>
            <a:r>
              <a:rPr lang="zh-CN" altLang="en-US" sz="2000" b="1" dirty="0">
                <a:solidFill>
                  <a:srgbClr val="0000FF"/>
                </a:solidFill>
                <a:latin typeface="+mn-ea"/>
                <a:ea typeface="+mn-ea"/>
              </a:rPr>
              <a:t>局限性：</a:t>
            </a:r>
            <a:endParaRPr lang="en-US" altLang="zh-CN" sz="2000" b="1" dirty="0">
              <a:solidFill>
                <a:srgbClr val="0000FF"/>
              </a:solidFill>
              <a:latin typeface="+mn-ea"/>
              <a:ea typeface="+mn-ea"/>
            </a:endParaRPr>
          </a:p>
          <a:p>
            <a:pPr defTabSz="868680" eaLnBrk="1" hangingPunct="1">
              <a:buFont typeface="Wingdings" panose="05000000000000000000" pitchFamily="2" charset="2"/>
              <a:buChar char="Ø"/>
              <a:defRPr/>
            </a:pPr>
            <a:r>
              <a:rPr lang="zh-CN" altLang="en-US" sz="2000" dirty="0">
                <a:latin typeface="+mn-ea"/>
                <a:ea typeface="+mn-ea"/>
              </a:rPr>
              <a:t>当</a:t>
            </a:r>
            <a:r>
              <a:rPr lang="zh-CN" altLang="en-US" sz="2000" dirty="0">
                <a:solidFill>
                  <a:srgbClr val="FF0000"/>
                </a:solidFill>
                <a:latin typeface="+mn-ea"/>
                <a:ea typeface="+mn-ea"/>
              </a:rPr>
              <a:t>数据库很大</a:t>
            </a:r>
            <a:r>
              <a:rPr lang="zh-CN" altLang="en-US" sz="2000" dirty="0">
                <a:latin typeface="+mn-ea"/>
                <a:ea typeface="+mn-ea"/>
              </a:rPr>
              <a:t>时，构造基于主存的</a:t>
            </a:r>
            <a:r>
              <a:rPr lang="en-US" altLang="zh-CN" sz="2000" dirty="0">
                <a:latin typeface="+mn-ea"/>
                <a:ea typeface="+mn-ea"/>
              </a:rPr>
              <a:t>FP</a:t>
            </a:r>
            <a:r>
              <a:rPr lang="zh-CN" altLang="en-US" sz="2000" dirty="0">
                <a:latin typeface="+mn-ea"/>
                <a:ea typeface="+mn-ea"/>
              </a:rPr>
              <a:t>树有时是</a:t>
            </a:r>
            <a:r>
              <a:rPr lang="zh-CN" altLang="en-US" sz="2000" dirty="0">
                <a:solidFill>
                  <a:srgbClr val="FF0000"/>
                </a:solidFill>
                <a:latin typeface="+mn-ea"/>
                <a:ea typeface="+mn-ea"/>
              </a:rPr>
              <a:t>不现实的</a:t>
            </a:r>
            <a:r>
              <a:rPr lang="zh-CN" altLang="en-US" sz="2000" dirty="0">
                <a:latin typeface="+mn-ea"/>
                <a:ea typeface="+mn-ea"/>
              </a:rPr>
              <a:t>。</a:t>
            </a:r>
            <a:endParaRPr lang="en-US" altLang="zh-CN" sz="2000" dirty="0">
              <a:latin typeface="+mn-ea"/>
              <a:ea typeface="+mn-ea"/>
            </a:endParaRPr>
          </a:p>
          <a:p>
            <a:pPr defTabSz="868680" eaLnBrk="1" hangingPunct="1">
              <a:buFont typeface="Wingdings" panose="05000000000000000000" pitchFamily="2" charset="2"/>
              <a:buChar char="Ø"/>
              <a:defRPr/>
            </a:pPr>
            <a:r>
              <a:rPr lang="zh-CN" altLang="en-US" sz="2000" dirty="0">
                <a:latin typeface="+mn-ea"/>
                <a:ea typeface="+mn-ea"/>
              </a:rPr>
              <a:t>将数据库</a:t>
            </a:r>
            <a:r>
              <a:rPr lang="zh-CN" altLang="en-US" sz="2000" dirty="0">
                <a:solidFill>
                  <a:srgbClr val="FF0000"/>
                </a:solidFill>
                <a:latin typeface="+mn-ea"/>
                <a:ea typeface="+mn-ea"/>
              </a:rPr>
              <a:t>划分成投影数据库的集合</a:t>
            </a:r>
            <a:r>
              <a:rPr lang="zh-CN" altLang="en-US" sz="2000" dirty="0">
                <a:latin typeface="+mn-ea"/>
                <a:ea typeface="+mn-ea"/>
              </a:rPr>
              <a:t>，然后在每个投影数据库上构造</a:t>
            </a:r>
            <a:r>
              <a:rPr lang="en-US" altLang="zh-CN" sz="2000" dirty="0">
                <a:latin typeface="+mn-ea"/>
                <a:ea typeface="+mn-ea"/>
              </a:rPr>
              <a:t>FP</a:t>
            </a:r>
            <a:r>
              <a:rPr lang="zh-CN" altLang="en-US" sz="2000" dirty="0">
                <a:latin typeface="+mn-ea"/>
                <a:ea typeface="+mn-ea"/>
              </a:rPr>
              <a:t>树并在每个投影数据库中挖掘。</a:t>
            </a:r>
            <a:endParaRPr lang="en-US" altLang="zh-CN" sz="2000" dirty="0">
              <a:latin typeface="+mn-ea"/>
              <a:ea typeface="+mn-ea"/>
            </a:endParaRPr>
          </a:p>
          <a:p>
            <a:pPr marL="0" indent="0" defTabSz="868680" eaLnBrk="1" hangingPunct="1">
              <a:buFont typeface="Arial" panose="020B0604020202020204" pitchFamily="34" charset="0"/>
              <a:buNone/>
              <a:defRPr/>
            </a:pPr>
            <a:r>
              <a:rPr lang="zh-CN" altLang="en-US" sz="2000" b="1" dirty="0">
                <a:solidFill>
                  <a:srgbClr val="0000FF"/>
                </a:solidFill>
                <a:latin typeface="+mn-ea"/>
                <a:ea typeface="+mn-ea"/>
              </a:rPr>
              <a:t>优势：</a:t>
            </a:r>
            <a:endParaRPr lang="en-US" altLang="zh-CN" sz="2000" b="1" dirty="0">
              <a:solidFill>
                <a:srgbClr val="0000FF"/>
              </a:solidFill>
              <a:latin typeface="+mn-ea"/>
              <a:ea typeface="+mn-ea"/>
            </a:endParaRPr>
          </a:p>
          <a:p>
            <a:pPr defTabSz="868680" eaLnBrk="1" hangingPunct="1">
              <a:buFont typeface="Wingdings" panose="05000000000000000000" pitchFamily="2" charset="2"/>
              <a:buChar char="Ø"/>
              <a:defRPr/>
            </a:pPr>
            <a:r>
              <a:rPr lang="zh-CN" altLang="en-US" sz="2000" dirty="0">
                <a:latin typeface="+mn-ea"/>
                <a:ea typeface="+mn-ea"/>
              </a:rPr>
              <a:t>将发现长频繁模式的问题转换成在较小的条件数据库中递归地搜索一些较短模式，然后连接后缀。它使用最不频繁的项做后缀，</a:t>
            </a:r>
            <a:r>
              <a:rPr lang="zh-CN" altLang="en-US" sz="2000" dirty="0">
                <a:solidFill>
                  <a:srgbClr val="FF0000"/>
                </a:solidFill>
                <a:latin typeface="+mn-ea"/>
                <a:ea typeface="+mn-ea"/>
              </a:rPr>
              <a:t>提供了较好的选择性</a:t>
            </a:r>
            <a:r>
              <a:rPr lang="zh-CN" altLang="en-US" sz="2000" dirty="0">
                <a:latin typeface="+mn-ea"/>
                <a:ea typeface="+mn-ea"/>
              </a:rPr>
              <a:t>。该方法</a:t>
            </a:r>
            <a:r>
              <a:rPr lang="zh-CN" altLang="en-US" sz="2000" dirty="0">
                <a:solidFill>
                  <a:srgbClr val="FF0000"/>
                </a:solidFill>
                <a:latin typeface="+mn-ea"/>
                <a:ea typeface="+mn-ea"/>
              </a:rPr>
              <a:t>显著地降低了开销。</a:t>
            </a:r>
            <a:endParaRPr lang="en-US" altLang="zh-CN" sz="2000" dirty="0">
              <a:latin typeface="+mn-ea"/>
              <a:ea typeface="+mn-ea"/>
            </a:endParaRPr>
          </a:p>
          <a:p>
            <a:pPr defTabSz="868680" eaLnBrk="1" hangingPunct="1">
              <a:buFont typeface="Wingdings" panose="05000000000000000000" pitchFamily="2" charset="2"/>
              <a:buChar char="Ø"/>
              <a:defRPr/>
            </a:pPr>
            <a:r>
              <a:rPr lang="zh-CN" altLang="en-US" sz="2000" dirty="0">
                <a:latin typeface="+mn-ea"/>
                <a:ea typeface="+mn-ea"/>
              </a:rPr>
              <a:t>对于挖掘长的频繁模式和短的频繁模式，它都是</a:t>
            </a:r>
            <a:r>
              <a:rPr lang="zh-CN" altLang="en-US" sz="2000" dirty="0">
                <a:solidFill>
                  <a:srgbClr val="FF0000"/>
                </a:solidFill>
                <a:latin typeface="+mn-ea"/>
                <a:ea typeface="+mn-ea"/>
              </a:rPr>
              <a:t>有效的和可伸缩的</a:t>
            </a:r>
            <a:r>
              <a:rPr lang="zh-CN" altLang="en-US" sz="2000" dirty="0">
                <a:latin typeface="+mn-ea"/>
                <a:ea typeface="+mn-ea"/>
              </a:rPr>
              <a:t>，且比</a:t>
            </a:r>
            <a:r>
              <a:rPr lang="en-US" altLang="zh-CN" sz="2000" dirty="0" err="1">
                <a:latin typeface="+mn-ea"/>
                <a:ea typeface="+mn-ea"/>
              </a:rPr>
              <a:t>Apriori</a:t>
            </a:r>
            <a:r>
              <a:rPr lang="zh-CN" altLang="en-US" sz="2000" dirty="0">
                <a:latin typeface="+mn-ea"/>
                <a:ea typeface="+mn-ea"/>
              </a:rPr>
              <a:t>大约快一个数量级。</a:t>
            </a:r>
            <a:endParaRPr lang="zh-CN" altLang="en-US" sz="2000" b="1" dirty="0">
              <a:latin typeface="+mn-ea"/>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a:t>
            </a:r>
            <a:r>
              <a:rPr lang="en-US" altLang="zh-CN" sz="4400" dirty="0">
                <a:latin typeface="楷体" panose="02010609060101010101" pitchFamily="49" charset="-122"/>
                <a:ea typeface="楷体" panose="02010609060101010101" pitchFamily="49" charset="-122"/>
              </a:rPr>
              <a:t>6.2 </a:t>
            </a:r>
            <a:r>
              <a:rPr lang="zh-CN" altLang="en-US" sz="4400" dirty="0">
                <a:latin typeface="楷体" panose="02010609060101010101" pitchFamily="49" charset="-122"/>
                <a:ea typeface="楷体" panose="02010609060101010101" pitchFamily="49" charset="-122"/>
              </a:rPr>
              <a:t>频繁项集挖掘方法</a:t>
            </a:r>
            <a:endParaRPr lang="zh-CN" altLang="en-US" sz="4400" dirty="0">
              <a:latin typeface="楷体" panose="02010609060101010101" pitchFamily="49" charset="-122"/>
              <a:ea typeface="楷体" panose="02010609060101010101" pitchFamily="49" charset="-122"/>
            </a:endParaRPr>
          </a:p>
        </p:txBody>
      </p:sp>
      <p:sp>
        <p:nvSpPr>
          <p:cNvPr id="65539" name="Rectangle 3"/>
          <p:cNvSpPr>
            <a:spLocks noGrp="1" noChangeArrowheads="1"/>
          </p:cNvSpPr>
          <p:nvPr>
            <p:ph idx="1"/>
          </p:nvPr>
        </p:nvSpPr>
        <p:spPr>
          <a:xfrm>
            <a:off x="522288" y="1160463"/>
            <a:ext cx="9906000" cy="5486400"/>
          </a:xfrm>
        </p:spPr>
        <p:txBody>
          <a:bodyPr/>
          <a:lstStyle/>
          <a:p>
            <a:pPr marL="0" indent="0">
              <a:spcBef>
                <a:spcPct val="0"/>
              </a:spcBef>
              <a:buFont typeface="Arial" panose="020B0604020202020204" pitchFamily="34" charset="0"/>
              <a:buNone/>
            </a:pPr>
            <a:r>
              <a:rPr lang="en-US" altLang="zh-CN" sz="2400" b="1" dirty="0">
                <a:solidFill>
                  <a:srgbClr val="0000FF"/>
                </a:solidFill>
                <a:latin typeface="宋体" panose="02010600030101010101" pitchFamily="2" charset="-122"/>
                <a:ea typeface="宋体" panose="02010600030101010101" pitchFamily="2" charset="-122"/>
              </a:rPr>
              <a:t>5</a:t>
            </a:r>
            <a:r>
              <a:rPr lang="zh-CN" altLang="en-US" sz="2400" b="1" dirty="0">
                <a:solidFill>
                  <a:srgbClr val="0000FF"/>
                </a:solidFill>
                <a:latin typeface="宋体" panose="02010600030101010101" pitchFamily="2" charset="-122"/>
                <a:ea typeface="宋体" panose="02010600030101010101" pitchFamily="2" charset="-122"/>
              </a:rPr>
              <a:t>、使用垂直数据格式挖掘频繁项集</a:t>
            </a:r>
            <a:endParaRPr lang="en-US" altLang="zh-CN" sz="2400" b="1" dirty="0">
              <a:solidFill>
                <a:srgbClr val="0000FF"/>
              </a:solidFill>
              <a:latin typeface="宋体" panose="02010600030101010101" pitchFamily="2" charset="-122"/>
              <a:ea typeface="宋体" panose="02010600030101010101" pitchFamily="2" charset="-122"/>
            </a:endParaRPr>
          </a:p>
          <a:p>
            <a:pPr marL="0" indent="0">
              <a:spcBef>
                <a:spcPct val="0"/>
              </a:spcBef>
              <a:buFont typeface="Arial" panose="020B0604020202020204" pitchFamily="34" charset="0"/>
              <a:buNone/>
            </a:pPr>
            <a:r>
              <a:rPr lang="zh-CN" altLang="en-US" sz="2200" b="1" dirty="0">
                <a:solidFill>
                  <a:srgbClr val="0000FF"/>
                </a:solidFill>
                <a:latin typeface="宋体" panose="02010600030101010101" pitchFamily="2" charset="-122"/>
                <a:ea typeface="宋体" panose="02010600030101010101" pitchFamily="2" charset="-122"/>
              </a:rPr>
              <a:t>水平数据格式：</a:t>
            </a:r>
            <a:r>
              <a:rPr lang="en-US" altLang="zh-CN" sz="2200" b="1" dirty="0">
                <a:solidFill>
                  <a:srgbClr val="0000FF"/>
                </a:solidFill>
                <a:latin typeface="宋体" panose="02010600030101010101" pitchFamily="2" charset="-122"/>
                <a:ea typeface="宋体" panose="02010600030101010101" pitchFamily="2" charset="-122"/>
              </a:rPr>
              <a:t> </a:t>
            </a:r>
            <a:r>
              <a:rPr lang="en-US" altLang="zh-CN" sz="2200" b="1" dirty="0">
                <a:solidFill>
                  <a:srgbClr val="FF0000"/>
                </a:solidFill>
                <a:latin typeface="宋体" panose="02010600030101010101" pitchFamily="2" charset="-122"/>
                <a:ea typeface="宋体" panose="02010600030101010101" pitchFamily="2" charset="-122"/>
              </a:rPr>
              <a:t>{TID</a:t>
            </a:r>
            <a:r>
              <a:rPr lang="zh-CN" altLang="en-US" sz="2200" b="1" dirty="0">
                <a:solidFill>
                  <a:srgbClr val="FF0000"/>
                </a:solidFill>
                <a:latin typeface="宋体" panose="02010600030101010101" pitchFamily="2" charset="-122"/>
                <a:ea typeface="宋体" panose="02010600030101010101" pitchFamily="2" charset="-122"/>
              </a:rPr>
              <a:t>：</a:t>
            </a:r>
            <a:r>
              <a:rPr lang="en-US" altLang="zh-CN" sz="2200" b="1" dirty="0" err="1">
                <a:solidFill>
                  <a:srgbClr val="FF0000"/>
                </a:solidFill>
                <a:latin typeface="宋体" panose="02010600030101010101" pitchFamily="2" charset="-122"/>
                <a:ea typeface="宋体" panose="02010600030101010101" pitchFamily="2" charset="-122"/>
              </a:rPr>
              <a:t>itemset</a:t>
            </a:r>
            <a:r>
              <a:rPr lang="en-US" altLang="zh-CN" sz="2200" b="1" dirty="0">
                <a:solidFill>
                  <a:srgbClr val="FF0000"/>
                </a:solidFill>
                <a:latin typeface="宋体" panose="02010600030101010101" pitchFamily="2" charset="-122"/>
                <a:ea typeface="宋体" panose="02010600030101010101" pitchFamily="2" charset="-122"/>
              </a:rPr>
              <a:t>}</a:t>
            </a:r>
            <a:endParaRPr lang="en-US" altLang="zh-CN" sz="2200" b="1" dirty="0">
              <a:solidFill>
                <a:srgbClr val="FF0000"/>
              </a:solidFill>
              <a:latin typeface="宋体" panose="02010600030101010101" pitchFamily="2" charset="-122"/>
              <a:ea typeface="宋体" panose="02010600030101010101" pitchFamily="2" charset="-122"/>
            </a:endParaRPr>
          </a:p>
          <a:p>
            <a:pPr marL="0" indent="0">
              <a:spcBef>
                <a:spcPct val="0"/>
              </a:spcBef>
              <a:buFont typeface="Arial" panose="020B0604020202020204" pitchFamily="34" charset="0"/>
              <a:buNone/>
            </a:pPr>
            <a:r>
              <a:rPr lang="en-US" altLang="zh-CN" sz="2200" dirty="0">
                <a:latin typeface="宋体" panose="02010600030101010101" pitchFamily="2" charset="-122"/>
                <a:ea typeface="宋体" panose="02010600030101010101" pitchFamily="2" charset="-122"/>
              </a:rPr>
              <a:t>    </a:t>
            </a:r>
            <a:r>
              <a:rPr lang="en-US" altLang="zh-CN" sz="2200" dirty="0" err="1">
                <a:latin typeface="宋体" panose="02010600030101010101" pitchFamily="2" charset="-122"/>
                <a:ea typeface="宋体" panose="02010600030101010101" pitchFamily="2" charset="-122"/>
              </a:rPr>
              <a:t>Apriori</a:t>
            </a:r>
            <a:r>
              <a:rPr lang="zh-CN" altLang="en-US" sz="2200" dirty="0">
                <a:latin typeface="宋体" panose="02010600030101010101" pitchFamily="2" charset="-122"/>
                <a:ea typeface="宋体" panose="02010600030101010101" pitchFamily="2" charset="-122"/>
              </a:rPr>
              <a:t>算法和</a:t>
            </a:r>
            <a:r>
              <a:rPr lang="en-US" altLang="zh-CN" sz="2200" dirty="0">
                <a:latin typeface="宋体" panose="02010600030101010101" pitchFamily="2" charset="-122"/>
                <a:ea typeface="宋体" panose="02010600030101010101" pitchFamily="2" charset="-122"/>
              </a:rPr>
              <a:t>FP-growth</a:t>
            </a:r>
            <a:r>
              <a:rPr lang="zh-CN" altLang="en-US" sz="2200" dirty="0">
                <a:latin typeface="宋体" panose="02010600030101010101" pitchFamily="2" charset="-122"/>
                <a:ea typeface="宋体" panose="02010600030101010101" pitchFamily="2" charset="-122"/>
              </a:rPr>
              <a:t>算法都是从</a:t>
            </a:r>
            <a:r>
              <a:rPr lang="en-US" altLang="zh-CN" sz="2200" dirty="0">
                <a:latin typeface="宋体" panose="02010600030101010101" pitchFamily="2" charset="-122"/>
                <a:ea typeface="宋体" panose="02010600030101010101" pitchFamily="2" charset="-122"/>
              </a:rPr>
              <a:t>TID</a:t>
            </a:r>
            <a:r>
              <a:rPr lang="zh-CN" altLang="en-US" sz="2200" dirty="0">
                <a:latin typeface="宋体" panose="02010600030101010101" pitchFamily="2" charset="-122"/>
                <a:ea typeface="宋体" panose="02010600030101010101" pitchFamily="2" charset="-122"/>
              </a:rPr>
              <a:t>项集格式（</a:t>
            </a:r>
            <a:r>
              <a:rPr lang="en-US" altLang="zh-CN" sz="2200" dirty="0">
                <a:latin typeface="宋体" panose="02010600030101010101" pitchFamily="2" charset="-122"/>
                <a:ea typeface="宋体" panose="02010600030101010101" pitchFamily="2" charset="-122"/>
              </a:rPr>
              <a:t>{TID</a:t>
            </a:r>
            <a:r>
              <a:rPr lang="zh-CN" altLang="en-US" sz="2200" dirty="0">
                <a:latin typeface="宋体" panose="02010600030101010101" pitchFamily="2" charset="-122"/>
                <a:ea typeface="宋体" panose="02010600030101010101" pitchFamily="2" charset="-122"/>
              </a:rPr>
              <a:t>：</a:t>
            </a:r>
            <a:r>
              <a:rPr lang="en-US" altLang="zh-CN" sz="2200" dirty="0" err="1">
                <a:latin typeface="宋体" panose="02010600030101010101" pitchFamily="2" charset="-122"/>
                <a:ea typeface="宋体" panose="02010600030101010101" pitchFamily="2" charset="-122"/>
              </a:rPr>
              <a:t>itemset</a:t>
            </a:r>
            <a:r>
              <a:rPr lang="en-US" altLang="zh-CN" sz="2200" dirty="0">
                <a:latin typeface="宋体" panose="02010600030101010101" pitchFamily="2" charset="-122"/>
                <a:ea typeface="宋体" panose="02010600030101010101" pitchFamily="2" charset="-122"/>
              </a:rPr>
              <a:t>}</a:t>
            </a:r>
            <a:r>
              <a:rPr lang="zh-CN" altLang="en-US" sz="2200" dirty="0">
                <a:latin typeface="宋体" panose="02010600030101010101" pitchFamily="2" charset="-122"/>
                <a:ea typeface="宋体" panose="02010600030101010101" pitchFamily="2" charset="-122"/>
              </a:rPr>
              <a:t>）的事务集中挖掘频繁模式，其中</a:t>
            </a:r>
            <a:r>
              <a:rPr lang="en-US" altLang="zh-CN" sz="2200" dirty="0">
                <a:latin typeface="宋体" panose="02010600030101010101" pitchFamily="2" charset="-122"/>
                <a:ea typeface="宋体" panose="02010600030101010101" pitchFamily="2" charset="-122"/>
              </a:rPr>
              <a:t>TID</a:t>
            </a:r>
            <a:r>
              <a:rPr lang="zh-CN" altLang="en-US" sz="2200" dirty="0">
                <a:latin typeface="宋体" panose="02010600030101010101" pitchFamily="2" charset="-122"/>
                <a:ea typeface="宋体" panose="02010600030101010101" pitchFamily="2" charset="-122"/>
              </a:rPr>
              <a:t>是事务标识符，而</a:t>
            </a:r>
            <a:r>
              <a:rPr lang="en-US" altLang="zh-CN" sz="2200" dirty="0" err="1">
                <a:latin typeface="宋体" panose="02010600030101010101" pitchFamily="2" charset="-122"/>
                <a:ea typeface="宋体" panose="02010600030101010101" pitchFamily="2" charset="-122"/>
              </a:rPr>
              <a:t>itemset</a:t>
            </a:r>
            <a:r>
              <a:rPr lang="zh-CN" altLang="en-US" sz="2200" dirty="0">
                <a:latin typeface="宋体" panose="02010600030101010101" pitchFamily="2" charset="-122"/>
                <a:ea typeface="宋体" panose="02010600030101010101" pitchFamily="2" charset="-122"/>
              </a:rPr>
              <a:t>是事务</a:t>
            </a:r>
            <a:r>
              <a:rPr lang="en-US" altLang="zh-CN" sz="2200" dirty="0">
                <a:latin typeface="宋体" panose="02010600030101010101" pitchFamily="2" charset="-122"/>
                <a:ea typeface="宋体" panose="02010600030101010101" pitchFamily="2" charset="-122"/>
              </a:rPr>
              <a:t>TID</a:t>
            </a:r>
            <a:r>
              <a:rPr lang="zh-CN" altLang="en-US" sz="2200" dirty="0">
                <a:latin typeface="宋体" panose="02010600030101010101" pitchFamily="2" charset="-122"/>
                <a:ea typeface="宋体" panose="02010600030101010101" pitchFamily="2" charset="-122"/>
              </a:rPr>
              <a:t>中的元素。</a:t>
            </a:r>
            <a:endParaRPr lang="en-US" altLang="zh-CN" sz="2200" dirty="0">
              <a:latin typeface="宋体" panose="02010600030101010101" pitchFamily="2" charset="-122"/>
              <a:ea typeface="宋体" panose="02010600030101010101" pitchFamily="2" charset="-122"/>
            </a:endParaRPr>
          </a:p>
          <a:p>
            <a:pPr marL="0" indent="0">
              <a:spcBef>
                <a:spcPct val="0"/>
              </a:spcBef>
              <a:buFont typeface="Arial" panose="020B0604020202020204" pitchFamily="34" charset="0"/>
              <a:buNone/>
            </a:pPr>
            <a:r>
              <a:rPr lang="zh-CN" altLang="en-US" sz="2200" b="1" dirty="0">
                <a:solidFill>
                  <a:srgbClr val="0000FF"/>
                </a:solidFill>
                <a:latin typeface="宋体" panose="02010600030101010101" pitchFamily="2" charset="-122"/>
                <a:ea typeface="宋体" panose="02010600030101010101" pitchFamily="2" charset="-122"/>
              </a:rPr>
              <a:t>垂直数据格式：</a:t>
            </a:r>
            <a:r>
              <a:rPr lang="en-US" altLang="zh-CN" sz="2200" b="1" dirty="0">
                <a:solidFill>
                  <a:srgbClr val="0000FF"/>
                </a:solidFill>
                <a:latin typeface="宋体" panose="02010600030101010101" pitchFamily="2" charset="-122"/>
                <a:ea typeface="宋体" panose="02010600030101010101" pitchFamily="2" charset="-122"/>
              </a:rPr>
              <a:t> </a:t>
            </a:r>
            <a:r>
              <a:rPr lang="en-US" altLang="zh-CN" sz="2200" b="1" dirty="0">
                <a:solidFill>
                  <a:srgbClr val="FF0000"/>
                </a:solidFill>
                <a:latin typeface="宋体" panose="02010600030101010101" pitchFamily="2" charset="-122"/>
                <a:ea typeface="宋体" panose="02010600030101010101" pitchFamily="2" charset="-122"/>
              </a:rPr>
              <a:t>{</a:t>
            </a:r>
            <a:r>
              <a:rPr lang="en-US" altLang="zh-CN" sz="2200" b="1" dirty="0" err="1">
                <a:solidFill>
                  <a:srgbClr val="FF0000"/>
                </a:solidFill>
                <a:latin typeface="宋体" panose="02010600030101010101" pitchFamily="2" charset="-122"/>
                <a:ea typeface="宋体" panose="02010600030101010101" pitchFamily="2" charset="-122"/>
              </a:rPr>
              <a:t>itemset</a:t>
            </a:r>
            <a:r>
              <a:rPr lang="zh-CN" altLang="en-US" sz="2200" b="1" dirty="0">
                <a:solidFill>
                  <a:srgbClr val="FF0000"/>
                </a:solidFill>
                <a:latin typeface="宋体" panose="02010600030101010101" pitchFamily="2" charset="-122"/>
                <a:ea typeface="宋体" panose="02010600030101010101" pitchFamily="2" charset="-122"/>
              </a:rPr>
              <a:t>：</a:t>
            </a:r>
            <a:r>
              <a:rPr lang="en-US" altLang="zh-CN" sz="2200" b="1" dirty="0">
                <a:solidFill>
                  <a:srgbClr val="FF0000"/>
                </a:solidFill>
                <a:latin typeface="宋体" panose="02010600030101010101" pitchFamily="2" charset="-122"/>
                <a:ea typeface="宋体" panose="02010600030101010101" pitchFamily="2" charset="-122"/>
              </a:rPr>
              <a:t>TID}</a:t>
            </a:r>
            <a:endParaRPr lang="en-US" altLang="zh-CN" sz="2200" b="1" dirty="0">
              <a:solidFill>
                <a:srgbClr val="FF0000"/>
              </a:solidFill>
              <a:latin typeface="宋体" panose="02010600030101010101" pitchFamily="2" charset="-122"/>
              <a:ea typeface="宋体" panose="02010600030101010101" pitchFamily="2" charset="-122"/>
            </a:endParaRPr>
          </a:p>
          <a:p>
            <a:pPr marL="0" indent="0">
              <a:spcBef>
                <a:spcPct val="0"/>
              </a:spcBef>
              <a:buFont typeface="Arial" panose="020B0604020202020204" pitchFamily="34" charset="0"/>
              <a:buNone/>
            </a:pPr>
            <a:r>
              <a:rPr lang="zh-CN" altLang="en-US" sz="2200" dirty="0">
                <a:latin typeface="宋体" panose="02010600030101010101" pitchFamily="2" charset="-122"/>
                <a:ea typeface="宋体" panose="02010600030101010101" pitchFamily="2" charset="-122"/>
              </a:rPr>
              <a:t>    数据用</a:t>
            </a:r>
            <a:r>
              <a:rPr lang="zh-CN" altLang="en-US" sz="2200" i="1" dirty="0">
                <a:latin typeface="宋体" panose="02010600030101010101" pitchFamily="2" charset="-122"/>
                <a:ea typeface="宋体" panose="02010600030101010101" pitchFamily="2" charset="-122"/>
              </a:rPr>
              <a:t>项</a:t>
            </a:r>
            <a:r>
              <a:rPr lang="en-US" altLang="zh-CN" sz="2200" i="1" dirty="0">
                <a:latin typeface="宋体" panose="02010600030101010101" pitchFamily="2" charset="-122"/>
                <a:ea typeface="宋体" panose="02010600030101010101" pitchFamily="2" charset="-122"/>
              </a:rPr>
              <a:t>-TID </a:t>
            </a:r>
            <a:r>
              <a:rPr lang="zh-CN" altLang="en-US" sz="2200" dirty="0">
                <a:latin typeface="宋体" panose="02010600030101010101" pitchFamily="2" charset="-122"/>
                <a:ea typeface="宋体" panose="02010600030101010101" pitchFamily="2" charset="-122"/>
              </a:rPr>
              <a:t>集格式（</a:t>
            </a:r>
            <a:r>
              <a:rPr lang="en-US" altLang="zh-CN" sz="2200" dirty="0">
                <a:latin typeface="宋体" panose="02010600030101010101" pitchFamily="2" charset="-122"/>
                <a:ea typeface="宋体" panose="02010600030101010101" pitchFamily="2" charset="-122"/>
              </a:rPr>
              <a:t>{</a:t>
            </a:r>
            <a:r>
              <a:rPr lang="en-US" altLang="zh-CN" sz="2200" dirty="0" err="1">
                <a:latin typeface="宋体" panose="02010600030101010101" pitchFamily="2" charset="-122"/>
                <a:ea typeface="宋体" panose="02010600030101010101" pitchFamily="2" charset="-122"/>
              </a:rPr>
              <a:t>itemset</a:t>
            </a:r>
            <a:r>
              <a:rPr lang="zh-CN" altLang="en-US"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TID}</a:t>
            </a:r>
            <a:r>
              <a:rPr lang="zh-CN" altLang="en-US" sz="2200" dirty="0">
                <a:latin typeface="宋体" panose="02010600030101010101" pitchFamily="2" charset="-122"/>
                <a:ea typeface="宋体" panose="02010600030101010101" pitchFamily="2" charset="-122"/>
              </a:rPr>
              <a:t>）表示。</a:t>
            </a:r>
            <a:endParaRPr lang="en-US" altLang="zh-CN" sz="2200" dirty="0">
              <a:latin typeface="宋体" panose="02010600030101010101" pitchFamily="2" charset="-122"/>
              <a:ea typeface="宋体" panose="02010600030101010101" pitchFamily="2" charset="-122"/>
            </a:endParaRPr>
          </a:p>
          <a:p>
            <a:pPr lvl="1">
              <a:spcBef>
                <a:spcPct val="0"/>
              </a:spcBef>
              <a:buFont typeface="Wingdings" panose="05000000000000000000" pitchFamily="2" charset="2"/>
              <a:buChar char="Ø"/>
            </a:pPr>
            <a:r>
              <a:rPr lang="zh-CN" altLang="en-US" sz="2200" b="1" dirty="0">
                <a:latin typeface="宋体" panose="02010600030101010101" pitchFamily="2" charset="-122"/>
                <a:ea typeface="宋体" panose="02010600030101010101" pitchFamily="2" charset="-122"/>
              </a:rPr>
              <a:t>算法步骤：</a:t>
            </a:r>
            <a:endParaRPr lang="zh-CN" altLang="en-US" sz="2200" b="1" dirty="0">
              <a:latin typeface="宋体" panose="02010600030101010101" pitchFamily="2" charset="-122"/>
              <a:ea typeface="宋体" panose="02010600030101010101" pitchFamily="2" charset="-122"/>
            </a:endParaRPr>
          </a:p>
          <a:p>
            <a:pPr lvl="2">
              <a:spcBef>
                <a:spcPct val="0"/>
              </a:spcBef>
              <a:buFont typeface="Wingdings" panose="05000000000000000000" pitchFamily="2" charset="2"/>
              <a:buChar char="p"/>
            </a:pPr>
            <a:r>
              <a:rPr lang="zh-CN" altLang="en-US" sz="2000" dirty="0">
                <a:latin typeface="宋体" panose="02010600030101010101" pitchFamily="2" charset="-122"/>
                <a:ea typeface="宋体" panose="02010600030101010101" pitchFamily="2" charset="-122"/>
              </a:rPr>
              <a:t>首先扫描一次数据库，</a:t>
            </a:r>
            <a:r>
              <a:rPr lang="zh-CN" altLang="en-US" sz="2000" dirty="0">
                <a:solidFill>
                  <a:srgbClr val="FF0000"/>
                </a:solidFill>
                <a:latin typeface="宋体" panose="02010600030101010101" pitchFamily="2" charset="-122"/>
                <a:ea typeface="宋体" panose="02010600030101010101" pitchFamily="2" charset="-122"/>
              </a:rPr>
              <a:t>将水平格式的数据转换成垂直格式</a:t>
            </a:r>
            <a:r>
              <a:rPr lang="zh-CN" altLang="en-US" sz="2000" dirty="0">
                <a:latin typeface="宋体" panose="02010600030101010101" pitchFamily="2" charset="-122"/>
                <a:ea typeface="宋体" panose="02010600030101010101" pitchFamily="2" charset="-122"/>
              </a:rPr>
              <a:t>；</a:t>
            </a:r>
            <a:endParaRPr lang="zh-CN" altLang="en-US" sz="2000" dirty="0">
              <a:latin typeface="宋体" panose="02010600030101010101" pitchFamily="2" charset="-122"/>
              <a:ea typeface="宋体" panose="02010600030101010101" pitchFamily="2" charset="-122"/>
            </a:endParaRPr>
          </a:p>
          <a:p>
            <a:pPr lvl="2">
              <a:spcBef>
                <a:spcPct val="0"/>
              </a:spcBef>
              <a:buFont typeface="Wingdings" panose="05000000000000000000" pitchFamily="2" charset="2"/>
              <a:buChar char="p"/>
            </a:pPr>
            <a:r>
              <a:rPr lang="zh-CN" altLang="en-US" sz="2000" dirty="0">
                <a:latin typeface="宋体" panose="02010600030101010101" pitchFamily="2" charset="-122"/>
                <a:ea typeface="宋体" panose="02010600030101010101" pitchFamily="2" charset="-122"/>
              </a:rPr>
              <a:t>然后，从</a:t>
            </a:r>
            <a:r>
              <a:rPr lang="en-US" altLang="zh-CN" sz="2000" dirty="0">
                <a:latin typeface="宋体" panose="02010600030101010101" pitchFamily="2" charset="-122"/>
                <a:ea typeface="宋体" panose="02010600030101010101" pitchFamily="2" charset="-122"/>
              </a:rPr>
              <a:t>K=1</a:t>
            </a:r>
            <a:r>
              <a:rPr lang="zh-CN" altLang="en-US" sz="2000" dirty="0">
                <a:latin typeface="宋体" panose="02010600030101010101" pitchFamily="2" charset="-122"/>
                <a:ea typeface="宋体" panose="02010600030101010101" pitchFamily="2" charset="-122"/>
              </a:rPr>
              <a:t>开始，根据先验性质，</a:t>
            </a:r>
            <a:r>
              <a:rPr lang="zh-CN" altLang="en-US" sz="2000" dirty="0">
                <a:solidFill>
                  <a:srgbClr val="FF0000"/>
                </a:solidFill>
                <a:latin typeface="宋体" panose="02010600030101010101" pitchFamily="2" charset="-122"/>
                <a:ea typeface="宋体" panose="02010600030101010101" pitchFamily="2" charset="-122"/>
              </a:rPr>
              <a:t>使用频繁</a:t>
            </a:r>
            <a:r>
              <a:rPr lang="en-US" altLang="zh-CN" sz="2000" dirty="0">
                <a:solidFill>
                  <a:srgbClr val="FF0000"/>
                </a:solidFill>
                <a:latin typeface="宋体" panose="02010600030101010101" pitchFamily="2" charset="-122"/>
                <a:ea typeface="宋体" panose="02010600030101010101" pitchFamily="2" charset="-122"/>
              </a:rPr>
              <a:t>K</a:t>
            </a:r>
            <a:r>
              <a:rPr lang="zh-CN" altLang="en-US" sz="2000" dirty="0">
                <a:solidFill>
                  <a:srgbClr val="FF0000"/>
                </a:solidFill>
                <a:latin typeface="宋体" panose="02010600030101010101" pitchFamily="2" charset="-122"/>
                <a:ea typeface="宋体" panose="02010600030101010101" pitchFamily="2" charset="-122"/>
              </a:rPr>
              <a:t>项集来构造候选（</a:t>
            </a:r>
            <a:r>
              <a:rPr lang="en-US" altLang="zh-CN" sz="2000" dirty="0">
                <a:solidFill>
                  <a:srgbClr val="FF0000"/>
                </a:solidFill>
                <a:latin typeface="宋体" panose="02010600030101010101" pitchFamily="2" charset="-122"/>
                <a:ea typeface="宋体" panose="02010600030101010101" pitchFamily="2" charset="-122"/>
              </a:rPr>
              <a:t>K+1</a:t>
            </a:r>
            <a:r>
              <a:rPr lang="zh-CN" altLang="en-US" sz="2000" dirty="0">
                <a:solidFill>
                  <a:srgbClr val="FF0000"/>
                </a:solidFill>
                <a:latin typeface="宋体" panose="02010600030101010101" pitchFamily="2" charset="-122"/>
                <a:ea typeface="宋体" panose="02010600030101010101" pitchFamily="2" charset="-122"/>
              </a:rPr>
              <a:t>）项集</a:t>
            </a:r>
            <a:r>
              <a:rPr lang="zh-CN" altLang="en-US" sz="2000" dirty="0">
                <a:latin typeface="宋体" panose="02010600030101010101" pitchFamily="2" charset="-122"/>
                <a:ea typeface="宋体" panose="02010600030101010101" pitchFamily="2" charset="-122"/>
              </a:rPr>
              <a:t>，通过取频繁</a:t>
            </a:r>
            <a:r>
              <a:rPr lang="en-US" altLang="zh-CN" sz="2000" dirty="0">
                <a:latin typeface="宋体" panose="02010600030101010101" pitchFamily="2" charset="-122"/>
                <a:ea typeface="宋体" panose="02010600030101010101" pitchFamily="2" charset="-122"/>
              </a:rPr>
              <a:t>K</a:t>
            </a:r>
            <a:r>
              <a:rPr lang="zh-CN" altLang="en-US" sz="2000" dirty="0">
                <a:latin typeface="宋体" panose="02010600030101010101" pitchFamily="2" charset="-122"/>
                <a:ea typeface="宋体" panose="02010600030101010101" pitchFamily="2" charset="-122"/>
              </a:rPr>
              <a:t>项集的</a:t>
            </a:r>
            <a:r>
              <a:rPr lang="en-US" altLang="zh-CN" sz="2000" dirty="0">
                <a:latin typeface="宋体" panose="02010600030101010101" pitchFamily="2" charset="-122"/>
                <a:ea typeface="宋体" panose="02010600030101010101" pitchFamily="2" charset="-122"/>
              </a:rPr>
              <a:t>TID</a:t>
            </a:r>
            <a:r>
              <a:rPr lang="zh-CN" altLang="en-US" sz="2000" dirty="0">
                <a:latin typeface="宋体" panose="02010600030101010101" pitchFamily="2" charset="-122"/>
                <a:ea typeface="宋体" panose="02010600030101010101" pitchFamily="2" charset="-122"/>
              </a:rPr>
              <a:t>集的交，计算对应的（</a:t>
            </a:r>
            <a:r>
              <a:rPr lang="en-US" altLang="zh-CN" sz="2000" dirty="0">
                <a:latin typeface="宋体" panose="02010600030101010101" pitchFamily="2" charset="-122"/>
                <a:ea typeface="宋体" panose="02010600030101010101" pitchFamily="2" charset="-122"/>
              </a:rPr>
              <a:t>K+1</a:t>
            </a:r>
            <a:r>
              <a:rPr lang="zh-CN" altLang="en-US" sz="2000" dirty="0">
                <a:latin typeface="宋体" panose="02010600030101010101" pitchFamily="2" charset="-122"/>
                <a:ea typeface="宋体" panose="02010600030101010101" pitchFamily="2" charset="-122"/>
              </a:rPr>
              <a:t>）项集的</a:t>
            </a:r>
            <a:r>
              <a:rPr lang="en-US" altLang="zh-CN" sz="2000" dirty="0">
                <a:latin typeface="宋体" panose="02010600030101010101" pitchFamily="2" charset="-122"/>
                <a:ea typeface="宋体" panose="02010600030101010101" pitchFamily="2" charset="-122"/>
              </a:rPr>
              <a:t>TID</a:t>
            </a:r>
            <a:r>
              <a:rPr lang="zh-CN" altLang="en-US" sz="2000" dirty="0">
                <a:latin typeface="宋体" panose="02010600030101010101" pitchFamily="2" charset="-122"/>
                <a:ea typeface="宋体" panose="02010600030101010101" pitchFamily="2" charset="-122"/>
              </a:rPr>
              <a:t>集。重复该过程，直到不能再找到频繁项集或候选项集。</a:t>
            </a:r>
            <a:endParaRPr lang="zh-CN" altLang="en-US" sz="2000" b="1" dirty="0">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53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5539">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5539">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5539">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553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a:t>
            </a:r>
            <a:r>
              <a:rPr lang="en-US" altLang="zh-CN" sz="4400" dirty="0">
                <a:latin typeface="楷体" panose="02010609060101010101" pitchFamily="49" charset="-122"/>
                <a:ea typeface="楷体" panose="02010609060101010101" pitchFamily="49" charset="-122"/>
              </a:rPr>
              <a:t>6.2 </a:t>
            </a:r>
            <a:r>
              <a:rPr lang="zh-CN" altLang="en-US" sz="4400" dirty="0">
                <a:latin typeface="楷体" panose="02010609060101010101" pitchFamily="49" charset="-122"/>
                <a:ea typeface="楷体" panose="02010609060101010101" pitchFamily="49" charset="-122"/>
              </a:rPr>
              <a:t>频繁项集挖掘方法</a:t>
            </a:r>
            <a:endParaRPr lang="zh-CN" altLang="en-US" sz="4400" dirty="0">
              <a:latin typeface="楷体" panose="02010609060101010101" pitchFamily="49" charset="-122"/>
              <a:ea typeface="楷体" panose="02010609060101010101" pitchFamily="49" charset="-122"/>
            </a:endParaRPr>
          </a:p>
        </p:txBody>
      </p:sp>
      <p:sp>
        <p:nvSpPr>
          <p:cNvPr id="67587" name="Rectangle 3"/>
          <p:cNvSpPr>
            <a:spLocks noGrp="1" noChangeArrowheads="1"/>
          </p:cNvSpPr>
          <p:nvPr>
            <p:ph idx="1"/>
          </p:nvPr>
        </p:nvSpPr>
        <p:spPr>
          <a:xfrm>
            <a:off x="522288" y="1160463"/>
            <a:ext cx="9906000" cy="762000"/>
          </a:xfrm>
        </p:spPr>
        <p:txBody>
          <a:bodyPr/>
          <a:lstStyle/>
          <a:p>
            <a:pPr marL="0" indent="0">
              <a:spcBef>
                <a:spcPct val="0"/>
              </a:spcBef>
              <a:buFont typeface="Arial" panose="020B0604020202020204" pitchFamily="34" charset="0"/>
              <a:buNone/>
            </a:pPr>
            <a:r>
              <a:rPr lang="en-US" altLang="zh-CN" sz="2400" b="1">
                <a:solidFill>
                  <a:srgbClr val="0000FF"/>
                </a:solidFill>
                <a:latin typeface="宋体" panose="02010600030101010101" pitchFamily="2" charset="-122"/>
                <a:ea typeface="宋体" panose="02010600030101010101" pitchFamily="2" charset="-122"/>
              </a:rPr>
              <a:t>5</a:t>
            </a:r>
            <a:r>
              <a:rPr lang="zh-CN" altLang="en-US" sz="2400" b="1">
                <a:solidFill>
                  <a:srgbClr val="0000FF"/>
                </a:solidFill>
                <a:latin typeface="宋体" panose="02010600030101010101" pitchFamily="2" charset="-122"/>
                <a:ea typeface="宋体" panose="02010600030101010101" pitchFamily="2" charset="-122"/>
              </a:rPr>
              <a:t>、使用垂直数据格式挖掘频繁项集</a:t>
            </a:r>
            <a:endParaRPr lang="en-US" altLang="zh-CN" sz="2400" b="1">
              <a:solidFill>
                <a:srgbClr val="0000FF"/>
              </a:solidFill>
              <a:latin typeface="宋体" panose="02010600030101010101" pitchFamily="2" charset="-122"/>
              <a:ea typeface="宋体" panose="02010600030101010101" pitchFamily="2" charset="-122"/>
            </a:endParaRPr>
          </a:p>
          <a:p>
            <a:pPr marL="0" indent="0">
              <a:spcBef>
                <a:spcPct val="0"/>
              </a:spcBef>
              <a:buFont typeface="Arial" panose="020B0604020202020204" pitchFamily="34" charset="0"/>
              <a:buNone/>
            </a:pPr>
            <a:r>
              <a:rPr lang="zh-CN" altLang="en-US" sz="2400" b="1">
                <a:latin typeface="宋体" panose="02010600030101010101" pitchFamily="2" charset="-122"/>
                <a:ea typeface="宋体" panose="02010600030101010101" pitchFamily="2" charset="-122"/>
              </a:rPr>
              <a:t>例：</a:t>
            </a:r>
            <a:endParaRPr lang="en-US" altLang="zh-CN" sz="2400" b="1">
              <a:latin typeface="宋体" panose="02010600030101010101" pitchFamily="2" charset="-122"/>
              <a:ea typeface="宋体" panose="02010600030101010101" pitchFamily="2" charset="-122"/>
            </a:endParaRPr>
          </a:p>
        </p:txBody>
      </p:sp>
      <p:grpSp>
        <p:nvGrpSpPr>
          <p:cNvPr id="67588" name="组合 5"/>
          <p:cNvGrpSpPr/>
          <p:nvPr/>
        </p:nvGrpSpPr>
        <p:grpSpPr bwMode="auto">
          <a:xfrm>
            <a:off x="903288" y="2354263"/>
            <a:ext cx="1704975" cy="2540000"/>
            <a:chOff x="1102723" y="2429669"/>
            <a:chExt cx="1406830" cy="2329050"/>
          </a:xfrm>
        </p:grpSpPr>
        <p:pic>
          <p:nvPicPr>
            <p:cNvPr id="67619" name="图片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06531" y="2429669"/>
              <a:ext cx="342857" cy="140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620" name="图片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9388" y="2435701"/>
              <a:ext cx="1009524" cy="140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621" name="图片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2723" y="3863481"/>
              <a:ext cx="380952" cy="895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622" name="图片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5743" y="3864588"/>
              <a:ext cx="923810" cy="866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直接连接符 9"/>
            <p:cNvCxnSpPr/>
            <p:nvPr/>
          </p:nvCxnSpPr>
          <p:spPr>
            <a:xfrm>
              <a:off x="1102723" y="4742706"/>
              <a:ext cx="1355744"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bwMode="auto">
          <a:xfrm>
            <a:off x="4637088" y="2341563"/>
            <a:ext cx="3208337" cy="1393825"/>
            <a:chOff x="4561681" y="1932854"/>
            <a:chExt cx="3209524" cy="1394333"/>
          </a:xfrm>
        </p:grpSpPr>
        <p:pic>
          <p:nvPicPr>
            <p:cNvPr id="67615" name="图片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61681" y="1932854"/>
              <a:ext cx="3209524" cy="923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616" name="图片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26769" y="2887144"/>
              <a:ext cx="257143" cy="438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617" name="图片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19313" y="2898616"/>
              <a:ext cx="866667" cy="428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5" name="直接连接符 14"/>
            <p:cNvCxnSpPr/>
            <p:nvPr/>
          </p:nvCxnSpPr>
          <p:spPr>
            <a:xfrm>
              <a:off x="4561681" y="3325598"/>
              <a:ext cx="3209524"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cxnSp>
        <p:nvCxnSpPr>
          <p:cNvPr id="18" name="直接箭头连接符 17"/>
          <p:cNvCxnSpPr/>
          <p:nvPr/>
        </p:nvCxnSpPr>
        <p:spPr>
          <a:xfrm>
            <a:off x="2732088" y="3217863"/>
            <a:ext cx="184626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2922588" y="2632075"/>
            <a:ext cx="1425575" cy="585788"/>
          </a:xfrm>
          <a:prstGeom prst="rect">
            <a:avLst/>
          </a:prstGeom>
        </p:spPr>
        <p:txBody>
          <a:bodyPr wrap="none">
            <a:spAutoFit/>
          </a:bodyPr>
          <a:lstStyle/>
          <a:p>
            <a:pPr algn="ctr">
              <a:defRPr/>
            </a:pPr>
            <a:r>
              <a:rPr lang="zh-CN" altLang="en-US" sz="1600" b="0" dirty="0">
                <a:latin typeface="+mn-ea"/>
              </a:rPr>
              <a:t>转换成</a:t>
            </a:r>
            <a:endParaRPr lang="en-US" altLang="zh-CN" sz="1600" b="0" dirty="0">
              <a:latin typeface="+mn-ea"/>
            </a:endParaRPr>
          </a:p>
          <a:p>
            <a:pPr algn="ctr">
              <a:defRPr/>
            </a:pPr>
            <a:r>
              <a:rPr lang="zh-CN" altLang="en-US" sz="1600" b="0" dirty="0">
                <a:latin typeface="+mn-ea"/>
              </a:rPr>
              <a:t>垂直数据格式</a:t>
            </a:r>
            <a:endParaRPr lang="zh-CN" altLang="en-US" b="0" dirty="0"/>
          </a:p>
        </p:txBody>
      </p:sp>
      <p:sp>
        <p:nvSpPr>
          <p:cNvPr id="20" name="矩形 19"/>
          <p:cNvSpPr/>
          <p:nvPr/>
        </p:nvSpPr>
        <p:spPr>
          <a:xfrm>
            <a:off x="4137025" y="1941513"/>
            <a:ext cx="441325" cy="400050"/>
          </a:xfrm>
          <a:prstGeom prst="rect">
            <a:avLst/>
          </a:prstGeom>
        </p:spPr>
        <p:txBody>
          <a:bodyPr wrap="none">
            <a:spAutoFit/>
          </a:bodyPr>
          <a:lstStyle/>
          <a:p>
            <a:pPr defTabSz="1083945">
              <a:defRPr/>
            </a:pPr>
            <a:r>
              <a:rPr lang="en-US" altLang="zh-CN" sz="2000" b="0" dirty="0">
                <a:latin typeface="+mn-ea"/>
                <a:ea typeface="+mn-ea"/>
              </a:rPr>
              <a:t>L1</a:t>
            </a:r>
            <a:endParaRPr lang="zh-CN" altLang="en-US" sz="2000" b="0" dirty="0">
              <a:latin typeface="+mn-ea"/>
              <a:ea typeface="+mn-ea"/>
            </a:endParaRPr>
          </a:p>
        </p:txBody>
      </p:sp>
      <p:cxnSp>
        <p:nvCxnSpPr>
          <p:cNvPr id="23" name="直接箭头连接符 22"/>
          <p:cNvCxnSpPr/>
          <p:nvPr/>
        </p:nvCxnSpPr>
        <p:spPr>
          <a:xfrm flipH="1" flipV="1">
            <a:off x="6835775" y="5738813"/>
            <a:ext cx="898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31" name="组合 30"/>
          <p:cNvGrpSpPr/>
          <p:nvPr/>
        </p:nvGrpSpPr>
        <p:grpSpPr bwMode="auto">
          <a:xfrm>
            <a:off x="7759700" y="4748213"/>
            <a:ext cx="2852738" cy="2127250"/>
            <a:chOff x="4805588" y="4178371"/>
            <a:chExt cx="2851740" cy="2127266"/>
          </a:xfrm>
        </p:grpSpPr>
        <p:pic>
          <p:nvPicPr>
            <p:cNvPr id="67611" name="图片 2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09709" y="4178371"/>
              <a:ext cx="2847619" cy="1161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612" name="图片 2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44480" y="5393250"/>
              <a:ext cx="1628571" cy="866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613" name="图片 2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91489" y="5414050"/>
              <a:ext cx="533333" cy="857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9" name="直接连接符 28"/>
            <p:cNvCxnSpPr/>
            <p:nvPr/>
          </p:nvCxnSpPr>
          <p:spPr>
            <a:xfrm>
              <a:off x="4805588" y="6305637"/>
              <a:ext cx="2851740"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33" name="矩形 32"/>
          <p:cNvSpPr/>
          <p:nvPr/>
        </p:nvSpPr>
        <p:spPr>
          <a:xfrm>
            <a:off x="5330825" y="1843088"/>
            <a:ext cx="1582738" cy="460375"/>
          </a:xfrm>
          <a:prstGeom prst="rect">
            <a:avLst/>
          </a:prstGeom>
        </p:spPr>
        <p:txBody>
          <a:bodyPr wrap="none">
            <a:spAutoFit/>
          </a:bodyPr>
          <a:lstStyle/>
          <a:p>
            <a:pPr defTabSz="1083945">
              <a:defRPr/>
            </a:pPr>
            <a:r>
              <a:rPr lang="en-US" altLang="zh-CN" sz="2400" dirty="0" err="1">
                <a:solidFill>
                  <a:srgbClr val="FF0000"/>
                </a:solidFill>
                <a:latin typeface="+mn-ea"/>
                <a:ea typeface="+mn-ea"/>
              </a:rPr>
              <a:t>min_sup</a:t>
            </a:r>
            <a:r>
              <a:rPr lang="en-US" altLang="zh-CN" sz="2400" dirty="0">
                <a:solidFill>
                  <a:srgbClr val="FF0000"/>
                </a:solidFill>
                <a:latin typeface="+mn-ea"/>
                <a:ea typeface="+mn-ea"/>
              </a:rPr>
              <a:t>=2</a:t>
            </a:r>
            <a:endParaRPr lang="zh-CN" altLang="en-US" sz="2400" dirty="0">
              <a:solidFill>
                <a:srgbClr val="FF0000"/>
              </a:solidFill>
              <a:latin typeface="+mn-ea"/>
              <a:ea typeface="+mn-ea"/>
            </a:endParaRPr>
          </a:p>
        </p:txBody>
      </p:sp>
      <p:sp>
        <p:nvSpPr>
          <p:cNvPr id="34" name="矩形 33"/>
          <p:cNvSpPr/>
          <p:nvPr/>
        </p:nvSpPr>
        <p:spPr>
          <a:xfrm>
            <a:off x="7796213" y="5486400"/>
            <a:ext cx="2782887" cy="171450"/>
          </a:xfrm>
          <a:prstGeom prst="rect">
            <a:avLst/>
          </a:prstGeom>
          <a:solidFill>
            <a:schemeClr val="tx2">
              <a:lumMod val="60000"/>
              <a:lumOff val="40000"/>
              <a:alpha val="40000"/>
            </a:schemeClr>
          </a:solidFill>
          <a:ln w="127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5" name="矩形 34"/>
          <p:cNvSpPr/>
          <p:nvPr/>
        </p:nvSpPr>
        <p:spPr>
          <a:xfrm>
            <a:off x="7796213" y="6662738"/>
            <a:ext cx="2782887" cy="171450"/>
          </a:xfrm>
          <a:prstGeom prst="rect">
            <a:avLst/>
          </a:prstGeom>
          <a:solidFill>
            <a:schemeClr val="tx2">
              <a:lumMod val="60000"/>
              <a:lumOff val="40000"/>
              <a:alpha val="40000"/>
            </a:schemeClr>
          </a:solidFill>
          <a:ln w="127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6" name="矩形 35"/>
          <p:cNvSpPr/>
          <p:nvPr/>
        </p:nvSpPr>
        <p:spPr>
          <a:xfrm>
            <a:off x="3417888" y="4484688"/>
            <a:ext cx="441325" cy="400050"/>
          </a:xfrm>
          <a:prstGeom prst="rect">
            <a:avLst/>
          </a:prstGeom>
        </p:spPr>
        <p:txBody>
          <a:bodyPr wrap="none">
            <a:spAutoFit/>
          </a:bodyPr>
          <a:lstStyle/>
          <a:p>
            <a:pPr defTabSz="1083945">
              <a:defRPr/>
            </a:pPr>
            <a:r>
              <a:rPr lang="en-US" altLang="zh-CN" sz="2000" b="0" dirty="0">
                <a:latin typeface="+mn-ea"/>
                <a:ea typeface="+mn-ea"/>
              </a:rPr>
              <a:t>L2</a:t>
            </a:r>
            <a:endParaRPr lang="zh-CN" altLang="en-US" sz="2000" b="0" dirty="0">
              <a:latin typeface="+mn-ea"/>
              <a:ea typeface="+mn-ea"/>
            </a:endParaRPr>
          </a:p>
        </p:txBody>
      </p:sp>
      <p:cxnSp>
        <p:nvCxnSpPr>
          <p:cNvPr id="38" name="肘形连接符 37"/>
          <p:cNvCxnSpPr>
            <a:stCxn id="67615" idx="3"/>
            <a:endCxn id="67611" idx="0"/>
          </p:cNvCxnSpPr>
          <p:nvPr/>
        </p:nvCxnSpPr>
        <p:spPr>
          <a:xfrm>
            <a:off x="7845425" y="2803525"/>
            <a:ext cx="1343025" cy="194468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61" name="组合 60"/>
          <p:cNvGrpSpPr/>
          <p:nvPr/>
        </p:nvGrpSpPr>
        <p:grpSpPr bwMode="auto">
          <a:xfrm>
            <a:off x="3987800" y="4745038"/>
            <a:ext cx="2771775" cy="1722437"/>
            <a:chOff x="4370515" y="4744613"/>
            <a:chExt cx="2771429" cy="1722923"/>
          </a:xfrm>
        </p:grpSpPr>
        <p:pic>
          <p:nvPicPr>
            <p:cNvPr id="67606" name="图片 4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70515" y="4744613"/>
              <a:ext cx="2771429" cy="723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607" name="图片 4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95119" y="5498376"/>
              <a:ext cx="2009524" cy="20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608" name="图片 4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416160" y="5758315"/>
              <a:ext cx="514286" cy="657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609" name="图片 4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494325" y="5771390"/>
              <a:ext cx="1647619" cy="628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8" name="直接连接符 47"/>
            <p:cNvCxnSpPr>
              <a:stCxn id="67615" idx="3"/>
              <a:endCxn id="67611" idx="0"/>
            </p:cNvCxnSpPr>
            <p:nvPr/>
          </p:nvCxnSpPr>
          <p:spPr>
            <a:xfrm flipV="1">
              <a:off x="4403849" y="6462773"/>
              <a:ext cx="2738095" cy="4763"/>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60" name="组合 59"/>
          <p:cNvGrpSpPr/>
          <p:nvPr/>
        </p:nvGrpSpPr>
        <p:grpSpPr bwMode="auto">
          <a:xfrm>
            <a:off x="917575" y="5465763"/>
            <a:ext cx="1824038" cy="806450"/>
            <a:chOff x="425592" y="5465448"/>
            <a:chExt cx="1824359" cy="806582"/>
          </a:xfrm>
        </p:grpSpPr>
        <p:pic>
          <p:nvPicPr>
            <p:cNvPr id="67604" name="图片 5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25592" y="5465448"/>
              <a:ext cx="1028571" cy="8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605" name="图片 5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54713" y="5472030"/>
              <a:ext cx="895238" cy="80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65" name="直接箭头连接符 64"/>
          <p:cNvCxnSpPr>
            <a:stCxn id="67615" idx="3"/>
            <a:endCxn id="67611" idx="0"/>
          </p:cNvCxnSpPr>
          <p:nvPr/>
        </p:nvCxnSpPr>
        <p:spPr>
          <a:xfrm flipH="1" flipV="1">
            <a:off x="2946400" y="5859463"/>
            <a:ext cx="8985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6" name="矩形 65"/>
          <p:cNvSpPr/>
          <p:nvPr/>
        </p:nvSpPr>
        <p:spPr>
          <a:xfrm>
            <a:off x="463550" y="5257800"/>
            <a:ext cx="439738" cy="400050"/>
          </a:xfrm>
          <a:prstGeom prst="rect">
            <a:avLst/>
          </a:prstGeom>
        </p:spPr>
        <p:txBody>
          <a:bodyPr wrap="none">
            <a:spAutoFit/>
          </a:bodyPr>
          <a:lstStyle/>
          <a:p>
            <a:pPr defTabSz="1083945">
              <a:defRPr/>
            </a:pPr>
            <a:r>
              <a:rPr lang="en-US" altLang="zh-CN" sz="2000" b="0" dirty="0">
                <a:latin typeface="+mn-ea"/>
                <a:ea typeface="+mn-ea"/>
              </a:rPr>
              <a:t>L3</a:t>
            </a:r>
            <a:endParaRPr lang="zh-CN" altLang="en-US" sz="2000" b="0" dirty="0">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33" grpId="0"/>
      <p:bldP spid="34" grpId="0" animBg="1"/>
      <p:bldP spid="35" grpId="0" animBg="1"/>
      <p:bldP spid="36" grpId="0"/>
      <p:bldP spid="6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a:t>
            </a:r>
            <a:r>
              <a:rPr lang="en-US" altLang="zh-CN" sz="4400" dirty="0">
                <a:latin typeface="楷体" panose="02010609060101010101" pitchFamily="49" charset="-122"/>
                <a:ea typeface="楷体" panose="02010609060101010101" pitchFamily="49" charset="-122"/>
              </a:rPr>
              <a:t>6.2 </a:t>
            </a:r>
            <a:r>
              <a:rPr lang="zh-CN" altLang="en-US" sz="4400" dirty="0">
                <a:latin typeface="楷体" panose="02010609060101010101" pitchFamily="49" charset="-122"/>
                <a:ea typeface="楷体" panose="02010609060101010101" pitchFamily="49" charset="-122"/>
              </a:rPr>
              <a:t>频繁项集挖掘方法</a:t>
            </a:r>
            <a:endParaRPr lang="zh-CN" altLang="en-US" sz="4400" dirty="0">
              <a:latin typeface="楷体" panose="02010609060101010101" pitchFamily="49" charset="-122"/>
              <a:ea typeface="楷体" panose="02010609060101010101" pitchFamily="49" charset="-122"/>
            </a:endParaRPr>
          </a:p>
        </p:txBody>
      </p:sp>
      <p:sp>
        <p:nvSpPr>
          <p:cNvPr id="69635" name="Rectangle 3"/>
          <p:cNvSpPr>
            <a:spLocks noGrp="1" noChangeArrowheads="1"/>
          </p:cNvSpPr>
          <p:nvPr>
            <p:ph idx="1"/>
          </p:nvPr>
        </p:nvSpPr>
        <p:spPr>
          <a:xfrm>
            <a:off x="522288" y="1160463"/>
            <a:ext cx="9906000" cy="5791200"/>
          </a:xfrm>
        </p:spPr>
        <p:txBody>
          <a:bodyPr/>
          <a:lstStyle/>
          <a:p>
            <a:pPr marL="0" indent="0">
              <a:spcBef>
                <a:spcPct val="0"/>
              </a:spcBef>
              <a:buFont typeface="Arial" panose="020B0604020202020204" pitchFamily="34" charset="0"/>
              <a:buNone/>
            </a:pPr>
            <a:r>
              <a:rPr lang="en-US" altLang="zh-CN" sz="2400" b="1" dirty="0">
                <a:solidFill>
                  <a:srgbClr val="0000FF"/>
                </a:solidFill>
                <a:latin typeface="宋体" panose="02010600030101010101" pitchFamily="2" charset="-122"/>
                <a:ea typeface="宋体" panose="02010600030101010101" pitchFamily="2" charset="-122"/>
              </a:rPr>
              <a:t>5</a:t>
            </a:r>
            <a:r>
              <a:rPr lang="zh-CN" altLang="en-US" sz="2400" b="1" dirty="0">
                <a:solidFill>
                  <a:srgbClr val="0000FF"/>
                </a:solidFill>
                <a:latin typeface="宋体" panose="02010600030101010101" pitchFamily="2" charset="-122"/>
                <a:ea typeface="宋体" panose="02010600030101010101" pitchFamily="2" charset="-122"/>
              </a:rPr>
              <a:t>、使用垂直数据格式挖掘频繁项集</a:t>
            </a:r>
            <a:endParaRPr lang="en-US" altLang="zh-CN" sz="2400" b="1" dirty="0">
              <a:solidFill>
                <a:srgbClr val="0000FF"/>
              </a:solidFill>
              <a:latin typeface="宋体" panose="02010600030101010101" pitchFamily="2" charset="-122"/>
              <a:ea typeface="宋体" panose="02010600030101010101" pitchFamily="2" charset="-122"/>
            </a:endParaRPr>
          </a:p>
          <a:p>
            <a:pPr marL="0" indent="0">
              <a:spcBef>
                <a:spcPct val="0"/>
              </a:spcBef>
              <a:buFont typeface="Arial" panose="020B0604020202020204" pitchFamily="34" charset="0"/>
              <a:buNone/>
            </a:pPr>
            <a:r>
              <a:rPr lang="zh-CN" altLang="en-US" sz="2400" b="1" dirty="0">
                <a:solidFill>
                  <a:srgbClr val="0000FF"/>
                </a:solidFill>
                <a:latin typeface="宋体" panose="02010600030101010101" pitchFamily="2" charset="-122"/>
                <a:ea typeface="宋体" panose="02010600030101010101" pitchFamily="2" charset="-122"/>
              </a:rPr>
              <a:t>优势：</a:t>
            </a:r>
            <a:endParaRPr lang="en-US" altLang="zh-CN" sz="2400" b="1" dirty="0">
              <a:solidFill>
                <a:srgbClr val="0000FF"/>
              </a:solidFill>
              <a:latin typeface="宋体" panose="02010600030101010101" pitchFamily="2" charset="-122"/>
              <a:ea typeface="宋体" panose="02010600030101010101" pitchFamily="2" charset="-122"/>
            </a:endParaRPr>
          </a:p>
          <a:p>
            <a:pPr marL="0" indent="0">
              <a:spcBef>
                <a:spcPct val="0"/>
              </a:spcBef>
              <a:buFont typeface="Wingdings" panose="05000000000000000000" pitchFamily="2" charset="2"/>
              <a:buChar char="Ø"/>
            </a:pPr>
            <a:r>
              <a:rPr lang="zh-CN" altLang="en-US" sz="2400" dirty="0">
                <a:solidFill>
                  <a:srgbClr val="FF0000"/>
                </a:solidFill>
                <a:latin typeface="宋体" panose="02010600030101010101" pitchFamily="2" charset="-122"/>
                <a:ea typeface="宋体" panose="02010600030101010101" pitchFamily="2" charset="-122"/>
              </a:rPr>
              <a:t>只在产生候选</a:t>
            </a:r>
            <a:r>
              <a:rPr lang="en-US" altLang="zh-CN" sz="2400" dirty="0">
                <a:solidFill>
                  <a:srgbClr val="FF0000"/>
                </a:solidFill>
                <a:latin typeface="宋体" panose="02010600030101010101" pitchFamily="2" charset="-122"/>
                <a:ea typeface="宋体" panose="02010600030101010101" pitchFamily="2" charset="-122"/>
              </a:rPr>
              <a:t>(k+1)</a:t>
            </a:r>
            <a:r>
              <a:rPr lang="zh-CN" altLang="en-US" sz="2400" dirty="0">
                <a:solidFill>
                  <a:srgbClr val="FF0000"/>
                </a:solidFill>
                <a:latin typeface="宋体" panose="02010600030101010101" pitchFamily="2" charset="-122"/>
                <a:ea typeface="宋体" panose="02010600030101010101" pitchFamily="2" charset="-122"/>
              </a:rPr>
              <a:t>项集时利用先验性质</a:t>
            </a:r>
            <a:r>
              <a:rPr lang="zh-CN" altLang="en-US"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marL="0" indent="0">
              <a:spcBef>
                <a:spcPct val="0"/>
              </a:spcBef>
              <a:buFont typeface="Wingdings" panose="05000000000000000000" pitchFamily="2" charset="2"/>
              <a:buChar char="Ø"/>
            </a:pPr>
            <a:r>
              <a:rPr lang="zh-CN" altLang="en-US" sz="2400" dirty="0">
                <a:solidFill>
                  <a:srgbClr val="FF0000"/>
                </a:solidFill>
                <a:latin typeface="宋体" panose="02010600030101010101" pitchFamily="2" charset="-122"/>
                <a:ea typeface="宋体" panose="02010600030101010101" pitchFamily="2" charset="-122"/>
              </a:rPr>
              <a:t>不需要扫描数据库来确定</a:t>
            </a:r>
            <a:r>
              <a:rPr lang="en-US" altLang="zh-CN" sz="2400" dirty="0">
                <a:solidFill>
                  <a:srgbClr val="FF0000"/>
                </a:solidFill>
                <a:latin typeface="宋体" panose="02010600030101010101" pitchFamily="2" charset="-122"/>
                <a:ea typeface="宋体" panose="02010600030101010101" pitchFamily="2" charset="-122"/>
              </a:rPr>
              <a:t>(k+1)</a:t>
            </a:r>
            <a:r>
              <a:rPr lang="zh-CN" altLang="en-US" sz="2400" dirty="0">
                <a:solidFill>
                  <a:srgbClr val="FF0000"/>
                </a:solidFill>
                <a:latin typeface="宋体" panose="02010600030101010101" pitchFamily="2" charset="-122"/>
                <a:ea typeface="宋体" panose="02010600030101010101" pitchFamily="2" charset="-122"/>
              </a:rPr>
              <a:t>项集的支持度</a:t>
            </a:r>
            <a:r>
              <a:rPr lang="zh-CN" altLang="en-US" sz="2400" dirty="0">
                <a:latin typeface="宋体" panose="02010600030101010101" pitchFamily="2" charset="-122"/>
                <a:ea typeface="宋体" panose="02010600030101010101" pitchFamily="2" charset="-122"/>
              </a:rPr>
              <a:t>，因为每个</a:t>
            </a:r>
            <a:r>
              <a:rPr lang="en-US" altLang="zh-CN" sz="2400" dirty="0">
                <a:latin typeface="宋体" panose="02010600030101010101" pitchFamily="2" charset="-122"/>
                <a:ea typeface="宋体" panose="02010600030101010101" pitchFamily="2" charset="-122"/>
              </a:rPr>
              <a:t>k</a:t>
            </a:r>
            <a:r>
              <a:rPr lang="zh-CN" altLang="en-US" sz="2400" dirty="0">
                <a:latin typeface="宋体" panose="02010600030101010101" pitchFamily="2" charset="-122"/>
                <a:ea typeface="宋体" panose="02010600030101010101" pitchFamily="2" charset="-122"/>
              </a:rPr>
              <a:t>项集的</a:t>
            </a:r>
            <a:r>
              <a:rPr lang="en-US" altLang="zh-CN" sz="2400" dirty="0">
                <a:latin typeface="宋体" panose="02010600030101010101" pitchFamily="2" charset="-122"/>
                <a:ea typeface="宋体" panose="02010600030101010101" pitchFamily="2" charset="-122"/>
              </a:rPr>
              <a:t>TID</a:t>
            </a:r>
            <a:r>
              <a:rPr lang="zh-CN" altLang="en-US" sz="2400" dirty="0">
                <a:latin typeface="宋体" panose="02010600030101010101" pitchFamily="2" charset="-122"/>
                <a:ea typeface="宋体" panose="02010600030101010101" pitchFamily="2" charset="-122"/>
              </a:rPr>
              <a:t>集都携带了计算支持度的完整信息。</a:t>
            </a:r>
            <a:endParaRPr lang="en-US" altLang="zh-CN" sz="2400" dirty="0">
              <a:latin typeface="宋体" panose="02010600030101010101" pitchFamily="2" charset="-122"/>
              <a:ea typeface="宋体" panose="02010600030101010101" pitchFamily="2" charset="-122"/>
            </a:endParaRPr>
          </a:p>
          <a:p>
            <a:pPr marL="0" indent="0">
              <a:spcBef>
                <a:spcPct val="0"/>
              </a:spcBef>
              <a:buFont typeface="Arial" panose="020B0604020202020204" pitchFamily="34" charset="0"/>
              <a:buNone/>
            </a:pPr>
            <a:r>
              <a:rPr lang="zh-CN" altLang="en-US" sz="2400" b="1" dirty="0">
                <a:solidFill>
                  <a:srgbClr val="0000FF"/>
                </a:solidFill>
                <a:latin typeface="宋体" panose="02010600030101010101" pitchFamily="2" charset="-122"/>
                <a:ea typeface="宋体" panose="02010600030101010101" pitchFamily="2" charset="-122"/>
              </a:rPr>
              <a:t>局限性：</a:t>
            </a:r>
            <a:endParaRPr lang="en-US" altLang="zh-CN" sz="2400" b="1" dirty="0">
              <a:solidFill>
                <a:srgbClr val="0000FF"/>
              </a:solidFill>
              <a:latin typeface="宋体" panose="02010600030101010101" pitchFamily="2" charset="-122"/>
              <a:ea typeface="宋体" panose="02010600030101010101" pitchFamily="2" charset="-122"/>
            </a:endParaRPr>
          </a:p>
          <a:p>
            <a:pPr marL="0" indent="0">
              <a:spcBef>
                <a:spcPct val="0"/>
              </a:spcBef>
              <a:buFont typeface="Wingdings" panose="05000000000000000000" pitchFamily="2" charset="2"/>
              <a:buChar char="Ø"/>
            </a:pPr>
            <a:r>
              <a:rPr lang="en-US" altLang="zh-CN" sz="2400" dirty="0">
                <a:latin typeface="宋体" panose="02010600030101010101" pitchFamily="2" charset="-122"/>
                <a:ea typeface="宋体" panose="02010600030101010101" pitchFamily="2" charset="-122"/>
              </a:rPr>
              <a:t>TID</a:t>
            </a:r>
            <a:r>
              <a:rPr lang="zh-CN" altLang="en-US" sz="2400" dirty="0">
                <a:latin typeface="宋体" panose="02010600030101010101" pitchFamily="2" charset="-122"/>
                <a:ea typeface="宋体" panose="02010600030101010101" pitchFamily="2" charset="-122"/>
              </a:rPr>
              <a:t>可能很长，</a:t>
            </a:r>
            <a:r>
              <a:rPr lang="zh-CN" altLang="en-US" sz="2400" dirty="0">
                <a:solidFill>
                  <a:srgbClr val="FF0000"/>
                </a:solidFill>
                <a:latin typeface="宋体" panose="02010600030101010101" pitchFamily="2" charset="-122"/>
                <a:ea typeface="宋体" panose="02010600030101010101" pitchFamily="2" charset="-122"/>
              </a:rPr>
              <a:t>需要大量的内存空间</a:t>
            </a:r>
            <a:r>
              <a:rPr lang="zh-CN" altLang="en-US" sz="2400" dirty="0">
                <a:latin typeface="宋体" panose="02010600030101010101" pitchFamily="2" charset="-122"/>
                <a:ea typeface="宋体" panose="02010600030101010101" pitchFamily="2" charset="-122"/>
              </a:rPr>
              <a:t>，长集合的交运算还</a:t>
            </a:r>
            <a:r>
              <a:rPr lang="zh-CN" altLang="en-US" sz="2400" dirty="0">
                <a:solidFill>
                  <a:srgbClr val="FF0000"/>
                </a:solidFill>
                <a:latin typeface="宋体" panose="02010600030101010101" pitchFamily="2" charset="-122"/>
                <a:ea typeface="宋体" panose="02010600030101010101" pitchFamily="2" charset="-122"/>
              </a:rPr>
              <a:t>需要大量的计算时间</a:t>
            </a:r>
            <a:r>
              <a:rPr lang="zh-CN" altLang="en-US"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lvl="1">
              <a:spcBef>
                <a:spcPct val="0"/>
              </a:spcBef>
            </a:pPr>
            <a:r>
              <a:rPr lang="zh-CN" altLang="en-US" sz="2400" dirty="0">
                <a:solidFill>
                  <a:srgbClr val="FF0000"/>
                </a:solidFill>
                <a:latin typeface="宋体" panose="02010600030101010101" pitchFamily="2" charset="-122"/>
                <a:ea typeface="宋体" panose="02010600030101010101" pitchFamily="2" charset="-122"/>
              </a:rPr>
              <a:t>使用差集技术解决</a:t>
            </a:r>
            <a:endParaRPr lang="zh-CN" altLang="en-US" sz="2400" dirty="0">
              <a:solidFill>
                <a:srgbClr val="FF0000"/>
              </a:solidFill>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63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963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9635">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963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a:t>
            </a:r>
            <a:r>
              <a:rPr lang="en-US" altLang="zh-CN" sz="4400" dirty="0">
                <a:latin typeface="楷体" panose="02010609060101010101" pitchFamily="49" charset="-122"/>
                <a:ea typeface="楷体" panose="02010609060101010101" pitchFamily="49" charset="-122"/>
              </a:rPr>
              <a:t>6.2 </a:t>
            </a:r>
            <a:r>
              <a:rPr lang="zh-CN" altLang="en-US" sz="4400" dirty="0">
                <a:latin typeface="楷体" panose="02010609060101010101" pitchFamily="49" charset="-122"/>
                <a:ea typeface="楷体" panose="02010609060101010101" pitchFamily="49" charset="-122"/>
              </a:rPr>
              <a:t>频繁项集挖掘方法</a:t>
            </a:r>
            <a:endParaRPr lang="zh-CN" altLang="en-US" sz="4400" dirty="0">
              <a:latin typeface="楷体" panose="02010609060101010101" pitchFamily="49" charset="-122"/>
              <a:ea typeface="楷体" panose="02010609060101010101" pitchFamily="49" charset="-122"/>
            </a:endParaRPr>
          </a:p>
        </p:txBody>
      </p:sp>
      <p:sp>
        <p:nvSpPr>
          <p:cNvPr id="4" name="Rectangle 3"/>
          <p:cNvSpPr>
            <a:spLocks noGrp="1" noChangeArrowheads="1"/>
          </p:cNvSpPr>
          <p:nvPr>
            <p:ph idx="1"/>
          </p:nvPr>
        </p:nvSpPr>
        <p:spPr>
          <a:xfrm>
            <a:off x="522288" y="1160463"/>
            <a:ext cx="9906000" cy="5791200"/>
          </a:xfrm>
        </p:spPr>
        <p:txBody>
          <a:bodyPr/>
          <a:lstStyle/>
          <a:p>
            <a:pPr marL="0" indent="0" defTabSz="868680">
              <a:buFont typeface="Arial" panose="020B0604020202020204" pitchFamily="34" charset="0"/>
              <a:buNone/>
              <a:defRPr/>
            </a:pPr>
            <a:r>
              <a:rPr lang="en-US" altLang="zh-CN" sz="2400" b="1" dirty="0">
                <a:solidFill>
                  <a:srgbClr val="0000FF"/>
                </a:solidFill>
                <a:latin typeface="+mn-ea"/>
                <a:ea typeface="+mn-ea"/>
                <a:cs typeface="Times New Roman" panose="02020603050405020304" pitchFamily="18" charset="0"/>
              </a:rPr>
              <a:t>6</a:t>
            </a:r>
            <a:r>
              <a:rPr lang="zh-CN" altLang="en-US" sz="2400" b="1" dirty="0">
                <a:solidFill>
                  <a:srgbClr val="0000FF"/>
                </a:solidFill>
                <a:latin typeface="+mn-ea"/>
                <a:ea typeface="+mn-ea"/>
                <a:cs typeface="Times New Roman" panose="02020603050405020304" pitchFamily="18" charset="0"/>
              </a:rPr>
              <a:t>、挖据闭模式和极大模式</a:t>
            </a:r>
            <a:endParaRPr lang="en-US" altLang="zh-CN" sz="2400" b="1" dirty="0">
              <a:solidFill>
                <a:srgbClr val="0000FF"/>
              </a:solidFill>
              <a:latin typeface="+mn-ea"/>
              <a:ea typeface="+mn-ea"/>
              <a:cs typeface="Times New Roman" panose="02020603050405020304" pitchFamily="18" charset="0"/>
            </a:endParaRPr>
          </a:p>
          <a:p>
            <a:pPr defTabSz="868680">
              <a:buFont typeface="Wingdings" panose="05000000000000000000" pitchFamily="2" charset="2"/>
              <a:buChar char="Ø"/>
              <a:defRPr/>
            </a:pPr>
            <a:r>
              <a:rPr lang="zh-CN" altLang="en-US" sz="2400" dirty="0">
                <a:latin typeface="+mn-ea"/>
                <a:ea typeface="+mn-ea"/>
              </a:rPr>
              <a:t>闭频繁模式集</a:t>
            </a:r>
            <a:r>
              <a:rPr lang="zh-CN" altLang="en-US" sz="2400" dirty="0">
                <a:solidFill>
                  <a:srgbClr val="FF0000"/>
                </a:solidFill>
                <a:latin typeface="+mn-ea"/>
                <a:ea typeface="+mn-ea"/>
              </a:rPr>
              <a:t>可以显著减少</a:t>
            </a:r>
            <a:r>
              <a:rPr lang="zh-CN" altLang="en-US" sz="2400" dirty="0">
                <a:latin typeface="+mn-ea"/>
                <a:ea typeface="+mn-ea"/>
              </a:rPr>
              <a:t>频繁模式挖掘所产生的</a:t>
            </a:r>
            <a:r>
              <a:rPr lang="zh-CN" altLang="en-US" sz="2400" dirty="0">
                <a:solidFill>
                  <a:srgbClr val="FF0000"/>
                </a:solidFill>
                <a:latin typeface="+mn-ea"/>
                <a:ea typeface="+mn-ea"/>
              </a:rPr>
              <a:t>模式数量</a:t>
            </a:r>
            <a:r>
              <a:rPr lang="zh-CN" altLang="en-US" sz="2400" dirty="0">
                <a:latin typeface="+mn-ea"/>
                <a:ea typeface="+mn-ea"/>
              </a:rPr>
              <a:t>，而且保持关于频繁项集的集合的完整信息。</a:t>
            </a:r>
            <a:endParaRPr lang="en-US" altLang="zh-CN" sz="2400" dirty="0">
              <a:latin typeface="+mn-ea"/>
              <a:ea typeface="+mn-ea"/>
            </a:endParaRPr>
          </a:p>
          <a:p>
            <a:pPr defTabSz="868680">
              <a:buFont typeface="Wingdings" panose="05000000000000000000" pitchFamily="2" charset="2"/>
              <a:buChar char="Ø"/>
              <a:defRPr/>
            </a:pPr>
            <a:r>
              <a:rPr lang="zh-CN" altLang="en-US" sz="2400" dirty="0">
                <a:latin typeface="+mn-ea"/>
                <a:ea typeface="+mn-ea"/>
              </a:rPr>
              <a:t>挖掘闭频繁模式项集较好的方法是</a:t>
            </a:r>
            <a:r>
              <a:rPr lang="zh-CN" altLang="en-US" sz="2400" dirty="0">
                <a:solidFill>
                  <a:srgbClr val="FF0000"/>
                </a:solidFill>
                <a:latin typeface="+mn-ea"/>
                <a:ea typeface="+mn-ea"/>
              </a:rPr>
              <a:t>在挖掘过程中直接搜索闭频繁项集</a:t>
            </a:r>
            <a:r>
              <a:rPr lang="zh-CN" altLang="en-US" sz="2400" dirty="0">
                <a:latin typeface="+mn-ea"/>
                <a:ea typeface="+mn-ea"/>
              </a:rPr>
              <a:t>，一旦识别到闭项集就尽快对搜索空间进行剪枝，</a:t>
            </a:r>
            <a:r>
              <a:rPr lang="zh-CN" altLang="en-US" sz="2400" b="1" dirty="0">
                <a:latin typeface="+mn-ea"/>
                <a:ea typeface="+mn-ea"/>
              </a:rPr>
              <a:t>剪枝的策略</a:t>
            </a:r>
            <a:r>
              <a:rPr lang="zh-CN" altLang="en-US" sz="2400" dirty="0">
                <a:latin typeface="+mn-ea"/>
                <a:ea typeface="+mn-ea"/>
              </a:rPr>
              <a:t>包括：</a:t>
            </a:r>
            <a:endParaRPr lang="en-US" altLang="zh-CN" sz="2400" dirty="0">
              <a:latin typeface="+mn-ea"/>
              <a:ea typeface="+mn-ea"/>
            </a:endParaRPr>
          </a:p>
          <a:p>
            <a:pPr marL="706755" lvl="1" indent="-271780" defTabSz="868680">
              <a:defRPr/>
            </a:pPr>
            <a:r>
              <a:rPr lang="zh-CN" altLang="en-US" sz="2400" dirty="0">
                <a:solidFill>
                  <a:srgbClr val="0000FF"/>
                </a:solidFill>
                <a:latin typeface="+mn-ea"/>
                <a:ea typeface="+mn-ea"/>
              </a:rPr>
              <a:t>项合并</a:t>
            </a:r>
            <a:endParaRPr lang="en-US" altLang="zh-CN" sz="2400" dirty="0">
              <a:solidFill>
                <a:srgbClr val="0000FF"/>
              </a:solidFill>
              <a:latin typeface="+mn-ea"/>
              <a:ea typeface="+mn-ea"/>
            </a:endParaRPr>
          </a:p>
          <a:p>
            <a:pPr marL="706755" lvl="1" indent="-271780" defTabSz="868680">
              <a:defRPr/>
            </a:pPr>
            <a:r>
              <a:rPr lang="zh-CN" altLang="en-US" sz="2400" dirty="0">
                <a:solidFill>
                  <a:srgbClr val="0000FF"/>
                </a:solidFill>
                <a:latin typeface="+mn-ea"/>
                <a:ea typeface="+mn-ea"/>
              </a:rPr>
              <a:t>子项集剪枝</a:t>
            </a:r>
            <a:endParaRPr lang="en-US" altLang="zh-CN" sz="2400" dirty="0">
              <a:solidFill>
                <a:srgbClr val="0000FF"/>
              </a:solidFill>
              <a:latin typeface="+mn-ea"/>
              <a:ea typeface="+mn-ea"/>
            </a:endParaRPr>
          </a:p>
          <a:p>
            <a:pPr marL="706755" lvl="1" indent="-271780" defTabSz="868680">
              <a:defRPr/>
            </a:pPr>
            <a:r>
              <a:rPr lang="zh-CN" altLang="en-US" sz="2400" dirty="0">
                <a:solidFill>
                  <a:srgbClr val="0000FF"/>
                </a:solidFill>
                <a:latin typeface="+mn-ea"/>
                <a:ea typeface="+mn-ea"/>
              </a:rPr>
              <a:t>项跳过</a:t>
            </a:r>
            <a:endParaRPr lang="en-US" altLang="zh-CN" sz="2400" dirty="0">
              <a:solidFill>
                <a:srgbClr val="0000FF"/>
              </a:solidFill>
              <a:latin typeface="+mn-ea"/>
              <a:ea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1027"/>
          <p:cNvSpPr>
            <a:spLocks noChangeArrowheads="1"/>
          </p:cNvSpPr>
          <p:nvPr/>
        </p:nvSpPr>
        <p:spPr bwMode="auto">
          <a:xfrm>
            <a:off x="750888" y="1249363"/>
            <a:ext cx="98298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0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eaLnBrk="1" hangingPunct="1">
              <a:lnSpc>
                <a:spcPct val="150000"/>
              </a:lnSpc>
              <a:spcBef>
                <a:spcPts val="0"/>
              </a:spcBef>
              <a:spcAft>
                <a:spcPct val="0"/>
              </a:spcAft>
              <a:buClr>
                <a:schemeClr val="folHlink"/>
              </a:buClr>
              <a:buSzPct val="60000"/>
              <a:buFont typeface="Wingdings" panose="05000000000000000000" pitchFamily="2" charset="2"/>
              <a:buNone/>
              <a:defRPr/>
            </a:pPr>
            <a:r>
              <a:rPr lang="en-US" altLang="zh-CN" sz="3600" dirty="0">
                <a:solidFill>
                  <a:schemeClr val="bg1">
                    <a:lumMod val="75000"/>
                  </a:schemeClr>
                </a:solidFill>
                <a:latin typeface="楷体" panose="02010609060101010101" pitchFamily="49" charset="-122"/>
                <a:ea typeface="楷体" panose="02010609060101010101" pitchFamily="49" charset="-122"/>
              </a:rPr>
              <a:t>6.1 </a:t>
            </a:r>
            <a:r>
              <a:rPr lang="zh-CN" altLang="en-US" sz="3600" dirty="0">
                <a:solidFill>
                  <a:schemeClr val="bg1">
                    <a:lumMod val="75000"/>
                  </a:schemeClr>
                </a:solidFill>
                <a:latin typeface="楷体" panose="02010609060101010101" pitchFamily="49" charset="-122"/>
                <a:ea typeface="楷体" panose="02010609060101010101" pitchFamily="49" charset="-122"/>
              </a:rPr>
              <a:t>基本概念</a:t>
            </a:r>
            <a:endParaRPr lang="en-US" altLang="zh-CN" sz="3600" dirty="0">
              <a:solidFill>
                <a:schemeClr val="bg1">
                  <a:lumMod val="75000"/>
                </a:schemeClr>
              </a:solidFill>
              <a:latin typeface="楷体" panose="02010609060101010101" pitchFamily="49" charset="-122"/>
              <a:ea typeface="楷体" panose="02010609060101010101" pitchFamily="49" charset="-122"/>
            </a:endParaRPr>
          </a:p>
          <a:p>
            <a:pPr eaLnBrk="1" hangingPunct="1">
              <a:lnSpc>
                <a:spcPct val="150000"/>
              </a:lnSpc>
              <a:spcBef>
                <a:spcPts val="0"/>
              </a:spcBef>
              <a:spcAft>
                <a:spcPct val="0"/>
              </a:spcAft>
              <a:buClr>
                <a:schemeClr val="folHlink"/>
              </a:buClr>
              <a:buSzPct val="60000"/>
              <a:buFont typeface="Monotype Sorts" pitchFamily="2" charset="2"/>
              <a:buNone/>
              <a:defRPr/>
            </a:pPr>
            <a:r>
              <a:rPr lang="en-US" altLang="zh-CN" sz="3600" dirty="0">
                <a:solidFill>
                  <a:schemeClr val="bg1">
                    <a:lumMod val="75000"/>
                  </a:schemeClr>
                </a:solidFill>
                <a:latin typeface="楷体" panose="02010609060101010101" pitchFamily="49" charset="-122"/>
                <a:ea typeface="楷体" panose="02010609060101010101" pitchFamily="49" charset="-122"/>
              </a:rPr>
              <a:t>6.2 </a:t>
            </a:r>
            <a:r>
              <a:rPr lang="zh-CN" altLang="en-US" sz="3600" dirty="0">
                <a:solidFill>
                  <a:schemeClr val="bg1">
                    <a:lumMod val="75000"/>
                  </a:schemeClr>
                </a:solidFill>
                <a:latin typeface="楷体" panose="02010609060101010101" pitchFamily="49" charset="-122"/>
                <a:ea typeface="楷体" panose="02010609060101010101" pitchFamily="49" charset="-122"/>
              </a:rPr>
              <a:t>频繁项集挖掘方法</a:t>
            </a:r>
            <a:endParaRPr lang="en-US" altLang="zh-CN" sz="3600" dirty="0">
              <a:solidFill>
                <a:schemeClr val="bg1">
                  <a:lumMod val="75000"/>
                </a:schemeClr>
              </a:solidFill>
              <a:latin typeface="楷体" panose="02010609060101010101" pitchFamily="49" charset="-122"/>
              <a:ea typeface="楷体" panose="02010609060101010101" pitchFamily="49" charset="-122"/>
            </a:endParaRPr>
          </a:p>
          <a:p>
            <a:pPr eaLnBrk="1" hangingPunct="1">
              <a:lnSpc>
                <a:spcPct val="150000"/>
              </a:lnSpc>
              <a:spcBef>
                <a:spcPts val="0"/>
              </a:spcBef>
              <a:spcAft>
                <a:spcPct val="0"/>
              </a:spcAft>
              <a:buClr>
                <a:schemeClr val="folHlink"/>
              </a:buClr>
              <a:buSzPct val="60000"/>
              <a:buFont typeface="Monotype Sorts" pitchFamily="2" charset="2"/>
              <a:buNone/>
              <a:defRPr/>
            </a:pPr>
            <a:r>
              <a:rPr lang="en-US" altLang="zh-CN" sz="3600" dirty="0">
                <a:solidFill>
                  <a:srgbClr val="FF0000"/>
                </a:solidFill>
                <a:latin typeface="楷体" panose="02010609060101010101" pitchFamily="49" charset="-122"/>
                <a:ea typeface="楷体" panose="02010609060101010101" pitchFamily="49" charset="-122"/>
              </a:rPr>
              <a:t>6.3 </a:t>
            </a:r>
            <a:r>
              <a:rPr lang="zh-CN" altLang="en-US" sz="3600" dirty="0">
                <a:solidFill>
                  <a:srgbClr val="FF0000"/>
                </a:solidFill>
                <a:latin typeface="楷体" panose="02010609060101010101" pitchFamily="49" charset="-122"/>
                <a:ea typeface="楷体" panose="02010609060101010101" pitchFamily="49" charset="-122"/>
              </a:rPr>
              <a:t>哪些模式是有趣的：模式评估方法</a:t>
            </a:r>
            <a:endParaRPr lang="en-US" altLang="zh-CN" sz="3600" dirty="0">
              <a:solidFill>
                <a:srgbClr val="FF0000"/>
              </a:solidFill>
              <a:latin typeface="楷体" panose="02010609060101010101" pitchFamily="49" charset="-122"/>
              <a:ea typeface="楷体" panose="02010609060101010101" pitchFamily="49" charset="-122"/>
            </a:endParaRPr>
          </a:p>
          <a:p>
            <a:pPr eaLnBrk="1" hangingPunct="1">
              <a:lnSpc>
                <a:spcPct val="150000"/>
              </a:lnSpc>
              <a:spcBef>
                <a:spcPts val="0"/>
              </a:spcBef>
              <a:spcAft>
                <a:spcPct val="0"/>
              </a:spcAft>
              <a:buClr>
                <a:schemeClr val="folHlink"/>
              </a:buClr>
              <a:buSzPct val="60000"/>
              <a:buFont typeface="Monotype Sorts" pitchFamily="2" charset="2"/>
              <a:buNone/>
              <a:defRPr/>
            </a:pPr>
            <a:r>
              <a:rPr lang="en-US" altLang="zh-CN" sz="3600" dirty="0">
                <a:solidFill>
                  <a:schemeClr val="bg1">
                    <a:lumMod val="75000"/>
                  </a:schemeClr>
                </a:solidFill>
                <a:latin typeface="楷体" panose="02010609060101010101" pitchFamily="49" charset="-122"/>
                <a:ea typeface="楷体" panose="02010609060101010101" pitchFamily="49" charset="-122"/>
              </a:rPr>
              <a:t>6.4 </a:t>
            </a:r>
            <a:r>
              <a:rPr lang="zh-CN" altLang="en-US" sz="3600" dirty="0">
                <a:solidFill>
                  <a:schemeClr val="bg1">
                    <a:lumMod val="75000"/>
                  </a:schemeClr>
                </a:solidFill>
                <a:latin typeface="楷体" panose="02010609060101010101" pitchFamily="49" charset="-122"/>
                <a:ea typeface="楷体" panose="02010609060101010101" pitchFamily="49" charset="-122"/>
              </a:rPr>
              <a:t>小结</a:t>
            </a:r>
            <a:endParaRPr lang="zh-CN" altLang="en-US" sz="3600" b="0" dirty="0">
              <a:solidFill>
                <a:schemeClr val="bg1">
                  <a:lumMod val="75000"/>
                </a:schemeClr>
              </a:solidFill>
              <a:latin typeface="楷体" panose="02010609060101010101" pitchFamily="49" charset="-122"/>
              <a:ea typeface="楷体" panose="02010609060101010101" pitchFamily="49" charset="-122"/>
            </a:endParaRPr>
          </a:p>
        </p:txBody>
      </p:sp>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第</a:t>
            </a:r>
            <a:r>
              <a:rPr lang="en-US" altLang="zh-CN" sz="4400" dirty="0">
                <a:latin typeface="楷体" panose="02010609060101010101" pitchFamily="49" charset="-122"/>
                <a:ea typeface="楷体" panose="02010609060101010101" pitchFamily="49" charset="-122"/>
              </a:rPr>
              <a:t>6</a:t>
            </a:r>
            <a:r>
              <a:rPr lang="zh-CN" altLang="en-US" sz="4400" dirty="0">
                <a:latin typeface="楷体" panose="02010609060101010101" pitchFamily="49" charset="-122"/>
                <a:ea typeface="楷体" panose="02010609060101010101" pitchFamily="49" charset="-122"/>
              </a:rPr>
              <a:t>章 挖掘频繁模式、关联和相关</a:t>
            </a:r>
            <a:endParaRPr lang="zh-CN" altLang="en-US" sz="4400" dirty="0">
              <a:latin typeface="楷体" panose="02010609060101010101" pitchFamily="49" charset="-122"/>
              <a:ea typeface="楷体" panose="02010609060101010101" pitchFamily="49"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a:t>
            </a:r>
            <a:r>
              <a:rPr lang="en-US" altLang="zh-CN" sz="4400" dirty="0">
                <a:latin typeface="楷体" panose="02010609060101010101" pitchFamily="49" charset="-122"/>
                <a:ea typeface="楷体" panose="02010609060101010101" pitchFamily="49" charset="-122"/>
              </a:rPr>
              <a:t>6.3 </a:t>
            </a:r>
            <a:r>
              <a:rPr lang="zh-CN" altLang="en-US" sz="4400" dirty="0">
                <a:latin typeface="楷体" panose="02010609060101010101" pitchFamily="49" charset="-122"/>
                <a:ea typeface="楷体" panose="02010609060101010101" pitchFamily="49" charset="-122"/>
              </a:rPr>
              <a:t>哪些模式是有趣的：模式评估方法</a:t>
            </a:r>
            <a:endParaRPr lang="zh-CN" altLang="en-US" sz="4400" dirty="0">
              <a:latin typeface="楷体" panose="02010609060101010101" pitchFamily="49" charset="-122"/>
              <a:ea typeface="楷体" panose="02010609060101010101" pitchFamily="49" charset="-122"/>
            </a:endParaRPr>
          </a:p>
        </p:txBody>
      </p:sp>
      <p:sp>
        <p:nvSpPr>
          <p:cNvPr id="75779" name="Rectangle 3"/>
          <p:cNvSpPr>
            <a:spLocks noGrp="1" noChangeArrowheads="1"/>
          </p:cNvSpPr>
          <p:nvPr>
            <p:ph idx="1"/>
          </p:nvPr>
        </p:nvSpPr>
        <p:spPr>
          <a:xfrm>
            <a:off x="522288" y="1160463"/>
            <a:ext cx="9906000" cy="5791200"/>
          </a:xfrm>
        </p:spPr>
        <p:txBody>
          <a:bodyPr/>
          <a:lstStyle/>
          <a:p>
            <a:pPr marL="0" indent="0">
              <a:spcBef>
                <a:spcPct val="0"/>
              </a:spcBef>
              <a:buFont typeface="Arial" panose="020B0604020202020204" pitchFamily="34" charset="0"/>
              <a:buNone/>
            </a:pPr>
            <a:r>
              <a:rPr lang="en-US" altLang="zh-CN" sz="2400" b="1" dirty="0">
                <a:solidFill>
                  <a:srgbClr val="0000FF"/>
                </a:solidFill>
                <a:latin typeface="宋体" panose="02010600030101010101" pitchFamily="2" charset="-122"/>
                <a:ea typeface="宋体" panose="02010600030101010101" pitchFamily="2" charset="-122"/>
              </a:rPr>
              <a:t>1</a:t>
            </a:r>
            <a:r>
              <a:rPr lang="zh-CN" altLang="en-US" sz="2400" b="1" dirty="0">
                <a:solidFill>
                  <a:srgbClr val="0000FF"/>
                </a:solidFill>
                <a:latin typeface="宋体" panose="02010600030101010101" pitchFamily="2" charset="-122"/>
                <a:ea typeface="宋体" panose="02010600030101010101" pitchFamily="2" charset="-122"/>
              </a:rPr>
              <a:t>、强规则不一定是有趣的</a:t>
            </a:r>
            <a:endParaRPr lang="en-US" altLang="zh-CN" sz="2400" b="1" dirty="0">
              <a:solidFill>
                <a:srgbClr val="0000FF"/>
              </a:solidFill>
              <a:latin typeface="宋体" panose="02010600030101010101" pitchFamily="2" charset="-122"/>
              <a:ea typeface="宋体" panose="02010600030101010101" pitchFamily="2" charset="-122"/>
            </a:endParaRPr>
          </a:p>
          <a:p>
            <a:pPr marL="0" indent="0">
              <a:lnSpc>
                <a:spcPts val="3200"/>
              </a:lnSpc>
              <a:spcBef>
                <a:spcPct val="0"/>
              </a:spcBef>
              <a:buFont typeface="Arial" panose="020B0604020202020204" pitchFamily="34" charset="0"/>
              <a:buNone/>
            </a:pPr>
            <a:endParaRPr lang="en-US" altLang="zh-CN" sz="2200" b="1" dirty="0">
              <a:latin typeface="宋体" panose="02010600030101010101" pitchFamily="2" charset="-122"/>
              <a:ea typeface="宋体" panose="02010600030101010101" pitchFamily="2" charset="-122"/>
            </a:endParaRPr>
          </a:p>
          <a:p>
            <a:pPr marL="0" indent="0">
              <a:lnSpc>
                <a:spcPts val="3200"/>
              </a:lnSpc>
              <a:spcBef>
                <a:spcPct val="0"/>
              </a:spcBef>
              <a:buFont typeface="Arial" panose="020B0604020202020204" pitchFamily="34" charset="0"/>
              <a:buNone/>
            </a:pPr>
            <a:endParaRPr lang="en-US" altLang="zh-CN" sz="2200" b="1" dirty="0">
              <a:latin typeface="宋体" panose="02010600030101010101" pitchFamily="2" charset="-122"/>
              <a:ea typeface="宋体" panose="02010600030101010101" pitchFamily="2" charset="-122"/>
            </a:endParaRPr>
          </a:p>
          <a:p>
            <a:pPr marL="0" indent="0">
              <a:lnSpc>
                <a:spcPts val="3200"/>
              </a:lnSpc>
              <a:spcBef>
                <a:spcPct val="0"/>
              </a:spcBef>
              <a:buFont typeface="Arial" panose="020B0604020202020204" pitchFamily="34" charset="0"/>
              <a:buNone/>
            </a:pPr>
            <a:r>
              <a:rPr lang="zh-CN" altLang="en-US" sz="2200" b="1" dirty="0">
                <a:latin typeface="宋体" panose="02010600030101010101" pitchFamily="2" charset="-122"/>
                <a:ea typeface="宋体" panose="02010600030101010101" pitchFamily="2" charset="-122"/>
              </a:rPr>
              <a:t>预定义：</a:t>
            </a:r>
            <a:r>
              <a:rPr lang="zh-CN" altLang="en-US" sz="2200" dirty="0">
                <a:latin typeface="宋体" panose="02010600030101010101" pitchFamily="2" charset="-122"/>
                <a:ea typeface="宋体" panose="02010600030101010101" pitchFamily="2" charset="-122"/>
              </a:rPr>
              <a:t>最小支持度</a:t>
            </a:r>
            <a:r>
              <a:rPr lang="en-US" altLang="zh-CN" sz="2200" dirty="0">
                <a:latin typeface="宋体" panose="02010600030101010101" pitchFamily="2" charset="-122"/>
                <a:ea typeface="宋体" panose="02010600030101010101" pitchFamily="2" charset="-122"/>
              </a:rPr>
              <a:t>30%</a:t>
            </a:r>
            <a:r>
              <a:rPr lang="zh-CN" altLang="en-US" sz="2200" dirty="0">
                <a:latin typeface="宋体" panose="02010600030101010101" pitchFamily="2" charset="-122"/>
                <a:ea typeface="宋体" panose="02010600030101010101" pitchFamily="2" charset="-122"/>
              </a:rPr>
              <a:t>，最小置信度</a:t>
            </a:r>
            <a:r>
              <a:rPr lang="en-US" altLang="zh-CN" sz="2200" dirty="0">
                <a:latin typeface="宋体" panose="02010600030101010101" pitchFamily="2" charset="-122"/>
                <a:ea typeface="宋体" panose="02010600030101010101" pitchFamily="2" charset="-122"/>
              </a:rPr>
              <a:t>60%</a:t>
            </a:r>
            <a:r>
              <a:rPr lang="zh-CN" altLang="en-US" sz="2200" dirty="0">
                <a:latin typeface="宋体" panose="02010600030101010101" pitchFamily="2" charset="-122"/>
                <a:ea typeface="宋体" panose="02010600030101010101" pitchFamily="2" charset="-122"/>
              </a:rPr>
              <a:t>。</a:t>
            </a:r>
            <a:endParaRPr lang="en-US" altLang="zh-CN" sz="2200" dirty="0">
              <a:latin typeface="宋体" panose="02010600030101010101" pitchFamily="2" charset="-122"/>
              <a:ea typeface="宋体" panose="02010600030101010101" pitchFamily="2" charset="-122"/>
            </a:endParaRPr>
          </a:p>
          <a:p>
            <a:pPr marL="0" indent="0">
              <a:lnSpc>
                <a:spcPts val="3200"/>
              </a:lnSpc>
              <a:spcBef>
                <a:spcPct val="0"/>
              </a:spcBef>
              <a:buNone/>
            </a:pPr>
            <a:r>
              <a:rPr lang="zh-CN" altLang="en-US" sz="2200" b="1" dirty="0">
                <a:latin typeface="宋体" panose="02010600030101010101" pitchFamily="2" charset="-122"/>
                <a:ea typeface="宋体" panose="02010600030101010101" pitchFamily="2" charset="-122"/>
              </a:rPr>
              <a:t>考虑关联规则：</a:t>
            </a:r>
            <a:r>
              <a:rPr lang="zh-CN" altLang="en-US" sz="2200" dirty="0">
                <a:latin typeface="宋体" panose="02010600030101010101" pitchFamily="2" charset="-122"/>
                <a:ea typeface="宋体" panose="02010600030101010101" pitchFamily="2" charset="-122"/>
              </a:rPr>
              <a:t>“计算机游戏 </a:t>
            </a:r>
            <a:r>
              <a:rPr lang="en-US" altLang="zh-CN" sz="2200" dirty="0">
                <a:latin typeface="宋体" panose="02010600030101010101" pitchFamily="2" charset="-122"/>
                <a:ea typeface="宋体" panose="02010600030101010101" pitchFamily="2" charset="-122"/>
              </a:rPr>
              <a:t>-&gt;</a:t>
            </a:r>
            <a:r>
              <a:rPr lang="zh-CN" altLang="en-US" sz="2200" dirty="0">
                <a:latin typeface="宋体" panose="02010600030101010101" pitchFamily="2" charset="-122"/>
                <a:ea typeface="宋体" panose="02010600030101010101" pitchFamily="2" charset="-122"/>
              </a:rPr>
              <a:t>录像”是否是强关联规则？</a:t>
            </a:r>
            <a:endParaRPr lang="en-US" altLang="zh-CN" sz="2200" dirty="0">
              <a:latin typeface="宋体" panose="02010600030101010101" pitchFamily="2" charset="-122"/>
              <a:ea typeface="宋体" panose="02010600030101010101" pitchFamily="2" charset="-122"/>
            </a:endParaRPr>
          </a:p>
          <a:p>
            <a:pPr marL="0" indent="0">
              <a:spcBef>
                <a:spcPct val="0"/>
              </a:spcBef>
              <a:buFont typeface="Arial" panose="020B0604020202020204" pitchFamily="34" charset="0"/>
              <a:buNone/>
            </a:pPr>
            <a:r>
              <a:rPr lang="zh-CN" altLang="en-US" sz="2200" b="1" dirty="0">
                <a:latin typeface="宋体" panose="02010600030101010101" pitchFamily="2" charset="-122"/>
                <a:ea typeface="宋体" panose="02010600030101010101" pitchFamily="2" charset="-122"/>
              </a:rPr>
              <a:t>解析：</a:t>
            </a:r>
            <a:r>
              <a:rPr lang="zh-CN" altLang="en-US" sz="2200" dirty="0">
                <a:latin typeface="宋体" panose="02010600030101010101" pitchFamily="2" charset="-122"/>
                <a:ea typeface="宋体" panose="02010600030101010101" pitchFamily="2" charset="-122"/>
              </a:rPr>
              <a:t>支持度为            ，置信度为</a:t>
            </a:r>
            <a:endParaRPr lang="en-US" altLang="zh-CN" sz="2200" dirty="0">
              <a:latin typeface="宋体" panose="02010600030101010101" pitchFamily="2" charset="-122"/>
              <a:ea typeface="宋体" panose="02010600030101010101" pitchFamily="2" charset="-122"/>
            </a:endParaRPr>
          </a:p>
          <a:p>
            <a:pPr marL="0" indent="0">
              <a:spcBef>
                <a:spcPct val="0"/>
              </a:spcBef>
              <a:buFont typeface="Arial" panose="020B0604020202020204" pitchFamily="34" charset="0"/>
              <a:buNone/>
            </a:pPr>
            <a:r>
              <a:rPr lang="en-US" altLang="zh-CN" sz="2200" dirty="0">
                <a:latin typeface="宋体" panose="02010600030101010101" pitchFamily="2" charset="-122"/>
                <a:ea typeface="宋体" panose="02010600030101010101" pitchFamily="2" charset="-122"/>
              </a:rPr>
              <a:t>    </a:t>
            </a:r>
            <a:r>
              <a:rPr lang="zh-CN" altLang="en-US" sz="2200" dirty="0">
                <a:latin typeface="宋体" panose="02010600030101010101" pitchFamily="2" charset="-122"/>
                <a:ea typeface="宋体" panose="02010600030101010101" pitchFamily="2" charset="-122"/>
              </a:rPr>
              <a:t>满足阈值，此规则是强关联规则。</a:t>
            </a:r>
            <a:endParaRPr lang="en-US" altLang="zh-CN" sz="2200" dirty="0">
              <a:latin typeface="宋体" panose="02010600030101010101" pitchFamily="2" charset="-122"/>
              <a:ea typeface="宋体" panose="02010600030101010101" pitchFamily="2" charset="-122"/>
            </a:endParaRPr>
          </a:p>
          <a:p>
            <a:pPr marL="0" indent="0">
              <a:spcBef>
                <a:spcPct val="0"/>
              </a:spcBef>
              <a:buFont typeface="Arial" panose="020B0604020202020204" pitchFamily="34" charset="0"/>
              <a:buNone/>
            </a:pPr>
            <a:r>
              <a:rPr lang="en-US" altLang="zh-CN" sz="2200" dirty="0">
                <a:latin typeface="宋体" panose="02010600030101010101" pitchFamily="2" charset="-122"/>
                <a:ea typeface="宋体" panose="02010600030101010101" pitchFamily="2" charset="-122"/>
              </a:rPr>
              <a:t>    </a:t>
            </a:r>
            <a:r>
              <a:rPr lang="zh-CN" altLang="en-US" sz="2200" b="1" dirty="0">
                <a:latin typeface="宋体" panose="02010600030101010101" pitchFamily="2" charset="-122"/>
                <a:ea typeface="宋体" panose="02010600030101010101" pitchFamily="2" charset="-122"/>
              </a:rPr>
              <a:t>得出：</a:t>
            </a:r>
            <a:r>
              <a:rPr lang="zh-CN" altLang="en-US" sz="2200" dirty="0">
                <a:latin typeface="宋体" panose="02010600030101010101" pitchFamily="2" charset="-122"/>
                <a:ea typeface="宋体" panose="02010600030101010101" pitchFamily="2" charset="-122"/>
              </a:rPr>
              <a:t>买计算机游戏的顾客还有</a:t>
            </a:r>
            <a:r>
              <a:rPr lang="en-US" altLang="zh-CN" sz="2200" dirty="0">
                <a:latin typeface="宋体" panose="02010600030101010101" pitchFamily="2" charset="-122"/>
                <a:ea typeface="宋体" panose="02010600030101010101" pitchFamily="2" charset="-122"/>
              </a:rPr>
              <a:t>66%</a:t>
            </a:r>
            <a:r>
              <a:rPr lang="zh-CN" altLang="en-US" sz="2200" dirty="0">
                <a:latin typeface="宋体" panose="02010600030101010101" pitchFamily="2" charset="-122"/>
                <a:ea typeface="宋体" panose="02010600030101010101" pitchFamily="2" charset="-122"/>
              </a:rPr>
              <a:t>的可能性会购买录像。</a:t>
            </a:r>
            <a:endParaRPr lang="en-US" altLang="zh-CN" sz="2200" dirty="0">
              <a:latin typeface="宋体" panose="02010600030101010101" pitchFamily="2" charset="-122"/>
              <a:ea typeface="宋体" panose="02010600030101010101" pitchFamily="2" charset="-122"/>
            </a:endParaRPr>
          </a:p>
          <a:p>
            <a:pPr marL="0" indent="0">
              <a:spcBef>
                <a:spcPct val="0"/>
              </a:spcBef>
              <a:buFont typeface="Arial" panose="020B0604020202020204" pitchFamily="34" charset="0"/>
              <a:buNone/>
            </a:pPr>
            <a:r>
              <a:rPr lang="en-US" altLang="zh-CN" sz="2200" dirty="0">
                <a:latin typeface="宋体" panose="02010600030101010101" pitchFamily="2" charset="-122"/>
                <a:ea typeface="宋体" panose="02010600030101010101" pitchFamily="2" charset="-122"/>
              </a:rPr>
              <a:t>    </a:t>
            </a:r>
            <a:r>
              <a:rPr lang="zh-CN" altLang="en-US" sz="2200" b="1" dirty="0">
                <a:latin typeface="宋体" panose="02010600030101010101" pitchFamily="2" charset="-122"/>
                <a:ea typeface="宋体" panose="02010600030101010101" pitchFamily="2" charset="-122"/>
              </a:rPr>
              <a:t>然而</a:t>
            </a:r>
            <a:r>
              <a:rPr lang="zh-CN" altLang="en-US" sz="2200" dirty="0">
                <a:latin typeface="宋体" panose="02010600030101010101" pitchFamily="2" charset="-122"/>
                <a:ea typeface="宋体" panose="02010600030101010101" pitchFamily="2" charset="-122"/>
              </a:rPr>
              <a:t>，在所有的事务中，购买录像的概率是</a:t>
            </a:r>
            <a:r>
              <a:rPr lang="en-US" altLang="zh-CN" sz="2200" dirty="0">
                <a:latin typeface="宋体" panose="02010600030101010101" pitchFamily="2" charset="-122"/>
                <a:ea typeface="宋体" panose="02010600030101010101" pitchFamily="2" charset="-122"/>
              </a:rPr>
              <a:t>75%</a:t>
            </a:r>
            <a:r>
              <a:rPr lang="zh-CN" altLang="en-US" sz="2200" dirty="0">
                <a:latin typeface="宋体" panose="02010600030101010101" pitchFamily="2" charset="-122"/>
                <a:ea typeface="宋体" panose="02010600030101010101" pitchFamily="2" charset="-122"/>
              </a:rPr>
              <a:t>，比</a:t>
            </a:r>
            <a:r>
              <a:rPr lang="en-US" altLang="zh-CN" sz="2200" dirty="0">
                <a:latin typeface="宋体" panose="02010600030101010101" pitchFamily="2" charset="-122"/>
                <a:ea typeface="宋体" panose="02010600030101010101" pitchFamily="2" charset="-122"/>
              </a:rPr>
              <a:t>66%</a:t>
            </a:r>
            <a:r>
              <a:rPr lang="zh-CN" altLang="en-US" sz="2200" dirty="0">
                <a:latin typeface="宋体" panose="02010600030101010101" pitchFamily="2" charset="-122"/>
                <a:ea typeface="宋体" panose="02010600030101010101" pitchFamily="2" charset="-122"/>
              </a:rPr>
              <a:t>还高，说明购买计算机游戏和录像是</a:t>
            </a:r>
            <a:r>
              <a:rPr lang="zh-CN" altLang="en-US" sz="2200" dirty="0">
                <a:solidFill>
                  <a:srgbClr val="FF0000"/>
                </a:solidFill>
                <a:latin typeface="宋体" panose="02010600030101010101" pitchFamily="2" charset="-122"/>
                <a:ea typeface="宋体" panose="02010600030101010101" pitchFamily="2" charset="-122"/>
              </a:rPr>
              <a:t>负相关的</a:t>
            </a:r>
            <a:r>
              <a:rPr lang="zh-CN" altLang="en-US" sz="2200" dirty="0">
                <a:latin typeface="宋体" panose="02010600030101010101" pitchFamily="2" charset="-122"/>
                <a:ea typeface="宋体" panose="02010600030101010101" pitchFamily="2" charset="-122"/>
              </a:rPr>
              <a:t>。</a:t>
            </a:r>
            <a:endParaRPr lang="en-US" altLang="zh-CN" sz="2200" dirty="0">
              <a:latin typeface="宋体" panose="02010600030101010101" pitchFamily="2" charset="-122"/>
              <a:ea typeface="宋体" panose="02010600030101010101" pitchFamily="2" charset="-122"/>
            </a:endParaRPr>
          </a:p>
          <a:p>
            <a:pPr marL="0" indent="0">
              <a:spcBef>
                <a:spcPct val="0"/>
              </a:spcBef>
              <a:buFont typeface="Arial" panose="020B0604020202020204" pitchFamily="34" charset="0"/>
              <a:buNone/>
            </a:pPr>
            <a:r>
              <a:rPr lang="zh-CN" altLang="en-US" sz="2200" b="1" dirty="0">
                <a:latin typeface="宋体" panose="02010600030101010101" pitchFamily="2" charset="-122"/>
                <a:ea typeface="宋体" panose="02010600030101010101" pitchFamily="2" charset="-122"/>
              </a:rPr>
              <a:t>    结论：</a:t>
            </a:r>
            <a:r>
              <a:rPr lang="zh-CN" altLang="en-US" sz="2200" dirty="0">
                <a:solidFill>
                  <a:srgbClr val="FF0000"/>
                </a:solidFill>
                <a:latin typeface="宋体" panose="02010600030101010101" pitchFamily="2" charset="-122"/>
                <a:ea typeface="宋体" panose="02010600030101010101" pitchFamily="2" charset="-122"/>
              </a:rPr>
              <a:t>规则</a:t>
            </a:r>
            <a:r>
              <a:rPr lang="en-US" altLang="zh-CN" sz="2200" dirty="0">
                <a:solidFill>
                  <a:srgbClr val="FF0000"/>
                </a:solidFill>
                <a:latin typeface="宋体" panose="02010600030101010101" pitchFamily="2" charset="-122"/>
                <a:ea typeface="宋体" panose="02010600030101010101" pitchFamily="2" charset="-122"/>
              </a:rPr>
              <a:t>A-&gt;B</a:t>
            </a:r>
            <a:r>
              <a:rPr lang="zh-CN" altLang="en-US" sz="2200" dirty="0">
                <a:solidFill>
                  <a:srgbClr val="FF0000"/>
                </a:solidFill>
                <a:latin typeface="宋体" panose="02010600030101010101" pitchFamily="2" charset="-122"/>
                <a:ea typeface="宋体" panose="02010600030101010101" pitchFamily="2" charset="-122"/>
              </a:rPr>
              <a:t>有一定的欺骗性</a:t>
            </a:r>
            <a:r>
              <a:rPr lang="zh-CN" altLang="en-US" sz="2200" dirty="0">
                <a:latin typeface="宋体" panose="02010600030101010101" pitchFamily="2" charset="-122"/>
                <a:ea typeface="宋体" panose="02010600030101010101" pitchFamily="2" charset="-122"/>
              </a:rPr>
              <a:t>。它并不度量</a:t>
            </a:r>
            <a:r>
              <a:rPr lang="en-US" altLang="zh-CN" sz="2200" dirty="0">
                <a:latin typeface="宋体" panose="02010600030101010101" pitchFamily="2" charset="-122"/>
                <a:ea typeface="宋体" panose="02010600030101010101" pitchFamily="2" charset="-122"/>
              </a:rPr>
              <a:t>A</a:t>
            </a:r>
            <a:r>
              <a:rPr lang="zh-CN" altLang="en-US" sz="2200" dirty="0">
                <a:latin typeface="宋体" panose="02010600030101010101" pitchFamily="2" charset="-122"/>
                <a:ea typeface="宋体" panose="02010600030101010101" pitchFamily="2" charset="-122"/>
              </a:rPr>
              <a:t>和</a:t>
            </a:r>
            <a:r>
              <a:rPr lang="en-US" altLang="zh-CN" sz="2200" dirty="0">
                <a:latin typeface="宋体" panose="02010600030101010101" pitchFamily="2" charset="-122"/>
                <a:ea typeface="宋体" panose="02010600030101010101" pitchFamily="2" charset="-122"/>
              </a:rPr>
              <a:t>B</a:t>
            </a:r>
            <a:r>
              <a:rPr lang="zh-CN" altLang="en-US" sz="2200" dirty="0">
                <a:latin typeface="宋体" panose="02010600030101010101" pitchFamily="2" charset="-122"/>
                <a:ea typeface="宋体" panose="02010600030101010101" pitchFamily="2" charset="-122"/>
              </a:rPr>
              <a:t>之间相关和蕴含的实际强度，因此需要一些相关性度量标准。</a:t>
            </a:r>
            <a:endParaRPr lang="zh-CN" altLang="en-US" sz="2200" dirty="0">
              <a:latin typeface="宋体" panose="02010600030101010101" pitchFamily="2" charset="-122"/>
              <a:ea typeface="宋体" panose="02010600030101010101" pitchFamily="2" charset="-122"/>
            </a:endParaRPr>
          </a:p>
        </p:txBody>
      </p:sp>
      <p:sp>
        <p:nvSpPr>
          <p:cNvPr id="2" name="矩形 1"/>
          <p:cNvSpPr/>
          <p:nvPr/>
        </p:nvSpPr>
        <p:spPr>
          <a:xfrm>
            <a:off x="2535353" y="3492462"/>
            <a:ext cx="1810111" cy="369332"/>
          </a:xfrm>
          <a:prstGeom prst="rect">
            <a:avLst/>
          </a:prstGeom>
        </p:spPr>
        <p:txBody>
          <a:bodyPr wrap="none">
            <a:spAutoFit/>
          </a:bodyPr>
          <a:lstStyle/>
          <a:p>
            <a:r>
              <a:rPr lang="en-US" altLang="zh-CN" sz="1800" dirty="0">
                <a:solidFill>
                  <a:srgbClr val="FF0000"/>
                </a:solidFill>
                <a:latin typeface="宋体" panose="02010600030101010101" pitchFamily="2" charset="-122"/>
                <a:ea typeface="宋体" panose="02010600030101010101" pitchFamily="2" charset="-122"/>
              </a:rPr>
              <a:t>4000/10000=40</a:t>
            </a:r>
            <a:r>
              <a:rPr lang="en-US" altLang="zh-CN" sz="1600" dirty="0">
                <a:solidFill>
                  <a:srgbClr val="FF0000"/>
                </a:solidFill>
                <a:latin typeface="宋体" panose="02010600030101010101" pitchFamily="2" charset="-122"/>
                <a:ea typeface="宋体" panose="02010600030101010101" pitchFamily="2" charset="-122"/>
              </a:rPr>
              <a:t>%</a:t>
            </a:r>
            <a:endParaRPr lang="zh-CN" altLang="en-US" dirty="0">
              <a:solidFill>
                <a:srgbClr val="FF0000"/>
              </a:solidFill>
            </a:endParaRPr>
          </a:p>
        </p:txBody>
      </p:sp>
      <p:sp>
        <p:nvSpPr>
          <p:cNvPr id="3" name="矩形 2"/>
          <p:cNvSpPr/>
          <p:nvPr/>
        </p:nvSpPr>
        <p:spPr>
          <a:xfrm>
            <a:off x="5649964" y="3492462"/>
            <a:ext cx="1685290" cy="368300"/>
          </a:xfrm>
          <a:prstGeom prst="rect">
            <a:avLst/>
          </a:prstGeom>
        </p:spPr>
        <p:txBody>
          <a:bodyPr wrap="none">
            <a:spAutoFit/>
          </a:bodyPr>
          <a:lstStyle/>
          <a:p>
            <a:r>
              <a:rPr lang="en-US" altLang="zh-CN" sz="1800" dirty="0">
                <a:solidFill>
                  <a:srgbClr val="FF0000"/>
                </a:solidFill>
                <a:latin typeface="宋体" panose="02010600030101010101" pitchFamily="2" charset="-122"/>
                <a:ea typeface="宋体" panose="02010600030101010101" pitchFamily="2" charset="-122"/>
              </a:rPr>
              <a:t>4000/6000=67%</a:t>
            </a:r>
            <a:endParaRPr lang="zh-CN" altLang="en-US" sz="1800" dirty="0">
              <a:solidFill>
                <a:srgbClr val="FF0000"/>
              </a:solidFill>
            </a:endParaRPr>
          </a:p>
        </p:txBody>
      </p:sp>
      <p:sp>
        <p:nvSpPr>
          <p:cNvPr id="5" name="文本框 4"/>
          <p:cNvSpPr txBox="1"/>
          <p:nvPr/>
        </p:nvSpPr>
        <p:spPr>
          <a:xfrm>
            <a:off x="598485" y="1707894"/>
            <a:ext cx="9601870" cy="858120"/>
          </a:xfrm>
          <a:prstGeom prst="rect">
            <a:avLst/>
          </a:prstGeom>
          <a:solidFill>
            <a:schemeClr val="accent2">
              <a:lumMod val="20000"/>
              <a:lumOff val="80000"/>
            </a:schemeClr>
          </a:solidFill>
        </p:spPr>
        <p:txBody>
          <a:bodyPr wrap="square">
            <a:spAutoFit/>
          </a:bodyPr>
          <a:lstStyle/>
          <a:p>
            <a:pPr marL="0" indent="0">
              <a:lnSpc>
                <a:spcPts val="3200"/>
              </a:lnSpc>
              <a:spcBef>
                <a:spcPct val="0"/>
              </a:spcBef>
              <a:buFont typeface="Arial" panose="020B0604020202020204" pitchFamily="34" charset="0"/>
              <a:buNone/>
            </a:pPr>
            <a:r>
              <a:rPr lang="zh-CN" altLang="en-US" sz="2200" b="0" dirty="0">
                <a:latin typeface="宋体" panose="02010600030101010101" pitchFamily="2" charset="-122"/>
                <a:ea typeface="宋体" panose="02010600030101010101" pitchFamily="2" charset="-122"/>
              </a:rPr>
              <a:t>如：假设有</a:t>
            </a:r>
            <a:r>
              <a:rPr lang="en-US" altLang="zh-CN" sz="2200" b="0" dirty="0">
                <a:latin typeface="宋体" panose="02010600030101010101" pitchFamily="2" charset="-122"/>
                <a:ea typeface="宋体" panose="02010600030101010101" pitchFamily="2" charset="-122"/>
              </a:rPr>
              <a:t>10000</a:t>
            </a:r>
            <a:r>
              <a:rPr lang="zh-CN" altLang="en-US" sz="2200" b="0" dirty="0">
                <a:latin typeface="宋体" panose="02010600030101010101" pitchFamily="2" charset="-122"/>
                <a:ea typeface="宋体" panose="02010600030101010101" pitchFamily="2" charset="-122"/>
              </a:rPr>
              <a:t>个事务中，数据显示</a:t>
            </a:r>
            <a:r>
              <a:rPr lang="en-US" altLang="zh-CN" sz="2200" b="0" dirty="0">
                <a:latin typeface="宋体" panose="02010600030101010101" pitchFamily="2" charset="-122"/>
                <a:ea typeface="宋体" panose="02010600030101010101" pitchFamily="2" charset="-122"/>
              </a:rPr>
              <a:t>6000</a:t>
            </a:r>
            <a:r>
              <a:rPr lang="zh-CN" altLang="en-US" sz="2200" b="0" dirty="0">
                <a:latin typeface="宋体" panose="02010600030101010101" pitchFamily="2" charset="-122"/>
                <a:ea typeface="宋体" panose="02010600030101010101" pitchFamily="2" charset="-122"/>
              </a:rPr>
              <a:t>个顾客事务包含计算机游戏，</a:t>
            </a:r>
            <a:r>
              <a:rPr lang="en-US" altLang="zh-CN" sz="2200" b="0" dirty="0">
                <a:latin typeface="宋体" panose="02010600030101010101" pitchFamily="2" charset="-122"/>
                <a:ea typeface="宋体" panose="02010600030101010101" pitchFamily="2" charset="-122"/>
              </a:rPr>
              <a:t>7500</a:t>
            </a:r>
            <a:r>
              <a:rPr lang="zh-CN" altLang="en-US" sz="2200" b="0" dirty="0">
                <a:latin typeface="宋体" panose="02010600030101010101" pitchFamily="2" charset="-122"/>
                <a:ea typeface="宋体" panose="02010600030101010101" pitchFamily="2" charset="-122"/>
              </a:rPr>
              <a:t>个事务包含录像，而</a:t>
            </a:r>
            <a:r>
              <a:rPr lang="en-US" altLang="zh-CN" sz="2200" b="0" dirty="0">
                <a:latin typeface="宋体" panose="02010600030101010101" pitchFamily="2" charset="-122"/>
                <a:ea typeface="宋体" panose="02010600030101010101" pitchFamily="2" charset="-122"/>
              </a:rPr>
              <a:t>4000</a:t>
            </a:r>
            <a:r>
              <a:rPr lang="zh-CN" altLang="en-US" sz="2200" b="0" dirty="0">
                <a:latin typeface="宋体" panose="02010600030101010101" pitchFamily="2" charset="-122"/>
                <a:ea typeface="宋体" panose="02010600030101010101" pitchFamily="2" charset="-122"/>
              </a:rPr>
              <a:t>个事务同时包含计算机游戏和录像。</a:t>
            </a:r>
            <a:endParaRPr lang="en-US" altLang="zh-CN" sz="2200" b="0" dirty="0">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779">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5779">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5779">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5779">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577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a:t>
            </a:r>
            <a:r>
              <a:rPr lang="en-US" altLang="zh-CN" sz="4400" dirty="0">
                <a:latin typeface="楷体" panose="02010609060101010101" pitchFamily="49" charset="-122"/>
                <a:ea typeface="楷体" panose="02010609060101010101" pitchFamily="49" charset="-122"/>
              </a:rPr>
              <a:t>6.3 </a:t>
            </a:r>
            <a:r>
              <a:rPr lang="zh-CN" altLang="en-US" sz="4400" dirty="0">
                <a:latin typeface="楷体" panose="02010609060101010101" pitchFamily="49" charset="-122"/>
                <a:ea typeface="楷体" panose="02010609060101010101" pitchFamily="49" charset="-122"/>
              </a:rPr>
              <a:t>哪些模式是有趣的：模式评估方法</a:t>
            </a:r>
            <a:endParaRPr lang="zh-CN" altLang="en-US" sz="4400" dirty="0">
              <a:latin typeface="楷体" panose="02010609060101010101" pitchFamily="49" charset="-122"/>
              <a:ea typeface="楷体" panose="02010609060101010101" pitchFamily="49" charset="-122"/>
            </a:endParaRPr>
          </a:p>
        </p:txBody>
      </p:sp>
      <p:sp>
        <p:nvSpPr>
          <p:cNvPr id="4" name="Rectangle 3"/>
          <p:cNvSpPr>
            <a:spLocks noGrp="1" noChangeArrowheads="1"/>
          </p:cNvSpPr>
          <p:nvPr>
            <p:ph idx="1"/>
          </p:nvPr>
        </p:nvSpPr>
        <p:spPr>
          <a:xfrm>
            <a:off x="522288" y="1160463"/>
            <a:ext cx="9906000" cy="5791200"/>
          </a:xfrm>
        </p:spPr>
        <p:txBody>
          <a:bodyPr/>
          <a:lstStyle/>
          <a:p>
            <a:pPr marL="0" indent="0">
              <a:spcBef>
                <a:spcPct val="0"/>
              </a:spcBef>
              <a:buFont typeface="Arial" panose="020B0604020202020204" pitchFamily="34" charset="0"/>
              <a:buNone/>
            </a:pPr>
            <a:r>
              <a:rPr lang="en-US" altLang="zh-CN" sz="2400" b="1" dirty="0">
                <a:solidFill>
                  <a:srgbClr val="0000FF"/>
                </a:solidFill>
                <a:latin typeface="宋体" panose="02010600030101010101" pitchFamily="2" charset="-122"/>
                <a:ea typeface="宋体" panose="02010600030101010101" pitchFamily="2" charset="-122"/>
              </a:rPr>
              <a:t>2</a:t>
            </a:r>
            <a:r>
              <a:rPr lang="zh-CN" altLang="en-US" sz="2400" b="1" dirty="0">
                <a:solidFill>
                  <a:srgbClr val="0000FF"/>
                </a:solidFill>
                <a:latin typeface="宋体" panose="02010600030101010101" pitchFamily="2" charset="-122"/>
                <a:ea typeface="宋体" panose="02010600030101010101" pitchFamily="2" charset="-122"/>
              </a:rPr>
              <a:t>、从关联分析到相关分析</a:t>
            </a:r>
            <a:endParaRPr lang="zh-CN" altLang="en-US" sz="2400" b="1" dirty="0">
              <a:solidFill>
                <a:srgbClr val="0000FF"/>
              </a:solidFill>
              <a:latin typeface="宋体" panose="02010600030101010101" pitchFamily="2" charset="-122"/>
              <a:ea typeface="宋体" panose="02010600030101010101" pitchFamily="2" charset="-122"/>
            </a:endParaRPr>
          </a:p>
          <a:p>
            <a:pPr marL="0" indent="0">
              <a:spcBef>
                <a:spcPct val="0"/>
              </a:spcBef>
              <a:buFont typeface="Arial" panose="020B0604020202020204" pitchFamily="34" charset="0"/>
              <a:buNone/>
            </a:pPr>
            <a:r>
              <a:rPr lang="zh-CN" altLang="en-US" sz="2200" dirty="0">
                <a:latin typeface="宋体" panose="02010600030101010101" pitchFamily="2" charset="-122"/>
                <a:ea typeface="宋体" panose="02010600030101010101" pitchFamily="2" charset="-122"/>
              </a:rPr>
              <a:t>支持度和置信度不足以过滤掉无趣的关联规则，为解决这个问题，可以使用相关性度量扩充的</a:t>
            </a:r>
            <a:r>
              <a:rPr lang="zh-CN" altLang="en-US" sz="2200" dirty="0">
                <a:solidFill>
                  <a:srgbClr val="FF0000"/>
                </a:solidFill>
                <a:latin typeface="宋体" panose="02010600030101010101" pitchFamily="2" charset="-122"/>
                <a:ea typeface="宋体" panose="02010600030101010101" pitchFamily="2" charset="-122"/>
              </a:rPr>
              <a:t>支持度</a:t>
            </a:r>
            <a:r>
              <a:rPr lang="en-US" altLang="zh-CN" sz="2200" dirty="0">
                <a:solidFill>
                  <a:srgbClr val="FF0000"/>
                </a:solidFill>
                <a:latin typeface="宋体" panose="02010600030101010101" pitchFamily="2" charset="-122"/>
                <a:ea typeface="宋体" panose="02010600030101010101" pitchFamily="2" charset="-122"/>
              </a:rPr>
              <a:t>-</a:t>
            </a:r>
            <a:r>
              <a:rPr lang="zh-CN" altLang="en-US" sz="2200" dirty="0">
                <a:solidFill>
                  <a:srgbClr val="FF0000"/>
                </a:solidFill>
                <a:latin typeface="宋体" panose="02010600030101010101" pitchFamily="2" charset="-122"/>
                <a:ea typeface="宋体" panose="02010600030101010101" pitchFamily="2" charset="-122"/>
              </a:rPr>
              <a:t>置信度关联规则框架</a:t>
            </a:r>
            <a:r>
              <a:rPr lang="zh-CN" altLang="en-US" sz="2200" dirty="0">
                <a:latin typeface="宋体" panose="02010600030101010101" pitchFamily="2" charset="-122"/>
                <a:ea typeface="宋体" panose="02010600030101010101" pitchFamily="2" charset="-122"/>
              </a:rPr>
              <a:t>，即相关规则：</a:t>
            </a:r>
            <a:endParaRPr lang="zh-CN" altLang="en-US" sz="2200" dirty="0">
              <a:latin typeface="宋体" panose="02010600030101010101" pitchFamily="2" charset="-122"/>
              <a:ea typeface="宋体" panose="02010600030101010101" pitchFamily="2" charset="-122"/>
            </a:endParaRPr>
          </a:p>
          <a:p>
            <a:pPr marL="0" indent="0">
              <a:spcBef>
                <a:spcPct val="0"/>
              </a:spcBef>
              <a:buFont typeface="Arial" panose="020B0604020202020204" pitchFamily="34" charset="0"/>
              <a:buNone/>
            </a:pPr>
            <a:r>
              <a:rPr lang="en-US" altLang="zh-CN" sz="2200" dirty="0">
                <a:latin typeface="宋体" panose="02010600030101010101" pitchFamily="2" charset="-122"/>
                <a:ea typeface="宋体" panose="02010600030101010101" pitchFamily="2" charset="-122"/>
              </a:rPr>
              <a:t>                 A=&gt;B[support, confidence, </a:t>
            </a:r>
            <a:r>
              <a:rPr lang="en-US" altLang="zh-CN" sz="2200" b="1" dirty="0">
                <a:solidFill>
                  <a:srgbClr val="FF0000"/>
                </a:solidFill>
                <a:latin typeface="宋体" panose="02010600030101010101" pitchFamily="2" charset="-122"/>
                <a:ea typeface="宋体" panose="02010600030101010101" pitchFamily="2" charset="-122"/>
              </a:rPr>
              <a:t>correlation</a:t>
            </a:r>
            <a:r>
              <a:rPr lang="en-US" altLang="zh-CN" sz="2200" dirty="0">
                <a:latin typeface="宋体" panose="02010600030101010101" pitchFamily="2" charset="-122"/>
                <a:ea typeface="宋体" panose="02010600030101010101" pitchFamily="2" charset="-122"/>
              </a:rPr>
              <a:t>]</a:t>
            </a:r>
            <a:endParaRPr lang="en-US" altLang="zh-CN" sz="2200" dirty="0">
              <a:latin typeface="宋体" panose="02010600030101010101" pitchFamily="2" charset="-122"/>
              <a:ea typeface="宋体" panose="02010600030101010101" pitchFamily="2" charset="-122"/>
            </a:endParaRPr>
          </a:p>
          <a:p>
            <a:pPr marL="0" indent="0">
              <a:spcBef>
                <a:spcPct val="0"/>
              </a:spcBef>
              <a:buFont typeface="Arial" panose="020B0604020202020204" pitchFamily="34" charset="0"/>
              <a:buNone/>
            </a:pPr>
            <a:r>
              <a:rPr lang="zh-CN" altLang="en-US" sz="2400" b="1" dirty="0">
                <a:latin typeface="宋体" panose="02010600030101010101" pitchFamily="2" charset="-122"/>
                <a:ea typeface="宋体" panose="02010600030101010101" pitchFamily="2" charset="-122"/>
              </a:rPr>
              <a:t>提升度（</a:t>
            </a:r>
            <a:r>
              <a:rPr lang="en-US" altLang="zh-CN" sz="2400" b="1" dirty="0">
                <a:latin typeface="宋体" panose="02010600030101010101" pitchFamily="2" charset="-122"/>
                <a:ea typeface="宋体" panose="02010600030101010101" pitchFamily="2" charset="-122"/>
              </a:rPr>
              <a:t>lift</a:t>
            </a:r>
            <a:r>
              <a:rPr lang="zh-CN" altLang="en-US" sz="2400" b="1"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是一种简单的相关性度量，定义如下：</a:t>
            </a:r>
            <a:endParaRPr lang="en-US" altLang="zh-CN" sz="2400" dirty="0">
              <a:latin typeface="宋体" panose="02010600030101010101" pitchFamily="2" charset="-122"/>
              <a:ea typeface="宋体" panose="02010600030101010101" pitchFamily="2" charset="-122"/>
            </a:endParaRPr>
          </a:p>
          <a:p>
            <a:pPr marL="0" indent="0">
              <a:spcBef>
                <a:spcPct val="0"/>
              </a:spcBef>
              <a:buFont typeface="Arial" panose="020B0604020202020204" pitchFamily="34" charset="0"/>
              <a:buNone/>
            </a:pPr>
            <a:endParaRPr lang="en-US" altLang="zh-CN" sz="2400" dirty="0">
              <a:latin typeface="宋体" panose="02010600030101010101" pitchFamily="2" charset="-122"/>
              <a:ea typeface="宋体" panose="02010600030101010101" pitchFamily="2" charset="-122"/>
            </a:endParaRPr>
          </a:p>
          <a:p>
            <a:pPr marL="0" indent="0">
              <a:spcBef>
                <a:spcPct val="0"/>
              </a:spcBef>
              <a:buFont typeface="Arial" panose="020B0604020202020204" pitchFamily="34" charset="0"/>
              <a:buNone/>
            </a:pPr>
            <a:endParaRPr lang="en-US" altLang="zh-CN" sz="2400" dirty="0">
              <a:latin typeface="宋体" panose="02010600030101010101" pitchFamily="2" charset="-122"/>
              <a:ea typeface="宋体" panose="02010600030101010101" pitchFamily="2" charset="-122"/>
            </a:endParaRPr>
          </a:p>
          <a:p>
            <a:pPr lvl="1">
              <a:spcBef>
                <a:spcPct val="0"/>
              </a:spcBef>
              <a:buFont typeface="Wingdings" panose="05000000000000000000" pitchFamily="2" charset="2"/>
              <a:buChar char="Ø"/>
            </a:pPr>
            <a:r>
              <a:rPr lang="en-US" altLang="zh-CN" sz="2000" dirty="0">
                <a:latin typeface="宋体" panose="02010600030101010101" pitchFamily="2" charset="-122"/>
                <a:ea typeface="宋体" panose="02010600030101010101" pitchFamily="2" charset="-122"/>
              </a:rPr>
              <a:t>lift&lt;1</a:t>
            </a:r>
            <a:r>
              <a:rPr lang="zh-CN" altLang="en-US" sz="2000" dirty="0">
                <a:latin typeface="宋体" panose="02010600030101010101" pitchFamily="2" charset="-122"/>
                <a:ea typeface="宋体" panose="02010600030101010101" pitchFamily="2" charset="-122"/>
              </a:rPr>
              <a:t>，则</a:t>
            </a:r>
            <a:r>
              <a:rPr lang="en-US" altLang="zh-CN" sz="2000" dirty="0">
                <a:latin typeface="宋体" panose="02010600030101010101" pitchFamily="2" charset="-122"/>
                <a:ea typeface="宋体" panose="02010600030101010101" pitchFamily="2" charset="-122"/>
              </a:rPr>
              <a:t>A</a:t>
            </a:r>
            <a:r>
              <a:rPr lang="zh-CN" altLang="en-US" sz="2000" dirty="0">
                <a:latin typeface="宋体" panose="02010600030101010101" pitchFamily="2" charset="-122"/>
                <a:ea typeface="宋体" panose="02010600030101010101" pitchFamily="2" charset="-122"/>
              </a:rPr>
              <a:t>的出现与</a:t>
            </a:r>
            <a:r>
              <a:rPr lang="en-US" altLang="zh-CN" sz="2000" dirty="0">
                <a:latin typeface="宋体" panose="02010600030101010101" pitchFamily="2" charset="-122"/>
                <a:ea typeface="宋体" panose="02010600030101010101" pitchFamily="2" charset="-122"/>
              </a:rPr>
              <a:t>B</a:t>
            </a:r>
            <a:r>
              <a:rPr lang="zh-CN" altLang="en-US" sz="2000" dirty="0">
                <a:latin typeface="宋体" panose="02010600030101010101" pitchFamily="2" charset="-122"/>
                <a:ea typeface="宋体" panose="02010600030101010101" pitchFamily="2" charset="-122"/>
              </a:rPr>
              <a:t>的出现呈</a:t>
            </a:r>
            <a:r>
              <a:rPr lang="zh-CN" altLang="en-US" sz="2000" dirty="0">
                <a:solidFill>
                  <a:srgbClr val="FF0000"/>
                </a:solidFill>
                <a:latin typeface="宋体" panose="02010600030101010101" pitchFamily="2" charset="-122"/>
                <a:ea typeface="宋体" panose="02010600030101010101" pitchFamily="2" charset="-122"/>
              </a:rPr>
              <a:t>负相关</a:t>
            </a:r>
            <a:r>
              <a:rPr lang="zh-CN" altLang="en-US" sz="2000" dirty="0">
                <a:latin typeface="宋体" panose="02010600030101010101" pitchFamily="2" charset="-122"/>
                <a:ea typeface="宋体" panose="02010600030101010101" pitchFamily="2" charset="-122"/>
              </a:rPr>
              <a:t>，意味着一个出现可能导致另一个的不出现。</a:t>
            </a:r>
            <a:endParaRPr lang="en-US" altLang="zh-CN" sz="2000" dirty="0">
              <a:latin typeface="宋体" panose="02010600030101010101" pitchFamily="2" charset="-122"/>
              <a:ea typeface="宋体" panose="02010600030101010101" pitchFamily="2" charset="-122"/>
            </a:endParaRPr>
          </a:p>
          <a:p>
            <a:pPr lvl="1">
              <a:spcBef>
                <a:spcPct val="0"/>
              </a:spcBef>
              <a:buFont typeface="Wingdings" panose="05000000000000000000" pitchFamily="2" charset="2"/>
              <a:buChar char="Ø"/>
            </a:pPr>
            <a:r>
              <a:rPr lang="en-US" altLang="zh-CN" sz="2000" dirty="0">
                <a:latin typeface="宋体" panose="02010600030101010101" pitchFamily="2" charset="-122"/>
                <a:ea typeface="宋体" panose="02010600030101010101" pitchFamily="2" charset="-122"/>
              </a:rPr>
              <a:t>lift=1</a:t>
            </a:r>
            <a:r>
              <a:rPr lang="zh-CN" altLang="en-US" sz="2000" dirty="0">
                <a:latin typeface="宋体" panose="02010600030101010101" pitchFamily="2" charset="-122"/>
                <a:ea typeface="宋体" panose="02010600030101010101" pitchFamily="2" charset="-122"/>
              </a:rPr>
              <a:t>，则二者</a:t>
            </a:r>
            <a:r>
              <a:rPr lang="zh-CN" altLang="en-US" sz="2000" dirty="0">
                <a:solidFill>
                  <a:srgbClr val="FF0000"/>
                </a:solidFill>
                <a:latin typeface="宋体" panose="02010600030101010101" pitchFamily="2" charset="-122"/>
                <a:ea typeface="宋体" panose="02010600030101010101" pitchFamily="2" charset="-122"/>
              </a:rPr>
              <a:t>相互独立</a:t>
            </a:r>
            <a:r>
              <a:rPr lang="zh-CN" altLang="en-US" sz="2000" dirty="0">
                <a:latin typeface="宋体" panose="02010600030101010101" pitchFamily="2" charset="-122"/>
                <a:ea typeface="宋体" panose="02010600030101010101" pitchFamily="2" charset="-122"/>
              </a:rPr>
              <a:t>。</a:t>
            </a:r>
            <a:endParaRPr lang="en-US" altLang="zh-CN" sz="2000" dirty="0">
              <a:latin typeface="宋体" panose="02010600030101010101" pitchFamily="2" charset="-122"/>
              <a:ea typeface="宋体" panose="02010600030101010101" pitchFamily="2" charset="-122"/>
            </a:endParaRPr>
          </a:p>
          <a:p>
            <a:pPr lvl="1">
              <a:spcBef>
                <a:spcPct val="0"/>
              </a:spcBef>
              <a:buFont typeface="Wingdings" panose="05000000000000000000" pitchFamily="2" charset="2"/>
              <a:buChar char="Ø"/>
            </a:pPr>
            <a:r>
              <a:rPr lang="en-US" altLang="zh-CN" sz="2000" dirty="0">
                <a:latin typeface="宋体" panose="02010600030101010101" pitchFamily="2" charset="-122"/>
                <a:ea typeface="宋体" panose="02010600030101010101" pitchFamily="2" charset="-122"/>
              </a:rPr>
              <a:t>Lift&gt;1</a:t>
            </a:r>
            <a:r>
              <a:rPr lang="zh-CN" altLang="en-US" sz="2000" dirty="0">
                <a:latin typeface="宋体" panose="02010600030101010101" pitchFamily="2" charset="-122"/>
                <a:ea typeface="宋体" panose="02010600030101010101" pitchFamily="2" charset="-122"/>
              </a:rPr>
              <a:t>，则二者</a:t>
            </a:r>
            <a:r>
              <a:rPr lang="zh-CN" altLang="en-US" sz="2000" dirty="0">
                <a:solidFill>
                  <a:srgbClr val="FF0000"/>
                </a:solidFill>
                <a:latin typeface="宋体" panose="02010600030101010101" pitchFamily="2" charset="-122"/>
                <a:ea typeface="宋体" panose="02010600030101010101" pitchFamily="2" charset="-122"/>
              </a:rPr>
              <a:t>正相关</a:t>
            </a:r>
            <a:r>
              <a:rPr lang="zh-CN" altLang="en-US" sz="2000" dirty="0">
                <a:latin typeface="宋体" panose="02010600030101010101" pitchFamily="2" charset="-122"/>
                <a:ea typeface="宋体" panose="02010600030101010101" pitchFamily="2" charset="-122"/>
              </a:rPr>
              <a:t>，意味着一个的出现蕴涵另一个的出现。</a:t>
            </a:r>
            <a:endParaRPr lang="zh-CN" altLang="en-US" sz="2000" dirty="0">
              <a:latin typeface="宋体" panose="02010600030101010101" pitchFamily="2" charset="-122"/>
              <a:ea typeface="宋体" panose="02010600030101010101" pitchFamily="2" charset="-122"/>
            </a:endParaRPr>
          </a:p>
        </p:txBody>
      </p:sp>
      <p:pic>
        <p:nvPicPr>
          <p:cNvPr id="5"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46488" y="4056063"/>
            <a:ext cx="3352800"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a:t>
            </a:r>
            <a:r>
              <a:rPr lang="en-US" altLang="zh-CN" sz="4400" dirty="0">
                <a:latin typeface="楷体" panose="02010609060101010101" pitchFamily="49" charset="-122"/>
                <a:ea typeface="楷体" panose="02010609060101010101" pitchFamily="49" charset="-122"/>
              </a:rPr>
              <a:t>6.3 </a:t>
            </a:r>
            <a:r>
              <a:rPr lang="zh-CN" altLang="en-US" sz="4400" dirty="0">
                <a:latin typeface="楷体" panose="02010609060101010101" pitchFamily="49" charset="-122"/>
                <a:ea typeface="楷体" panose="02010609060101010101" pitchFamily="49" charset="-122"/>
              </a:rPr>
              <a:t>哪些模式是有趣的：模式评估方法</a:t>
            </a:r>
            <a:endParaRPr lang="zh-CN" altLang="en-US" sz="4400" dirty="0">
              <a:latin typeface="楷体" panose="02010609060101010101" pitchFamily="49" charset="-122"/>
              <a:ea typeface="楷体" panose="02010609060101010101" pitchFamily="49" charset="-122"/>
            </a:endParaRPr>
          </a:p>
        </p:txBody>
      </p:sp>
      <p:sp>
        <p:nvSpPr>
          <p:cNvPr id="4" name="Rectangle 3"/>
          <p:cNvSpPr>
            <a:spLocks noGrp="1" noChangeArrowheads="1"/>
          </p:cNvSpPr>
          <p:nvPr>
            <p:ph idx="1"/>
          </p:nvPr>
        </p:nvSpPr>
        <p:spPr>
          <a:xfrm>
            <a:off x="522287" y="1160463"/>
            <a:ext cx="10086975" cy="1197977"/>
          </a:xfrm>
        </p:spPr>
        <p:txBody>
          <a:bodyPr/>
          <a:lstStyle/>
          <a:p>
            <a:pPr marL="0" indent="0">
              <a:spcBef>
                <a:spcPct val="0"/>
              </a:spcBef>
              <a:buFont typeface="Arial" panose="020B0604020202020204" pitchFamily="34" charset="0"/>
              <a:buNone/>
            </a:pPr>
            <a:r>
              <a:rPr lang="en-US" altLang="zh-CN" sz="2400" b="1" dirty="0">
                <a:solidFill>
                  <a:srgbClr val="0000FF"/>
                </a:solidFill>
                <a:latin typeface="宋体" panose="02010600030101010101" pitchFamily="2" charset="-122"/>
                <a:ea typeface="宋体" panose="02010600030101010101" pitchFamily="2" charset="-122"/>
              </a:rPr>
              <a:t>2</a:t>
            </a:r>
            <a:r>
              <a:rPr lang="zh-CN" altLang="en-US" sz="2400" b="1" dirty="0">
                <a:solidFill>
                  <a:srgbClr val="0000FF"/>
                </a:solidFill>
                <a:latin typeface="宋体" panose="02010600030101010101" pitchFamily="2" charset="-122"/>
                <a:ea typeface="宋体" panose="02010600030101010101" pitchFamily="2" charset="-122"/>
              </a:rPr>
              <a:t>、从关联分析到相关分析</a:t>
            </a:r>
            <a:endParaRPr lang="en-US" altLang="zh-CN" sz="2400" b="1" dirty="0">
              <a:solidFill>
                <a:srgbClr val="0000FF"/>
              </a:solidFill>
              <a:latin typeface="宋体" panose="02010600030101010101" pitchFamily="2" charset="-122"/>
              <a:ea typeface="宋体" panose="02010600030101010101" pitchFamily="2" charset="-122"/>
            </a:endParaRPr>
          </a:p>
          <a:p>
            <a:pPr marL="0" indent="0">
              <a:spcBef>
                <a:spcPct val="0"/>
              </a:spcBef>
              <a:buFont typeface="Arial" panose="020B0604020202020204" pitchFamily="34" charset="0"/>
              <a:buNone/>
            </a:pPr>
            <a:r>
              <a:rPr lang="zh-CN" altLang="en-US" sz="2400" b="1" dirty="0">
                <a:latin typeface="宋体" panose="02010600030101010101" pitchFamily="2" charset="-122"/>
                <a:ea typeface="宋体" panose="02010600030101010101" pitchFamily="2" charset="-122"/>
              </a:rPr>
              <a:t>例：</a:t>
            </a:r>
            <a:r>
              <a:rPr lang="en-US" altLang="zh-CN" sz="2400" b="1" dirty="0">
                <a:latin typeface="宋体" panose="02010600030101010101" pitchFamily="2" charset="-122"/>
                <a:ea typeface="宋体" panose="02010600030101010101" pitchFamily="2" charset="-122"/>
              </a:rPr>
              <a:t>       </a:t>
            </a:r>
            <a:endParaRPr lang="en-US" altLang="zh-CN" sz="2400" dirty="0">
              <a:latin typeface="宋体" panose="02010600030101010101" pitchFamily="2" charset="-122"/>
              <a:ea typeface="宋体" panose="02010600030101010101" pitchFamily="2" charset="-122"/>
            </a:endParaRPr>
          </a:p>
          <a:p>
            <a:pPr marL="0" indent="0">
              <a:spcBef>
                <a:spcPct val="0"/>
              </a:spcBef>
              <a:buFont typeface="Arial" panose="020B0604020202020204" pitchFamily="34" charset="0"/>
              <a:buNone/>
            </a:pPr>
            <a:r>
              <a:rPr lang="en-US" altLang="zh-CN" sz="2400" b="1" dirty="0">
                <a:latin typeface="宋体" panose="02010600030101010101" pitchFamily="2" charset="-122"/>
                <a:ea typeface="宋体" panose="02010600030101010101" pitchFamily="2" charset="-122"/>
              </a:rPr>
              <a:t>                  </a:t>
            </a:r>
            <a:endParaRPr lang="en-US" altLang="zh-CN" sz="2400" b="1" dirty="0">
              <a:solidFill>
                <a:srgbClr val="FF0000"/>
              </a:solidFill>
              <a:latin typeface="宋体" panose="02010600030101010101" pitchFamily="2" charset="-122"/>
              <a:ea typeface="宋体" panose="02010600030101010101" pitchFamily="2" charset="-122"/>
            </a:endParaRPr>
          </a:p>
        </p:txBody>
      </p:sp>
      <p:pic>
        <p:nvPicPr>
          <p:cNvPr id="79876"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4270" y="4031560"/>
            <a:ext cx="3352800"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877"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8991" y="1998663"/>
            <a:ext cx="4537075"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p:cNvSpPr/>
          <p:nvPr/>
        </p:nvSpPr>
        <p:spPr>
          <a:xfrm>
            <a:off x="6332574" y="1271589"/>
            <a:ext cx="3732212" cy="522287"/>
          </a:xfrm>
          <a:prstGeom prst="rect">
            <a:avLst/>
          </a:prstGeom>
          <a:solidFill>
            <a:srgbClr val="FFC000"/>
          </a:solidFill>
        </p:spPr>
        <p:txBody>
          <a:bodyPr wrap="none">
            <a:spAutoFit/>
          </a:bodyPr>
          <a:lstStyle/>
          <a:p>
            <a:pPr algn="ctr" defTabSz="1083945">
              <a:defRPr/>
            </a:pPr>
            <a:r>
              <a:rPr lang="zh-CN" altLang="en-US" sz="2800" dirty="0">
                <a:latin typeface="+mn-ea"/>
                <a:ea typeface="+mn-ea"/>
              </a:rPr>
              <a:t>使用</a:t>
            </a:r>
            <a:r>
              <a:rPr lang="en-US" altLang="zh-CN" sz="2800" dirty="0">
                <a:latin typeface="+mn-ea"/>
                <a:ea typeface="+mn-ea"/>
              </a:rPr>
              <a:t>X</a:t>
            </a:r>
            <a:r>
              <a:rPr lang="en-US" altLang="zh-CN" sz="2800" baseline="30000" dirty="0">
                <a:latin typeface="+mn-ea"/>
                <a:ea typeface="+mn-ea"/>
              </a:rPr>
              <a:t>2</a:t>
            </a:r>
            <a:r>
              <a:rPr lang="zh-CN" altLang="en-US" sz="2800" dirty="0">
                <a:latin typeface="+mn-ea"/>
                <a:ea typeface="+mn-ea"/>
              </a:rPr>
              <a:t>进行相关分析？</a:t>
            </a:r>
            <a:endParaRPr lang="zh-CN" altLang="en-US" sz="2800" dirty="0">
              <a:latin typeface="+mn-ea"/>
              <a:ea typeface="+mn-ea"/>
            </a:endParaRPr>
          </a:p>
        </p:txBody>
      </p:sp>
      <p:pic>
        <p:nvPicPr>
          <p:cNvPr id="8" name="Picture 2" descr="https://images0.cnblogs.com/blog/416852/201410/25221408980903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2470" y="3578318"/>
            <a:ext cx="3190875"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6" descr="https://images0.cnblogs.com/blog/416852/201410/252214094187436.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44524" y="4355358"/>
            <a:ext cx="4716199" cy="837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p:cNvSpPr/>
          <p:nvPr/>
        </p:nvSpPr>
        <p:spPr>
          <a:xfrm>
            <a:off x="2327268" y="6498896"/>
            <a:ext cx="6466654" cy="461665"/>
          </a:xfrm>
          <a:prstGeom prst="rect">
            <a:avLst/>
          </a:prstGeom>
          <a:solidFill>
            <a:schemeClr val="accent6">
              <a:lumMod val="60000"/>
              <a:lumOff val="40000"/>
            </a:schemeClr>
          </a:solidFill>
        </p:spPr>
        <p:txBody>
          <a:bodyPr wrap="square">
            <a:spAutoFit/>
          </a:bodyPr>
          <a:lstStyle/>
          <a:p>
            <a:pPr algn="ctr" defTabSz="1083945">
              <a:defRPr/>
            </a:pPr>
            <a:r>
              <a:rPr lang="zh-CN" altLang="en-US" sz="2400" dirty="0">
                <a:latin typeface="+mn-ea"/>
                <a:ea typeface="+mn-ea"/>
              </a:rPr>
              <a:t>两种相关分析方法计算时均用到事物总数</a:t>
            </a:r>
            <a:endParaRPr lang="zh-CN" altLang="en-US" sz="2400" dirty="0">
              <a:latin typeface="+mn-ea"/>
              <a:ea typeface="+mn-ea"/>
            </a:endParaRPr>
          </a:p>
        </p:txBody>
      </p:sp>
      <p:sp>
        <p:nvSpPr>
          <p:cNvPr id="17" name="椭圆 16"/>
          <p:cNvSpPr/>
          <p:nvPr/>
        </p:nvSpPr>
        <p:spPr>
          <a:xfrm>
            <a:off x="4839604" y="3017838"/>
            <a:ext cx="757237" cy="304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 name="矩形 1"/>
          <p:cNvSpPr/>
          <p:nvPr/>
        </p:nvSpPr>
        <p:spPr>
          <a:xfrm>
            <a:off x="759281" y="5327454"/>
            <a:ext cx="5314275" cy="400110"/>
          </a:xfrm>
          <a:prstGeom prst="rect">
            <a:avLst/>
          </a:prstGeom>
        </p:spPr>
        <p:txBody>
          <a:bodyPr wrap="none">
            <a:spAutoFit/>
          </a:bodyPr>
          <a:lstStyle/>
          <a:p>
            <a:r>
              <a:rPr lang="en-US" altLang="zh-CN" sz="2000" b="0" dirty="0">
                <a:latin typeface="宋体" panose="02010600030101010101" pitchFamily="2" charset="-122"/>
                <a:ea typeface="宋体" panose="02010600030101010101" pitchFamily="2" charset="-122"/>
              </a:rPr>
              <a:t>lift(</a:t>
            </a:r>
            <a:r>
              <a:rPr lang="zh-CN" altLang="en-US" sz="2000" b="0" dirty="0">
                <a:latin typeface="宋体" panose="02010600030101010101" pitchFamily="2" charset="-122"/>
                <a:ea typeface="宋体" panose="02010600030101010101" pitchFamily="2" charset="-122"/>
              </a:rPr>
              <a:t>游戏，录像</a:t>
            </a:r>
            <a:r>
              <a:rPr lang="en-US" altLang="zh-CN" sz="2000" b="0" dirty="0">
                <a:latin typeface="宋体" panose="02010600030101010101" pitchFamily="2" charset="-122"/>
                <a:ea typeface="宋体" panose="02010600030101010101" pitchFamily="2" charset="-122"/>
              </a:rPr>
              <a:t>) = 0.4/(0.6*0.75)=0.89&lt;1</a:t>
            </a:r>
            <a:endParaRPr lang="zh-CN" altLang="en-US" sz="2000" b="0" dirty="0"/>
          </a:p>
        </p:txBody>
      </p:sp>
      <p:sp>
        <p:nvSpPr>
          <p:cNvPr id="3" name="矩形 2"/>
          <p:cNvSpPr/>
          <p:nvPr/>
        </p:nvSpPr>
        <p:spPr>
          <a:xfrm>
            <a:off x="1208991" y="5854951"/>
            <a:ext cx="3897221" cy="461665"/>
          </a:xfrm>
          <a:prstGeom prst="rect">
            <a:avLst/>
          </a:prstGeom>
        </p:spPr>
        <p:txBody>
          <a:bodyPr wrap="none">
            <a:spAutoFit/>
          </a:bodyPr>
          <a:lstStyle/>
          <a:p>
            <a:r>
              <a:rPr lang="zh-CN" altLang="en-US" sz="2400" dirty="0">
                <a:solidFill>
                  <a:srgbClr val="FF0000"/>
                </a:solidFill>
                <a:latin typeface="宋体" panose="02010600030101010101" pitchFamily="2" charset="-122"/>
                <a:ea typeface="宋体" panose="02010600030101010101" pitchFamily="2" charset="-122"/>
              </a:rPr>
              <a:t>游戏和录像之间存在负相关</a:t>
            </a:r>
            <a:endParaRPr lang="zh-CN" altLang="en-US" sz="2400" dirty="0"/>
          </a:p>
        </p:txBody>
      </p:sp>
      <p:pic>
        <p:nvPicPr>
          <p:cNvPr id="5" name="图片 4"/>
          <p:cNvPicPr>
            <a:picLocks noChangeAspect="1"/>
          </p:cNvPicPr>
          <p:nvPr/>
        </p:nvPicPr>
        <p:blipFill>
          <a:blip r:embed="rId5"/>
          <a:stretch>
            <a:fillRect/>
          </a:stretch>
        </p:blipFill>
        <p:spPr>
          <a:xfrm>
            <a:off x="6276854" y="1998663"/>
            <a:ext cx="3542512" cy="1441589"/>
          </a:xfrm>
          <a:prstGeom prst="rect">
            <a:avLst/>
          </a:prstGeom>
        </p:spPr>
      </p:pic>
      <p:grpSp>
        <p:nvGrpSpPr>
          <p:cNvPr id="13" name="组合 12"/>
          <p:cNvGrpSpPr/>
          <p:nvPr/>
        </p:nvGrpSpPr>
        <p:grpSpPr>
          <a:xfrm>
            <a:off x="7178871" y="5367941"/>
            <a:ext cx="1338071" cy="359623"/>
            <a:chOff x="6923841" y="5367941"/>
            <a:chExt cx="1338071" cy="359623"/>
          </a:xfrm>
        </p:grpSpPr>
        <p:pic>
          <p:nvPicPr>
            <p:cNvPr id="11" name="图片 10"/>
            <p:cNvPicPr>
              <a:picLocks noChangeAspect="1"/>
            </p:cNvPicPr>
            <p:nvPr/>
          </p:nvPicPr>
          <p:blipFill>
            <a:blip r:embed="rId6"/>
            <a:stretch>
              <a:fillRect/>
            </a:stretch>
          </p:blipFill>
          <p:spPr>
            <a:xfrm>
              <a:off x="6923841" y="5367941"/>
              <a:ext cx="704263" cy="359623"/>
            </a:xfrm>
            <a:prstGeom prst="rect">
              <a:avLst/>
            </a:prstGeom>
          </p:spPr>
        </p:pic>
        <p:pic>
          <p:nvPicPr>
            <p:cNvPr id="12" name="图片 11"/>
            <p:cNvPicPr>
              <a:picLocks noChangeAspect="1"/>
            </p:cNvPicPr>
            <p:nvPr/>
          </p:nvPicPr>
          <p:blipFill>
            <a:blip r:embed="rId7"/>
            <a:stretch>
              <a:fillRect/>
            </a:stretch>
          </p:blipFill>
          <p:spPr>
            <a:xfrm>
              <a:off x="7628104" y="5408314"/>
              <a:ext cx="633808" cy="278876"/>
            </a:xfrm>
            <a:prstGeom prst="rect">
              <a:avLst/>
            </a:prstGeom>
          </p:spPr>
        </p:pic>
      </p:grpSp>
      <p:sp>
        <p:nvSpPr>
          <p:cNvPr id="18" name="椭圆 17"/>
          <p:cNvSpPr/>
          <p:nvPr/>
        </p:nvSpPr>
        <p:spPr>
          <a:xfrm>
            <a:off x="9062129" y="3035844"/>
            <a:ext cx="757237" cy="304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0" name="矩形 19"/>
          <p:cNvSpPr/>
          <p:nvPr/>
        </p:nvSpPr>
        <p:spPr>
          <a:xfrm>
            <a:off x="6826931" y="2446293"/>
            <a:ext cx="959472" cy="250497"/>
          </a:xfrm>
          <a:prstGeom prst="rect">
            <a:avLst/>
          </a:prstGeom>
          <a:ln w="28575">
            <a:solidFill>
              <a:srgbClr val="FF0000"/>
            </a:solidFill>
          </a:ln>
        </p:spPr>
        <p:txBody>
          <a:bodyPr wrap="square">
            <a:spAutoFit/>
          </a:bodyPr>
          <a:lstStyle/>
          <a:p>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87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7" grpId="0" animBg="1"/>
      <p:bldP spid="2" grpId="0"/>
      <p:bldP spid="3" grpId="0"/>
      <p:bldP spid="18" grpId="0" animBg="1"/>
      <p:bldP spid="2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a:t>
            </a:r>
            <a:r>
              <a:rPr lang="en-US" altLang="zh-CN" sz="4400" dirty="0">
                <a:latin typeface="楷体" panose="02010609060101010101" pitchFamily="49" charset="-122"/>
                <a:ea typeface="楷体" panose="02010609060101010101" pitchFamily="49" charset="-122"/>
              </a:rPr>
              <a:t>6.3 </a:t>
            </a:r>
            <a:r>
              <a:rPr lang="zh-CN" altLang="en-US" sz="4400" dirty="0">
                <a:latin typeface="楷体" panose="02010609060101010101" pitchFamily="49" charset="-122"/>
                <a:ea typeface="楷体" panose="02010609060101010101" pitchFamily="49" charset="-122"/>
              </a:rPr>
              <a:t>哪些模式是有趣的：模式评估方法</a:t>
            </a:r>
            <a:endParaRPr lang="zh-CN" altLang="en-US" sz="4400" dirty="0">
              <a:latin typeface="楷体" panose="02010609060101010101" pitchFamily="49" charset="-122"/>
              <a:ea typeface="楷体" panose="02010609060101010101" pitchFamily="49" charset="-122"/>
            </a:endParaRPr>
          </a:p>
        </p:txBody>
      </p:sp>
      <p:sp>
        <p:nvSpPr>
          <p:cNvPr id="81923" name="Rectangle 3"/>
          <p:cNvSpPr>
            <a:spLocks noGrp="1" noChangeArrowheads="1"/>
          </p:cNvSpPr>
          <p:nvPr>
            <p:ph idx="1"/>
          </p:nvPr>
        </p:nvSpPr>
        <p:spPr>
          <a:xfrm>
            <a:off x="522288" y="1160463"/>
            <a:ext cx="9906000" cy="5715000"/>
          </a:xfrm>
        </p:spPr>
        <p:txBody>
          <a:bodyPr/>
          <a:lstStyle/>
          <a:p>
            <a:pPr marL="0" indent="0">
              <a:spcBef>
                <a:spcPct val="0"/>
              </a:spcBef>
              <a:buFont typeface="Arial" panose="020B0604020202020204" pitchFamily="34" charset="0"/>
              <a:buNone/>
            </a:pPr>
            <a:r>
              <a:rPr lang="en-US" altLang="zh-CN" sz="2400" b="1" dirty="0">
                <a:solidFill>
                  <a:srgbClr val="0000FF"/>
                </a:solidFill>
                <a:latin typeface="宋体" panose="02010600030101010101" pitchFamily="2" charset="-122"/>
                <a:ea typeface="宋体" panose="02010600030101010101" pitchFamily="2" charset="-122"/>
              </a:rPr>
              <a:t>3</a:t>
            </a:r>
            <a:r>
              <a:rPr lang="zh-CN" altLang="en-US" sz="2400" b="1" dirty="0">
                <a:solidFill>
                  <a:srgbClr val="0000FF"/>
                </a:solidFill>
                <a:latin typeface="宋体" panose="02010600030101010101" pitchFamily="2" charset="-122"/>
                <a:ea typeface="宋体" panose="02010600030101010101" pitchFamily="2" charset="-122"/>
              </a:rPr>
              <a:t>、模式评估度量比较</a:t>
            </a:r>
            <a:endParaRPr lang="en-US" altLang="zh-CN" sz="2400" b="1" dirty="0">
              <a:solidFill>
                <a:srgbClr val="0000FF"/>
              </a:solidFill>
              <a:latin typeface="宋体" panose="02010600030101010101" pitchFamily="2" charset="-122"/>
              <a:ea typeface="宋体" panose="02010600030101010101" pitchFamily="2" charset="-122"/>
            </a:endParaRPr>
          </a:p>
          <a:p>
            <a:pPr marL="0" indent="0">
              <a:spcBef>
                <a:spcPct val="0"/>
              </a:spcBef>
              <a:buFont typeface="Arial" panose="020B0604020202020204" pitchFamily="34" charset="0"/>
              <a:buNone/>
            </a:pPr>
            <a:r>
              <a:rPr lang="zh-CN" altLang="en-US" sz="2000" b="1" dirty="0">
                <a:latin typeface="宋体" panose="02010600030101010101" pitchFamily="2" charset="-122"/>
                <a:ea typeface="宋体" panose="02010600030101010101" pitchFamily="2" charset="-122"/>
              </a:rPr>
              <a:t>给定两个项集</a:t>
            </a:r>
            <a:r>
              <a:rPr lang="en-US" altLang="zh-CN" sz="2000" b="1" dirty="0">
                <a:latin typeface="宋体" panose="02010600030101010101" pitchFamily="2" charset="-122"/>
                <a:ea typeface="宋体" panose="02010600030101010101" pitchFamily="2" charset="-122"/>
              </a:rPr>
              <a:t>A</a:t>
            </a:r>
            <a:r>
              <a:rPr lang="zh-CN" altLang="en-US" sz="2000" b="1" dirty="0">
                <a:latin typeface="宋体" panose="02010600030101010101" pitchFamily="2" charset="-122"/>
                <a:ea typeface="宋体" panose="02010600030101010101" pitchFamily="2" charset="-122"/>
              </a:rPr>
              <a:t>和</a:t>
            </a:r>
            <a:r>
              <a:rPr lang="en-US" altLang="zh-CN" sz="2000" b="1" dirty="0">
                <a:latin typeface="宋体" panose="02010600030101010101" pitchFamily="2" charset="-122"/>
                <a:ea typeface="宋体" panose="02010600030101010101" pitchFamily="2" charset="-122"/>
              </a:rPr>
              <a:t>B</a:t>
            </a:r>
            <a:r>
              <a:rPr lang="zh-CN" altLang="en-US" sz="2000" b="1" dirty="0">
                <a:latin typeface="宋体" panose="02010600030101010101" pitchFamily="2" charset="-122"/>
                <a:ea typeface="宋体" panose="02010600030101010101" pitchFamily="2" charset="-122"/>
              </a:rPr>
              <a:t>，其他</a:t>
            </a:r>
            <a:r>
              <a:rPr lang="en-US" altLang="zh-CN" sz="2000" b="1" dirty="0">
                <a:latin typeface="宋体" panose="02010600030101010101" pitchFamily="2" charset="-122"/>
                <a:ea typeface="宋体" panose="02010600030101010101" pitchFamily="2" charset="-122"/>
              </a:rPr>
              <a:t>4</a:t>
            </a:r>
            <a:r>
              <a:rPr lang="zh-CN" altLang="en-US" sz="2000" b="1" dirty="0">
                <a:latin typeface="宋体" panose="02010600030101010101" pitchFamily="2" charset="-122"/>
                <a:ea typeface="宋体" panose="02010600030101010101" pitchFamily="2" charset="-122"/>
              </a:rPr>
              <a:t>种相关性度量：</a:t>
            </a:r>
            <a:endParaRPr lang="en-US" altLang="zh-CN" sz="2000" b="1" dirty="0">
              <a:latin typeface="宋体" panose="02010600030101010101" pitchFamily="2" charset="-122"/>
              <a:ea typeface="宋体" panose="02010600030101010101" pitchFamily="2" charset="-122"/>
            </a:endParaRPr>
          </a:p>
          <a:p>
            <a:pPr marL="0" indent="0">
              <a:spcBef>
                <a:spcPct val="0"/>
              </a:spcBef>
              <a:buFont typeface="Arial" panose="020B0604020202020204" pitchFamily="34" charset="0"/>
              <a:buNone/>
            </a:pPr>
            <a:r>
              <a:rPr lang="zh-CN" altLang="en-US" sz="2000" b="1" dirty="0">
                <a:solidFill>
                  <a:srgbClr val="0000FF"/>
                </a:solidFill>
                <a:latin typeface="宋体" panose="02010600030101010101" pitchFamily="2" charset="-122"/>
                <a:ea typeface="宋体" panose="02010600030101010101" pitchFamily="2" charset="-122"/>
              </a:rPr>
              <a:t>（</a:t>
            </a:r>
            <a:r>
              <a:rPr lang="en-US" altLang="zh-CN" sz="2000" b="1" dirty="0">
                <a:solidFill>
                  <a:srgbClr val="0000FF"/>
                </a:solidFill>
                <a:latin typeface="宋体" panose="02010600030101010101" pitchFamily="2" charset="-122"/>
                <a:ea typeface="宋体" panose="02010600030101010101" pitchFamily="2" charset="-122"/>
              </a:rPr>
              <a:t>1</a:t>
            </a:r>
            <a:r>
              <a:rPr lang="zh-CN" altLang="en-US" sz="2000" b="1" dirty="0">
                <a:solidFill>
                  <a:srgbClr val="0000FF"/>
                </a:solidFill>
                <a:latin typeface="宋体" panose="02010600030101010101" pitchFamily="2" charset="-122"/>
                <a:ea typeface="宋体" panose="02010600030101010101" pitchFamily="2" charset="-122"/>
              </a:rPr>
              <a:t>）全置信度</a:t>
            </a:r>
            <a:endParaRPr lang="en-US" altLang="zh-CN" sz="2000" b="1" dirty="0">
              <a:solidFill>
                <a:srgbClr val="0000FF"/>
              </a:solidFill>
              <a:latin typeface="宋体" panose="02010600030101010101" pitchFamily="2" charset="-122"/>
              <a:ea typeface="宋体" panose="02010600030101010101" pitchFamily="2" charset="-122"/>
            </a:endParaRPr>
          </a:p>
          <a:p>
            <a:pPr marL="0" indent="0">
              <a:spcBef>
                <a:spcPct val="0"/>
              </a:spcBef>
              <a:buFont typeface="Arial" panose="020B0604020202020204" pitchFamily="34" charset="0"/>
              <a:buNone/>
            </a:pPr>
            <a:endParaRPr lang="en-US" altLang="zh-CN" sz="2000" b="1" dirty="0">
              <a:latin typeface="宋体" panose="02010600030101010101" pitchFamily="2" charset="-122"/>
              <a:ea typeface="宋体" panose="02010600030101010101" pitchFamily="2" charset="-122"/>
            </a:endParaRPr>
          </a:p>
          <a:p>
            <a:pPr marL="0" indent="0">
              <a:spcBef>
                <a:spcPct val="0"/>
              </a:spcBef>
              <a:buFont typeface="Arial" panose="020B0604020202020204" pitchFamily="34" charset="0"/>
              <a:buNone/>
            </a:pPr>
            <a:r>
              <a:rPr lang="en-US" altLang="zh-CN" sz="2000" dirty="0">
                <a:latin typeface="宋体" panose="02010600030101010101" pitchFamily="2" charset="-122"/>
                <a:ea typeface="宋体" panose="02010600030101010101" pitchFamily="2" charset="-122"/>
              </a:rPr>
              <a:t>  </a:t>
            </a:r>
            <a:r>
              <a:rPr lang="en-US" altLang="zh-CN" sz="2000" dirty="0" err="1">
                <a:latin typeface="宋体" panose="02010600030101010101" pitchFamily="2" charset="-122"/>
                <a:ea typeface="宋体" panose="02010600030101010101" pitchFamily="2" charset="-122"/>
              </a:rPr>
              <a:t>all_conf</a:t>
            </a:r>
            <a:r>
              <a:rPr lang="en-US" altLang="zh-CN" sz="2000" dirty="0">
                <a:latin typeface="宋体" panose="02010600030101010101" pitchFamily="2" charset="-122"/>
                <a:ea typeface="宋体" panose="02010600030101010101" pitchFamily="2" charset="-122"/>
              </a:rPr>
              <a:t>(A,B) </a:t>
            </a:r>
            <a:r>
              <a:rPr lang="zh-CN" altLang="en-US" sz="2000" dirty="0">
                <a:latin typeface="宋体" panose="02010600030101010101" pitchFamily="2" charset="-122"/>
                <a:ea typeface="宋体" panose="02010600030101010101" pitchFamily="2" charset="-122"/>
              </a:rPr>
              <a:t>又称两个与</a:t>
            </a:r>
            <a:r>
              <a:rPr lang="en-US" altLang="zh-CN" sz="2000" dirty="0">
                <a:latin typeface="宋体" panose="02010600030101010101" pitchFamily="2" charset="-122"/>
                <a:ea typeface="宋体" panose="02010600030101010101" pitchFamily="2" charset="-122"/>
              </a:rPr>
              <a:t>A</a:t>
            </a:r>
            <a:r>
              <a:rPr lang="zh-CN" altLang="en-US" sz="2000" dirty="0">
                <a:latin typeface="宋体" panose="02010600030101010101" pitchFamily="2" charset="-122"/>
                <a:ea typeface="宋体" panose="02010600030101010101" pitchFamily="2" charset="-122"/>
              </a:rPr>
              <a:t>和</a:t>
            </a:r>
            <a:r>
              <a:rPr lang="en-US" altLang="zh-CN" sz="2000" dirty="0">
                <a:latin typeface="宋体" panose="02010600030101010101" pitchFamily="2" charset="-122"/>
                <a:ea typeface="宋体" panose="02010600030101010101" pitchFamily="2" charset="-122"/>
              </a:rPr>
              <a:t>B</a:t>
            </a:r>
            <a:r>
              <a:rPr lang="zh-CN" altLang="en-US" sz="2000" dirty="0">
                <a:latin typeface="宋体" panose="02010600030101010101" pitchFamily="2" charset="-122"/>
                <a:ea typeface="宋体" panose="02010600030101010101" pitchFamily="2" charset="-122"/>
              </a:rPr>
              <a:t>相关的关联规则”</a:t>
            </a:r>
            <a:r>
              <a:rPr lang="en-US" altLang="zh-CN" sz="2000" dirty="0">
                <a:latin typeface="宋体" panose="02010600030101010101" pitchFamily="2" charset="-122"/>
                <a:ea typeface="宋体" panose="02010600030101010101" pitchFamily="2" charset="-122"/>
              </a:rPr>
              <a:t>A=&gt;B”</a:t>
            </a:r>
            <a:r>
              <a:rPr lang="zh-CN" altLang="en-US" sz="2000" dirty="0">
                <a:latin typeface="宋体" panose="02010600030101010101" pitchFamily="2" charset="-122"/>
                <a:ea typeface="宋体" panose="02010600030101010101" pitchFamily="2" charset="-122"/>
              </a:rPr>
              <a:t>和”</a:t>
            </a:r>
            <a:r>
              <a:rPr lang="en-US" altLang="zh-CN" sz="2000" dirty="0">
                <a:latin typeface="宋体" panose="02010600030101010101" pitchFamily="2" charset="-122"/>
                <a:ea typeface="宋体" panose="02010600030101010101" pitchFamily="2" charset="-122"/>
              </a:rPr>
              <a:t>B=&gt;A”</a:t>
            </a:r>
            <a:r>
              <a:rPr lang="zh-CN" altLang="en-US" sz="2000" dirty="0">
                <a:latin typeface="宋体" panose="02010600030101010101" pitchFamily="2" charset="-122"/>
                <a:ea typeface="宋体" panose="02010600030101010101" pitchFamily="2" charset="-122"/>
              </a:rPr>
              <a:t>的最小置信度。</a:t>
            </a:r>
            <a:endParaRPr lang="en-US" altLang="zh-CN" sz="2000" dirty="0">
              <a:latin typeface="宋体" panose="02010600030101010101" pitchFamily="2" charset="-122"/>
              <a:ea typeface="宋体" panose="02010600030101010101" pitchFamily="2" charset="-122"/>
            </a:endParaRPr>
          </a:p>
          <a:p>
            <a:pPr marL="0" indent="0">
              <a:spcBef>
                <a:spcPct val="0"/>
              </a:spcBef>
              <a:buFont typeface="Arial" panose="020B0604020202020204" pitchFamily="34" charset="0"/>
              <a:buNone/>
            </a:pPr>
            <a:r>
              <a:rPr lang="zh-CN" altLang="en-US" sz="2000" b="1" dirty="0">
                <a:solidFill>
                  <a:srgbClr val="0000FF"/>
                </a:solidFill>
                <a:latin typeface="宋体" panose="02010600030101010101" pitchFamily="2" charset="-122"/>
                <a:ea typeface="宋体" panose="02010600030101010101" pitchFamily="2" charset="-122"/>
              </a:rPr>
              <a:t>（</a:t>
            </a:r>
            <a:r>
              <a:rPr lang="en-US" altLang="zh-CN" sz="2000" b="1" dirty="0">
                <a:solidFill>
                  <a:srgbClr val="0000FF"/>
                </a:solidFill>
                <a:latin typeface="宋体" panose="02010600030101010101" pitchFamily="2" charset="-122"/>
                <a:ea typeface="宋体" panose="02010600030101010101" pitchFamily="2" charset="-122"/>
              </a:rPr>
              <a:t>2</a:t>
            </a:r>
            <a:r>
              <a:rPr lang="zh-CN" altLang="en-US" sz="2000" b="1" dirty="0">
                <a:solidFill>
                  <a:srgbClr val="0000FF"/>
                </a:solidFill>
                <a:latin typeface="宋体" panose="02010600030101010101" pitchFamily="2" charset="-122"/>
                <a:ea typeface="宋体" panose="02010600030101010101" pitchFamily="2" charset="-122"/>
              </a:rPr>
              <a:t>）最大置信度</a:t>
            </a:r>
            <a:endParaRPr lang="en-US" altLang="zh-CN" sz="2000" b="1" dirty="0">
              <a:solidFill>
                <a:srgbClr val="0000FF"/>
              </a:solidFill>
              <a:latin typeface="宋体" panose="02010600030101010101" pitchFamily="2" charset="-122"/>
              <a:ea typeface="宋体" panose="02010600030101010101" pitchFamily="2" charset="-122"/>
            </a:endParaRPr>
          </a:p>
          <a:p>
            <a:pPr marL="0" indent="0">
              <a:spcBef>
                <a:spcPct val="0"/>
              </a:spcBef>
              <a:buFont typeface="Arial" panose="020B0604020202020204" pitchFamily="34" charset="0"/>
              <a:buNone/>
            </a:pPr>
            <a:endParaRPr lang="en-US" altLang="zh-CN" sz="2400" b="1" dirty="0"/>
          </a:p>
          <a:p>
            <a:pPr marL="0" indent="0">
              <a:spcBef>
                <a:spcPct val="0"/>
              </a:spcBef>
              <a:buFont typeface="Arial" panose="020B0604020202020204" pitchFamily="34" charset="0"/>
              <a:buNone/>
            </a:pPr>
            <a:r>
              <a:rPr lang="zh-CN" altLang="en-US" sz="2000" b="1" dirty="0">
                <a:solidFill>
                  <a:srgbClr val="0000FF"/>
                </a:solidFill>
                <a:latin typeface="宋体" panose="02010600030101010101" pitchFamily="2" charset="-122"/>
                <a:ea typeface="宋体" panose="02010600030101010101" pitchFamily="2" charset="-122"/>
              </a:rPr>
              <a:t>（</a:t>
            </a:r>
            <a:r>
              <a:rPr lang="en-US" altLang="zh-CN" sz="2000" b="1" dirty="0">
                <a:solidFill>
                  <a:srgbClr val="0000FF"/>
                </a:solidFill>
                <a:latin typeface="宋体" panose="02010600030101010101" pitchFamily="2" charset="-122"/>
                <a:ea typeface="宋体" panose="02010600030101010101" pitchFamily="2" charset="-122"/>
              </a:rPr>
              <a:t>3</a:t>
            </a:r>
            <a:r>
              <a:rPr lang="zh-CN" altLang="en-US" sz="2000" b="1" dirty="0">
                <a:solidFill>
                  <a:srgbClr val="0000FF"/>
                </a:solidFill>
                <a:latin typeface="宋体" panose="02010600030101010101" pitchFamily="2" charset="-122"/>
                <a:ea typeface="宋体" panose="02010600030101010101" pitchFamily="2" charset="-122"/>
              </a:rPr>
              <a:t>）</a:t>
            </a:r>
            <a:r>
              <a:rPr lang="en-US" altLang="zh-CN" sz="2000" b="1" dirty="0" err="1">
                <a:solidFill>
                  <a:srgbClr val="0000FF"/>
                </a:solidFill>
                <a:latin typeface="宋体" panose="02010600030101010101" pitchFamily="2" charset="-122"/>
                <a:ea typeface="宋体" panose="02010600030101010101" pitchFamily="2" charset="-122"/>
              </a:rPr>
              <a:t>Kulczynski</a:t>
            </a:r>
            <a:r>
              <a:rPr lang="en-US" altLang="zh-CN" sz="2000" b="1" dirty="0">
                <a:solidFill>
                  <a:srgbClr val="0000FF"/>
                </a:solidFill>
                <a:latin typeface="宋体" panose="02010600030101010101" pitchFamily="2" charset="-122"/>
                <a:ea typeface="宋体" panose="02010600030101010101" pitchFamily="2" charset="-122"/>
              </a:rPr>
              <a:t>(</a:t>
            </a:r>
            <a:r>
              <a:rPr lang="en-US" altLang="zh-CN" sz="2000" b="1" dirty="0" err="1">
                <a:solidFill>
                  <a:srgbClr val="0000FF"/>
                </a:solidFill>
                <a:latin typeface="宋体" panose="02010600030101010101" pitchFamily="2" charset="-122"/>
                <a:ea typeface="宋体" panose="02010600030101010101" pitchFamily="2" charset="-122"/>
              </a:rPr>
              <a:t>Kulc</a:t>
            </a:r>
            <a:r>
              <a:rPr lang="en-US" altLang="zh-CN" sz="2000" b="1" dirty="0">
                <a:solidFill>
                  <a:srgbClr val="0000FF"/>
                </a:solidFill>
                <a:latin typeface="宋体" panose="02010600030101010101" pitchFamily="2" charset="-122"/>
                <a:ea typeface="宋体" panose="02010600030101010101" pitchFamily="2" charset="-122"/>
              </a:rPr>
              <a:t>)</a:t>
            </a:r>
            <a:r>
              <a:rPr lang="zh-CN" altLang="en-US" sz="2000" b="1" dirty="0">
                <a:solidFill>
                  <a:srgbClr val="0000FF"/>
                </a:solidFill>
                <a:latin typeface="宋体" panose="02010600030101010101" pitchFamily="2" charset="-122"/>
                <a:ea typeface="宋体" panose="02010600030101010101" pitchFamily="2" charset="-122"/>
              </a:rPr>
              <a:t>度量</a:t>
            </a:r>
            <a:endParaRPr lang="en-US" altLang="zh-CN" sz="2000" b="1" dirty="0">
              <a:solidFill>
                <a:srgbClr val="0000FF"/>
              </a:solidFill>
              <a:latin typeface="宋体" panose="02010600030101010101" pitchFamily="2" charset="-122"/>
              <a:ea typeface="宋体" panose="02010600030101010101" pitchFamily="2" charset="-122"/>
            </a:endParaRPr>
          </a:p>
          <a:p>
            <a:pPr marL="0" indent="0">
              <a:spcBef>
                <a:spcPct val="0"/>
              </a:spcBef>
              <a:buFont typeface="Arial" panose="020B0604020202020204" pitchFamily="34" charset="0"/>
              <a:buNone/>
            </a:pPr>
            <a:endParaRPr lang="en-US" altLang="zh-CN" sz="2000" b="1" dirty="0">
              <a:latin typeface="宋体" panose="02010600030101010101" pitchFamily="2" charset="-122"/>
              <a:ea typeface="宋体" panose="02010600030101010101" pitchFamily="2" charset="-122"/>
            </a:endParaRPr>
          </a:p>
          <a:p>
            <a:pPr marL="0" indent="0">
              <a:spcBef>
                <a:spcPct val="0"/>
              </a:spcBef>
              <a:buFont typeface="Arial" panose="020B0604020202020204" pitchFamily="34" charset="0"/>
              <a:buNone/>
            </a:pPr>
            <a:r>
              <a:rPr lang="zh-CN" altLang="en-US" sz="2000" b="1" dirty="0">
                <a:solidFill>
                  <a:srgbClr val="0000FF"/>
                </a:solidFill>
                <a:latin typeface="宋体" panose="02010600030101010101" pitchFamily="2" charset="-122"/>
                <a:ea typeface="宋体" panose="02010600030101010101" pitchFamily="2" charset="-122"/>
              </a:rPr>
              <a:t>（</a:t>
            </a:r>
            <a:r>
              <a:rPr lang="en-US" altLang="zh-CN" sz="2000" b="1" dirty="0">
                <a:solidFill>
                  <a:srgbClr val="0000FF"/>
                </a:solidFill>
                <a:latin typeface="宋体" panose="02010600030101010101" pitchFamily="2" charset="-122"/>
                <a:ea typeface="宋体" panose="02010600030101010101" pitchFamily="2" charset="-122"/>
              </a:rPr>
              <a:t>4</a:t>
            </a:r>
            <a:r>
              <a:rPr lang="zh-CN" altLang="en-US" sz="2000" b="1" dirty="0">
                <a:solidFill>
                  <a:srgbClr val="0000FF"/>
                </a:solidFill>
                <a:latin typeface="宋体" panose="02010600030101010101" pitchFamily="2" charset="-122"/>
                <a:ea typeface="宋体" panose="02010600030101010101" pitchFamily="2" charset="-122"/>
              </a:rPr>
              <a:t>） 余弦度量</a:t>
            </a:r>
            <a:endParaRPr lang="en-US" altLang="zh-CN" sz="2000" b="1" dirty="0">
              <a:solidFill>
                <a:srgbClr val="0000FF"/>
              </a:solidFill>
              <a:latin typeface="宋体" panose="02010600030101010101" pitchFamily="2" charset="-122"/>
              <a:ea typeface="宋体" panose="02010600030101010101" pitchFamily="2" charset="-122"/>
            </a:endParaRPr>
          </a:p>
          <a:p>
            <a:pPr marL="0" indent="0">
              <a:spcBef>
                <a:spcPct val="0"/>
              </a:spcBef>
              <a:buFont typeface="Arial" panose="020B0604020202020204" pitchFamily="34" charset="0"/>
              <a:buNone/>
            </a:pPr>
            <a:endParaRPr lang="zh-CN" altLang="en-US" sz="2400" b="1" dirty="0">
              <a:latin typeface="宋体" panose="02010600030101010101" pitchFamily="2" charset="-122"/>
              <a:ea typeface="宋体" panose="02010600030101010101" pitchFamily="2" charset="-122"/>
            </a:endParaRPr>
          </a:p>
        </p:txBody>
      </p:sp>
      <p:pic>
        <p:nvPicPr>
          <p:cNvPr id="81924" name="图片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04357" y="2440057"/>
            <a:ext cx="6860725" cy="677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25" name="图片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5488" y="4017964"/>
            <a:ext cx="4648927" cy="467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26" name="图片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9723" y="5056564"/>
            <a:ext cx="4033636" cy="610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27" name="图片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5763" y="6037992"/>
            <a:ext cx="7324007" cy="627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矩形 13"/>
          <p:cNvSpPr/>
          <p:nvPr/>
        </p:nvSpPr>
        <p:spPr>
          <a:xfrm>
            <a:off x="5491163" y="1073150"/>
            <a:ext cx="5257800" cy="1200150"/>
          </a:xfrm>
          <a:prstGeom prst="rect">
            <a:avLst/>
          </a:prstGeom>
          <a:solidFill>
            <a:schemeClr val="accent6">
              <a:lumMod val="60000"/>
              <a:lumOff val="40000"/>
            </a:schemeClr>
          </a:solidFill>
        </p:spPr>
        <p:txBody>
          <a:bodyPr>
            <a:spAutoFit/>
          </a:bodyPr>
          <a:lstStyle/>
          <a:p>
            <a:pPr marL="342900" indent="-342900">
              <a:buFont typeface="Wingdings" panose="05000000000000000000" pitchFamily="2" charset="2"/>
              <a:buChar char="Ø"/>
              <a:defRPr/>
            </a:pPr>
            <a:r>
              <a:rPr lang="zh-CN" altLang="en-US" sz="1800" b="0" dirty="0">
                <a:latin typeface="+mn-ea"/>
                <a:ea typeface="+mn-ea"/>
              </a:rPr>
              <a:t>4个度量仅受A、B和A</a:t>
            </a:r>
            <a:r>
              <a:rPr lang="en-US" altLang="zh-CN" sz="1800" b="0" dirty="0">
                <a:latin typeface="+mn-ea"/>
                <a:ea typeface="+mn-ea"/>
              </a:rPr>
              <a:t>U</a:t>
            </a:r>
            <a:r>
              <a:rPr lang="zh-CN" altLang="en-US" sz="1800" b="0" dirty="0">
                <a:latin typeface="+mn-ea"/>
                <a:ea typeface="+mn-ea"/>
              </a:rPr>
              <a:t>B的支持度的影响，或者说仅受条件概率P(A|B)、P(B|A)的影响，而</a:t>
            </a:r>
            <a:r>
              <a:rPr lang="zh-CN" altLang="en-US" sz="1800" dirty="0">
                <a:latin typeface="+mn-ea"/>
                <a:ea typeface="+mn-ea"/>
              </a:rPr>
              <a:t>不受事务总个数的影响</a:t>
            </a:r>
            <a:r>
              <a:rPr lang="zh-CN" altLang="en-US" sz="1800" b="0" dirty="0">
                <a:latin typeface="+mn-ea"/>
                <a:ea typeface="+mn-ea"/>
              </a:rPr>
              <a:t>。</a:t>
            </a:r>
            <a:endParaRPr lang="en-US" altLang="zh-CN" sz="1800" b="0" dirty="0">
              <a:latin typeface="+mn-ea"/>
              <a:ea typeface="+mn-ea"/>
            </a:endParaRPr>
          </a:p>
          <a:p>
            <a:pPr marL="342900" indent="-342900">
              <a:buFont typeface="Wingdings" panose="05000000000000000000" pitchFamily="2" charset="2"/>
              <a:buChar char="Ø"/>
              <a:defRPr/>
            </a:pPr>
            <a:r>
              <a:rPr lang="zh-CN" altLang="en-US" sz="1800" b="0" dirty="0">
                <a:latin typeface="+mn-ea"/>
                <a:ea typeface="+mn-ea"/>
              </a:rPr>
              <a:t>取值都介于0~1之间，</a:t>
            </a:r>
            <a:r>
              <a:rPr lang="zh-CN" altLang="en-US" sz="1800" dirty="0">
                <a:solidFill>
                  <a:srgbClr val="FF0000"/>
                </a:solidFill>
                <a:latin typeface="+mn-ea"/>
                <a:ea typeface="+mn-ea"/>
              </a:rPr>
              <a:t>值越大二者联系越紧密</a:t>
            </a:r>
            <a:r>
              <a:rPr lang="zh-CN" altLang="en-US" sz="1800" b="0" dirty="0">
                <a:latin typeface="+mn-ea"/>
                <a:ea typeface="+mn-ea"/>
              </a:rPr>
              <a:t>。</a:t>
            </a:r>
            <a:endParaRPr lang="zh-CN" altLang="en-US" sz="1800" b="0" dirty="0">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2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192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19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19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192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a:t>
            </a:r>
            <a:r>
              <a:rPr lang="en-US" altLang="zh-CN" sz="4400" dirty="0">
                <a:latin typeface="楷体" panose="02010609060101010101" pitchFamily="49" charset="-122"/>
                <a:ea typeface="楷体" panose="02010609060101010101" pitchFamily="49" charset="-122"/>
              </a:rPr>
              <a:t>6.3 </a:t>
            </a:r>
            <a:r>
              <a:rPr lang="zh-CN" altLang="en-US" sz="4400" dirty="0">
                <a:latin typeface="楷体" panose="02010609060101010101" pitchFamily="49" charset="-122"/>
                <a:ea typeface="楷体" panose="02010609060101010101" pitchFamily="49" charset="-122"/>
              </a:rPr>
              <a:t>哪些模式是有趣的：模式评估方法</a:t>
            </a:r>
            <a:endParaRPr lang="zh-CN" altLang="en-US" sz="4400" dirty="0">
              <a:latin typeface="楷体" panose="02010609060101010101" pitchFamily="49" charset="-122"/>
              <a:ea typeface="楷体" panose="02010609060101010101" pitchFamily="49" charset="-122"/>
            </a:endParaRPr>
          </a:p>
        </p:txBody>
      </p:sp>
      <p:sp>
        <p:nvSpPr>
          <p:cNvPr id="83971" name="Rectangle 3"/>
          <p:cNvSpPr>
            <a:spLocks noGrp="1" noChangeArrowheads="1"/>
          </p:cNvSpPr>
          <p:nvPr>
            <p:ph idx="1"/>
          </p:nvPr>
        </p:nvSpPr>
        <p:spPr>
          <a:xfrm>
            <a:off x="522288" y="1160463"/>
            <a:ext cx="9906000" cy="1524000"/>
          </a:xfrm>
        </p:spPr>
        <p:txBody>
          <a:bodyPr/>
          <a:lstStyle/>
          <a:p>
            <a:pPr marL="0" indent="0">
              <a:spcBef>
                <a:spcPct val="0"/>
              </a:spcBef>
              <a:buFont typeface="Arial" panose="020B0604020202020204" pitchFamily="34" charset="0"/>
              <a:buNone/>
            </a:pPr>
            <a:r>
              <a:rPr lang="en-US" altLang="zh-CN" sz="2400" b="1">
                <a:solidFill>
                  <a:srgbClr val="0000FF"/>
                </a:solidFill>
                <a:latin typeface="宋体" panose="02010600030101010101" pitchFamily="2" charset="-122"/>
                <a:ea typeface="宋体" panose="02010600030101010101" pitchFamily="2" charset="-122"/>
              </a:rPr>
              <a:t>3</a:t>
            </a:r>
            <a:r>
              <a:rPr lang="zh-CN" altLang="en-US" sz="2400" b="1">
                <a:solidFill>
                  <a:srgbClr val="0000FF"/>
                </a:solidFill>
                <a:latin typeface="宋体" panose="02010600030101010101" pitchFamily="2" charset="-122"/>
                <a:ea typeface="宋体" panose="02010600030101010101" pitchFamily="2" charset="-122"/>
              </a:rPr>
              <a:t>、模式评估度量比较</a:t>
            </a:r>
            <a:endParaRPr lang="en-US" altLang="zh-CN" sz="2400" b="1">
              <a:solidFill>
                <a:srgbClr val="0000FF"/>
              </a:solidFill>
              <a:latin typeface="宋体" panose="02010600030101010101" pitchFamily="2" charset="-122"/>
              <a:ea typeface="宋体" panose="02010600030101010101" pitchFamily="2" charset="-122"/>
            </a:endParaRPr>
          </a:p>
          <a:p>
            <a:pPr marL="0" indent="0">
              <a:spcBef>
                <a:spcPct val="0"/>
              </a:spcBef>
              <a:buFont typeface="Arial" panose="020B0604020202020204" pitchFamily="34" charset="0"/>
              <a:buNone/>
            </a:pPr>
            <a:r>
              <a:rPr lang="zh-CN" altLang="en-US" sz="2400" b="1">
                <a:latin typeface="宋体" panose="02010600030101010101" pitchFamily="2" charset="-122"/>
                <a:ea typeface="宋体" panose="02010600030101010101" pitchFamily="2" charset="-122"/>
              </a:rPr>
              <a:t>例：</a:t>
            </a:r>
            <a:r>
              <a:rPr lang="zh-CN" altLang="en-US" sz="2400">
                <a:latin typeface="宋体" panose="02010600030101010101" pitchFamily="2" charset="-122"/>
                <a:ea typeface="宋体" panose="02010600030101010101" pitchFamily="2" charset="-122"/>
              </a:rPr>
              <a:t>牛奶与咖啡的购买关系：</a:t>
            </a:r>
            <a:endParaRPr lang="zh-CN" altLang="en-US" sz="2400">
              <a:latin typeface="宋体" panose="02010600030101010101" pitchFamily="2" charset="-122"/>
              <a:ea typeface="宋体" panose="02010600030101010101" pitchFamily="2" charset="-122"/>
            </a:endParaRPr>
          </a:p>
        </p:txBody>
      </p:sp>
      <p:pic>
        <p:nvPicPr>
          <p:cNvPr id="83972" name="图片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18088" y="1541463"/>
            <a:ext cx="3662362"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4288" y="3066270"/>
            <a:ext cx="8229600" cy="201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椭圆 5"/>
          <p:cNvSpPr/>
          <p:nvPr/>
        </p:nvSpPr>
        <p:spPr>
          <a:xfrm>
            <a:off x="6161088" y="2014538"/>
            <a:ext cx="381000" cy="152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3" name="椭圆 12"/>
          <p:cNvSpPr/>
          <p:nvPr/>
        </p:nvSpPr>
        <p:spPr>
          <a:xfrm>
            <a:off x="6146800" y="2533650"/>
            <a:ext cx="381000" cy="152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5" name="椭圆 14"/>
          <p:cNvSpPr/>
          <p:nvPr/>
        </p:nvSpPr>
        <p:spPr>
          <a:xfrm>
            <a:off x="8051800" y="2022475"/>
            <a:ext cx="381000" cy="152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 name="矩形 2"/>
          <p:cNvSpPr/>
          <p:nvPr/>
        </p:nvSpPr>
        <p:spPr>
          <a:xfrm>
            <a:off x="676909" y="5695396"/>
            <a:ext cx="7514130" cy="1169551"/>
          </a:xfrm>
          <a:prstGeom prst="rect">
            <a:avLst/>
          </a:prstGeom>
          <a:ln>
            <a:solidFill>
              <a:srgbClr val="00B050"/>
            </a:solidFill>
          </a:ln>
        </p:spPr>
        <p:txBody>
          <a:bodyPr wrap="square">
            <a:spAutoFit/>
          </a:bodyPr>
          <a:lstStyle/>
          <a:p>
            <a:pPr>
              <a:lnSpc>
                <a:spcPts val="2800"/>
              </a:lnSpc>
              <a:defRPr/>
            </a:pPr>
            <a:r>
              <a:rPr lang="zh-CN" altLang="en-US" sz="1800" dirty="0">
                <a:latin typeface="+mn-ea"/>
                <a:ea typeface="+mn-ea"/>
              </a:rPr>
              <a:t>零事务</a:t>
            </a:r>
            <a:r>
              <a:rPr lang="zh-CN" altLang="en-US" sz="1800" b="0" dirty="0">
                <a:latin typeface="+mn-ea"/>
                <a:ea typeface="+mn-ea"/>
              </a:rPr>
              <a:t>是</a:t>
            </a:r>
            <a:r>
              <a:rPr lang="zh-CN" altLang="en-US" sz="1800" b="0" dirty="0">
                <a:solidFill>
                  <a:srgbClr val="FF0000"/>
                </a:solidFill>
                <a:latin typeface="+mn-ea"/>
                <a:ea typeface="+mn-ea"/>
              </a:rPr>
              <a:t>不包含任何考察项集</a:t>
            </a:r>
            <a:r>
              <a:rPr lang="zh-CN" altLang="en-US" sz="1800" b="0" dirty="0">
                <a:latin typeface="+mn-ea"/>
                <a:ea typeface="+mn-ea"/>
              </a:rPr>
              <a:t>的事务。如，   表示零事务的个数。</a:t>
            </a:r>
            <a:endParaRPr lang="en-US" altLang="zh-CN" sz="1800" b="0" dirty="0">
              <a:latin typeface="+mn-ea"/>
              <a:ea typeface="+mn-ea"/>
            </a:endParaRPr>
          </a:p>
          <a:p>
            <a:pPr>
              <a:lnSpc>
                <a:spcPts val="2800"/>
              </a:lnSpc>
              <a:defRPr/>
            </a:pPr>
            <a:r>
              <a:rPr lang="zh-CN" altLang="en-US" sz="1800" dirty="0"/>
              <a:t>零不变性</a:t>
            </a:r>
            <a:r>
              <a:rPr lang="zh-CN" altLang="en-US" sz="1800" b="0" dirty="0"/>
              <a:t>：如果度量的值</a:t>
            </a:r>
            <a:r>
              <a:rPr lang="zh-CN" altLang="en-US" sz="1800" b="0" dirty="0">
                <a:solidFill>
                  <a:srgbClr val="FF0000"/>
                </a:solidFill>
              </a:rPr>
              <a:t>不受零事务的影响</a:t>
            </a:r>
            <a:r>
              <a:rPr lang="zh-CN" altLang="en-US" sz="1800" b="0" dirty="0"/>
              <a:t>，则称该度量具有零不变性。</a:t>
            </a:r>
            <a:endParaRPr lang="en-US" altLang="zh-CN" sz="1800" b="0" dirty="0"/>
          </a:p>
          <a:p>
            <a:pPr>
              <a:lnSpc>
                <a:spcPts val="2800"/>
              </a:lnSpc>
              <a:defRPr/>
            </a:pPr>
            <a:r>
              <a:rPr lang="en-US" altLang="zh-CN" sz="1800" b="0" dirty="0"/>
              <a:t>       </a:t>
            </a:r>
            <a:r>
              <a:rPr lang="zh-CN" altLang="en-US" sz="1800" b="0" dirty="0"/>
              <a:t>零不变性是一种</a:t>
            </a:r>
            <a:r>
              <a:rPr lang="zh-CN" altLang="en-US" sz="1800" b="0" dirty="0">
                <a:solidFill>
                  <a:srgbClr val="FF0000"/>
                </a:solidFill>
              </a:rPr>
              <a:t>度量</a:t>
            </a:r>
            <a:r>
              <a:rPr lang="zh-CN" altLang="en-US" sz="1800" b="0" dirty="0"/>
              <a:t>大型事务数据库中的</a:t>
            </a:r>
            <a:r>
              <a:rPr lang="zh-CN" altLang="en-US" sz="1800" b="0" dirty="0">
                <a:solidFill>
                  <a:srgbClr val="FF0000"/>
                </a:solidFill>
              </a:rPr>
              <a:t>关联模式的重要性质</a:t>
            </a:r>
            <a:r>
              <a:rPr lang="zh-CN" altLang="en-US" sz="1800" b="0" dirty="0"/>
              <a:t>。</a:t>
            </a:r>
            <a:endParaRPr lang="zh-CN" altLang="en-US" sz="1800" b="0" dirty="0">
              <a:latin typeface="+mn-ea"/>
              <a:ea typeface="+mn-ea"/>
            </a:endParaRPr>
          </a:p>
        </p:txBody>
      </p:sp>
      <p:pic>
        <p:nvPicPr>
          <p:cNvPr id="7" name="图片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6480" y="5831240"/>
            <a:ext cx="30480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矩形 15"/>
          <p:cNvSpPr/>
          <p:nvPr/>
        </p:nvSpPr>
        <p:spPr>
          <a:xfrm>
            <a:off x="6267568" y="3354020"/>
            <a:ext cx="3058033" cy="509587"/>
          </a:xfrm>
          <a:prstGeom prst="rect">
            <a:avLst/>
          </a:prstGeom>
          <a:noFill/>
          <a:ln w="19050">
            <a:solidFill>
              <a:srgbClr val="FF0000"/>
            </a:solidFill>
          </a:ln>
        </p:spPr>
        <p:txBody>
          <a:bodyPr>
            <a:spAutoFit/>
          </a:bodyPr>
          <a:lstStyle/>
          <a:p>
            <a:pPr>
              <a:defRPr/>
            </a:pPr>
            <a:endParaRPr lang="en-US" altLang="zh-CN" sz="1800" b="0" dirty="0">
              <a:latin typeface="+mn-ea"/>
              <a:ea typeface="+mn-ea"/>
            </a:endParaRPr>
          </a:p>
          <a:p>
            <a:pPr>
              <a:defRPr/>
            </a:pPr>
            <a:endParaRPr lang="en-US" altLang="zh-CN" sz="1800" b="0" dirty="0">
              <a:latin typeface="+mn-ea"/>
              <a:ea typeface="+mn-ea"/>
            </a:endParaRPr>
          </a:p>
          <a:p>
            <a:pPr>
              <a:defRPr/>
            </a:pPr>
            <a:endParaRPr lang="en-US" altLang="zh-CN" sz="1800" b="0" dirty="0">
              <a:latin typeface="+mn-ea"/>
              <a:ea typeface="+mn-ea"/>
            </a:endParaRPr>
          </a:p>
          <a:p>
            <a:pPr>
              <a:defRPr/>
            </a:pPr>
            <a:endParaRPr lang="zh-CN" altLang="en-US" sz="1800" b="0" dirty="0">
              <a:latin typeface="+mn-ea"/>
              <a:ea typeface="+mn-ea"/>
            </a:endParaRPr>
          </a:p>
        </p:txBody>
      </p:sp>
      <p:sp>
        <p:nvSpPr>
          <p:cNvPr id="4" name="矩形 3"/>
          <p:cNvSpPr/>
          <p:nvPr/>
        </p:nvSpPr>
        <p:spPr>
          <a:xfrm>
            <a:off x="9531005" y="3437914"/>
            <a:ext cx="805029" cy="338554"/>
          </a:xfrm>
          <a:prstGeom prst="rect">
            <a:avLst/>
          </a:prstGeom>
        </p:spPr>
        <p:txBody>
          <a:bodyPr wrap="none">
            <a:spAutoFit/>
          </a:bodyPr>
          <a:lstStyle/>
          <a:p>
            <a:pPr defTabSz="1083945">
              <a:defRPr/>
            </a:pPr>
            <a:r>
              <a:rPr lang="zh-CN" altLang="en-US" sz="1600" dirty="0">
                <a:solidFill>
                  <a:srgbClr val="FF0000"/>
                </a:solidFill>
              </a:rPr>
              <a:t>正相关</a:t>
            </a:r>
            <a:endParaRPr lang="zh-CN" altLang="en-US" sz="1600" dirty="0">
              <a:solidFill>
                <a:srgbClr val="FF0000"/>
              </a:solidFill>
            </a:endParaRPr>
          </a:p>
        </p:txBody>
      </p:sp>
      <p:cxnSp>
        <p:nvCxnSpPr>
          <p:cNvPr id="22" name="直接连接符 21"/>
          <p:cNvCxnSpPr/>
          <p:nvPr/>
        </p:nvCxnSpPr>
        <p:spPr>
          <a:xfrm>
            <a:off x="6255376" y="4146691"/>
            <a:ext cx="3170807" cy="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9531005" y="3875799"/>
            <a:ext cx="805029" cy="338554"/>
          </a:xfrm>
          <a:prstGeom prst="rect">
            <a:avLst/>
          </a:prstGeom>
        </p:spPr>
        <p:txBody>
          <a:bodyPr wrap="none">
            <a:spAutoFit/>
          </a:bodyPr>
          <a:lstStyle/>
          <a:p>
            <a:pPr defTabSz="1083945">
              <a:defRPr/>
            </a:pPr>
            <a:r>
              <a:rPr lang="zh-CN" altLang="en-US" sz="1600" dirty="0">
                <a:solidFill>
                  <a:srgbClr val="FF0000"/>
                </a:solidFill>
              </a:rPr>
              <a:t>负相关</a:t>
            </a:r>
            <a:endParaRPr lang="zh-CN" altLang="en-US" sz="1600" dirty="0">
              <a:solidFill>
                <a:srgbClr val="FF0000"/>
              </a:solidFill>
            </a:endParaRPr>
          </a:p>
        </p:txBody>
      </p:sp>
      <p:cxnSp>
        <p:nvCxnSpPr>
          <p:cNvPr id="27" name="直接连接符 26"/>
          <p:cNvCxnSpPr/>
          <p:nvPr/>
        </p:nvCxnSpPr>
        <p:spPr>
          <a:xfrm>
            <a:off x="6255376" y="4464160"/>
            <a:ext cx="3170807" cy="0"/>
          </a:xfrm>
          <a:prstGeom prst="line">
            <a:avLst/>
          </a:prstGeom>
          <a:ln w="19050">
            <a:solidFill>
              <a:srgbClr val="CC00CC"/>
            </a:solidFill>
          </a:ln>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9634398" y="4238737"/>
            <a:ext cx="598241" cy="338554"/>
          </a:xfrm>
          <a:prstGeom prst="rect">
            <a:avLst/>
          </a:prstGeom>
        </p:spPr>
        <p:txBody>
          <a:bodyPr wrap="none">
            <a:spAutoFit/>
          </a:bodyPr>
          <a:lstStyle/>
          <a:p>
            <a:pPr algn="ctr" defTabSz="1083945">
              <a:defRPr/>
            </a:pPr>
            <a:r>
              <a:rPr lang="zh-CN" altLang="en-US" sz="1600" dirty="0">
                <a:solidFill>
                  <a:srgbClr val="FF0000"/>
                </a:solidFill>
              </a:rPr>
              <a:t>中性</a:t>
            </a:r>
            <a:endParaRPr lang="zh-CN" altLang="en-US" sz="1600" dirty="0">
              <a:solidFill>
                <a:srgbClr val="FF0000"/>
              </a:solidFill>
            </a:endParaRPr>
          </a:p>
        </p:txBody>
      </p:sp>
      <p:sp>
        <p:nvSpPr>
          <p:cNvPr id="29" name="矩形 28"/>
          <p:cNvSpPr/>
          <p:nvPr/>
        </p:nvSpPr>
        <p:spPr>
          <a:xfrm>
            <a:off x="4101215" y="3354020"/>
            <a:ext cx="665518" cy="509587"/>
          </a:xfrm>
          <a:prstGeom prst="rect">
            <a:avLst/>
          </a:prstGeom>
          <a:noFill/>
          <a:ln w="19050">
            <a:solidFill>
              <a:srgbClr val="0000FF"/>
            </a:solidFill>
          </a:ln>
        </p:spPr>
        <p:txBody>
          <a:bodyPr>
            <a:spAutoFit/>
          </a:bodyPr>
          <a:lstStyle/>
          <a:p>
            <a:pPr>
              <a:defRPr/>
            </a:pPr>
            <a:endParaRPr lang="en-US" altLang="zh-CN" sz="1800" b="0" dirty="0">
              <a:latin typeface="+mn-ea"/>
              <a:ea typeface="+mn-ea"/>
            </a:endParaRPr>
          </a:p>
          <a:p>
            <a:pPr>
              <a:defRPr/>
            </a:pPr>
            <a:endParaRPr lang="en-US" altLang="zh-CN" sz="1800" b="0" dirty="0">
              <a:latin typeface="+mn-ea"/>
              <a:ea typeface="+mn-ea"/>
            </a:endParaRPr>
          </a:p>
          <a:p>
            <a:pPr>
              <a:defRPr/>
            </a:pPr>
            <a:endParaRPr lang="en-US" altLang="zh-CN" sz="1800" b="0" dirty="0">
              <a:latin typeface="+mn-ea"/>
              <a:ea typeface="+mn-ea"/>
            </a:endParaRPr>
          </a:p>
          <a:p>
            <a:pPr>
              <a:defRPr/>
            </a:pPr>
            <a:endParaRPr lang="zh-CN" altLang="en-US" sz="1800" b="0" dirty="0">
              <a:latin typeface="+mn-ea"/>
              <a:ea typeface="+mn-ea"/>
            </a:endParaRPr>
          </a:p>
        </p:txBody>
      </p:sp>
      <mc:AlternateContent xmlns:mc="http://schemas.openxmlformats.org/markup-compatibility/2006">
        <mc:Choice xmlns:a14="http://schemas.microsoft.com/office/drawing/2010/main" Requires="a14">
          <p:sp>
            <p:nvSpPr>
              <p:cNvPr id="23" name="矩形 22"/>
              <p:cNvSpPr/>
              <p:nvPr/>
            </p:nvSpPr>
            <p:spPr>
              <a:xfrm>
                <a:off x="629678" y="5185582"/>
                <a:ext cx="5637890" cy="407099"/>
              </a:xfrm>
              <a:prstGeom prst="rect">
                <a:avLst/>
              </a:prstGeom>
            </p:spPr>
            <p:txBody>
              <a:bodyPr wrap="none">
                <a:spAutoFit/>
              </a:bodyPr>
              <a:lstStyle/>
              <a:p>
                <a:pPr defTabSz="1083945">
                  <a:defRPr/>
                </a:pPr>
                <a:r>
                  <a:rPr lang="zh-CN" altLang="en-US" sz="2000" dirty="0">
                    <a:solidFill>
                      <a:srgbClr val="FF0000"/>
                    </a:solidFill>
                  </a:rPr>
                  <a:t>为什么提升度和</a:t>
                </a:r>
                <a14:m>
                  <m:oMath xmlns:m="http://schemas.openxmlformats.org/officeDocument/2006/math">
                    <m:sSup>
                      <m:sSupPr>
                        <m:ctrlPr>
                          <a:rPr lang="en-US" altLang="zh-CN" sz="2000" i="1" smtClean="0">
                            <a:solidFill>
                              <a:srgbClr val="FF0000"/>
                            </a:solidFill>
                            <a:latin typeface="Cambria Math" panose="02040503050406030204" pitchFamily="18" charset="0"/>
                          </a:rPr>
                        </m:ctrlPr>
                      </m:sSupPr>
                      <m:e>
                        <m:r>
                          <a:rPr lang="zh-CN" altLang="en-US" sz="2000" i="1" smtClean="0">
                            <a:solidFill>
                              <a:srgbClr val="FF0000"/>
                            </a:solidFill>
                            <a:latin typeface="Cambria Math" panose="02040503050406030204" pitchFamily="18" charset="0"/>
                          </a:rPr>
                          <m:t>𝝌</m:t>
                        </m:r>
                      </m:e>
                      <m:sup>
                        <m:r>
                          <a:rPr lang="en-US" altLang="zh-CN" sz="2000" b="1" i="1" smtClean="0">
                            <a:solidFill>
                              <a:srgbClr val="FF0000"/>
                            </a:solidFill>
                            <a:latin typeface="Cambria Math" panose="02040503050406030204" pitchFamily="18" charset="0"/>
                          </a:rPr>
                          <m:t>𝟐</m:t>
                        </m:r>
                      </m:sup>
                    </m:sSup>
                  </m:oMath>
                </a14:m>
                <a:r>
                  <a:rPr lang="zh-CN" altLang="en-US" sz="2000" dirty="0">
                    <a:solidFill>
                      <a:srgbClr val="FF0000"/>
                    </a:solidFill>
                  </a:rPr>
                  <a:t>识别关联关系的能力这么差？</a:t>
                </a:r>
                <a:endParaRPr lang="zh-CN" altLang="en-US" sz="2000" dirty="0">
                  <a:solidFill>
                    <a:srgbClr val="FF0000"/>
                  </a:solidFill>
                </a:endParaRPr>
              </a:p>
            </p:txBody>
          </p:sp>
        </mc:Choice>
        <mc:Fallback>
          <p:sp>
            <p:nvSpPr>
              <p:cNvPr id="23" name="矩形 22"/>
              <p:cNvSpPr>
                <a:spLocks noRot="1" noChangeAspect="1" noMove="1" noResize="1" noEditPoints="1" noAdjustHandles="1" noChangeArrowheads="1" noChangeShapeType="1" noTextEdit="1"/>
              </p:cNvSpPr>
              <p:nvPr/>
            </p:nvSpPr>
            <p:spPr>
              <a:xfrm>
                <a:off x="629678" y="5185582"/>
                <a:ext cx="5637890" cy="407099"/>
              </a:xfrm>
              <a:prstGeom prst="rect">
                <a:avLst/>
              </a:prstGeom>
              <a:blipFill rotWithShape="1">
                <a:blip r:embed="rId4"/>
                <a:stretch>
                  <a:fillRect l="-7" t="-42" r="2" b="58"/>
                </a:stretch>
              </a:blipFill>
            </p:spPr>
            <p:txBody>
              <a:bodyPr/>
              <a:lstStyle/>
              <a:p>
                <a:r>
                  <a:rPr lang="zh-CN" altLang="en-US">
                    <a:noFill/>
                  </a:rPr>
                  <a:t> </a:t>
                </a:r>
              </a:p>
            </p:txBody>
          </p:sp>
        </mc:Fallback>
      </mc:AlternateContent>
      <p:sp>
        <p:nvSpPr>
          <p:cNvPr id="31" name="矩形 30"/>
          <p:cNvSpPr/>
          <p:nvPr/>
        </p:nvSpPr>
        <p:spPr>
          <a:xfrm>
            <a:off x="1970971" y="3933652"/>
            <a:ext cx="665518" cy="509587"/>
          </a:xfrm>
          <a:prstGeom prst="rect">
            <a:avLst/>
          </a:prstGeom>
          <a:noFill/>
          <a:ln w="19050">
            <a:solidFill>
              <a:srgbClr val="0000FF"/>
            </a:solidFill>
          </a:ln>
        </p:spPr>
        <p:txBody>
          <a:bodyPr>
            <a:spAutoFit/>
          </a:bodyPr>
          <a:lstStyle/>
          <a:p>
            <a:pPr>
              <a:defRPr/>
            </a:pPr>
            <a:endParaRPr lang="en-US" altLang="zh-CN" sz="1800" b="0" dirty="0">
              <a:latin typeface="+mn-ea"/>
              <a:ea typeface="+mn-ea"/>
            </a:endParaRPr>
          </a:p>
          <a:p>
            <a:pPr>
              <a:defRPr/>
            </a:pPr>
            <a:endParaRPr lang="en-US" altLang="zh-CN" sz="1800" b="0" dirty="0">
              <a:latin typeface="+mn-ea"/>
              <a:ea typeface="+mn-ea"/>
            </a:endParaRPr>
          </a:p>
          <a:p>
            <a:pPr>
              <a:defRPr/>
            </a:pPr>
            <a:endParaRPr lang="en-US" altLang="zh-CN" sz="1800" b="0" dirty="0">
              <a:latin typeface="+mn-ea"/>
              <a:ea typeface="+mn-ea"/>
            </a:endParaRPr>
          </a:p>
          <a:p>
            <a:pPr>
              <a:defRPr/>
            </a:pPr>
            <a:endParaRPr lang="zh-CN" altLang="en-US" sz="1800" b="0" dirty="0">
              <a:latin typeface="+mn-ea"/>
              <a:ea typeface="+mn-ea"/>
            </a:endParaRPr>
          </a:p>
        </p:txBody>
      </p:sp>
      <mc:AlternateContent xmlns:mc="http://schemas.openxmlformats.org/markup-compatibility/2006">
        <mc:Choice xmlns:a14="http://schemas.microsoft.com/office/drawing/2010/main" Requires="a14">
          <p:sp>
            <p:nvSpPr>
              <p:cNvPr id="24" name="矩形 23"/>
              <p:cNvSpPr/>
              <p:nvPr/>
            </p:nvSpPr>
            <p:spPr>
              <a:xfrm>
                <a:off x="6385814" y="5201355"/>
                <a:ext cx="3233514" cy="375552"/>
              </a:xfrm>
              <a:prstGeom prst="rect">
                <a:avLst/>
              </a:prstGeom>
              <a:solidFill>
                <a:schemeClr val="accent6">
                  <a:lumMod val="60000"/>
                  <a:lumOff val="40000"/>
                </a:schemeClr>
              </a:solidFill>
            </p:spPr>
            <p:txBody>
              <a:bodyPr wrap="none">
                <a:spAutoFit/>
              </a:bodyPr>
              <a:lstStyle/>
              <a:p>
                <a:pPr algn="ctr"/>
                <a:r>
                  <a:rPr lang="zh-CN" altLang="en-US" sz="1800" dirty="0">
                    <a:solidFill>
                      <a:srgbClr val="FF0000"/>
                    </a:solidFill>
                  </a:rPr>
                  <a:t>提升度和</a:t>
                </a:r>
                <a14:m>
                  <m:oMath xmlns:m="http://schemas.openxmlformats.org/officeDocument/2006/math">
                    <m:sSup>
                      <m:sSupPr>
                        <m:ctrlPr>
                          <a:rPr lang="en-US" altLang="zh-CN" sz="1800" i="1">
                            <a:solidFill>
                              <a:srgbClr val="FF0000"/>
                            </a:solidFill>
                            <a:latin typeface="Cambria Math" panose="02040503050406030204" pitchFamily="18" charset="0"/>
                          </a:rPr>
                        </m:ctrlPr>
                      </m:sSupPr>
                      <m:e>
                        <m:r>
                          <a:rPr lang="zh-CN" altLang="en-US" sz="1800" i="1">
                            <a:solidFill>
                              <a:srgbClr val="FF0000"/>
                            </a:solidFill>
                            <a:latin typeface="Cambria Math" panose="02040503050406030204" pitchFamily="18" charset="0"/>
                          </a:rPr>
                          <m:t>𝝌</m:t>
                        </m:r>
                      </m:e>
                      <m:sup>
                        <m:r>
                          <a:rPr lang="en-US" altLang="zh-CN" sz="1800" i="1">
                            <a:solidFill>
                              <a:srgbClr val="FF0000"/>
                            </a:solidFill>
                            <a:latin typeface="Cambria Math" panose="02040503050406030204" pitchFamily="18" charset="0"/>
                          </a:rPr>
                          <m:t>𝟐</m:t>
                        </m:r>
                      </m:sup>
                    </m:sSup>
                    <m:r>
                      <a:rPr lang="zh-CN" altLang="en-US" sz="1800" i="1" smtClean="0">
                        <a:solidFill>
                          <a:srgbClr val="FF0000"/>
                        </a:solidFill>
                        <a:latin typeface="Cambria Math" panose="02040503050406030204" pitchFamily="18" charset="0"/>
                      </a:rPr>
                      <m:t>不是</m:t>
                    </m:r>
                  </m:oMath>
                </a14:m>
                <a:r>
                  <a:rPr lang="zh-CN" altLang="en-US" sz="1800" dirty="0">
                    <a:solidFill>
                      <a:srgbClr val="FF0000"/>
                    </a:solidFill>
                  </a:rPr>
                  <a:t>零不变度量！</a:t>
                </a:r>
                <a:endParaRPr lang="zh-CN" altLang="en-US" sz="1800" dirty="0">
                  <a:solidFill>
                    <a:srgbClr val="FF0000"/>
                  </a:solidFill>
                </a:endParaRPr>
              </a:p>
            </p:txBody>
          </p:sp>
        </mc:Choice>
        <mc:Fallback>
          <p:sp>
            <p:nvSpPr>
              <p:cNvPr id="24" name="矩形 23"/>
              <p:cNvSpPr>
                <a:spLocks noRot="1" noChangeAspect="1" noMove="1" noResize="1" noEditPoints="1" noAdjustHandles="1" noChangeArrowheads="1" noChangeShapeType="1" noTextEdit="1"/>
              </p:cNvSpPr>
              <p:nvPr/>
            </p:nvSpPr>
            <p:spPr>
              <a:xfrm>
                <a:off x="6385814" y="5201355"/>
                <a:ext cx="3233514" cy="375552"/>
              </a:xfrm>
              <a:prstGeom prst="rect">
                <a:avLst/>
              </a:prstGeom>
              <a:blipFill rotWithShape="1">
                <a:blip r:embed="rId5"/>
                <a:stretch>
                  <a:fillRect l="-8" t="-19" r="11" b="90"/>
                </a:stretch>
              </a:blipFill>
            </p:spPr>
            <p:txBody>
              <a:bodyPr/>
              <a:lstStyle/>
              <a:p>
                <a:r>
                  <a:rPr lang="zh-CN" altLang="en-US">
                    <a:noFill/>
                  </a:rPr>
                  <a:t> </a:t>
                </a:r>
              </a:p>
            </p:txBody>
          </p:sp>
        </mc:Fallback>
      </mc:AlternateContent>
      <p:sp>
        <p:nvSpPr>
          <p:cNvPr id="25" name="矩形 24"/>
          <p:cNvSpPr/>
          <p:nvPr/>
        </p:nvSpPr>
        <p:spPr>
          <a:xfrm>
            <a:off x="8286148" y="5664618"/>
            <a:ext cx="2280069" cy="1200329"/>
          </a:xfrm>
          <a:prstGeom prst="rect">
            <a:avLst/>
          </a:prstGeom>
          <a:solidFill>
            <a:srgbClr val="FFFF00"/>
          </a:solidFill>
        </p:spPr>
        <p:txBody>
          <a:bodyPr wrap="square">
            <a:spAutoFit/>
          </a:bodyPr>
          <a:lstStyle/>
          <a:p>
            <a:pPr algn="ctr"/>
            <a:r>
              <a:rPr lang="zh-CN" altLang="en-US" sz="1800" dirty="0"/>
              <a:t>对于指示有趣的模式联系，全置信度、最大置信度、Kulc和余弦度量</a:t>
            </a:r>
            <a:r>
              <a:rPr lang="zh-CN" altLang="en-US" sz="1800" dirty="0">
                <a:solidFill>
                  <a:srgbClr val="FF0000"/>
                </a:solidFill>
              </a:rPr>
              <a:t>哪个最好</a:t>
            </a:r>
            <a:r>
              <a:rPr lang="zh-CN" altLang="en-US" sz="1800" dirty="0"/>
              <a:t>？</a:t>
            </a:r>
            <a:endParaRPr lang="zh-CN" altLang="en-US" sz="1800" dirty="0"/>
          </a:p>
        </p:txBody>
      </p:sp>
      <p:cxnSp>
        <p:nvCxnSpPr>
          <p:cNvPr id="8" name="直接连接符 7"/>
          <p:cNvCxnSpPr/>
          <p:nvPr/>
        </p:nvCxnSpPr>
        <p:spPr>
          <a:xfrm>
            <a:off x="6125707" y="3052922"/>
            <a:ext cx="0" cy="2014538"/>
          </a:xfrm>
          <a:prstGeom prst="line">
            <a:avLst/>
          </a:prstGeom>
          <a:ln w="19050"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
                                            <p:txEl>
                                              <p:pRg st="0" end="0"/>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
                                            <p:txEl>
                                              <p:pRg st="1" end="1"/>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3" grpId="0" animBg="1"/>
      <p:bldP spid="15" grpId="0" animBg="1"/>
      <p:bldP spid="3" grpId="0" animBg="1"/>
      <p:bldP spid="16" grpId="0" animBg="1"/>
      <p:bldP spid="4" grpId="0"/>
      <p:bldP spid="26" grpId="0"/>
      <p:bldP spid="28" grpId="0"/>
      <p:bldP spid="29" grpId="0" animBg="1"/>
      <p:bldP spid="31" grpId="0" animBg="1"/>
      <p:bldP spid="25" grpId="0" animBg="1"/>
      <p:bldP spid="23" grpId="0"/>
      <p:bldP spid="23" grpId="1"/>
      <p:bldP spid="24" grpId="0" animBg="1"/>
      <p:bldP spid="24" grpId="1"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a:t>
            </a:r>
            <a:r>
              <a:rPr lang="en-US" altLang="zh-CN" sz="4400" dirty="0">
                <a:latin typeface="楷体" panose="02010609060101010101" pitchFamily="49" charset="-122"/>
                <a:ea typeface="楷体" panose="02010609060101010101" pitchFamily="49" charset="-122"/>
              </a:rPr>
              <a:t>6.3 </a:t>
            </a:r>
            <a:r>
              <a:rPr lang="zh-CN" altLang="en-US" sz="4400" dirty="0">
                <a:latin typeface="楷体" panose="02010609060101010101" pitchFamily="49" charset="-122"/>
                <a:ea typeface="楷体" panose="02010609060101010101" pitchFamily="49" charset="-122"/>
              </a:rPr>
              <a:t>哪些模式是有趣的：模式评估方法</a:t>
            </a:r>
            <a:endParaRPr lang="zh-CN" altLang="en-US" sz="4400" dirty="0">
              <a:latin typeface="楷体" panose="02010609060101010101" pitchFamily="49" charset="-122"/>
              <a:ea typeface="楷体" panose="02010609060101010101" pitchFamily="49" charset="-122"/>
            </a:endParaRPr>
          </a:p>
        </p:txBody>
      </p:sp>
      <p:sp>
        <p:nvSpPr>
          <p:cNvPr id="83971" name="Rectangle 3"/>
          <p:cNvSpPr>
            <a:spLocks noGrp="1" noChangeArrowheads="1"/>
          </p:cNvSpPr>
          <p:nvPr>
            <p:ph idx="1"/>
          </p:nvPr>
        </p:nvSpPr>
        <p:spPr>
          <a:xfrm>
            <a:off x="522288" y="1160463"/>
            <a:ext cx="9906000" cy="1524000"/>
          </a:xfrm>
        </p:spPr>
        <p:txBody>
          <a:bodyPr/>
          <a:lstStyle/>
          <a:p>
            <a:pPr marL="0" indent="0">
              <a:spcBef>
                <a:spcPct val="0"/>
              </a:spcBef>
              <a:buFont typeface="Arial" panose="020B0604020202020204" pitchFamily="34" charset="0"/>
              <a:buNone/>
            </a:pPr>
            <a:r>
              <a:rPr lang="en-US" altLang="zh-CN" sz="2400" b="1">
                <a:solidFill>
                  <a:srgbClr val="0000FF"/>
                </a:solidFill>
                <a:latin typeface="宋体" panose="02010600030101010101" pitchFamily="2" charset="-122"/>
                <a:ea typeface="宋体" panose="02010600030101010101" pitchFamily="2" charset="-122"/>
              </a:rPr>
              <a:t>3</a:t>
            </a:r>
            <a:r>
              <a:rPr lang="zh-CN" altLang="en-US" sz="2400" b="1">
                <a:solidFill>
                  <a:srgbClr val="0000FF"/>
                </a:solidFill>
                <a:latin typeface="宋体" panose="02010600030101010101" pitchFamily="2" charset="-122"/>
                <a:ea typeface="宋体" panose="02010600030101010101" pitchFamily="2" charset="-122"/>
              </a:rPr>
              <a:t>、模式评估度量比较</a:t>
            </a:r>
            <a:endParaRPr lang="en-US" altLang="zh-CN" sz="2400" b="1">
              <a:solidFill>
                <a:srgbClr val="0000FF"/>
              </a:solidFill>
              <a:latin typeface="宋体" panose="02010600030101010101" pitchFamily="2" charset="-122"/>
              <a:ea typeface="宋体" panose="02010600030101010101" pitchFamily="2" charset="-122"/>
            </a:endParaRPr>
          </a:p>
          <a:p>
            <a:pPr marL="0" indent="0">
              <a:spcBef>
                <a:spcPct val="0"/>
              </a:spcBef>
              <a:buFont typeface="Arial" panose="020B0604020202020204" pitchFamily="34" charset="0"/>
              <a:buNone/>
            </a:pPr>
            <a:r>
              <a:rPr lang="zh-CN" altLang="en-US" sz="2400" b="1">
                <a:latin typeface="宋体" panose="02010600030101010101" pitchFamily="2" charset="-122"/>
                <a:ea typeface="宋体" panose="02010600030101010101" pitchFamily="2" charset="-122"/>
              </a:rPr>
              <a:t>例：</a:t>
            </a:r>
            <a:r>
              <a:rPr lang="zh-CN" altLang="en-US" sz="2400">
                <a:latin typeface="宋体" panose="02010600030101010101" pitchFamily="2" charset="-122"/>
                <a:ea typeface="宋体" panose="02010600030101010101" pitchFamily="2" charset="-122"/>
              </a:rPr>
              <a:t>牛奶与咖啡的购买关系：</a:t>
            </a:r>
            <a:endParaRPr lang="zh-CN" altLang="en-US" sz="2400">
              <a:latin typeface="宋体" panose="02010600030101010101" pitchFamily="2" charset="-122"/>
              <a:ea typeface="宋体" panose="02010600030101010101" pitchFamily="2" charset="-122"/>
            </a:endParaRPr>
          </a:p>
        </p:txBody>
      </p:sp>
      <p:pic>
        <p:nvPicPr>
          <p:cNvPr id="83972" name="图片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18088" y="1541463"/>
            <a:ext cx="3662362"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4288" y="3066270"/>
            <a:ext cx="8229600" cy="201453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6" name="椭圆 5"/>
          <p:cNvSpPr/>
          <p:nvPr/>
        </p:nvSpPr>
        <p:spPr>
          <a:xfrm>
            <a:off x="6161088" y="2014538"/>
            <a:ext cx="381000" cy="152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3" name="椭圆 12"/>
          <p:cNvSpPr/>
          <p:nvPr/>
        </p:nvSpPr>
        <p:spPr>
          <a:xfrm>
            <a:off x="6146800" y="2533650"/>
            <a:ext cx="381000" cy="152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5" name="椭圆 14"/>
          <p:cNvSpPr/>
          <p:nvPr/>
        </p:nvSpPr>
        <p:spPr>
          <a:xfrm>
            <a:off x="8051800" y="2022475"/>
            <a:ext cx="381000" cy="152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4" name="矩形 13"/>
          <p:cNvSpPr/>
          <p:nvPr/>
        </p:nvSpPr>
        <p:spPr>
          <a:xfrm>
            <a:off x="2848819" y="4490258"/>
            <a:ext cx="1071824" cy="509587"/>
          </a:xfrm>
          <a:prstGeom prst="rect">
            <a:avLst/>
          </a:prstGeom>
          <a:noFill/>
          <a:ln w="19050">
            <a:solidFill>
              <a:srgbClr val="0000FF"/>
            </a:solidFill>
          </a:ln>
        </p:spPr>
        <p:txBody>
          <a:bodyPr>
            <a:spAutoFit/>
          </a:bodyPr>
          <a:lstStyle/>
          <a:p>
            <a:pPr>
              <a:defRPr/>
            </a:pPr>
            <a:endParaRPr lang="en-US" altLang="zh-CN" sz="1800" b="0" dirty="0">
              <a:latin typeface="+mn-ea"/>
              <a:ea typeface="+mn-ea"/>
            </a:endParaRPr>
          </a:p>
          <a:p>
            <a:pPr>
              <a:defRPr/>
            </a:pPr>
            <a:endParaRPr lang="en-US" altLang="zh-CN" sz="1800" b="0" dirty="0">
              <a:latin typeface="+mn-ea"/>
              <a:ea typeface="+mn-ea"/>
            </a:endParaRPr>
          </a:p>
          <a:p>
            <a:pPr>
              <a:defRPr/>
            </a:pPr>
            <a:endParaRPr lang="en-US" altLang="zh-CN" sz="1800" b="0" dirty="0">
              <a:latin typeface="+mn-ea"/>
              <a:ea typeface="+mn-ea"/>
            </a:endParaRPr>
          </a:p>
          <a:p>
            <a:pPr>
              <a:defRPr/>
            </a:pPr>
            <a:endParaRPr lang="zh-CN" altLang="en-US" sz="1800" b="0" dirty="0">
              <a:latin typeface="+mn-ea"/>
              <a:ea typeface="+mn-ea"/>
            </a:endParaRPr>
          </a:p>
        </p:txBody>
      </p:sp>
      <p:sp>
        <p:nvSpPr>
          <p:cNvPr id="16" name="矩形 15"/>
          <p:cNvSpPr/>
          <p:nvPr/>
        </p:nvSpPr>
        <p:spPr>
          <a:xfrm>
            <a:off x="6267568" y="3354020"/>
            <a:ext cx="3058033" cy="509587"/>
          </a:xfrm>
          <a:prstGeom prst="rect">
            <a:avLst/>
          </a:prstGeom>
          <a:noFill/>
          <a:ln w="19050">
            <a:solidFill>
              <a:srgbClr val="FF0000"/>
            </a:solidFill>
          </a:ln>
        </p:spPr>
        <p:txBody>
          <a:bodyPr>
            <a:spAutoFit/>
          </a:bodyPr>
          <a:lstStyle/>
          <a:p>
            <a:pPr>
              <a:defRPr/>
            </a:pPr>
            <a:endParaRPr lang="en-US" altLang="zh-CN" sz="1800" b="0" dirty="0">
              <a:latin typeface="+mn-ea"/>
              <a:ea typeface="+mn-ea"/>
            </a:endParaRPr>
          </a:p>
          <a:p>
            <a:pPr>
              <a:defRPr/>
            </a:pPr>
            <a:endParaRPr lang="en-US" altLang="zh-CN" sz="1800" b="0" dirty="0">
              <a:latin typeface="+mn-ea"/>
              <a:ea typeface="+mn-ea"/>
            </a:endParaRPr>
          </a:p>
          <a:p>
            <a:pPr>
              <a:defRPr/>
            </a:pPr>
            <a:endParaRPr lang="en-US" altLang="zh-CN" sz="1800" b="0" dirty="0">
              <a:latin typeface="+mn-ea"/>
              <a:ea typeface="+mn-ea"/>
            </a:endParaRPr>
          </a:p>
          <a:p>
            <a:pPr>
              <a:defRPr/>
            </a:pPr>
            <a:endParaRPr lang="zh-CN" altLang="en-US" sz="1800" b="0" dirty="0">
              <a:latin typeface="+mn-ea"/>
              <a:ea typeface="+mn-ea"/>
            </a:endParaRPr>
          </a:p>
        </p:txBody>
      </p:sp>
      <p:sp>
        <p:nvSpPr>
          <p:cNvPr id="4" name="矩形 3"/>
          <p:cNvSpPr/>
          <p:nvPr/>
        </p:nvSpPr>
        <p:spPr>
          <a:xfrm>
            <a:off x="9531005" y="3437914"/>
            <a:ext cx="805029" cy="338554"/>
          </a:xfrm>
          <a:prstGeom prst="rect">
            <a:avLst/>
          </a:prstGeom>
        </p:spPr>
        <p:txBody>
          <a:bodyPr wrap="none">
            <a:spAutoFit/>
          </a:bodyPr>
          <a:lstStyle/>
          <a:p>
            <a:pPr defTabSz="1083945">
              <a:defRPr/>
            </a:pPr>
            <a:r>
              <a:rPr lang="zh-CN" altLang="en-US" sz="1600" dirty="0">
                <a:solidFill>
                  <a:srgbClr val="FF0000"/>
                </a:solidFill>
              </a:rPr>
              <a:t>正相关</a:t>
            </a:r>
            <a:endParaRPr lang="zh-CN" altLang="en-US" sz="1600" dirty="0">
              <a:solidFill>
                <a:srgbClr val="FF0000"/>
              </a:solidFill>
            </a:endParaRPr>
          </a:p>
        </p:txBody>
      </p:sp>
      <p:cxnSp>
        <p:nvCxnSpPr>
          <p:cNvPr id="22" name="直接连接符 21"/>
          <p:cNvCxnSpPr/>
          <p:nvPr/>
        </p:nvCxnSpPr>
        <p:spPr>
          <a:xfrm>
            <a:off x="6255376" y="4146691"/>
            <a:ext cx="3170807" cy="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9531005" y="3875799"/>
            <a:ext cx="805029" cy="338554"/>
          </a:xfrm>
          <a:prstGeom prst="rect">
            <a:avLst/>
          </a:prstGeom>
        </p:spPr>
        <p:txBody>
          <a:bodyPr wrap="none">
            <a:spAutoFit/>
          </a:bodyPr>
          <a:lstStyle/>
          <a:p>
            <a:pPr defTabSz="1083945">
              <a:defRPr/>
            </a:pPr>
            <a:r>
              <a:rPr lang="zh-CN" altLang="en-US" sz="1600" dirty="0">
                <a:solidFill>
                  <a:srgbClr val="FF0000"/>
                </a:solidFill>
              </a:rPr>
              <a:t>负相关</a:t>
            </a:r>
            <a:endParaRPr lang="zh-CN" altLang="en-US" sz="1600" dirty="0">
              <a:solidFill>
                <a:srgbClr val="FF0000"/>
              </a:solidFill>
            </a:endParaRPr>
          </a:p>
        </p:txBody>
      </p:sp>
      <p:cxnSp>
        <p:nvCxnSpPr>
          <p:cNvPr id="27" name="直接连接符 26"/>
          <p:cNvCxnSpPr/>
          <p:nvPr/>
        </p:nvCxnSpPr>
        <p:spPr>
          <a:xfrm>
            <a:off x="6255376" y="4464160"/>
            <a:ext cx="3170807" cy="0"/>
          </a:xfrm>
          <a:prstGeom prst="line">
            <a:avLst/>
          </a:prstGeom>
          <a:ln w="19050">
            <a:solidFill>
              <a:srgbClr val="CC00CC"/>
            </a:solidFill>
          </a:ln>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9634398" y="4238737"/>
            <a:ext cx="598241" cy="338554"/>
          </a:xfrm>
          <a:prstGeom prst="rect">
            <a:avLst/>
          </a:prstGeom>
        </p:spPr>
        <p:txBody>
          <a:bodyPr wrap="none">
            <a:spAutoFit/>
          </a:bodyPr>
          <a:lstStyle/>
          <a:p>
            <a:pPr algn="ctr" defTabSz="1083945">
              <a:defRPr/>
            </a:pPr>
            <a:r>
              <a:rPr lang="zh-CN" altLang="en-US" sz="1600" dirty="0">
                <a:solidFill>
                  <a:srgbClr val="FF0000"/>
                </a:solidFill>
              </a:rPr>
              <a:t>中性</a:t>
            </a:r>
            <a:endParaRPr lang="zh-CN" altLang="en-US" sz="1600" dirty="0">
              <a:solidFill>
                <a:srgbClr val="FF0000"/>
              </a:solidFill>
            </a:endParaRPr>
          </a:p>
        </p:txBody>
      </p:sp>
      <p:sp>
        <p:nvSpPr>
          <p:cNvPr id="29" name="矩形 28"/>
          <p:cNvSpPr/>
          <p:nvPr/>
        </p:nvSpPr>
        <p:spPr>
          <a:xfrm>
            <a:off x="4101215" y="3354020"/>
            <a:ext cx="665518" cy="509587"/>
          </a:xfrm>
          <a:prstGeom prst="rect">
            <a:avLst/>
          </a:prstGeom>
          <a:noFill/>
          <a:ln w="19050">
            <a:solidFill>
              <a:srgbClr val="0000FF"/>
            </a:solidFill>
          </a:ln>
        </p:spPr>
        <p:txBody>
          <a:bodyPr>
            <a:spAutoFit/>
          </a:bodyPr>
          <a:lstStyle/>
          <a:p>
            <a:pPr>
              <a:defRPr/>
            </a:pPr>
            <a:endParaRPr lang="en-US" altLang="zh-CN" sz="1800" b="0" dirty="0">
              <a:latin typeface="+mn-ea"/>
              <a:ea typeface="+mn-ea"/>
            </a:endParaRPr>
          </a:p>
          <a:p>
            <a:pPr>
              <a:defRPr/>
            </a:pPr>
            <a:endParaRPr lang="en-US" altLang="zh-CN" sz="1800" b="0" dirty="0">
              <a:latin typeface="+mn-ea"/>
              <a:ea typeface="+mn-ea"/>
            </a:endParaRPr>
          </a:p>
          <a:p>
            <a:pPr>
              <a:defRPr/>
            </a:pPr>
            <a:endParaRPr lang="en-US" altLang="zh-CN" sz="1800" b="0" dirty="0">
              <a:latin typeface="+mn-ea"/>
              <a:ea typeface="+mn-ea"/>
            </a:endParaRPr>
          </a:p>
          <a:p>
            <a:pPr>
              <a:defRPr/>
            </a:pPr>
            <a:endParaRPr lang="zh-CN" altLang="en-US" sz="1800" b="0" dirty="0">
              <a:latin typeface="+mn-ea"/>
              <a:ea typeface="+mn-ea"/>
            </a:endParaRPr>
          </a:p>
        </p:txBody>
      </p:sp>
      <p:sp>
        <p:nvSpPr>
          <p:cNvPr id="31" name="矩形 30"/>
          <p:cNvSpPr/>
          <p:nvPr/>
        </p:nvSpPr>
        <p:spPr>
          <a:xfrm>
            <a:off x="1970971" y="3933652"/>
            <a:ext cx="665518" cy="509587"/>
          </a:xfrm>
          <a:prstGeom prst="rect">
            <a:avLst/>
          </a:prstGeom>
          <a:noFill/>
          <a:ln w="19050">
            <a:solidFill>
              <a:srgbClr val="0000FF"/>
            </a:solidFill>
          </a:ln>
        </p:spPr>
        <p:txBody>
          <a:bodyPr>
            <a:spAutoFit/>
          </a:bodyPr>
          <a:lstStyle/>
          <a:p>
            <a:pPr>
              <a:defRPr/>
            </a:pPr>
            <a:endParaRPr lang="en-US" altLang="zh-CN" sz="1800" b="0" dirty="0">
              <a:latin typeface="+mn-ea"/>
              <a:ea typeface="+mn-ea"/>
            </a:endParaRPr>
          </a:p>
          <a:p>
            <a:pPr>
              <a:defRPr/>
            </a:pPr>
            <a:endParaRPr lang="en-US" altLang="zh-CN" sz="1800" b="0" dirty="0">
              <a:latin typeface="+mn-ea"/>
              <a:ea typeface="+mn-ea"/>
            </a:endParaRPr>
          </a:p>
          <a:p>
            <a:pPr>
              <a:defRPr/>
            </a:pPr>
            <a:endParaRPr lang="en-US" altLang="zh-CN" sz="1800" b="0" dirty="0">
              <a:latin typeface="+mn-ea"/>
              <a:ea typeface="+mn-ea"/>
            </a:endParaRPr>
          </a:p>
          <a:p>
            <a:pPr>
              <a:defRPr/>
            </a:pPr>
            <a:endParaRPr lang="zh-CN" altLang="en-US" sz="1800" b="0" dirty="0">
              <a:latin typeface="+mn-ea"/>
              <a:ea typeface="+mn-ea"/>
            </a:endParaRPr>
          </a:p>
        </p:txBody>
      </p:sp>
      <p:sp>
        <p:nvSpPr>
          <p:cNvPr id="21" name="矩形 20"/>
          <p:cNvSpPr/>
          <p:nvPr/>
        </p:nvSpPr>
        <p:spPr>
          <a:xfrm>
            <a:off x="1230491" y="5363892"/>
            <a:ext cx="6591300" cy="369888"/>
          </a:xfrm>
          <a:prstGeom prst="rect">
            <a:avLst/>
          </a:prstGeom>
        </p:spPr>
        <p:txBody>
          <a:bodyPr wrap="none">
            <a:spAutoFit/>
          </a:bodyPr>
          <a:lstStyle/>
          <a:p>
            <a:pPr>
              <a:defRPr/>
            </a:pPr>
            <a:r>
              <a:rPr lang="zh-CN" altLang="en-US" sz="1800" dirty="0">
                <a:latin typeface="+mn-ea"/>
                <a:ea typeface="+mn-ea"/>
              </a:rPr>
              <a:t>不平衡比(Imbalance Ratio)评估两个项集A和B的不平衡程度：</a:t>
            </a:r>
            <a:endParaRPr lang="zh-CN" altLang="en-US" sz="1800" dirty="0">
              <a:latin typeface="+mn-ea"/>
              <a:ea typeface="+mn-ea"/>
            </a:endParaRPr>
          </a:p>
        </p:txBody>
      </p:sp>
      <p:pic>
        <p:nvPicPr>
          <p:cNvPr id="24" name="图片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6613" y="5863387"/>
            <a:ext cx="4006850"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文本框 2"/>
          <p:cNvSpPr txBox="1">
            <a:spLocks noChangeArrowheads="1"/>
          </p:cNvSpPr>
          <p:nvPr/>
        </p:nvSpPr>
        <p:spPr bwMode="auto">
          <a:xfrm>
            <a:off x="1256754" y="6597322"/>
            <a:ext cx="6308725"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1084580">
              <a:spcBef>
                <a:spcPct val="20000"/>
              </a:spcBef>
              <a:buFont typeface="Arial" panose="020B0604020202020204" pitchFamily="34" charset="0"/>
              <a:buChar char="•"/>
              <a:defRPr sz="3000">
                <a:solidFill>
                  <a:schemeClr val="tx1"/>
                </a:solidFill>
                <a:latin typeface="Calibri" panose="020F0502020204030204" pitchFamily="34" charset="0"/>
                <a:ea typeface="PMingLiU" panose="02020500000000000000" pitchFamily="18" charset="-120"/>
              </a:defRPr>
            </a:lvl1pPr>
            <a:lvl2pPr marL="706755" indent="-271780" defTabSz="108458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2pPr>
            <a:lvl3pPr marL="1085850" indent="-215900" defTabSz="1084580">
              <a:spcBef>
                <a:spcPct val="20000"/>
              </a:spcBef>
              <a:buFont typeface="Arial" panose="020B0604020202020204" pitchFamily="34" charset="0"/>
              <a:buChar char="•"/>
              <a:defRPr sz="2200">
                <a:solidFill>
                  <a:schemeClr val="tx1"/>
                </a:solidFill>
                <a:latin typeface="Calibri" panose="020F0502020204030204" pitchFamily="34" charset="0"/>
                <a:ea typeface="PMingLiU" panose="02020500000000000000" pitchFamily="18" charset="-120"/>
              </a:defRPr>
            </a:lvl3pPr>
            <a:lvl4pPr marL="1522730" indent="-215900" defTabSz="1084580">
              <a:spcBef>
                <a:spcPct val="20000"/>
              </a:spcBef>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4pPr>
            <a:lvl5pPr marL="1955800" indent="-215900" defTabSz="1084580">
              <a:spcBef>
                <a:spcPct val="20000"/>
              </a:spcBef>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5pPr>
            <a:lvl6pPr marL="2413000" indent="-215900" defTabSz="1084580" eaLnBrk="0" fontAlgn="base" hangingPunct="0">
              <a:spcBef>
                <a:spcPct val="20000"/>
              </a:spcBef>
              <a:spcAft>
                <a:spcPct val="0"/>
              </a:spcAft>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6pPr>
            <a:lvl7pPr marL="2870200" indent="-215900" defTabSz="1084580" eaLnBrk="0" fontAlgn="base" hangingPunct="0">
              <a:spcBef>
                <a:spcPct val="20000"/>
              </a:spcBef>
              <a:spcAft>
                <a:spcPct val="0"/>
              </a:spcAft>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7pPr>
            <a:lvl8pPr marL="3327400" indent="-215900" defTabSz="1084580" eaLnBrk="0" fontAlgn="base" hangingPunct="0">
              <a:spcBef>
                <a:spcPct val="20000"/>
              </a:spcBef>
              <a:spcAft>
                <a:spcPct val="0"/>
              </a:spcAft>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8pPr>
            <a:lvl9pPr marL="3784600" indent="-215900" defTabSz="1084580" eaLnBrk="0" fontAlgn="base" hangingPunct="0">
              <a:spcBef>
                <a:spcPct val="20000"/>
              </a:spcBef>
              <a:spcAft>
                <a:spcPct val="0"/>
              </a:spcAft>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9pPr>
          </a:lstStyle>
          <a:p>
            <a:pPr>
              <a:spcBef>
                <a:spcPct val="30000"/>
              </a:spcBef>
              <a:buFontTx/>
              <a:buNone/>
            </a:pPr>
            <a:r>
              <a:rPr lang="zh-CN" altLang="zh-CN" sz="2000">
                <a:solidFill>
                  <a:srgbClr val="FF0000"/>
                </a:solidFill>
                <a:latin typeface="Arial" panose="020B0604020202020204" pitchFamily="34" charset="0"/>
                <a:ea typeface="宋体" panose="02010600030101010101" pitchFamily="2" charset="-122"/>
                <a:sym typeface="宋体" panose="02010600030101010101" pitchFamily="2" charset="-122"/>
              </a:rPr>
              <a:t>这个比率独立于零事务的个数，也独立于事物的总数。</a:t>
            </a:r>
            <a:endParaRPr lang="zh-CN" altLang="zh-CN" sz="2000">
              <a:solidFill>
                <a:srgbClr val="FF0000"/>
              </a:solidFill>
              <a:latin typeface="Arial" panose="020B0604020202020204" pitchFamily="34" charset="0"/>
              <a:ea typeface="宋体" panose="02010600030101010101" pitchFamily="2" charset="-122"/>
              <a:sym typeface="宋体" panose="02010600030101010101" pitchFamily="2" charset="-122"/>
            </a:endParaRPr>
          </a:p>
        </p:txBody>
      </p:sp>
      <p:sp>
        <p:nvSpPr>
          <p:cNvPr id="2" name="矩形 1"/>
          <p:cNvSpPr/>
          <p:nvPr/>
        </p:nvSpPr>
        <p:spPr>
          <a:xfrm>
            <a:off x="6100723" y="5741904"/>
            <a:ext cx="4480622" cy="783163"/>
          </a:xfrm>
          <a:prstGeom prst="rect">
            <a:avLst/>
          </a:prstGeom>
          <a:ln>
            <a:solidFill>
              <a:schemeClr val="accent6">
                <a:lumMod val="75000"/>
              </a:schemeClr>
            </a:solidFill>
          </a:ln>
        </p:spPr>
        <p:txBody>
          <a:bodyPr wrap="square">
            <a:spAutoFit/>
          </a:bodyPr>
          <a:lstStyle/>
          <a:p>
            <a:pPr marL="285750" indent="-285750" defTabSz="1083945">
              <a:lnSpc>
                <a:spcPct val="150000"/>
              </a:lnSpc>
              <a:buFont typeface="Arial" panose="020B0604020202020204" pitchFamily="34" charset="0"/>
              <a:buChar char="•"/>
              <a:defRPr/>
            </a:pPr>
            <a:r>
              <a:rPr lang="en-US" altLang="zh-CN" sz="1600" dirty="0"/>
              <a:t>A</a:t>
            </a:r>
            <a:r>
              <a:rPr lang="zh-CN" altLang="en-US" sz="1600" dirty="0"/>
              <a:t>和</a:t>
            </a:r>
            <a:r>
              <a:rPr lang="en-US" altLang="zh-CN" sz="1600" dirty="0"/>
              <a:t>B</a:t>
            </a:r>
            <a:r>
              <a:rPr lang="zh-CN" altLang="en-US" sz="1600" dirty="0"/>
              <a:t>的两个方向蕴含相同，则</a:t>
            </a:r>
            <a:r>
              <a:rPr lang="en-US" altLang="zh-CN" sz="1600" dirty="0"/>
              <a:t>IR(A,B)</a:t>
            </a:r>
            <a:r>
              <a:rPr lang="zh-CN" altLang="en-US" sz="1600" dirty="0"/>
              <a:t>为</a:t>
            </a:r>
            <a:r>
              <a:rPr lang="en-US" altLang="zh-CN" sz="1600" dirty="0"/>
              <a:t>0</a:t>
            </a:r>
            <a:r>
              <a:rPr lang="zh-CN" altLang="en-US" sz="1600" dirty="0"/>
              <a:t>；</a:t>
            </a:r>
            <a:endParaRPr lang="en-US" altLang="zh-CN" sz="1600" dirty="0"/>
          </a:p>
          <a:p>
            <a:pPr marL="285750" indent="-285750" defTabSz="1083945">
              <a:lnSpc>
                <a:spcPct val="150000"/>
              </a:lnSpc>
              <a:buFont typeface="Arial" panose="020B0604020202020204" pitchFamily="34" charset="0"/>
              <a:buChar char="•"/>
              <a:defRPr/>
            </a:pPr>
            <a:r>
              <a:rPr lang="zh-CN" altLang="en-US" sz="1600" dirty="0"/>
              <a:t>两者之差越大，不平衡比就越大。</a:t>
            </a:r>
            <a:endParaRPr lang="zh-CN" altLang="en-US" sz="1600" dirty="0"/>
          </a:p>
        </p:txBody>
      </p:sp>
      <p:sp>
        <p:nvSpPr>
          <p:cNvPr id="23" name="矩形 22"/>
          <p:cNvSpPr/>
          <p:nvPr/>
        </p:nvSpPr>
        <p:spPr>
          <a:xfrm>
            <a:off x="7164627" y="4498720"/>
            <a:ext cx="454558" cy="509587"/>
          </a:xfrm>
          <a:prstGeom prst="rect">
            <a:avLst/>
          </a:prstGeom>
          <a:noFill/>
          <a:ln w="19050">
            <a:solidFill>
              <a:srgbClr val="FF0000"/>
            </a:solidFill>
          </a:ln>
        </p:spPr>
        <p:txBody>
          <a:bodyPr>
            <a:spAutoFit/>
          </a:bodyPr>
          <a:lstStyle/>
          <a:p>
            <a:pPr>
              <a:defRPr/>
            </a:pPr>
            <a:endParaRPr lang="en-US" altLang="zh-CN" sz="1800" b="0" dirty="0">
              <a:latin typeface="+mn-ea"/>
              <a:ea typeface="+mn-ea"/>
            </a:endParaRPr>
          </a:p>
          <a:p>
            <a:pPr>
              <a:defRPr/>
            </a:pPr>
            <a:endParaRPr lang="en-US" altLang="zh-CN" sz="1800" b="0" dirty="0">
              <a:latin typeface="+mn-ea"/>
              <a:ea typeface="+mn-ea"/>
            </a:endParaRPr>
          </a:p>
          <a:p>
            <a:pPr>
              <a:defRPr/>
            </a:pPr>
            <a:endParaRPr lang="en-US" altLang="zh-CN" sz="1800" b="0" dirty="0">
              <a:latin typeface="+mn-ea"/>
              <a:ea typeface="+mn-ea"/>
            </a:endParaRPr>
          </a:p>
          <a:p>
            <a:pPr>
              <a:defRPr/>
            </a:pPr>
            <a:endParaRPr lang="zh-CN" altLang="en-US" sz="1800" b="0" dirty="0">
              <a:latin typeface="+mn-ea"/>
              <a:ea typeface="+mn-ea"/>
            </a:endParaRPr>
          </a:p>
        </p:txBody>
      </p:sp>
      <p:sp>
        <p:nvSpPr>
          <p:cNvPr id="30" name="矩形 29"/>
          <p:cNvSpPr/>
          <p:nvPr/>
        </p:nvSpPr>
        <p:spPr>
          <a:xfrm>
            <a:off x="6314809" y="4498720"/>
            <a:ext cx="454558" cy="509587"/>
          </a:xfrm>
          <a:prstGeom prst="rect">
            <a:avLst/>
          </a:prstGeom>
          <a:noFill/>
          <a:ln w="19050">
            <a:solidFill>
              <a:srgbClr val="00B0F0"/>
            </a:solidFill>
          </a:ln>
        </p:spPr>
        <p:txBody>
          <a:bodyPr>
            <a:spAutoFit/>
          </a:bodyPr>
          <a:lstStyle/>
          <a:p>
            <a:pPr>
              <a:defRPr/>
            </a:pPr>
            <a:endParaRPr lang="en-US" altLang="zh-CN" sz="1800" b="0" dirty="0">
              <a:latin typeface="+mn-ea"/>
              <a:ea typeface="+mn-ea"/>
            </a:endParaRPr>
          </a:p>
          <a:p>
            <a:pPr>
              <a:defRPr/>
            </a:pPr>
            <a:endParaRPr lang="en-US" altLang="zh-CN" sz="1800" b="0" dirty="0">
              <a:latin typeface="+mn-ea"/>
              <a:ea typeface="+mn-ea"/>
            </a:endParaRPr>
          </a:p>
          <a:p>
            <a:pPr>
              <a:defRPr/>
            </a:pPr>
            <a:endParaRPr lang="en-US" altLang="zh-CN" sz="1800" b="0" dirty="0">
              <a:latin typeface="+mn-ea"/>
              <a:ea typeface="+mn-ea"/>
            </a:endParaRPr>
          </a:p>
          <a:p>
            <a:pPr>
              <a:defRPr/>
            </a:pPr>
            <a:endParaRPr lang="zh-CN" altLang="en-US" sz="1800" b="0" dirty="0">
              <a:latin typeface="+mn-ea"/>
              <a:ea typeface="+mn-ea"/>
            </a:endParaRPr>
          </a:p>
        </p:txBody>
      </p:sp>
      <p:sp>
        <p:nvSpPr>
          <p:cNvPr id="32" name="矩形 31"/>
          <p:cNvSpPr/>
          <p:nvPr/>
        </p:nvSpPr>
        <p:spPr>
          <a:xfrm>
            <a:off x="8907466" y="4498720"/>
            <a:ext cx="454558" cy="509587"/>
          </a:xfrm>
          <a:prstGeom prst="rect">
            <a:avLst/>
          </a:prstGeom>
          <a:noFill/>
          <a:ln w="19050">
            <a:solidFill>
              <a:srgbClr val="00B0F0"/>
            </a:solidFill>
          </a:ln>
        </p:spPr>
        <p:txBody>
          <a:bodyPr>
            <a:spAutoFit/>
          </a:bodyPr>
          <a:lstStyle/>
          <a:p>
            <a:pPr>
              <a:defRPr/>
            </a:pPr>
            <a:endParaRPr lang="en-US" altLang="zh-CN" sz="1800" b="0" dirty="0">
              <a:latin typeface="+mn-ea"/>
              <a:ea typeface="+mn-ea"/>
            </a:endParaRPr>
          </a:p>
          <a:p>
            <a:pPr>
              <a:defRPr/>
            </a:pPr>
            <a:endParaRPr lang="en-US" altLang="zh-CN" sz="1800" b="0" dirty="0">
              <a:latin typeface="+mn-ea"/>
              <a:ea typeface="+mn-ea"/>
            </a:endParaRPr>
          </a:p>
          <a:p>
            <a:pPr>
              <a:defRPr/>
            </a:pPr>
            <a:endParaRPr lang="en-US" altLang="zh-CN" sz="1800" b="0" dirty="0">
              <a:latin typeface="+mn-ea"/>
              <a:ea typeface="+mn-ea"/>
            </a:endParaRPr>
          </a:p>
          <a:p>
            <a:pPr>
              <a:defRPr/>
            </a:pPr>
            <a:endParaRPr lang="zh-CN" altLang="en-US" sz="1800" b="0" dirty="0">
              <a:latin typeface="+mn-ea"/>
              <a:ea typeface="+mn-ea"/>
            </a:endParaRPr>
          </a:p>
        </p:txBody>
      </p:sp>
      <p:sp>
        <p:nvSpPr>
          <p:cNvPr id="33" name="矩形 32"/>
          <p:cNvSpPr/>
          <p:nvPr/>
        </p:nvSpPr>
        <p:spPr>
          <a:xfrm>
            <a:off x="8069888" y="4498720"/>
            <a:ext cx="454558" cy="509587"/>
          </a:xfrm>
          <a:prstGeom prst="rect">
            <a:avLst/>
          </a:prstGeom>
          <a:noFill/>
          <a:ln w="19050">
            <a:solidFill>
              <a:srgbClr val="CC00CC"/>
            </a:solidFill>
          </a:ln>
        </p:spPr>
        <p:txBody>
          <a:bodyPr>
            <a:spAutoFit/>
          </a:bodyPr>
          <a:lstStyle/>
          <a:p>
            <a:pPr>
              <a:defRPr/>
            </a:pPr>
            <a:endParaRPr lang="en-US" altLang="zh-CN" sz="1800" b="0" dirty="0">
              <a:latin typeface="+mn-ea"/>
              <a:ea typeface="+mn-ea"/>
            </a:endParaRPr>
          </a:p>
          <a:p>
            <a:pPr>
              <a:defRPr/>
            </a:pPr>
            <a:endParaRPr lang="en-US" altLang="zh-CN" sz="1800" b="0" dirty="0">
              <a:latin typeface="+mn-ea"/>
              <a:ea typeface="+mn-ea"/>
            </a:endParaRPr>
          </a:p>
          <a:p>
            <a:pPr>
              <a:defRPr/>
            </a:pPr>
            <a:endParaRPr lang="en-US" altLang="zh-CN" sz="1800" b="0" dirty="0">
              <a:latin typeface="+mn-ea"/>
              <a:ea typeface="+mn-ea"/>
            </a:endParaRPr>
          </a:p>
          <a:p>
            <a:pPr>
              <a:defRPr/>
            </a:pPr>
            <a:endParaRPr lang="zh-CN" altLang="en-US" sz="1800" b="0" dirty="0">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5" grpId="0"/>
      <p:bldP spid="2" grpId="0" animBg="1"/>
      <p:bldP spid="23" grpId="0" animBg="1"/>
      <p:bldP spid="30" grpId="0" animBg="1"/>
      <p:bldP spid="32" grpId="0" animBg="1"/>
      <p:bldP spid="33"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a:t>
            </a:r>
            <a:r>
              <a:rPr lang="en-US" altLang="zh-CN" sz="4400" dirty="0">
                <a:latin typeface="楷体" panose="02010609060101010101" pitchFamily="49" charset="-122"/>
                <a:ea typeface="楷体" panose="02010609060101010101" pitchFamily="49" charset="-122"/>
              </a:rPr>
              <a:t>6.3 </a:t>
            </a:r>
            <a:r>
              <a:rPr lang="zh-CN" altLang="en-US" sz="4400" dirty="0">
                <a:latin typeface="楷体" panose="02010609060101010101" pitchFamily="49" charset="-122"/>
                <a:ea typeface="楷体" panose="02010609060101010101" pitchFamily="49" charset="-122"/>
              </a:rPr>
              <a:t>哪些模式是有趣的：模式评估方法</a:t>
            </a:r>
            <a:endParaRPr lang="zh-CN" altLang="en-US" sz="4400" dirty="0">
              <a:latin typeface="楷体" panose="02010609060101010101" pitchFamily="49" charset="-122"/>
              <a:ea typeface="楷体" panose="02010609060101010101" pitchFamily="49" charset="-122"/>
            </a:endParaRPr>
          </a:p>
        </p:txBody>
      </p:sp>
      <p:sp>
        <p:nvSpPr>
          <p:cNvPr id="83971" name="Rectangle 3"/>
          <p:cNvSpPr>
            <a:spLocks noGrp="1" noChangeArrowheads="1"/>
          </p:cNvSpPr>
          <p:nvPr>
            <p:ph idx="1"/>
          </p:nvPr>
        </p:nvSpPr>
        <p:spPr>
          <a:xfrm>
            <a:off x="522288" y="1160463"/>
            <a:ext cx="9906000" cy="1524000"/>
          </a:xfrm>
        </p:spPr>
        <p:txBody>
          <a:bodyPr/>
          <a:lstStyle/>
          <a:p>
            <a:pPr marL="0" indent="0">
              <a:spcBef>
                <a:spcPct val="0"/>
              </a:spcBef>
              <a:buFont typeface="Arial" panose="020B0604020202020204" pitchFamily="34" charset="0"/>
              <a:buNone/>
            </a:pPr>
            <a:r>
              <a:rPr lang="en-US" altLang="zh-CN" sz="2400" b="1">
                <a:solidFill>
                  <a:srgbClr val="0000FF"/>
                </a:solidFill>
                <a:latin typeface="宋体" panose="02010600030101010101" pitchFamily="2" charset="-122"/>
                <a:ea typeface="宋体" panose="02010600030101010101" pitchFamily="2" charset="-122"/>
              </a:rPr>
              <a:t>3</a:t>
            </a:r>
            <a:r>
              <a:rPr lang="zh-CN" altLang="en-US" sz="2400" b="1">
                <a:solidFill>
                  <a:srgbClr val="0000FF"/>
                </a:solidFill>
                <a:latin typeface="宋体" panose="02010600030101010101" pitchFamily="2" charset="-122"/>
                <a:ea typeface="宋体" panose="02010600030101010101" pitchFamily="2" charset="-122"/>
              </a:rPr>
              <a:t>、模式评估度量比较</a:t>
            </a:r>
            <a:endParaRPr lang="en-US" altLang="zh-CN" sz="2400" b="1">
              <a:solidFill>
                <a:srgbClr val="0000FF"/>
              </a:solidFill>
              <a:latin typeface="宋体" panose="02010600030101010101" pitchFamily="2" charset="-122"/>
              <a:ea typeface="宋体" panose="02010600030101010101" pitchFamily="2" charset="-122"/>
            </a:endParaRPr>
          </a:p>
          <a:p>
            <a:pPr marL="0" indent="0">
              <a:spcBef>
                <a:spcPct val="0"/>
              </a:spcBef>
              <a:buFont typeface="Arial" panose="020B0604020202020204" pitchFamily="34" charset="0"/>
              <a:buNone/>
            </a:pPr>
            <a:r>
              <a:rPr lang="zh-CN" altLang="en-US" sz="2400" b="1">
                <a:latin typeface="宋体" panose="02010600030101010101" pitchFamily="2" charset="-122"/>
                <a:ea typeface="宋体" panose="02010600030101010101" pitchFamily="2" charset="-122"/>
              </a:rPr>
              <a:t>例：</a:t>
            </a:r>
            <a:r>
              <a:rPr lang="zh-CN" altLang="en-US" sz="2400">
                <a:latin typeface="宋体" panose="02010600030101010101" pitchFamily="2" charset="-122"/>
                <a:ea typeface="宋体" panose="02010600030101010101" pitchFamily="2" charset="-122"/>
              </a:rPr>
              <a:t>牛奶与咖啡的购买关系：</a:t>
            </a:r>
            <a:endParaRPr lang="zh-CN" altLang="en-US" sz="2400">
              <a:latin typeface="宋体" panose="02010600030101010101" pitchFamily="2" charset="-122"/>
              <a:ea typeface="宋体" panose="02010600030101010101" pitchFamily="2" charset="-122"/>
            </a:endParaRPr>
          </a:p>
        </p:txBody>
      </p:sp>
      <p:pic>
        <p:nvPicPr>
          <p:cNvPr id="83972" name="图片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18088" y="1541463"/>
            <a:ext cx="3662362"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4288" y="3066270"/>
            <a:ext cx="8229600" cy="201453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6" name="椭圆 5"/>
          <p:cNvSpPr/>
          <p:nvPr/>
        </p:nvSpPr>
        <p:spPr>
          <a:xfrm>
            <a:off x="6161088" y="2014538"/>
            <a:ext cx="381000" cy="152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3" name="椭圆 12"/>
          <p:cNvSpPr/>
          <p:nvPr/>
        </p:nvSpPr>
        <p:spPr>
          <a:xfrm>
            <a:off x="6146800" y="2533650"/>
            <a:ext cx="381000" cy="152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5" name="椭圆 14"/>
          <p:cNvSpPr/>
          <p:nvPr/>
        </p:nvSpPr>
        <p:spPr>
          <a:xfrm>
            <a:off x="8051800" y="2022475"/>
            <a:ext cx="381000" cy="152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4" name="矩形 13"/>
          <p:cNvSpPr/>
          <p:nvPr/>
        </p:nvSpPr>
        <p:spPr>
          <a:xfrm>
            <a:off x="2848819" y="4490258"/>
            <a:ext cx="1071824" cy="509587"/>
          </a:xfrm>
          <a:prstGeom prst="rect">
            <a:avLst/>
          </a:prstGeom>
          <a:noFill/>
          <a:ln w="19050">
            <a:solidFill>
              <a:srgbClr val="0000FF"/>
            </a:solidFill>
          </a:ln>
        </p:spPr>
        <p:txBody>
          <a:bodyPr>
            <a:spAutoFit/>
          </a:bodyPr>
          <a:lstStyle/>
          <a:p>
            <a:pPr>
              <a:defRPr/>
            </a:pPr>
            <a:endParaRPr lang="en-US" altLang="zh-CN" sz="1800" b="0" dirty="0">
              <a:latin typeface="+mn-ea"/>
              <a:ea typeface="+mn-ea"/>
            </a:endParaRPr>
          </a:p>
          <a:p>
            <a:pPr>
              <a:defRPr/>
            </a:pPr>
            <a:endParaRPr lang="en-US" altLang="zh-CN" sz="1800" b="0" dirty="0">
              <a:latin typeface="+mn-ea"/>
              <a:ea typeface="+mn-ea"/>
            </a:endParaRPr>
          </a:p>
          <a:p>
            <a:pPr>
              <a:defRPr/>
            </a:pPr>
            <a:endParaRPr lang="en-US" altLang="zh-CN" sz="1800" b="0" dirty="0">
              <a:latin typeface="+mn-ea"/>
              <a:ea typeface="+mn-ea"/>
            </a:endParaRPr>
          </a:p>
          <a:p>
            <a:pPr>
              <a:defRPr/>
            </a:pPr>
            <a:endParaRPr lang="zh-CN" altLang="en-US" sz="1800" b="0" dirty="0">
              <a:latin typeface="+mn-ea"/>
              <a:ea typeface="+mn-ea"/>
            </a:endParaRPr>
          </a:p>
        </p:txBody>
      </p:sp>
      <p:sp>
        <p:nvSpPr>
          <p:cNvPr id="16" name="矩形 15"/>
          <p:cNvSpPr/>
          <p:nvPr/>
        </p:nvSpPr>
        <p:spPr>
          <a:xfrm>
            <a:off x="6267568" y="3354020"/>
            <a:ext cx="3058033" cy="509587"/>
          </a:xfrm>
          <a:prstGeom prst="rect">
            <a:avLst/>
          </a:prstGeom>
          <a:noFill/>
          <a:ln w="19050">
            <a:solidFill>
              <a:srgbClr val="FF0000"/>
            </a:solidFill>
          </a:ln>
        </p:spPr>
        <p:txBody>
          <a:bodyPr>
            <a:spAutoFit/>
          </a:bodyPr>
          <a:lstStyle/>
          <a:p>
            <a:pPr>
              <a:defRPr/>
            </a:pPr>
            <a:endParaRPr lang="en-US" altLang="zh-CN" sz="1800" b="0" dirty="0">
              <a:latin typeface="+mn-ea"/>
              <a:ea typeface="+mn-ea"/>
            </a:endParaRPr>
          </a:p>
          <a:p>
            <a:pPr>
              <a:defRPr/>
            </a:pPr>
            <a:endParaRPr lang="en-US" altLang="zh-CN" sz="1800" b="0" dirty="0">
              <a:latin typeface="+mn-ea"/>
              <a:ea typeface="+mn-ea"/>
            </a:endParaRPr>
          </a:p>
          <a:p>
            <a:pPr>
              <a:defRPr/>
            </a:pPr>
            <a:endParaRPr lang="en-US" altLang="zh-CN" sz="1800" b="0" dirty="0">
              <a:latin typeface="+mn-ea"/>
              <a:ea typeface="+mn-ea"/>
            </a:endParaRPr>
          </a:p>
          <a:p>
            <a:pPr>
              <a:defRPr/>
            </a:pPr>
            <a:endParaRPr lang="zh-CN" altLang="en-US" sz="1800" b="0" dirty="0">
              <a:latin typeface="+mn-ea"/>
              <a:ea typeface="+mn-ea"/>
            </a:endParaRPr>
          </a:p>
        </p:txBody>
      </p:sp>
      <p:sp>
        <p:nvSpPr>
          <p:cNvPr id="4" name="矩形 3"/>
          <p:cNvSpPr/>
          <p:nvPr/>
        </p:nvSpPr>
        <p:spPr>
          <a:xfrm>
            <a:off x="9531005" y="3437914"/>
            <a:ext cx="805029" cy="338554"/>
          </a:xfrm>
          <a:prstGeom prst="rect">
            <a:avLst/>
          </a:prstGeom>
        </p:spPr>
        <p:txBody>
          <a:bodyPr wrap="none">
            <a:spAutoFit/>
          </a:bodyPr>
          <a:lstStyle/>
          <a:p>
            <a:pPr defTabSz="1083945">
              <a:defRPr/>
            </a:pPr>
            <a:r>
              <a:rPr lang="zh-CN" altLang="en-US" sz="1600" dirty="0">
                <a:solidFill>
                  <a:srgbClr val="FF0000"/>
                </a:solidFill>
              </a:rPr>
              <a:t>正相关</a:t>
            </a:r>
            <a:endParaRPr lang="zh-CN" altLang="en-US" sz="1600" dirty="0">
              <a:solidFill>
                <a:srgbClr val="FF0000"/>
              </a:solidFill>
            </a:endParaRPr>
          </a:p>
        </p:txBody>
      </p:sp>
      <p:cxnSp>
        <p:nvCxnSpPr>
          <p:cNvPr id="22" name="直接连接符 21"/>
          <p:cNvCxnSpPr/>
          <p:nvPr/>
        </p:nvCxnSpPr>
        <p:spPr>
          <a:xfrm>
            <a:off x="6255376" y="4146691"/>
            <a:ext cx="3170807" cy="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9531005" y="3875799"/>
            <a:ext cx="805029" cy="338554"/>
          </a:xfrm>
          <a:prstGeom prst="rect">
            <a:avLst/>
          </a:prstGeom>
        </p:spPr>
        <p:txBody>
          <a:bodyPr wrap="none">
            <a:spAutoFit/>
          </a:bodyPr>
          <a:lstStyle/>
          <a:p>
            <a:pPr defTabSz="1083945">
              <a:defRPr/>
            </a:pPr>
            <a:r>
              <a:rPr lang="zh-CN" altLang="en-US" sz="1600" dirty="0">
                <a:solidFill>
                  <a:srgbClr val="FF0000"/>
                </a:solidFill>
              </a:rPr>
              <a:t>负相关</a:t>
            </a:r>
            <a:endParaRPr lang="zh-CN" altLang="en-US" sz="1600" dirty="0">
              <a:solidFill>
                <a:srgbClr val="FF0000"/>
              </a:solidFill>
            </a:endParaRPr>
          </a:p>
        </p:txBody>
      </p:sp>
      <p:cxnSp>
        <p:nvCxnSpPr>
          <p:cNvPr id="27" name="直接连接符 26"/>
          <p:cNvCxnSpPr/>
          <p:nvPr/>
        </p:nvCxnSpPr>
        <p:spPr>
          <a:xfrm>
            <a:off x="6255376" y="4464160"/>
            <a:ext cx="3170807" cy="0"/>
          </a:xfrm>
          <a:prstGeom prst="line">
            <a:avLst/>
          </a:prstGeom>
          <a:ln w="19050">
            <a:solidFill>
              <a:srgbClr val="CC00CC"/>
            </a:solidFill>
          </a:ln>
        </p:spPr>
        <p:style>
          <a:lnRef idx="1">
            <a:schemeClr val="accent1"/>
          </a:lnRef>
          <a:fillRef idx="0">
            <a:schemeClr val="accent1"/>
          </a:fillRef>
          <a:effectRef idx="0">
            <a:schemeClr val="accent1"/>
          </a:effectRef>
          <a:fontRef idx="minor">
            <a:schemeClr val="tx1"/>
          </a:fontRef>
        </p:style>
      </p:cxnSp>
      <p:sp>
        <p:nvSpPr>
          <p:cNvPr id="29" name="矩形 28"/>
          <p:cNvSpPr/>
          <p:nvPr/>
        </p:nvSpPr>
        <p:spPr>
          <a:xfrm>
            <a:off x="4101215" y="3354020"/>
            <a:ext cx="665518" cy="509587"/>
          </a:xfrm>
          <a:prstGeom prst="rect">
            <a:avLst/>
          </a:prstGeom>
          <a:noFill/>
          <a:ln w="19050">
            <a:solidFill>
              <a:srgbClr val="0000FF"/>
            </a:solidFill>
          </a:ln>
        </p:spPr>
        <p:txBody>
          <a:bodyPr>
            <a:spAutoFit/>
          </a:bodyPr>
          <a:lstStyle/>
          <a:p>
            <a:pPr>
              <a:defRPr/>
            </a:pPr>
            <a:endParaRPr lang="en-US" altLang="zh-CN" sz="1800" b="0" dirty="0">
              <a:latin typeface="+mn-ea"/>
              <a:ea typeface="+mn-ea"/>
            </a:endParaRPr>
          </a:p>
          <a:p>
            <a:pPr>
              <a:defRPr/>
            </a:pPr>
            <a:endParaRPr lang="en-US" altLang="zh-CN" sz="1800" b="0" dirty="0">
              <a:latin typeface="+mn-ea"/>
              <a:ea typeface="+mn-ea"/>
            </a:endParaRPr>
          </a:p>
          <a:p>
            <a:pPr>
              <a:defRPr/>
            </a:pPr>
            <a:endParaRPr lang="en-US" altLang="zh-CN" sz="1800" b="0" dirty="0">
              <a:latin typeface="+mn-ea"/>
              <a:ea typeface="+mn-ea"/>
            </a:endParaRPr>
          </a:p>
          <a:p>
            <a:pPr>
              <a:defRPr/>
            </a:pPr>
            <a:endParaRPr lang="zh-CN" altLang="en-US" sz="1800" b="0" dirty="0">
              <a:latin typeface="+mn-ea"/>
              <a:ea typeface="+mn-ea"/>
            </a:endParaRPr>
          </a:p>
        </p:txBody>
      </p:sp>
      <p:sp>
        <p:nvSpPr>
          <p:cNvPr id="31" name="矩形 30"/>
          <p:cNvSpPr/>
          <p:nvPr/>
        </p:nvSpPr>
        <p:spPr>
          <a:xfrm>
            <a:off x="1970971" y="3933652"/>
            <a:ext cx="665518" cy="509587"/>
          </a:xfrm>
          <a:prstGeom prst="rect">
            <a:avLst/>
          </a:prstGeom>
          <a:noFill/>
          <a:ln w="19050">
            <a:solidFill>
              <a:srgbClr val="0000FF"/>
            </a:solidFill>
          </a:ln>
        </p:spPr>
        <p:txBody>
          <a:bodyPr>
            <a:spAutoFit/>
          </a:bodyPr>
          <a:lstStyle/>
          <a:p>
            <a:pPr>
              <a:defRPr/>
            </a:pPr>
            <a:endParaRPr lang="en-US" altLang="zh-CN" sz="1800" b="0" dirty="0">
              <a:latin typeface="+mn-ea"/>
              <a:ea typeface="+mn-ea"/>
            </a:endParaRPr>
          </a:p>
          <a:p>
            <a:pPr>
              <a:defRPr/>
            </a:pPr>
            <a:endParaRPr lang="en-US" altLang="zh-CN" sz="1800" b="0" dirty="0">
              <a:latin typeface="+mn-ea"/>
              <a:ea typeface="+mn-ea"/>
            </a:endParaRPr>
          </a:p>
          <a:p>
            <a:pPr>
              <a:defRPr/>
            </a:pPr>
            <a:endParaRPr lang="en-US" altLang="zh-CN" sz="1800" b="0" dirty="0">
              <a:latin typeface="+mn-ea"/>
              <a:ea typeface="+mn-ea"/>
            </a:endParaRPr>
          </a:p>
          <a:p>
            <a:pPr>
              <a:defRPr/>
            </a:pPr>
            <a:endParaRPr lang="zh-CN" altLang="en-US" sz="1800" b="0" dirty="0">
              <a:latin typeface="+mn-ea"/>
              <a:ea typeface="+mn-ea"/>
            </a:endParaRPr>
          </a:p>
        </p:txBody>
      </p:sp>
      <p:sp>
        <p:nvSpPr>
          <p:cNvPr id="21" name="矩形 20"/>
          <p:cNvSpPr/>
          <p:nvPr/>
        </p:nvSpPr>
        <p:spPr>
          <a:xfrm>
            <a:off x="1230491" y="5363892"/>
            <a:ext cx="6591300" cy="369888"/>
          </a:xfrm>
          <a:prstGeom prst="rect">
            <a:avLst/>
          </a:prstGeom>
        </p:spPr>
        <p:txBody>
          <a:bodyPr wrap="none">
            <a:spAutoFit/>
          </a:bodyPr>
          <a:lstStyle/>
          <a:p>
            <a:pPr>
              <a:defRPr/>
            </a:pPr>
            <a:r>
              <a:rPr lang="zh-CN" altLang="en-US" sz="1800" dirty="0">
                <a:latin typeface="+mn-ea"/>
                <a:ea typeface="+mn-ea"/>
              </a:rPr>
              <a:t>不平衡比(Imbalance Ratio)评估两个项集A和B的不平衡程度：</a:t>
            </a:r>
            <a:endParaRPr lang="zh-CN" altLang="en-US" sz="1800" dirty="0">
              <a:latin typeface="+mn-ea"/>
              <a:ea typeface="+mn-ea"/>
            </a:endParaRPr>
          </a:p>
        </p:txBody>
      </p:sp>
      <p:pic>
        <p:nvPicPr>
          <p:cNvPr id="24" name="图片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6613" y="5863387"/>
            <a:ext cx="4006850"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文本框 2"/>
          <p:cNvSpPr txBox="1">
            <a:spLocks noChangeArrowheads="1"/>
          </p:cNvSpPr>
          <p:nvPr/>
        </p:nvSpPr>
        <p:spPr bwMode="auto">
          <a:xfrm>
            <a:off x="1256754" y="6597322"/>
            <a:ext cx="6308725"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1084580">
              <a:spcBef>
                <a:spcPct val="20000"/>
              </a:spcBef>
              <a:buFont typeface="Arial" panose="020B0604020202020204" pitchFamily="34" charset="0"/>
              <a:buChar char="•"/>
              <a:defRPr sz="3000">
                <a:solidFill>
                  <a:schemeClr val="tx1"/>
                </a:solidFill>
                <a:latin typeface="Calibri" panose="020F0502020204030204" pitchFamily="34" charset="0"/>
                <a:ea typeface="PMingLiU" panose="02020500000000000000" pitchFamily="18" charset="-120"/>
              </a:defRPr>
            </a:lvl1pPr>
            <a:lvl2pPr marL="706755" indent="-271780" defTabSz="1084580">
              <a:spcBef>
                <a:spcPct val="20000"/>
              </a:spcBef>
              <a:buFont typeface="Arial" panose="020B0604020202020204" pitchFamily="34" charset="0"/>
              <a:buChar char="–"/>
              <a:defRPr sz="2700">
                <a:solidFill>
                  <a:schemeClr val="tx1"/>
                </a:solidFill>
                <a:latin typeface="Calibri" panose="020F0502020204030204" pitchFamily="34" charset="0"/>
                <a:ea typeface="PMingLiU" panose="02020500000000000000" pitchFamily="18" charset="-120"/>
              </a:defRPr>
            </a:lvl2pPr>
            <a:lvl3pPr marL="1085850" indent="-215900" defTabSz="1084580">
              <a:spcBef>
                <a:spcPct val="20000"/>
              </a:spcBef>
              <a:buFont typeface="Arial" panose="020B0604020202020204" pitchFamily="34" charset="0"/>
              <a:buChar char="•"/>
              <a:defRPr sz="2200">
                <a:solidFill>
                  <a:schemeClr val="tx1"/>
                </a:solidFill>
                <a:latin typeface="Calibri" panose="020F0502020204030204" pitchFamily="34" charset="0"/>
                <a:ea typeface="PMingLiU" panose="02020500000000000000" pitchFamily="18" charset="-120"/>
              </a:defRPr>
            </a:lvl3pPr>
            <a:lvl4pPr marL="1522730" indent="-215900" defTabSz="1084580">
              <a:spcBef>
                <a:spcPct val="20000"/>
              </a:spcBef>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4pPr>
            <a:lvl5pPr marL="1955800" indent="-215900" defTabSz="1084580">
              <a:spcBef>
                <a:spcPct val="20000"/>
              </a:spcBef>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5pPr>
            <a:lvl6pPr marL="2413000" indent="-215900" defTabSz="1084580" eaLnBrk="0" fontAlgn="base" hangingPunct="0">
              <a:spcBef>
                <a:spcPct val="20000"/>
              </a:spcBef>
              <a:spcAft>
                <a:spcPct val="0"/>
              </a:spcAft>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6pPr>
            <a:lvl7pPr marL="2870200" indent="-215900" defTabSz="1084580" eaLnBrk="0" fontAlgn="base" hangingPunct="0">
              <a:spcBef>
                <a:spcPct val="20000"/>
              </a:spcBef>
              <a:spcAft>
                <a:spcPct val="0"/>
              </a:spcAft>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7pPr>
            <a:lvl8pPr marL="3327400" indent="-215900" defTabSz="1084580" eaLnBrk="0" fontAlgn="base" hangingPunct="0">
              <a:spcBef>
                <a:spcPct val="20000"/>
              </a:spcBef>
              <a:spcAft>
                <a:spcPct val="0"/>
              </a:spcAft>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8pPr>
            <a:lvl9pPr marL="3784600" indent="-215900" defTabSz="1084580" eaLnBrk="0" fontAlgn="base" hangingPunct="0">
              <a:spcBef>
                <a:spcPct val="20000"/>
              </a:spcBef>
              <a:spcAft>
                <a:spcPct val="0"/>
              </a:spcAft>
              <a:buFont typeface="Arial" panose="020B0604020202020204" pitchFamily="34" charset="0"/>
              <a:buChar char="»"/>
              <a:defRPr sz="1900">
                <a:solidFill>
                  <a:schemeClr val="tx1"/>
                </a:solidFill>
                <a:latin typeface="Calibri" panose="020F0502020204030204" pitchFamily="34" charset="0"/>
                <a:ea typeface="PMingLiU" panose="02020500000000000000" pitchFamily="18" charset="-120"/>
              </a:defRPr>
            </a:lvl9pPr>
          </a:lstStyle>
          <a:p>
            <a:pPr>
              <a:spcBef>
                <a:spcPct val="30000"/>
              </a:spcBef>
              <a:buFontTx/>
              <a:buNone/>
            </a:pPr>
            <a:r>
              <a:rPr lang="zh-CN" altLang="zh-CN" sz="2000">
                <a:solidFill>
                  <a:srgbClr val="FF0000"/>
                </a:solidFill>
                <a:latin typeface="Arial" panose="020B0604020202020204" pitchFamily="34" charset="0"/>
                <a:ea typeface="宋体" panose="02010600030101010101" pitchFamily="2" charset="-122"/>
                <a:sym typeface="宋体" panose="02010600030101010101" pitchFamily="2" charset="-122"/>
              </a:rPr>
              <a:t>这个比率独立于零事务的个数，也独立于事物的总数。</a:t>
            </a:r>
            <a:endParaRPr lang="zh-CN" altLang="zh-CN" sz="2000">
              <a:solidFill>
                <a:srgbClr val="FF0000"/>
              </a:solidFill>
              <a:latin typeface="Arial" panose="020B0604020202020204" pitchFamily="34" charset="0"/>
              <a:ea typeface="宋体" panose="02010600030101010101" pitchFamily="2" charset="-122"/>
              <a:sym typeface="宋体" panose="02010600030101010101" pitchFamily="2" charset="-122"/>
            </a:endParaRPr>
          </a:p>
        </p:txBody>
      </p:sp>
      <p:sp>
        <p:nvSpPr>
          <p:cNvPr id="2" name="矩形 1"/>
          <p:cNvSpPr/>
          <p:nvPr/>
        </p:nvSpPr>
        <p:spPr>
          <a:xfrm>
            <a:off x="6100723" y="5741904"/>
            <a:ext cx="4480622" cy="783163"/>
          </a:xfrm>
          <a:prstGeom prst="rect">
            <a:avLst/>
          </a:prstGeom>
          <a:ln>
            <a:solidFill>
              <a:schemeClr val="accent6">
                <a:lumMod val="75000"/>
              </a:schemeClr>
            </a:solidFill>
          </a:ln>
        </p:spPr>
        <p:txBody>
          <a:bodyPr wrap="square">
            <a:spAutoFit/>
          </a:bodyPr>
          <a:lstStyle/>
          <a:p>
            <a:pPr marL="285750" indent="-285750" defTabSz="1083945">
              <a:lnSpc>
                <a:spcPct val="150000"/>
              </a:lnSpc>
              <a:buFont typeface="Arial" panose="020B0604020202020204" pitchFamily="34" charset="0"/>
              <a:buChar char="•"/>
              <a:defRPr/>
            </a:pPr>
            <a:r>
              <a:rPr lang="en-US" altLang="zh-CN" sz="1600" dirty="0"/>
              <a:t>A</a:t>
            </a:r>
            <a:r>
              <a:rPr lang="zh-CN" altLang="en-US" sz="1600" dirty="0"/>
              <a:t>和</a:t>
            </a:r>
            <a:r>
              <a:rPr lang="en-US" altLang="zh-CN" sz="1600" dirty="0"/>
              <a:t>B</a:t>
            </a:r>
            <a:r>
              <a:rPr lang="zh-CN" altLang="en-US" sz="1600" dirty="0"/>
              <a:t>的两个方向蕴含相同，则</a:t>
            </a:r>
            <a:r>
              <a:rPr lang="en-US" altLang="zh-CN" sz="1600" dirty="0"/>
              <a:t>IR(A,B)</a:t>
            </a:r>
            <a:r>
              <a:rPr lang="zh-CN" altLang="en-US" sz="1600" dirty="0"/>
              <a:t>为</a:t>
            </a:r>
            <a:r>
              <a:rPr lang="en-US" altLang="zh-CN" sz="1600" dirty="0"/>
              <a:t>0</a:t>
            </a:r>
            <a:r>
              <a:rPr lang="zh-CN" altLang="en-US" sz="1600" dirty="0"/>
              <a:t>；</a:t>
            </a:r>
            <a:endParaRPr lang="en-US" altLang="zh-CN" sz="1600" dirty="0"/>
          </a:p>
          <a:p>
            <a:pPr marL="285750" indent="-285750" defTabSz="1083945">
              <a:lnSpc>
                <a:spcPct val="150000"/>
              </a:lnSpc>
              <a:buFont typeface="Arial" panose="020B0604020202020204" pitchFamily="34" charset="0"/>
              <a:buChar char="•"/>
              <a:defRPr/>
            </a:pPr>
            <a:r>
              <a:rPr lang="zh-CN" altLang="en-US" sz="1600" dirty="0"/>
              <a:t>两者之差越大，不平衡比就越大。</a:t>
            </a:r>
            <a:endParaRPr lang="zh-CN" altLang="en-US" sz="1600" dirty="0"/>
          </a:p>
        </p:txBody>
      </p:sp>
      <p:sp>
        <p:nvSpPr>
          <p:cNvPr id="23" name="矩形 22"/>
          <p:cNvSpPr/>
          <p:nvPr/>
        </p:nvSpPr>
        <p:spPr>
          <a:xfrm>
            <a:off x="7164627" y="4498720"/>
            <a:ext cx="454558" cy="509587"/>
          </a:xfrm>
          <a:prstGeom prst="rect">
            <a:avLst/>
          </a:prstGeom>
          <a:noFill/>
          <a:ln w="19050">
            <a:solidFill>
              <a:srgbClr val="FF0000"/>
            </a:solidFill>
          </a:ln>
        </p:spPr>
        <p:txBody>
          <a:bodyPr>
            <a:spAutoFit/>
          </a:bodyPr>
          <a:lstStyle/>
          <a:p>
            <a:pPr>
              <a:defRPr/>
            </a:pPr>
            <a:endParaRPr lang="en-US" altLang="zh-CN" sz="1800" b="0" dirty="0">
              <a:latin typeface="+mn-ea"/>
              <a:ea typeface="+mn-ea"/>
            </a:endParaRPr>
          </a:p>
          <a:p>
            <a:pPr>
              <a:defRPr/>
            </a:pPr>
            <a:endParaRPr lang="en-US" altLang="zh-CN" sz="1800" b="0" dirty="0">
              <a:latin typeface="+mn-ea"/>
              <a:ea typeface="+mn-ea"/>
            </a:endParaRPr>
          </a:p>
          <a:p>
            <a:pPr>
              <a:defRPr/>
            </a:pPr>
            <a:endParaRPr lang="en-US" altLang="zh-CN" sz="1800" b="0" dirty="0">
              <a:latin typeface="+mn-ea"/>
              <a:ea typeface="+mn-ea"/>
            </a:endParaRPr>
          </a:p>
          <a:p>
            <a:pPr>
              <a:defRPr/>
            </a:pPr>
            <a:endParaRPr lang="zh-CN" altLang="en-US" sz="1800" b="0" dirty="0">
              <a:latin typeface="+mn-ea"/>
              <a:ea typeface="+mn-ea"/>
            </a:endParaRPr>
          </a:p>
        </p:txBody>
      </p:sp>
      <p:sp>
        <p:nvSpPr>
          <p:cNvPr id="30" name="矩形 29"/>
          <p:cNvSpPr/>
          <p:nvPr/>
        </p:nvSpPr>
        <p:spPr>
          <a:xfrm>
            <a:off x="6314809" y="4498720"/>
            <a:ext cx="454558" cy="509587"/>
          </a:xfrm>
          <a:prstGeom prst="rect">
            <a:avLst/>
          </a:prstGeom>
          <a:noFill/>
          <a:ln w="19050">
            <a:solidFill>
              <a:srgbClr val="00B0F0"/>
            </a:solidFill>
          </a:ln>
        </p:spPr>
        <p:txBody>
          <a:bodyPr>
            <a:spAutoFit/>
          </a:bodyPr>
          <a:lstStyle/>
          <a:p>
            <a:pPr>
              <a:defRPr/>
            </a:pPr>
            <a:endParaRPr lang="en-US" altLang="zh-CN" sz="1800" b="0" dirty="0">
              <a:latin typeface="+mn-ea"/>
              <a:ea typeface="+mn-ea"/>
            </a:endParaRPr>
          </a:p>
          <a:p>
            <a:pPr>
              <a:defRPr/>
            </a:pPr>
            <a:endParaRPr lang="en-US" altLang="zh-CN" sz="1800" b="0" dirty="0">
              <a:latin typeface="+mn-ea"/>
              <a:ea typeface="+mn-ea"/>
            </a:endParaRPr>
          </a:p>
          <a:p>
            <a:pPr>
              <a:defRPr/>
            </a:pPr>
            <a:endParaRPr lang="en-US" altLang="zh-CN" sz="1800" b="0" dirty="0">
              <a:latin typeface="+mn-ea"/>
              <a:ea typeface="+mn-ea"/>
            </a:endParaRPr>
          </a:p>
          <a:p>
            <a:pPr>
              <a:defRPr/>
            </a:pPr>
            <a:endParaRPr lang="zh-CN" altLang="en-US" sz="1800" b="0" dirty="0">
              <a:latin typeface="+mn-ea"/>
              <a:ea typeface="+mn-ea"/>
            </a:endParaRPr>
          </a:p>
        </p:txBody>
      </p:sp>
      <p:sp>
        <p:nvSpPr>
          <p:cNvPr id="32" name="矩形 31"/>
          <p:cNvSpPr/>
          <p:nvPr/>
        </p:nvSpPr>
        <p:spPr>
          <a:xfrm>
            <a:off x="8907466" y="4498720"/>
            <a:ext cx="454558" cy="509587"/>
          </a:xfrm>
          <a:prstGeom prst="rect">
            <a:avLst/>
          </a:prstGeom>
          <a:noFill/>
          <a:ln w="19050">
            <a:solidFill>
              <a:srgbClr val="00B0F0"/>
            </a:solidFill>
          </a:ln>
        </p:spPr>
        <p:txBody>
          <a:bodyPr>
            <a:spAutoFit/>
          </a:bodyPr>
          <a:lstStyle/>
          <a:p>
            <a:pPr>
              <a:defRPr/>
            </a:pPr>
            <a:endParaRPr lang="en-US" altLang="zh-CN" sz="1800" b="0" dirty="0">
              <a:latin typeface="+mn-ea"/>
              <a:ea typeface="+mn-ea"/>
            </a:endParaRPr>
          </a:p>
          <a:p>
            <a:pPr>
              <a:defRPr/>
            </a:pPr>
            <a:endParaRPr lang="en-US" altLang="zh-CN" sz="1800" b="0" dirty="0">
              <a:latin typeface="+mn-ea"/>
              <a:ea typeface="+mn-ea"/>
            </a:endParaRPr>
          </a:p>
          <a:p>
            <a:pPr>
              <a:defRPr/>
            </a:pPr>
            <a:endParaRPr lang="en-US" altLang="zh-CN" sz="1800" b="0" dirty="0">
              <a:latin typeface="+mn-ea"/>
              <a:ea typeface="+mn-ea"/>
            </a:endParaRPr>
          </a:p>
          <a:p>
            <a:pPr>
              <a:defRPr/>
            </a:pPr>
            <a:endParaRPr lang="zh-CN" altLang="en-US" sz="1800" b="0" dirty="0">
              <a:latin typeface="+mn-ea"/>
              <a:ea typeface="+mn-ea"/>
            </a:endParaRPr>
          </a:p>
        </p:txBody>
      </p:sp>
      <p:sp>
        <p:nvSpPr>
          <p:cNvPr id="33" name="矩形 32"/>
          <p:cNvSpPr/>
          <p:nvPr/>
        </p:nvSpPr>
        <p:spPr>
          <a:xfrm>
            <a:off x="8069888" y="4198461"/>
            <a:ext cx="454558" cy="820696"/>
          </a:xfrm>
          <a:prstGeom prst="rect">
            <a:avLst/>
          </a:prstGeom>
          <a:noFill/>
          <a:ln w="19050">
            <a:solidFill>
              <a:srgbClr val="CC00CC"/>
            </a:solidFill>
          </a:ln>
        </p:spPr>
        <p:txBody>
          <a:bodyPr>
            <a:spAutoFit/>
          </a:bodyPr>
          <a:lstStyle/>
          <a:p>
            <a:pPr>
              <a:defRPr/>
            </a:pPr>
            <a:endParaRPr lang="en-US" altLang="zh-CN" sz="1800" b="0" dirty="0">
              <a:latin typeface="+mn-ea"/>
              <a:ea typeface="+mn-ea"/>
            </a:endParaRPr>
          </a:p>
          <a:p>
            <a:pPr>
              <a:defRPr/>
            </a:pPr>
            <a:endParaRPr lang="en-US" altLang="zh-CN" sz="1800" b="0" dirty="0">
              <a:latin typeface="+mn-ea"/>
              <a:ea typeface="+mn-ea"/>
            </a:endParaRPr>
          </a:p>
          <a:p>
            <a:pPr>
              <a:defRPr/>
            </a:pPr>
            <a:endParaRPr lang="en-US" altLang="zh-CN" sz="1800" b="0" dirty="0">
              <a:latin typeface="+mn-ea"/>
              <a:ea typeface="+mn-ea"/>
            </a:endParaRPr>
          </a:p>
          <a:p>
            <a:pPr>
              <a:defRPr/>
            </a:pPr>
            <a:endParaRPr lang="zh-CN" altLang="en-US" sz="1800" b="0" dirty="0">
              <a:latin typeface="+mn-ea"/>
              <a:ea typeface="+mn-ea"/>
            </a:endParaRPr>
          </a:p>
        </p:txBody>
      </p:sp>
      <p:sp>
        <p:nvSpPr>
          <p:cNvPr id="34" name="矩形 33"/>
          <p:cNvSpPr/>
          <p:nvPr/>
        </p:nvSpPr>
        <p:spPr>
          <a:xfrm>
            <a:off x="9434640" y="4178046"/>
            <a:ext cx="1422400" cy="938077"/>
          </a:xfrm>
          <a:prstGeom prst="rect">
            <a:avLst/>
          </a:prstGeom>
          <a:noFill/>
          <a:ln>
            <a:noFill/>
          </a:ln>
        </p:spPr>
        <p:txBody>
          <a:bodyPr wrap="square">
            <a:spAutoFit/>
          </a:bodyPr>
          <a:lstStyle/>
          <a:p>
            <a:pPr>
              <a:lnSpc>
                <a:spcPts val="2300"/>
              </a:lnSpc>
              <a:defRPr/>
            </a:pPr>
            <a:r>
              <a:rPr lang="en-US" altLang="zh-CN" sz="1600" dirty="0">
                <a:solidFill>
                  <a:srgbClr val="00B050"/>
                </a:solidFill>
                <a:latin typeface="+mn-ea"/>
                <a:ea typeface="+mn-ea"/>
              </a:rPr>
              <a:t>IR(</a:t>
            </a:r>
            <a:r>
              <a:rPr lang="en-US" altLang="zh-CN" sz="1600" dirty="0" err="1">
                <a:solidFill>
                  <a:srgbClr val="00B050"/>
                </a:solidFill>
                <a:latin typeface="+mn-ea"/>
                <a:ea typeface="+mn-ea"/>
              </a:rPr>
              <a:t>m,c</a:t>
            </a:r>
            <a:r>
              <a:rPr lang="en-US" altLang="zh-CN" sz="1600" dirty="0">
                <a:solidFill>
                  <a:srgbClr val="00B050"/>
                </a:solidFill>
                <a:latin typeface="+mn-ea"/>
                <a:ea typeface="+mn-ea"/>
              </a:rPr>
              <a:t>)=0</a:t>
            </a:r>
            <a:endParaRPr lang="en-US" altLang="zh-CN" sz="1600" dirty="0">
              <a:solidFill>
                <a:srgbClr val="00B050"/>
              </a:solidFill>
              <a:latin typeface="+mn-ea"/>
              <a:ea typeface="+mn-ea"/>
            </a:endParaRPr>
          </a:p>
          <a:p>
            <a:pPr>
              <a:lnSpc>
                <a:spcPts val="2300"/>
              </a:lnSpc>
              <a:defRPr/>
            </a:pPr>
            <a:r>
              <a:rPr lang="en-US" altLang="zh-CN" sz="1600" dirty="0">
                <a:solidFill>
                  <a:srgbClr val="00B050"/>
                </a:solidFill>
                <a:latin typeface="+mn-ea"/>
                <a:ea typeface="+mn-ea"/>
              </a:rPr>
              <a:t>IR(</a:t>
            </a:r>
            <a:r>
              <a:rPr lang="en-US" altLang="zh-CN" sz="1600" dirty="0" err="1">
                <a:solidFill>
                  <a:srgbClr val="00B050"/>
                </a:solidFill>
                <a:latin typeface="+mn-ea"/>
                <a:ea typeface="+mn-ea"/>
              </a:rPr>
              <a:t>m,c</a:t>
            </a:r>
            <a:r>
              <a:rPr lang="en-US" altLang="zh-CN" sz="1600" dirty="0">
                <a:solidFill>
                  <a:srgbClr val="00B050"/>
                </a:solidFill>
                <a:latin typeface="+mn-ea"/>
                <a:ea typeface="+mn-ea"/>
              </a:rPr>
              <a:t>)=0.89</a:t>
            </a:r>
            <a:endParaRPr lang="zh-CN" altLang="en-US" sz="1600" dirty="0">
              <a:solidFill>
                <a:srgbClr val="00B050"/>
              </a:solidFill>
              <a:latin typeface="+mn-ea"/>
              <a:ea typeface="+mn-ea"/>
            </a:endParaRPr>
          </a:p>
          <a:p>
            <a:pPr>
              <a:lnSpc>
                <a:spcPts val="2300"/>
              </a:lnSpc>
              <a:defRPr/>
            </a:pPr>
            <a:r>
              <a:rPr lang="en-US" altLang="zh-CN" sz="1600" dirty="0">
                <a:solidFill>
                  <a:srgbClr val="00B050"/>
                </a:solidFill>
                <a:latin typeface="+mn-ea"/>
                <a:ea typeface="+mn-ea"/>
              </a:rPr>
              <a:t>IR(</a:t>
            </a:r>
            <a:r>
              <a:rPr lang="en-US" altLang="zh-CN" sz="1600" dirty="0" err="1">
                <a:solidFill>
                  <a:srgbClr val="00B050"/>
                </a:solidFill>
                <a:latin typeface="+mn-ea"/>
                <a:ea typeface="+mn-ea"/>
              </a:rPr>
              <a:t>m,c</a:t>
            </a:r>
            <a:r>
              <a:rPr lang="en-US" altLang="zh-CN" sz="1600" dirty="0">
                <a:solidFill>
                  <a:srgbClr val="00B050"/>
                </a:solidFill>
                <a:latin typeface="+mn-ea"/>
                <a:ea typeface="+mn-ea"/>
              </a:rPr>
              <a:t>)=0.99</a:t>
            </a:r>
            <a:endParaRPr lang="zh-CN" altLang="en-US" sz="1600" dirty="0">
              <a:solidFill>
                <a:srgbClr val="00B050"/>
              </a:solidFill>
              <a:latin typeface="+mn-ea"/>
              <a:ea typeface="+mn-ea"/>
            </a:endParaRPr>
          </a:p>
        </p:txBody>
      </p:sp>
      <p:sp>
        <p:nvSpPr>
          <p:cNvPr id="35" name="矩形 34"/>
          <p:cNvSpPr/>
          <p:nvPr/>
        </p:nvSpPr>
        <p:spPr>
          <a:xfrm>
            <a:off x="8733612" y="1040571"/>
            <a:ext cx="2051177" cy="1754326"/>
          </a:xfrm>
          <a:prstGeom prst="rect">
            <a:avLst/>
          </a:prstGeom>
          <a:solidFill>
            <a:schemeClr val="accent6">
              <a:lumMod val="60000"/>
              <a:lumOff val="40000"/>
            </a:schemeClr>
          </a:solidFill>
        </p:spPr>
        <p:txBody>
          <a:bodyPr wrap="square">
            <a:spAutoFit/>
          </a:bodyPr>
          <a:lstStyle/>
          <a:p>
            <a:pPr>
              <a:defRPr/>
            </a:pPr>
            <a:r>
              <a:rPr lang="zh-CN" altLang="en-US" sz="1800" b="0" dirty="0">
                <a:latin typeface="+mn-ea"/>
                <a:ea typeface="+mn-ea"/>
              </a:rPr>
              <a:t>在进行相关分析选择合适的兴趣度量时，考虑零不变性是重要的，</a:t>
            </a:r>
            <a:r>
              <a:rPr lang="zh-CN" altLang="en-US" sz="1800" dirty="0">
                <a:solidFill>
                  <a:srgbClr val="FF0000"/>
                </a:solidFill>
                <a:latin typeface="+mn-ea"/>
                <a:ea typeface="+mn-ea"/>
              </a:rPr>
              <a:t>推荐</a:t>
            </a:r>
            <a:r>
              <a:rPr lang="en-US" altLang="zh-CN" sz="1800" dirty="0" err="1">
                <a:solidFill>
                  <a:srgbClr val="FF0000"/>
                </a:solidFill>
                <a:latin typeface="+mn-ea"/>
                <a:ea typeface="+mn-ea"/>
              </a:rPr>
              <a:t>Kulc</a:t>
            </a:r>
            <a:r>
              <a:rPr lang="zh-CN" altLang="en-US" sz="1800" dirty="0">
                <a:solidFill>
                  <a:srgbClr val="FF0000"/>
                </a:solidFill>
                <a:latin typeface="+mn-ea"/>
                <a:ea typeface="+mn-ea"/>
              </a:rPr>
              <a:t>与不平衡比配合使用</a:t>
            </a:r>
            <a:r>
              <a:rPr lang="zh-CN" altLang="en-US" sz="1800" b="0" dirty="0">
                <a:latin typeface="+mn-ea"/>
                <a:ea typeface="+mn-ea"/>
              </a:rPr>
              <a:t>。</a:t>
            </a:r>
            <a:endParaRPr lang="zh-CN" altLang="en-US" sz="1800" b="0" dirty="0">
              <a:latin typeface="+mn-ea"/>
              <a:ea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bldLvl="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a:t>
            </a:r>
            <a:r>
              <a:rPr lang="en-US" altLang="zh-CN" sz="4400" dirty="0">
                <a:latin typeface="楷体" panose="02010609060101010101" pitchFamily="49" charset="-122"/>
                <a:ea typeface="楷体" panose="02010609060101010101" pitchFamily="49" charset="-122"/>
              </a:rPr>
              <a:t>6.3 </a:t>
            </a:r>
            <a:r>
              <a:rPr lang="zh-CN" altLang="en-US" sz="4400" dirty="0">
                <a:latin typeface="楷体" panose="02010609060101010101" pitchFamily="49" charset="-122"/>
                <a:ea typeface="楷体" panose="02010609060101010101" pitchFamily="49" charset="-122"/>
              </a:rPr>
              <a:t>哪些模式是有趣的：模式评估方法</a:t>
            </a:r>
            <a:endParaRPr lang="zh-CN" altLang="en-US" sz="4400" dirty="0">
              <a:latin typeface="楷体" panose="02010609060101010101" pitchFamily="49" charset="-122"/>
              <a:ea typeface="楷体" panose="02010609060101010101" pitchFamily="49" charset="-122"/>
            </a:endParaRPr>
          </a:p>
        </p:txBody>
      </p:sp>
      <p:sp>
        <p:nvSpPr>
          <p:cNvPr id="4" name="Rectangle 3"/>
          <p:cNvSpPr>
            <a:spLocks noGrp="1" noChangeArrowheads="1"/>
          </p:cNvSpPr>
          <p:nvPr>
            <p:ph idx="1"/>
          </p:nvPr>
        </p:nvSpPr>
        <p:spPr>
          <a:xfrm>
            <a:off x="522288" y="1160463"/>
            <a:ext cx="9829800" cy="5638800"/>
          </a:xfrm>
        </p:spPr>
        <p:txBody>
          <a:bodyPr/>
          <a:lstStyle/>
          <a:p>
            <a:pPr marL="325120" indent="-325120" defTabSz="869315" eaLnBrk="1" hangingPunct="1">
              <a:defRPr/>
            </a:pPr>
            <a:r>
              <a:rPr lang="zh-CN" altLang="en-US" sz="2400" b="1" dirty="0">
                <a:solidFill>
                  <a:srgbClr val="FF0000"/>
                </a:solidFill>
                <a:latin typeface="+mn-ea"/>
                <a:ea typeface="+mn-ea"/>
              </a:rPr>
              <a:t>关联分析</a:t>
            </a:r>
            <a:r>
              <a:rPr lang="zh-CN" altLang="en-US" sz="2400" dirty="0">
                <a:latin typeface="+mn-ea"/>
                <a:ea typeface="+mn-ea"/>
              </a:rPr>
              <a:t>用于发现隐藏在大型数据集中的令人感兴趣的联系，所发现的模式通常用</a:t>
            </a:r>
            <a:r>
              <a:rPr lang="zh-CN" altLang="en-US" sz="2400" b="1" dirty="0">
                <a:solidFill>
                  <a:srgbClr val="FF0000"/>
                </a:solidFill>
                <a:latin typeface="+mn-ea"/>
                <a:ea typeface="+mn-ea"/>
              </a:rPr>
              <a:t>关联规则</a:t>
            </a:r>
            <a:r>
              <a:rPr lang="zh-CN" altLang="en-US" sz="2400" dirty="0">
                <a:latin typeface="+mn-ea"/>
                <a:ea typeface="+mn-ea"/>
              </a:rPr>
              <a:t>或</a:t>
            </a:r>
            <a:r>
              <a:rPr lang="zh-CN" altLang="en-US" sz="2400" b="1" dirty="0">
                <a:solidFill>
                  <a:srgbClr val="FF0000"/>
                </a:solidFill>
                <a:latin typeface="+mn-ea"/>
                <a:ea typeface="+mn-ea"/>
              </a:rPr>
              <a:t>频繁项集</a:t>
            </a:r>
            <a:r>
              <a:rPr lang="zh-CN" altLang="en-US" sz="2400" dirty="0">
                <a:latin typeface="+mn-ea"/>
                <a:ea typeface="+mn-ea"/>
              </a:rPr>
              <a:t>的形式表示。</a:t>
            </a:r>
            <a:endParaRPr lang="en-US" altLang="zh-CN" sz="2400" dirty="0">
              <a:latin typeface="+mn-ea"/>
              <a:ea typeface="+mn-ea"/>
            </a:endParaRPr>
          </a:p>
          <a:p>
            <a:pPr defTabSz="868680">
              <a:defRPr/>
            </a:pPr>
            <a:r>
              <a:rPr lang="zh-CN" altLang="en-US" sz="2400" dirty="0">
                <a:latin typeface="+mn-ea"/>
                <a:ea typeface="+mn-ea"/>
              </a:rPr>
              <a:t>模式评估的几种度量：</a:t>
            </a:r>
            <a:endParaRPr lang="zh-CN" altLang="en-US" sz="2400" dirty="0">
              <a:latin typeface="+mn-ea"/>
              <a:ea typeface="+mn-ea"/>
            </a:endParaRPr>
          </a:p>
          <a:p>
            <a:pPr marL="706755" lvl="1" indent="-271780" defTabSz="868680">
              <a:defRPr/>
            </a:pPr>
            <a:r>
              <a:rPr lang="zh-CN" altLang="en-US" sz="2100" dirty="0">
                <a:solidFill>
                  <a:srgbClr val="0000FF"/>
                </a:solidFill>
                <a:latin typeface="+mn-ea"/>
                <a:ea typeface="+mn-ea"/>
              </a:rPr>
              <a:t>提升度（与零事务有关）</a:t>
            </a:r>
            <a:endParaRPr lang="zh-CN" altLang="en-US" sz="2100" dirty="0">
              <a:solidFill>
                <a:srgbClr val="0000FF"/>
              </a:solidFill>
              <a:latin typeface="+mn-ea"/>
              <a:ea typeface="+mn-ea"/>
            </a:endParaRPr>
          </a:p>
          <a:p>
            <a:pPr marL="706755" lvl="1" indent="-271780" defTabSz="868680">
              <a:defRPr/>
            </a:pPr>
            <a:r>
              <a:rPr lang="en-US" altLang="zh-CN" sz="2100" dirty="0">
                <a:solidFill>
                  <a:srgbClr val="0000FF"/>
                </a:solidFill>
                <a:latin typeface="+mn-ea"/>
                <a:ea typeface="+mn-ea"/>
              </a:rPr>
              <a:t>X²</a:t>
            </a:r>
            <a:r>
              <a:rPr lang="zh-CN" altLang="en-US" sz="2100" dirty="0">
                <a:solidFill>
                  <a:srgbClr val="0000FF"/>
                </a:solidFill>
                <a:latin typeface="+mn-ea"/>
                <a:ea typeface="+mn-ea"/>
              </a:rPr>
              <a:t>分析（与零事务有关）</a:t>
            </a:r>
            <a:endParaRPr lang="zh-CN" altLang="en-US" sz="2100" dirty="0">
              <a:solidFill>
                <a:srgbClr val="0000FF"/>
              </a:solidFill>
              <a:latin typeface="+mn-ea"/>
              <a:ea typeface="+mn-ea"/>
            </a:endParaRPr>
          </a:p>
          <a:p>
            <a:pPr marL="706755" lvl="1" indent="-271780" defTabSz="868680">
              <a:defRPr/>
            </a:pPr>
            <a:r>
              <a:rPr lang="zh-CN" altLang="en-US" sz="2100" dirty="0">
                <a:solidFill>
                  <a:srgbClr val="FF0000"/>
                </a:solidFill>
                <a:latin typeface="+mn-ea"/>
                <a:ea typeface="+mn-ea"/>
              </a:rPr>
              <a:t>全置信度（零不变度量）</a:t>
            </a:r>
            <a:endParaRPr lang="zh-CN" altLang="en-US" sz="2100" dirty="0">
              <a:solidFill>
                <a:srgbClr val="FF0000"/>
              </a:solidFill>
              <a:latin typeface="+mn-ea"/>
              <a:ea typeface="+mn-ea"/>
            </a:endParaRPr>
          </a:p>
          <a:p>
            <a:pPr marL="706755" lvl="1" indent="-271780" defTabSz="868680">
              <a:defRPr/>
            </a:pPr>
            <a:r>
              <a:rPr lang="zh-CN" altLang="en-US" sz="2100" dirty="0">
                <a:solidFill>
                  <a:srgbClr val="FF0000"/>
                </a:solidFill>
                <a:latin typeface="+mn-ea"/>
                <a:ea typeface="+mn-ea"/>
              </a:rPr>
              <a:t>最大置信度（零不变度量）</a:t>
            </a:r>
            <a:endParaRPr lang="zh-CN" altLang="en-US" sz="2100" dirty="0">
              <a:solidFill>
                <a:srgbClr val="FF0000"/>
              </a:solidFill>
              <a:latin typeface="+mn-ea"/>
              <a:ea typeface="+mn-ea"/>
            </a:endParaRPr>
          </a:p>
          <a:p>
            <a:pPr marL="706755" lvl="1" indent="-271780" defTabSz="868680">
              <a:defRPr/>
            </a:pPr>
            <a:r>
              <a:rPr lang="en-US" altLang="zh-CN" sz="2100" b="1" dirty="0" err="1">
                <a:solidFill>
                  <a:srgbClr val="FF0000"/>
                </a:solidFill>
                <a:latin typeface="+mn-ea"/>
                <a:ea typeface="+mn-ea"/>
              </a:rPr>
              <a:t>Kulczynski</a:t>
            </a:r>
            <a:r>
              <a:rPr lang="zh-CN" altLang="en-US" sz="2100" b="1" dirty="0">
                <a:solidFill>
                  <a:srgbClr val="FF0000"/>
                </a:solidFill>
                <a:latin typeface="+mn-ea"/>
                <a:ea typeface="+mn-ea"/>
              </a:rPr>
              <a:t>（零不变度量）</a:t>
            </a:r>
            <a:endParaRPr lang="zh-CN" altLang="en-US" sz="2100" b="1" dirty="0">
              <a:solidFill>
                <a:srgbClr val="FF0000"/>
              </a:solidFill>
              <a:latin typeface="+mn-ea"/>
              <a:ea typeface="+mn-ea"/>
            </a:endParaRPr>
          </a:p>
          <a:p>
            <a:pPr marL="706755" lvl="1" indent="-271780" defTabSz="868680">
              <a:defRPr/>
            </a:pPr>
            <a:r>
              <a:rPr lang="zh-CN" altLang="en-US" sz="2100" dirty="0">
                <a:solidFill>
                  <a:srgbClr val="FF0000"/>
                </a:solidFill>
                <a:latin typeface="+mn-ea"/>
                <a:ea typeface="+mn-ea"/>
              </a:rPr>
              <a:t>余弦（零不变度量）</a:t>
            </a:r>
            <a:endParaRPr lang="zh-CN" altLang="en-US" sz="2100" dirty="0">
              <a:solidFill>
                <a:srgbClr val="FF0000"/>
              </a:solidFill>
              <a:latin typeface="+mn-ea"/>
              <a:ea typeface="+mn-ea"/>
            </a:endParaRPr>
          </a:p>
          <a:p>
            <a:pPr marL="325120" indent="-325120" defTabSz="869315" eaLnBrk="1" hangingPunct="1">
              <a:defRPr/>
            </a:pPr>
            <a:r>
              <a:rPr lang="zh-CN" altLang="en-US" sz="2400" dirty="0">
                <a:latin typeface="+mn-ea"/>
                <a:ea typeface="+mn-ea"/>
              </a:rPr>
              <a:t>关联分析可以</a:t>
            </a:r>
            <a:r>
              <a:rPr lang="zh-CN" altLang="en-US" sz="2400" b="1" dirty="0">
                <a:latin typeface="+mn-ea"/>
                <a:ea typeface="+mn-ea"/>
              </a:rPr>
              <a:t>应用</a:t>
            </a:r>
            <a:r>
              <a:rPr lang="zh-CN" altLang="en-US" sz="2400" dirty="0">
                <a:latin typeface="+mn-ea"/>
                <a:ea typeface="+mn-ea"/>
              </a:rPr>
              <a:t>于生物信息学、医疗诊断、网页挖掘、科学数据分析等</a:t>
            </a:r>
            <a:endParaRPr lang="zh-CN" altLang="en-US" sz="2400" dirty="0">
              <a:latin typeface="+mn-ea"/>
              <a:ea typeface="+mn-ea"/>
            </a:endParaRPr>
          </a:p>
          <a:p>
            <a:pPr marL="0" indent="0" defTabSz="868680">
              <a:spcBef>
                <a:spcPct val="0"/>
              </a:spcBef>
              <a:buFont typeface="Arial" panose="020B0604020202020204" pitchFamily="34" charset="0"/>
              <a:buNone/>
              <a:defRPr/>
            </a:pPr>
            <a:endParaRPr lang="zh-CN" altLang="en-US" sz="2400" dirty="0">
              <a:latin typeface="+mn-ea"/>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a:t>
            </a:r>
            <a:r>
              <a:rPr lang="en-US" altLang="zh-CN" sz="4400" dirty="0">
                <a:latin typeface="楷体" panose="02010609060101010101" pitchFamily="49" charset="-122"/>
                <a:ea typeface="楷体" panose="02010609060101010101" pitchFamily="49" charset="-122"/>
                <a:sym typeface="+mn-ea"/>
              </a:rPr>
              <a:t>6.3 </a:t>
            </a:r>
            <a:r>
              <a:rPr lang="zh-CN" altLang="en-US" sz="4400" dirty="0">
                <a:latin typeface="楷体" panose="02010609060101010101" pitchFamily="49" charset="-122"/>
                <a:ea typeface="楷体" panose="02010609060101010101" pitchFamily="49" charset="-122"/>
                <a:sym typeface="+mn-ea"/>
              </a:rPr>
              <a:t>哪些模式是有趣的：模式评估方法</a:t>
            </a:r>
            <a:endParaRPr lang="zh-CN" altLang="en-US" sz="4400" dirty="0">
              <a:latin typeface="楷体" panose="02010609060101010101" pitchFamily="49" charset="-122"/>
              <a:ea typeface="楷体" panose="02010609060101010101" pitchFamily="49" charset="-122"/>
            </a:endParaRPr>
          </a:p>
        </p:txBody>
      </p:sp>
      <p:sp>
        <p:nvSpPr>
          <p:cNvPr id="4" name="Rectangle 3"/>
          <p:cNvSpPr>
            <a:spLocks noGrp="1" noChangeArrowheads="1"/>
          </p:cNvSpPr>
          <p:nvPr>
            <p:ph idx="1"/>
          </p:nvPr>
        </p:nvSpPr>
        <p:spPr>
          <a:xfrm>
            <a:off x="522605" y="1160780"/>
            <a:ext cx="9775190" cy="680085"/>
          </a:xfrm>
        </p:spPr>
        <p:txBody>
          <a:bodyPr/>
          <a:lstStyle/>
          <a:p>
            <a:pPr marL="0" indent="0" defTabSz="869315" eaLnBrk="1" hangingPunct="1">
              <a:lnSpc>
                <a:spcPts val="3800"/>
              </a:lnSpc>
              <a:buFont typeface="Arial" panose="020B0604020202020204" pitchFamily="34" charset="0"/>
              <a:buNone/>
              <a:defRPr/>
            </a:pPr>
            <a:r>
              <a:rPr lang="zh-CN" altLang="en-US" sz="2400" b="1" dirty="0">
                <a:latin typeface="+mn-ea"/>
                <a:ea typeface="+mn-ea"/>
              </a:rPr>
              <a:t>例题：</a:t>
            </a:r>
            <a:endParaRPr lang="zh-CN" altLang="en-US" sz="2400" b="1" dirty="0">
              <a:latin typeface="+mn-ea"/>
              <a:ea typeface="+mn-ea"/>
            </a:endParaRPr>
          </a:p>
        </p:txBody>
      </p:sp>
      <p:pic>
        <p:nvPicPr>
          <p:cNvPr id="100" name="图片 99"/>
          <p:cNvPicPr/>
          <p:nvPr/>
        </p:nvPicPr>
        <p:blipFill>
          <a:blip r:embed="rId1"/>
          <a:stretch>
            <a:fillRect/>
          </a:stretch>
        </p:blipFill>
        <p:spPr>
          <a:xfrm>
            <a:off x="1894840" y="1236980"/>
            <a:ext cx="6636385" cy="2226945"/>
          </a:xfrm>
          <a:prstGeom prst="rect">
            <a:avLst/>
          </a:prstGeom>
          <a:noFill/>
          <a:ln w="9525">
            <a:noFill/>
          </a:ln>
        </p:spPr>
      </p:pic>
      <p:sp>
        <p:nvSpPr>
          <p:cNvPr id="2" name="文本框 1"/>
          <p:cNvSpPr txBox="1"/>
          <p:nvPr/>
        </p:nvSpPr>
        <p:spPr>
          <a:xfrm>
            <a:off x="1056640" y="3675380"/>
            <a:ext cx="5397500" cy="3322955"/>
          </a:xfrm>
          <a:prstGeom prst="rect">
            <a:avLst/>
          </a:prstGeom>
          <a:noFill/>
        </p:spPr>
        <p:txBody>
          <a:bodyPr wrap="square" rtlCol="0" anchor="t">
            <a:spAutoFit/>
          </a:bodyPr>
          <a:p>
            <a:pPr defTabSz="868680">
              <a:lnSpc>
                <a:spcPct val="150000"/>
              </a:lnSpc>
              <a:defRPr/>
            </a:pPr>
            <a:r>
              <a:rPr lang="zh-CN" altLang="en-US" sz="2000" dirty="0">
                <a:latin typeface="+mn-ea"/>
                <a:ea typeface="+mn-ea"/>
                <a:sym typeface="+mn-ea"/>
              </a:rPr>
              <a:t>评估啤酒和</a:t>
            </a:r>
            <a:r>
              <a:rPr lang="zh-CN" altLang="en-US" sz="2000" dirty="0">
                <a:latin typeface="+mn-ea"/>
                <a:ea typeface="+mn-ea"/>
                <a:sym typeface="+mn-ea"/>
              </a:rPr>
              <a:t>尿不湿的几种度量：</a:t>
            </a:r>
            <a:endParaRPr lang="zh-CN" altLang="en-US" sz="2000" dirty="0">
              <a:latin typeface="+mn-ea"/>
              <a:ea typeface="+mn-ea"/>
            </a:endParaRPr>
          </a:p>
          <a:p>
            <a:pPr marL="706755" lvl="1" indent="-271780" defTabSz="868680">
              <a:lnSpc>
                <a:spcPct val="150000"/>
              </a:lnSpc>
              <a:defRPr/>
            </a:pPr>
            <a:r>
              <a:rPr lang="zh-CN" altLang="en-US" sz="2000" dirty="0">
                <a:solidFill>
                  <a:srgbClr val="0000FF"/>
                </a:solidFill>
                <a:latin typeface="+mn-ea"/>
                <a:ea typeface="+mn-ea"/>
                <a:sym typeface="+mn-ea"/>
              </a:rPr>
              <a:t>提升度：</a:t>
            </a:r>
            <a:endParaRPr lang="zh-CN" altLang="en-US" sz="2000" dirty="0">
              <a:solidFill>
                <a:srgbClr val="0000FF"/>
              </a:solidFill>
              <a:latin typeface="+mn-ea"/>
              <a:ea typeface="+mn-ea"/>
            </a:endParaRPr>
          </a:p>
          <a:p>
            <a:pPr marL="706755" lvl="1" indent="-271780" defTabSz="868680">
              <a:lnSpc>
                <a:spcPct val="150000"/>
              </a:lnSpc>
              <a:defRPr/>
            </a:pPr>
            <a:r>
              <a:rPr lang="zh-CN" altLang="en-US" sz="2000" dirty="0">
                <a:solidFill>
                  <a:srgbClr val="FF0000"/>
                </a:solidFill>
                <a:latin typeface="+mn-ea"/>
                <a:ea typeface="+mn-ea"/>
                <a:sym typeface="+mn-ea"/>
              </a:rPr>
              <a:t>全置信度：</a:t>
            </a:r>
            <a:endParaRPr lang="zh-CN" altLang="en-US" sz="2000" dirty="0">
              <a:solidFill>
                <a:srgbClr val="FF0000"/>
              </a:solidFill>
              <a:latin typeface="+mn-ea"/>
              <a:ea typeface="+mn-ea"/>
            </a:endParaRPr>
          </a:p>
          <a:p>
            <a:pPr marL="706755" lvl="1" indent="-271780" defTabSz="868680">
              <a:lnSpc>
                <a:spcPct val="150000"/>
              </a:lnSpc>
              <a:defRPr/>
            </a:pPr>
            <a:r>
              <a:rPr lang="zh-CN" altLang="en-US" sz="2000" dirty="0">
                <a:solidFill>
                  <a:srgbClr val="FF0000"/>
                </a:solidFill>
                <a:latin typeface="+mn-ea"/>
                <a:ea typeface="+mn-ea"/>
                <a:sym typeface="+mn-ea"/>
              </a:rPr>
              <a:t>最大置信度：</a:t>
            </a:r>
            <a:endParaRPr lang="zh-CN" altLang="en-US" sz="2000" dirty="0">
              <a:solidFill>
                <a:srgbClr val="FF0000"/>
              </a:solidFill>
              <a:latin typeface="+mn-ea"/>
              <a:ea typeface="+mn-ea"/>
            </a:endParaRPr>
          </a:p>
          <a:p>
            <a:pPr marL="706755" lvl="1" indent="-271780" defTabSz="868680">
              <a:lnSpc>
                <a:spcPct val="150000"/>
              </a:lnSpc>
              <a:defRPr/>
            </a:pPr>
            <a:r>
              <a:rPr lang="en-US" altLang="zh-CN" sz="2000" dirty="0" err="1">
                <a:solidFill>
                  <a:srgbClr val="FF0000"/>
                </a:solidFill>
                <a:latin typeface="+mn-ea"/>
                <a:ea typeface="+mn-ea"/>
                <a:sym typeface="+mn-ea"/>
              </a:rPr>
              <a:t>Kulczynski</a:t>
            </a:r>
            <a:r>
              <a:rPr lang="zh-CN" altLang="en-US" sz="2000" dirty="0" err="1">
                <a:solidFill>
                  <a:srgbClr val="FF0000"/>
                </a:solidFill>
                <a:latin typeface="+mn-ea"/>
                <a:ea typeface="+mn-ea"/>
                <a:sym typeface="+mn-ea"/>
              </a:rPr>
              <a:t>：</a:t>
            </a:r>
            <a:endParaRPr lang="zh-CN" altLang="en-US" sz="2000" b="1" dirty="0">
              <a:solidFill>
                <a:srgbClr val="FF0000"/>
              </a:solidFill>
              <a:latin typeface="+mn-ea"/>
              <a:ea typeface="+mn-ea"/>
            </a:endParaRPr>
          </a:p>
          <a:p>
            <a:pPr marL="706755" lvl="1" indent="-271780" defTabSz="868680">
              <a:lnSpc>
                <a:spcPct val="150000"/>
              </a:lnSpc>
              <a:defRPr/>
            </a:pPr>
            <a:r>
              <a:rPr lang="zh-CN" altLang="en-US" sz="2000" dirty="0">
                <a:solidFill>
                  <a:srgbClr val="FF0000"/>
                </a:solidFill>
                <a:latin typeface="+mn-ea"/>
                <a:ea typeface="+mn-ea"/>
                <a:sym typeface="+mn-ea"/>
              </a:rPr>
              <a:t>余弦（零不变度量）：</a:t>
            </a:r>
            <a:endParaRPr lang="zh-CN" altLang="en-US" sz="2000" dirty="0">
              <a:solidFill>
                <a:srgbClr val="FF0000"/>
              </a:solidFill>
              <a:latin typeface="+mn-ea"/>
              <a:ea typeface="+mn-ea"/>
              <a:sym typeface="+mn-ea"/>
            </a:endParaRPr>
          </a:p>
          <a:p>
            <a:pPr marL="706755" lvl="1" indent="-271780" defTabSz="868680">
              <a:lnSpc>
                <a:spcPct val="150000"/>
              </a:lnSpc>
              <a:defRPr/>
            </a:pPr>
            <a:r>
              <a:rPr lang="en-US" altLang="zh-CN" sz="2000" i="1" dirty="0">
                <a:latin typeface="Times New Roman" panose="02020603050405020304" pitchFamily="18" charset="0"/>
                <a:ea typeface="宋体" panose="02010600030101010101" pitchFamily="2" charset="-122"/>
                <a:cs typeface="Times New Roman" panose="02020603050405020304" pitchFamily="18" charset="0"/>
                <a:sym typeface="+mn-ea"/>
              </a:rPr>
              <a:t>IR</a:t>
            </a:r>
            <a:r>
              <a:rPr lang="zh-CN" altLang="en-US" sz="2000" i="1" dirty="0">
                <a:latin typeface="Times New Roman" panose="02020603050405020304" pitchFamily="18" charset="0"/>
                <a:ea typeface="宋体" panose="02010600030101010101" pitchFamily="2" charset="-122"/>
                <a:cs typeface="Times New Roman" panose="02020603050405020304" pitchFamily="18" charset="0"/>
                <a:sym typeface="+mn-ea"/>
              </a:rPr>
              <a:t>（</a:t>
            </a:r>
            <a:r>
              <a:rPr lang="zh-CN" altLang="en-US" sz="2000" dirty="0">
                <a:latin typeface="+mn-ea"/>
                <a:ea typeface="+mn-ea"/>
                <a:sym typeface="+mn-ea"/>
              </a:rPr>
              <a:t>啤酒，尿不湿</a:t>
            </a:r>
            <a:r>
              <a:rPr lang="zh-CN" altLang="en-US" sz="2000" i="1" dirty="0">
                <a:latin typeface="Times New Roman" panose="02020603050405020304" pitchFamily="18" charset="0"/>
                <a:ea typeface="宋体" panose="02010600030101010101" pitchFamily="2" charset="-122"/>
                <a:cs typeface="Times New Roman" panose="02020603050405020304" pitchFamily="18" charset="0"/>
                <a:sym typeface="+mn-ea"/>
              </a:rPr>
              <a:t>）：</a:t>
            </a:r>
            <a:endParaRPr lang="zh-CN" altLang="en-US" sz="2000" i="1" dirty="0">
              <a:latin typeface="Times New Roman" panose="02020603050405020304" pitchFamily="18" charset="0"/>
              <a:ea typeface="宋体" panose="02010600030101010101" pitchFamily="2" charset="-122"/>
              <a:cs typeface="Times New Roman" panose="02020603050405020304" pitchFamily="18" charset="0"/>
              <a:sym typeface="+mn-ea"/>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1027"/>
          <p:cNvSpPr>
            <a:spLocks noChangeArrowheads="1"/>
          </p:cNvSpPr>
          <p:nvPr/>
        </p:nvSpPr>
        <p:spPr bwMode="auto">
          <a:xfrm>
            <a:off x="750888" y="1249363"/>
            <a:ext cx="98298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0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eaLnBrk="1" hangingPunct="1">
              <a:lnSpc>
                <a:spcPct val="150000"/>
              </a:lnSpc>
              <a:spcBef>
                <a:spcPts val="0"/>
              </a:spcBef>
              <a:spcAft>
                <a:spcPct val="0"/>
              </a:spcAft>
              <a:buClr>
                <a:schemeClr val="folHlink"/>
              </a:buClr>
              <a:buSzPct val="60000"/>
              <a:buFont typeface="Wingdings" panose="05000000000000000000" pitchFamily="2" charset="2"/>
              <a:buNone/>
              <a:defRPr/>
            </a:pPr>
            <a:r>
              <a:rPr lang="en-US" altLang="zh-CN" sz="3600" dirty="0">
                <a:solidFill>
                  <a:schemeClr val="bg1">
                    <a:lumMod val="75000"/>
                  </a:schemeClr>
                </a:solidFill>
                <a:latin typeface="楷体" panose="02010609060101010101" pitchFamily="49" charset="-122"/>
                <a:ea typeface="楷体" panose="02010609060101010101" pitchFamily="49" charset="-122"/>
              </a:rPr>
              <a:t>6.1 </a:t>
            </a:r>
            <a:r>
              <a:rPr lang="zh-CN" altLang="en-US" sz="3600" dirty="0">
                <a:solidFill>
                  <a:schemeClr val="bg1">
                    <a:lumMod val="75000"/>
                  </a:schemeClr>
                </a:solidFill>
                <a:latin typeface="楷体" panose="02010609060101010101" pitchFamily="49" charset="-122"/>
                <a:ea typeface="楷体" panose="02010609060101010101" pitchFamily="49" charset="-122"/>
              </a:rPr>
              <a:t>基本概念</a:t>
            </a:r>
            <a:endParaRPr lang="en-US" altLang="zh-CN" sz="3600" dirty="0">
              <a:solidFill>
                <a:schemeClr val="bg1">
                  <a:lumMod val="75000"/>
                </a:schemeClr>
              </a:solidFill>
              <a:latin typeface="楷体" panose="02010609060101010101" pitchFamily="49" charset="-122"/>
              <a:ea typeface="楷体" panose="02010609060101010101" pitchFamily="49" charset="-122"/>
            </a:endParaRPr>
          </a:p>
          <a:p>
            <a:pPr eaLnBrk="1" hangingPunct="1">
              <a:lnSpc>
                <a:spcPct val="150000"/>
              </a:lnSpc>
              <a:spcBef>
                <a:spcPts val="0"/>
              </a:spcBef>
              <a:spcAft>
                <a:spcPct val="0"/>
              </a:spcAft>
              <a:buClr>
                <a:schemeClr val="folHlink"/>
              </a:buClr>
              <a:buSzPct val="60000"/>
              <a:buFont typeface="Monotype Sorts" pitchFamily="2" charset="2"/>
              <a:buNone/>
              <a:defRPr/>
            </a:pPr>
            <a:r>
              <a:rPr lang="en-US" altLang="zh-CN" sz="3600" dirty="0">
                <a:solidFill>
                  <a:schemeClr val="bg1">
                    <a:lumMod val="75000"/>
                  </a:schemeClr>
                </a:solidFill>
                <a:latin typeface="楷体" panose="02010609060101010101" pitchFamily="49" charset="-122"/>
                <a:ea typeface="楷体" panose="02010609060101010101" pitchFamily="49" charset="-122"/>
              </a:rPr>
              <a:t>6.2 </a:t>
            </a:r>
            <a:r>
              <a:rPr lang="zh-CN" altLang="en-US" sz="3600" dirty="0">
                <a:solidFill>
                  <a:schemeClr val="bg1">
                    <a:lumMod val="75000"/>
                  </a:schemeClr>
                </a:solidFill>
                <a:latin typeface="楷体" panose="02010609060101010101" pitchFamily="49" charset="-122"/>
                <a:ea typeface="楷体" panose="02010609060101010101" pitchFamily="49" charset="-122"/>
              </a:rPr>
              <a:t>频繁项集挖掘方法</a:t>
            </a:r>
            <a:endParaRPr lang="en-US" altLang="zh-CN" sz="3600" dirty="0">
              <a:solidFill>
                <a:schemeClr val="bg1">
                  <a:lumMod val="75000"/>
                </a:schemeClr>
              </a:solidFill>
              <a:latin typeface="楷体" panose="02010609060101010101" pitchFamily="49" charset="-122"/>
              <a:ea typeface="楷体" panose="02010609060101010101" pitchFamily="49" charset="-122"/>
            </a:endParaRPr>
          </a:p>
          <a:p>
            <a:pPr eaLnBrk="1" hangingPunct="1">
              <a:lnSpc>
                <a:spcPct val="150000"/>
              </a:lnSpc>
              <a:spcBef>
                <a:spcPts val="0"/>
              </a:spcBef>
              <a:spcAft>
                <a:spcPct val="0"/>
              </a:spcAft>
              <a:buClr>
                <a:schemeClr val="folHlink"/>
              </a:buClr>
              <a:buSzPct val="60000"/>
              <a:buFont typeface="Monotype Sorts" pitchFamily="2" charset="2"/>
              <a:buNone/>
              <a:defRPr/>
            </a:pPr>
            <a:r>
              <a:rPr lang="en-US" altLang="zh-CN" sz="3600" dirty="0">
                <a:solidFill>
                  <a:schemeClr val="bg1">
                    <a:lumMod val="75000"/>
                  </a:schemeClr>
                </a:solidFill>
                <a:latin typeface="楷体" panose="02010609060101010101" pitchFamily="49" charset="-122"/>
                <a:ea typeface="楷体" panose="02010609060101010101" pitchFamily="49" charset="-122"/>
              </a:rPr>
              <a:t>6.3 </a:t>
            </a:r>
            <a:r>
              <a:rPr lang="zh-CN" altLang="en-US" sz="3600" dirty="0">
                <a:solidFill>
                  <a:schemeClr val="bg1">
                    <a:lumMod val="75000"/>
                  </a:schemeClr>
                </a:solidFill>
                <a:latin typeface="楷体" panose="02010609060101010101" pitchFamily="49" charset="-122"/>
                <a:ea typeface="楷体" panose="02010609060101010101" pitchFamily="49" charset="-122"/>
              </a:rPr>
              <a:t>哪些模式是有趣的：模式评估方法</a:t>
            </a:r>
            <a:endParaRPr lang="en-US" altLang="zh-CN" sz="3600" dirty="0">
              <a:solidFill>
                <a:schemeClr val="bg1">
                  <a:lumMod val="75000"/>
                </a:schemeClr>
              </a:solidFill>
              <a:latin typeface="楷体" panose="02010609060101010101" pitchFamily="49" charset="-122"/>
              <a:ea typeface="楷体" panose="02010609060101010101" pitchFamily="49" charset="-122"/>
            </a:endParaRPr>
          </a:p>
          <a:p>
            <a:pPr eaLnBrk="1" hangingPunct="1">
              <a:lnSpc>
                <a:spcPct val="150000"/>
              </a:lnSpc>
              <a:spcBef>
                <a:spcPts val="0"/>
              </a:spcBef>
              <a:spcAft>
                <a:spcPct val="0"/>
              </a:spcAft>
              <a:buClr>
                <a:schemeClr val="folHlink"/>
              </a:buClr>
              <a:buSzPct val="60000"/>
              <a:buFont typeface="Monotype Sorts" pitchFamily="2" charset="2"/>
              <a:buNone/>
              <a:defRPr/>
            </a:pPr>
            <a:r>
              <a:rPr lang="en-US" altLang="zh-CN" sz="3600" dirty="0">
                <a:solidFill>
                  <a:srgbClr val="FF0000"/>
                </a:solidFill>
                <a:latin typeface="楷体" panose="02010609060101010101" pitchFamily="49" charset="-122"/>
                <a:ea typeface="楷体" panose="02010609060101010101" pitchFamily="49" charset="-122"/>
              </a:rPr>
              <a:t>6.4 </a:t>
            </a:r>
            <a:r>
              <a:rPr lang="zh-CN" altLang="en-US" sz="3600" dirty="0">
                <a:solidFill>
                  <a:srgbClr val="FF0000"/>
                </a:solidFill>
                <a:latin typeface="楷体" panose="02010609060101010101" pitchFamily="49" charset="-122"/>
                <a:ea typeface="楷体" panose="02010609060101010101" pitchFamily="49" charset="-122"/>
              </a:rPr>
              <a:t>小结</a:t>
            </a:r>
            <a:endParaRPr lang="zh-CN" altLang="en-US" sz="3600" b="0" dirty="0">
              <a:solidFill>
                <a:srgbClr val="FF0000"/>
              </a:solidFill>
              <a:latin typeface="楷体" panose="02010609060101010101" pitchFamily="49" charset="-122"/>
              <a:ea typeface="楷体" panose="02010609060101010101" pitchFamily="49" charset="-122"/>
            </a:endParaRPr>
          </a:p>
        </p:txBody>
      </p:sp>
      <p:sp>
        <p:nvSpPr>
          <p:cNvPr id="84996" name="标题 1"/>
          <p:cNvSpPr>
            <a:spLocks noGrp="1"/>
          </p:cNvSpPr>
          <p:nvPr>
            <p:ph type="title"/>
          </p:nvPr>
        </p:nvSpPr>
        <p:spPr>
          <a:xfrm>
            <a:off x="0" y="-42863"/>
            <a:ext cx="10799763" cy="1050926"/>
          </a:xfrm>
        </p:spPr>
        <p:txBody>
          <a:bodyPr/>
          <a:lstStyle/>
          <a:p>
            <a:pPr defTabSz="869315" eaLnBrk="1" hangingPunct="1">
              <a:defRPr/>
            </a:pPr>
            <a:r>
              <a:rPr lang="zh-CN" altLang="en-US" sz="4400" dirty="0">
                <a:latin typeface="楷体" panose="02010609060101010101" pitchFamily="49" charset="-122"/>
                <a:ea typeface="楷体" panose="02010609060101010101" pitchFamily="49" charset="-122"/>
              </a:rPr>
              <a:t>  第</a:t>
            </a:r>
            <a:r>
              <a:rPr lang="en-US" altLang="zh-CN" sz="4400" dirty="0">
                <a:latin typeface="楷体" panose="02010609060101010101" pitchFamily="49" charset="-122"/>
                <a:ea typeface="楷体" panose="02010609060101010101" pitchFamily="49" charset="-122"/>
              </a:rPr>
              <a:t>6</a:t>
            </a:r>
            <a:r>
              <a:rPr lang="zh-CN" altLang="en-US" sz="4400" dirty="0">
                <a:latin typeface="楷体" panose="02010609060101010101" pitchFamily="49" charset="-122"/>
                <a:ea typeface="楷体" panose="02010609060101010101" pitchFamily="49" charset="-122"/>
              </a:rPr>
              <a:t>章 挖掘频繁模式、关联和相关</a:t>
            </a:r>
            <a:endParaRPr lang="zh-CN" altLang="en-US" sz="4400" dirty="0">
              <a:latin typeface="楷体" panose="02010609060101010101" pitchFamily="49" charset="-122"/>
              <a:ea typeface="楷体" panose="02010609060101010101" pitchFamily="49"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62"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1925" y="0"/>
            <a:ext cx="11123613" cy="7199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ags/tag1.xml><?xml version="1.0" encoding="utf-8"?>
<p:tagLst xmlns:p="http://schemas.openxmlformats.org/presentationml/2006/main">
  <p:tag name="TABLE_ENDDRAG_ORIGIN_RECT" val="688*121"/>
  <p:tag name="TABLE_ENDDRAG_RECT" val="107*385*688*121"/>
</p:tagLst>
</file>

<file path=ppt/tags/tag2.xml><?xml version="1.0" encoding="utf-8"?>
<p:tagLst xmlns:p="http://schemas.openxmlformats.org/presentationml/2006/main">
  <p:tag name="commondata" val="eyJoZGlkIjoiN2YzNjBkOTgyNWQ1YTMxYzM3MzMwNWFiODNmOWIzYWMifQ=="/>
</p:tagLst>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D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0">
          <a:blip xmlns:r="http://schemas.openxmlformats.org/officeDocument/2006/relationships" r:embed="rId1"/>
          <a:stretch>
            <a:fillRect l="-962"/>
          </a:stretch>
        </a:blipFill>
      </a:spPr>
      <a:bodyPr/>
      <a:lstStyle>
        <a:defPPr>
          <a:defRPr>
            <a:noFill/>
          </a:defRPr>
        </a:defPPr>
      </a:lst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Porky:Words:ASCI:PSE:Budgets FY97:LC.BRev.FY97</Template>
  <TotalTime>0</TotalTime>
  <Words>8615</Words>
  <Application>WPS 演示</Application>
  <PresentationFormat>自定义</PresentationFormat>
  <Paragraphs>1170</Paragraphs>
  <Slides>45</Slides>
  <Notes>40</Notes>
  <HiddenSlides>0</HiddenSlides>
  <MMClips>0</MMClips>
  <ScaleCrop>false</ScaleCrop>
  <HeadingPairs>
    <vt:vector size="8" baseType="variant">
      <vt:variant>
        <vt:lpstr>已用的字体</vt:lpstr>
      </vt:variant>
      <vt:variant>
        <vt:i4>20</vt:i4>
      </vt:variant>
      <vt:variant>
        <vt:lpstr>主题</vt:lpstr>
      </vt:variant>
      <vt:variant>
        <vt:i4>1</vt:i4>
      </vt:variant>
      <vt:variant>
        <vt:lpstr>嵌入 OLE 服务器</vt:lpstr>
      </vt:variant>
      <vt:variant>
        <vt:i4>1</vt:i4>
      </vt:variant>
      <vt:variant>
        <vt:lpstr>幻灯片标题</vt:lpstr>
      </vt:variant>
      <vt:variant>
        <vt:i4>45</vt:i4>
      </vt:variant>
    </vt:vector>
  </HeadingPairs>
  <TitlesOfParts>
    <vt:vector size="67" baseType="lpstr">
      <vt:lpstr>Arial</vt:lpstr>
      <vt:lpstr>宋体</vt:lpstr>
      <vt:lpstr>Wingdings</vt:lpstr>
      <vt:lpstr>楷体_GB2312</vt:lpstr>
      <vt:lpstr>新宋体</vt:lpstr>
      <vt:lpstr>PMingLiU</vt:lpstr>
      <vt:lpstr>PMingLiU-ExtB</vt:lpstr>
      <vt:lpstr>Calibri</vt:lpstr>
      <vt:lpstr>微软雅黑</vt:lpstr>
      <vt:lpstr>楷体</vt:lpstr>
      <vt:lpstr>Monotype Sorts</vt:lpstr>
      <vt:lpstr>Wingdings</vt:lpstr>
      <vt:lpstr>Times New Roman</vt:lpstr>
      <vt:lpstr>Arial Unicode MS</vt:lpstr>
      <vt:lpstr>Tw Cen MT</vt:lpstr>
      <vt:lpstr>Segoe Print</vt:lpstr>
      <vt:lpstr>华文仿宋</vt:lpstr>
      <vt:lpstr>Wingdings 2</vt:lpstr>
      <vt:lpstr>Cambria Math</vt:lpstr>
      <vt:lpstr>Tahoma</vt:lpstr>
      <vt:lpstr>DM</vt:lpstr>
      <vt:lpstr>Visio.Drawing.6</vt:lpstr>
      <vt:lpstr>  第6章 挖掘频繁模式、关联和相关</vt:lpstr>
      <vt:lpstr>  第6章 挖掘频繁模式、关联和相关</vt:lpstr>
      <vt:lpstr>  6.1 基本概念</vt:lpstr>
      <vt:lpstr>  6.1 基本概念</vt:lpstr>
      <vt:lpstr>  6.1 基本概念</vt:lpstr>
      <vt:lpstr>  6.1 基本概念</vt:lpstr>
      <vt:lpstr>  6.1 基本概念</vt:lpstr>
      <vt:lpstr>  6.1 基本概念</vt:lpstr>
      <vt:lpstr>  6.1 基本概念</vt:lpstr>
      <vt:lpstr>  第6章 挖掘频繁模式、关联和相关</vt:lpstr>
      <vt:lpstr>  6.2 频繁项集挖掘方法</vt:lpstr>
      <vt:lpstr>  6.2 频繁项集挖掘方法</vt:lpstr>
      <vt:lpstr>  6.2 频繁项集挖掘方法</vt:lpstr>
      <vt:lpstr>  6.2 频繁项集挖掘方法</vt:lpstr>
      <vt:lpstr>  6.2 频繁项集挖掘方法</vt:lpstr>
      <vt:lpstr>  6.2 频繁项集挖掘方法</vt:lpstr>
      <vt:lpstr>  6.2 频繁项集挖掘方法</vt:lpstr>
      <vt:lpstr>  6.2 频繁项集挖掘方法</vt:lpstr>
      <vt:lpstr>  6.2 频繁项集挖掘方法</vt:lpstr>
      <vt:lpstr>  6.2 频繁项集挖掘方法</vt:lpstr>
      <vt:lpstr>  6.2 频繁项集挖掘方法</vt:lpstr>
      <vt:lpstr>  6.2 频繁项集挖掘方法</vt:lpstr>
      <vt:lpstr>  6.2 频繁项集挖掘方法</vt:lpstr>
      <vt:lpstr>  6.2 频繁项集挖掘方法</vt:lpstr>
      <vt:lpstr>  6.2 频繁项集挖掘方法</vt:lpstr>
      <vt:lpstr>  6.2 频繁项集挖掘方法</vt:lpstr>
      <vt:lpstr>  6.2 频繁项集挖掘方法</vt:lpstr>
      <vt:lpstr>  6.2 频繁项集挖掘方法</vt:lpstr>
      <vt:lpstr>  6.2 频繁项集挖掘方法</vt:lpstr>
      <vt:lpstr>  6.2 频繁项集挖掘方法</vt:lpstr>
      <vt:lpstr>  6.2 频繁项集挖掘方法</vt:lpstr>
      <vt:lpstr>  6.2 频繁项集挖掘方法</vt:lpstr>
      <vt:lpstr>  6.2 频繁项集挖掘方法</vt:lpstr>
      <vt:lpstr>  第6章 挖掘频繁模式、关联和相关</vt:lpstr>
      <vt:lpstr>  6.3 哪些模式是有趣的：模式评估方法</vt:lpstr>
      <vt:lpstr>  6.3 哪些模式是有趣的：模式评估方法</vt:lpstr>
      <vt:lpstr>  6.3 哪些模式是有趣的：模式评估方法</vt:lpstr>
      <vt:lpstr>  6.3 哪些模式是有趣的：模式评估方法</vt:lpstr>
      <vt:lpstr>  6.3 哪些模式是有趣的：模式评估方法</vt:lpstr>
      <vt:lpstr>  6.3 哪些模式是有趣的：模式评估方法</vt:lpstr>
      <vt:lpstr>  6.3 哪些模式是有趣的：模式评估方法</vt:lpstr>
      <vt:lpstr>  6.3 哪些模式是有趣的：模式评估方法</vt:lpstr>
      <vt:lpstr>  6.1 基本概念</vt:lpstr>
      <vt:lpstr>  第6章 挖掘频繁模式、关联和相关</vt:lpstr>
      <vt:lpstr>PowerPoint 演示文稿</vt:lpstr>
    </vt:vector>
  </TitlesOfParts>
  <LinksUpToDate>false</LinksUpToDate>
  <SharedDoc>false</SharedDoc>
  <HyperlinksChanged>false</HyperlinksChanged>
  <AppVersion>14.0000</AppVersion>
  <Pages>3</Pag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Steven F. Ashby Center for Applied Scientific Computing  Month DD, 1997</dc:title>
  <dc:creator>Computations</dc:creator>
  <cp:lastModifiedBy>辉辉</cp:lastModifiedBy>
  <cp:revision>912</cp:revision>
  <cp:lastPrinted>2001-08-28T17:59:00Z</cp:lastPrinted>
  <dcterms:created xsi:type="dcterms:W3CDTF">1998-03-18T13:44:00Z</dcterms:created>
  <dcterms:modified xsi:type="dcterms:W3CDTF">2024-04-02T03:46:24Z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2052-12.1.0.16417</vt:lpwstr>
  </property>
  <property fmtid="{D5CDD505-2E9C-101B-9397-08002B2CF9AE}" pid="3" name="ICV">
    <vt:lpwstr>AB329C9525BC40B2B9C33516D22110BB_12</vt:lpwstr>
  </property>
</Properties>
</file>