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18"/>
  </p:notesMasterIdLst>
  <p:sldIdLst>
    <p:sldId id="267" r:id="rId2"/>
    <p:sldId id="268" r:id="rId3"/>
    <p:sldId id="307" r:id="rId4"/>
    <p:sldId id="308" r:id="rId5"/>
    <p:sldId id="306" r:id="rId6"/>
    <p:sldId id="309" r:id="rId7"/>
    <p:sldId id="310" r:id="rId8"/>
    <p:sldId id="313" r:id="rId9"/>
    <p:sldId id="314" r:id="rId10"/>
    <p:sldId id="316" r:id="rId11"/>
    <p:sldId id="318" r:id="rId12"/>
    <p:sldId id="317" r:id="rId13"/>
    <p:sldId id="320" r:id="rId14"/>
    <p:sldId id="322" r:id="rId15"/>
    <p:sldId id="319" r:id="rId16"/>
    <p:sldId id="321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52" autoAdjust="0"/>
    <p:restoredTop sz="74235" autoAdjust="0"/>
  </p:normalViewPr>
  <p:slideViewPr>
    <p:cSldViewPr snapToGrid="0">
      <p:cViewPr varScale="1">
        <p:scale>
          <a:sx n="82" d="100"/>
          <a:sy n="82" d="100"/>
        </p:scale>
        <p:origin x="1728" y="16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9FA3D1-E388-4255-AFA7-84DB8FDCB75E}" type="datetimeFigureOut">
              <a:rPr lang="zh-CN" altLang="en-US" smtClean="0"/>
              <a:t>2022/12/15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87D64D-1CED-41C3-8ADF-D1C63014D2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952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87D64D-1CED-41C3-8ADF-D1C63014D29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68113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87D64D-1CED-41C3-8ADF-D1C63014D29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36215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87D64D-1CED-41C3-8ADF-D1C63014D29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63906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87D64D-1CED-41C3-8ADF-D1C63014D29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54049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87D64D-1CED-41C3-8ADF-D1C63014D29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11320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87D64D-1CED-41C3-8ADF-D1C63014D29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32824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87D64D-1CED-41C3-8ADF-D1C63014D29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49142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87D64D-1CED-41C3-8ADF-D1C63014D29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21887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87D64D-1CED-41C3-8ADF-D1C63014D29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56394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87D64D-1CED-41C3-8ADF-D1C63014D29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05775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87D64D-1CED-41C3-8ADF-D1C63014D29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14954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87D64D-1CED-41C3-8ADF-D1C63014D29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83104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87D64D-1CED-41C3-8ADF-D1C63014D29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3052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87D64D-1CED-41C3-8ADF-D1C63014D29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04474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87D64D-1CED-41C3-8ADF-D1C63014D29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10482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87D64D-1CED-41C3-8ADF-D1C63014D29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59579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BCC039-F63E-4BA3-A911-105057B724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B820AE3-5FA8-4590-81D5-A1557074D1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1E7422-E605-4BBF-A912-891C8A28C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7A2D6-F44F-4E5E-A987-64C05F1BCD77}" type="datetimeFigureOut">
              <a:rPr lang="zh-CN" altLang="en-US" smtClean="0"/>
              <a:t>2022/12/15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22714-766B-42DA-BCE7-C1CCFC545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1085B2-B40A-4B8F-A853-8C61C0A39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DFC01-D4D7-4E8F-A426-FD3344E8D6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24304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224090-14FD-4E52-8DF2-34EC2AC41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3326F0-DB54-454A-A167-26B813394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B8B2B6-EA08-4664-A6B6-F51D1FD47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7A2D6-F44F-4E5E-A987-64C05F1BCD77}" type="datetimeFigureOut">
              <a:rPr lang="zh-CN" altLang="en-US" smtClean="0"/>
              <a:t>2022/12/15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AE7CB9-FC46-48A0-B99C-1B0FFC5DD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668CD3-0F6A-4397-8C1D-E6A885976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DFC01-D4D7-4E8F-A426-FD3344E8D6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4033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8C3FC7-EBAC-4EE0-A1C1-141B6B95B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DDCA9DE-6210-4EE7-B1E3-7EA9F8FD4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965308-704C-4504-9C7E-2FB337DBA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7A2D6-F44F-4E5E-A987-64C05F1BCD77}" type="datetimeFigureOut">
              <a:rPr lang="zh-CN" altLang="en-US" smtClean="0"/>
              <a:t>2022/12/15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ECAA71-8852-49C9-87CF-7118A39C2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8D57CB-E627-46F7-B3DE-1C8EB91FD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DFC01-D4D7-4E8F-A426-FD3344E8D6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39934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09015B-6B79-49C8-BC2B-D65019980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4BFC0F-C990-4F86-BCD9-3D3A1E2C9C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C70F626-5535-4CC5-8F97-A57EBD6CAA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20027AA-784E-429F-9434-DC382EDA2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7A2D6-F44F-4E5E-A987-64C05F1BCD77}" type="datetimeFigureOut">
              <a:rPr lang="zh-CN" altLang="en-US" smtClean="0"/>
              <a:t>2022/12/15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A2A8C5C-DC69-49C2-9107-C368C3D06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DEFD0B-08A2-43D3-86B0-0EE03A6A9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DFC01-D4D7-4E8F-A426-FD3344E8D6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59225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FA2CEE-64ED-4859-9A3E-01B378D92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7CFA31-7205-4CE6-8FCA-688CE6B642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5AEC10D-ECED-4041-9B8B-5685E1C822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D614CAE-65D4-4A63-B4D5-BDFA33CF10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0C00647-0EC7-4454-A7E4-A13CE346B1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709F6DF-C540-460A-995A-98C7FBE8C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7A2D6-F44F-4E5E-A987-64C05F1BCD77}" type="datetimeFigureOut">
              <a:rPr lang="zh-CN" altLang="en-US" smtClean="0"/>
              <a:t>2022/12/15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4358281-2115-4498-9C84-49A8FF558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0D34F2C-EBB5-4D80-8EE8-071FE8C39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DFC01-D4D7-4E8F-A426-FD3344E8D6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39972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41B914-728C-44D0-9BEE-DFF277B46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E4B73EF-7456-4FF0-9F71-A20E4EC07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7A2D6-F44F-4E5E-A987-64C05F1BCD77}" type="datetimeFigureOut">
              <a:rPr lang="zh-CN" altLang="en-US" smtClean="0"/>
              <a:t>2022/12/15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C34538C-7CFD-432D-9BA8-26D46B0B3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7B79A2D-BBBD-426A-9C43-618A17526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DFC01-D4D7-4E8F-A426-FD3344E8D6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94837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0845698-4C2D-4E67-89A3-6DF064E6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7A2D6-F44F-4E5E-A987-64C05F1BCD77}" type="datetimeFigureOut">
              <a:rPr lang="zh-CN" altLang="en-US" smtClean="0"/>
              <a:t>2022/12/15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60906D6-DF21-4C96-B257-55F338395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63D563A-1C33-4964-82DE-41E478408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DFC01-D4D7-4E8F-A426-FD3344E8D6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42009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D32573-59B3-4D87-9767-903711843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99DC2E-62DE-4FB6-9108-4B4D2592B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982FB82-D0F4-4E17-968D-C40D1AA1EF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E262041-7C42-432C-B976-83F2A8565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7A2D6-F44F-4E5E-A987-64C05F1BCD77}" type="datetimeFigureOut">
              <a:rPr lang="zh-CN" altLang="en-US" smtClean="0"/>
              <a:t>2022/12/15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A8118F1-D119-4037-8075-F5BEC6D45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BD17107-8F1B-458C-8AA4-7E43C2E89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DFC01-D4D7-4E8F-A426-FD3344E8D6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76478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5BC834-FBA1-450E-B683-82905E87C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5210A37-0A42-4828-B8B3-0DCC411F4E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466629B-2160-473D-AFC4-5C77936E7F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A6C132E-A056-47B7-AC96-39838A4A4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7A2D6-F44F-4E5E-A987-64C05F1BCD77}" type="datetimeFigureOut">
              <a:rPr lang="zh-CN" altLang="en-US" smtClean="0"/>
              <a:t>2022/12/15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E0794E9-49A4-481B-9C7E-B43FC3BC6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5F55315-6740-40CC-8CC2-8C5494D4A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DFC01-D4D7-4E8F-A426-FD3344E8D6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99596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481A6E-8BB0-4C5F-9850-434313824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0DC557E-2044-4B7F-9A1F-814B21E79D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00A9B1-32E6-4654-A4CF-8F7ED6163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7A2D6-F44F-4E5E-A987-64C05F1BCD77}" type="datetimeFigureOut">
              <a:rPr lang="zh-CN" altLang="en-US" smtClean="0"/>
              <a:t>2022/12/15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28E105-82DD-4577-BA23-0A1054AA4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41C7F8-02CF-421F-BB7E-DC14C418B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DFC01-D4D7-4E8F-A426-FD3344E8D6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91661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F9E8B70-1C0C-4784-B55B-55BDE9DA54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F7986F7-E363-4C0F-A3A7-94CE194939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0FBF1A-E650-4D12-B21C-AE5292210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7A2D6-F44F-4E5E-A987-64C05F1BCD77}" type="datetimeFigureOut">
              <a:rPr lang="zh-CN" altLang="en-US" smtClean="0"/>
              <a:t>2022/12/15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E4D5C6-E6C2-4188-A992-C42B449FA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3DBBD1-06DE-4A65-A08B-3953DA6F9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DFC01-D4D7-4E8F-A426-FD3344E8D6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53993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1" y="207964"/>
            <a:ext cx="2356023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 userDrawn="1"/>
        </p:nvSpPr>
        <p:spPr>
          <a:xfrm>
            <a:off x="0" y="6210300"/>
            <a:ext cx="12192000" cy="6477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5600" y="1206500"/>
            <a:ext cx="11405029" cy="179070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algn="ctr">
              <a:defRPr sz="6000" b="0" i="0" u="none" baseline="0">
                <a:latin typeface="方正小标宋简体" charset="-122"/>
                <a:ea typeface="+mj-ea"/>
                <a:cs typeface="Monotype Sorts" charset="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4152900"/>
            <a:ext cx="12192000" cy="2057400"/>
          </a:xfrm>
        </p:spPr>
        <p:txBody>
          <a:bodyPr anchor="ctr"/>
          <a:lstStyle>
            <a:lvl1pPr marL="0" indent="0" algn="ctr">
              <a:buNone/>
              <a:defRPr sz="2400"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单击以编辑母版副标题样式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0A4882-0B3E-4C47-96B0-81DED15AC928}" type="datetimeFigureOut">
              <a:rPr lang="zh-CN" altLang="en-US"/>
              <a:pPr>
                <a:defRPr/>
              </a:pPr>
              <a:t>2022/12/15</a:t>
            </a:fld>
            <a:endParaRPr lang="zh-CN" alt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D44F41-A943-4ABA-8E03-F1EC147B6F3E}" type="slidenum">
              <a:rPr lang="zh-CN" altLang="en-US"/>
              <a:pPr/>
              <a:t>‹#›</a:t>
            </a:fld>
            <a:endParaRPr lang="zh-CN" alt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55600" y="3032920"/>
            <a:ext cx="11404600" cy="792163"/>
          </a:xfrm>
        </p:spPr>
        <p:txBody>
          <a:bodyPr anchor="ctr"/>
          <a:lstStyle>
            <a:lvl1pPr marL="0" indent="0" algn="ctr" fontAlgn="ctr">
              <a:buFontTx/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045818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C8E5F1E-57C3-4C35-89CA-9D8A5432C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C345860-4FA3-4456-A6F5-8FBE1E395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9EC2B9-B7B3-4BEA-9219-153D3B1596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47A2D6-F44F-4E5E-A987-64C05F1BCD77}" type="datetimeFigureOut">
              <a:rPr lang="zh-CN" altLang="en-US" smtClean="0"/>
              <a:t>2022/12/15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86D100-ED60-467F-AF3D-63FE3EA641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BE8E74-1344-4F2F-8704-44AF79FDA2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8DFC01-D4D7-4E8F-A426-FD3344E8D6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6435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B85465-78CB-4081-89CD-E178B11975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6027" y="1951927"/>
            <a:ext cx="11405029" cy="179070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/>
              <a:t>LeetCode_309.</a:t>
            </a:r>
            <a:r>
              <a:rPr lang="zh-CN" altLang="en-US" sz="3200" dirty="0"/>
              <a:t>最佳买股票时机含冷冻期</a:t>
            </a:r>
            <a:br>
              <a:rPr lang="en-US" altLang="zh-CN" sz="3200" dirty="0"/>
            </a:br>
            <a:r>
              <a:rPr lang="zh-CN" altLang="en-US" sz="3200" dirty="0">
                <a:highlight>
                  <a:srgbClr val="FFFF00"/>
                </a:highlight>
              </a:rPr>
              <a:t>动态规划</a:t>
            </a:r>
            <a:r>
              <a:rPr lang="en-US" altLang="zh-CN" sz="3200" dirty="0">
                <a:highlight>
                  <a:srgbClr val="FFFF00"/>
                </a:highlight>
              </a:rPr>
              <a:t>(Dynamic Programming)</a:t>
            </a:r>
            <a:endParaRPr lang="en" altLang="zh-CN" sz="3200" dirty="0">
              <a:highlight>
                <a:srgbClr val="FFFF00"/>
              </a:highlight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3DFC0DD-6D59-4ACB-A077-66725D4459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37458" y="5648260"/>
            <a:ext cx="12192000" cy="381000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dirty="0"/>
              <a:t>2022.12.15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406427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775856"/>
            <a:ext cx="12192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628470" y="252636"/>
            <a:ext cx="4935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Aharoni" panose="02010803020104030203" pitchFamily="2" charset="-79"/>
              </a:rPr>
              <a:t>一、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Aharoni" panose="02010803020104030203" pitchFamily="2" charset="-79"/>
              </a:rPr>
              <a:t>DP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Aharoni" panose="02010803020104030203" pitchFamily="2" charset="-79"/>
              </a:rPr>
              <a:t>核心步骤及性质</a:t>
            </a:r>
            <a:endParaRPr lang="zh-CN" altLang="en-US" sz="40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Aharoni" panose="02010803020104030203" pitchFamily="2" charset="-79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7634911-84D9-39C9-3D1E-D89528A78DAC}"/>
              </a:ext>
            </a:extLst>
          </p:cNvPr>
          <p:cNvSpPr txBox="1"/>
          <p:nvPr/>
        </p:nvSpPr>
        <p:spPr>
          <a:xfrm>
            <a:off x="392621" y="1299076"/>
            <a:ext cx="570337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dirty="0"/>
              <a:t>Step:</a:t>
            </a:r>
          </a:p>
          <a:p>
            <a:r>
              <a:rPr kumimoji="1" lang="en-US" altLang="zh-CN" sz="2800" dirty="0"/>
              <a:t>1.</a:t>
            </a:r>
            <a:r>
              <a:rPr kumimoji="1" lang="zh-CN" altLang="en-US" sz="2800" dirty="0"/>
              <a:t>找问题中的状态（将实际问题进行数学抽象）</a:t>
            </a:r>
            <a:endParaRPr kumimoji="1" lang="en-US" altLang="zh-CN" sz="2800" dirty="0"/>
          </a:p>
          <a:p>
            <a:endParaRPr kumimoji="1" lang="en-US" altLang="zh-CN" sz="2800" dirty="0"/>
          </a:p>
          <a:p>
            <a:r>
              <a:rPr kumimoji="1" lang="en-US" altLang="zh-CN" sz="2800" dirty="0"/>
              <a:t>2.</a:t>
            </a:r>
            <a:r>
              <a:rPr kumimoji="1" lang="zh-CN" altLang="en-US" sz="2800" dirty="0"/>
              <a:t>确定状态转移方程</a:t>
            </a:r>
            <a:endParaRPr kumimoji="1" lang="en-US" altLang="zh-CN" sz="2800" dirty="0"/>
          </a:p>
          <a:p>
            <a:endParaRPr kumimoji="1" lang="en-US" altLang="zh-CN" sz="2800" dirty="0"/>
          </a:p>
          <a:p>
            <a:r>
              <a:rPr kumimoji="1" lang="en-US" altLang="zh-CN" sz="2800" dirty="0"/>
              <a:t>3.</a:t>
            </a:r>
            <a:r>
              <a:rPr kumimoji="1" lang="zh-CN" altLang="en-US" sz="2800" dirty="0"/>
              <a:t>确定边界条件（辅助第二条）</a:t>
            </a:r>
            <a:endParaRPr kumimoji="1" lang="en-US" altLang="zh-CN" sz="2800" dirty="0"/>
          </a:p>
          <a:p>
            <a:endParaRPr kumimoji="1" lang="en-US" altLang="zh-CN" sz="2800" dirty="0"/>
          </a:p>
          <a:p>
            <a:r>
              <a:rPr kumimoji="1" lang="en-US" altLang="zh-CN" sz="2800" dirty="0"/>
              <a:t>4.</a:t>
            </a:r>
            <a:r>
              <a:rPr kumimoji="1" lang="zh-CN" altLang="en-US" sz="2800" dirty="0"/>
              <a:t>编程自动化填写</a:t>
            </a:r>
            <a:r>
              <a:rPr kumimoji="1" lang="en-US" altLang="zh-CN" sz="2800" dirty="0" err="1"/>
              <a:t>dp</a:t>
            </a:r>
            <a:r>
              <a:rPr kumimoji="1" lang="zh-CN" altLang="en-US" sz="2800" dirty="0"/>
              <a:t>数组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9D81188-2600-BCDB-E36E-1399E0E3F1C6}"/>
              </a:ext>
            </a:extLst>
          </p:cNvPr>
          <p:cNvSpPr txBox="1"/>
          <p:nvPr/>
        </p:nvSpPr>
        <p:spPr>
          <a:xfrm>
            <a:off x="6507645" y="1299076"/>
            <a:ext cx="299281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dirty="0"/>
              <a:t>Property:</a:t>
            </a:r>
          </a:p>
          <a:p>
            <a:r>
              <a:rPr kumimoji="1" lang="en-US" altLang="zh-CN" sz="2800" dirty="0"/>
              <a:t>1.</a:t>
            </a:r>
            <a:r>
              <a:rPr kumimoji="1" lang="zh-CN" altLang="en-US" sz="2800" dirty="0"/>
              <a:t>最优子结构</a:t>
            </a:r>
            <a:endParaRPr kumimoji="1" lang="en-US" altLang="zh-CN" sz="2800" dirty="0"/>
          </a:p>
          <a:p>
            <a:endParaRPr kumimoji="1" lang="en-US" altLang="zh-CN" sz="2800" dirty="0"/>
          </a:p>
          <a:p>
            <a:r>
              <a:rPr kumimoji="1" lang="en-US" altLang="zh-CN" sz="2800" dirty="0"/>
              <a:t>2.</a:t>
            </a:r>
            <a:r>
              <a:rPr kumimoji="1" lang="zh-CN" altLang="en-US" sz="2800" dirty="0"/>
              <a:t>重叠子问题</a:t>
            </a:r>
            <a:endParaRPr kumimoji="1" lang="en-US" altLang="zh-CN" sz="2800" dirty="0"/>
          </a:p>
          <a:p>
            <a:endParaRPr kumimoji="1" lang="en-US" altLang="zh-CN" sz="2800" dirty="0"/>
          </a:p>
          <a:p>
            <a:r>
              <a:rPr kumimoji="1" lang="en-US" altLang="zh-CN" sz="2800" dirty="0"/>
              <a:t>3.</a:t>
            </a:r>
            <a:r>
              <a:rPr kumimoji="1" lang="zh-CN" altLang="en-US" sz="2800" dirty="0"/>
              <a:t>无后效性</a:t>
            </a:r>
            <a:endParaRPr kumimoji="1" lang="en-US" altLang="zh-CN" sz="2800" dirty="0"/>
          </a:p>
          <a:p>
            <a:endParaRPr kumimoji="1" lang="en-US" altLang="zh-CN" sz="28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A05C14E-4823-B0CA-7C15-036C63336E4B}"/>
              </a:ext>
            </a:extLst>
          </p:cNvPr>
          <p:cNvSpPr txBox="1"/>
          <p:nvPr/>
        </p:nvSpPr>
        <p:spPr>
          <a:xfrm>
            <a:off x="6507645" y="4759472"/>
            <a:ext cx="344062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 err="1"/>
              <a:t>Classcal</a:t>
            </a:r>
            <a:r>
              <a:rPr kumimoji="1" lang="en-US" altLang="zh-CN" sz="2400" b="1" dirty="0"/>
              <a:t> example:</a:t>
            </a:r>
          </a:p>
          <a:p>
            <a:r>
              <a:rPr kumimoji="1" lang="en-US" altLang="zh-CN" sz="2400" dirty="0"/>
              <a:t>1.</a:t>
            </a:r>
            <a:r>
              <a:rPr kumimoji="1" lang="zh-CN" altLang="en-US" sz="2400" dirty="0"/>
              <a:t>机器人路径问题</a:t>
            </a:r>
            <a:endParaRPr kumimoji="1" lang="en-US" altLang="zh-CN" sz="2400" dirty="0"/>
          </a:p>
          <a:p>
            <a:endParaRPr kumimoji="1" lang="en-US" altLang="zh-CN" sz="2400" dirty="0"/>
          </a:p>
          <a:p>
            <a:r>
              <a:rPr kumimoji="1" lang="en-US" altLang="zh-CN" sz="2400" dirty="0"/>
              <a:t>2.Fibnocci</a:t>
            </a:r>
            <a:r>
              <a:rPr kumimoji="1" lang="zh-CN" altLang="en-US" sz="2400" dirty="0"/>
              <a:t>数列</a:t>
            </a:r>
            <a:endParaRPr kumimoji="1"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1069246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775856"/>
            <a:ext cx="12192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628470" y="222580"/>
            <a:ext cx="4935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Aharoni" panose="02010803020104030203" pitchFamily="2" charset="-79"/>
              </a:rPr>
              <a:t>问题描述</a:t>
            </a:r>
            <a:endParaRPr lang="zh-CN" altLang="en-US" sz="40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Aharoni" panose="02010803020104030203" pitchFamily="2" charset="-79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6B18923-5655-5FDE-CAF4-0AE77086D246}"/>
              </a:ext>
            </a:extLst>
          </p:cNvPr>
          <p:cNvSpPr txBox="1"/>
          <p:nvPr/>
        </p:nvSpPr>
        <p:spPr>
          <a:xfrm>
            <a:off x="861059" y="940740"/>
            <a:ext cx="10469880" cy="4437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给定一个整数数组</a:t>
            </a:r>
            <a:r>
              <a:rPr lang="en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prices</a:t>
            </a:r>
            <a:r>
              <a:rPr lang="zh-CN" altLang="en" sz="2400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其中第  </a:t>
            </a:r>
            <a:r>
              <a:rPr lang="en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prices[</a:t>
            </a:r>
            <a:r>
              <a:rPr lang="en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] 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表示第 </a:t>
            </a:r>
            <a:r>
              <a:rPr lang="en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天的股票价格 。​</a:t>
            </a:r>
          </a:p>
          <a:p>
            <a:pPr algn="just">
              <a:lnSpc>
                <a:spcPct val="150000"/>
              </a:lnSpc>
            </a:pP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设计一个算法计算出最大利润。在满足以下约束条件下，你可以尽可能地完成更多的交易（多次买卖一支股票）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</a:p>
          <a:p>
            <a:pPr algn="just">
              <a:lnSpc>
                <a:spcPct val="150000"/>
              </a:lnSpc>
            </a:pP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卖出股票后，你无法在第二天买入股票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即</a:t>
            </a:r>
            <a:r>
              <a:rPr lang="zh-CN" altLang="en-US" sz="2400" dirty="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冷冻期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为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1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天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注意：你不能同时参与多笔交易（你必须在再次购买前出售掉之前的股票）。</a:t>
            </a:r>
          </a:p>
        </p:txBody>
      </p:sp>
    </p:spTree>
    <p:extLst>
      <p:ext uri="{BB962C8B-B14F-4D97-AF65-F5344CB8AC3E}">
        <p14:creationId xmlns:p14="http://schemas.microsoft.com/office/powerpoint/2010/main" val="11070812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775856"/>
            <a:ext cx="12192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519982" y="252636"/>
            <a:ext cx="4935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Aharoni" panose="02010803020104030203" pitchFamily="2" charset="-79"/>
              </a:rPr>
              <a:t>问题描述</a:t>
            </a:r>
            <a:endParaRPr lang="zh-CN" altLang="en-US" sz="40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Aharoni" panose="02010803020104030203" pitchFamily="2" charset="-79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6B18923-5655-5FDE-CAF4-0AE77086D246}"/>
              </a:ext>
            </a:extLst>
          </p:cNvPr>
          <p:cNvSpPr txBox="1"/>
          <p:nvPr/>
        </p:nvSpPr>
        <p:spPr>
          <a:xfrm>
            <a:off x="752571" y="1059615"/>
            <a:ext cx="10469880" cy="499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示例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1: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输入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: </a:t>
            </a:r>
            <a:r>
              <a:rPr lang="en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prices = [1,2,3,0,2]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输出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: 3 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解释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: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对应的交易状态为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: [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买入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卖出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冷冻期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买入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卖出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]</a:t>
            </a:r>
          </a:p>
          <a:p>
            <a:pPr algn="just">
              <a:lnSpc>
                <a:spcPct val="150000"/>
              </a:lnSpc>
            </a:pP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示例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2: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输入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: </a:t>
            </a:r>
            <a:r>
              <a:rPr lang="en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prices = [1]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输出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: 0</a:t>
            </a:r>
          </a:p>
          <a:p>
            <a:pPr algn="just">
              <a:lnSpc>
                <a:spcPct val="150000"/>
              </a:lnSpc>
            </a:pP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977369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775856"/>
            <a:ext cx="12192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091257" y="230816"/>
            <a:ext cx="65539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Aharoni" panose="02010803020104030203" pitchFamily="2" charset="-79"/>
              </a:rPr>
              <a:t>Step1: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Aharoni" panose="02010803020104030203" pitchFamily="2" charset="-79"/>
              </a:rPr>
              <a:t>确定问题的状态</a:t>
            </a:r>
            <a:endParaRPr lang="zh-CN" altLang="en-US" sz="40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Aharoni" panose="02010803020104030203" pitchFamily="2" charset="-79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6B18923-5655-5FDE-CAF4-0AE77086D246}"/>
              </a:ext>
            </a:extLst>
          </p:cNvPr>
          <p:cNvSpPr txBox="1"/>
          <p:nvPr/>
        </p:nvSpPr>
        <p:spPr>
          <a:xfrm>
            <a:off x="670754" y="754036"/>
            <a:ext cx="10850492" cy="6653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状态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现在手上有股票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 股票有两种来源 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）昨天的股票我没卖，继续留到今天（始终保持我们是最优的选择，所有情况都要考虑到，因为最优解在整个更替的过程，是动态留到今天变化的，对应不同的情况）（本状态的延续）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			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）昨天我没有股票，今天刚买的（注意：若果今天要买的话，一定是不处于冷冻期之内），也就是昨天一定不能持有股票（手上同时只能持有一只股票），且一定处于冷冻期内，相当于状态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对应的最大利润减去今天买股票花的钱。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（状态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的延续）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Ps: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对于冷冻期的考虑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因为只有卖出了，才会有冷冻期一说，所以对于手上有股票情况，意思就是不在冷冻期。所以不需要考虑在冷冻期之内的情况。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15424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775856"/>
            <a:ext cx="12192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795793" y="252636"/>
            <a:ext cx="6600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Aharoni" panose="02010803020104030203" pitchFamily="2" charset="-79"/>
              </a:rPr>
              <a:t>Step1: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Aharoni" panose="02010803020104030203" pitchFamily="2" charset="-79"/>
              </a:rPr>
              <a:t>确定问题的状态</a:t>
            </a:r>
            <a:endParaRPr lang="zh-CN" altLang="en-US" sz="40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Aharoni" panose="02010803020104030203" pitchFamily="2" charset="-79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6B18923-5655-5FDE-CAF4-0AE77086D246}"/>
              </a:ext>
            </a:extLst>
          </p:cNvPr>
          <p:cNvSpPr txBox="1"/>
          <p:nvPr/>
        </p:nvSpPr>
        <p:spPr>
          <a:xfrm>
            <a:off x="861058" y="1171244"/>
            <a:ext cx="1046988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状态</a:t>
            </a:r>
            <a:r>
              <a:rPr kumimoji="1" lang="en-US" altLang="zh-CN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2</a:t>
            </a:r>
            <a:r>
              <a:rPr kumimoji="1" lang="zh-CN" altLang="en-US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：</a:t>
            </a:r>
            <a:r>
              <a:rPr kumimoji="1"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现在手上没有股票，且</a:t>
            </a:r>
            <a:r>
              <a:rPr kumimoji="1" lang="zh-CN" altLang="en-US" sz="2400" dirty="0">
                <a:highlight>
                  <a:srgbClr val="FFFF00"/>
                </a:highlight>
                <a:latin typeface="SimSun" panose="02010600030101010101" pitchFamily="2" charset="-122"/>
                <a:ea typeface="SimSun" panose="02010600030101010101" pitchFamily="2" charset="-122"/>
              </a:rPr>
              <a:t>处于冷冻期</a:t>
            </a:r>
            <a:r>
              <a:rPr kumimoji="1"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之内</a:t>
            </a:r>
            <a:endParaRPr kumimoji="1" lang="en-US" altLang="zh-CN" sz="24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kumimoji="1" lang="en-US" altLang="zh-CN" sz="24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kumimoji="1"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只有</a:t>
            </a:r>
            <a:r>
              <a:rPr kumimoji="1" lang="en-US" altLang="zh-CN" sz="2400" dirty="0"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kumimoji="1"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种情况：一定是把今天的股票卖出去了</a:t>
            </a:r>
            <a:endParaRPr kumimoji="1" lang="en-US" altLang="zh-CN" sz="24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kumimoji="1" lang="en-US" altLang="zh-CN" sz="24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kumimoji="1" lang="en-US" altLang="zh-CN" sz="24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Ps:</a:t>
            </a:r>
            <a:r>
              <a:rPr kumimoji="1" lang="zh-CN" altLang="en-US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对于冷冻期的考虑</a:t>
            </a:r>
            <a:endParaRPr kumimoji="1" lang="en-US" altLang="zh-CN" sz="2400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既然冷冻期只有一天，那么今天要是处于冷冻期的话，一定是昨天卖出了股票。需要注意的是，卖出股票是</a:t>
            </a:r>
            <a:r>
              <a:rPr kumimoji="1" lang="zh-CN" altLang="en-US" sz="24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获得利润</a:t>
            </a:r>
            <a:r>
              <a:rPr kumimoji="1"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，也就是要</a:t>
            </a:r>
            <a:r>
              <a:rPr kumimoji="1" lang="zh-CN" altLang="en-US" sz="24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加上</a:t>
            </a:r>
            <a:r>
              <a:rPr kumimoji="1"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当天的股票价格</a:t>
            </a:r>
            <a:r>
              <a:rPr kumimoji="1" lang="en-US" altLang="zh-CN" sz="2400" dirty="0">
                <a:latin typeface="SimSun" panose="02010600030101010101" pitchFamily="2" charset="-122"/>
                <a:ea typeface="SimSun" panose="02010600030101010101" pitchFamily="2" charset="-122"/>
              </a:rPr>
              <a:t>prices[</a:t>
            </a:r>
            <a:r>
              <a:rPr kumimoji="1" lang="en-US" altLang="zh-CN" sz="2400" dirty="0" err="1">
                <a:latin typeface="SimSun" panose="02010600030101010101" pitchFamily="2" charset="-122"/>
                <a:ea typeface="SimSun" panose="02010600030101010101" pitchFamily="2" charset="-122"/>
              </a:rPr>
              <a:t>i</a:t>
            </a:r>
            <a:r>
              <a:rPr kumimoji="1" lang="en-US" altLang="zh-CN" sz="2400" dirty="0">
                <a:latin typeface="SimSun" panose="02010600030101010101" pitchFamily="2" charset="-122"/>
                <a:ea typeface="SimSun" panose="02010600030101010101" pitchFamily="2" charset="-122"/>
              </a:rPr>
              <a:t>]</a:t>
            </a:r>
            <a:r>
              <a:rPr kumimoji="1"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。</a:t>
            </a:r>
            <a:endParaRPr kumimoji="1" lang="en-US" altLang="zh-CN" sz="24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kumimoji="1" lang="zh-CN" altLang="en-US" sz="24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784597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775856"/>
            <a:ext cx="12192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842289" y="252636"/>
            <a:ext cx="65074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Aharoni" panose="02010803020104030203" pitchFamily="2" charset="-79"/>
              </a:rPr>
              <a:t>Step1: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Aharoni" panose="02010803020104030203" pitchFamily="2" charset="-79"/>
              </a:rPr>
              <a:t>确定问题的状态</a:t>
            </a:r>
            <a:endParaRPr lang="zh-CN" altLang="en-US" sz="40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Aharoni" panose="02010803020104030203" pitchFamily="2" charset="-79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193B7AA-81C3-915C-8E87-F42043674188}"/>
              </a:ext>
            </a:extLst>
          </p:cNvPr>
          <p:cNvSpPr txBox="1"/>
          <p:nvPr/>
        </p:nvSpPr>
        <p:spPr>
          <a:xfrm>
            <a:off x="1177871" y="1299076"/>
            <a:ext cx="8725545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状态</a:t>
            </a:r>
            <a:r>
              <a:rPr kumimoji="1" lang="en-US" altLang="zh-CN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3</a:t>
            </a:r>
            <a:r>
              <a:rPr kumimoji="1" lang="zh-CN" altLang="en-US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：</a:t>
            </a:r>
            <a:r>
              <a:rPr kumimoji="1"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手上没有股票了，并且</a:t>
            </a:r>
            <a:r>
              <a:rPr kumimoji="1" lang="zh-CN" altLang="en-US" sz="2400" dirty="0">
                <a:highlight>
                  <a:srgbClr val="FFFF00"/>
                </a:highlight>
                <a:latin typeface="SimSun" panose="02010600030101010101" pitchFamily="2" charset="-122"/>
                <a:ea typeface="SimSun" panose="02010600030101010101" pitchFamily="2" charset="-122"/>
              </a:rPr>
              <a:t>不在冷冻期</a:t>
            </a:r>
            <a:r>
              <a:rPr kumimoji="1"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之内</a:t>
            </a:r>
            <a:endParaRPr kumimoji="1" lang="en-US" altLang="zh-CN" sz="24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kumimoji="1" lang="en-US" altLang="zh-CN" sz="2400" dirty="0"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kumimoji="1"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）昨天是冷冻期，今天“解冻”了，继续没买（状态二的延续）</a:t>
            </a:r>
            <a:endParaRPr kumimoji="1" lang="en-US" altLang="zh-CN" sz="24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kumimoji="1" lang="en-US" altLang="zh-CN" sz="24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kumimoji="1" lang="en-US" altLang="zh-CN" sz="2400" dirty="0">
                <a:latin typeface="SimSun" panose="02010600030101010101" pitchFamily="2" charset="-122"/>
                <a:ea typeface="SimSun" panose="02010600030101010101" pitchFamily="2" charset="-122"/>
              </a:rPr>
              <a:t>2</a:t>
            </a:r>
            <a:r>
              <a:rPr kumimoji="1"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）昨天今天都不是冷冻期，继续没买（状态三的延续）</a:t>
            </a:r>
            <a:endParaRPr kumimoji="1" lang="en-US" altLang="zh-CN" sz="24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kumimoji="1" lang="en-US" altLang="zh-CN" sz="24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kumimoji="1" lang="en-US" altLang="zh-CN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Ps:</a:t>
            </a:r>
            <a:r>
              <a:rPr kumimoji="1" lang="zh-CN" altLang="en-US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对于冷冻期的考虑</a:t>
            </a:r>
            <a:endParaRPr kumimoji="1" lang="en-US" altLang="zh-CN" sz="2400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kumimoji="1" lang="en-US" altLang="zh-CN" sz="2400" dirty="0">
                <a:latin typeface="SimSun" panose="02010600030101010101" pitchFamily="2" charset="-122"/>
                <a:ea typeface="SimSun" panose="02010600030101010101" pitchFamily="2" charset="-122"/>
              </a:rPr>
              <a:t>1)</a:t>
            </a:r>
            <a:r>
              <a:rPr kumimoji="1"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当昨天是冷冻期的时候，手上没有股票，相当于是从状态</a:t>
            </a:r>
            <a:r>
              <a:rPr kumimoji="1" lang="en-US" altLang="zh-CN" sz="2400" dirty="0">
                <a:latin typeface="SimSun" panose="02010600030101010101" pitchFamily="2" charset="-122"/>
                <a:ea typeface="SimSun" panose="02010600030101010101" pitchFamily="2" charset="-122"/>
              </a:rPr>
              <a:t>2</a:t>
            </a:r>
            <a:r>
              <a:rPr kumimoji="1"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转化到了状态</a:t>
            </a:r>
            <a:r>
              <a:rPr kumimoji="1" lang="en-US" altLang="zh-CN" sz="2400" dirty="0">
                <a:latin typeface="SimSun" panose="02010600030101010101" pitchFamily="2" charset="-122"/>
                <a:ea typeface="SimSun" panose="02010600030101010101" pitchFamily="2" charset="-122"/>
              </a:rPr>
              <a:t>3</a:t>
            </a:r>
          </a:p>
          <a:p>
            <a:endParaRPr kumimoji="1" lang="en-US" altLang="zh-CN" sz="24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kumimoji="1" lang="en-US" altLang="zh-CN" sz="2400" dirty="0">
                <a:latin typeface="SimSun" panose="02010600030101010101" pitchFamily="2" charset="-122"/>
                <a:ea typeface="SimSun" panose="02010600030101010101" pitchFamily="2" charset="-122"/>
              </a:rPr>
              <a:t>2</a:t>
            </a:r>
            <a:r>
              <a:rPr kumimoji="1"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）当作天也不在冷冻期，而且不持有股票，相当于是状态</a:t>
            </a:r>
            <a:r>
              <a:rPr kumimoji="1" lang="en-US" altLang="zh-CN" sz="2400" dirty="0">
                <a:latin typeface="SimSun" panose="02010600030101010101" pitchFamily="2" charset="-122"/>
                <a:ea typeface="SimSun" panose="02010600030101010101" pitchFamily="2" charset="-122"/>
              </a:rPr>
              <a:t>3</a:t>
            </a:r>
            <a:r>
              <a:rPr kumimoji="1"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的保持</a:t>
            </a:r>
            <a:endParaRPr kumimoji="1" lang="en-US" altLang="zh-CN" sz="24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kumimoji="1" lang="en-US" altLang="zh-CN" sz="24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kumimoji="1"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递推的时候，只要去两种状态对应的</a:t>
            </a:r>
            <a:r>
              <a:rPr kumimoji="1" lang="zh-CN" altLang="en-US" sz="24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最大利润</a:t>
            </a:r>
            <a:r>
              <a:rPr kumimoji="1"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即可。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129434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775856"/>
            <a:ext cx="12192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935277" y="252636"/>
            <a:ext cx="63214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Aharoni" panose="02010803020104030203" pitchFamily="2" charset="-79"/>
              </a:rPr>
              <a:t>Step2: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Aharoni" panose="02010803020104030203" pitchFamily="2" charset="-79"/>
              </a:rPr>
              <a:t>确定状态对应的状态方程</a:t>
            </a:r>
            <a:endParaRPr lang="zh-CN" altLang="en-US" sz="40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Aharoni" panose="02010803020104030203" pitchFamily="2" charset="-79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6B18923-5655-5FDE-CAF4-0AE77086D246}"/>
              </a:ext>
            </a:extLst>
          </p:cNvPr>
          <p:cNvSpPr txBox="1"/>
          <p:nvPr/>
        </p:nvSpPr>
        <p:spPr>
          <a:xfrm>
            <a:off x="604385" y="1019191"/>
            <a:ext cx="10469880" cy="1667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引言：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每天的股票会对应三种状态，显然我们可以开辟二维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dp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数组，行元素代表第几天，列元素只开三个即可，对应前文分析的三种状态，即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dp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[n][3]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01636E9-2581-9009-8FD4-2991A1D9D08D}"/>
                  </a:ext>
                </a:extLst>
              </p:cNvPr>
              <p:cNvSpPr txBox="1"/>
              <p:nvPr/>
            </p:nvSpPr>
            <p:spPr>
              <a:xfrm>
                <a:off x="331188" y="4463635"/>
                <a:ext cx="9999927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𝒅𝒑</m:t>
                          </m:r>
                        </m:e>
                        <m:sub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1" i="0" smtClean="0">
                          <a:latin typeface="Cambria Math" panose="02040503050406030204" pitchFamily="18" charset="0"/>
                        </a:rPr>
                        <m:t>𝐦𝐚</m:t>
                      </m:r>
                      <m:func>
                        <m:func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sz="24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𝒅𝒑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</m:d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𝒅𝒑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</m:d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𝒑𝒓𝒊𝒄𝒆𝒔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 ∈[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altLang="zh-CN" sz="2400" b="1" dirty="0"/>
              </a:p>
              <a:p>
                <a:r>
                  <a:rPr lang="zh-CN" altLang="en-US" sz="2400" b="1" dirty="0"/>
                  <a:t>     </a:t>
                </a: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01636E9-2581-9009-8FD4-2991A1D9D0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188" y="4463635"/>
                <a:ext cx="9999927" cy="738664"/>
              </a:xfrm>
              <a:prstGeom prst="rect">
                <a:avLst/>
              </a:prstGeom>
              <a:blipFill>
                <a:blip r:embed="rId3"/>
                <a:stretch>
                  <a:fillRect t="-50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D6DF9322-6B1B-A19A-9847-A542DBC1C419}"/>
              </a:ext>
            </a:extLst>
          </p:cNvPr>
          <p:cNvSpPr txBox="1"/>
          <p:nvPr/>
        </p:nvSpPr>
        <p:spPr>
          <a:xfrm>
            <a:off x="604385" y="3429000"/>
            <a:ext cx="54232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状态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现在手上有股票时的最大利润</a:t>
            </a:r>
            <a:endParaRPr kumimoji="1"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4709220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775856"/>
            <a:ext cx="12192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628469" y="252636"/>
            <a:ext cx="60449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Aharoni" panose="02010803020104030203" pitchFamily="2" charset="-79"/>
              </a:rPr>
              <a:t>Step2: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Aharoni" panose="02010803020104030203" pitchFamily="2" charset="-79"/>
              </a:rPr>
              <a:t>确定状态对应的状态方程</a:t>
            </a:r>
            <a:endParaRPr lang="zh-CN" altLang="en-US" sz="40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Aharoni" panose="02010803020104030203" pitchFamily="2" charset="-79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3796121-50A6-2E8F-FF34-425AD45E0B79}"/>
              </a:ext>
            </a:extLst>
          </p:cNvPr>
          <p:cNvSpPr txBox="1"/>
          <p:nvPr/>
        </p:nvSpPr>
        <p:spPr>
          <a:xfrm>
            <a:off x="1009815" y="1348771"/>
            <a:ext cx="803938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状态</a:t>
            </a:r>
            <a:r>
              <a:rPr kumimoji="1" lang="en-US" altLang="zh-CN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2</a:t>
            </a:r>
            <a:r>
              <a:rPr kumimoji="1" lang="zh-CN" altLang="en-US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：</a:t>
            </a:r>
            <a:r>
              <a:rPr kumimoji="1"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现在手上没有股票，且处于冷冻期之内的最大利润</a:t>
            </a:r>
            <a:endParaRPr kumimoji="1" lang="en-US" altLang="zh-CN" sz="24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kumimoji="1"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7FC691D-EDC1-575E-7E21-7B0044B0A4D1}"/>
              </a:ext>
            </a:extLst>
          </p:cNvPr>
          <p:cNvSpPr txBox="1"/>
          <p:nvPr/>
        </p:nvSpPr>
        <p:spPr>
          <a:xfrm>
            <a:off x="1009815" y="3729772"/>
            <a:ext cx="803938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状态</a:t>
            </a:r>
            <a:r>
              <a:rPr kumimoji="1" lang="en-US" altLang="zh-CN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3</a:t>
            </a:r>
            <a:r>
              <a:rPr kumimoji="1" lang="zh-CN" altLang="en-US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：</a:t>
            </a:r>
            <a:r>
              <a:rPr kumimoji="1"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手上没有股票了，并且不在冷冻期之内的最大利润</a:t>
            </a:r>
            <a:endParaRPr kumimoji="1" lang="en-US" altLang="zh-CN" sz="24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9207BF2B-31E8-B316-859C-4AD117D51862}"/>
                  </a:ext>
                </a:extLst>
              </p:cNvPr>
              <p:cNvSpPr txBox="1"/>
              <p:nvPr/>
            </p:nvSpPr>
            <p:spPr>
              <a:xfrm>
                <a:off x="-1022883" y="2326729"/>
                <a:ext cx="1089342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𝒅𝒑</m:t>
                          </m:r>
                        </m:e>
                        <m:sub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𝒅𝒑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0" smtClean="0">
                              <a:latin typeface="Cambria Math" panose="02040503050406030204" pitchFamily="18" charset="0"/>
                            </a:rPr>
                            <m:t>𝐢</m:t>
                          </m:r>
                          <m:r>
                            <a:rPr lang="en-US" altLang="zh-CN" sz="2400" b="1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1" i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0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  <m:r>
                        <a:rPr lang="en-US" altLang="zh-CN" sz="2400" b="1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altLang="zh-CN" sz="2400" b="1" i="0" smtClean="0">
                          <a:latin typeface="Cambria Math" panose="02040503050406030204" pitchFamily="18" charset="0"/>
                        </a:rPr>
                        <m:t>𝐫𝐢𝐜𝐞𝐬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0" smtClean="0">
                              <a:latin typeface="Cambria Math" panose="02040503050406030204" pitchFamily="18" charset="0"/>
                            </a:rPr>
                            <m:t>𝐢</m:t>
                          </m:r>
                        </m:e>
                      </m:d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 ∈[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9207BF2B-31E8-B316-859C-4AD117D518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22883" y="2326729"/>
                <a:ext cx="10893427" cy="369332"/>
              </a:xfrm>
              <a:prstGeom prst="rect">
                <a:avLst/>
              </a:prstGeom>
              <a:blipFill>
                <a:blip r:embed="rId3"/>
                <a:stretch>
                  <a:fillRect t="-10000" b="-3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0A8DD4A-BA06-DD68-D407-142FE7A7F62C}"/>
                  </a:ext>
                </a:extLst>
              </p:cNvPr>
              <p:cNvSpPr txBox="1"/>
              <p:nvPr/>
            </p:nvSpPr>
            <p:spPr>
              <a:xfrm>
                <a:off x="1009815" y="4892396"/>
                <a:ext cx="816422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𝒅𝒑</m:t>
                          </m:r>
                        </m:e>
                        <m:sub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𝒎𝒂</m:t>
                      </m:r>
                      <m:func>
                        <m:func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𝒅𝒑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  <m:r>
                                    <a:rPr lang="en-US" altLang="zh-CN" sz="24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4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</m:d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𝒅𝒑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  <m:r>
                                    <a:rPr lang="en-US" altLang="zh-CN" sz="24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4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 ∈[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0A8DD4A-BA06-DD68-D407-142FE7A7F6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815" y="4892396"/>
                <a:ext cx="8164223" cy="369332"/>
              </a:xfrm>
              <a:prstGeom prst="rect">
                <a:avLst/>
              </a:prstGeom>
              <a:blipFill>
                <a:blip r:embed="rId4"/>
                <a:stretch>
                  <a:fillRect t="-10000" b="-3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68192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775856"/>
            <a:ext cx="12192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628470" y="252636"/>
            <a:ext cx="4935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Aharoni" panose="02010803020104030203" pitchFamily="2" charset="-79"/>
              </a:rPr>
              <a:t>Step3: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Aharoni" panose="02010803020104030203" pitchFamily="2" charset="-79"/>
              </a:rPr>
              <a:t>确定边界情况</a:t>
            </a:r>
            <a:endParaRPr lang="zh-CN" altLang="en-US" sz="40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Aharoni" panose="02010803020104030203" pitchFamily="2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E6B18923-5655-5FDE-CAF4-0AE77086D246}"/>
                  </a:ext>
                </a:extLst>
              </p:cNvPr>
              <p:cNvSpPr txBox="1"/>
              <p:nvPr/>
            </p:nvSpPr>
            <p:spPr>
              <a:xfrm>
                <a:off x="5136033" y="1299076"/>
                <a:ext cx="5475573" cy="28623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𝑑𝑝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0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0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=−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𝑝𝑟𝑖𝑐𝑒𝑠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0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;</m:t>
                      </m:r>
                    </m:oMath>
                  </m:oMathPara>
                </a14:m>
                <a:endParaRPr lang="en-US" altLang="zh-CN" sz="2400" b="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just">
                  <a:lnSpc>
                    <a:spcPct val="150000"/>
                  </a:lnSpc>
                </a:pPr>
                <a:br>
                  <a:rPr lang="en-US" altLang="zh-CN" sz="2400" b="0" dirty="0">
                    <a:latin typeface="宋体" panose="02010600030101010101" pitchFamily="2" charset="-122"/>
                    <a:ea typeface="宋体" panose="02010600030101010101" pitchFamily="2" charset="-122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𝑑𝑝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0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1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=0;</m:t>
                      </m:r>
                    </m:oMath>
                  </m:oMathPara>
                </a14:m>
                <a:endParaRPr lang="en-US" altLang="zh-CN" sz="2400" b="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just">
                  <a:lnSpc>
                    <a:spcPct val="150000"/>
                  </a:lnSpc>
                </a:pPr>
                <a:endParaRPr lang="en-US" altLang="zh-CN" sz="2400" b="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𝑑𝑝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0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2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=0;</m:t>
                      </m:r>
                    </m:oMath>
                  </m:oMathPara>
                </a14:m>
                <a:endPara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E6B18923-5655-5FDE-CAF4-0AE77086D2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6033" y="1299076"/>
                <a:ext cx="5475573" cy="2862322"/>
              </a:xfrm>
              <a:prstGeom prst="rect">
                <a:avLst/>
              </a:prstGeom>
              <a:blipFill>
                <a:blip r:embed="rId3"/>
                <a:stretch>
                  <a:fillRect l="-9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1CB4CCDE-BF1D-815A-4ED1-48A1DA9AB373}"/>
              </a:ext>
            </a:extLst>
          </p:cNvPr>
          <p:cNvSpPr txBox="1"/>
          <p:nvPr/>
        </p:nvSpPr>
        <p:spPr>
          <a:xfrm>
            <a:off x="1580394" y="1451845"/>
            <a:ext cx="339265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/>
              <a:t>状态</a:t>
            </a:r>
            <a:r>
              <a:rPr kumimoji="1" lang="en-US" altLang="zh-CN" sz="2400" dirty="0"/>
              <a:t>1</a:t>
            </a:r>
            <a:r>
              <a:rPr kumimoji="1" lang="zh-CN" altLang="en-US" sz="2400" dirty="0"/>
              <a:t>的初始条件：</a:t>
            </a:r>
            <a:endParaRPr kumimoji="1" lang="en-US" altLang="zh-CN" sz="2400" dirty="0"/>
          </a:p>
          <a:p>
            <a:endParaRPr kumimoji="1" lang="en-US" altLang="zh-CN" sz="2400" dirty="0"/>
          </a:p>
          <a:p>
            <a:endParaRPr kumimoji="1" lang="en-US" altLang="zh-CN" sz="2400" dirty="0"/>
          </a:p>
          <a:p>
            <a:r>
              <a:rPr kumimoji="1" lang="zh-CN" altLang="en-US" sz="2400" dirty="0"/>
              <a:t>状态</a:t>
            </a:r>
            <a:r>
              <a:rPr kumimoji="1" lang="en-US" altLang="zh-CN" sz="2400" dirty="0"/>
              <a:t>2</a:t>
            </a:r>
            <a:r>
              <a:rPr kumimoji="1" lang="zh-CN" altLang="en-US" sz="2400" dirty="0"/>
              <a:t>的初始条件</a:t>
            </a:r>
            <a:r>
              <a:rPr kumimoji="1" lang="en-US" altLang="zh-CN" sz="2400" dirty="0"/>
              <a:t>:</a:t>
            </a:r>
          </a:p>
          <a:p>
            <a:endParaRPr kumimoji="1" lang="en-US" altLang="zh-CN" sz="2400" dirty="0"/>
          </a:p>
          <a:p>
            <a:endParaRPr kumimoji="1" lang="en-US" altLang="zh-CN" sz="2400" dirty="0"/>
          </a:p>
          <a:p>
            <a:r>
              <a:rPr kumimoji="1" lang="zh-CN" altLang="en-US" sz="2400" dirty="0"/>
              <a:t>状态</a:t>
            </a:r>
            <a:r>
              <a:rPr kumimoji="1" lang="en-US" altLang="zh-CN" sz="2400" dirty="0"/>
              <a:t>3</a:t>
            </a:r>
            <a:r>
              <a:rPr kumimoji="1" lang="zh-CN" altLang="en-US" sz="2400" dirty="0"/>
              <a:t>的初始条件：</a:t>
            </a:r>
          </a:p>
        </p:txBody>
      </p:sp>
    </p:spTree>
    <p:extLst>
      <p:ext uri="{BB962C8B-B14F-4D97-AF65-F5344CB8AC3E}">
        <p14:creationId xmlns:p14="http://schemas.microsoft.com/office/powerpoint/2010/main" val="24972734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775856"/>
            <a:ext cx="12192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371796" y="252636"/>
            <a:ext cx="4935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Aharoni" panose="02010803020104030203" pitchFamily="2" charset="-79"/>
              </a:rPr>
              <a:t>Step4: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Aharoni" panose="02010803020104030203" pitchFamily="2" charset="-79"/>
              </a:rPr>
              <a:t>循环自动化填写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Aharoni" panose="02010803020104030203" pitchFamily="2" charset="-79"/>
              </a:rPr>
              <a:t>dp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Aharoni" panose="02010803020104030203" pitchFamily="2" charset="-79"/>
              </a:rPr>
              <a:t>数组</a:t>
            </a:r>
            <a:endParaRPr lang="zh-CN" altLang="en-US" sz="40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Aharoni" panose="02010803020104030203" pitchFamily="2" charset="-79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5B54312-44E8-0434-6884-5DC88F2CD0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080" y="795909"/>
            <a:ext cx="10701840" cy="5760279"/>
          </a:xfrm>
          <a:prstGeom prst="rect">
            <a:avLst/>
          </a:prstGeom>
        </p:spPr>
      </p:pic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797DEA4C-A2A8-FBC9-1D90-16EA3DB957CE}"/>
              </a:ext>
            </a:extLst>
          </p:cNvPr>
          <p:cNvCxnSpPr>
            <a:cxnSpLocks/>
          </p:cNvCxnSpPr>
          <p:nvPr/>
        </p:nvCxnSpPr>
        <p:spPr>
          <a:xfrm flipH="1">
            <a:off x="3243459" y="795908"/>
            <a:ext cx="2066478" cy="350738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框架 7">
            <a:extLst>
              <a:ext uri="{FF2B5EF4-FFF2-40B4-BE49-F238E27FC236}">
                <a16:creationId xmlns:a16="http://schemas.microsoft.com/office/drawing/2014/main" id="{25D117ED-E060-C41C-22AE-780DA832740C}"/>
              </a:ext>
            </a:extLst>
          </p:cNvPr>
          <p:cNvSpPr/>
          <p:nvPr/>
        </p:nvSpPr>
        <p:spPr>
          <a:xfrm>
            <a:off x="1989221" y="5871411"/>
            <a:ext cx="3866147" cy="417094"/>
          </a:xfrm>
          <a:prstGeom prst="fram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13795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775856"/>
            <a:ext cx="12192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371796" y="252636"/>
            <a:ext cx="4935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Aharoni" panose="02010803020104030203" pitchFamily="2" charset="-79"/>
              </a:rPr>
              <a:t>二、伪码表示</a:t>
            </a:r>
            <a:endParaRPr lang="zh-CN" altLang="en-US" sz="40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Aharoni" panose="02010803020104030203" pitchFamily="2" charset="-79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DA94051-21C9-23C1-4AB4-7DB196A4D17F}"/>
              </a:ext>
            </a:extLst>
          </p:cNvPr>
          <p:cNvSpPr txBox="1"/>
          <p:nvPr/>
        </p:nvSpPr>
        <p:spPr>
          <a:xfrm>
            <a:off x="184484" y="1299075"/>
            <a:ext cx="11823032" cy="454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if(n == 1)</a:t>
            </a:r>
            <a:br>
              <a:rPr lang="en" altLang="zh-CN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</a:br>
            <a:r>
              <a:rPr lang="en" altLang="zh-CN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    return 0;</a:t>
            </a:r>
          </a:p>
          <a:p>
            <a:br>
              <a:rPr lang="en" altLang="zh-CN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</a:br>
            <a:r>
              <a:rPr lang="zh-CN" altLang="en-US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定义初始条件</a:t>
            </a:r>
            <a:r>
              <a:rPr lang="en-US" altLang="zh-CN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;</a:t>
            </a:r>
          </a:p>
          <a:p>
            <a:br>
              <a:rPr lang="en-US" altLang="zh-CN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</a:br>
            <a:r>
              <a:rPr lang="en" altLang="zh-CN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for (int </a:t>
            </a:r>
            <a:r>
              <a:rPr lang="en" altLang="zh-CN" sz="2400" dirty="0" err="1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i</a:t>
            </a:r>
            <a:r>
              <a:rPr lang="en" altLang="zh-CN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 = 1; </a:t>
            </a:r>
            <a:r>
              <a:rPr lang="en" altLang="zh-CN" sz="2400" dirty="0" err="1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i</a:t>
            </a:r>
            <a:r>
              <a:rPr lang="en" altLang="zh-CN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 &lt; n; </a:t>
            </a:r>
            <a:r>
              <a:rPr lang="en" altLang="zh-CN" sz="2400" dirty="0" err="1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i</a:t>
            </a:r>
            <a:r>
              <a:rPr lang="en" altLang="zh-CN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++) {  //</a:t>
            </a:r>
            <a:r>
              <a:rPr lang="zh-CN" altLang="en-US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循环填表</a:t>
            </a:r>
            <a:br>
              <a:rPr lang="zh-CN" altLang="en-US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</a:br>
            <a:r>
              <a:rPr lang="zh-CN" altLang="en-US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        </a:t>
            </a:r>
            <a:r>
              <a:rPr lang="en" altLang="zh-CN" sz="2400" dirty="0" err="1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dp</a:t>
            </a:r>
            <a:r>
              <a:rPr lang="en" altLang="zh-CN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[</a:t>
            </a:r>
            <a:r>
              <a:rPr lang="en" altLang="zh-CN" sz="2400" dirty="0" err="1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i</a:t>
            </a:r>
            <a:r>
              <a:rPr lang="en" altLang="zh-CN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][0] = max(</a:t>
            </a:r>
            <a:r>
              <a:rPr lang="en" altLang="zh-CN" sz="2400" dirty="0" err="1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dp</a:t>
            </a:r>
            <a:r>
              <a:rPr lang="en" altLang="zh-CN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[i-1][0], </a:t>
            </a:r>
            <a:r>
              <a:rPr lang="en" altLang="zh-CN" sz="2400" dirty="0" err="1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dp</a:t>
            </a:r>
            <a:r>
              <a:rPr lang="en" altLang="zh-CN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[i-1][2] - prices[</a:t>
            </a:r>
            <a:r>
              <a:rPr lang="en" altLang="zh-CN" sz="2400" dirty="0" err="1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i</a:t>
            </a:r>
            <a:r>
              <a:rPr lang="en" altLang="zh-CN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]); //</a:t>
            </a:r>
            <a:r>
              <a:rPr lang="zh-CN" altLang="en-US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保持 </a:t>
            </a:r>
            <a:r>
              <a:rPr lang="en" altLang="zh-CN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or </a:t>
            </a:r>
            <a:r>
              <a:rPr lang="zh-CN" altLang="en-US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买入</a:t>
            </a:r>
            <a:br>
              <a:rPr lang="zh-CN" altLang="en-US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</a:br>
            <a:r>
              <a:rPr lang="zh-CN" altLang="en-US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        </a:t>
            </a:r>
            <a:r>
              <a:rPr lang="en" altLang="zh-CN" sz="2400" dirty="0" err="1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dp</a:t>
            </a:r>
            <a:r>
              <a:rPr lang="en" altLang="zh-CN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[</a:t>
            </a:r>
            <a:r>
              <a:rPr lang="en" altLang="zh-CN" sz="2400" dirty="0" err="1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i</a:t>
            </a:r>
            <a:r>
              <a:rPr lang="en" altLang="zh-CN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][1] = </a:t>
            </a:r>
            <a:r>
              <a:rPr lang="en" altLang="zh-CN" sz="2400" dirty="0" err="1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dp</a:t>
            </a:r>
            <a:r>
              <a:rPr lang="en" altLang="zh-CN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[</a:t>
            </a:r>
            <a:r>
              <a:rPr lang="en" altLang="zh-CN" sz="2400" dirty="0" err="1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i</a:t>
            </a:r>
            <a:r>
              <a:rPr lang="en" altLang="zh-CN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 - 1][0] + prices[</a:t>
            </a:r>
            <a:r>
              <a:rPr lang="en" altLang="zh-CN" sz="2400" dirty="0" err="1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i</a:t>
            </a:r>
            <a:r>
              <a:rPr lang="en" altLang="zh-CN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]; //</a:t>
            </a:r>
            <a:r>
              <a:rPr lang="zh-CN" altLang="en-US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卖出</a:t>
            </a:r>
            <a:br>
              <a:rPr lang="zh-CN" altLang="en-US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</a:br>
            <a:r>
              <a:rPr lang="zh-CN" altLang="en-US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        </a:t>
            </a:r>
            <a:r>
              <a:rPr lang="en" altLang="zh-CN" sz="2400" dirty="0" err="1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dp</a:t>
            </a:r>
            <a:r>
              <a:rPr lang="en" altLang="zh-CN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[</a:t>
            </a:r>
            <a:r>
              <a:rPr lang="en" altLang="zh-CN" sz="2400" dirty="0" err="1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i</a:t>
            </a:r>
            <a:r>
              <a:rPr lang="en" altLang="zh-CN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][2] = max(</a:t>
            </a:r>
            <a:r>
              <a:rPr lang="en" altLang="zh-CN" sz="2400" dirty="0" err="1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dp</a:t>
            </a:r>
            <a:r>
              <a:rPr lang="en" altLang="zh-CN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[i-1][1], </a:t>
            </a:r>
            <a:r>
              <a:rPr lang="en" altLang="zh-CN" sz="2400" dirty="0" err="1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dp</a:t>
            </a:r>
            <a:r>
              <a:rPr lang="en" altLang="zh-CN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[i-1][2]);</a:t>
            </a:r>
            <a:r>
              <a:rPr lang="zh-CN" altLang="en-US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altLang="zh-CN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//</a:t>
            </a:r>
            <a:r>
              <a:rPr lang="zh-CN" altLang="en-US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保持 </a:t>
            </a:r>
            <a:r>
              <a:rPr lang="en-US" altLang="zh-CN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or</a:t>
            </a:r>
            <a:r>
              <a:rPr lang="zh-CN" altLang="en-US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 状态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</a:rPr>
              <a:t>2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的延续</a:t>
            </a:r>
            <a:br>
              <a:rPr lang="en" altLang="zh-CN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</a:br>
            <a:r>
              <a:rPr lang="en" altLang="zh-CN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    }</a:t>
            </a:r>
          </a:p>
          <a:p>
            <a:br>
              <a:rPr lang="en" altLang="zh-CN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</a:br>
            <a:r>
              <a:rPr lang="en" altLang="zh-CN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 return max(</a:t>
            </a:r>
            <a:r>
              <a:rPr lang="en" altLang="zh-CN" sz="2400" dirty="0" err="1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dp</a:t>
            </a:r>
            <a:r>
              <a:rPr lang="en" altLang="zh-CN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[n-1][1], </a:t>
            </a:r>
            <a:r>
              <a:rPr lang="en" altLang="zh-CN" sz="2400" dirty="0" err="1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dp</a:t>
            </a:r>
            <a:r>
              <a:rPr lang="en" altLang="zh-CN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[n-1][2]);</a:t>
            </a:r>
            <a:r>
              <a:rPr lang="zh-CN" altLang="en-US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altLang="zh-CN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//</a:t>
            </a:r>
            <a:r>
              <a:rPr lang="zh-CN" altLang="en-US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返回最优解</a:t>
            </a:r>
            <a:endParaRPr kumimoji="1" lang="zh-CN" altLang="en-US" sz="24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241499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775856"/>
            <a:ext cx="12192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628470" y="252636"/>
            <a:ext cx="4935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Aharoni" panose="02010803020104030203" pitchFamily="2" charset="-79"/>
              </a:rPr>
              <a:t>三、算法结果展示</a:t>
            </a:r>
            <a:endParaRPr lang="zh-CN" altLang="en-US" sz="40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Aharoni" panose="02010803020104030203" pitchFamily="2" charset="-79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CB4CCDE-BF1D-815A-4ED1-48A1DA9AB373}"/>
              </a:ext>
            </a:extLst>
          </p:cNvPr>
          <p:cNvSpPr txBox="1"/>
          <p:nvPr/>
        </p:nvSpPr>
        <p:spPr>
          <a:xfrm>
            <a:off x="906626" y="1068243"/>
            <a:ext cx="33926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/>
              <a:t>示例</a:t>
            </a:r>
            <a:r>
              <a:rPr kumimoji="1" lang="en-US" altLang="zh-CN" sz="2400" b="1" dirty="0"/>
              <a:t>1</a:t>
            </a:r>
            <a:r>
              <a:rPr kumimoji="1" lang="zh-CN" altLang="en-US" sz="2400" b="1" dirty="0"/>
              <a:t>：</a:t>
            </a:r>
            <a:endParaRPr kumimoji="1" lang="en-US" altLang="zh-CN" sz="2400" b="1" dirty="0"/>
          </a:p>
          <a:p>
            <a:endParaRPr kumimoji="1" lang="en-US" altLang="zh-CN" sz="2400" dirty="0"/>
          </a:p>
          <a:p>
            <a:endParaRPr kumimoji="1" lang="en-US" altLang="zh-CN" sz="24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54039F2-2E9C-CFBA-C61F-252AAFBC72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625" y="1668406"/>
            <a:ext cx="9366953" cy="1760577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D21DFFC9-603D-4D50-D803-9D5F7BE90028}"/>
              </a:ext>
            </a:extLst>
          </p:cNvPr>
          <p:cNvSpPr txBox="1"/>
          <p:nvPr/>
        </p:nvSpPr>
        <p:spPr>
          <a:xfrm>
            <a:off x="906625" y="4042611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代码结果展示：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CCC266A-5938-B340-F3DF-6F8CF54960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45" y="4741883"/>
            <a:ext cx="4804364" cy="638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8410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775856"/>
            <a:ext cx="12192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FE14D68A-9159-48AD-DB9A-781429A649CC}"/>
              </a:ext>
            </a:extLst>
          </p:cNvPr>
          <p:cNvSpPr txBox="1"/>
          <p:nvPr/>
        </p:nvSpPr>
        <p:spPr>
          <a:xfrm>
            <a:off x="4921641" y="252636"/>
            <a:ext cx="23487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四、问题解答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639227C-6283-DDC1-F16E-72D32FB9C7C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7" t="14631"/>
          <a:stretch/>
        </p:blipFill>
        <p:spPr>
          <a:xfrm>
            <a:off x="953557" y="2181392"/>
            <a:ext cx="10284885" cy="85055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C694CBBC-B72A-7B51-56D2-08AD1D0AB1A6}"/>
              </a:ext>
            </a:extLst>
          </p:cNvPr>
          <p:cNvSpPr txBox="1"/>
          <p:nvPr/>
        </p:nvSpPr>
        <p:spPr>
          <a:xfrm>
            <a:off x="953557" y="1247791"/>
            <a:ext cx="7162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为什么最优解在状态</a:t>
            </a:r>
            <a:r>
              <a:rPr kumimoji="1" lang="en-US" altLang="zh-CN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2</a:t>
            </a:r>
            <a:r>
              <a:rPr kumimoji="1" lang="zh-CN" altLang="en-US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，</a:t>
            </a:r>
            <a:r>
              <a:rPr kumimoji="1" lang="en-US" altLang="zh-CN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3</a:t>
            </a:r>
            <a:r>
              <a:rPr kumimoji="1" lang="zh-CN" altLang="en-US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种选择，而没有状态</a:t>
            </a:r>
            <a:r>
              <a:rPr kumimoji="1" lang="en-US" altLang="zh-CN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kumimoji="1" lang="zh-CN" altLang="en-US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呢？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F6DE21A-CA5A-B174-BC4B-1B88559E8C82}"/>
              </a:ext>
            </a:extLst>
          </p:cNvPr>
          <p:cNvSpPr txBox="1"/>
          <p:nvPr/>
        </p:nvSpPr>
        <p:spPr>
          <a:xfrm>
            <a:off x="2791326" y="388218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B8E889C-A5F0-A25E-43DD-ABF056835837}"/>
              </a:ext>
            </a:extLst>
          </p:cNvPr>
          <p:cNvSpPr txBox="1"/>
          <p:nvPr/>
        </p:nvSpPr>
        <p:spPr>
          <a:xfrm>
            <a:off x="1507958" y="404261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A6A1742-88BB-A2C9-B3C5-5D5A545B125E}"/>
              </a:ext>
            </a:extLst>
          </p:cNvPr>
          <p:cNvSpPr txBox="1"/>
          <p:nvPr/>
        </p:nvSpPr>
        <p:spPr>
          <a:xfrm>
            <a:off x="953557" y="3651356"/>
            <a:ext cx="9264075" cy="16677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答：既然是利润的最大值，那么到最后一天，如果手上还有股票，</a:t>
            </a:r>
            <a:endParaRPr kumimoji="1" lang="en-US" altLang="zh-CN" sz="24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这支股票是不算入当前的利润中的，也就是说，手上没有股票对应</a:t>
            </a:r>
            <a:endParaRPr kumimoji="1" lang="en-US" altLang="zh-CN" sz="24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的最大利润一定会高于状态</a:t>
            </a:r>
            <a:r>
              <a:rPr kumimoji="1" lang="en-US" altLang="zh-CN" sz="2400" dirty="0"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kumimoji="1"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，所以在状态</a:t>
            </a:r>
            <a:r>
              <a:rPr kumimoji="1" lang="en-US" altLang="zh-CN" sz="2400" dirty="0">
                <a:latin typeface="SimSun" panose="02010600030101010101" pitchFamily="2" charset="-122"/>
                <a:ea typeface="SimSun" panose="02010600030101010101" pitchFamily="2" charset="-122"/>
              </a:rPr>
              <a:t>2</a:t>
            </a:r>
            <a:r>
              <a:rPr kumimoji="1"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、</a:t>
            </a:r>
            <a:r>
              <a:rPr kumimoji="1" lang="en-US" altLang="zh-CN" sz="2400" dirty="0">
                <a:latin typeface="SimSun" panose="02010600030101010101" pitchFamily="2" charset="-122"/>
                <a:ea typeface="SimSun" panose="02010600030101010101" pitchFamily="2" charset="-122"/>
              </a:rPr>
              <a:t>3</a:t>
            </a:r>
            <a:r>
              <a:rPr kumimoji="1"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种选择最大值即可。</a:t>
            </a:r>
            <a:endParaRPr kumimoji="1" lang="en-US" altLang="zh-CN" sz="24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99624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775856"/>
            <a:ext cx="12192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FE14D68A-9159-48AD-DB9A-781429A649CC}"/>
              </a:ext>
            </a:extLst>
          </p:cNvPr>
          <p:cNvSpPr txBox="1"/>
          <p:nvPr/>
        </p:nvSpPr>
        <p:spPr>
          <a:xfrm>
            <a:off x="4380627" y="252636"/>
            <a:ext cx="34307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五、算法复杂度分析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7BE2F8B-CF1E-6703-3FED-D9E47E0F0406}"/>
                  </a:ext>
                </a:extLst>
              </p:cNvPr>
              <p:cNvSpPr txBox="1"/>
              <p:nvPr/>
            </p:nvSpPr>
            <p:spPr>
              <a:xfrm>
                <a:off x="711565" y="1091530"/>
                <a:ext cx="8021052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4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1.</a:t>
                </a:r>
                <a:r>
                  <a:rPr kumimoji="1" lang="zh-CN" altLang="en-US" sz="24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时间复杂度：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sz="2400" b="0" i="0" smtClean="0"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kumimoji="1" lang="en-US" altLang="zh-CN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kumimoji="1" lang="zh-CN" altLang="en-US" sz="2400" b="0" i="0" smtClean="0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r>
                  <a:rPr kumimoji="1" lang="zh-CN" altLang="en-US" sz="2400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其中</a:t>
                </a:r>
                <a:r>
                  <a:rPr kumimoji="1" lang="en-US" altLang="zh-CN" sz="2400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n</a:t>
                </a:r>
                <a:r>
                  <a:rPr kumimoji="1" lang="zh-CN" altLang="en-US" sz="2400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为数组</a:t>
                </a:r>
                <a:r>
                  <a:rPr kumimoji="1" lang="en-US" altLang="zh-CN" sz="2400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prices</a:t>
                </a:r>
                <a:r>
                  <a:rPr kumimoji="1" lang="zh-CN" altLang="en-US" sz="2400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的长度。</a:t>
                </a:r>
                <a:endParaRPr kumimoji="1" lang="en-US" altLang="zh-CN" sz="2400" dirty="0">
                  <a:latin typeface="SimSun" panose="02010600030101010101" pitchFamily="2" charset="-122"/>
                  <a:ea typeface="SimSun" panose="02010600030101010101" pitchFamily="2" charset="-122"/>
                </a:endParaRPr>
              </a:p>
              <a:p>
                <a:endParaRPr kumimoji="1" lang="en-US" altLang="zh-CN" sz="2400" dirty="0">
                  <a:latin typeface="SimSun" panose="02010600030101010101" pitchFamily="2" charset="-122"/>
                  <a:ea typeface="SimSun" panose="02010600030101010101" pitchFamily="2" charset="-122"/>
                </a:endParaRPr>
              </a:p>
              <a:p>
                <a:endParaRPr kumimoji="1" lang="en-US" altLang="zh-CN" sz="2400" dirty="0">
                  <a:latin typeface="SimSun" panose="02010600030101010101" pitchFamily="2" charset="-122"/>
                  <a:ea typeface="SimSun" panose="02010600030101010101" pitchFamily="2" charset="-122"/>
                </a:endParaRPr>
              </a:p>
              <a:p>
                <a:endParaRPr kumimoji="1" lang="en-US" altLang="zh-CN" sz="2400" dirty="0">
                  <a:latin typeface="SimSun" panose="02010600030101010101" pitchFamily="2" charset="-122"/>
                  <a:ea typeface="SimSun" panose="02010600030101010101" pitchFamily="2" charset="-122"/>
                </a:endParaRPr>
              </a:p>
              <a:p>
                <a:r>
                  <a:rPr kumimoji="1" lang="en-US" altLang="zh-CN" sz="24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2.</a:t>
                </a:r>
                <a:r>
                  <a:rPr kumimoji="1" lang="zh-CN" altLang="en-US" sz="24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空间复杂度：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sz="2400" b="0" i="0" smtClean="0"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kumimoji="1" lang="en-US" altLang="zh-CN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kumimoji="1" lang="zh-CN" altLang="en-US" sz="2400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。</a:t>
                </a:r>
                <a:endParaRPr kumimoji="1" lang="en-US" altLang="zh-CN" sz="2400" dirty="0">
                  <a:latin typeface="SimSun" panose="02010600030101010101" pitchFamily="2" charset="-122"/>
                  <a:ea typeface="SimSun" panose="02010600030101010101" pitchFamily="2" charset="-122"/>
                </a:endParaRPr>
              </a:p>
              <a:p>
                <a:r>
                  <a:rPr kumimoji="1" lang="zh-CN" altLang="en-US" sz="2400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开辟的二维</a:t>
                </a:r>
                <a:r>
                  <a:rPr kumimoji="1" lang="en-US" altLang="zh-CN" sz="2400" dirty="0" err="1">
                    <a:latin typeface="SimSun" panose="02010600030101010101" pitchFamily="2" charset="-122"/>
                    <a:ea typeface="SimSun" panose="02010600030101010101" pitchFamily="2" charset="-122"/>
                  </a:rPr>
                  <a:t>dp</a:t>
                </a:r>
                <a:r>
                  <a:rPr kumimoji="1" lang="zh-CN" altLang="en-US" sz="2400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数组空间为</a:t>
                </a:r>
                <a:r>
                  <a:rPr kumimoji="1" lang="en-US" altLang="zh-CN" sz="2400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n</a:t>
                </a:r>
                <a:r>
                  <a:rPr kumimoji="1" lang="zh-CN" altLang="en-US" sz="2400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*</a:t>
                </a:r>
                <a:r>
                  <a:rPr kumimoji="1" lang="en-US" altLang="zh-CN" sz="2400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3</a:t>
                </a:r>
                <a:r>
                  <a:rPr kumimoji="1" lang="zh-CN" altLang="en-US" sz="2400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，所以对应空间复杂度为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sz="2400"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kumimoji="1"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kumimoji="1" lang="zh-CN" altLang="en-US" sz="2400" b="0" i="0" smtClean="0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kumimoji="1" lang="en-US" altLang="zh-CN" sz="2400" dirty="0">
                  <a:latin typeface="SimSun" panose="02010600030101010101" pitchFamily="2" charset="-122"/>
                  <a:ea typeface="SimSun" panose="02010600030101010101" pitchFamily="2" charset="-122"/>
                </a:endParaRPr>
              </a:p>
              <a:p>
                <a:endParaRPr kumimoji="1" lang="en-US" altLang="zh-CN" sz="2400" dirty="0">
                  <a:latin typeface="SimSun" panose="02010600030101010101" pitchFamily="2" charset="-122"/>
                  <a:ea typeface="SimSun" panose="02010600030101010101" pitchFamily="2" charset="-122"/>
                </a:endParaRPr>
              </a:p>
              <a:p>
                <a:endParaRPr kumimoji="1" lang="en-US" altLang="zh-CN" sz="2400" dirty="0">
                  <a:latin typeface="SimSun" panose="02010600030101010101" pitchFamily="2" charset="-122"/>
                  <a:ea typeface="SimSun" panose="02010600030101010101" pitchFamily="2" charset="-122"/>
                </a:endParaRPr>
              </a:p>
              <a:p>
                <a:r>
                  <a:rPr kumimoji="1" lang="en-US" altLang="zh-CN" sz="24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Ps</a:t>
                </a:r>
                <a:r>
                  <a:rPr kumimoji="1" lang="en-US" altLang="zh-CN" sz="2400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:</a:t>
                </a:r>
                <a:r>
                  <a:rPr kumimoji="1" lang="zh-CN" altLang="en-US" sz="2400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空间换时间的思想体现的淋漓尽致！</a:t>
                </a:r>
                <a:endParaRPr kumimoji="1" lang="en-US" altLang="zh-CN" sz="2400" dirty="0">
                  <a:latin typeface="SimSun" panose="02010600030101010101" pitchFamily="2" charset="-122"/>
                  <a:ea typeface="SimSun" panose="02010600030101010101" pitchFamily="2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7BE2F8B-CF1E-6703-3FED-D9E47E0F04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565" y="1091530"/>
                <a:ext cx="8021052" cy="3785652"/>
              </a:xfrm>
              <a:prstGeom prst="rect">
                <a:avLst/>
              </a:prstGeom>
              <a:blipFill>
                <a:blip r:embed="rId3"/>
                <a:stretch>
                  <a:fillRect l="-1266" t="-1338" b="-30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93058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775856"/>
            <a:ext cx="12192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695EBF4A-3B1B-BB8B-EA22-7F9C5AA73F79}"/>
              </a:ext>
            </a:extLst>
          </p:cNvPr>
          <p:cNvSpPr/>
          <p:nvPr/>
        </p:nvSpPr>
        <p:spPr>
          <a:xfrm>
            <a:off x="2769875" y="2502113"/>
            <a:ext cx="6876840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kumimoji="1" lang="zh-CN" altLang="en-US" sz="96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感谢观看～</a:t>
            </a:r>
            <a:endParaRPr lang="zh-CN" altLang="en-US" sz="96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325667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1223</Words>
  <Application>Microsoft Macintosh PowerPoint</Application>
  <PresentationFormat>宽屏</PresentationFormat>
  <Paragraphs>129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等线</vt:lpstr>
      <vt:lpstr>等线 Light</vt:lpstr>
      <vt:lpstr>方正小标宋简体</vt:lpstr>
      <vt:lpstr>华文细黑</vt:lpstr>
      <vt:lpstr>SimSun</vt:lpstr>
      <vt:lpstr>SimSun</vt:lpstr>
      <vt:lpstr>Arial</vt:lpstr>
      <vt:lpstr>Cambria Math</vt:lpstr>
      <vt:lpstr>Office 主题​​</vt:lpstr>
      <vt:lpstr>LeetCode_309.最佳买股票时机含冷冻期 动态规划(Dynamic Programming)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2022-12-06T09:40:34Z</dcterms:created>
  <dcterms:modified xsi:type="dcterms:W3CDTF">2022-12-15T14:27:12Z</dcterms:modified>
</cp:coreProperties>
</file>